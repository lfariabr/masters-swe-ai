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0" autoAdjust="0"/>
    <p:restoredTop sz="75507" autoAdjust="0"/>
  </p:normalViewPr>
  <p:slideViewPr>
    <p:cSldViewPr snapToGrid="0">
      <p:cViewPr varScale="1">
        <p:scale>
          <a:sx n="86" d="100"/>
          <a:sy n="86" d="100"/>
        </p:scale>
        <p:origin x="9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10FC6-4EAD-434E-8A8F-3171628ACB37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D30BD-B4DE-401B-BE34-0B5DD27BDE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27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rgbClr val="0C1D34"/>
                </a:solidFill>
                <a:latin typeface="Arial"/>
              </a:rPr>
              <a:t>Split data into k folds. Train on k−1 folds and test on the remaining fold. Repeat until each fold has been used as test data once.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1D30BD-B4DE-401B-BE34-0B5DD27BDEB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808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BEB8-D182-C51E-0159-DA983F414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D2905-B42D-04D9-FC3E-B1D77EF0D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2424-67F4-186A-6BAB-7D2B3BB1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F29CB-A5B6-BAC4-C735-40B3B204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EABBF-4B04-90CF-F7F0-4E97B4F0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79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0CC8-D993-6012-97BF-2D4479EC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60ED-A336-4D62-3AC2-763ACCDD7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36C3D-41CA-7F8E-875C-741F4F04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6873C-F69E-B493-2ABA-CE7BEF6A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E6E8-A8C6-235D-5126-BA441CF4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236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DE63-52D3-6532-2DE4-2E010A9D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9A789-52CF-A681-45DC-D26ABD69D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C8CAD-B7F4-90EB-9737-300B82E4F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7603D-ECAA-FEA3-7A06-3E253B56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79FC-6E90-76D2-E789-DF4927D5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773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BF29-AFF5-A204-8A43-5896633D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9E2A1-88FF-3A9B-F590-5CC995213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4D6A2-D556-F2DB-B876-3B9EA8CED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0C005-C97F-D92B-2D89-654334DD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F35D9-F045-C629-D1B4-37E0B523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ED255-754E-8BF0-FD24-C22563B4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72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8B1E-9365-6ED2-4CF0-82506CC6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E4F98-7A30-3C6D-3F9F-D36C15AE1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DC528-258D-A998-CD3C-7B6F118D7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222D3C-135D-CB91-1F84-D3DB3DBD1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F50F1-8A65-D11D-E92A-6815AA9DA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C41A64-89B2-F4A9-6B6E-FFA37E6E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57BDD-7454-675D-0AF5-CDAEE873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4161A-87C5-8AE2-BF79-C6BBD6C5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846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669B-A096-082D-74C4-02A7C48A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3ADB2-7C43-3329-D58E-32EF0A21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0296-0375-2C49-848C-1C7FA331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CED06-73E3-402F-A0DF-BD5CFEBE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899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3B71A-BDA1-679E-A137-5AF11BBD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17959-0E0E-68DF-8459-D423770C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AE894-FDAE-574A-1CAD-368D788C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91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1BE1-D68A-00E6-0BC6-08A57A9C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55928-C319-025D-D107-87F4B2BD4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EC162-6094-AA68-731F-ACC89BFB0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FD4F0-25FB-60F2-1470-0875B5DF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36E07-A82A-BAD3-833A-D7CAC7F1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6B20B-02FD-0430-4DCC-A9DA0ED4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506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7ADD-F48D-D4B4-3CDE-079CB5D6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9AB5B4-59EA-5356-7C90-896D36E58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F85EA-ED39-F476-973B-D74B23CCB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CAFE6-621E-D01B-EC27-5FEC67EE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F496D-3C58-CBC6-EDCC-CC2C61B9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1A74-8F61-0914-83DD-33CA6346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52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EFBD-D7C2-5A95-B743-E931699C7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FB917-421D-48F0-7548-0C872C23E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446D5-EFD8-2977-6F2A-C6892932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2390B-0113-92C6-59CD-2D8C0931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BC61A-8729-D7E3-0D32-3DA353B6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898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1F860-9919-20E8-533E-7854544F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4C9E8-DA26-2E9C-1135-4D0978FC6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71D7E-B71B-F81E-690A-FCBF3749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B74DE-E7C2-0383-9138-BAEEF700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ADEB-86F0-6743-0723-87B072ED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01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3A645-F857-5A40-F8BE-7AD25CD5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223C0-6718-44D3-D7A9-EEC1290B3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2B7E2-F6D0-C149-FFAA-D226D8C55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09754-280D-4046-9DEA-EDCE73E821AE}" type="datetimeFigureOut">
              <a:rPr lang="en-AU" smtClean="0"/>
              <a:t>12/07/2026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1702-F513-11FF-7131-0B516407F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47F71-F98C-314E-A6B9-E63998DD5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60952-ABF6-4D6C-8950-673E05AF55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002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6B8B0"/>
          </a:solidFill>
          <a:ln>
            <a:solidFill>
              <a:srgbClr val="26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27E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27E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>
                <a:solidFill>
                  <a:srgbClr val="26B8B0"/>
                </a:solidFill>
                <a:latin typeface="Arial"/>
              </a:rPr>
              <a:t>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6400800" cy="7315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4400" b="1">
                <a:solidFill>
                  <a:srgbClr val="0C1D34"/>
                </a:solidFill>
                <a:latin typeface="Arial"/>
              </a:rPr>
              <a:t>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758952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0">
                <a:solidFill>
                  <a:srgbClr val="66727E"/>
                </a:solidFill>
                <a:latin typeface="Arial"/>
              </a:rPr>
              <a:t>How do we know whether a classifier will work on new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24377"/>
            <a:ext cx="1554480" cy="502920"/>
          </a:xfrm>
          <a:prstGeom prst="roundRect">
            <a:avLst/>
          </a:prstGeom>
          <a:solidFill>
            <a:srgbClr val="4382C9"/>
          </a:solidFill>
          <a:ln>
            <a:solidFill>
              <a:srgbClr val="438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097529"/>
            <a:ext cx="1463039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Train</a:t>
            </a:r>
          </a:p>
        </p:txBody>
      </p:sp>
      <p:sp>
        <p:nvSpPr>
          <p:cNvPr id="10" name="Chevron 9"/>
          <p:cNvSpPr/>
          <p:nvPr/>
        </p:nvSpPr>
        <p:spPr>
          <a:xfrm>
            <a:off x="2331720" y="3115818"/>
            <a:ext cx="347472" cy="347472"/>
          </a:xfrm>
          <a:prstGeom prst="chevron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16352" y="3024377"/>
            <a:ext cx="1554480" cy="502920"/>
          </a:xfrm>
          <a:prstGeom prst="roundRect">
            <a:avLst/>
          </a:prstGeom>
          <a:solidFill>
            <a:srgbClr val="F38E1F"/>
          </a:solidFill>
          <a:ln>
            <a:solidFill>
              <a:srgbClr val="F38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62072" y="3097529"/>
            <a:ext cx="1463039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13" name="Chevron 12"/>
          <p:cNvSpPr/>
          <p:nvPr/>
        </p:nvSpPr>
        <p:spPr>
          <a:xfrm>
            <a:off x="4533499" y="3134106"/>
            <a:ext cx="347472" cy="347472"/>
          </a:xfrm>
          <a:prstGeom prst="chevron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92624" y="3049524"/>
            <a:ext cx="1554480" cy="502920"/>
          </a:xfrm>
          <a:prstGeom prst="roundRect">
            <a:avLst/>
          </a:prstGeom>
          <a:solidFill>
            <a:srgbClr val="26B8B0"/>
          </a:solidFill>
          <a:ln>
            <a:solidFill>
              <a:srgbClr val="26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38344" y="3122676"/>
            <a:ext cx="1463039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Evaluate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6684264" y="3140965"/>
            <a:ext cx="347472" cy="347472"/>
          </a:xfrm>
          <a:prstGeom prst="chevron">
            <a:avLst/>
          </a:prstGeom>
          <a:solidFill>
            <a:srgbClr val="DCE2E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68896" y="3060954"/>
            <a:ext cx="1554480" cy="502920"/>
          </a:xfrm>
          <a:prstGeom prst="roundRect">
            <a:avLst/>
          </a:prstGeom>
          <a:solidFill>
            <a:srgbClr val="49A95C"/>
          </a:solidFill>
          <a:ln>
            <a:solidFill>
              <a:srgbClr val="49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14616" y="3134106"/>
            <a:ext cx="1463039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7338"/>
            <a:ext cx="77724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1">
                <a:solidFill>
                  <a:srgbClr val="0C1D34"/>
                </a:solidFill>
                <a:latin typeface="Arial"/>
              </a:rPr>
              <a:t>Training data → model → test data → metrics → decision</a:t>
            </a:r>
          </a:p>
        </p:txBody>
      </p:sp>
      <p:pic>
        <p:nvPicPr>
          <p:cNvPr id="20" name="Picture 19" descr="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358" y="774868"/>
            <a:ext cx="3832642" cy="2235708"/>
          </a:xfrm>
          <a:prstGeom prst="rect">
            <a:avLst/>
          </a:prstGeom>
        </p:spPr>
      </p:pic>
      <p:pic>
        <p:nvPicPr>
          <p:cNvPr id="21" name="Picture 20" descr="metric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053" y="3947922"/>
            <a:ext cx="3832642" cy="2235708"/>
          </a:xfrm>
          <a:prstGeom prst="rect">
            <a:avLst/>
          </a:prstGeom>
        </p:spPr>
      </p:pic>
      <p:pic>
        <p:nvPicPr>
          <p:cNvPr id="23" name="Picture 2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3DC23C1-9B21-8BAB-2333-736B24DF9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2193B870-EC7F-7290-0017-8268677D5B35}"/>
              </a:ext>
            </a:extLst>
          </p:cNvPr>
          <p:cNvSpPr/>
          <p:nvPr/>
        </p:nvSpPr>
        <p:spPr>
          <a:xfrm>
            <a:off x="685800" y="5049775"/>
            <a:ext cx="3619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D6E8FF"/>
                </a:solidFill>
              </a:rPr>
              <a:t>Lets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wait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for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another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15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mins</a:t>
            </a:r>
            <a:br>
              <a:rPr lang="en-US" altLang="zh-CN" sz="1800" dirty="0">
                <a:solidFill>
                  <a:srgbClr val="D6E8FF"/>
                </a:solidFill>
              </a:rPr>
            </a:br>
            <a:r>
              <a:rPr lang="en-US" altLang="zh-CN" sz="1800" dirty="0">
                <a:solidFill>
                  <a:srgbClr val="D6E8FF"/>
                </a:solidFill>
              </a:rPr>
              <a:t>To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allow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more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students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join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us</a:t>
            </a:r>
            <a:br>
              <a:rPr lang="en-US" altLang="zh-CN" sz="1800" dirty="0">
                <a:solidFill>
                  <a:srgbClr val="D6E8FF"/>
                </a:solidFill>
              </a:rPr>
            </a:br>
            <a:r>
              <a:rPr lang="en-US" altLang="zh-CN" sz="1800" dirty="0">
                <a:solidFill>
                  <a:srgbClr val="D6E8FF"/>
                </a:solidFill>
              </a:rPr>
              <a:t>Q&amp;A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session</a:t>
            </a:r>
            <a:r>
              <a:rPr lang="zh-CN" altLang="en-US" sz="1800" dirty="0">
                <a:solidFill>
                  <a:srgbClr val="D6E8FF"/>
                </a:solidFill>
              </a:rPr>
              <a:t> </a:t>
            </a:r>
            <a:r>
              <a:rPr lang="en-US" altLang="zh-CN" sz="1800" dirty="0">
                <a:solidFill>
                  <a:srgbClr val="D6E8FF"/>
                </a:solidFill>
              </a:rPr>
              <a:t>now!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From Model Building to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2148840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810512"/>
            <a:ext cx="187452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1">
                <a:solidFill>
                  <a:srgbClr val="102138"/>
                </a:solidFill>
                <a:latin typeface="Arial"/>
              </a:rPr>
              <a:t>Clean &amp; 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1874520" cy="5486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Module 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212848"/>
            <a:ext cx="365760" cy="0"/>
          </a:xfrm>
          <a:prstGeom prst="line">
            <a:avLst/>
          </a:prstGeom>
          <a:ln w="190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16459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645920"/>
            <a:ext cx="2148840" cy="73152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810512"/>
            <a:ext cx="187452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1">
                <a:solidFill>
                  <a:srgbClr val="102138"/>
                </a:solidFill>
                <a:latin typeface="Arial"/>
              </a:rPr>
              <a:t>Build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48840"/>
            <a:ext cx="1874520" cy="5486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Module 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212848"/>
            <a:ext cx="365760" cy="0"/>
          </a:xfrm>
          <a:prstGeom prst="line">
            <a:avLst/>
          </a:prstGeom>
          <a:ln w="190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6480" y="16459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645920"/>
            <a:ext cx="2148840" cy="73152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810512"/>
            <a:ext cx="187452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1">
                <a:solidFill>
                  <a:srgbClr val="102138"/>
                </a:solidFill>
                <a:latin typeface="Arial"/>
              </a:rPr>
              <a:t>Evaluate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48840"/>
            <a:ext cx="1874520" cy="5486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Module 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75320" y="2212848"/>
            <a:ext cx="365760" cy="0"/>
          </a:xfrm>
          <a:prstGeom prst="line">
            <a:avLst/>
          </a:prstGeom>
          <a:ln w="190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32520" y="16459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32520" y="1645920"/>
            <a:ext cx="2148840" cy="73152"/>
          </a:xfrm>
          <a:prstGeom prst="rect">
            <a:avLst/>
          </a:prstGeom>
          <a:solidFill>
            <a:srgbClr val="50B065"/>
          </a:solidFill>
          <a:ln>
            <a:solidFill>
              <a:srgbClr val="50B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0" y="1810512"/>
            <a:ext cx="187452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1">
                <a:solidFill>
                  <a:srgbClr val="102138"/>
                </a:solidFill>
                <a:latin typeface="Arial"/>
              </a:rPr>
              <a:t>Report &amp; 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148840"/>
            <a:ext cx="1874520" cy="5486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Assessment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57600"/>
            <a:ext cx="10241280" cy="9144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900" b="0">
                <a:solidFill>
                  <a:srgbClr val="102138"/>
                </a:solidFill>
                <a:latin typeface="Arial"/>
              </a:rPr>
              <a:t>A model is useful only if it generalises to unseen data. Evaluation connects model output to evidence: accuracy, prediction error, ranking quality, cluster usefulness, and operational risk.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9692640" cy="7315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0">
                <a:solidFill>
                  <a:srgbClr val="69737D"/>
                </a:solidFill>
                <a:latin typeface="Arial"/>
              </a:rPr>
              <a:t>Good evaluation is transparent: same data split, same metric definitions, and clear justification for the chosen metric.</a:t>
            </a:r>
          </a:p>
        </p:txBody>
      </p:sp>
      <p:pic>
        <p:nvPicPr>
          <p:cNvPr id="28" name="Picture 2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83B4241-BDC7-6E6F-0DE4-8F70664A9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Three Evaluation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3429000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31546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02138"/>
                </a:solidFill>
                <a:latin typeface="Arial"/>
              </a:rPr>
              <a:t>1. Future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3154680" cy="1325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0">
                <a:solidFill>
                  <a:srgbClr val="69737D"/>
                </a:solidFill>
                <a:latin typeface="Arial"/>
              </a:rPr>
              <a:t>How well will the model work on data it has not seen before?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3429000" cy="73152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1546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02138"/>
                </a:solidFill>
                <a:latin typeface="Arial"/>
              </a:rPr>
              <a:t>2. Model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154680" cy="1325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0">
                <a:solidFill>
                  <a:srgbClr val="69737D"/>
                </a:solidFill>
                <a:latin typeface="Arial"/>
              </a:rPr>
              <a:t>Which model is better under the same problem, data split, and metrics?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429000" cy="73152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31546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02138"/>
                </a:solidFill>
                <a:latin typeface="Arial"/>
              </a:rPr>
              <a:t>3. Decision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154680" cy="1325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0">
                <a:solidFill>
                  <a:srgbClr val="69737D"/>
                </a:solidFill>
                <a:latin typeface="Arial"/>
              </a:rPr>
              <a:t>Are the errors acceptable for the business, ethical, or safety context?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77639"/>
            <a:ext cx="10012680" cy="9144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2200" b="1">
                <a:solidFill>
                  <a:srgbClr val="102138"/>
                </a:solidFill>
                <a:latin typeface="Arial"/>
              </a:rPr>
              <a:t>Key point: evaluation is not only a score. It is an argument that the model is reliable enough for a specific use case.</a:t>
            </a:r>
          </a:p>
        </p:txBody>
      </p:sp>
      <p:pic>
        <p:nvPicPr>
          <p:cNvPr id="20" name="Picture 1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3F390D75-6207-D7BA-96E3-168C7FCC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Evaluation Depends on Model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29000" cy="73152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44751"/>
            <a:ext cx="31546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02138"/>
                </a:solidFill>
                <a:latin typeface="Arial"/>
              </a:rP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154680" cy="3657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500" b="0">
                <a:solidFill>
                  <a:srgbClr val="69737D"/>
                </a:solidFill>
                <a:latin typeface="Arial"/>
              </a:rPr>
              <a:t>Predicts a category.</a:t>
            </a:r>
            <a:br/>
            <a:br/>
            <a:r>
              <a:rPr sz="1500" b="0">
                <a:solidFill>
                  <a:srgbClr val="69737D"/>
                </a:solidFill>
                <a:latin typeface="Arial"/>
              </a:rPr>
              <a:t>Example: churn / no churn.</a:t>
            </a:r>
            <a:br/>
            <a:br/>
            <a:r>
              <a:rPr sz="1500" b="0">
                <a:solidFill>
                  <a:srgbClr val="69737D"/>
                </a:solidFill>
                <a:latin typeface="Arial"/>
              </a:rPr>
              <a:t>Main question: how many labels are correct, and which errors matter?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429000" cy="73152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44751"/>
            <a:ext cx="31546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02138"/>
                </a:solidFill>
                <a:latin typeface="Arial"/>
              </a:rPr>
              <a:t>Numeric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154680" cy="3657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500" b="0">
                <a:solidFill>
                  <a:srgbClr val="69737D"/>
                </a:solidFill>
                <a:latin typeface="Arial"/>
              </a:rPr>
              <a:t>Predicts a number.</a:t>
            </a:r>
            <a:br/>
            <a:br/>
            <a:r>
              <a:rPr sz="1500" b="0">
                <a:solidFill>
                  <a:srgbClr val="69737D"/>
                </a:solidFill>
                <a:latin typeface="Arial"/>
              </a:rPr>
              <a:t>Example: demand, price, delivery time.</a:t>
            </a:r>
            <a:br/>
            <a:br/>
            <a:r>
              <a:rPr sz="1500" b="0">
                <a:solidFill>
                  <a:srgbClr val="69737D"/>
                </a:solidFill>
                <a:latin typeface="Arial"/>
              </a:rPr>
              <a:t>Main question: how far are predictions from true values?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429000" cy="73152"/>
          </a:xfrm>
          <a:prstGeom prst="rect">
            <a:avLst/>
          </a:prstGeom>
          <a:solidFill>
            <a:srgbClr val="50B065"/>
          </a:solidFill>
          <a:ln>
            <a:solidFill>
              <a:srgbClr val="50B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444751"/>
            <a:ext cx="31546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02138"/>
                </a:solidFill>
                <a:latin typeface="Arial"/>
              </a:rPr>
              <a:t>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783080"/>
            <a:ext cx="3154680" cy="3657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500" b="0">
                <a:solidFill>
                  <a:srgbClr val="69737D"/>
                </a:solidFill>
                <a:latin typeface="Arial"/>
              </a:rPr>
              <a:t>Finds groups without known labels.</a:t>
            </a:r>
            <a:br/>
            <a:br/>
            <a:r>
              <a:rPr sz="1500" b="0">
                <a:solidFill>
                  <a:srgbClr val="69737D"/>
                </a:solidFill>
                <a:latin typeface="Arial"/>
              </a:rPr>
              <a:t>Example: customer segments.</a:t>
            </a:r>
            <a:br/>
            <a:br/>
            <a:r>
              <a:rPr sz="1500" b="0">
                <a:solidFill>
                  <a:srgbClr val="69737D"/>
                </a:solidFill>
                <a:latin typeface="Arial"/>
              </a:rPr>
              <a:t>Main question: are groups compact, separated, stable, and useful?</a:t>
            </a:r>
          </a:p>
        </p:txBody>
      </p:sp>
      <p:pic>
        <p:nvPicPr>
          <p:cNvPr id="19" name="Picture 1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4A4A5F59-C8E6-46ED-8F4D-D9C96A179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Classification: Confusion Matrix + Core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1051560" cy="71323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20239" y="1417320"/>
            <a:ext cx="1051560" cy="71323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39" y="1618488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Predicted +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417320"/>
            <a:ext cx="1051560" cy="71323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618488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Predicted 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30552"/>
            <a:ext cx="1051560" cy="71323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Actual 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39" y="2130552"/>
            <a:ext cx="1051560" cy="713232"/>
          </a:xfrm>
          <a:prstGeom prst="rect">
            <a:avLst/>
          </a:prstGeom>
          <a:solidFill>
            <a:srgbClr val="50B0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39" y="2331720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130552"/>
            <a:ext cx="1051560" cy="713232"/>
          </a:xfrm>
          <a:prstGeom prst="rect">
            <a:avLst/>
          </a:prstGeom>
          <a:solidFill>
            <a:srgbClr val="DA48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2331720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843784"/>
            <a:ext cx="1051560" cy="71323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044952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Actual 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39" y="2843784"/>
            <a:ext cx="1051560" cy="713232"/>
          </a:xfrm>
          <a:prstGeom prst="rect">
            <a:avLst/>
          </a:prstGeom>
          <a:solidFill>
            <a:srgbClr val="F58B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20239" y="3044952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843784"/>
            <a:ext cx="1051560" cy="713232"/>
          </a:xfrm>
          <a:prstGeom prst="rect">
            <a:avLst/>
          </a:prstGeom>
          <a:solidFill>
            <a:srgbClr val="3D84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3044952"/>
            <a:ext cx="1051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94760"/>
            <a:ext cx="3154680" cy="5486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600" b="1">
                <a:solidFill>
                  <a:srgbClr val="102138"/>
                </a:solidFill>
                <a:latin typeface="Arial"/>
              </a:rPr>
              <a:t>All classification metrics are different summaries of TP, FP, FN, and TN.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12344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1234440"/>
            <a:ext cx="2057400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1399032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1">
                <a:solidFill>
                  <a:srgbClr val="102138"/>
                </a:solidFill>
                <a:latin typeface="Arial"/>
              </a:rP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1737360"/>
            <a:ext cx="1783080" cy="6400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rial"/>
              </a:rPr>
              <a:t>(TP + TN) / All</a:t>
            </a:r>
            <a:br/>
            <a:r>
              <a:rPr sz="1100" b="0">
                <a:solidFill>
                  <a:srgbClr val="69737D"/>
                </a:solidFill>
                <a:latin typeface="Arial"/>
              </a:rPr>
              <a:t>Overall proportion correct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12344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03720" y="1234440"/>
            <a:ext cx="2057400" cy="73152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0" y="1399032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1">
                <a:solidFill>
                  <a:srgbClr val="102138"/>
                </a:solidFill>
                <a:latin typeface="Arial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1737360"/>
            <a:ext cx="1783080" cy="6400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rial"/>
              </a:rPr>
              <a:t>TP / (TP + FP)</a:t>
            </a:r>
            <a:br/>
            <a:r>
              <a:rPr sz="1100" b="0">
                <a:solidFill>
                  <a:srgbClr val="69737D"/>
                </a:solidFill>
                <a:latin typeface="Arial"/>
              </a:rPr>
              <a:t>How reliable are positive predictions?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12344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26880" y="1234440"/>
            <a:ext cx="2057400" cy="73152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64040" y="1399032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1">
                <a:solidFill>
                  <a:srgbClr val="102138"/>
                </a:solidFill>
                <a:latin typeface="Arial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1737360"/>
            <a:ext cx="1783080" cy="6400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rial"/>
              </a:rPr>
              <a:t>TP / (TP + FN)</a:t>
            </a:r>
            <a:br/>
            <a:r>
              <a:rPr sz="1100" b="0">
                <a:solidFill>
                  <a:srgbClr val="69737D"/>
                </a:solidFill>
                <a:latin typeface="Arial"/>
              </a:rPr>
              <a:t>How many true positives did we find?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28803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80560" y="2880360"/>
            <a:ext cx="2057400" cy="73152"/>
          </a:xfrm>
          <a:prstGeom prst="rect">
            <a:avLst/>
          </a:prstGeom>
          <a:solidFill>
            <a:srgbClr val="50B065"/>
          </a:solidFill>
          <a:ln>
            <a:solidFill>
              <a:srgbClr val="50B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17720" y="3044952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1">
                <a:solidFill>
                  <a:srgbClr val="102138"/>
                </a:solidFill>
                <a:latin typeface="Arial"/>
              </a:rPr>
              <a:t>F1-score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3383280"/>
            <a:ext cx="1783080" cy="6400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rial"/>
              </a:rPr>
              <a:t>Balances precision and recall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28803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903720" y="2880360"/>
            <a:ext cx="2057400" cy="73152"/>
          </a:xfrm>
          <a:prstGeom prst="rect">
            <a:avLst/>
          </a:prstGeom>
          <a:solidFill>
            <a:srgbClr val="6F56C8"/>
          </a:solidFill>
          <a:ln>
            <a:solidFill>
              <a:srgbClr val="6F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3044952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1">
                <a:solidFill>
                  <a:srgbClr val="102138"/>
                </a:solidFill>
                <a:latin typeface="Arial"/>
              </a:rPr>
              <a:t>Specificity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3383280"/>
            <a:ext cx="1783080" cy="6400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rial"/>
              </a:rPr>
              <a:t>TN / (TN + FP)</a:t>
            </a:r>
            <a:br/>
            <a:r>
              <a:rPr sz="1100" b="0">
                <a:solidFill>
                  <a:srgbClr val="69737D"/>
                </a:solidFill>
                <a:latin typeface="Arial"/>
              </a:rPr>
              <a:t>How many negatives are correctly rejected?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28803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326880" y="2880360"/>
            <a:ext cx="2057400" cy="73152"/>
          </a:xfrm>
          <a:prstGeom prst="rect">
            <a:avLst/>
          </a:prstGeom>
          <a:solidFill>
            <a:srgbClr val="DA4847"/>
          </a:solidFill>
          <a:ln>
            <a:solidFill>
              <a:srgbClr val="DA4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64040" y="3044952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1">
                <a:solidFill>
                  <a:srgbClr val="102138"/>
                </a:solidFill>
                <a:latin typeface="Arial"/>
              </a:rPr>
              <a:t>Error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3383280"/>
            <a:ext cx="1783080" cy="6400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69737D"/>
                </a:solidFill>
                <a:latin typeface="Arial"/>
              </a:rPr>
              <a:t>(FP + FN) / All</a:t>
            </a:r>
            <a:br/>
            <a:r>
              <a:rPr sz="1100" b="0">
                <a:solidFill>
                  <a:srgbClr val="69737D"/>
                </a:solidFill>
                <a:latin typeface="Arial"/>
              </a:rPr>
              <a:t>Overall proportion incorrect</a:t>
            </a:r>
          </a:p>
        </p:txBody>
      </p:sp>
      <p:pic>
        <p:nvPicPr>
          <p:cNvPr id="50" name="Picture 4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D06280DE-4FAE-9512-7689-1B56BDBDF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486443" cy="46166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400" b="1" dirty="0">
                <a:solidFill>
                  <a:srgbClr val="102138"/>
                </a:solidFill>
                <a:latin typeface="Arial"/>
              </a:rPr>
              <a:t>Choosing Classification Metrics Without Overloading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2103120" cy="411480"/>
          </a:xfrm>
          <a:prstGeom prst="round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207008"/>
            <a:ext cx="2029967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Balanced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161288"/>
            <a:ext cx="274320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500" b="1">
                <a:solidFill>
                  <a:srgbClr val="102138"/>
                </a:solidFill>
                <a:latin typeface="Arial"/>
              </a:rPr>
              <a:t>Accuracy + confusion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61288"/>
            <a:ext cx="484632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When classes and error costs are similar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65960"/>
            <a:ext cx="2103120" cy="411480"/>
          </a:xfrm>
          <a:prstGeom prst="round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029967"/>
            <a:ext cx="2029967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Imbalanced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84248"/>
            <a:ext cx="274320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500" b="1">
                <a:solidFill>
                  <a:srgbClr val="102138"/>
                </a:solidFill>
                <a:latin typeface="Arial"/>
              </a:rPr>
              <a:t>Precision, recall, F1, PR-AUC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84248"/>
            <a:ext cx="484632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When rare cases matter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88920"/>
            <a:ext cx="2103120" cy="411480"/>
          </a:xfrm>
          <a:prstGeom prst="round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852927"/>
            <a:ext cx="2029967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Ranking / thresholds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07208"/>
            <a:ext cx="274320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500" b="1">
                <a:solidFill>
                  <a:srgbClr val="102138"/>
                </a:solidFill>
                <a:latin typeface="Arial"/>
              </a:rPr>
              <a:t>ROC-AUC, PR curve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07208"/>
            <a:ext cx="484632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When predictions are probability scores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11879"/>
            <a:ext cx="2103120" cy="411480"/>
          </a:xfrm>
          <a:prstGeom prst="roundRect">
            <a:avLst/>
          </a:prstGeom>
          <a:solidFill>
            <a:srgbClr val="DA4847"/>
          </a:solidFill>
          <a:ln>
            <a:solidFill>
              <a:srgbClr val="DA4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675887"/>
            <a:ext cx="2029967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Unequal error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30168"/>
            <a:ext cx="274320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500" b="1">
                <a:solidFill>
                  <a:srgbClr val="102138"/>
                </a:solidFill>
                <a:latin typeface="Arial"/>
              </a:rPr>
              <a:t>Cost matrix / benefit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30168"/>
            <a:ext cx="484632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When FP and FN have different consequences</a:t>
            </a:r>
          </a:p>
        </p:txBody>
      </p:sp>
      <p:pic>
        <p:nvPicPr>
          <p:cNvPr id="22" name="Picture 21" descr="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17720"/>
            <a:ext cx="3063240" cy="1508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51960" y="4709160"/>
            <a:ext cx="6400800" cy="10058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2000" b="1">
                <a:solidFill>
                  <a:srgbClr val="102138"/>
                </a:solidFill>
                <a:latin typeface="Arial"/>
              </a:rPr>
              <a:t>Concise reporting rule: do not list every metric. Start with the confusion matrix, then choose 2–3 metrics that match the business cost of mistakes.</a:t>
            </a:r>
          </a:p>
        </p:txBody>
      </p:sp>
      <p:pic>
        <p:nvPicPr>
          <p:cNvPr id="25" name="Picture 2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0FE2C09A-A01D-16C4-F691-D3757A936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Reliable Estimates: Holdout and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" y="1221499"/>
            <a:ext cx="4280953" cy="861774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0" dirty="0">
                <a:solidFill>
                  <a:srgbClr val="102138"/>
                </a:solidFill>
                <a:latin typeface="Arial"/>
              </a:rPr>
              <a:t>Holdout testing separates data used for learning from data used for evaluation. This reduces the risk of over-optimistic scores.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768179"/>
            <a:ext cx="4858057" cy="861774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0" dirty="0">
                <a:solidFill>
                  <a:srgbClr val="102138"/>
                </a:solidFill>
                <a:latin typeface="Arial"/>
              </a:rPr>
              <a:t>Cross-validation repeats training/testing across several folds, giving a more stable estimate when data is limited.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" y="4113233"/>
            <a:ext cx="3886199" cy="11849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800" b="1" dirty="0">
                <a:solidFill>
                  <a:srgbClr val="DA4847"/>
                </a:solidFill>
                <a:latin typeface="Arial"/>
              </a:rPr>
              <a:t>Avoid data leakage: do not let information from the test set influence preprocessing, feature selection, or model tuning.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4D893E-E9C3-DA6E-ED55-39E567EDA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944500"/>
            <a:ext cx="5486400" cy="5240977"/>
          </a:xfrm>
          <a:prstGeom prst="rect">
            <a:avLst/>
          </a:prstGeom>
        </p:spPr>
      </p:pic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DAF62F0-4E17-6307-B25C-DD7F8E15D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601346" cy="5232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800" b="1" dirty="0">
                <a:solidFill>
                  <a:srgbClr val="102138"/>
                </a:solidFill>
                <a:latin typeface="Arial"/>
              </a:rPr>
              <a:t>Thresholds, ROC Curves and Cost-Sensitive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133856"/>
            <a:ext cx="4251960" cy="2971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270008" y="1392174"/>
            <a:ext cx="2743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70008" y="1392174"/>
            <a:ext cx="2743200" cy="329184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43160" y="1428750"/>
            <a:ext cx="2596896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Cost-sensitive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9736" y="1803654"/>
            <a:ext cx="252374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False positives and false negatives may not be equally costly.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Select thresholds based on practical consequences.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066794"/>
            <a:ext cx="1371600" cy="43891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4167378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60920" y="4066794"/>
            <a:ext cx="1371600" cy="43891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4167378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Pred 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4066794"/>
            <a:ext cx="1371600" cy="43891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4167378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Pred 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505706"/>
            <a:ext cx="1371600" cy="43891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4606290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Actual 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4505706"/>
            <a:ext cx="1371600" cy="438912"/>
          </a:xfrm>
          <a:prstGeom prst="rect">
            <a:avLst/>
          </a:prstGeom>
          <a:solidFill>
            <a:srgbClr val="50B0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4606290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Low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4505706"/>
            <a:ext cx="1371600" cy="438912"/>
          </a:xfrm>
          <a:prstGeom prst="rect">
            <a:avLst/>
          </a:prstGeom>
          <a:solidFill>
            <a:srgbClr val="DA48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32520" y="4606290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High 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944618"/>
            <a:ext cx="1371600" cy="438912"/>
          </a:xfrm>
          <a:prstGeom prst="rect">
            <a:avLst/>
          </a:prstGeom>
          <a:solidFill>
            <a:srgbClr val="1021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89320" y="5045202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Actual 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4944618"/>
            <a:ext cx="1371600" cy="438912"/>
          </a:xfrm>
          <a:prstGeom prst="rect">
            <a:avLst/>
          </a:prstGeom>
          <a:solidFill>
            <a:srgbClr val="F58B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5045202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Medium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4944618"/>
            <a:ext cx="1371600" cy="438912"/>
          </a:xfrm>
          <a:prstGeom prst="rect">
            <a:avLst/>
          </a:prstGeom>
          <a:solidFill>
            <a:srgbClr val="3D84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32520" y="5045202"/>
            <a:ext cx="1371600" cy="1828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Benefit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8"/>
            <a:ext cx="10332720" cy="4572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800" b="1" dirty="0">
                <a:solidFill>
                  <a:srgbClr val="102138"/>
                </a:solidFill>
                <a:latin typeface="Arial"/>
              </a:rPr>
              <a:t>Example: missing a cancer diagnosis may be more serious than asking a healthy person to do another test.</a:t>
            </a:r>
          </a:p>
        </p:txBody>
      </p:sp>
      <p:sp>
        <p:nvSpPr>
          <p:cNvPr id="51" name="Rounded Rectangle 6">
            <a:extLst>
              <a:ext uri="{FF2B5EF4-FFF2-40B4-BE49-F238E27FC236}">
                <a16:creationId xmlns:a16="http://schemas.microsoft.com/office/drawing/2014/main" id="{40B4B1A7-8254-E1C8-EE91-1201BE327132}"/>
              </a:ext>
            </a:extLst>
          </p:cNvPr>
          <p:cNvSpPr/>
          <p:nvPr/>
        </p:nvSpPr>
        <p:spPr>
          <a:xfrm>
            <a:off x="4593856" y="950976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FB6DC6-802D-12AD-3CFF-94BD1F339D55}"/>
              </a:ext>
            </a:extLst>
          </p:cNvPr>
          <p:cNvSpPr/>
          <p:nvPr/>
        </p:nvSpPr>
        <p:spPr>
          <a:xfrm>
            <a:off x="4593856" y="950976"/>
            <a:ext cx="4572000" cy="347472"/>
          </a:xfrm>
          <a:prstGeom prst="rect">
            <a:avLst/>
          </a:prstGeom>
          <a:solidFill>
            <a:srgbClr val="4382C9"/>
          </a:solidFill>
          <a:ln>
            <a:solidFill>
              <a:srgbClr val="438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AF3920-4534-022A-5F6F-0E15C7B91E43}"/>
              </a:ext>
            </a:extLst>
          </p:cNvPr>
          <p:cNvSpPr txBox="1"/>
          <p:nvPr/>
        </p:nvSpPr>
        <p:spPr>
          <a:xfrm>
            <a:off x="4703584" y="996696"/>
            <a:ext cx="4352544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ROC curve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BF76A0-7C44-5733-B36E-57030C321C7B}"/>
              </a:ext>
            </a:extLst>
          </p:cNvPr>
          <p:cNvSpPr txBox="1"/>
          <p:nvPr/>
        </p:nvSpPr>
        <p:spPr>
          <a:xfrm>
            <a:off x="4731016" y="1453896"/>
            <a:ext cx="429768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0">
                <a:solidFill>
                  <a:srgbClr val="0C1D34"/>
                </a:solidFill>
                <a:latin typeface="Arial"/>
              </a:rPr>
              <a:t>Plots true positive rate against false positive rate across different thresholds.</a:t>
            </a:r>
          </a:p>
        </p:txBody>
      </p:sp>
      <p:sp>
        <p:nvSpPr>
          <p:cNvPr id="59" name="Rounded Rectangle 10">
            <a:extLst>
              <a:ext uri="{FF2B5EF4-FFF2-40B4-BE49-F238E27FC236}">
                <a16:creationId xmlns:a16="http://schemas.microsoft.com/office/drawing/2014/main" id="{4584DF09-0B93-57B6-C099-8481AC4B4A94}"/>
              </a:ext>
            </a:extLst>
          </p:cNvPr>
          <p:cNvSpPr/>
          <p:nvPr/>
        </p:nvSpPr>
        <p:spPr>
          <a:xfrm>
            <a:off x="4593856" y="2414016"/>
            <a:ext cx="457200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A42D0E1-69F6-6411-055E-63683716932C}"/>
              </a:ext>
            </a:extLst>
          </p:cNvPr>
          <p:cNvSpPr/>
          <p:nvPr/>
        </p:nvSpPr>
        <p:spPr>
          <a:xfrm>
            <a:off x="4593856" y="2414016"/>
            <a:ext cx="4572000" cy="347472"/>
          </a:xfrm>
          <a:prstGeom prst="rect">
            <a:avLst/>
          </a:prstGeom>
          <a:solidFill>
            <a:srgbClr val="26B8B0"/>
          </a:solidFill>
          <a:ln>
            <a:solidFill>
              <a:srgbClr val="26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34588B-38EE-A962-E413-D061476EF12D}"/>
              </a:ext>
            </a:extLst>
          </p:cNvPr>
          <p:cNvSpPr txBox="1"/>
          <p:nvPr/>
        </p:nvSpPr>
        <p:spPr>
          <a:xfrm>
            <a:off x="4703584" y="2459735"/>
            <a:ext cx="4352544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AUC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4EDD3C-2595-A7FD-D338-632653FAD5A4}"/>
              </a:ext>
            </a:extLst>
          </p:cNvPr>
          <p:cNvSpPr txBox="1"/>
          <p:nvPr/>
        </p:nvSpPr>
        <p:spPr>
          <a:xfrm>
            <a:off x="4731016" y="2916935"/>
            <a:ext cx="429768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700" b="0" dirty="0">
                <a:solidFill>
                  <a:srgbClr val="0C1D34"/>
                </a:solidFill>
                <a:latin typeface="Arial"/>
              </a:rPr>
              <a:t>Area under the ROC curve. Higher AUC generally means better discrimination between classes.</a:t>
            </a:r>
          </a:p>
        </p:txBody>
      </p:sp>
      <p:pic>
        <p:nvPicPr>
          <p:cNvPr id="67" name="Picture 6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37372A8A-72D8-BB1D-365F-87D37C596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Numeric Prediction: Core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2377440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210312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1">
                <a:solidFill>
                  <a:srgbClr val="102138"/>
                </a:solidFill>
                <a:latin typeface="Arial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103120" cy="68579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0">
                <a:solidFill>
                  <a:srgbClr val="69737D"/>
                </a:solidFill>
                <a:latin typeface="Arial"/>
              </a:rPr>
              <a:t>Mean absolute error. Easy to interpret in the original unit.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2377440" cy="73152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210312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1">
                <a:solidFill>
                  <a:srgbClr val="102138"/>
                </a:solidFill>
                <a:latin typeface="Arial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39"/>
            <a:ext cx="2103120" cy="68579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0">
                <a:solidFill>
                  <a:srgbClr val="69737D"/>
                </a:solidFill>
                <a:latin typeface="Arial"/>
              </a:rPr>
              <a:t>Root mean squared error. Penalises large errors more strongly.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2377440" cy="73152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210312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600" b="1">
                <a:solidFill>
                  <a:srgbClr val="102138"/>
                </a:solidFill>
                <a:latin typeface="Arial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2103120" cy="68579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0">
                <a:solidFill>
                  <a:srgbClr val="69737D"/>
                </a:solidFill>
                <a:latin typeface="Arial"/>
              </a:rPr>
              <a:t>Explains the proportion of variance captured by the model.</a:t>
            </a:r>
          </a:p>
        </p:txBody>
      </p:sp>
      <p:pic>
        <p:nvPicPr>
          <p:cNvPr id="18" name="Picture 17" descr="pred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234440"/>
            <a:ext cx="3383280" cy="2331720"/>
          </a:xfrm>
          <a:prstGeom prst="rect">
            <a:avLst/>
          </a:prstGeom>
        </p:spPr>
      </p:pic>
      <p:pic>
        <p:nvPicPr>
          <p:cNvPr id="19" name="Picture 18" descr="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3383280" cy="2331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40480" y="4069080"/>
            <a:ext cx="6949440" cy="10972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02138"/>
                </a:solidFill>
                <a:latin typeface="Arial"/>
              </a:rPr>
              <a:t>For prediction models, a “good” result depends on the acceptable error size in the real context. A delivery-time model with MAE = 2 minutes may be useful; MAE = 2 days may not.</a:t>
            </a:r>
          </a:p>
        </p:txBody>
      </p:sp>
      <p:pic>
        <p:nvPicPr>
          <p:cNvPr id="22" name="Picture 2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B1AB720-7596-1914-285B-9E64B5751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How to Evaluate Prediction Models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4754880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480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Use a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480560" cy="91439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Compare against a simple rule, e.g., predict the average or last known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4754880" cy="73152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490472"/>
            <a:ext cx="4480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Inspect residuals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4480560" cy="91439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Look for systematic bias, outliers, or larger errors for specific groups.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429000"/>
            <a:ext cx="4754880" cy="73152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593592"/>
            <a:ext cx="4480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Choose meaningful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480560" cy="91439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Report error in business terms: dollars, minutes, days, units sold.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2900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3429000"/>
            <a:ext cx="4754880" cy="73152"/>
          </a:xfrm>
          <a:prstGeom prst="rect">
            <a:avLst/>
          </a:prstGeom>
          <a:solidFill>
            <a:srgbClr val="50B065"/>
          </a:solidFill>
          <a:ln>
            <a:solidFill>
              <a:srgbClr val="50B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593592"/>
            <a:ext cx="44805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Check generalisation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31920"/>
            <a:ext cx="4480560" cy="914399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Use train/test split or cross-validation; avoid tuning on the final test 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987552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900" b="1">
                <a:solidFill>
                  <a:srgbClr val="102138"/>
                </a:solidFill>
                <a:latin typeface="Arial"/>
              </a:rPr>
              <a:t>Prediction evaluation is about error size, error pattern, and whether the model improves on a simple baseline.</a:t>
            </a:r>
          </a:p>
        </p:txBody>
      </p:sp>
      <p:pic>
        <p:nvPicPr>
          <p:cNvPr id="24" name="Picture 2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DFCF6A30-CA33-75B4-4FAE-D90A80F74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Clustering: What Does “Good” Mean Without Labels?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3840480" cy="2743200"/>
          </a:xfrm>
          <a:prstGeom prst="rect">
            <a:avLst/>
          </a:prstGeom>
        </p:spPr>
      </p:pic>
      <p:pic>
        <p:nvPicPr>
          <p:cNvPr id="7" name="Picture 6" descr="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3840480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74920" y="1234440"/>
            <a:ext cx="30175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74920" y="1234440"/>
            <a:ext cx="3017520" cy="329184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48072" y="1271016"/>
            <a:ext cx="2871215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Internal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645920"/>
            <a:ext cx="2798063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Silhouette score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Davies–Bouldin index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Calinski–Harabasz index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WCSS / elbow 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234440"/>
            <a:ext cx="30175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1234440"/>
            <a:ext cx="3017520" cy="329184"/>
          </a:xfrm>
          <a:prstGeom prst="rect">
            <a:avLst/>
          </a:prstGeom>
          <a:solidFill>
            <a:srgbClr val="50B065"/>
          </a:solidFill>
          <a:ln>
            <a:solidFill>
              <a:srgbClr val="50B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1271016"/>
            <a:ext cx="2871215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Practical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645920"/>
            <a:ext cx="2798063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Are clusters interpretable?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Are cluster sizes useful?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Are clusters stable across samples?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Do they support decisions?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794760"/>
            <a:ext cx="5852160" cy="1371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2100" b="1">
                <a:solidFill>
                  <a:srgbClr val="102138"/>
                </a:solidFill>
                <a:latin typeface="Arial"/>
              </a:rPr>
              <a:t>A high clustering score is not enough. A segmentation is valuable only if stakeholders can understand, name, and act on the clusters.</a:t>
            </a:r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30EA9636-6C90-2C61-EE87-E3C90D8A3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Clustering Evaluation: 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4983480" cy="73152"/>
          </a:xfrm>
          <a:prstGeom prst="rect">
            <a:avLst/>
          </a:prstGeom>
          <a:solidFill>
            <a:srgbClr val="DA4847"/>
          </a:solidFill>
          <a:ln>
            <a:solidFill>
              <a:srgbClr val="DA4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47091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Too many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09160" cy="8229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May look mathematically better, but becomes hard to interpret and act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4983480" cy="73152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7091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One giant 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09160" cy="8229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Can hide important subgroups and reduce business usefulness.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337560"/>
            <a:ext cx="4983480" cy="73152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47091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Unstable 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4709160" cy="8229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If clusters change dramatically with small data changes, decisions become risky.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33756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337560"/>
            <a:ext cx="4983480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502152"/>
            <a:ext cx="4709160" cy="274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02138"/>
                </a:solidFill>
                <a:latin typeface="Arial"/>
              </a:rPr>
              <a:t>No domain meaning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4709160" cy="8229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400" b="0">
                <a:solidFill>
                  <a:srgbClr val="69737D"/>
                </a:solidFill>
                <a:latin typeface="Arial"/>
              </a:rPr>
              <a:t>A cluster must be explainable using variables that matter in the problem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77840"/>
            <a:ext cx="987552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2000" b="1">
                <a:solidFill>
                  <a:srgbClr val="102138"/>
                </a:solidFill>
                <a:latin typeface="Arial"/>
              </a:rPr>
              <a:t>Best practice: combine cluster metrics with profiling tables and domain interpretation.</a:t>
            </a:r>
          </a:p>
        </p:txBody>
      </p:sp>
      <p:pic>
        <p:nvPicPr>
          <p:cNvPr id="24" name="Picture 2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BC75FF5-F805-3ADC-3CF3-EF1C7D9F0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Compact Metric Selection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828800" cy="411480"/>
          </a:xfrm>
          <a:prstGeom prst="rect">
            <a:avLst/>
          </a:prstGeom>
          <a:solidFill>
            <a:srgbClr val="23B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1828800" cy="16459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Problem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234440"/>
            <a:ext cx="2377440" cy="411480"/>
          </a:xfrm>
          <a:prstGeom prst="rect">
            <a:avLst/>
          </a:prstGeom>
          <a:solidFill>
            <a:srgbClr val="23B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1335024"/>
            <a:ext cx="2377440" cy="16459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Typical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234440"/>
            <a:ext cx="3749039" cy="411480"/>
          </a:xfrm>
          <a:prstGeom prst="rect">
            <a:avLst/>
          </a:prstGeom>
          <a:solidFill>
            <a:srgbClr val="23B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335024"/>
            <a:ext cx="3749039" cy="16459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Useful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234440"/>
            <a:ext cx="2743200" cy="411480"/>
          </a:xfrm>
          <a:prstGeom prst="rect">
            <a:avLst/>
          </a:prstGeom>
          <a:solidFill>
            <a:srgbClr val="23B5B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335024"/>
            <a:ext cx="2743200" cy="16459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Report focus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645920"/>
            <a:ext cx="1828800" cy="822960"/>
          </a:xfrm>
          <a:prstGeom prst="rect">
            <a:avLst/>
          </a:prstGeom>
          <a:solidFill>
            <a:srgbClr val="3D84C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810512"/>
            <a:ext cx="173736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1645920"/>
            <a:ext cx="2377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1810512"/>
            <a:ext cx="228600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Class label / probability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645920"/>
            <a:ext cx="3749039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810512"/>
            <a:ext cx="3657599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Confusion matrix; accuracy; precision; recall; F1; ROC-AUC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164592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1810512"/>
            <a:ext cx="265176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Which errors matter?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468880"/>
            <a:ext cx="1828800" cy="822960"/>
          </a:xfrm>
          <a:prstGeom prst="rect">
            <a:avLst/>
          </a:prstGeom>
          <a:solidFill>
            <a:srgbClr val="F58B1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33472"/>
            <a:ext cx="173736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Prediction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468880"/>
            <a:ext cx="2377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0" y="2633472"/>
            <a:ext cx="228600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Numeric 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2468880"/>
            <a:ext cx="3749039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59" y="2633472"/>
            <a:ext cx="3657599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MAE; RMSE; R²; residual plots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246888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2633472"/>
            <a:ext cx="265176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How large are the errors?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291840"/>
            <a:ext cx="1828800" cy="822960"/>
          </a:xfrm>
          <a:prstGeom prst="rect">
            <a:avLst/>
          </a:prstGeom>
          <a:solidFill>
            <a:srgbClr val="50B065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456432"/>
            <a:ext cx="173736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Clustering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3291840"/>
            <a:ext cx="2377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0" y="3456432"/>
            <a:ext cx="228600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Group assignment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3291840"/>
            <a:ext cx="3749039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59" y="3456432"/>
            <a:ext cx="3657599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Silhouette; elbow/WCSS; cluster profiling; stability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3291840"/>
            <a:ext cx="27432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0" y="3456432"/>
            <a:ext cx="265176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200" b="0">
                <a:solidFill>
                  <a:srgbClr val="102138"/>
                </a:solidFill>
                <a:latin typeface="Arial"/>
              </a:rPr>
              <a:t>Are groups useful and interpretable?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66360"/>
            <a:ext cx="10058400" cy="6400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2000" b="1">
                <a:solidFill>
                  <a:srgbClr val="102138"/>
                </a:solidFill>
                <a:latin typeface="Arial"/>
              </a:rPr>
              <a:t>A strong report justifies why the chosen metric fits the analytical problem, not merely which metric is highest.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Assessment 2: How Module 7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3246120" cy="329184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271016"/>
            <a:ext cx="3099815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 your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3026663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Split data into training and testing sets.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Build candidate models.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Evaluate with suitable metrics.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Compare models fairly.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3246120" cy="329184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271016"/>
            <a:ext cx="3099815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 your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45920"/>
            <a:ext cx="3026663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Define each metric briefly.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Interpret the score in context.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Include visual evidence where useful.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State limitations honestly.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3246120" cy="329184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1271016"/>
            <a:ext cx="3099815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 your reflection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1645920"/>
            <a:ext cx="3026663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Discuss imbalance, small samples, or noisy data.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Mention error costs and practical risk.</a:t>
            </a:r>
          </a:p>
          <a:p>
            <a:pPr>
              <a:spcAft>
                <a:spcPts val="400"/>
              </a:spcAft>
              <a:defRPr sz="1300">
                <a:solidFill>
                  <a:srgbClr val="102138"/>
                </a:solidFill>
                <a:latin typeface="Arial"/>
              </a:defRPr>
            </a:pPr>
            <a:r>
              <a:t>Explain why the final model is appropriate.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1600" b="1">
                <a:solidFill>
                  <a:srgbClr val="102138"/>
                </a:solidFill>
                <a:latin typeface="Arial"/>
              </a:rPr>
              <a:t>Minimum expectation: report the data split, model type, evaluation metrics, metric values, and interpretation.</a:t>
            </a:r>
          </a:p>
        </p:txBody>
      </p:sp>
      <p:pic>
        <p:nvPicPr>
          <p:cNvPr id="20" name="Picture 1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38751AD7-ADFE-C836-00F3-E9F8F0D64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02138"/>
                </a:solidFill>
                <a:latin typeface="Arial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7D"/>
                </a:solidFill>
                <a:latin typeface="Arial"/>
              </a:rPr>
              <a:t>Module 7 •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7D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074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5074920" cy="329184"/>
          </a:xfrm>
          <a:prstGeom prst="rect">
            <a:avLst/>
          </a:prstGeom>
          <a:solidFill>
            <a:srgbClr val="23B5B0"/>
          </a:solidFill>
          <a:ln>
            <a:solidFill>
              <a:srgbClr val="23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271016"/>
            <a:ext cx="4928616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485546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Evaluation estimates future performance, not memorisation.</a:t>
            </a:r>
          </a:p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Accuracy alone can be misleading, especially for imbalanced data.</a:t>
            </a:r>
          </a:p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Different model types need different evaluation metrics.</a:t>
            </a:r>
          </a:p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Use cross-validation or train/test split to make estimates credible.</a:t>
            </a:r>
          </a:p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Report results clearly and transparently.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074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074920" cy="329184"/>
          </a:xfrm>
          <a:prstGeom prst="rect">
            <a:avLst/>
          </a:prstGeom>
          <a:solidFill>
            <a:srgbClr val="3D84CF"/>
          </a:solidFill>
          <a:ln>
            <a:solidFill>
              <a:srgbClr val="3D8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271016"/>
            <a:ext cx="4928616" cy="22860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Core learning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45920"/>
            <a:ext cx="4855464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Han, Pei &amp; Kamber: classifier metrics and cost-sensitive evaluation.</a:t>
            </a:r>
          </a:p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Witten, Frank, Hall &amp; Pal: training/testing and cross-validation.</a:t>
            </a:r>
          </a:p>
          <a:p>
            <a:pPr>
              <a:spcAft>
                <a:spcPts val="400"/>
              </a:spcAft>
              <a:defRPr sz="1400">
                <a:solidFill>
                  <a:srgbClr val="102138"/>
                </a:solidFill>
                <a:latin typeface="Arial"/>
              </a:defRPr>
            </a:pPr>
            <a:r>
              <a:t>Analytics Vidhya: overview of common evaluation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15000"/>
            <a:ext cx="996696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ctr"/>
            <a:r>
              <a:rPr sz="2000" b="1">
                <a:solidFill>
                  <a:srgbClr val="102138"/>
                </a:solidFill>
                <a:latin typeface="Arial"/>
              </a:rPr>
              <a:t>Evaluation is the bridge between “the model runs” and “the model is useful”.</a:t>
            </a:r>
          </a:p>
        </p:txBody>
      </p:sp>
      <p:pic>
        <p:nvPicPr>
          <p:cNvPr id="16" name="Picture 1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723C24D-5957-5214-299B-20E1EEE6A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133014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1057F29386142A5B9755C5531A820" ma:contentTypeVersion="7" ma:contentTypeDescription="Create a new document." ma:contentTypeScope="" ma:versionID="4fba0a4a6bc0f311a775a35ccccf5e6d">
  <xsd:schema xmlns:xsd="http://www.w3.org/2001/XMLSchema" xmlns:xs="http://www.w3.org/2001/XMLSchema" xmlns:p="http://schemas.microsoft.com/office/2006/metadata/properties" xmlns:ns2="cc5d4512-e7db-40f5-9b40-1e14bbbc82d5" targetNamespace="http://schemas.microsoft.com/office/2006/metadata/properties" ma:root="true" ma:fieldsID="b67d525fc411f0dd1bf3f93df30eccba" ns2:_="">
    <xsd:import namespace="cc5d4512-e7db-40f5-9b40-1e14bbbc8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5d4512-e7db-40f5-9b40-1e14bbbc82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288DC8-FCF8-4441-A9C8-616027E89437}"/>
</file>

<file path=customXml/itemProps2.xml><?xml version="1.0" encoding="utf-8"?>
<ds:datastoreItem xmlns:ds="http://schemas.openxmlformats.org/officeDocument/2006/customXml" ds:itemID="{8F9D318D-E29F-4818-83A1-3F3C4BA7163E}"/>
</file>

<file path=customXml/itemProps3.xml><?xml version="1.0" encoding="utf-8"?>
<ds:datastoreItem xmlns:ds="http://schemas.openxmlformats.org/officeDocument/2006/customXml" ds:itemID="{AF28E08D-C28E-4A02-B316-A4C63B3369B4}"/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1423</Words>
  <Application>Microsoft Office PowerPoint</Application>
  <PresentationFormat>Widescreen</PresentationFormat>
  <Paragraphs>210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Zhan</dc:creator>
  <cp:lastModifiedBy>Chen Zhan</cp:lastModifiedBy>
  <cp:revision>1</cp:revision>
  <dcterms:created xsi:type="dcterms:W3CDTF">2026-07-12T05:24:46Z</dcterms:created>
  <dcterms:modified xsi:type="dcterms:W3CDTF">2026-07-12T06:25:26Z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0x01010086A1057F29386142A5B9755C5531A820</vt:lpwstr>
  </property>
</Properties>
</file>