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6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 Zhan" userId="9bf1158d-5ec6-44ed-8784-22fed4df2891" providerId="ADAL" clId="{84F5DB30-E39F-4316-A67F-0ADB068F30C4}"/>
    <pc:docChg chg="undo custSel delSld modSld">
      <pc:chgData name="Chen Zhan" userId="9bf1158d-5ec6-44ed-8784-22fed4df2891" providerId="ADAL" clId="{84F5DB30-E39F-4316-A67F-0ADB068F30C4}" dt="2026-08-16T14:34:59.432" v="24" actId="255"/>
      <pc:docMkLst>
        <pc:docMk/>
      </pc:docMkLst>
      <pc:sldChg chg="del">
        <pc:chgData name="Chen Zhan" userId="9bf1158d-5ec6-44ed-8784-22fed4df2891" providerId="ADAL" clId="{84F5DB30-E39F-4316-A67F-0ADB068F30C4}" dt="2026-08-16T14:34:03.541" v="1" actId="47"/>
        <pc:sldMkLst>
          <pc:docMk/>
          <pc:sldMk cId="745731304" sldId="256"/>
        </pc:sldMkLst>
      </pc:sldChg>
      <pc:sldChg chg="addSp modSp mod">
        <pc:chgData name="Chen Zhan" userId="9bf1158d-5ec6-44ed-8784-22fed4df2891" providerId="ADAL" clId="{84F5DB30-E39F-4316-A67F-0ADB068F30C4}" dt="2026-08-16T14:34:18.164" v="4" actId="22"/>
        <pc:sldMkLst>
          <pc:docMk/>
          <pc:sldMk cId="0" sldId="257"/>
        </pc:sldMkLst>
        <pc:spChg chg="add mod">
          <ac:chgData name="Chen Zhan" userId="9bf1158d-5ec6-44ed-8784-22fed4df2891" providerId="ADAL" clId="{84F5DB30-E39F-4316-A67F-0ADB068F30C4}" dt="2026-08-16T14:34:15.766" v="3" actId="1076"/>
          <ac:spMkLst>
            <pc:docMk/>
            <pc:sldMk cId="0" sldId="257"/>
            <ac:spMk id="18" creationId="{3745D21D-F8E4-EB9C-A1B5-515216421380}"/>
          </ac:spMkLst>
        </pc:spChg>
        <pc:picChg chg="add">
          <ac:chgData name="Chen Zhan" userId="9bf1158d-5ec6-44ed-8784-22fed4df2891" providerId="ADAL" clId="{84F5DB30-E39F-4316-A67F-0ADB068F30C4}" dt="2026-08-16T14:34:18.164" v="4" actId="22"/>
          <ac:picMkLst>
            <pc:docMk/>
            <pc:sldMk cId="0" sldId="257"/>
            <ac:picMk id="20" creationId="{8102CFC7-9741-4AD4-B6F2-B21FA7490513}"/>
          </ac:picMkLst>
        </pc:picChg>
      </pc:sldChg>
      <pc:sldChg chg="addSp mod">
        <pc:chgData name="Chen Zhan" userId="9bf1158d-5ec6-44ed-8784-22fed4df2891" providerId="ADAL" clId="{84F5DB30-E39F-4316-A67F-0ADB068F30C4}" dt="2026-08-16T14:34:19.352" v="5" actId="22"/>
        <pc:sldMkLst>
          <pc:docMk/>
          <pc:sldMk cId="0" sldId="258"/>
        </pc:sldMkLst>
        <pc:picChg chg="add">
          <ac:chgData name="Chen Zhan" userId="9bf1158d-5ec6-44ed-8784-22fed4df2891" providerId="ADAL" clId="{84F5DB30-E39F-4316-A67F-0ADB068F30C4}" dt="2026-08-16T14:34:19.352" v="5" actId="22"/>
          <ac:picMkLst>
            <pc:docMk/>
            <pc:sldMk cId="0" sldId="258"/>
            <ac:picMk id="24" creationId="{74D83D33-B25A-86AE-46F1-AFC10508DB0A}"/>
          </ac:picMkLst>
        </pc:picChg>
      </pc:sldChg>
      <pc:sldChg chg="addSp mod">
        <pc:chgData name="Chen Zhan" userId="9bf1158d-5ec6-44ed-8784-22fed4df2891" providerId="ADAL" clId="{84F5DB30-E39F-4316-A67F-0ADB068F30C4}" dt="2026-08-16T14:34:20.572" v="6" actId="22"/>
        <pc:sldMkLst>
          <pc:docMk/>
          <pc:sldMk cId="0" sldId="259"/>
        </pc:sldMkLst>
        <pc:picChg chg="add">
          <ac:chgData name="Chen Zhan" userId="9bf1158d-5ec6-44ed-8784-22fed4df2891" providerId="ADAL" clId="{84F5DB30-E39F-4316-A67F-0ADB068F30C4}" dt="2026-08-16T14:34:20.572" v="6" actId="22"/>
          <ac:picMkLst>
            <pc:docMk/>
            <pc:sldMk cId="0" sldId="259"/>
            <ac:picMk id="21" creationId="{87C82F5E-3ED7-2848-B2D0-1D484607C866}"/>
          </ac:picMkLst>
        </pc:picChg>
      </pc:sldChg>
      <pc:sldChg chg="addSp mod">
        <pc:chgData name="Chen Zhan" userId="9bf1158d-5ec6-44ed-8784-22fed4df2891" providerId="ADAL" clId="{84F5DB30-E39F-4316-A67F-0ADB068F30C4}" dt="2026-08-16T14:34:22.090" v="7" actId="22"/>
        <pc:sldMkLst>
          <pc:docMk/>
          <pc:sldMk cId="0" sldId="260"/>
        </pc:sldMkLst>
        <pc:picChg chg="add">
          <ac:chgData name="Chen Zhan" userId="9bf1158d-5ec6-44ed-8784-22fed4df2891" providerId="ADAL" clId="{84F5DB30-E39F-4316-A67F-0ADB068F30C4}" dt="2026-08-16T14:34:22.090" v="7" actId="22"/>
          <ac:picMkLst>
            <pc:docMk/>
            <pc:sldMk cId="0" sldId="260"/>
            <ac:picMk id="33" creationId="{20E12094-EEAE-9815-A4C2-68AD43B80A3D}"/>
          </ac:picMkLst>
        </pc:picChg>
      </pc:sldChg>
      <pc:sldChg chg="addSp mod">
        <pc:chgData name="Chen Zhan" userId="9bf1158d-5ec6-44ed-8784-22fed4df2891" providerId="ADAL" clId="{84F5DB30-E39F-4316-A67F-0ADB068F30C4}" dt="2026-08-16T14:34:23.205" v="8" actId="22"/>
        <pc:sldMkLst>
          <pc:docMk/>
          <pc:sldMk cId="0" sldId="261"/>
        </pc:sldMkLst>
        <pc:picChg chg="add">
          <ac:chgData name="Chen Zhan" userId="9bf1158d-5ec6-44ed-8784-22fed4df2891" providerId="ADAL" clId="{84F5DB30-E39F-4316-A67F-0ADB068F30C4}" dt="2026-08-16T14:34:23.205" v="8" actId="22"/>
          <ac:picMkLst>
            <pc:docMk/>
            <pc:sldMk cId="0" sldId="261"/>
            <ac:picMk id="39" creationId="{151E8E4E-A263-8262-65D9-63D9B814C195}"/>
          </ac:picMkLst>
        </pc:picChg>
      </pc:sldChg>
      <pc:sldChg chg="addSp mod">
        <pc:chgData name="Chen Zhan" userId="9bf1158d-5ec6-44ed-8784-22fed4df2891" providerId="ADAL" clId="{84F5DB30-E39F-4316-A67F-0ADB068F30C4}" dt="2026-08-16T14:34:24.211" v="9" actId="22"/>
        <pc:sldMkLst>
          <pc:docMk/>
          <pc:sldMk cId="0" sldId="262"/>
        </pc:sldMkLst>
        <pc:picChg chg="add">
          <ac:chgData name="Chen Zhan" userId="9bf1158d-5ec6-44ed-8784-22fed4df2891" providerId="ADAL" clId="{84F5DB30-E39F-4316-A67F-0ADB068F30C4}" dt="2026-08-16T14:34:24.211" v="9" actId="22"/>
          <ac:picMkLst>
            <pc:docMk/>
            <pc:sldMk cId="0" sldId="262"/>
            <ac:picMk id="24" creationId="{EE77FB2C-EDCC-1FDA-7CB3-A8D73003B09B}"/>
          </ac:picMkLst>
        </pc:picChg>
      </pc:sldChg>
      <pc:sldChg chg="addSp mod">
        <pc:chgData name="Chen Zhan" userId="9bf1158d-5ec6-44ed-8784-22fed4df2891" providerId="ADAL" clId="{84F5DB30-E39F-4316-A67F-0ADB068F30C4}" dt="2026-08-16T14:34:26.967" v="10" actId="22"/>
        <pc:sldMkLst>
          <pc:docMk/>
          <pc:sldMk cId="0" sldId="263"/>
        </pc:sldMkLst>
        <pc:picChg chg="add">
          <ac:chgData name="Chen Zhan" userId="9bf1158d-5ec6-44ed-8784-22fed4df2891" providerId="ADAL" clId="{84F5DB30-E39F-4316-A67F-0ADB068F30C4}" dt="2026-08-16T14:34:26.967" v="10" actId="22"/>
          <ac:picMkLst>
            <pc:docMk/>
            <pc:sldMk cId="0" sldId="263"/>
            <ac:picMk id="33" creationId="{A261BCF9-073D-7C19-E5B4-1250B41101D0}"/>
          </ac:picMkLst>
        </pc:picChg>
      </pc:sldChg>
      <pc:sldChg chg="addSp mod">
        <pc:chgData name="Chen Zhan" userId="9bf1158d-5ec6-44ed-8784-22fed4df2891" providerId="ADAL" clId="{84F5DB30-E39F-4316-A67F-0ADB068F30C4}" dt="2026-08-16T14:34:28.470" v="11" actId="22"/>
        <pc:sldMkLst>
          <pc:docMk/>
          <pc:sldMk cId="0" sldId="264"/>
        </pc:sldMkLst>
        <pc:picChg chg="add">
          <ac:chgData name="Chen Zhan" userId="9bf1158d-5ec6-44ed-8784-22fed4df2891" providerId="ADAL" clId="{84F5DB30-E39F-4316-A67F-0ADB068F30C4}" dt="2026-08-16T14:34:28.470" v="11" actId="22"/>
          <ac:picMkLst>
            <pc:docMk/>
            <pc:sldMk cId="0" sldId="264"/>
            <ac:picMk id="24" creationId="{CFFA14B6-1863-9CA2-FB66-E2034D46DBD8}"/>
          </ac:picMkLst>
        </pc:picChg>
      </pc:sldChg>
      <pc:sldChg chg="addSp mod">
        <pc:chgData name="Chen Zhan" userId="9bf1158d-5ec6-44ed-8784-22fed4df2891" providerId="ADAL" clId="{84F5DB30-E39F-4316-A67F-0ADB068F30C4}" dt="2026-08-16T14:34:29.846" v="12" actId="22"/>
        <pc:sldMkLst>
          <pc:docMk/>
          <pc:sldMk cId="0" sldId="265"/>
        </pc:sldMkLst>
        <pc:picChg chg="add">
          <ac:chgData name="Chen Zhan" userId="9bf1158d-5ec6-44ed-8784-22fed4df2891" providerId="ADAL" clId="{84F5DB30-E39F-4316-A67F-0ADB068F30C4}" dt="2026-08-16T14:34:29.846" v="12" actId="22"/>
          <ac:picMkLst>
            <pc:docMk/>
            <pc:sldMk cId="0" sldId="265"/>
            <ac:picMk id="26" creationId="{B3E64633-5DC2-F6C2-C6D0-143A44A4DD0B}"/>
          </ac:picMkLst>
        </pc:picChg>
      </pc:sldChg>
      <pc:sldChg chg="addSp mod">
        <pc:chgData name="Chen Zhan" userId="9bf1158d-5ec6-44ed-8784-22fed4df2891" providerId="ADAL" clId="{84F5DB30-E39F-4316-A67F-0ADB068F30C4}" dt="2026-08-16T14:34:31.566" v="13" actId="22"/>
        <pc:sldMkLst>
          <pc:docMk/>
          <pc:sldMk cId="0" sldId="266"/>
        </pc:sldMkLst>
        <pc:picChg chg="add">
          <ac:chgData name="Chen Zhan" userId="9bf1158d-5ec6-44ed-8784-22fed4df2891" providerId="ADAL" clId="{84F5DB30-E39F-4316-A67F-0ADB068F30C4}" dt="2026-08-16T14:34:31.566" v="13" actId="22"/>
          <ac:picMkLst>
            <pc:docMk/>
            <pc:sldMk cId="0" sldId="266"/>
            <ac:picMk id="22" creationId="{23912036-E553-2C45-1D56-8FD1E9047CF6}"/>
          </ac:picMkLst>
        </pc:picChg>
      </pc:sldChg>
      <pc:sldChg chg="addSp mod">
        <pc:chgData name="Chen Zhan" userId="9bf1158d-5ec6-44ed-8784-22fed4df2891" providerId="ADAL" clId="{84F5DB30-E39F-4316-A67F-0ADB068F30C4}" dt="2026-08-16T14:34:32.867" v="14" actId="22"/>
        <pc:sldMkLst>
          <pc:docMk/>
          <pc:sldMk cId="0" sldId="267"/>
        </pc:sldMkLst>
        <pc:picChg chg="add">
          <ac:chgData name="Chen Zhan" userId="9bf1158d-5ec6-44ed-8784-22fed4df2891" providerId="ADAL" clId="{84F5DB30-E39F-4316-A67F-0ADB068F30C4}" dt="2026-08-16T14:34:32.867" v="14" actId="22"/>
          <ac:picMkLst>
            <pc:docMk/>
            <pc:sldMk cId="0" sldId="267"/>
            <ac:picMk id="38" creationId="{596BB238-3899-6DB5-BF48-9CD3362E23A0}"/>
          </ac:picMkLst>
        </pc:picChg>
      </pc:sldChg>
      <pc:sldChg chg="addSp mod">
        <pc:chgData name="Chen Zhan" userId="9bf1158d-5ec6-44ed-8784-22fed4df2891" providerId="ADAL" clId="{84F5DB30-E39F-4316-A67F-0ADB068F30C4}" dt="2026-08-16T14:34:34.229" v="15" actId="22"/>
        <pc:sldMkLst>
          <pc:docMk/>
          <pc:sldMk cId="0" sldId="268"/>
        </pc:sldMkLst>
        <pc:picChg chg="add">
          <ac:chgData name="Chen Zhan" userId="9bf1158d-5ec6-44ed-8784-22fed4df2891" providerId="ADAL" clId="{84F5DB30-E39F-4316-A67F-0ADB068F30C4}" dt="2026-08-16T14:34:34.229" v="15" actId="22"/>
          <ac:picMkLst>
            <pc:docMk/>
            <pc:sldMk cId="0" sldId="268"/>
            <ac:picMk id="18" creationId="{04566804-04C3-7D78-618B-68CF59EC7B9F}"/>
          </ac:picMkLst>
        </pc:picChg>
      </pc:sldChg>
      <pc:sldChg chg="addSp mod">
        <pc:chgData name="Chen Zhan" userId="9bf1158d-5ec6-44ed-8784-22fed4df2891" providerId="ADAL" clId="{84F5DB30-E39F-4316-A67F-0ADB068F30C4}" dt="2026-08-16T14:34:36.368" v="16" actId="22"/>
        <pc:sldMkLst>
          <pc:docMk/>
          <pc:sldMk cId="0" sldId="270"/>
        </pc:sldMkLst>
        <pc:picChg chg="add">
          <ac:chgData name="Chen Zhan" userId="9bf1158d-5ec6-44ed-8784-22fed4df2891" providerId="ADAL" clId="{84F5DB30-E39F-4316-A67F-0ADB068F30C4}" dt="2026-08-16T14:34:36.368" v="16" actId="22"/>
          <ac:picMkLst>
            <pc:docMk/>
            <pc:sldMk cId="0" sldId="270"/>
            <ac:picMk id="18" creationId="{A013A3FC-7551-5DA4-518F-8F70BA3AEFCE}"/>
          </ac:picMkLst>
        </pc:picChg>
      </pc:sldChg>
      <pc:sldChg chg="addSp modSp mod">
        <pc:chgData name="Chen Zhan" userId="9bf1158d-5ec6-44ed-8784-22fed4df2891" providerId="ADAL" clId="{84F5DB30-E39F-4316-A67F-0ADB068F30C4}" dt="2026-08-16T14:34:59.432" v="24" actId="255"/>
        <pc:sldMkLst>
          <pc:docMk/>
          <pc:sldMk cId="0" sldId="271"/>
        </pc:sldMkLst>
        <pc:spChg chg="mod">
          <ac:chgData name="Chen Zhan" userId="9bf1158d-5ec6-44ed-8784-22fed4df2891" providerId="ADAL" clId="{84F5DB30-E39F-4316-A67F-0ADB068F30C4}" dt="2026-08-16T14:34:54.714" v="23" actId="14100"/>
          <ac:spMkLst>
            <pc:docMk/>
            <pc:sldMk cId="0" sldId="271"/>
            <ac:spMk id="29" creationId="{00000000-0000-0000-0000-000000000000}"/>
          </ac:spMkLst>
        </pc:spChg>
        <pc:spChg chg="mod">
          <ac:chgData name="Chen Zhan" userId="9bf1158d-5ec6-44ed-8784-22fed4df2891" providerId="ADAL" clId="{84F5DB30-E39F-4316-A67F-0ADB068F30C4}" dt="2026-08-16T14:34:59.432" v="24" actId="255"/>
          <ac:spMkLst>
            <pc:docMk/>
            <pc:sldMk cId="0" sldId="271"/>
            <ac:spMk id="31" creationId="{00000000-0000-0000-0000-000000000000}"/>
          </ac:spMkLst>
        </pc:spChg>
        <pc:picChg chg="add">
          <ac:chgData name="Chen Zhan" userId="9bf1158d-5ec6-44ed-8784-22fed4df2891" providerId="ADAL" clId="{84F5DB30-E39F-4316-A67F-0ADB068F30C4}" dt="2026-08-16T14:34:38.130" v="17" actId="22"/>
          <ac:picMkLst>
            <pc:docMk/>
            <pc:sldMk cId="0" sldId="271"/>
            <ac:picMk id="35" creationId="{D4AAC3B8-6A44-3D2D-B4E0-C80C516BBD7E}"/>
          </ac:picMkLst>
        </pc:picChg>
      </pc:sldChg>
      <pc:sldChg chg="del">
        <pc:chgData name="Chen Zhan" userId="9bf1158d-5ec6-44ed-8784-22fed4df2891" providerId="ADAL" clId="{84F5DB30-E39F-4316-A67F-0ADB068F30C4}" dt="2026-08-16T14:33:59.333" v="0" actId="47"/>
        <pc:sldMkLst>
          <pc:docMk/>
          <pc:sldMk cId="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1BF29-00BE-4170-88F7-F8C7B9D3EEB1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02796C-75F2-4941-B292-C7A9773447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92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47607-2587-E7A1-B0E5-198421853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CE49D-7BB9-F6CF-8254-A0A2C1106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2DC9C-5033-B7F8-B0E8-F205474B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9B7B-4335-4239-8205-1C81A364BD5A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CF9EC-9A67-BCFA-2D16-6477EBD85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40F38-C12C-B0C1-51C8-6CA17D5CA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9977-0A06-4A2E-B6A6-81D4F10C7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483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C0C1F-A55C-B641-23C2-3C7C3A9A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AE7CA-9224-13E1-D9AC-F2DC7C738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2022A-56AE-7447-6117-6F1FC4B8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9B7B-4335-4239-8205-1C81A364BD5A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F44C-E1E4-F224-E0B8-69ABFF68F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C7DB9-ECCA-662B-9832-EC16BFCEC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9977-0A06-4A2E-B6A6-81D4F10C7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87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BAB19-DBE0-807B-1C4C-A771768A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39B9F-93B7-4C3E-C163-2411E33A5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C939D-A635-7355-B743-9B39A2AAA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9B7B-4335-4239-8205-1C81A364BD5A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C4928-B1C2-58CB-253F-270DE5B3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0780F-A79A-E84B-8761-D3C9333A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9977-0A06-4A2E-B6A6-81D4F10C7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24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6EEA-CFCC-4EE1-8C83-98347068C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03E8F-922E-061D-A131-392F75EAF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CFE46-5BD0-4DF3-01A3-1591CA258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2E879-1A0E-5502-E5B6-5885925D5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9B7B-4335-4239-8205-1C81A364BD5A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9CC69-41E0-DB7D-A888-FB2B648B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3103B-E61E-0855-2A7D-96D826DE9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9977-0A06-4A2E-B6A6-81D4F10C7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687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E445-38AC-258E-861F-CE2F6078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8BD08-F5DC-2CC4-269B-2087C4A63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F6F2D-DBFC-1081-0C7E-FC24266A1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1BD741-6B79-61E5-6A5F-EBAA57737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A815C4-E496-567D-8D62-083C0901D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9CB363-B7C9-04CB-D2DB-4E343C115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9B7B-4335-4239-8205-1C81A364BD5A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4B2235-661D-7372-9BF8-F8E50829D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585745-E2ED-EF91-CAA3-F321CD7C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9977-0A06-4A2E-B6A6-81D4F10C7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1B1D2-279B-455A-6F25-3931EF76A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9B5907-22B1-6AF0-1F65-131246DDB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9B7B-4335-4239-8205-1C81A364BD5A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28778-331E-0AA8-3BE8-691DB957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9DD78-BDA6-7A57-12FF-3EEECBF7A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9977-0A06-4A2E-B6A6-81D4F10C7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1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DA4979-B92D-7E84-A76A-C5EDC797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9B7B-4335-4239-8205-1C81A364BD5A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AAE96-337D-F8C1-A756-B48724649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4A491-2D4E-1096-18DE-58ADD057E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9977-0A06-4A2E-B6A6-81D4F10C7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82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BE84-4940-D07B-01DF-F5E2F13CF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709E-0A23-42AC-DF0F-932D96197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E82B2-7B0F-DBCA-1011-2AF08227E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81294-D5D3-BD78-FD26-3E3549E85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9B7B-4335-4239-8205-1C81A364BD5A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24585-BC1F-6E89-DAA1-B952B3AD2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56A9C-19A1-7A14-1688-DD388325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9977-0A06-4A2E-B6A6-81D4F10C7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331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F63F-6DFD-B21C-1E0D-201456A0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06AC7-D098-DC93-60A2-44180944F3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A83E2-8BF7-F730-DECF-2192ADABA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235CF-174F-4AC3-E5AC-6A233351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9B7B-4335-4239-8205-1C81A364BD5A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9EC32-5AA0-7B1A-71E4-E69B8212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EC04D-5F57-2FAC-3A80-9CF76DCB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9977-0A06-4A2E-B6A6-81D4F10C7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954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E440F-E9BD-8746-E451-6C613F2E2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4359F-AFF6-1919-3326-05BA22EB8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124BB-B9D3-D5E6-483C-E31BD5A4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9B7B-4335-4239-8205-1C81A364BD5A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E43A5-C350-14E4-D786-3BD2B815F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071FD-6B36-9353-7ECB-108350357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9977-0A06-4A2E-B6A6-81D4F10C7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281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396924-D631-EE9E-B38D-66C9A83D1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5084C-6B8F-1EBD-C677-44CAAD78F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B1FF7-C602-D267-D243-B50DE9CBF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9B7B-4335-4239-8205-1C81A364BD5A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3F930-BFCD-1DA7-D838-3F9991DF2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F79A9-8F4D-CFCF-5998-C8F01E925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39977-0A06-4A2E-B6A6-81D4F10C7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057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DA_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2032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10912" y="661111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 and Analytics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03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C1AE71-35AB-9442-14A6-78E0FB060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A9C01-7955-92D3-E44C-E498F4549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FD20A-415E-3493-24CB-E45E4146A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89B7B-4335-4239-8205-1C81A364BD5A}" type="datetimeFigureOut">
              <a:rPr lang="en-GB" smtClean="0"/>
              <a:t>16/08/2026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BC0D8-0AF1-0C40-C664-1C8BE3C9A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E4E3E-DF58-BDA4-B438-D4475C5146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39977-0A06-4A2E-B6A6-81D4F10C7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46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8580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A1F"/>
                </a:solidFill>
              </a:rPr>
              <a:t>Module 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1993392"/>
            <a:ext cx="6309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Big Data Privacy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Security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94944" y="32735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6575"/>
                </a:solidFill>
              </a:rPr>
              <a:t>Protecting data across collection, storage, processing, analysis and reporting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4160520"/>
            <a:ext cx="32918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77824" y="4288536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1F"/>
                </a:solidFill>
              </a:rPr>
              <a:t>Key distinction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7824" y="459943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Privacy is about permissible collection, use and access. Security is about protection against unauthorised access.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4160520"/>
            <a:ext cx="32918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07992" y="4288536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F80ED"/>
                </a:solidFill>
              </a:rPr>
              <a:t>Big data challenge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07992" y="459943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Volume, velocity and variety spread risk across the whole analytics lifecycle.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73568" y="4160520"/>
            <a:ext cx="32918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138160" y="4288536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A3A3"/>
                </a:solidFill>
              </a:rPr>
              <a:t>Assessment focus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38160" y="4599432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Review and submit Assessment 3; ensure insights are communicated responsibly.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029200" y="66111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Big Data and Analytics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745D21D-F8E4-EB9C-A1B5-515216421380}"/>
              </a:ext>
            </a:extLst>
          </p:cNvPr>
          <p:cNvSpPr/>
          <p:nvPr/>
        </p:nvSpPr>
        <p:spPr>
          <a:xfrm>
            <a:off x="6328610" y="2322576"/>
            <a:ext cx="36190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002060"/>
                </a:solidFill>
              </a:rPr>
              <a:t>Lets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wait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for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another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15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mins</a:t>
            </a:r>
            <a:br>
              <a:rPr lang="en-US" altLang="zh-CN" sz="1800" dirty="0">
                <a:solidFill>
                  <a:srgbClr val="002060"/>
                </a:solidFill>
              </a:rPr>
            </a:br>
            <a:r>
              <a:rPr lang="en-US" altLang="zh-CN" sz="1800" dirty="0">
                <a:solidFill>
                  <a:srgbClr val="002060"/>
                </a:solidFill>
              </a:rPr>
              <a:t>To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allow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more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students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join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us</a:t>
            </a:r>
            <a:br>
              <a:rPr lang="en-US" altLang="zh-CN" sz="1800" dirty="0">
                <a:solidFill>
                  <a:srgbClr val="002060"/>
                </a:solidFill>
              </a:rPr>
            </a:br>
            <a:r>
              <a:rPr lang="en-US" altLang="zh-CN" sz="1800" dirty="0">
                <a:solidFill>
                  <a:srgbClr val="002060"/>
                </a:solidFill>
              </a:rPr>
              <a:t>Q&amp;A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session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now!</a:t>
            </a:r>
            <a:endParaRPr lang="en-US" sz="1800" dirty="0">
              <a:solidFill>
                <a:srgbClr val="002060"/>
              </a:solidFill>
            </a:endParaRPr>
          </a:p>
        </p:txBody>
      </p:sp>
      <p:pic>
        <p:nvPicPr>
          <p:cNvPr id="20" name="Picture 19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8102CFC7-9741-4AD4-B6F2-B21FA7490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focus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5"/>
                </a:solidFill>
              </a:rPr>
              <a:t>Big data creates value only when privacy and security are designed into the analytics lifecycle.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E8DE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50392" y="1453896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1F"/>
                </a:solidFill>
              </a:rPr>
              <a:t>1. Privacy vs security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50392" y="1764792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Explain the difference between data privacy, data security and compliance.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32588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E7F0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99432" y="1453896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F80ED"/>
                </a:solidFill>
              </a:rPr>
              <a:t>2. Lifecycle risks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99432" y="1764792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Identify where risk appears across sourcing, ingestion, storage, analysis and reporting.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3880" y="132588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E4F7F7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348472" y="1453896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A3A3"/>
                </a:solidFill>
              </a:rPr>
              <a:t>3. Practical controls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48472" y="1764792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Match security and privacy controls to big data platforms and analytical workflows.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24612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EEE9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50392" y="3374136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7D5DD8"/>
                </a:solidFill>
              </a:rPr>
              <a:t>4. Governance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0392" y="3685032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Use auditing, access control and policy to make data handling accountable.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34840" y="324612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EAF8E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99432" y="3374136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EAD63"/>
                </a:solidFill>
              </a:rPr>
              <a:t>5. Ethical reporting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99432" y="3685032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Communicate findings without exposing personal, sensitive or misleading information.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3880" y="324612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DECE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348472" y="3374136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D84B4B"/>
                </a:solidFill>
              </a:rPr>
              <a:t>6. Subject wrap-up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48472" y="3685032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Connect privacy and security principles back to Assessment 3 submission quality.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Module 12 roadmap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4" name="Picture 23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74D83D33-B25A-86AE-46F1-AFC10508D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 and security are related — but not the same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5"/>
                </a:solidFill>
              </a:rPr>
              <a:t>A secure dataset can still be used in a way that violates privacy expectations.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166360" cy="3703320"/>
          </a:xfrm>
          <a:prstGeom prst="roundRect">
            <a:avLst>
              <a:gd name="adj" fmla="val 2963"/>
            </a:avLst>
          </a:prstGeom>
          <a:solidFill>
            <a:srgbClr val="E7F0FF"/>
          </a:solidFill>
          <a:ln w="12700">
            <a:solidFill>
              <a:srgbClr val="BCD3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355080" y="1325880"/>
            <a:ext cx="5166360" cy="3703320"/>
          </a:xfrm>
          <a:prstGeom prst="roundRect">
            <a:avLst>
              <a:gd name="adj" fmla="val 2963"/>
            </a:avLst>
          </a:prstGeom>
          <a:solidFill>
            <a:srgbClr val="FFE8DE"/>
          </a:solidFill>
          <a:ln w="12700">
            <a:solidFill>
              <a:srgbClr val="FFC8B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005840" y="1627632"/>
            <a:ext cx="512064" cy="51206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05840" y="1834374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64208" y="1728467"/>
            <a:ext cx="2377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234643"/>
            <a:ext cx="4434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protect data from unauthorised access, misuse, alteration or loss.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2788920"/>
            <a:ext cx="443484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and logging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and recovery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response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675120" y="1627632"/>
            <a:ext cx="512064" cy="512064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675120" y="185166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33488" y="1794510"/>
            <a:ext cx="2377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93408" y="2236929"/>
            <a:ext cx="4434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Whether data should be collected, how it may be used, and who may access or share it.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93408" y="2788920"/>
            <a:ext cx="443484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 and purpose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minimisation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Permitted use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Sharing and disclosure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expectations and rights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3291840" y="5303520"/>
            <a:ext cx="5669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56432" y="5431536"/>
            <a:ext cx="534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D84B4B"/>
                </a:solidFill>
              </a:rPr>
              <a:t>Key message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56432" y="5742432"/>
            <a:ext cx="534009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Security supports privacy, but security alone does not guarantee privacy.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Conceptual distinction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1" name="Picture 20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87C82F5E-3ED7-2848-B2D0-1D484607C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big data increases privacy and security risk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5"/>
                </a:solidFill>
              </a:rPr>
              <a:t>The Vs of big data amplify both technical and governance challenges.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115568" cy="1115568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70078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V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278892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FFE8DE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291693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1F"/>
                </a:solidFill>
              </a:rPr>
              <a:t>Volume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227832"/>
            <a:ext cx="1664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More records mean a larger attack surface and greater breach impact.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63240" y="1417320"/>
            <a:ext cx="1115568" cy="111556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063240" y="170078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V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624328" y="278892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E7F0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788920" y="291693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F80ED"/>
                </a:solidFill>
              </a:rPr>
              <a:t>Velocity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788920" y="3227832"/>
            <a:ext cx="1664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Fast-moving streams reduce time for manual review and approval.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03520" y="1417320"/>
            <a:ext cx="1115568" cy="1115568"/>
          </a:xfrm>
          <a:prstGeom prst="ellipse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303520" y="170078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V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864608" y="278892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E4F7F7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200" y="291693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A3A3"/>
                </a:solidFill>
              </a:rPr>
              <a:t>Variety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0" y="3227832"/>
            <a:ext cx="1664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Multiple formats and sources complicate classification and control.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43800" y="1417320"/>
            <a:ext cx="1115568" cy="1115568"/>
          </a:xfrm>
          <a:prstGeom prst="ellipse">
            <a:avLst/>
          </a:prstGeom>
          <a:solidFill>
            <a:srgbClr val="7D5DD8"/>
          </a:solidFill>
          <a:ln w="12700">
            <a:solidFill>
              <a:srgbClr val="7D5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543800" y="170078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V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104888" y="278892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EEE9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269480" y="291693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7D5DD8"/>
                </a:solidFill>
              </a:rPr>
              <a:t>Veracity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69480" y="3227832"/>
            <a:ext cx="1664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Dirty or uncertain data can lead to unfair or inaccurate decisions.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84080" y="1417320"/>
            <a:ext cx="1115568" cy="1115568"/>
          </a:xfrm>
          <a:prstGeom prst="ellipse">
            <a:avLst/>
          </a:prstGeom>
          <a:solidFill>
            <a:srgbClr val="2EAD63"/>
          </a:solidFill>
          <a:ln w="12700">
            <a:solidFill>
              <a:srgbClr val="2EAD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784080" y="170078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V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345168" y="278892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EAF8E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509760" y="291693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EAD63"/>
                </a:solidFill>
              </a:rPr>
              <a:t>Value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509760" y="3227832"/>
            <a:ext cx="16642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High-value data attracts misuse, theft and secondary exploitation.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51560" y="5074920"/>
            <a:ext cx="101498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big data projects, risk is not isolated to one database or one server. It follows data through collection, ingestion, storage, processing, analysis, reporting and sharing.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02920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Big data risk drivers</a:t>
            </a:r>
            <a:endParaRPr lang="en-US" sz="7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3" name="Picture 32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20E12094-EEAE-9815-A4C2-68AD43B80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 and security across the big data lifecycle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5"/>
                </a:solidFill>
              </a:rPr>
              <a:t>Controls should be designed at each stage, not added only at the end.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847088"/>
            <a:ext cx="1481328" cy="987552"/>
          </a:xfrm>
          <a:prstGeom prst="roundRect">
            <a:avLst>
              <a:gd name="adj" fmla="val 7407"/>
            </a:avLst>
          </a:prstGeom>
          <a:solidFill>
            <a:srgbClr val="E7F0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58952" y="195681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Collect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0664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96575"/>
                </a:solidFill>
              </a:rPr>
              <a:t>Consent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596575"/>
                </a:solidFill>
              </a:rPr>
              <a:t>minimisation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2194560" y="233172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560320" y="1847088"/>
            <a:ext cx="1481328" cy="987552"/>
          </a:xfrm>
          <a:prstGeom prst="roundRect">
            <a:avLst>
              <a:gd name="adj" fmla="val 7407"/>
            </a:avLst>
          </a:prstGeom>
          <a:solidFill>
            <a:srgbClr val="FFE8D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633472" y="195681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Ingest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15184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96575"/>
                </a:solidFill>
              </a:rPr>
              <a:t>Secure transfer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596575"/>
                </a:solidFill>
              </a:rPr>
              <a:t>validation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069080" y="233172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434840" y="1847088"/>
            <a:ext cx="1481328" cy="987552"/>
          </a:xfrm>
          <a:prstGeom prst="roundRect">
            <a:avLst>
              <a:gd name="adj" fmla="val 7407"/>
            </a:avLst>
          </a:prstGeom>
          <a:solidFill>
            <a:srgbClr val="E7F0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07992" y="195681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Store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9704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96575"/>
                </a:solidFill>
              </a:rPr>
              <a:t>Encryption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596575"/>
                </a:solidFill>
              </a:rPr>
              <a:t>access control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5943600" y="233172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309360" y="1847088"/>
            <a:ext cx="1481328" cy="987552"/>
          </a:xfrm>
          <a:prstGeom prst="roundRect">
            <a:avLst>
              <a:gd name="adj" fmla="val 7407"/>
            </a:avLst>
          </a:prstGeom>
          <a:solidFill>
            <a:srgbClr val="FFE8D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382512" y="195681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Process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64224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96575"/>
                </a:solidFill>
              </a:rPr>
              <a:t>Logging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596575"/>
                </a:solidFill>
              </a:rPr>
              <a:t>segregation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7818120" y="233172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8183880" y="1847088"/>
            <a:ext cx="1481328" cy="987552"/>
          </a:xfrm>
          <a:prstGeom prst="roundRect">
            <a:avLst>
              <a:gd name="adj" fmla="val 7407"/>
            </a:avLst>
          </a:prstGeom>
          <a:solidFill>
            <a:srgbClr val="E7F0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257032" y="195681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Analyse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38744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96575"/>
                </a:solidFill>
              </a:rPr>
              <a:t>Bias checks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596575"/>
                </a:solidFill>
              </a:rPr>
              <a:t>privacy review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9692640" y="233172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0058400" y="1847088"/>
            <a:ext cx="1481328" cy="987552"/>
          </a:xfrm>
          <a:prstGeom prst="roundRect">
            <a:avLst>
              <a:gd name="adj" fmla="val 7407"/>
            </a:avLst>
          </a:prstGeom>
          <a:solidFill>
            <a:srgbClr val="FFE8D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0131552" y="195681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Report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113264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96575"/>
                </a:solidFill>
              </a:rPr>
              <a:t>Aggregation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596575"/>
                </a:solidFill>
              </a:rPr>
              <a:t>safe sharing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960120" y="3703320"/>
            <a:ext cx="3154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124712" y="383133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1F"/>
                </a:solidFill>
              </a:rPr>
              <a:t>Privacy questions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24712" y="4142232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Should we collect this data? What is the purpose? Who will see it? How long should it be retained?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26280" y="3703320"/>
            <a:ext cx="3154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690872" y="383133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F80ED"/>
                </a:solidFill>
              </a:rPr>
              <a:t>Security questions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690872" y="4142232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Who can access it? Is it encrypted? Are activities logged? How will we detect misuse?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92440" y="3703320"/>
            <a:ext cx="3154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8257032" y="383133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A3A3"/>
                </a:solidFill>
              </a:rPr>
              <a:t>Governance questions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257032" y="4142232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Who is accountable? Is there an audit trail? Are exceptions reviewed and documented?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Lifecycle thinking</a:t>
            </a:r>
            <a:endParaRPr lang="en-US" sz="7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9" name="Picture 38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151E8E4E-A263-8262-65D9-63D9B814C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security by data state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5"/>
                </a:solidFill>
              </a:rPr>
              <a:t>Security controls depend on whether data is stored, moving, or being processed.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246120" cy="3520440"/>
          </a:xfrm>
          <a:prstGeom prst="roundRect">
            <a:avLst>
              <a:gd name="adj" fmla="val 3380"/>
            </a:avLst>
          </a:prstGeom>
          <a:solidFill>
            <a:srgbClr val="E7F0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011680" y="1719072"/>
            <a:ext cx="777240" cy="77724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011680" y="1938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24D"/>
                </a:solidFill>
              </a:rPr>
              <a:t>At rest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69848" y="31821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96575"/>
                </a:solidFill>
              </a:rPr>
              <a:t>Stored in databases, files, backups and data lakes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85876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</a:rPr>
              <a:t>Encryption at rest, access control, backup protection, secure deletion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3246120" cy="3520440"/>
          </a:xfrm>
          <a:prstGeom prst="roundRect">
            <a:avLst>
              <a:gd name="adj" fmla="val 3380"/>
            </a:avLst>
          </a:prstGeom>
          <a:solidFill>
            <a:srgbClr val="FFE8D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852160" y="1719072"/>
            <a:ext cx="777240" cy="7772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52160" y="1938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6974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24D"/>
                </a:solidFill>
              </a:rPr>
              <a:t>In motion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10328" y="31821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96575"/>
                </a:solidFill>
              </a:rPr>
              <a:t>Moving between systems, APIs, pipelines and users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37760" y="385876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</a:rPr>
              <a:t>TLS/HTTPS, secure APIs, authentication, network monitoring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58200" y="1417320"/>
            <a:ext cx="3246120" cy="3520440"/>
          </a:xfrm>
          <a:prstGeom prst="roundRect">
            <a:avLst>
              <a:gd name="adj" fmla="val 3380"/>
            </a:avLst>
          </a:prstGeom>
          <a:solidFill>
            <a:srgbClr val="E4F7F7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9692640" y="1719072"/>
            <a:ext cx="777240" cy="777240"/>
          </a:xfrm>
          <a:prstGeom prst="ellipse">
            <a:avLst/>
          </a:prstGeom>
          <a:solidFill>
            <a:srgbClr val="16A3A3"/>
          </a:solidFill>
          <a:ln w="12700">
            <a:solidFill>
              <a:srgbClr val="16A3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692640" y="1938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0" y="26974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24D"/>
                </a:solidFill>
              </a:rPr>
              <a:t>In use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750808" y="31821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96575"/>
                </a:solidFill>
              </a:rPr>
              <a:t>Loaded into memory, notebooks, dashboards or ML workflows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78240" y="385876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</a:rPr>
              <a:t>Least privilege, secure compute, logging, sandboxing, output controls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Data state controls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4" name="Picture 23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EE77FB2C-EDCC-1FDA-7CB3-A8D73003B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threats in big data environments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5"/>
                </a:solidFill>
              </a:rPr>
              <a:t>Threats are technical, human and organisational.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20116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84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attacker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0" y="1234440"/>
            <a:ext cx="20116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5A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Insider misuse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0" y="1234440"/>
            <a:ext cx="20116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D5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governance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235440" y="1234440"/>
            <a:ext cx="20116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leakage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43000" y="1737360"/>
            <a:ext cx="1005840" cy="914400"/>
          </a:xfrm>
          <a:prstGeom prst="hexagon">
            <a:avLst/>
          </a:prstGeom>
          <a:solidFill>
            <a:srgbClr val="D84B4B"/>
          </a:solidFill>
          <a:ln w="12700">
            <a:solidFill>
              <a:srgbClr val="D84B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225296" y="20482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86200" y="1737360"/>
            <a:ext cx="1005840" cy="914400"/>
          </a:xfrm>
          <a:prstGeom prst="hexagon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968496" y="20482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Misuse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20840" y="1737360"/>
            <a:ext cx="1005840" cy="914400"/>
          </a:xfrm>
          <a:prstGeom prst="hexagon">
            <a:avLst/>
          </a:prstGeom>
          <a:solidFill>
            <a:srgbClr val="7D5DD8"/>
          </a:solidFill>
          <a:ln w="12700">
            <a:solidFill>
              <a:srgbClr val="7D5D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03136" y="20482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464040" y="1737360"/>
            <a:ext cx="1005840" cy="914400"/>
          </a:xfrm>
          <a:prstGeom prst="hexag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546336" y="20482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Leak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292608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800600" y="32186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</a:rPr>
              <a:t>Big data platform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22960" y="4645152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FDECE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87552" y="4773168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D84B4B"/>
                </a:solidFill>
              </a:rPr>
              <a:t>Examples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87552" y="5084064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Credential theft, exposed APIs, unpatched systems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4645152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FFE8DE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39312" y="4773168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1F"/>
                </a:solidFill>
              </a:rPr>
              <a:t>Examples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639312" y="5084064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Excess access, curiosity browsing, unauthorised export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645152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EEE9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291072" y="4773168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7D5DD8"/>
                </a:solidFill>
              </a:rPr>
              <a:t>Examples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91072" y="5084064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No data owner, no retention rules, weak audit trail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778240" y="4645152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E7F0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942832" y="4773168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F80ED"/>
                </a:solidFill>
              </a:rPr>
              <a:t>Examples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942832" y="5084064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Over-detailed reports, public notebooks, unsafe sharing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Threat model</a:t>
            </a:r>
            <a:endParaRPr lang="en-US" sz="7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3" name="Picture 32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A261BCF9-073D-7C19-E5B4-1250B4110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Security, compliance, auditing and protection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5"/>
                </a:solidFill>
              </a:rPr>
              <a:t>A practical big data security program combines preventive, detective and corrective controls.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2057400" cy="749808"/>
          </a:xfrm>
          <a:prstGeom prst="roundRect">
            <a:avLst>
              <a:gd name="adj" fmla="val 12195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60120" y="154533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Prevent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132588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E7F0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429000" y="1585169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Stop incidents before they occur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80760" y="145389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Authentication, least privilege, encryption, secure configuration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2057400" cy="749808"/>
          </a:xfrm>
          <a:prstGeom prst="roundRect">
            <a:avLst>
              <a:gd name="adj" fmla="val 12195"/>
            </a:avLst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60120" y="287121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Detect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0" y="265176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E8D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406140" y="29443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Find misuse or abnormal activity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80760" y="277977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Monitoring, logging, anomaly detection, audit review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2057400" cy="749808"/>
          </a:xfrm>
          <a:prstGeom prst="roundRect">
            <a:avLst>
              <a:gd name="adj" fmla="val 12195"/>
            </a:avLst>
          </a:prstGeom>
          <a:solidFill>
            <a:srgbClr val="2EAD63"/>
          </a:solidFill>
          <a:ln w="12700">
            <a:solidFill>
              <a:srgbClr val="2EAD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60120" y="41970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Respond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397764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EAF8E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51860" y="4254841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Limit damage and recover quickly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80760" y="41056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Incident response, backups, notification workflow, lessons learned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5394960"/>
            <a:ext cx="9966960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170432" y="5522976"/>
            <a:ext cx="9637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D84B4B"/>
                </a:solidFill>
              </a:rPr>
              <a:t>Audit principle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70432" y="5833871"/>
            <a:ext cx="9637776" cy="26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If a sensitive action cannot be traced, it cannot be properly governed.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Pragmatic security controls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4" name="Picture 23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CFFA14B6-1863-9CA2-FB66-E2034D46D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 principles for analytics projects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5"/>
                </a:solidFill>
              </a:rPr>
              <a:t>Privacy management should start before data collection, not after model development.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FE8DE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41832" y="1453896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1F"/>
                </a:solidFill>
              </a:rPr>
              <a:t>Purpose limitation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41832" y="1764792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Collect and use data for a clear, legitimate purpose.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132588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7F0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736592" y="1453896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F80ED"/>
                </a:solidFill>
              </a:rPr>
              <a:t>Data minimisation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36592" y="1764792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Do not collect or retain more data than required.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66760" y="132588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4F7F7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531352" y="1453896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A3A3"/>
                </a:solidFill>
              </a:rPr>
              <a:t>Transparency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31352" y="1764792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Explain what data is collected and how it may be used.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24612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EE9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41832" y="3374136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7D5DD8"/>
                </a:solidFill>
              </a:rPr>
              <a:t>Access limitation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41832" y="3685032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Restrict access to people who need it for their role.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324612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AF8E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736592" y="3374136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EAD63"/>
                </a:solidFill>
              </a:rPr>
              <a:t>Retention control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36592" y="3685032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Delete, archive or anonymise data when no longer needed.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366760" y="324612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DECE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531352" y="3374136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D84B4B"/>
                </a:solidFill>
              </a:rPr>
              <a:t>Safe disclosure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31352" y="3685032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Aggregate or de-identify outputs before sharing.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" y="5440680"/>
            <a:ext cx="1042416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point: privacy is not only a legal issue; it also affects trust, participation, fairness and the legitimacy of analytical findings.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Privacy-by-design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6" name="Picture 2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B3E64633-5DC2-F6C2-C6D0-143A44A4D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De-identification: useful, but not magic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5"/>
                </a:solidFill>
              </a:rPr>
              <a:t>Big data can re-identify people when many weak signals are linked together.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28016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E8DE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33272" y="1408176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1F"/>
                </a:solidFill>
              </a:rPr>
              <a:t>Remove identifiers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33272" y="1719072"/>
            <a:ext cx="2734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Names, student IDs, emails, phone numbers, addresses and exact account numbers.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41648" y="1783080"/>
            <a:ext cx="5760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E7F0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873752" y="1408176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F80ED"/>
                </a:solidFill>
              </a:rPr>
              <a:t>Generalise details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73752" y="1719072"/>
            <a:ext cx="2734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Use age groups, regions, time windows and aggregated categories where possible.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82128" y="1783080"/>
            <a:ext cx="5760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549640" y="128016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E4F7F7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714232" y="14081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A3A3"/>
                </a:solidFill>
              </a:rPr>
              <a:t>Control release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714232" y="1719072"/>
            <a:ext cx="2459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Share only necessary outputs; avoid row-level data where summaries are enough.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Re-identification risk increases when datasets are linked.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43000" y="3767328"/>
            <a:ext cx="475488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 + timestamp + rare behaviour can become identifying.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datasets can be combined with internal records.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groups in visualisations may accidentally reveal individuals.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3246120"/>
            <a:ext cx="4251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812280" y="34930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1F"/>
                </a:solidFill>
              </a:rPr>
              <a:t>Practical rule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39136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24D"/>
                </a:solidFill>
              </a:rPr>
              <a:t>Use the least detailed data that still answers the analytical question.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Anonymisation and risk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2" name="Picture 21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23912036-E553-2C45-1D56-8FD1E9047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Governance: who is responsible for what?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5"/>
                </a:solidFill>
              </a:rPr>
              <a:t>Privacy and security fail when accountability is unclear.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14300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FFE8DE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24128" y="1271016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Data owner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63240" y="1353312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703320" y="1143000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86200" y="1252728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Approves purpose, access and retention rules.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E7F0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24128" y="1956816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Data engineer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63240" y="2039112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703320" y="1828800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886200" y="1938528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Builds secure pipelines and storage controls.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251460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FFE8DE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024128" y="2642616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Data scientist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63240" y="2724912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703320" y="2514600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886200" y="2624328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Uses data responsibly and limits unnecessary exposure.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320040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E7F0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024128" y="3328416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Security team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063240" y="3410712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703320" y="3200400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886200" y="3310128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Monitors, audits and responds to incidents.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" y="388620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FFE8DE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024128" y="4014216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Compliance / legal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063240" y="4096512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703320" y="3886200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886200" y="3995928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Interprets obligations and reviews high-risk uses.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68680" y="4572000"/>
            <a:ext cx="2057400" cy="420624"/>
          </a:xfrm>
          <a:prstGeom prst="roundRect">
            <a:avLst>
              <a:gd name="adj" fmla="val 17391"/>
            </a:avLst>
          </a:prstGeom>
          <a:solidFill>
            <a:srgbClr val="E7F0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024128" y="4700016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Business user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063240" y="4782312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703320" y="4572000"/>
            <a:ext cx="72237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886200" y="4681728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Uses outputs appropriately and avoids unsafe sharing.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3000" y="5486400"/>
            <a:ext cx="98755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governance is visible: documented approvals, clear owners, access reviews, audit logs and retention decisions.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502920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Accountability model</a:t>
            </a:r>
            <a:endParaRPr lang="en-US" sz="7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38" name="Picture 3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596BB238-3899-6DB5-BF48-9CD3362E2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control checklist for big data platforms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5"/>
                </a:solidFill>
              </a:rPr>
              <a:t>Students should be able to match risks to controls in plain language.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983480" cy="1554480"/>
          </a:xfrm>
          <a:prstGeom prst="roundRect">
            <a:avLst>
              <a:gd name="adj" fmla="val 5882"/>
            </a:avLst>
          </a:prstGeom>
          <a:solidFill>
            <a:srgbClr val="E7F0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96112" y="137160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0ED"/>
                </a:solidFill>
              </a:rPr>
              <a:t>Identity &amp; access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737360"/>
            <a:ext cx="448056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Role-based access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Multi-factor authentication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Least privilege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Periodic access review</a:t>
            </a:r>
            <a:endParaRPr lang="en-US" sz="1160" dirty="0"/>
          </a:p>
        </p:txBody>
      </p:sp>
      <p:sp>
        <p:nvSpPr>
          <p:cNvPr id="7" name="Shape 5"/>
          <p:cNvSpPr/>
          <p:nvPr/>
        </p:nvSpPr>
        <p:spPr>
          <a:xfrm>
            <a:off x="6400800" y="1234440"/>
            <a:ext cx="4983480" cy="1554480"/>
          </a:xfrm>
          <a:prstGeom prst="roundRect">
            <a:avLst>
              <a:gd name="adj" fmla="val 5882"/>
            </a:avLst>
          </a:prstGeom>
          <a:solidFill>
            <a:srgbClr val="FFE8DE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565392" y="137160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A1F"/>
                </a:solidFill>
              </a:rPr>
              <a:t>Data protection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1737360"/>
            <a:ext cx="448056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Encryption at rest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Encryption in transit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Backups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Secure deletion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4983480" cy="1554480"/>
          </a:xfrm>
          <a:prstGeom prst="roundRect">
            <a:avLst>
              <a:gd name="adj" fmla="val 5882"/>
            </a:avLst>
          </a:prstGeom>
          <a:solidFill>
            <a:srgbClr val="E4F7F7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96112" y="352044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A3"/>
                </a:solidFill>
              </a:rPr>
              <a:t>Platform security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886200"/>
            <a:ext cx="448056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Patch management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Network segmentation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Secure configuration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Secrets management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6400800" y="3383280"/>
            <a:ext cx="4983480" cy="1554480"/>
          </a:xfrm>
          <a:prstGeom prst="roundRect">
            <a:avLst>
              <a:gd name="adj" fmla="val 5882"/>
            </a:avLst>
          </a:prstGeom>
          <a:solidFill>
            <a:srgbClr val="EEE9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565392" y="352044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5DD8"/>
                </a:solidFill>
              </a:rPr>
              <a:t>Monitoring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3886200"/>
            <a:ext cx="448056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Audit logs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Alerting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Anomaly detection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Incident escalation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502920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Controls in practice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8" name="Picture 1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04566804-04C3-7D78-618B-68CF59EC7B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 analytics and responsible reporting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5"/>
                </a:solidFill>
              </a:rPr>
              <a:t>The final report or dashboard can become a privacy risk if outputs are too detailed.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18872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FDECE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87552" y="1316736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D84B4B"/>
                </a:solidFill>
              </a:rPr>
              <a:t>Risky output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7552" y="1627632"/>
            <a:ext cx="305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Row-level tables, exact locations, rare categories, small groups or unrestricted exports.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700784"/>
            <a:ext cx="7315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394960" y="118872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EAF8E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559552" y="1316736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EAD63"/>
                </a:solidFill>
              </a:rPr>
              <a:t>Safer output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559552" y="1627632"/>
            <a:ext cx="3054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Aggregated views, thresholds for small counts, rounded values and limited downloads.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006840" y="1700784"/>
            <a:ext cx="7315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9829800" y="118872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E8DE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994392" y="13167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1F"/>
                </a:solidFill>
              </a:rPr>
              <a:t>Review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994392" y="1627632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Check before release.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" y="2880360"/>
            <a:ext cx="1014984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23444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sharing analytics outputs, ask: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63040" y="3584448"/>
            <a:ext cx="89611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any person or small group be identified?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level of detail necessary for the decision?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the assumptions and limitations explained?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the visualisation mislead the audience?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allowed to download, copy or redistribute it?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Communication risk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Regulation: know the operating environment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5"/>
                </a:solidFill>
              </a:rPr>
              <a:t>Big data projects can be affected by local, sector-specific and international privacy requirements.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3108960" cy="1261872"/>
          </a:xfrm>
          <a:prstGeom prst="roundRect">
            <a:avLst>
              <a:gd name="adj" fmla="val 5797"/>
            </a:avLst>
          </a:prstGeom>
          <a:solidFill>
            <a:srgbClr val="E7F0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87552" y="136245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F80ED"/>
                </a:solidFill>
              </a:rPr>
              <a:t>GDPR as a reference point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7552" y="1673352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A major privacy regulation often used as a benchmark for consent, lawful basis, transparency, rights and accountability.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1234440"/>
            <a:ext cx="3108960" cy="1261872"/>
          </a:xfrm>
          <a:prstGeom prst="roundRect">
            <a:avLst>
              <a:gd name="adj" fmla="val 5797"/>
            </a:avLst>
          </a:prstGeom>
          <a:solidFill>
            <a:srgbClr val="FFE8DE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690872" y="136245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5A1F"/>
                </a:solidFill>
              </a:rPr>
              <a:t>Cross-border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90872" y="1673352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Data may move across platforms, vendors, clouds and countries, creating extra compliance questions.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234440"/>
            <a:ext cx="3108960" cy="1261872"/>
          </a:xfrm>
          <a:prstGeom prst="roundRect">
            <a:avLst>
              <a:gd name="adj" fmla="val 5797"/>
            </a:avLst>
          </a:prstGeom>
          <a:solidFill>
            <a:srgbClr val="E4F7F7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394192" y="136245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A3A3"/>
                </a:solidFill>
              </a:rPr>
              <a:t>Sector context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94192" y="1673352"/>
            <a:ext cx="2779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Health, education, finance and government data often require stricter controls and documentation.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97280" y="3246120"/>
            <a:ext cx="9966960" cy="862417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417320" y="3419856"/>
            <a:ext cx="283464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5A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teaching frame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3401568"/>
            <a:ext cx="6035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do not need to become lawyers, but they should recognise when a data project requires formal privacy, security, ethics or legal review.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Compliance awareness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18" name="Picture 1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A013A3FC-7551-5DA4-518F-8F70BA3AEF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3: privacy and security lens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6575"/>
                </a:solidFill>
              </a:rPr>
              <a:t>Even when the assessment focuses on analysis, students should report responsibly.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5840" y="1133856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E8DE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43000" y="1271016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Code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71800" y="1362456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11880" y="1133856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822192" y="1261872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Can it run without exposing unnecessary data paths or credentials?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1901952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E7F0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143000" y="2039112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Analysis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71800" y="2130552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611880" y="1901952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822192" y="2029968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Are limitations and assumptions communicated honestly?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2670048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E8DE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143000" y="2807208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Visuals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971800" y="2898648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611880" y="2670048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822192" y="2798064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Are figures readable, meaningful and not misleading?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3438144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E7F0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143000" y="357530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Presentation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971800" y="3666744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611880" y="3438144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822192" y="3566160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Are recommendations supported by evidence?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5840" y="42062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E8DE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143000" y="434340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Submission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971800" y="4434840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611880" y="42062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822192" y="4334256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Are the required source code, video and PDF slides included?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234440" y="5532119"/>
            <a:ext cx="9646920" cy="75895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399032" y="5660136"/>
            <a:ext cx="9317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EAD63"/>
                </a:solidFill>
              </a:rPr>
              <a:t>Final message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399032" y="5971032"/>
            <a:ext cx="9317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Good analytics is not only technically correct; it is secure, privacy-aware, explainable and useful for decision-making.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29107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Assessment wrap-up</a:t>
            </a:r>
            <a:endParaRPr lang="en-US" sz="7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35" name="Picture 34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D4AAC3B8-6A44-3D2D-B4E0-C80C516BBD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A1057F29386142A5B9755C5531A820" ma:contentTypeVersion="7" ma:contentTypeDescription="Create a new document." ma:contentTypeScope="" ma:versionID="4fba0a4a6bc0f311a775a35ccccf5e6d">
  <xsd:schema xmlns:xsd="http://www.w3.org/2001/XMLSchema" xmlns:xs="http://www.w3.org/2001/XMLSchema" xmlns:p="http://schemas.microsoft.com/office/2006/metadata/properties" xmlns:ns2="cc5d4512-e7db-40f5-9b40-1e14bbbc82d5" targetNamespace="http://schemas.microsoft.com/office/2006/metadata/properties" ma:root="true" ma:fieldsID="b67d525fc411f0dd1bf3f93df30eccba" ns2:_="">
    <xsd:import namespace="cc5d4512-e7db-40f5-9b40-1e14bbbc8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5d4512-e7db-40f5-9b40-1e14bbbc82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BEC4C7-4566-424E-AA7F-1ED2A87A63AF}"/>
</file>

<file path=customXml/itemProps2.xml><?xml version="1.0" encoding="utf-8"?>
<ds:datastoreItem xmlns:ds="http://schemas.openxmlformats.org/officeDocument/2006/customXml" ds:itemID="{83D263C1-B8F8-4445-A3A3-1F2CC3FECE0E}"/>
</file>

<file path=customXml/itemProps3.xml><?xml version="1.0" encoding="utf-8"?>
<ds:datastoreItem xmlns:ds="http://schemas.openxmlformats.org/officeDocument/2006/customXml" ds:itemID="{8263737D-34D2-4446-9330-F1823516E763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1556</Words>
  <Application>Microsoft Office PowerPoint</Application>
  <PresentationFormat>Widescreen</PresentationFormat>
  <Paragraphs>284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Zhan</dc:creator>
  <cp:lastModifiedBy>Chen Zhan</cp:lastModifiedBy>
  <cp:revision>1</cp:revision>
  <dcterms:created xsi:type="dcterms:W3CDTF">2026-08-16T14:33:31Z</dcterms:created>
  <dcterms:modified xsi:type="dcterms:W3CDTF">2026-08-16T14:35:04Z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0x01010086A1057F29386142A5B9755C5531A820</vt:lpwstr>
  </property>
</Properties>
</file>