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4" r:id="rId12"/>
    <p:sldId id="275" r:id="rId13"/>
    <p:sldId id="276" r:id="rId14"/>
    <p:sldId id="277" r:id="rId15"/>
    <p:sldId id="267" r:id="rId16"/>
    <p:sldId id="268" r:id="rId17"/>
    <p:sldId id="269" r:id="rId18"/>
    <p:sldId id="270" r:id="rId19"/>
    <p:sldId id="271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4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Zhan" userId="9bf1158d-5ec6-44ed-8784-22fed4df2891" providerId="ADAL" clId="{84F5DB30-E39F-4316-A67F-0ADB068F30C4}"/>
    <pc:docChg chg="modSld">
      <pc:chgData name="Chen Zhan" userId="9bf1158d-5ec6-44ed-8784-22fed4df2891" providerId="ADAL" clId="{84F5DB30-E39F-4316-A67F-0ADB068F30C4}" dt="2026-08-03T22:23:34.525" v="1" actId="1076"/>
      <pc:docMkLst>
        <pc:docMk/>
      </pc:docMkLst>
      <pc:sldChg chg="addSp modSp mod">
        <pc:chgData name="Chen Zhan" userId="9bf1158d-5ec6-44ed-8784-22fed4df2891" providerId="ADAL" clId="{84F5DB30-E39F-4316-A67F-0ADB068F30C4}" dt="2026-08-03T22:23:34.525" v="1" actId="1076"/>
        <pc:sldMkLst>
          <pc:docMk/>
          <pc:sldMk cId="0" sldId="257"/>
        </pc:sldMkLst>
        <pc:spChg chg="add mod">
          <ac:chgData name="Chen Zhan" userId="9bf1158d-5ec6-44ed-8784-22fed4df2891" providerId="ADAL" clId="{84F5DB30-E39F-4316-A67F-0ADB068F30C4}" dt="2026-08-03T22:23:34.525" v="1" actId="1076"/>
          <ac:spMkLst>
            <pc:docMk/>
            <pc:sldMk cId="0" sldId="257"/>
            <ac:spMk id="15" creationId="{4D10BD1A-6C68-0736-E1FA-7932C17600C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AD0D26-C7A1-4789-A08B-6479E578FC5D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2FC5D-7F8D-4460-BDE5-E0A595C0AE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494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3619-BEAA-F5BA-80BC-921ED9C13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A87B4-8C62-91D1-C870-02A832C5A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0B365-8178-D3FE-D989-5C26BA66D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3653C-75FB-4158-B253-271CF1CC54EE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1721F-105C-A8F3-12C3-1F26F427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0E8B1-5B9E-F187-BFB7-DB213398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273CE-30EE-4C26-9366-40C786C31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617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76CDB-0883-A0B1-374D-7E87A70D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D2A19-06AA-31AC-DB59-2619E0F42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A29B9-97C0-8EE6-40C9-9EC5DB1B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3653C-75FB-4158-B253-271CF1CC54EE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85B71-5C50-E0FA-DE90-397EE5ED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1A342-FC5D-4F2E-4EDC-7649B388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273CE-30EE-4C26-9366-40C786C31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760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DE857-0CE3-862F-2AB7-E04698FF9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31D13-FF39-C539-95FE-FA7D5A30E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DB1D-7F03-E1CE-03DF-8310E4545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3653C-75FB-4158-B253-271CF1CC54EE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E823F-C2DE-DE15-120F-AA9372392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7B3EA-9C32-F94C-D53A-BCF956621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273CE-30EE-4C26-9366-40C786C31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1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14F35-5F7B-79A9-4D0C-C9D81A33D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D5AF9-6A9F-1A29-7268-3841842C0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FA623-1AFA-8B07-73D9-02FD29AB6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A2EA6-6D0F-FEA4-0D0E-8EDF6801C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3653C-75FB-4158-B253-271CF1CC54EE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237F7-8903-E268-A76A-F37477A4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A409A-826D-86A6-AE84-55DB2C5C6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273CE-30EE-4C26-9366-40C786C31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626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FFB4-11BA-9E80-D004-89538D1C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25870-29C5-C860-7711-5069AC1FB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A5F44-A25D-912F-7F19-0045ABF15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361DC6-BD06-9256-736A-DE9C09C94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0AB6E-5F8F-7317-D6C3-C676593459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8377EE-9B24-E274-F185-B4F9E74DE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3653C-75FB-4158-B253-271CF1CC54EE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CC7E4-A2CF-489F-CC96-DF6A8989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59C37F-4230-F502-7A8E-43294BDB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273CE-30EE-4C26-9366-40C786C31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133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C9B9-2A06-C3FD-53A6-E9BD6D6F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5309C-E5B9-E965-607D-527C9417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3653C-75FB-4158-B253-271CF1CC54EE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7A41F-435A-51B6-644B-D233049E3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5957CD-3006-5238-6BE8-F0C7466DB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273CE-30EE-4C26-9366-40C786C31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7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784345-52C9-9CC1-5049-7565B435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3653C-75FB-4158-B253-271CF1CC54EE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5E31AE-F32C-C308-FE4B-18E32AF64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5F5EB-0265-68B5-5DC9-69DD27BD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273CE-30EE-4C26-9366-40C786C31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795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01ED3-152C-02B6-4D23-399E73D88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CE71E-5DF5-957C-D60B-5517F04DB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7E8D7-C862-B9A3-4A6D-C4B3529B9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D6DDA-247F-27BA-8F30-75E48CD87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3653C-75FB-4158-B253-271CF1CC54EE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CF0B7-4091-60BC-4E06-C5D7960F1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8CD3C-8032-69BE-803A-FE983F2F3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273CE-30EE-4C26-9366-40C786C31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166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2DFCA-164C-81F5-3398-34879B56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2BF0AB-0705-E229-11BC-6F67EBFDE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FF4A9-B15C-5FB7-7BC0-896AA5BD2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7DC8D-0912-1151-5F7D-2DBD63CFB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3653C-75FB-4158-B253-271CF1CC54EE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A24A7-466D-C4F5-3ECC-4F4D001A1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070D0-C54C-7E91-67FB-FD0E8D90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273CE-30EE-4C26-9366-40C786C31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389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8C14-654A-AD01-BD6F-A9ADB3623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1CE31-4069-C312-D307-E5164C658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CC037-40CA-E90B-9A84-BF3A841F7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3653C-75FB-4158-B253-271CF1CC54EE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A454D-1532-7421-78E0-4DF17CEA0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377E9-BDC2-253C-DA7F-1B0BA1D10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273CE-30EE-4C26-9366-40C786C31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14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1D9BE-B9B9-99EE-113C-D1B7B21F5A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75D387-27C1-689A-BB6D-23745B835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EED88-C30B-C780-7C45-880201F63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3653C-75FB-4158-B253-271CF1CC54EE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47363-5C80-51EA-B464-CF76F2DF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56868-AE7B-9457-DCE1-DEB91550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273CE-30EE-4C26-9366-40C786C31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815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991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EF9818-F436-B040-6931-0639D9728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F5E19-0C25-0464-64F2-EB4F14700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88FF3-27FA-CC7E-3FA7-A36694577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3653C-75FB-4158-B253-271CF1CC54EE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7D83E-9889-F357-B0F0-457C3070D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D869C-9075-A1BC-71BF-D10C590D1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3273CE-30EE-4C26-9366-40C786C31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95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589520" y="548640"/>
            <a:ext cx="3657600" cy="1005840"/>
          </a:xfrm>
          <a:prstGeom prst="round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03920" y="1828800"/>
            <a:ext cx="3017520" cy="731520"/>
          </a:xfrm>
          <a:prstGeom prst="round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55279" y="2926080"/>
            <a:ext cx="3566160" cy="1188720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52560" y="4572000"/>
            <a:ext cx="2286000" cy="685800"/>
          </a:xfrm>
          <a:prstGeom prst="roundRect">
            <a:avLst/>
          </a:prstGeom>
          <a:solidFill>
            <a:srgbClr val="705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23760" y="1005840"/>
            <a:ext cx="256032" cy="256032"/>
          </a:xfrm>
          <a:prstGeom prst="ellipse">
            <a:avLst/>
          </a:prstGeom>
          <a:solidFill>
            <a:srgbClr val="2196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0" y="4206240"/>
            <a:ext cx="256032" cy="256032"/>
          </a:xfrm>
          <a:prstGeom prst="ellipse">
            <a:avLst/>
          </a:prstGeom>
          <a:solidFill>
            <a:srgbClr val="E891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64240" y="1691640"/>
            <a:ext cx="256032" cy="256032"/>
          </a:xfrm>
          <a:prstGeom prst="ellipse">
            <a:avLst/>
          </a:prstGeom>
          <a:solidFill>
            <a:srgbClr val="705D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98480" y="5212080"/>
            <a:ext cx="256032" cy="256032"/>
          </a:xfrm>
          <a:prstGeom prst="ellipse">
            <a:avLst/>
          </a:prstGeom>
          <a:solidFill>
            <a:srgbClr val="2A67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6949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Association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6E2F2"/>
                </a:solidFill>
                <a:latin typeface="Arial"/>
              </a:defRPr>
            </a:pPr>
            <a:r>
              <a:t>Finding if–then patterns in large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8076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CDE1"/>
                </a:solidFill>
                <a:latin typeface="Arial"/>
              </a:defRPr>
            </a:pPr>
            <a:r>
              <a:t>Big Data and Analytics • Module 10</a:t>
            </a:r>
          </a:p>
        </p:txBody>
      </p:sp>
      <p:pic>
        <p:nvPicPr>
          <p:cNvPr id="14" name="Picture 13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688A8626-7220-76BF-A581-4A824B3A7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4D10BD1A-6C68-0736-E1FA-7932C17600C4}"/>
              </a:ext>
            </a:extLst>
          </p:cNvPr>
          <p:cNvSpPr/>
          <p:nvPr/>
        </p:nvSpPr>
        <p:spPr>
          <a:xfrm>
            <a:off x="853440" y="4754880"/>
            <a:ext cx="36190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002060"/>
                </a:solidFill>
              </a:rPr>
              <a:t>Lets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wait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for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another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15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mins</a:t>
            </a:r>
            <a:br>
              <a:rPr lang="en-US" altLang="zh-CN" sz="1800" dirty="0">
                <a:solidFill>
                  <a:srgbClr val="002060"/>
                </a:solidFill>
              </a:rPr>
            </a:br>
            <a:r>
              <a:rPr lang="en-US" altLang="zh-CN" sz="1800" dirty="0">
                <a:solidFill>
                  <a:srgbClr val="002060"/>
                </a:solidFill>
              </a:rPr>
              <a:t>To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allow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more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students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join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us</a:t>
            </a:r>
            <a:br>
              <a:rPr lang="en-US" altLang="zh-CN" sz="1800" dirty="0">
                <a:solidFill>
                  <a:srgbClr val="002060"/>
                </a:solidFill>
              </a:rPr>
            </a:br>
            <a:r>
              <a:rPr lang="en-US" altLang="zh-CN" sz="1800" dirty="0">
                <a:solidFill>
                  <a:srgbClr val="002060"/>
                </a:solidFill>
              </a:rPr>
              <a:t>Q&amp;A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session</a:t>
            </a:r>
            <a:r>
              <a:rPr lang="zh-CN" altLang="en-US" sz="1800" dirty="0">
                <a:solidFill>
                  <a:srgbClr val="002060"/>
                </a:solidFill>
              </a:rPr>
              <a:t> </a:t>
            </a:r>
            <a:r>
              <a:rPr lang="en-US" altLang="zh-CN" sz="1800" dirty="0">
                <a:solidFill>
                  <a:srgbClr val="002060"/>
                </a:solidFill>
              </a:rPr>
              <a:t>now!</a:t>
            </a:r>
            <a:endParaRPr lang="en-US" sz="1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What are association rules?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0749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3891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1">
                <a:solidFill>
                  <a:srgbClr val="14223D"/>
                </a:solidFill>
                <a:latin typeface="Arial"/>
              </a:rP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38912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800">
                <a:solidFill>
                  <a:srgbClr val="2C323A"/>
                </a:solidFill>
                <a:latin typeface="Arial"/>
              </a:defRPr>
            </a:pPr>
            <a:r>
              <a:t>Association rules identify items or events that tend to occur together.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800">
                <a:solidFill>
                  <a:srgbClr val="2C323A"/>
                </a:solidFill>
                <a:latin typeface="Arial"/>
              </a:defRPr>
            </a:pPr>
            <a:r>
              <a:t>They are usually expressed as if–then statements.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800">
                <a:solidFill>
                  <a:srgbClr val="2C323A"/>
                </a:solidFill>
                <a:latin typeface="Arial"/>
              </a:defRPr>
            </a:pPr>
            <a:r>
              <a:t>The goal is not only prediction, but pattern discovery and decision support.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480560"/>
            <a:ext cx="443484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800" b="1">
                <a:solidFill>
                  <a:srgbClr val="219691"/>
                </a:solidFill>
                <a:latin typeface="Arial"/>
              </a:rPr>
              <a:t>Example: if a customer buys bread, they may also buy butter.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234440"/>
            <a:ext cx="51206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8712" y="1339596"/>
            <a:ext cx="43891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1">
                <a:solidFill>
                  <a:srgbClr val="14223D"/>
                </a:solidFill>
                <a:latin typeface="Arial"/>
              </a:rPr>
              <a:t>Pattern format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6144" y="1979676"/>
            <a:ext cx="43891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50736" y="2162556"/>
            <a:ext cx="1325880" cy="384048"/>
          </a:xfrm>
          <a:prstGeom prst="round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6456" y="2189988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2064" y="2116836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14223D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2144" y="2162556"/>
            <a:ext cx="1325880" cy="384048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17864" y="2189988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Butter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6144" y="2985516"/>
            <a:ext cx="43891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50736" y="3168396"/>
            <a:ext cx="1325880" cy="384048"/>
          </a:xfrm>
          <a:prstGeom prst="round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96456" y="3195828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Laptop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2064" y="3122676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14223D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2144" y="3168396"/>
            <a:ext cx="1325880" cy="384048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17864" y="3195828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Laptop bag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86144" y="3991356"/>
            <a:ext cx="43891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650736" y="4174236"/>
            <a:ext cx="1325880" cy="384048"/>
          </a:xfrm>
          <a:prstGeom prst="roundRect">
            <a:avLst/>
          </a:prstGeom>
          <a:solidFill>
            <a:srgbClr val="705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96456" y="4201668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Printer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2064" y="4128516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14223D"/>
                </a:solidFill>
                <a:latin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2144" y="4174236"/>
            <a:ext cx="1325880" cy="384048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17864" y="4201668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4412" y="4805172"/>
            <a:ext cx="470916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00" b="0" dirty="0">
                <a:solidFill>
                  <a:srgbClr val="697380"/>
                </a:solidFill>
                <a:latin typeface="Arial"/>
              </a:rPr>
              <a:t>Rules help businesses recommend products, design bundles, plan promotions, and understand </a:t>
            </a:r>
            <a:r>
              <a:rPr sz="1500" b="0" dirty="0" err="1">
                <a:solidFill>
                  <a:srgbClr val="697380"/>
                </a:solidFill>
                <a:latin typeface="Arial"/>
              </a:rPr>
              <a:t>behaviour</a:t>
            </a:r>
            <a:r>
              <a:rPr sz="1500" b="0" dirty="0">
                <a:solidFill>
                  <a:srgbClr val="697380"/>
                </a:solidFill>
                <a:latin typeface="Arial"/>
              </a:rPr>
              <a:t>.</a:t>
            </a:r>
          </a:p>
        </p:txBody>
      </p:sp>
      <p:pic>
        <p:nvPicPr>
          <p:cNvPr id="32" name="Picture 31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EB60496E-D0F1-AD3A-63FE-04ADEC3E7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Market basket analysis: from transactions to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02920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448056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14223D"/>
                </a:solidFill>
                <a:latin typeface="Arial"/>
              </a:rPr>
              <a:t>Small transaction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874519"/>
            <a:ext cx="1005840" cy="438912"/>
          </a:xfrm>
          <a:prstGeom prst="rect">
            <a:avLst/>
          </a:prstGeom>
          <a:solidFill>
            <a:srgbClr val="1422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947672"/>
            <a:ext cx="950976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Basket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874519"/>
            <a:ext cx="3474720" cy="438912"/>
          </a:xfrm>
          <a:prstGeom prst="rect">
            <a:avLst/>
          </a:prstGeom>
          <a:solidFill>
            <a:srgbClr val="1422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93392" y="1947672"/>
            <a:ext cx="3419856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Items purchased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10058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395727"/>
            <a:ext cx="9144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0">
                <a:solidFill>
                  <a:srgbClr val="2C323A"/>
                </a:solidFill>
                <a:latin typeface="Arial"/>
              </a:rPr>
              <a:t>T1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2313432"/>
            <a:ext cx="3474720" cy="438912"/>
          </a:xfrm>
          <a:prstGeom prst="rect">
            <a:avLst/>
          </a:prstGeom>
          <a:solidFill>
            <a:srgbClr val="F8FAFC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0" y="2395727"/>
            <a:ext cx="3383279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2C323A"/>
                </a:solidFill>
                <a:latin typeface="Arial"/>
              </a:rPr>
              <a:t>Bread, Butter, Milk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752344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834639"/>
            <a:ext cx="9144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0">
                <a:solidFill>
                  <a:srgbClr val="2C323A"/>
                </a:solidFill>
                <a:latin typeface="Arial"/>
              </a:rPr>
              <a:t>T2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2752344"/>
            <a:ext cx="3474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1680" y="2834639"/>
            <a:ext cx="3383279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2C323A"/>
                </a:solidFill>
                <a:latin typeface="Arial"/>
              </a:rPr>
              <a:t>Bread, Butter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191256"/>
            <a:ext cx="10058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273551"/>
            <a:ext cx="9144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0">
                <a:solidFill>
                  <a:srgbClr val="2C323A"/>
                </a:solidFill>
                <a:latin typeface="Arial"/>
              </a:rPr>
              <a:t>T3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3191256"/>
            <a:ext cx="3474720" cy="438912"/>
          </a:xfrm>
          <a:prstGeom prst="rect">
            <a:avLst/>
          </a:prstGeom>
          <a:solidFill>
            <a:srgbClr val="F8FAFC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11680" y="3273551"/>
            <a:ext cx="3383279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2C323A"/>
                </a:solidFill>
                <a:latin typeface="Arial"/>
              </a:rPr>
              <a:t>Bread, Eggs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3630168"/>
            <a:ext cx="1005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712463"/>
            <a:ext cx="9144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0">
                <a:solidFill>
                  <a:srgbClr val="2C323A"/>
                </a:solidFill>
                <a:latin typeface="Arial"/>
              </a:rPr>
              <a:t>T4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3630168"/>
            <a:ext cx="34747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11680" y="3712463"/>
            <a:ext cx="3383279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2C323A"/>
                </a:solidFill>
                <a:latin typeface="Arial"/>
              </a:rPr>
              <a:t>Milk, Butter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4069079"/>
            <a:ext cx="1005840" cy="438912"/>
          </a:xfrm>
          <a:prstGeom prst="rect">
            <a:avLst/>
          </a:prstGeom>
          <a:solidFill>
            <a:srgbClr val="F8FAFC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151375"/>
            <a:ext cx="914400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0">
                <a:solidFill>
                  <a:srgbClr val="2C323A"/>
                </a:solidFill>
                <a:latin typeface="Arial"/>
              </a:rPr>
              <a:t>T5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65960" y="4069079"/>
            <a:ext cx="3474720" cy="438912"/>
          </a:xfrm>
          <a:prstGeom prst="rect">
            <a:avLst/>
          </a:prstGeom>
          <a:solidFill>
            <a:srgbClr val="F8FAFC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11680" y="4151375"/>
            <a:ext cx="3383279" cy="3474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0">
                <a:solidFill>
                  <a:srgbClr val="2C323A"/>
                </a:solidFill>
                <a:latin typeface="Arial"/>
              </a:rPr>
              <a:t>Bread, Butter, Eggs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325880"/>
            <a:ext cx="43891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46520" y="1453895"/>
            <a:ext cx="384048" cy="384048"/>
          </a:xfrm>
          <a:prstGeom prst="round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1481328"/>
            <a:ext cx="292607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1490472"/>
            <a:ext cx="3383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14223D"/>
                </a:solidFill>
                <a:latin typeface="Arial"/>
              </a:rPr>
              <a:t>1. Find frequent itemsets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458200" y="1984248"/>
            <a:ext cx="0" cy="301752"/>
          </a:xfrm>
          <a:prstGeom prst="line">
            <a:avLst/>
          </a:prstGeom>
          <a:ln w="2032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263640" y="2350008"/>
            <a:ext cx="43891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46520" y="2478024"/>
            <a:ext cx="384048" cy="384048"/>
          </a:xfrm>
          <a:prstGeom prst="round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505456"/>
            <a:ext cx="292607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2514600"/>
            <a:ext cx="3383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14223D"/>
                </a:solidFill>
                <a:latin typeface="Arial"/>
              </a:rPr>
              <a:t>2. Generate candidate rules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458200" y="3008376"/>
            <a:ext cx="0" cy="301752"/>
          </a:xfrm>
          <a:prstGeom prst="line">
            <a:avLst/>
          </a:prstGeom>
          <a:ln w="2032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263640" y="3374136"/>
            <a:ext cx="43891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446520" y="3502152"/>
            <a:ext cx="384048" cy="384048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3529584"/>
            <a:ext cx="292607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538728"/>
            <a:ext cx="3383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14223D"/>
                </a:solidFill>
                <a:latin typeface="Arial"/>
              </a:rPr>
              <a:t>3. Evaluate rule quality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58200" y="4032504"/>
            <a:ext cx="0" cy="301752"/>
          </a:xfrm>
          <a:prstGeom prst="line">
            <a:avLst/>
          </a:prstGeom>
          <a:ln w="2032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263640" y="4398264"/>
            <a:ext cx="43891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446520" y="4526280"/>
            <a:ext cx="384048" cy="384048"/>
          </a:xfrm>
          <a:prstGeom prst="roundRect">
            <a:avLst/>
          </a:prstGeom>
          <a:solidFill>
            <a:srgbClr val="705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4553712"/>
            <a:ext cx="292607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4562856"/>
            <a:ext cx="3383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800" b="1">
                <a:solidFill>
                  <a:srgbClr val="14223D"/>
                </a:solidFill>
                <a:latin typeface="Arial"/>
              </a:rPr>
              <a:t>4. Apply useful rules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1" y="5486399"/>
            <a:ext cx="11430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697380"/>
                </a:solidFill>
                <a:latin typeface="Arial"/>
              </a:rPr>
              <a:t>Output rule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40880" y="5221223"/>
            <a:ext cx="36118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205472" y="5404103"/>
            <a:ext cx="1325880" cy="384048"/>
          </a:xfrm>
          <a:prstGeom prst="round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51193" y="5431535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Bread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1" y="5358383"/>
            <a:ext cx="502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400" b="1">
                <a:solidFill>
                  <a:srgbClr val="14223D"/>
                </a:solidFill>
                <a:latin typeface="Arial"/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6881" y="5404103"/>
            <a:ext cx="1325880" cy="384048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372601" y="5431535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Butter</a:t>
            </a:r>
          </a:p>
        </p:txBody>
      </p:sp>
      <p:pic>
        <p:nvPicPr>
          <p:cNvPr id="59" name="Picture 58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53C02010-2BA8-3293-60CE-D72B8311C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The language of association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972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21031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300" b="1">
                <a:solidFill>
                  <a:srgbClr val="219691"/>
                </a:solidFill>
                <a:latin typeface="Arial"/>
              </a:rPr>
              <a:t>Antecedent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7364" y="1821022"/>
            <a:ext cx="21031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300" b="1" dirty="0">
                <a:solidFill>
                  <a:srgbClr val="E89134"/>
                </a:solidFill>
                <a:latin typeface="Arial"/>
              </a:rPr>
              <a:t>Consequent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514600"/>
            <a:ext cx="2331720" cy="685800"/>
          </a:xfrm>
          <a:prstGeom prst="round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542032"/>
            <a:ext cx="2240279" cy="6309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{Bread, Milk}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423160"/>
            <a:ext cx="1280160" cy="7772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4400" b="1">
                <a:solidFill>
                  <a:srgbClr val="14223D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514600"/>
            <a:ext cx="1874519" cy="685800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2542032"/>
            <a:ext cx="1783079" cy="6309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{Butter}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752" y="3520440"/>
            <a:ext cx="3041063" cy="56015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dirty="0">
                <a:solidFill>
                  <a:srgbClr val="697380"/>
                </a:solidFill>
                <a:latin typeface="Arial"/>
              </a:rPr>
              <a:t>The condition side of the rule.</a:t>
            </a:r>
            <a:br>
              <a:rPr dirty="0"/>
            </a:br>
            <a:r>
              <a:rPr sz="1700" b="0" dirty="0">
                <a:solidFill>
                  <a:srgbClr val="697380"/>
                </a:solidFill>
                <a:latin typeface="Arial"/>
              </a:rPr>
              <a:t>What has already occurred?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566160"/>
            <a:ext cx="2898648" cy="56015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 dirty="0">
                <a:solidFill>
                  <a:srgbClr val="697380"/>
                </a:solidFill>
                <a:latin typeface="Arial"/>
              </a:rPr>
              <a:t>The outcome side of the rule.</a:t>
            </a:r>
            <a:br>
              <a:rPr dirty="0"/>
            </a:br>
            <a:r>
              <a:rPr sz="1700" b="0" dirty="0">
                <a:solidFill>
                  <a:srgbClr val="697380"/>
                </a:solidFill>
                <a:latin typeface="Arial"/>
              </a:rPr>
              <a:t>What is likely to occur next?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846320"/>
            <a:ext cx="84124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900" b="1">
                <a:solidFill>
                  <a:srgbClr val="14223D"/>
                </a:solidFill>
                <a:latin typeface="Arial"/>
              </a:rPr>
              <a:t>A rule is useful only if it is frequent enough, reliable enough, and more informative than random co-occurrence.</a:t>
            </a:r>
          </a:p>
        </p:txBody>
      </p:sp>
      <p:pic>
        <p:nvPicPr>
          <p:cNvPr id="18" name="Picture 17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67946982-2AF6-0F51-66C1-444A69E0C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Three key measures: support, confidence,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2104" y="1472184"/>
            <a:ext cx="3182112" cy="347472"/>
          </a:xfrm>
          <a:prstGeom prst="round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499616"/>
            <a:ext cx="3090672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3072384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800" b="1">
                <a:solidFill>
                  <a:srgbClr val="14223D"/>
                </a:solidFill>
                <a:latin typeface="Arial"/>
              </a:rPr>
              <a:t>support(A→B) = P(A ∩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24328"/>
            <a:ext cx="3072384" cy="2715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0">
                <a:solidFill>
                  <a:srgbClr val="697380"/>
                </a:solidFill>
                <a:latin typeface="Arial"/>
              </a:rPr>
              <a:t>How common is the full pattern in all transactions?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2588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17136" y="1472184"/>
            <a:ext cx="3182112" cy="347472"/>
          </a:xfrm>
          <a:prstGeom prst="round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6" y="1499616"/>
            <a:ext cx="3090672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39112"/>
            <a:ext cx="3072384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800" b="1">
                <a:solidFill>
                  <a:srgbClr val="14223D"/>
                </a:solidFill>
                <a:latin typeface="Arial"/>
              </a:rPr>
              <a:t>confidence(A→B) = P(B | 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24328"/>
            <a:ext cx="3072384" cy="2715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0">
                <a:solidFill>
                  <a:srgbClr val="697380"/>
                </a:solidFill>
                <a:latin typeface="Arial"/>
              </a:rPr>
              <a:t>When A occurs, how often does B also occur?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32588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11312" y="1472184"/>
            <a:ext cx="3182112" cy="347472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2" y="1499616"/>
            <a:ext cx="3090672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039112"/>
            <a:ext cx="3072384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800" b="1">
                <a:solidFill>
                  <a:srgbClr val="14223D"/>
                </a:solidFill>
                <a:latin typeface="Arial"/>
              </a:rPr>
              <a:t>lift(A→B) = confidence / P(B)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624328"/>
            <a:ext cx="3072384" cy="2715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0">
                <a:solidFill>
                  <a:srgbClr val="697380"/>
                </a:solidFill>
                <a:latin typeface="Arial"/>
              </a:rPr>
              <a:t>Is the rule stronger than normal background frequency?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715000"/>
            <a:ext cx="103327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>
                <a:solidFill>
                  <a:srgbClr val="697380"/>
                </a:solidFill>
                <a:latin typeface="Arial"/>
              </a:rPr>
              <a:t>Rule of thumb: support checks scale; confidence checks reliability; lift checks whether the relationship is genuinely interesting.</a:t>
            </a:r>
          </a:p>
        </p:txBody>
      </p:sp>
      <p:pic>
        <p:nvPicPr>
          <p:cNvPr id="23" name="Picture 22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A4D8A49A-A94C-3BFC-9FE3-6CD7FC7FD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Worked example: Bread → Butter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749039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3108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>
                <a:solidFill>
                  <a:srgbClr val="14223D"/>
                </a:solidFill>
                <a:latin typeface="Arial"/>
              </a:rPr>
              <a:t>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3017520" cy="2560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2C323A"/>
                </a:solidFill>
                <a:latin typeface="Arial"/>
              </a:defRPr>
            </a:pPr>
            <a:r>
              <a:t>T1: Bread, Butter, Milk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2C323A"/>
                </a:solidFill>
                <a:latin typeface="Arial"/>
              </a:defRPr>
            </a:pPr>
            <a:r>
              <a:t>T2: Bread, Butter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2C323A"/>
                </a:solidFill>
                <a:latin typeface="Arial"/>
              </a:defRPr>
            </a:pPr>
            <a:r>
              <a:t>T3: Bread, Eggs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2C323A"/>
                </a:solidFill>
                <a:latin typeface="Arial"/>
              </a:defRPr>
            </a:pPr>
            <a:r>
              <a:t>T4: Milk, Butter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2C323A"/>
                </a:solidFill>
                <a:latin typeface="Arial"/>
              </a:defRPr>
            </a:pPr>
            <a:r>
              <a:t>T5: Bread, Butter, Eggs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074920"/>
            <a:ext cx="30175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697380"/>
                </a:solidFill>
                <a:latin typeface="Arial"/>
              </a:rPr>
              <a:t>Total transactions =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32588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1481328"/>
            <a:ext cx="18288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697380"/>
                </a:solidFill>
                <a:latin typeface="Arial"/>
              </a:rPr>
              <a:t>Bread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200" b="1">
                <a:solidFill>
                  <a:srgbClr val="219691"/>
                </a:solidFill>
                <a:latin typeface="Arial"/>
              </a:rPr>
              <a:t>4/5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148840"/>
            <a:ext cx="17373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000" b="0">
                <a:solidFill>
                  <a:srgbClr val="697380"/>
                </a:solidFill>
                <a:latin typeface="Arial"/>
              </a:rPr>
              <a:t>Bread appears in 4 baskets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32588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1481328"/>
            <a:ext cx="18288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697380"/>
                </a:solidFill>
                <a:latin typeface="Arial"/>
              </a:rPr>
              <a:t>Butter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8308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200" b="1">
                <a:solidFill>
                  <a:srgbClr val="2A67B4"/>
                </a:solidFill>
                <a:latin typeface="Arial"/>
              </a:rPr>
              <a:t>4/5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148840"/>
            <a:ext cx="17373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000" b="0">
                <a:solidFill>
                  <a:srgbClr val="697380"/>
                </a:solidFill>
                <a:latin typeface="Arial"/>
              </a:rPr>
              <a:t>Butter appears in 4 baskets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32588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600" y="1481328"/>
            <a:ext cx="18288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1">
                <a:solidFill>
                  <a:srgbClr val="697380"/>
                </a:solidFill>
                <a:latin typeface="Arial"/>
              </a:rPr>
              <a:t>Bread &amp; Butter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78308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2200" b="1">
                <a:solidFill>
                  <a:srgbClr val="E89134"/>
                </a:solidFill>
                <a:latin typeface="Arial"/>
              </a:rPr>
              <a:t>3/5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148840"/>
            <a:ext cx="173736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000" b="0">
                <a:solidFill>
                  <a:srgbClr val="697380"/>
                </a:solidFill>
                <a:latin typeface="Arial"/>
              </a:rPr>
              <a:t>Both appear together 3 times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2880360"/>
            <a:ext cx="2148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946904" y="3026664"/>
            <a:ext cx="1856232" cy="347472"/>
          </a:xfrm>
          <a:prstGeom prst="round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92624" y="3054096"/>
            <a:ext cx="1764792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1768" y="3593591"/>
            <a:ext cx="1746504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800" b="1">
                <a:solidFill>
                  <a:srgbClr val="14223D"/>
                </a:solidFill>
                <a:latin typeface="Arial"/>
              </a:rPr>
              <a:t>3 / 5 = 0.60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4178808"/>
            <a:ext cx="1746504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0">
                <a:solidFill>
                  <a:srgbClr val="697380"/>
                </a:solidFill>
                <a:latin typeface="Arial"/>
              </a:rPr>
              <a:t>60% of baskets contain both Bread and Butter.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50608" y="2880360"/>
            <a:ext cx="2148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296912" y="3026664"/>
            <a:ext cx="1856232" cy="347472"/>
          </a:xfrm>
          <a:prstGeom prst="round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42632" y="3054096"/>
            <a:ext cx="1764792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6" y="3593591"/>
            <a:ext cx="1746504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800" b="1">
                <a:solidFill>
                  <a:srgbClr val="14223D"/>
                </a:solidFill>
                <a:latin typeface="Arial"/>
              </a:rPr>
              <a:t>3 / 4 = 0.75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1776" y="4178808"/>
            <a:ext cx="1746504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0">
                <a:solidFill>
                  <a:srgbClr val="697380"/>
                </a:solidFill>
                <a:latin typeface="Arial"/>
              </a:rPr>
              <a:t>75% of Bread baskets also contain Butter.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91472" y="2880360"/>
            <a:ext cx="2148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637776" y="3026664"/>
            <a:ext cx="1856232" cy="347472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83496" y="3054096"/>
            <a:ext cx="1764792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593591"/>
            <a:ext cx="1746504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800" b="1">
                <a:solidFill>
                  <a:srgbClr val="14223D"/>
                </a:solidFill>
                <a:latin typeface="Arial"/>
              </a:rPr>
              <a:t>0.75 / 0.80 = 0.94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178808"/>
            <a:ext cx="1746504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00" b="0">
                <a:solidFill>
                  <a:srgbClr val="697380"/>
                </a:solidFill>
                <a:latin typeface="Arial"/>
              </a:rPr>
              <a:t>This rule is not stronger than Butter’s normal popularity.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5532120"/>
            <a:ext cx="68580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14223D"/>
                </a:solidFill>
                <a:latin typeface="Arial"/>
              </a:rPr>
              <a:t>Important teaching point: high confidence alone can be misleading when the consequent is already very common.</a:t>
            </a:r>
          </a:p>
        </p:txBody>
      </p:sp>
      <p:pic>
        <p:nvPicPr>
          <p:cNvPr id="39" name="Picture 38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E6D41D7D-68F0-735A-BF01-8126F8B06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A practical association-rule mining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01952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71600" y="2148840"/>
            <a:ext cx="457200" cy="457200"/>
          </a:xfrm>
          <a:prstGeom prst="round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2176272"/>
            <a:ext cx="365760" cy="4023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743200"/>
            <a:ext cx="1645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14223D"/>
                </a:solidFill>
                <a:latin typeface="Arial"/>
              </a:rPr>
              <a:t>Prepare baskets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18688"/>
            <a:ext cx="1572768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0">
                <a:solidFill>
                  <a:srgbClr val="697380"/>
                </a:solidFill>
                <a:latin typeface="Arial"/>
              </a:rPr>
              <a:t>Convert raw data into transactions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96896" y="2971800"/>
            <a:ext cx="274319" cy="0"/>
          </a:xfrm>
          <a:prstGeom prst="line">
            <a:avLst/>
          </a:prstGeom>
          <a:ln w="25400">
            <a:solidFill>
              <a:srgbClr val="96A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62656" y="1920240"/>
            <a:ext cx="1901952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75888" y="2148840"/>
            <a:ext cx="457200" cy="457200"/>
          </a:xfrm>
          <a:prstGeom prst="round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8" y="2176272"/>
            <a:ext cx="365760" cy="4023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743200"/>
            <a:ext cx="1645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14223D"/>
                </a:solidFill>
                <a:latin typeface="Arial"/>
              </a:rPr>
              <a:t>Find frequent itemsets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218688"/>
            <a:ext cx="1572768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0">
                <a:solidFill>
                  <a:srgbClr val="697380"/>
                </a:solidFill>
                <a:latin typeface="Arial"/>
              </a:rPr>
              <a:t>Identify item groups above support threshold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2971800"/>
            <a:ext cx="274320" cy="0"/>
          </a:xfrm>
          <a:prstGeom prst="line">
            <a:avLst/>
          </a:prstGeom>
          <a:ln w="25400">
            <a:solidFill>
              <a:srgbClr val="96A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66944" y="1920240"/>
            <a:ext cx="1901952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80176" y="2148840"/>
            <a:ext cx="457200" cy="457200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25896" y="2176272"/>
            <a:ext cx="365760" cy="4023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2743200"/>
            <a:ext cx="1645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14223D"/>
                </a:solidFill>
                <a:latin typeface="Arial"/>
              </a:rPr>
              <a:t>Generate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3218688"/>
            <a:ext cx="1572768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0">
                <a:solidFill>
                  <a:srgbClr val="697380"/>
                </a:solidFill>
                <a:latin typeface="Arial"/>
              </a:rPr>
              <a:t>Create A → B candidates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05472" y="2971800"/>
            <a:ext cx="274320" cy="0"/>
          </a:xfrm>
          <a:prstGeom prst="line">
            <a:avLst/>
          </a:prstGeom>
          <a:ln w="25400">
            <a:solidFill>
              <a:srgbClr val="96A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71232" y="1920240"/>
            <a:ext cx="1901952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84464" y="2148840"/>
            <a:ext cx="457200" cy="457200"/>
          </a:xfrm>
          <a:prstGeom prst="roundRect">
            <a:avLst/>
          </a:prstGeom>
          <a:solidFill>
            <a:srgbClr val="705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0184" y="2176272"/>
            <a:ext cx="365760" cy="4023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2743200"/>
            <a:ext cx="1645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14223D"/>
                </a:solidFill>
                <a:latin typeface="Arial"/>
              </a:rPr>
              <a:t>Evaluate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5824" y="3218688"/>
            <a:ext cx="1572768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0">
                <a:solidFill>
                  <a:srgbClr val="697380"/>
                </a:solidFill>
                <a:latin typeface="Arial"/>
              </a:rPr>
              <a:t>Use support, confidence, lift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09760" y="2971800"/>
            <a:ext cx="274320" cy="0"/>
          </a:xfrm>
          <a:prstGeom prst="line">
            <a:avLst/>
          </a:prstGeom>
          <a:ln w="25400">
            <a:solidFill>
              <a:srgbClr val="96A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875520" y="1920240"/>
            <a:ext cx="1901952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88752" y="2148840"/>
            <a:ext cx="457200" cy="457200"/>
          </a:xfrm>
          <a:prstGeom prst="roundRect">
            <a:avLst/>
          </a:prstGeom>
          <a:solidFill>
            <a:srgbClr val="56A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34472" y="2176272"/>
            <a:ext cx="365760" cy="4023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3536" y="2743200"/>
            <a:ext cx="1645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600" b="1">
                <a:solidFill>
                  <a:srgbClr val="14223D"/>
                </a:solidFill>
                <a:latin typeface="Arial"/>
              </a:rPr>
              <a:t>Deploy 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2" y="3218688"/>
            <a:ext cx="1572768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0">
                <a:solidFill>
                  <a:srgbClr val="697380"/>
                </a:solidFill>
                <a:latin typeface="Arial"/>
              </a:rPr>
              <a:t>Recommend, bundle, target, monitor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074920"/>
            <a:ext cx="98755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900" b="1" dirty="0">
                <a:solidFill>
                  <a:srgbClr val="14223D"/>
                </a:solidFill>
                <a:latin typeface="Arial"/>
              </a:rPr>
              <a:t>Thresholds matter: too high may hide interesting patterns; too low may create too many weak or noisy rules.</a:t>
            </a:r>
          </a:p>
        </p:txBody>
      </p:sp>
      <p:pic>
        <p:nvPicPr>
          <p:cNvPr id="37" name="Picture 36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F8778A01-97AC-6484-6AB1-FEB4B28A2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Association-rule mining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41832" y="1508760"/>
            <a:ext cx="1143000" cy="384048"/>
          </a:xfrm>
          <a:prstGeom prst="round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536192"/>
            <a:ext cx="1051560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28346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2C323A"/>
                </a:solidFill>
                <a:latin typeface="Arial"/>
              </a:rPr>
              <a:t>Early candidate-generation approach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3258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45151" y="1508760"/>
            <a:ext cx="1143000" cy="384048"/>
          </a:xfrm>
          <a:prstGeom prst="round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1" y="1536192"/>
            <a:ext cx="1051560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SETM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75688"/>
            <a:ext cx="28346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2C323A"/>
                </a:solidFill>
                <a:latin typeface="Arial"/>
              </a:rPr>
              <a:t>SQL-oriented candidate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258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48471" y="1508760"/>
            <a:ext cx="1143000" cy="384048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1536192"/>
            <a:ext cx="1051560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Apriori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075688"/>
            <a:ext cx="28346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2C323A"/>
                </a:solidFill>
                <a:latin typeface="Arial"/>
              </a:rPr>
              <a:t>Prunes candidates using downward closure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375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1832" y="3520440"/>
            <a:ext cx="1143000" cy="384048"/>
          </a:xfrm>
          <a:prstGeom prst="roundRect">
            <a:avLst/>
          </a:prstGeom>
          <a:solidFill>
            <a:srgbClr val="705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3547872"/>
            <a:ext cx="1051560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AprioriTID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087368"/>
            <a:ext cx="28346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2C323A"/>
                </a:solidFill>
                <a:latin typeface="Arial"/>
              </a:rPr>
              <a:t>Uses transaction IDs after early passes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3375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645151" y="3520440"/>
            <a:ext cx="1143000" cy="384048"/>
          </a:xfrm>
          <a:prstGeom prst="roundRect">
            <a:avLst/>
          </a:prstGeom>
          <a:solidFill>
            <a:srgbClr val="56A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90871" y="3547872"/>
            <a:ext cx="1051560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AprioriHybrid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87368"/>
            <a:ext cx="28346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2C323A"/>
                </a:solidFill>
                <a:latin typeface="Arial"/>
              </a:rPr>
              <a:t>Switches between Apriori and AprioriTID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3375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48471" y="3520440"/>
            <a:ext cx="1143000" cy="384048"/>
          </a:xfrm>
          <a:prstGeom prst="round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94192" y="3547872"/>
            <a:ext cx="1051560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FP-Growth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4087368"/>
            <a:ext cx="28346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0">
                <a:solidFill>
                  <a:srgbClr val="2C323A"/>
                </a:solidFill>
                <a:latin typeface="Arial"/>
              </a:rPr>
              <a:t>Builds compressed FP-tree; avoids candidate explosion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>
                <a:solidFill>
                  <a:srgbClr val="697380"/>
                </a:solidFill>
                <a:latin typeface="Arial"/>
              </a:rPr>
              <a:t>In practice, FP-Growth is often preferred for larger datasets because it avoids repeatedly generating many candidate itemsets.</a:t>
            </a:r>
          </a:p>
        </p:txBody>
      </p:sp>
      <p:pic>
        <p:nvPicPr>
          <p:cNvPr id="32" name="Picture 31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F5198D93-AB87-9F7B-3BD0-83A9A6C8A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Apriori: simple idea, expensive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3891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1">
                <a:solidFill>
                  <a:srgbClr val="14223D"/>
                </a:solidFill>
                <a:latin typeface="Arial"/>
              </a:rPr>
              <a:t>How Apriori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4434840" cy="2423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Start with frequent 1-itemsets.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Generate candidate 2-itemsets, then 3-itemsets, and so on.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Prune candidates when any subset is infrequent.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Stop when no more frequent itemsets are found.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92040"/>
            <a:ext cx="443484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00" b="1">
                <a:solidFill>
                  <a:srgbClr val="219691"/>
                </a:solidFill>
                <a:latin typeface="Arial"/>
              </a:rPr>
              <a:t>Downward closure: if an itemset is frequent, all of its subsets must also be frequent.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3891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1">
                <a:solidFill>
                  <a:srgbClr val="14223D"/>
                </a:solidFill>
                <a:latin typeface="Arial"/>
              </a:rPr>
              <a:t>Strengths and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434840" cy="2331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Easy to understand and teach.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Useful for small to moderate datasets.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Can become slow when many items create many candidates.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Requires multiple passes over the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773168"/>
            <a:ext cx="443484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800" b="1">
                <a:solidFill>
                  <a:srgbClr val="CA5252"/>
                </a:solidFill>
                <a:latin typeface="Arial"/>
              </a:rPr>
              <a:t>Main issue: candidate explosion</a:t>
            </a:r>
          </a:p>
        </p:txBody>
      </p:sp>
      <p:pic>
        <p:nvPicPr>
          <p:cNvPr id="15" name="Picture 14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99012770-E301-47E0-8562-AA7935A39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FP-Growth: compress first, mine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3891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1">
                <a:solidFill>
                  <a:srgbClr val="14223D"/>
                </a:solidFill>
                <a:latin typeface="Arial"/>
              </a:rPr>
              <a:t>How FP-Growth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4434840" cy="2423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Scan transactions to find frequent items.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Store transactions in a compact FP-tree.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Mine frequent patterns from conditional trees.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Avoid generating large candidate lists explicitly.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3891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200" b="1">
                <a:solidFill>
                  <a:srgbClr val="14223D"/>
                </a:solidFill>
                <a:latin typeface="Arial"/>
              </a:rPr>
              <a:t>Why it scales better</a:t>
            </a:r>
          </a:p>
        </p:txBody>
      </p:sp>
      <p:sp>
        <p:nvSpPr>
          <p:cNvPr id="11" name="Oval 10"/>
          <p:cNvSpPr/>
          <p:nvPr/>
        </p:nvSpPr>
        <p:spPr>
          <a:xfrm>
            <a:off x="8641080" y="2057400"/>
            <a:ext cx="960120" cy="502920"/>
          </a:xfrm>
          <a:prstGeom prst="ellipse">
            <a:avLst/>
          </a:prstGeom>
          <a:solidFill>
            <a:srgbClr val="1422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2194560"/>
            <a:ext cx="868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Root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2788920"/>
            <a:ext cx="960120" cy="502920"/>
          </a:xfrm>
          <a:prstGeom prst="ellipse">
            <a:avLst/>
          </a:prstGeom>
          <a:solidFill>
            <a:srgbClr val="2196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2926079"/>
            <a:ext cx="868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Bread</a:t>
            </a:r>
          </a:p>
        </p:txBody>
      </p:sp>
      <p:sp>
        <p:nvSpPr>
          <p:cNvPr id="15" name="Oval 14"/>
          <p:cNvSpPr/>
          <p:nvPr/>
        </p:nvSpPr>
        <p:spPr>
          <a:xfrm>
            <a:off x="9646920" y="2788920"/>
            <a:ext cx="960120" cy="502920"/>
          </a:xfrm>
          <a:prstGeom prst="ellipse">
            <a:avLst/>
          </a:prstGeom>
          <a:solidFill>
            <a:srgbClr val="2A67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0" y="2926079"/>
            <a:ext cx="868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Milk</a:t>
            </a:r>
          </a:p>
        </p:txBody>
      </p:sp>
      <p:sp>
        <p:nvSpPr>
          <p:cNvPr id="17" name="Oval 16"/>
          <p:cNvSpPr/>
          <p:nvPr/>
        </p:nvSpPr>
        <p:spPr>
          <a:xfrm>
            <a:off x="7543800" y="3657600"/>
            <a:ext cx="960120" cy="502920"/>
          </a:xfrm>
          <a:prstGeom prst="ellipse">
            <a:avLst/>
          </a:prstGeom>
          <a:solidFill>
            <a:srgbClr val="E891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3794760"/>
            <a:ext cx="868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Butter</a:t>
            </a:r>
          </a:p>
        </p:txBody>
      </p:sp>
      <p:sp>
        <p:nvSpPr>
          <p:cNvPr id="19" name="Oval 18"/>
          <p:cNvSpPr/>
          <p:nvPr/>
        </p:nvSpPr>
        <p:spPr>
          <a:xfrm>
            <a:off x="9692640" y="3657600"/>
            <a:ext cx="960120" cy="502920"/>
          </a:xfrm>
          <a:prstGeom prst="ellipse">
            <a:avLst/>
          </a:prstGeom>
          <a:solidFill>
            <a:srgbClr val="705D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38360" y="3794760"/>
            <a:ext cx="86868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Eggs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8092440" y="2560320"/>
            <a:ext cx="1033272" cy="228600"/>
          </a:xfrm>
          <a:prstGeom prst="line">
            <a:avLst/>
          </a:prstGeom>
          <a:ln w="1270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25712" y="2560320"/>
            <a:ext cx="1005840" cy="228600"/>
          </a:xfrm>
          <a:prstGeom prst="line">
            <a:avLst/>
          </a:prstGeom>
          <a:ln w="1270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028431" y="3291840"/>
            <a:ext cx="45721" cy="365760"/>
          </a:xfrm>
          <a:prstGeom prst="line">
            <a:avLst/>
          </a:prstGeom>
          <a:ln w="1270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131552" y="3291840"/>
            <a:ext cx="45720" cy="365760"/>
          </a:xfrm>
          <a:prstGeom prst="line">
            <a:avLst/>
          </a:prstGeom>
          <a:ln w="1270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65392" y="4617720"/>
            <a:ext cx="448056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500" b="0">
                <a:solidFill>
                  <a:srgbClr val="697380"/>
                </a:solidFill>
                <a:latin typeface="Arial"/>
              </a:rPr>
              <a:t>The FP-tree stores shared prefixes once, reducing repeated work across similar baskets.</a:t>
            </a:r>
          </a:p>
        </p:txBody>
      </p:sp>
      <p:pic>
        <p:nvPicPr>
          <p:cNvPr id="27" name="Picture 26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76C87C41-95E8-E4C3-F8DB-1589EDDFC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Count Items and Keep Frequent Items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transaction database with minimum support count = 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640080" cy="438912"/>
          </a:xfrm>
          <a:prstGeom prst="rect">
            <a:avLst/>
          </a:prstGeom>
          <a:solidFill>
            <a:srgbClr val="2563E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30936" y="13716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TID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234440" y="1325880"/>
            <a:ext cx="3931920" cy="438912"/>
          </a:xfrm>
          <a:prstGeom prst="rect">
            <a:avLst/>
          </a:prstGeom>
          <a:solidFill>
            <a:srgbClr val="2563E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271016" y="137160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Original transaction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1764792"/>
            <a:ext cx="640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30936" y="181051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T1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234440" y="1764792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271016" y="18105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f, a, c, d, g, i, m, 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203704"/>
            <a:ext cx="64008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30936" y="22494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T2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234440" y="2203704"/>
            <a:ext cx="393192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271016" y="2249424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a, b, c, f, l, m, 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2642616"/>
            <a:ext cx="640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30936" y="268833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T3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234440" y="2642616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271016" y="2688336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b, f, h, j, 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3081528"/>
            <a:ext cx="64008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30936" y="31272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T4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234440" y="3081528"/>
            <a:ext cx="393192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271016" y="312724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b, c, k, s, 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3520440"/>
            <a:ext cx="640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30936" y="35661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T5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234440" y="3520440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271016" y="356616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a, f, c, e, l, p, m, 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23560" y="1298448"/>
            <a:ext cx="960120" cy="338328"/>
          </a:xfrm>
          <a:prstGeom prst="rect">
            <a:avLst/>
          </a:prstGeom>
          <a:solidFill>
            <a:srgbClr val="0D948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660136" y="134416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Item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0" y="1298448"/>
            <a:ext cx="1005840" cy="338328"/>
          </a:xfrm>
          <a:prstGeom prst="rect">
            <a:avLst/>
          </a:prstGeom>
          <a:solidFill>
            <a:srgbClr val="0D948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620256" y="1344168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Support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23560" y="1636776"/>
            <a:ext cx="960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660136" y="1682496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f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583680" y="1636776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620256" y="1682496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4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23560" y="1975104"/>
            <a:ext cx="96012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660136" y="2020824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c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583680" y="1975104"/>
            <a:ext cx="100584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620256" y="2020824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4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623560" y="2313432"/>
            <a:ext cx="960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5660136" y="2359152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583680" y="2313432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620256" y="235915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3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23560" y="2651760"/>
            <a:ext cx="96012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660136" y="2697480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b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583680" y="2651760"/>
            <a:ext cx="100584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620256" y="2697480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3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623560" y="2990088"/>
            <a:ext cx="9601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5660136" y="3035808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m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583680" y="2990088"/>
            <a:ext cx="10058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6620256" y="3035808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3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623560" y="3328416"/>
            <a:ext cx="96012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5660136" y="3374136"/>
            <a:ext cx="8869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p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583680" y="3328416"/>
            <a:ext cx="100584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6620256" y="3374136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3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092440" y="1298448"/>
            <a:ext cx="352044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8092440" y="1298448"/>
            <a:ext cx="35204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8257032" y="1463040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Filter and order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257032" y="1865376"/>
            <a:ext cx="319125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</a:rPr>
              <a:t>Remove infrequent items. Then sort remaining items in each transaction by global support order: f → c → a → b → m → p.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594360" y="3977640"/>
            <a:ext cx="640080" cy="384048"/>
          </a:xfrm>
          <a:prstGeom prst="rect">
            <a:avLst/>
          </a:prstGeom>
          <a:solidFill>
            <a:srgbClr val="16A34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630936" y="40233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TID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1234440" y="3977640"/>
            <a:ext cx="3931920" cy="384048"/>
          </a:xfrm>
          <a:prstGeom prst="rect">
            <a:avLst/>
          </a:prstGeom>
          <a:solidFill>
            <a:srgbClr val="16A34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1271016" y="402336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Filtered + ordered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94360" y="4361688"/>
            <a:ext cx="640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630936" y="440740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T1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1234440" y="4361688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1271016" y="440740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f, c, a, m, p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594360" y="4745736"/>
            <a:ext cx="6400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630936" y="4791456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T2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1234440" y="4745736"/>
            <a:ext cx="3931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1271016" y="479145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f, c, a, b, m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594360" y="5129784"/>
            <a:ext cx="640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630936" y="5175504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T3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1234440" y="5129784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1271016" y="517550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f, b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594360" y="5513832"/>
            <a:ext cx="6400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77"/>
          <p:cNvSpPr/>
          <p:nvPr/>
        </p:nvSpPr>
        <p:spPr>
          <a:xfrm>
            <a:off x="630936" y="55595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T4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1234440" y="5513832"/>
            <a:ext cx="39319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1271016" y="5559552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c, b, p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594360" y="5897880"/>
            <a:ext cx="640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630936" y="594360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T5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1234440" y="5897880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/>
          <p:nvPr/>
        </p:nvSpPr>
        <p:spPr>
          <a:xfrm>
            <a:off x="1271016" y="59436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</a:rPr>
              <a:t>f, c, a, m, p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5623560" y="4160520"/>
            <a:ext cx="59893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7" name="Shape 85"/>
          <p:cNvSpPr/>
          <p:nvPr/>
        </p:nvSpPr>
        <p:spPr>
          <a:xfrm>
            <a:off x="5623560" y="4160520"/>
            <a:ext cx="59893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5788152" y="4325112"/>
            <a:ext cx="5660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Why ordering matters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5788152" y="4727448"/>
            <a:ext cx="56601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Transactions with similar frequent items now share the same prefixes. The FP-tree can compress repeated prefixes such as f → c → a.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Module 10 • Association Rules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129284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2</a:t>
            </a:r>
            <a:endParaRPr lang="en-US" sz="950" dirty="0"/>
          </a:p>
        </p:txBody>
      </p:sp>
      <p:pic>
        <p:nvPicPr>
          <p:cNvPr id="93" name="Picture 92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DEFCD660-9CF9-6B27-B64B-929A0D90CD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Build the FP-tree by Inserting Ordered Transactions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increase when an existing prefix is reused</a:t>
            </a:r>
            <a:endParaRPr lang="en-US" sz="1400" dirty="0"/>
          </a:p>
        </p:txBody>
      </p:sp>
      <p:pic>
        <p:nvPicPr>
          <p:cNvPr id="6" name="Image 0" descr="/mnt/data/fp_tree_assets/fp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70432"/>
            <a:ext cx="5943600" cy="4828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95160" y="1234440"/>
            <a:ext cx="4526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6995160" y="1234440"/>
            <a:ext cx="4526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159752" y="1399032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Insert T1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59752" y="1801368"/>
            <a:ext cx="41970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</a:rPr>
              <a:t>f → c → a → m → p creates the first branch. Each node starts with count 1.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995160" y="2487168"/>
            <a:ext cx="4526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6995160" y="2487168"/>
            <a:ext cx="45262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159752" y="2651760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Insert T2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59752" y="3054096"/>
            <a:ext cx="41970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</a:rPr>
              <a:t>f and c and a already exist, so their counts increase. Then b → m branches from a.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6995160" y="3739896"/>
            <a:ext cx="45262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995160" y="3739896"/>
            <a:ext cx="45262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159752" y="3904488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Insert T5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59752" y="4306824"/>
            <a:ext cx="41970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</a:rPr>
              <a:t>f → c → a → m → p follows the first branch again, so the counts along that path increase.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7059168" y="52578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Read the final tree as a compressed transaction database: node labels show item and path count.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Module 10 • Association Rules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29284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3</a:t>
            </a:r>
            <a:endParaRPr lang="en-US" sz="950" dirty="0"/>
          </a:p>
        </p:txBody>
      </p:sp>
      <p:pic>
        <p:nvPicPr>
          <p:cNvPr id="23" name="Picture 22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BACBC9DE-03C6-F5B2-8FC7-91DECC8FE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Table: How the FP-tree Can Be Traversed Efficiently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frequent item points to every node where that item appears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914400" cy="457200"/>
          </a:xfrm>
          <a:prstGeom prst="rect">
            <a:avLst/>
          </a:prstGeom>
          <a:solidFill>
            <a:srgbClr val="2563E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22376" y="13716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Item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00200" y="1325880"/>
            <a:ext cx="914400" cy="457200"/>
          </a:xfrm>
          <a:prstGeom prst="rect">
            <a:avLst/>
          </a:prstGeom>
          <a:solidFill>
            <a:srgbClr val="2563E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636776" y="13716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Support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14600" y="1325880"/>
            <a:ext cx="2926080" cy="457200"/>
          </a:xfrm>
          <a:prstGeom prst="rect">
            <a:avLst/>
          </a:prstGeom>
          <a:solidFill>
            <a:srgbClr val="2563EB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551176" y="13716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Node-link idea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178308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22376" y="18288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f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1600200" y="178308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636776" y="18288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4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2514600" y="178308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551176" y="18288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one f node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85800" y="2240280"/>
            <a:ext cx="9144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22376" y="22860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c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1600200" y="2240280"/>
            <a:ext cx="9144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636776" y="22860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4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2514600" y="2240280"/>
            <a:ext cx="2926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551176" y="22860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f→c and root→c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85800" y="269748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22376" y="27432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a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1600200" y="269748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636776" y="27432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3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2514600" y="269748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551176" y="27432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one a node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85800" y="3154680"/>
            <a:ext cx="9144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22376" y="32004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b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1600200" y="3154680"/>
            <a:ext cx="9144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636776" y="32004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3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2514600" y="3154680"/>
            <a:ext cx="2926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2551176" y="32004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three b nodes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685800" y="361188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722376" y="36576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m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1600200" y="3611880"/>
            <a:ext cx="914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636776" y="36576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3</a:t>
            </a:r>
            <a:endParaRPr lang="en-US" sz="1220" dirty="0"/>
          </a:p>
        </p:txBody>
      </p:sp>
      <p:sp>
        <p:nvSpPr>
          <p:cNvPr id="40" name="Shape 38"/>
          <p:cNvSpPr/>
          <p:nvPr/>
        </p:nvSpPr>
        <p:spPr>
          <a:xfrm>
            <a:off x="2514600" y="3611880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2551176" y="36576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two m nodes</a:t>
            </a:r>
            <a:endParaRPr lang="en-US" sz="1220" dirty="0"/>
          </a:p>
        </p:txBody>
      </p:sp>
      <p:sp>
        <p:nvSpPr>
          <p:cNvPr id="42" name="Shape 40"/>
          <p:cNvSpPr/>
          <p:nvPr/>
        </p:nvSpPr>
        <p:spPr>
          <a:xfrm>
            <a:off x="685800" y="4069080"/>
            <a:ext cx="9144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722376" y="41148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p</a:t>
            </a:r>
            <a:endParaRPr lang="en-US" sz="1220" dirty="0"/>
          </a:p>
        </p:txBody>
      </p:sp>
      <p:sp>
        <p:nvSpPr>
          <p:cNvPr id="44" name="Shape 42"/>
          <p:cNvSpPr/>
          <p:nvPr/>
        </p:nvSpPr>
        <p:spPr>
          <a:xfrm>
            <a:off x="1600200" y="4069080"/>
            <a:ext cx="9144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1636776" y="41148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3</a:t>
            </a:r>
            <a:endParaRPr lang="en-US" sz="1220" dirty="0"/>
          </a:p>
        </p:txBody>
      </p:sp>
      <p:sp>
        <p:nvSpPr>
          <p:cNvPr id="46" name="Shape 44"/>
          <p:cNvSpPr/>
          <p:nvPr/>
        </p:nvSpPr>
        <p:spPr>
          <a:xfrm>
            <a:off x="2514600" y="4069080"/>
            <a:ext cx="2926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2551176" y="41148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334155"/>
                </a:solidFill>
              </a:rPr>
              <a:t>two p nodes</a:t>
            </a:r>
            <a:endParaRPr lang="en-US" sz="1220" dirty="0"/>
          </a:p>
        </p:txBody>
      </p:sp>
      <p:sp>
        <p:nvSpPr>
          <p:cNvPr id="48" name="Shape 46"/>
          <p:cNvSpPr/>
          <p:nvPr/>
        </p:nvSpPr>
        <p:spPr>
          <a:xfrm>
            <a:off x="5715000" y="1325880"/>
            <a:ext cx="56235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5715000" y="1325880"/>
            <a:ext cx="56235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5879592" y="1490472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The header table stores item-level support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879592" y="1892808"/>
            <a:ext cx="529437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334155"/>
                </a:solidFill>
              </a:rPr>
              <a:t>Instead of scanning the original database again, FP-growth follows node-links from the header table to find all paths ending in a given item.</a:t>
            </a:r>
            <a:endParaRPr lang="en-US" sz="1520" dirty="0"/>
          </a:p>
        </p:txBody>
      </p:sp>
      <p:sp>
        <p:nvSpPr>
          <p:cNvPr id="52" name="Shape 50"/>
          <p:cNvSpPr/>
          <p:nvPr/>
        </p:nvSpPr>
        <p:spPr>
          <a:xfrm>
            <a:off x="5715000" y="2743200"/>
            <a:ext cx="56235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5715000" y="2743200"/>
            <a:ext cx="56235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5879592" y="2907792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Node-links connect same-item nodes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879592" y="3310128"/>
            <a:ext cx="529437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334155"/>
                </a:solidFill>
              </a:rPr>
              <a:t>For example, all p nodes are connected, and all m nodes are connected. This is what allows conditional pattern bases to be generated.</a:t>
            </a:r>
            <a:endParaRPr lang="en-US" sz="1520" dirty="0"/>
          </a:p>
        </p:txBody>
      </p:sp>
      <p:sp>
        <p:nvSpPr>
          <p:cNvPr id="56" name="Shape 54"/>
          <p:cNvSpPr/>
          <p:nvPr/>
        </p:nvSpPr>
        <p:spPr>
          <a:xfrm>
            <a:off x="5715000" y="4160520"/>
            <a:ext cx="56235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5715000" y="4160520"/>
            <a:ext cx="56235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5879592" y="4325112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Teaching simplification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879592" y="4727448"/>
            <a:ext cx="529437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334155"/>
                </a:solidFill>
              </a:rPr>
              <a:t>Students do not need to memorise every pointer. Focus on the concept: header table + node-links let the algorithm mine without rescanning the transaction file.</a:t>
            </a:r>
            <a:endParaRPr lang="en-US" sz="1520" dirty="0"/>
          </a:p>
        </p:txBody>
      </p:sp>
      <p:sp>
        <p:nvSpPr>
          <p:cNvPr id="60" name="Text 58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Module 10 • Association Rules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129284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4</a:t>
            </a:r>
            <a:endParaRPr lang="en-US" sz="950" dirty="0"/>
          </a:p>
        </p:txBody>
      </p:sp>
      <p:pic>
        <p:nvPicPr>
          <p:cNvPr id="63" name="Picture 62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8EC153F7-DAE5-4561-36BE-769694264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Mine Frequent Patterns from Conditional Pattern Bases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30352" y="804672"/>
            <a:ext cx="11018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mining itemsets that end with suffix item m</a:t>
            </a:r>
            <a:endParaRPr lang="en-US" sz="1400" dirty="0"/>
          </a:p>
        </p:txBody>
      </p:sp>
      <p:pic>
        <p:nvPicPr>
          <p:cNvPr id="6" name="Image 0" descr="/mnt/data/fp_tree_assets/condit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7320"/>
            <a:ext cx="12191694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4736592"/>
            <a:ext cx="34015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685800" y="4736592"/>
            <a:ext cx="340156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850392" y="4901184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Conditional pattern base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0392" y="5303520"/>
            <a:ext cx="3072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Collect every prefix path that leads to the target suffix item.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4407408" y="4736592"/>
            <a:ext cx="34015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407408" y="4736592"/>
            <a:ext cx="3401568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4572000" y="4901184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Conditional FP-tree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0" y="5303520"/>
            <a:ext cx="3072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Re-count items in those prefix paths and keep only frequent items.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8119872" y="4736592"/>
            <a:ext cx="34015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8119872" y="4736592"/>
            <a:ext cx="3401568" cy="7315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8284464" y="4901184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</a:rPr>
              <a:t>Frequent itemsets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84464" y="5303520"/>
            <a:ext cx="3072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Combine the suffix item with frequent items from the conditional tree.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749808" y="58521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</a:rPr>
              <a:t>This divide-and-conquer process repeats for each frequent item, usually from the least frequent item upward.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Module 10 • Association Rules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29284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</a:rPr>
              <a:t>5</a:t>
            </a:r>
            <a:endParaRPr lang="en-US" sz="950" dirty="0"/>
          </a:p>
        </p:txBody>
      </p:sp>
      <p:pic>
        <p:nvPicPr>
          <p:cNvPr id="23" name="Picture 22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5001549A-314B-3ACD-4847-38A6F9D8A5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Interpreting rules: not every rule is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4983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527048"/>
            <a:ext cx="2377440" cy="365760"/>
          </a:xfrm>
          <a:prstGeom prst="round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22860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High support, high lift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448056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C323A"/>
                </a:solidFill>
                <a:latin typeface="Arial"/>
              </a:rPr>
              <a:t>Common and genuinely informative. Usually worth investigating.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4983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6520" y="1527048"/>
            <a:ext cx="2377440" cy="365760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High confidence, low lift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48056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C323A"/>
                </a:solidFill>
                <a:latin typeface="Arial"/>
              </a:rPr>
              <a:t>May be caused by a very common consequent. Check baseline frequency.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74720"/>
            <a:ext cx="4983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0120" y="3675887"/>
            <a:ext cx="2377440" cy="365760"/>
          </a:xfrm>
          <a:prstGeom prst="roundRect">
            <a:avLst/>
          </a:prstGeom>
          <a:solidFill>
            <a:srgbClr val="705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703320"/>
            <a:ext cx="22860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Low support, high lift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24528"/>
            <a:ext cx="448056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C323A"/>
                </a:solidFill>
                <a:latin typeface="Arial"/>
              </a:rPr>
              <a:t>Interesting niche pattern, but may be unstable or rare.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74720"/>
            <a:ext cx="4983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46520" y="3675887"/>
            <a:ext cx="2377440" cy="365760"/>
          </a:xfrm>
          <a:prstGeom prst="round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703320"/>
            <a:ext cx="228600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Low support, low 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24528"/>
            <a:ext cx="448056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0">
                <a:solidFill>
                  <a:srgbClr val="2C323A"/>
                </a:solidFill>
                <a:latin typeface="Arial"/>
              </a:rPr>
              <a:t>Usually weak or noisy; often not useful.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715000"/>
            <a:ext cx="10241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1">
                <a:solidFill>
                  <a:srgbClr val="14223D"/>
                </a:solidFill>
                <a:latin typeface="Arial"/>
              </a:rPr>
              <a:t>Use metrics together. A rule with high confidence is not necessarily strong if the consequent is already very common.</a:t>
            </a:r>
          </a:p>
        </p:txBody>
      </p:sp>
      <p:pic>
        <p:nvPicPr>
          <p:cNvPr id="24" name="Picture 23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A843A9DE-67A5-52DC-123B-F07D0D039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Association rules vs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1600200"/>
            <a:ext cx="1554480" cy="384048"/>
          </a:xfrm>
          <a:prstGeom prst="round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627632"/>
            <a:ext cx="14630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4389120" cy="2651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Groups similar data points.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Output: clusters or segments.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Question: which observations are alike?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Example: customer segments based on behaviour.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37960" y="1600200"/>
            <a:ext cx="2148840" cy="384048"/>
          </a:xfrm>
          <a:prstGeom prst="round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627632"/>
            <a:ext cx="2057400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Association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389120" cy="2651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Finds co-occurring items or events.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Output: if–then rules.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Question: what tends to happen together?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Example: customers who buy X often buy 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07024"/>
            <a:ext cx="10241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800" b="1" dirty="0">
                <a:solidFill>
                  <a:srgbClr val="14223D"/>
                </a:solidFill>
                <a:latin typeface="Arial"/>
              </a:rPr>
              <a:t>Both methods support exploratory learning, but they answer different analytical questions.</a:t>
            </a:r>
          </a:p>
        </p:txBody>
      </p:sp>
      <p:pic>
        <p:nvPicPr>
          <p:cNvPr id="16" name="Picture 15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2A4F5FCD-EF7D-AC8B-F017-65266A68D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Where association rules are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261872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1481328"/>
            <a:ext cx="1325880" cy="384048"/>
          </a:xfrm>
          <a:prstGeom prst="round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508760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2788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C323A"/>
                </a:solidFill>
                <a:latin typeface="Arial"/>
              </a:rPr>
              <a:t>Market basket analysis, bundles, cross-selling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261872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81728" y="1481328"/>
            <a:ext cx="1325880" cy="384048"/>
          </a:xfrm>
          <a:prstGeom prst="round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508760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E-commerce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039112"/>
            <a:ext cx="2788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C323A"/>
                </a:solidFill>
                <a:latin typeface="Arial"/>
              </a:rPr>
              <a:t>Recommendations and personalised offers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261872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30767" y="1481328"/>
            <a:ext cx="1325880" cy="384048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1508760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039112"/>
            <a:ext cx="2788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C323A"/>
                </a:solidFill>
                <a:latin typeface="Arial"/>
              </a:rPr>
              <a:t>Fraud pattern discovery and product affinity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410712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32688" y="3630168"/>
            <a:ext cx="1325880" cy="384048"/>
          </a:xfrm>
          <a:prstGeom prst="roundRect">
            <a:avLst/>
          </a:prstGeom>
          <a:solidFill>
            <a:srgbClr val="56A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3657599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Healthcare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187952"/>
            <a:ext cx="2788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C323A"/>
                </a:solidFill>
                <a:latin typeface="Arial"/>
              </a:rPr>
              <a:t>Co-occurring symptoms or treatment patterns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8848" y="3410712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681728" y="3630168"/>
            <a:ext cx="1325880" cy="384048"/>
          </a:xfrm>
          <a:prstGeom prst="roundRect">
            <a:avLst/>
          </a:prstGeom>
          <a:solidFill>
            <a:srgbClr val="705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3657599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Web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4187952"/>
            <a:ext cx="2788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C323A"/>
                </a:solidFill>
                <a:latin typeface="Arial"/>
              </a:rPr>
              <a:t>Clickstream sequence and navigation patterns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3410712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430767" y="3630168"/>
            <a:ext cx="1325880" cy="384048"/>
          </a:xfrm>
          <a:prstGeom prst="round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76488" y="3657599"/>
            <a:ext cx="1234439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Education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4187952"/>
            <a:ext cx="2788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C323A"/>
                </a:solidFill>
                <a:latin typeface="Arial"/>
              </a:rPr>
              <a:t>Learning-resource usage and support triggers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69280"/>
            <a:ext cx="98755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700" b="0">
                <a:solidFill>
                  <a:srgbClr val="697380"/>
                </a:solidFill>
                <a:latin typeface="Arial"/>
              </a:rPr>
              <a:t>The technique is useful whenever data can be represented as repeated events, baskets, sessions, or item sets.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973C82-1165-BDB4-6679-98BF1547A723}"/>
              </a:ext>
            </a:extLst>
          </p:cNvPr>
          <p:cNvSpPr txBox="1"/>
          <p:nvPr/>
        </p:nvSpPr>
        <p:spPr>
          <a:xfrm>
            <a:off x="3048000" y="3246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jazz4Nature</a:t>
            </a:r>
            <a:r>
              <a:rPr lang="en-GB" dirty="0">
                <a:effectLst/>
              </a:rPr>
              <a:t> </a:t>
            </a:r>
            <a:endParaRPr lang="en-GB" dirty="0"/>
          </a:p>
        </p:txBody>
      </p:sp>
      <p:pic>
        <p:nvPicPr>
          <p:cNvPr id="34" name="Picture 33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B6AD3C75-8FB0-C1D3-615B-BFCEEDA04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Common pitfalls and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14300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4128" y="1280160"/>
            <a:ext cx="384048" cy="384048"/>
          </a:xfrm>
          <a:prstGeom prst="round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1307592"/>
            <a:ext cx="292607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261872"/>
            <a:ext cx="28346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14223D"/>
                </a:solidFill>
                <a:latin typeface="Arial"/>
              </a:rPr>
              <a:t>Correlation is not causation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261872"/>
            <a:ext cx="64922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C323A"/>
                </a:solidFill>
                <a:latin typeface="Arial"/>
              </a:rPr>
              <a:t>Bread → Butter does not prove bread causes butter purchases.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4128" y="2148840"/>
            <a:ext cx="384048" cy="384048"/>
          </a:xfrm>
          <a:prstGeom prst="roundRect">
            <a:avLst/>
          </a:prstGeom>
          <a:solidFill>
            <a:srgbClr val="2A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176272"/>
            <a:ext cx="292607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130552"/>
            <a:ext cx="28346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14223D"/>
                </a:solidFill>
                <a:latin typeface="Arial"/>
              </a:rPr>
              <a:t>Popularity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30552"/>
            <a:ext cx="64922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C323A"/>
                </a:solidFill>
                <a:latin typeface="Arial"/>
              </a:rPr>
              <a:t>Very common items can create rules that look useful but add little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88036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4128" y="3017520"/>
            <a:ext cx="384048" cy="384048"/>
          </a:xfrm>
          <a:prstGeom prst="roundRect">
            <a:avLst/>
          </a:prstGeom>
          <a:solidFill>
            <a:srgbClr val="E89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3044951"/>
            <a:ext cx="292607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999232"/>
            <a:ext cx="28346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14223D"/>
                </a:solidFill>
                <a:latin typeface="Arial"/>
              </a:rPr>
              <a:t>Too many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999232"/>
            <a:ext cx="64922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C323A"/>
                </a:solidFill>
                <a:latin typeface="Arial"/>
              </a:rPr>
              <a:t>Low thresholds can produce hundreds or thousands of weak rules.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749039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4128" y="3886200"/>
            <a:ext cx="384048" cy="384048"/>
          </a:xfrm>
          <a:prstGeom prst="roundRect">
            <a:avLst/>
          </a:prstGeom>
          <a:solidFill>
            <a:srgbClr val="705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3913632"/>
            <a:ext cx="292607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867911"/>
            <a:ext cx="28346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14223D"/>
                </a:solidFill>
                <a:latin typeface="Arial"/>
              </a:rPr>
              <a:t>Changing behaviour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867911"/>
            <a:ext cx="64922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C323A"/>
                </a:solidFill>
                <a:latin typeface="Arial"/>
              </a:rPr>
              <a:t>Rules may become stale when customer behaviour, seasonality, or product ranges change.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61772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24128" y="4754880"/>
            <a:ext cx="384048" cy="384048"/>
          </a:xfrm>
          <a:prstGeom prst="roundRect">
            <a:avLst/>
          </a:prstGeom>
          <a:solidFill>
            <a:srgbClr val="C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" y="4782312"/>
            <a:ext cx="292607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736592"/>
            <a:ext cx="28346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14223D"/>
                </a:solidFill>
                <a:latin typeface="Arial"/>
              </a:rPr>
              <a:t>Privacy and ethics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736592"/>
            <a:ext cx="64922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>
                <a:solidFill>
                  <a:srgbClr val="2C323A"/>
                </a:solidFill>
                <a:latin typeface="Arial"/>
              </a:rPr>
              <a:t>Personalised recommendations must respect data privacy and consent.</a:t>
            </a:r>
          </a:p>
        </p:txBody>
      </p:sp>
      <p:pic>
        <p:nvPicPr>
          <p:cNvPr id="32" name="Picture 31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03F73D75-2DC8-5B64-31AB-EED15949C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Link to Assessment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4663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14223D"/>
                </a:solidFill>
                <a:latin typeface="Arial"/>
              </a:rPr>
              <a:t>When to consider association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57400"/>
            <a:ext cx="4526280" cy="2240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The dataset contains repeated items, events, sessions, or transactions.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You want to discover patterns rather than only predict one label.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You need explainable insights such as ‘when X appears, Y often appears’.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1663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508760"/>
            <a:ext cx="4663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100" b="1">
                <a:solidFill>
                  <a:srgbClr val="14223D"/>
                </a:solidFill>
                <a:latin typeface="Arial"/>
              </a:rPr>
              <a:t>How to report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057400"/>
            <a:ext cx="4526280" cy="2331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State the rule clearly: antecedent → consequent.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Report support, confidence, and lift.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Explain what the rule means in plain business language.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C323A"/>
                </a:solidFill>
                <a:latin typeface="Arial"/>
              </a:defRPr>
            </a:pPr>
            <a:r>
              <a:t>Discuss limitations and whether the pattern is actionable.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715000"/>
            <a:ext cx="98755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800" b="1">
                <a:solidFill>
                  <a:srgbClr val="219691"/>
                </a:solidFill>
                <a:latin typeface="Arial"/>
              </a:rPr>
              <a:t>Good reporting turns a discovered rule into a defensible recommendation.</a:t>
            </a:r>
          </a:p>
        </p:txBody>
      </p:sp>
      <p:pic>
        <p:nvPicPr>
          <p:cNvPr id="14" name="Picture 13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E335E89E-0048-59CA-85A2-5453A52F6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14223D"/>
                </a:solidFill>
                <a:latin typeface="Arial"/>
              </a:defRPr>
            </a:pPr>
            <a:r>
              <a:t>Key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37336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0"/>
                </a:solidFill>
                <a:latin typeface="Arial"/>
              </a:defRPr>
            </a:pPr>
            <a:r>
              <a:t>Module 10 • Association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6336792"/>
            <a:ext cx="502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8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6984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10058400" cy="3886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2C323A"/>
                </a:solidFill>
                <a:latin typeface="Arial"/>
              </a:defRPr>
            </a:pPr>
            <a:r>
              <a:t>Kumbhare, A. T., &amp; Chobe, V. S. (2014). An overview of association rule mining algorithms.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2C323A"/>
                </a:solidFill>
                <a:latin typeface="Arial"/>
              </a:defRPr>
            </a:pPr>
            <a:r>
              <a:t>Andrewngai. (2020). Understand and build FP-Growth algorithm in Python.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2C323A"/>
                </a:solidFill>
                <a:latin typeface="Arial"/>
              </a:defRPr>
            </a:pPr>
            <a:r>
              <a:t>McCormick, K. (2018). Machine learning and AI foundations: Clustering and association.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2C323A"/>
                </a:solidFill>
                <a:latin typeface="Arial"/>
              </a:defRPr>
            </a:pPr>
            <a:r>
              <a:t>Shanbhag, A. (2020). Association rule mining.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2C323A"/>
                </a:solidFill>
                <a:latin typeface="Arial"/>
              </a:defRPr>
            </a:pPr>
            <a:r>
              <a:t>Rai, A. (2019). An overview of association rule mining and its applications.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100584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800" b="1" dirty="0">
                <a:solidFill>
                  <a:srgbClr val="219691"/>
                </a:solidFill>
                <a:latin typeface="Arial"/>
              </a:rPr>
              <a:t>End of Module 10</a:t>
            </a:r>
          </a:p>
        </p:txBody>
      </p:sp>
      <p:pic>
        <p:nvPicPr>
          <p:cNvPr id="10" name="Picture 9" descr="A logo with orange and grey text&#10;&#10;Description automatically generated">
            <a:extLst>
              <a:ext uri="{FF2B5EF4-FFF2-40B4-BE49-F238E27FC236}">
                <a16:creationId xmlns:a16="http://schemas.microsoft.com/office/drawing/2014/main" id="{B43E82E0-5C6E-DAC0-CAFD-E682C1731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86520"/>
            <a:ext cx="1346200" cy="54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A1057F29386142A5B9755C5531A820" ma:contentTypeVersion="7" ma:contentTypeDescription="Create a new document." ma:contentTypeScope="" ma:versionID="4fba0a4a6bc0f311a775a35ccccf5e6d">
  <xsd:schema xmlns:xsd="http://www.w3.org/2001/XMLSchema" xmlns:xs="http://www.w3.org/2001/XMLSchema" xmlns:p="http://schemas.microsoft.com/office/2006/metadata/properties" xmlns:ns2="cc5d4512-e7db-40f5-9b40-1e14bbbc82d5" targetNamespace="http://schemas.microsoft.com/office/2006/metadata/properties" ma:root="true" ma:fieldsID="b67d525fc411f0dd1bf3f93df30eccba" ns2:_="">
    <xsd:import namespace="cc5d4512-e7db-40f5-9b40-1e14bbbc82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5d4512-e7db-40f5-9b40-1e14bbbc82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8B3186A-5818-44CB-92FE-7D394716CCF1}"/>
</file>

<file path=customXml/itemProps2.xml><?xml version="1.0" encoding="utf-8"?>
<ds:datastoreItem xmlns:ds="http://schemas.openxmlformats.org/officeDocument/2006/customXml" ds:itemID="{380E45AA-7BFF-450C-85AE-A4F70E4A5210}"/>
</file>

<file path=customXml/itemProps3.xml><?xml version="1.0" encoding="utf-8"?>
<ds:datastoreItem xmlns:ds="http://schemas.openxmlformats.org/officeDocument/2006/customXml" ds:itemID="{69A07149-7F3B-4F4E-9340-901F15FEE053}"/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1940</Words>
  <Application>Microsoft Office PowerPoint</Application>
  <PresentationFormat>Widescreen</PresentationFormat>
  <Paragraphs>355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Zhan</dc:creator>
  <cp:lastModifiedBy>Chen Zhan</cp:lastModifiedBy>
  <cp:revision>1</cp:revision>
  <dcterms:created xsi:type="dcterms:W3CDTF">2026-08-02T06:42:51Z</dcterms:created>
  <dcterms:modified xsi:type="dcterms:W3CDTF">2026-08-03T22:23:35Z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0x01010086A1057F29386142A5B9755C5531A820</vt:lpwstr>
  </property>
</Properties>
</file>