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7"/>
    <p:restoredTop sz="94677"/>
  </p:normalViewPr>
  <p:slideViewPr>
    <p:cSldViewPr snapToGrid="0">
      <p:cViewPr varScale="1">
        <p:scale>
          <a:sx n="117" d="100"/>
          <a:sy n="117" d="100"/>
        </p:scale>
        <p:origin x="176" y="2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26745-2B91-0E43-BFB3-D4FACB7982B5}" type="datetimeFigureOut">
              <a:rPr lang="en-US" smtClean="0"/>
              <a:t>7/26/26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5CCA8-6763-0B41-9751-8173A4975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99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967FE-A890-FF81-0478-C1AEF47C8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B32EF-BE6F-361C-672A-0340E46B1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D7302-D36B-6689-31F5-851C44F6A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20F7-82F5-E644-8D91-58855332FC99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E9715-B907-4127-D20B-8AB9972DE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603D5-7A5E-17B9-B9C3-AC320BA6B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B8E4-AD7F-D546-AC1D-9A29D600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1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A169-C972-FB67-7325-70772FDC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71EA8-678E-6EA1-3108-799CE0F24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906BC-23AC-309A-10B4-741041943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20F7-82F5-E644-8D91-58855332FC99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8B920-F9E7-1253-8950-B8A04F40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EC818-931F-0A2A-FF5A-59E2BB45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B8E4-AD7F-D546-AC1D-9A29D600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27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C71E-D0C0-50F8-9484-CE9C91F9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BF351-4402-27CA-441C-1666DCEF7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261E-799F-74A6-CE37-FC9BA30B8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20F7-82F5-E644-8D91-58855332FC99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9C2A8-EAB4-6ACF-878B-C9B1BE82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735BE-E761-1A5C-60CF-B5559F35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B8E4-AD7F-D546-AC1D-9A29D600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33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823EA-6B11-272F-9480-A08B5F044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55ABF-6671-C386-D7EC-9AEDE820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2B7DC-DC2D-327E-3C63-BC21A47D4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B84B9-93C8-D45F-5576-922EE233A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20F7-82F5-E644-8D91-58855332FC99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6AD3A-A06C-2B6E-4537-D3FF9541B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54283-36C3-868D-DA15-6E1E93A15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B8E4-AD7F-D546-AC1D-9A29D600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6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3DA2-6F72-FAFA-FE02-E2D9CD9B3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C2D15-6C38-3031-3F83-4A850D9B3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26E15-1451-2621-653E-6DF7608B3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CEF7AD-E093-4B4F-23BA-4D4D81ED8C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F1C940-C162-E3FB-E264-05C2A1F532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151D51-E2DF-CC8B-0A9C-83C3848FF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20F7-82F5-E644-8D91-58855332FC99}" type="datetimeFigureOut">
              <a:rPr lang="en-US" smtClean="0"/>
              <a:t>7/26/26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75E250-3280-7928-9204-92269219E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C8C207-4299-E2B3-D0FA-F1CF9450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B8E4-AD7F-D546-AC1D-9A29D600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71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8C49C-C843-ED6E-4E5C-0E3FC4A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7F7765-424D-3533-D325-E273E50D8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20F7-82F5-E644-8D91-58855332FC99}" type="datetimeFigureOut">
              <a:rPr lang="en-US" smtClean="0"/>
              <a:t>7/26/26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3CF1C-9B4D-6AC8-FC5A-B8C1D9D92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EC652-63CF-6A7B-4A2D-90D24AE3B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B8E4-AD7F-D546-AC1D-9A29D600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8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116EB0-B59C-58BE-B100-2A049603E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20F7-82F5-E644-8D91-58855332FC99}" type="datetimeFigureOut">
              <a:rPr lang="en-US" smtClean="0"/>
              <a:t>7/26/26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0F5EC8-CDEF-6445-8A5C-7B54F0CB4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3CB6B-3729-A958-A60A-89A84DFD9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B8E4-AD7F-D546-AC1D-9A29D600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2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07EAC-11CD-0133-18E6-8274D6D28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ADCCE-3E6C-79E3-F686-1E2314838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4A841-32F3-B6F9-819E-17B0E093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902FC-3B2A-9824-335C-0AE1878DB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20F7-82F5-E644-8D91-58855332FC99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F1CBE-A9A6-1B54-0609-F0436C2C6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22AF7-9DF6-6953-667B-6D3076007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B8E4-AD7F-D546-AC1D-9A29D600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0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40A93-55D7-5380-B685-80154DD3B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578E0D-376C-CB1B-C469-98492BF0D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57211-62FC-7454-B5BF-56E9B6EE6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81882-F118-7347-2240-6B2DA11F9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20F7-82F5-E644-8D91-58855332FC99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78C2D-19FE-73EC-08A2-A05B536D4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2FDE9-EF61-7C1D-8EE3-F751682A9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B8E4-AD7F-D546-AC1D-9A29D600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7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4E16-8908-6A3A-8874-C96ABB4FC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6BC54-FF36-3CFA-480D-AA7E48BC2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6A4BD-0212-5EE6-FC8D-5ECBE97B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20F7-82F5-E644-8D91-58855332FC99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67453-2A9C-6196-071D-48715EC75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FC2CD-25EB-E9E8-65FF-808AF4B7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B8E4-AD7F-D546-AC1D-9A29D600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85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75291-87AB-EA17-19F5-5A9C0EE73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1F4F9-C5BD-BEB8-1531-7B30B401E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8504C-A70D-E323-B9F7-475E000EC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20F7-82F5-E644-8D91-58855332FC99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2094C-3DB5-97CB-275F-B7729F444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DD68E-C8A6-9A1B-DE0A-E02A6B6C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B8E4-AD7F-D546-AC1D-9A29D600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62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9827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EC144-C90E-C7F0-C87A-4A78545EF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42FD6-0C9D-77F0-3D1A-7B75FCA75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C8303-759C-C8EC-6118-FCA660AA3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D20F7-82F5-E644-8D91-58855332FC99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B1E1C-2665-762B-CB46-43D2574E8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9111E-DC7D-A351-18C1-940C4FB92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AB8E4-AD7F-D546-AC1D-9A29D600E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29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629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9 • Clustering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960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B3B6"/>
                </a:solidFill>
              </a:rPr>
              <a:t>Module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Clustering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2057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27080"/>
                </a:solidFill>
              </a:rPr>
              <a:t>Finding structure in unlabelled data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492886"/>
            <a:ext cx="4800600" cy="1280160"/>
          </a:xfrm>
          <a:prstGeom prst="roundRect">
            <a:avLst/>
          </a:prstGeom>
          <a:solidFill>
            <a:srgbClr val="E8F8F8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4657478"/>
            <a:ext cx="439826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Clustering groups similar data points together — without a known response label.</a:t>
            </a:r>
            <a:endParaRPr lang="en-US" sz="1700" dirty="0"/>
          </a:p>
        </p:txBody>
      </p:sp>
      <p:pic>
        <p:nvPicPr>
          <p:cNvPr id="10" name="Image 0" descr="/mnt/data/module9_assets/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523737"/>
            <a:ext cx="4663440" cy="321616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0" y="6629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05B07A46-941F-ADAD-965D-C7ABEBBE1163}"/>
              </a:ext>
            </a:extLst>
          </p:cNvPr>
          <p:cNvSpPr/>
          <p:nvPr/>
        </p:nvSpPr>
        <p:spPr>
          <a:xfrm>
            <a:off x="618182" y="3268980"/>
            <a:ext cx="36190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800" dirty="0">
                <a:solidFill>
                  <a:srgbClr val="002060"/>
                </a:solidFill>
              </a:rPr>
              <a:t>Lets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wait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for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another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15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mins</a:t>
            </a:r>
            <a:br>
              <a:rPr lang="en-US" altLang="zh-CN" sz="1800" dirty="0">
                <a:solidFill>
                  <a:srgbClr val="002060"/>
                </a:solidFill>
              </a:rPr>
            </a:br>
            <a:r>
              <a:rPr lang="en-US" altLang="zh-CN" sz="1800" dirty="0">
                <a:solidFill>
                  <a:srgbClr val="002060"/>
                </a:solidFill>
              </a:rPr>
              <a:t>To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allow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more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students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join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us</a:t>
            </a:r>
            <a:br>
              <a:rPr lang="en-US" altLang="zh-CN" sz="1800" dirty="0">
                <a:solidFill>
                  <a:srgbClr val="002060"/>
                </a:solidFill>
              </a:rPr>
            </a:br>
            <a:r>
              <a:rPr lang="en-US" altLang="zh-CN" sz="1800" dirty="0">
                <a:solidFill>
                  <a:srgbClr val="002060"/>
                </a:solidFill>
              </a:rPr>
              <a:t>Q&amp;A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session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now!</a:t>
            </a:r>
            <a:endParaRPr lang="en-US" sz="1800" dirty="0">
              <a:solidFill>
                <a:srgbClr val="002060"/>
              </a:solidFill>
            </a:endParaRPr>
          </a:p>
        </p:txBody>
      </p:sp>
      <p:pic>
        <p:nvPicPr>
          <p:cNvPr id="14" name="Picture 13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A91DD09D-21DF-B33A-F146-15B92BFB37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629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9 • Clustering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clustering matters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758952"/>
            <a:ext cx="93268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Exploratory modelling when we do not yet know the groups</a:t>
            </a:r>
            <a:endParaRPr lang="en-US" sz="1100" dirty="0"/>
          </a:p>
        </p:txBody>
      </p:sp>
      <p:pic>
        <p:nvPicPr>
          <p:cNvPr id="7" name="Image 0" descr="/mnt/data/module9_assets/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5897880" cy="23591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03720" y="1234440"/>
            <a:ext cx="4526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903720" y="1234440"/>
            <a:ext cx="73152" cy="1874520"/>
          </a:xfrm>
          <a:prstGeom prst="rect">
            <a:avLst/>
          </a:prstGeom>
          <a:solidFill>
            <a:srgbClr val="12B3B6"/>
          </a:solidFill>
          <a:ln w="12700">
            <a:solidFill>
              <a:srgbClr val="12B3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132320" y="1380744"/>
            <a:ext cx="41148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Core idea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0" y="1709928"/>
            <a:ext cx="4114800" cy="1280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50" dirty="0">
                <a:solidFill>
                  <a:srgbClr val="27313D"/>
                </a:solidFill>
              </a:rPr>
              <a:t>Data in the same cluster should be similar.</a:t>
            </a:r>
            <a:endParaRPr lang="en-US" sz="1050" dirty="0"/>
          </a:p>
          <a:p>
            <a:r>
              <a:rPr lang="en-US" sz="1050" dirty="0">
                <a:solidFill>
                  <a:srgbClr val="27313D"/>
                </a:solidFill>
              </a:rPr>
              <a:t>Data in different clusters should be dissimilar.</a:t>
            </a:r>
            <a:endParaRPr lang="en-US" sz="1050" dirty="0"/>
          </a:p>
          <a:p>
            <a:r>
              <a:rPr lang="en-US" sz="1050" dirty="0">
                <a:solidFill>
                  <a:srgbClr val="27313D"/>
                </a:solidFill>
              </a:rPr>
              <a:t>The algorithm proposes groups; humans still interpret them.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03720" y="3383280"/>
            <a:ext cx="45262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903720" y="3383280"/>
            <a:ext cx="73152" cy="1920240"/>
          </a:xfrm>
          <a:prstGeom prst="rect">
            <a:avLst/>
          </a:prstGeom>
          <a:solidFill>
            <a:srgbClr val="2B77E5"/>
          </a:solidFill>
          <a:ln w="12700">
            <a:solidFill>
              <a:srgbClr val="2B77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0" y="3529584"/>
            <a:ext cx="41148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Common use cases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32320" y="3858768"/>
            <a:ext cx="4114800" cy="1325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50" dirty="0">
                <a:solidFill>
                  <a:srgbClr val="27313D"/>
                </a:solidFill>
              </a:rPr>
              <a:t>Customer segmentation</a:t>
            </a:r>
            <a:endParaRPr lang="en-US" sz="1050" dirty="0"/>
          </a:p>
          <a:p>
            <a:r>
              <a:rPr lang="en-US" sz="1050" dirty="0">
                <a:solidFill>
                  <a:srgbClr val="27313D"/>
                </a:solidFill>
              </a:rPr>
              <a:t>Product grouping</a:t>
            </a:r>
            <a:endParaRPr lang="en-US" sz="1050" dirty="0"/>
          </a:p>
          <a:p>
            <a:r>
              <a:rPr lang="en-US" sz="1050" dirty="0">
                <a:solidFill>
                  <a:srgbClr val="27313D"/>
                </a:solidFill>
              </a:rPr>
              <a:t>Gene expression pattern discovery</a:t>
            </a:r>
            <a:endParaRPr lang="en-US" sz="1050" dirty="0"/>
          </a:p>
          <a:p>
            <a:r>
              <a:rPr lang="en-US" sz="1050" dirty="0">
                <a:solidFill>
                  <a:srgbClr val="27313D"/>
                </a:solidFill>
              </a:rPr>
              <a:t>Document or image organisation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051560" y="4892040"/>
            <a:ext cx="5212080" cy="731520"/>
          </a:xfrm>
          <a:prstGeom prst="roundRect">
            <a:avLst/>
          </a:prstGeom>
          <a:solidFill>
            <a:srgbClr val="F0EC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252728" y="5056632"/>
            <a:ext cx="480974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Clustering is not just prediction; it is discovery.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1155680" y="6629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pic>
        <p:nvPicPr>
          <p:cNvPr id="19" name="Picture 18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4B18447C-D7A8-BCCF-815C-3C597D2A7E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629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9 • Clustering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 and Assessment 3 connection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73152" cy="1920240"/>
          </a:xfrm>
          <a:prstGeom prst="rect">
            <a:avLst/>
          </a:prstGeom>
          <a:solidFill>
            <a:srgbClr val="3AA76D"/>
          </a:solidFill>
          <a:ln w="12700">
            <a:solidFill>
              <a:srgbClr val="3AA76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380744"/>
            <a:ext cx="4754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Subject learning outcomes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709928"/>
            <a:ext cx="4754880" cy="1325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27313D"/>
                </a:solidFill>
              </a:rPr>
              <a:t>Apply data science principles to data cleaning, manipulation and visualisation.</a:t>
            </a:r>
            <a:endParaRPr lang="en-US" sz="1200" dirty="0"/>
          </a:p>
          <a:p>
            <a:r>
              <a:rPr lang="en-US" sz="1200" dirty="0">
                <a:solidFill>
                  <a:srgbClr val="27313D"/>
                </a:solidFill>
              </a:rPr>
              <a:t>Design analytical models based on given problems.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23444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1234440"/>
            <a:ext cx="73152" cy="1920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380744"/>
            <a:ext cx="4754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Assessment 3 progression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709928"/>
            <a:ext cx="4754880" cy="1325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27313D"/>
                </a:solidFill>
              </a:rPr>
              <a:t>Assessment 3 is due at the end of Module 12.</a:t>
            </a:r>
            <a:endParaRPr lang="en-US" sz="1200" dirty="0"/>
          </a:p>
          <a:p>
            <a:r>
              <a:rPr lang="en-US" sz="1200" dirty="0">
                <a:solidFill>
                  <a:srgbClr val="27313D"/>
                </a:solidFill>
              </a:rPr>
              <a:t>You will generate clusters based on a given dataset.</a:t>
            </a:r>
            <a:endParaRPr lang="en-US" sz="1200" dirty="0"/>
          </a:p>
          <a:p>
            <a:r>
              <a:rPr lang="en-US" sz="1200" dirty="0">
                <a:solidFill>
                  <a:srgbClr val="27313D"/>
                </a:solidFill>
              </a:rPr>
              <a:t>You need to explain what the clusters mean, not only run code.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65960" y="3749040"/>
            <a:ext cx="8321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65960" y="3749040"/>
            <a:ext cx="73152" cy="1691640"/>
          </a:xfrm>
          <a:prstGeom prst="rect">
            <a:avLst/>
          </a:prstGeom>
          <a:solidFill>
            <a:srgbClr val="2B77E5"/>
          </a:solidFill>
          <a:ln w="12700">
            <a:solidFill>
              <a:srgbClr val="2B77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94560" y="3895344"/>
            <a:ext cx="79095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This module prepares you 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94560" y="4224528"/>
            <a:ext cx="7909560" cy="1097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27313D"/>
                </a:solidFill>
              </a:rPr>
              <a:t>understand the clustering problem;</a:t>
            </a:r>
            <a:endParaRPr lang="en-US" sz="1200" dirty="0"/>
          </a:p>
          <a:p>
            <a:r>
              <a:rPr lang="en-US" sz="1200" dirty="0">
                <a:solidFill>
                  <a:srgbClr val="27313D"/>
                </a:solidFill>
              </a:rPr>
              <a:t>use K-means as the required algorithm;</a:t>
            </a:r>
            <a:endParaRPr lang="en-US" sz="1200" dirty="0"/>
          </a:p>
          <a:p>
            <a:r>
              <a:rPr lang="en-US" sz="1200" dirty="0">
                <a:solidFill>
                  <a:srgbClr val="27313D"/>
                </a:solidFill>
              </a:rPr>
              <a:t>choose and justify a suitable K value;</a:t>
            </a:r>
            <a:endParaRPr lang="en-US" sz="1200" dirty="0"/>
          </a:p>
          <a:p>
            <a:r>
              <a:rPr lang="en-US" sz="1200" dirty="0">
                <a:solidFill>
                  <a:srgbClr val="27313D"/>
                </a:solidFill>
              </a:rPr>
              <a:t>interpret and visualise the resulting clusters.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0" y="6629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pic>
        <p:nvPicPr>
          <p:cNvPr id="19" name="Picture 18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821A387C-3B99-EB91-003E-A9FEAC10A5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486" y="23965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629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9 • Clustering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Cluster analysis is a workflow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758952"/>
            <a:ext cx="93268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 and Wunsch describe clustering as more than simply applying an algorithm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73152" cy="2148840"/>
          </a:xfrm>
          <a:prstGeom prst="rect">
            <a:avLst/>
          </a:prstGeom>
          <a:solidFill>
            <a:srgbClr val="12B3B6"/>
          </a:solidFill>
          <a:ln w="12700">
            <a:solidFill>
              <a:srgbClr val="12B3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655064"/>
            <a:ext cx="17373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1. Feature selection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or extraction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1984248"/>
            <a:ext cx="1737360" cy="1554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7313D"/>
                </a:solidFill>
              </a:rPr>
              <a:t>Keep variables that reflect meaningful similarity.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3337560" y="150876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37560" y="1508760"/>
            <a:ext cx="73152" cy="2148840"/>
          </a:xfrm>
          <a:prstGeom prst="rect">
            <a:avLst/>
          </a:prstGeom>
          <a:solidFill>
            <a:srgbClr val="2B77E5"/>
          </a:solidFill>
          <a:ln w="12700">
            <a:solidFill>
              <a:srgbClr val="2B77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6160" y="1655064"/>
            <a:ext cx="17373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2. Choose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algorithm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66160" y="1984248"/>
            <a:ext cx="1737360" cy="1554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7313D"/>
                </a:solidFill>
              </a:rPr>
              <a:t>Select K-means, hierarchical, DBSCAN or another method.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5989320" y="150876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89320" y="1508760"/>
            <a:ext cx="73152" cy="21488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655064"/>
            <a:ext cx="17373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3. Validate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clusters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17920" y="1984248"/>
            <a:ext cx="1737360" cy="1554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7313D"/>
                </a:solidFill>
              </a:rPr>
              <a:t>Check cohesion, separation, stability and practical sense.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8641080" y="150876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41080" y="1508760"/>
            <a:ext cx="73152" cy="2148840"/>
          </a:xfrm>
          <a:prstGeom prst="rect">
            <a:avLst/>
          </a:prstGeom>
          <a:solidFill>
            <a:srgbClr val="3AA76D"/>
          </a:solidFill>
          <a:ln w="12700">
            <a:solidFill>
              <a:srgbClr val="3AA76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869680" y="1655064"/>
            <a:ext cx="17373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4. Interpret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results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869680" y="1984248"/>
            <a:ext cx="1737360" cy="1554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7313D"/>
                </a:solidFill>
              </a:rPr>
              <a:t>Translate groups into business or scientific insight.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1280160" y="4251960"/>
            <a:ext cx="9601200" cy="914400"/>
          </a:xfrm>
          <a:prstGeom prst="roundRect">
            <a:avLst/>
          </a:prstGeom>
          <a:solidFill>
            <a:srgbClr val="FFF4E2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81328" y="4416552"/>
            <a:ext cx="919886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Weak feature choices can produce weak clusters, even when the algorithm runs correctly.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155680" y="6629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pic>
        <p:nvPicPr>
          <p:cNvPr id="26" name="Picture 25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ECC3B10A-E87B-3E1C-4B7F-7394F07C0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629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9 • Clustering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Clustering vs classification and regression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1920240" cy="594360"/>
          </a:xfrm>
          <a:prstGeom prst="rect">
            <a:avLst/>
          </a:prstGeom>
          <a:solidFill>
            <a:srgbClr val="102033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137160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Task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06040" y="1234440"/>
            <a:ext cx="2423160" cy="594360"/>
          </a:xfrm>
          <a:prstGeom prst="rect">
            <a:avLst/>
          </a:prstGeom>
          <a:solidFill>
            <a:srgbClr val="102033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79192" y="1371600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Target variable?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0" y="1234440"/>
            <a:ext cx="3749040" cy="594360"/>
          </a:xfrm>
          <a:prstGeom prst="rect">
            <a:avLst/>
          </a:prstGeom>
          <a:solidFill>
            <a:srgbClr val="102033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02352" y="137160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Typical question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778240" y="1234440"/>
            <a:ext cx="2834640" cy="594360"/>
          </a:xfrm>
          <a:prstGeom prst="rect">
            <a:avLst/>
          </a:prstGeom>
          <a:solidFill>
            <a:srgbClr val="102033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851392" y="137160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Example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1828800"/>
            <a:ext cx="1920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8952" y="19659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7313D"/>
                </a:solidFill>
              </a:rPr>
              <a:t>Classification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06040" y="1828800"/>
            <a:ext cx="2423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79192" y="1965960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7313D"/>
                </a:solidFill>
              </a:rPr>
              <a:t>Yes — categorical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0" y="1828800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02352" y="196596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7313D"/>
                </a:solidFill>
              </a:rPr>
              <a:t>Which class does this record belong to?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78240" y="1828800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851392" y="196596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7313D"/>
                </a:solidFill>
              </a:rPr>
              <a:t>Income &lt;=50K or &gt;50K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2423160"/>
            <a:ext cx="1920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8952" y="256032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7313D"/>
                </a:solidFill>
              </a:rPr>
              <a:t>Regression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06040" y="2423160"/>
            <a:ext cx="2423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79192" y="2560320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7313D"/>
                </a:solidFill>
              </a:rPr>
              <a:t>Yes — numeric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0" y="2423160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02352" y="256032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7313D"/>
                </a:solidFill>
              </a:rPr>
              <a:t>What value should we predict?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778240" y="2423160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851392" y="256032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7313D"/>
                </a:solidFill>
              </a:rPr>
              <a:t>House price / sales / demand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3017520"/>
            <a:ext cx="1920240" cy="594360"/>
          </a:xfrm>
          <a:prstGeom prst="rect">
            <a:avLst/>
          </a:prstGeom>
          <a:solidFill>
            <a:srgbClr val="E8F8F8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8952" y="315468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7313D"/>
                </a:solidFill>
              </a:rPr>
              <a:t>Clustering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606040" y="3017520"/>
            <a:ext cx="2423160" cy="594360"/>
          </a:xfrm>
          <a:prstGeom prst="rect">
            <a:avLst/>
          </a:prstGeom>
          <a:solidFill>
            <a:srgbClr val="E8F8F8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679192" y="3154680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7313D"/>
                </a:solidFill>
              </a:rPr>
              <a:t>No response label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0" y="3017520"/>
            <a:ext cx="3749040" cy="594360"/>
          </a:xfrm>
          <a:prstGeom prst="rect">
            <a:avLst/>
          </a:prstGeom>
          <a:solidFill>
            <a:srgbClr val="E8F8F8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02352" y="315468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7313D"/>
                </a:solidFill>
              </a:rPr>
              <a:t>What groups naturally exist?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778240" y="3017520"/>
            <a:ext cx="2834640" cy="594360"/>
          </a:xfrm>
          <a:prstGeom prst="rect">
            <a:avLst/>
          </a:prstGeom>
          <a:solidFill>
            <a:srgbClr val="E8F8F8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851392" y="315468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7313D"/>
                </a:solidFill>
              </a:rPr>
              <a:t>Customer segments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05840" y="4160520"/>
            <a:ext cx="10058400" cy="105156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07008" y="4325112"/>
            <a:ext cx="965606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Clustering is unsupervised: we use patterns in the input variables to form groups.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11155680" y="6629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pic>
        <p:nvPicPr>
          <p:cNvPr id="41" name="Picture 40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75009B0C-60F8-569D-1258-A9E82E796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629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9 • Clustering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Applications: where clustering creates value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73152" cy="1417320"/>
          </a:xfrm>
          <a:prstGeom prst="rect">
            <a:avLst/>
          </a:prstGeom>
          <a:solidFill>
            <a:srgbClr val="2B77E5"/>
          </a:solidFill>
          <a:ln w="12700">
            <a:solidFill>
              <a:srgbClr val="2B77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1472184"/>
            <a:ext cx="46634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Retail and marketing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801368"/>
            <a:ext cx="466344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13D"/>
                </a:solidFill>
              </a:rPr>
              <a:t>Segment customers by purchasing habits, loyalty, price sensitivity and channel behaviour.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3258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EAF7E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325880"/>
            <a:ext cx="73152" cy="1417320"/>
          </a:xfrm>
          <a:prstGeom prst="rect">
            <a:avLst/>
          </a:prstGeom>
          <a:solidFill>
            <a:srgbClr val="3AA76D"/>
          </a:solidFill>
          <a:ln w="12700">
            <a:solidFill>
              <a:srgbClr val="3AA76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29400" y="1472184"/>
            <a:ext cx="46634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eCommerce products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1801368"/>
            <a:ext cx="466344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13D"/>
                </a:solidFill>
              </a:rPr>
              <a:t>Group similar products to improve navigation, recommendations and inventory strategy.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3832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0EC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3383280"/>
            <a:ext cx="73152" cy="141732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3529584"/>
            <a:ext cx="46634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Science and health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3858768"/>
            <a:ext cx="466344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13D"/>
                </a:solidFill>
              </a:rPr>
              <a:t>Find clusters of genes, patients or samples with similar biological or clinical profiles.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3832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4E2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3383280"/>
            <a:ext cx="73152" cy="1417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29400" y="3529584"/>
            <a:ext cx="46634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Operations and risk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3858768"/>
            <a:ext cx="466344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13D"/>
                </a:solidFill>
              </a:rPr>
              <a:t>Detect unusual behaviour by comparing observations against normal groups.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20240" y="5532120"/>
            <a:ext cx="8321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121408" y="5696712"/>
            <a:ext cx="791870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The output is only useful if the cluster profile can support a decision.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155680" y="6629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pic>
        <p:nvPicPr>
          <p:cNvPr id="25" name="Picture 24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2B279E51-EEA6-211A-6073-920074FFA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629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9 • Clustering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Types of clustering algorithms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758952"/>
            <a:ext cx="93268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methods define “similar” and “group” in different ways</a:t>
            </a:r>
            <a:endParaRPr lang="en-US" sz="1100" dirty="0"/>
          </a:p>
        </p:txBody>
      </p:sp>
      <p:pic>
        <p:nvPicPr>
          <p:cNvPr id="7" name="Image 0" descr="/mnt/data/module9_assets/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23060"/>
            <a:ext cx="6172200" cy="2057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040880" y="105156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040880" y="1051560"/>
            <a:ext cx="73152" cy="1234440"/>
          </a:xfrm>
          <a:prstGeom prst="rect">
            <a:avLst/>
          </a:prstGeom>
          <a:solidFill>
            <a:srgbClr val="2B77E5"/>
          </a:solidFill>
          <a:ln w="12700">
            <a:solidFill>
              <a:srgbClr val="2B77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269480" y="1197864"/>
            <a:ext cx="39776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K-means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269480" y="1527048"/>
            <a:ext cx="39776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20" dirty="0">
                <a:solidFill>
                  <a:srgbClr val="27313D"/>
                </a:solidFill>
              </a:rPr>
              <a:t>Pre-set number of clusters K.</a:t>
            </a:r>
            <a:endParaRPr lang="en-US" sz="1020" dirty="0"/>
          </a:p>
          <a:p>
            <a:r>
              <a:rPr lang="en-US" sz="1020" dirty="0">
                <a:solidFill>
                  <a:srgbClr val="27313D"/>
                </a:solidFill>
              </a:rPr>
              <a:t>Works well for compact, roughly spherical clusters.</a:t>
            </a:r>
            <a:endParaRPr lang="en-US" sz="1020" dirty="0"/>
          </a:p>
          <a:p>
            <a:r>
              <a:rPr lang="en-US" sz="1020" dirty="0">
                <a:solidFill>
                  <a:srgbClr val="27313D"/>
                </a:solidFill>
              </a:rPr>
              <a:t>Sensitive to scaling and initialisation.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7040880" y="2542032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040880" y="2542032"/>
            <a:ext cx="73152" cy="1234440"/>
          </a:xfrm>
          <a:prstGeom prst="rect">
            <a:avLst/>
          </a:prstGeom>
          <a:solidFill>
            <a:srgbClr val="3AA76D"/>
          </a:solidFill>
          <a:ln w="12700">
            <a:solidFill>
              <a:srgbClr val="3AA76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269480" y="2688336"/>
            <a:ext cx="39776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Hierarchical clustering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269480" y="3017520"/>
            <a:ext cx="39776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20" dirty="0">
                <a:solidFill>
                  <a:srgbClr val="27313D"/>
                </a:solidFill>
              </a:rPr>
              <a:t>Builds nested clusters.</a:t>
            </a:r>
            <a:endParaRPr lang="en-US" sz="1020" dirty="0"/>
          </a:p>
          <a:p>
            <a:r>
              <a:rPr lang="en-US" sz="1020" dirty="0">
                <a:solidFill>
                  <a:srgbClr val="27313D"/>
                </a:solidFill>
              </a:rPr>
              <a:t>Can be visualised as a dendrogram.</a:t>
            </a:r>
            <a:endParaRPr lang="en-US" sz="1020" dirty="0"/>
          </a:p>
          <a:p>
            <a:r>
              <a:rPr lang="en-US" sz="1020" dirty="0">
                <a:solidFill>
                  <a:srgbClr val="27313D"/>
                </a:solidFill>
              </a:rPr>
              <a:t>Useful for exploring relationships.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7040880" y="4041648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040880" y="4041648"/>
            <a:ext cx="73152" cy="1234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269480" y="4187952"/>
            <a:ext cx="39776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DBSCAN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269480" y="4517136"/>
            <a:ext cx="39776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20" dirty="0">
                <a:solidFill>
                  <a:srgbClr val="27313D"/>
                </a:solidFill>
              </a:rPr>
              <a:t>Finds dense regions and noise.</a:t>
            </a:r>
            <a:endParaRPr lang="en-US" sz="1020" dirty="0"/>
          </a:p>
          <a:p>
            <a:r>
              <a:rPr lang="en-US" sz="1020" dirty="0">
                <a:solidFill>
                  <a:srgbClr val="27313D"/>
                </a:solidFill>
              </a:rPr>
              <a:t>Does not require K.</a:t>
            </a:r>
            <a:endParaRPr lang="en-US" sz="1020" dirty="0"/>
          </a:p>
          <a:p>
            <a:r>
              <a:rPr lang="en-US" sz="1020" dirty="0">
                <a:solidFill>
                  <a:srgbClr val="27313D"/>
                </a:solidFill>
              </a:rPr>
              <a:t>Useful for irregular cluster shapes.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11155680" y="6629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pic>
        <p:nvPicPr>
          <p:cNvPr id="21" name="Picture 20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6D70C499-A15D-23BA-BA27-A27526ADB6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629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9 • Clustering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K-means clustering: the intuition</a:t>
            </a:r>
            <a:endParaRPr lang="en-US" sz="2600" dirty="0"/>
          </a:p>
        </p:txBody>
      </p:sp>
      <p:pic>
        <p:nvPicPr>
          <p:cNvPr id="6" name="Image 0" descr="/mnt/data/module9_assets/kmeans_ste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05052"/>
            <a:ext cx="6675120" cy="23733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143000"/>
            <a:ext cx="37490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543800" y="1143000"/>
            <a:ext cx="73152" cy="2743200"/>
          </a:xfrm>
          <a:prstGeom prst="rect">
            <a:avLst/>
          </a:prstGeom>
          <a:solidFill>
            <a:srgbClr val="2B77E5"/>
          </a:solidFill>
          <a:ln w="12700">
            <a:solidFill>
              <a:srgbClr val="2B77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0" y="1289304"/>
            <a:ext cx="33375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What K-means tries to do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0" y="1618488"/>
            <a:ext cx="3337560" cy="2148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140" dirty="0">
                <a:solidFill>
                  <a:srgbClr val="27313D"/>
                </a:solidFill>
              </a:rPr>
              <a:t>Choose K cluster centres.</a:t>
            </a:r>
            <a:endParaRPr lang="en-US" sz="1140" dirty="0"/>
          </a:p>
          <a:p>
            <a:r>
              <a:rPr lang="en-US" sz="1140" dirty="0">
                <a:solidFill>
                  <a:srgbClr val="27313D"/>
                </a:solidFill>
              </a:rPr>
              <a:t>Assign each point to the nearest centre.</a:t>
            </a:r>
            <a:endParaRPr lang="en-US" sz="1140" dirty="0"/>
          </a:p>
          <a:p>
            <a:r>
              <a:rPr lang="en-US" sz="1140" dirty="0">
                <a:solidFill>
                  <a:srgbClr val="27313D"/>
                </a:solidFill>
              </a:rPr>
              <a:t>Move each centre to the average position of its assigned points.</a:t>
            </a:r>
            <a:endParaRPr lang="en-US" sz="1140" dirty="0"/>
          </a:p>
          <a:p>
            <a:r>
              <a:rPr lang="en-US" sz="1140" dirty="0">
                <a:solidFill>
                  <a:srgbClr val="27313D"/>
                </a:solidFill>
              </a:rPr>
              <a:t>Repeat until assignments stop changing or improvement becomes small.</a:t>
            </a:r>
            <a:endParaRPr lang="en-US" sz="1140" dirty="0"/>
          </a:p>
        </p:txBody>
      </p:sp>
      <p:sp>
        <p:nvSpPr>
          <p:cNvPr id="11" name="Shape 8"/>
          <p:cNvSpPr/>
          <p:nvPr/>
        </p:nvSpPr>
        <p:spPr>
          <a:xfrm>
            <a:off x="960120" y="4434840"/>
            <a:ext cx="3840480" cy="822960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97280" y="454456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minimise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within-cluster distance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166360" y="429768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166360" y="4297680"/>
            <a:ext cx="73152" cy="1097280"/>
          </a:xfrm>
          <a:prstGeom prst="rect">
            <a:avLst/>
          </a:prstGeom>
          <a:solidFill>
            <a:srgbClr val="12B3B6"/>
          </a:solidFill>
          <a:ln w="12700">
            <a:solidFill>
              <a:srgbClr val="12B3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94960" y="4443984"/>
            <a:ext cx="4892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033"/>
                </a:solidFill>
              </a:rPr>
              <a:t>Main assumption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394960" y="4773168"/>
            <a:ext cx="489204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13D"/>
                </a:solidFill>
              </a:rPr>
              <a:t>Points in the same cluster should be close to the same centroid.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155680" y="6629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pic>
        <p:nvPicPr>
          <p:cNvPr id="18" name="Picture 17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FDE32D35-4409-0F24-DA5F-B5A98D737D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629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9 • Clustering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K-means algorithm: step-by-step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73152" cy="1298448"/>
          </a:xfrm>
          <a:prstGeom prst="rect">
            <a:avLst/>
          </a:prstGeom>
          <a:solidFill>
            <a:srgbClr val="2B77E5"/>
          </a:solidFill>
          <a:ln w="12700">
            <a:solidFill>
              <a:srgbClr val="2B77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380744"/>
            <a:ext cx="28346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Set 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709928"/>
            <a:ext cx="283464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7313D"/>
                </a:solidFill>
              </a:rPr>
              <a:t>Decide how many clusters you want to create.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4389120" y="123444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1234440"/>
            <a:ext cx="73152" cy="1298448"/>
          </a:xfrm>
          <a:prstGeom prst="rect">
            <a:avLst/>
          </a:prstGeom>
          <a:solidFill>
            <a:srgbClr val="12B3B6"/>
          </a:solidFill>
          <a:ln w="12700">
            <a:solidFill>
              <a:srgbClr val="12B3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380744"/>
            <a:ext cx="28346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Initialise centroids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1709928"/>
            <a:ext cx="283464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7313D"/>
                </a:solidFill>
              </a:rPr>
              <a:t>Start with K initial centre points.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8092440" y="123444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92440" y="1234440"/>
            <a:ext cx="73152" cy="12984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21040" y="1380744"/>
            <a:ext cx="28346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Assign points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1709928"/>
            <a:ext cx="283464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7313D"/>
                </a:solidFill>
              </a:rPr>
              <a:t>Each point goes to its nearest centroid.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85800" y="324612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" y="3246120"/>
            <a:ext cx="73152" cy="1298448"/>
          </a:xfrm>
          <a:prstGeom prst="rect">
            <a:avLst/>
          </a:prstGeom>
          <a:solidFill>
            <a:srgbClr val="3AA76D"/>
          </a:solidFill>
          <a:ln w="12700">
            <a:solidFill>
              <a:srgbClr val="3AA76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3392424"/>
            <a:ext cx="28346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Update centroids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3721608"/>
            <a:ext cx="283464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7313D"/>
                </a:solidFill>
              </a:rPr>
              <a:t>Move each centroid to the average of assigned points.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4389120" y="324612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89120" y="3246120"/>
            <a:ext cx="73152" cy="1298448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17720" y="3392424"/>
            <a:ext cx="28346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Repeat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17720" y="3721608"/>
            <a:ext cx="283464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7313D"/>
                </a:solidFill>
              </a:rPr>
              <a:t>Continue until cluster assignments stabilise.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2011680" y="5486400"/>
            <a:ext cx="8138160" cy="64008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212848" y="5650992"/>
            <a:ext cx="773582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In PySpark, we usually provide a feature vector and set K using the KMeans estimator.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155680" y="6629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  <p:pic>
        <p:nvPicPr>
          <p:cNvPr id="29" name="Picture 28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682AFF79-3995-7D20-C13D-7F1A1F0A2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629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9 • Clustering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Choosing the number of clusters: K</a:t>
            </a:r>
            <a:endParaRPr lang="en-US" sz="2600" dirty="0"/>
          </a:p>
        </p:txBody>
      </p:sp>
      <p:pic>
        <p:nvPicPr>
          <p:cNvPr id="6" name="Image 0" descr="/mnt/data/module9_assets/elb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67130"/>
            <a:ext cx="5074920" cy="32893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143000"/>
            <a:ext cx="4983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263640" y="1143000"/>
            <a:ext cx="73152" cy="1737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92240" y="1289304"/>
            <a:ext cx="45720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Elbow method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618488"/>
            <a:ext cx="4572000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120" dirty="0">
                <a:solidFill>
                  <a:srgbClr val="27313D"/>
                </a:solidFill>
              </a:rPr>
              <a:t>Try several K values.</a:t>
            </a:r>
            <a:endParaRPr lang="en-US" sz="1120" dirty="0"/>
          </a:p>
          <a:p>
            <a:r>
              <a:rPr lang="en-US" sz="1120" dirty="0">
                <a:solidFill>
                  <a:srgbClr val="27313D"/>
                </a:solidFill>
              </a:rPr>
              <a:t>Plot within-cluster variation.</a:t>
            </a:r>
            <a:endParaRPr lang="en-US" sz="1120" dirty="0"/>
          </a:p>
          <a:p>
            <a:r>
              <a:rPr lang="en-US" sz="1120" dirty="0">
                <a:solidFill>
                  <a:srgbClr val="27313D"/>
                </a:solidFill>
              </a:rPr>
              <a:t>Look for the point where improvement slows down.</a:t>
            </a:r>
            <a:endParaRPr lang="en-US" sz="1120" dirty="0"/>
          </a:p>
          <a:p>
            <a:r>
              <a:rPr lang="en-US" sz="1120" dirty="0">
                <a:solidFill>
                  <a:srgbClr val="27313D"/>
                </a:solidFill>
              </a:rPr>
              <a:t>The elbow is a guide, not a rule.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263640" y="3337560"/>
            <a:ext cx="4983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63640" y="3337560"/>
            <a:ext cx="73152" cy="1737360"/>
          </a:xfrm>
          <a:prstGeom prst="rect">
            <a:avLst/>
          </a:prstGeom>
          <a:solidFill>
            <a:srgbClr val="12B3B6"/>
          </a:solidFill>
          <a:ln w="12700">
            <a:solidFill>
              <a:srgbClr val="12B3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92240" y="3483864"/>
            <a:ext cx="45720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Human interpretation still matters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3813048"/>
            <a:ext cx="4572000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120" dirty="0">
                <a:solidFill>
                  <a:srgbClr val="27313D"/>
                </a:solidFill>
              </a:rPr>
              <a:t>Can the clusters be explained?</a:t>
            </a:r>
            <a:endParaRPr lang="en-US" sz="1120" dirty="0"/>
          </a:p>
          <a:p>
            <a:r>
              <a:rPr lang="en-US" sz="1120" dirty="0">
                <a:solidFill>
                  <a:srgbClr val="27313D"/>
                </a:solidFill>
              </a:rPr>
              <a:t>Do they support the business or research goal?</a:t>
            </a:r>
            <a:endParaRPr lang="en-US" sz="1120" dirty="0"/>
          </a:p>
          <a:p>
            <a:r>
              <a:rPr lang="en-US" sz="1120" dirty="0">
                <a:solidFill>
                  <a:srgbClr val="27313D"/>
                </a:solidFill>
              </a:rPr>
              <a:t>Are the cluster sizes useful?</a:t>
            </a:r>
            <a:endParaRPr lang="en-US" sz="1120" dirty="0"/>
          </a:p>
          <a:p>
            <a:r>
              <a:rPr lang="en-US" sz="1120" dirty="0">
                <a:solidFill>
                  <a:srgbClr val="27313D"/>
                </a:solidFill>
              </a:rPr>
              <a:t>Would a stakeholder act on this segmentation?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914400" y="5166360"/>
            <a:ext cx="102412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115568" y="5330952"/>
            <a:ext cx="98389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The “best” K is often a balance between statistical fit and practical interpretability.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1155680" y="6629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pic>
        <p:nvPicPr>
          <p:cNvPr id="18" name="Picture 17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B45E41DA-85FA-70C8-1DF4-5E093D01B7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629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9 • Clustering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scaling and feature selection matter</a:t>
            </a:r>
            <a:endParaRPr lang="en-US" sz="2600" dirty="0"/>
          </a:p>
        </p:txBody>
      </p:sp>
      <p:pic>
        <p:nvPicPr>
          <p:cNvPr id="6" name="Image 0" descr="/mnt/data/module9_assets/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548640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0" y="1097280"/>
            <a:ext cx="4526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583680" y="1097280"/>
            <a:ext cx="73152" cy="1691640"/>
          </a:xfrm>
          <a:prstGeom prst="rect">
            <a:avLst/>
          </a:prstGeom>
          <a:solidFill>
            <a:srgbClr val="2B77E5"/>
          </a:solidFill>
          <a:ln w="12700">
            <a:solidFill>
              <a:srgbClr val="2B77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12280" y="1243584"/>
            <a:ext cx="41148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Why scaling matters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12280" y="1572768"/>
            <a:ext cx="4114800" cy="1097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150" dirty="0">
                <a:solidFill>
                  <a:srgbClr val="27313D"/>
                </a:solidFill>
              </a:rPr>
              <a:t>K-means uses distance.</a:t>
            </a:r>
            <a:endParaRPr lang="en-US" sz="1150" dirty="0"/>
          </a:p>
          <a:p>
            <a:r>
              <a:rPr lang="en-US" sz="1150" dirty="0">
                <a:solidFill>
                  <a:srgbClr val="27313D"/>
                </a:solidFill>
              </a:rPr>
              <a:t>Variables with larger numerical ranges can dominate the clustering.</a:t>
            </a:r>
            <a:endParaRPr lang="en-US" sz="1150" dirty="0"/>
          </a:p>
          <a:p>
            <a:r>
              <a:rPr lang="en-US" sz="1150" dirty="0">
                <a:solidFill>
                  <a:srgbClr val="27313D"/>
                </a:solidFill>
              </a:rPr>
              <a:t>Standardisation makes variables more comparable.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583680" y="3154680"/>
            <a:ext cx="4526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83680" y="3154680"/>
            <a:ext cx="73152" cy="1691640"/>
          </a:xfrm>
          <a:prstGeom prst="rect">
            <a:avLst/>
          </a:prstGeom>
          <a:solidFill>
            <a:srgbClr val="3AA76D"/>
          </a:solidFill>
          <a:ln w="12700">
            <a:solidFill>
              <a:srgbClr val="3AA76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12280" y="3300984"/>
            <a:ext cx="41148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Feature selection question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12280" y="3630168"/>
            <a:ext cx="4114800" cy="1097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150" dirty="0">
                <a:solidFill>
                  <a:srgbClr val="27313D"/>
                </a:solidFill>
              </a:rPr>
              <a:t>Which variables actually represent similarity?</a:t>
            </a:r>
            <a:endParaRPr lang="en-US" sz="1150" dirty="0"/>
          </a:p>
          <a:p>
            <a:r>
              <a:rPr lang="en-US" sz="1150" dirty="0">
                <a:solidFill>
                  <a:srgbClr val="27313D"/>
                </a:solidFill>
              </a:rPr>
              <a:t>Do we include IDs or target labels? Usually no.</a:t>
            </a:r>
            <a:endParaRPr lang="en-US" sz="1150" dirty="0"/>
          </a:p>
          <a:p>
            <a:r>
              <a:rPr lang="en-US" sz="1150" dirty="0">
                <a:solidFill>
                  <a:srgbClr val="27313D"/>
                </a:solidFill>
              </a:rPr>
              <a:t>Can we explain clusters from the selected variables?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1005840" y="5230368"/>
            <a:ext cx="9966960" cy="685800"/>
          </a:xfrm>
          <a:prstGeom prst="roundRect">
            <a:avLst/>
          </a:prstGeom>
          <a:solidFill>
            <a:srgbClr val="FFF4E2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207008" y="5394960"/>
            <a:ext cx="95646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A technically correct K-means model can still be conceptually poor if the wrong features are used.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1155680" y="6629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pic>
        <p:nvPicPr>
          <p:cNvPr id="18" name="Picture 17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E29C7A48-9465-3034-CDD5-C06891B331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629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9 • Clustering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Validating clustering results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758952"/>
            <a:ext cx="93268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true class label, so validation is different from classification accuracy</a:t>
            </a:r>
            <a:endParaRPr lang="en-US" sz="1100" dirty="0"/>
          </a:p>
        </p:txBody>
      </p:sp>
      <p:pic>
        <p:nvPicPr>
          <p:cNvPr id="7" name="Image 0" descr="/mnt/data/module9_assets/silhou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65860"/>
            <a:ext cx="4937760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2200" y="1143000"/>
            <a:ext cx="5074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172200" y="1143000"/>
            <a:ext cx="73152" cy="1645920"/>
          </a:xfrm>
          <a:prstGeom prst="rect">
            <a:avLst/>
          </a:prstGeom>
          <a:solidFill>
            <a:srgbClr val="12B3B6"/>
          </a:solidFill>
          <a:ln w="12700">
            <a:solidFill>
              <a:srgbClr val="12B3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0" y="1289304"/>
            <a:ext cx="46634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Internal validation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0" y="1618488"/>
            <a:ext cx="4663440" cy="10515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150" dirty="0">
                <a:solidFill>
                  <a:srgbClr val="27313D"/>
                </a:solidFill>
              </a:rPr>
              <a:t>Cohesion: points in a cluster are close together.</a:t>
            </a:r>
            <a:endParaRPr lang="en-US" sz="1150" dirty="0"/>
          </a:p>
          <a:p>
            <a:r>
              <a:rPr lang="en-US" sz="1150" dirty="0">
                <a:solidFill>
                  <a:srgbClr val="27313D"/>
                </a:solidFill>
              </a:rPr>
              <a:t>Separation: different clusters are far apart.</a:t>
            </a:r>
            <a:endParaRPr lang="en-US" sz="1150" dirty="0"/>
          </a:p>
          <a:p>
            <a:r>
              <a:rPr lang="en-US" sz="1150" dirty="0">
                <a:solidFill>
                  <a:srgbClr val="27313D"/>
                </a:solidFill>
              </a:rPr>
              <a:t>Silhouette score combines both ideas.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324612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172200" y="3246120"/>
            <a:ext cx="73152" cy="182880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0" y="3392424"/>
            <a:ext cx="46634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Practical validation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0" y="3721608"/>
            <a:ext cx="4663440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120" dirty="0">
                <a:solidFill>
                  <a:srgbClr val="27313D"/>
                </a:solidFill>
              </a:rPr>
              <a:t>Do cluster profiles make sense?</a:t>
            </a:r>
            <a:endParaRPr lang="en-US" sz="1120" dirty="0"/>
          </a:p>
          <a:p>
            <a:r>
              <a:rPr lang="en-US" sz="1120" dirty="0">
                <a:solidFill>
                  <a:srgbClr val="27313D"/>
                </a:solidFill>
              </a:rPr>
              <a:t>Are clusters stable across runs or samples?</a:t>
            </a:r>
            <a:endParaRPr lang="en-US" sz="1120" dirty="0"/>
          </a:p>
          <a:p>
            <a:r>
              <a:rPr lang="en-US" sz="1120" dirty="0">
                <a:solidFill>
                  <a:srgbClr val="27313D"/>
                </a:solidFill>
              </a:rPr>
              <a:t>Does the result support action or interpretation?</a:t>
            </a:r>
            <a:endParaRPr lang="en-US" sz="1120" dirty="0"/>
          </a:p>
          <a:p>
            <a:r>
              <a:rPr lang="en-US" sz="1120" dirty="0">
                <a:solidFill>
                  <a:srgbClr val="27313D"/>
                </a:solidFill>
              </a:rPr>
              <a:t>Can stakeholders understand the cluster names?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11155680" y="6629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pic>
        <p:nvPicPr>
          <p:cNvPr id="17" name="Picture 16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407483EC-D950-D3E1-D723-56D6FE4C8D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629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9 • Clustering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Interpreting clusters: from labels to insight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507492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700" dirty="0">
                <a:solidFill>
                  <a:srgbClr val="27313D"/>
                </a:solidFill>
              </a:rPr>
              <a:t>Do not stop at “Cluster 0, Cluster 1, Cluster 2”.</a:t>
            </a:r>
            <a:endParaRPr lang="en-US" sz="1700" dirty="0"/>
          </a:p>
          <a:p>
            <a:r>
              <a:rPr lang="en-US" sz="1700" dirty="0">
                <a:solidFill>
                  <a:srgbClr val="27313D"/>
                </a:solidFill>
              </a:rPr>
              <a:t>Profile each cluster using summary statistics and visualisations.</a:t>
            </a:r>
            <a:endParaRPr lang="en-US" sz="1700" dirty="0"/>
          </a:p>
          <a:p>
            <a:r>
              <a:rPr lang="en-US" sz="1700" dirty="0">
                <a:solidFill>
                  <a:srgbClr val="27313D"/>
                </a:solidFill>
              </a:rPr>
              <a:t>Compare key variables across clusters.</a:t>
            </a:r>
            <a:endParaRPr lang="en-US" sz="1700" dirty="0"/>
          </a:p>
          <a:p>
            <a:r>
              <a:rPr lang="en-US" sz="1700" dirty="0">
                <a:solidFill>
                  <a:srgbClr val="27313D"/>
                </a:solidFill>
              </a:rPr>
              <a:t>Give clusters meaningful names only after inspecting them.</a:t>
            </a:r>
            <a:endParaRPr lang="en-US" sz="1700" dirty="0"/>
          </a:p>
          <a:p>
            <a:r>
              <a:rPr lang="en-US" sz="1700" dirty="0">
                <a:solidFill>
                  <a:srgbClr val="27313D"/>
                </a:solidFill>
              </a:rPr>
              <a:t>Explain what the cluster pattern means for the problem.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0" y="1280160"/>
            <a:ext cx="4709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73152" cy="2011680"/>
          </a:xfrm>
          <a:prstGeom prst="rect">
            <a:avLst/>
          </a:prstGeom>
          <a:solidFill>
            <a:srgbClr val="2B77E5"/>
          </a:solidFill>
          <a:ln w="12700">
            <a:solidFill>
              <a:srgbClr val="2B77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29400" y="1426464"/>
            <a:ext cx="42976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Example: retail customer clustering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1755648"/>
            <a:ext cx="4297680" cy="1417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150" dirty="0">
                <a:solidFill>
                  <a:srgbClr val="27313D"/>
                </a:solidFill>
              </a:rPr>
              <a:t>Cluster A: frequent, high-value buyers</a:t>
            </a:r>
            <a:endParaRPr lang="en-US" sz="1150" dirty="0"/>
          </a:p>
          <a:p>
            <a:r>
              <a:rPr lang="en-US" sz="1150" dirty="0">
                <a:solidFill>
                  <a:srgbClr val="27313D"/>
                </a:solidFill>
              </a:rPr>
              <a:t>Cluster B: price-sensitive occasional buyers</a:t>
            </a:r>
            <a:endParaRPr lang="en-US" sz="1150" dirty="0"/>
          </a:p>
          <a:p>
            <a:r>
              <a:rPr lang="en-US" sz="1150" dirty="0">
                <a:solidFill>
                  <a:srgbClr val="27313D"/>
                </a:solidFill>
              </a:rPr>
              <a:t>Cluster C: new or low-engagement customers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3703320"/>
            <a:ext cx="4709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3703320"/>
            <a:ext cx="73152" cy="1600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9400" y="3849624"/>
            <a:ext cx="42976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A good interpretation connects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4178808"/>
            <a:ext cx="4297680" cy="1005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140" dirty="0">
                <a:solidFill>
                  <a:srgbClr val="27313D"/>
                </a:solidFill>
              </a:rPr>
              <a:t>cluster behaviour</a:t>
            </a:r>
            <a:endParaRPr lang="en-US" sz="1140" dirty="0"/>
          </a:p>
          <a:p>
            <a:r>
              <a:rPr lang="en-US" sz="1140" dirty="0">
                <a:solidFill>
                  <a:srgbClr val="27313D"/>
                </a:solidFill>
              </a:rPr>
              <a:t>possible causes</a:t>
            </a:r>
            <a:endParaRPr lang="en-US" sz="1140" dirty="0"/>
          </a:p>
          <a:p>
            <a:r>
              <a:rPr lang="en-US" sz="1140" dirty="0">
                <a:solidFill>
                  <a:srgbClr val="27313D"/>
                </a:solidFill>
              </a:rPr>
              <a:t>recommended actions</a:t>
            </a:r>
            <a:endParaRPr lang="en-US" sz="1140" dirty="0"/>
          </a:p>
          <a:p>
            <a:r>
              <a:rPr lang="en-US" sz="1140" dirty="0">
                <a:solidFill>
                  <a:srgbClr val="27313D"/>
                </a:solidFill>
              </a:rPr>
              <a:t>limitations of the grouping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11155680" y="6629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pic>
        <p:nvPicPr>
          <p:cNvPr id="16" name="Picture 15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CFE510E4-FE05-3E09-B788-0F940EEE7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629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9 • Clustering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pitfalls in clustering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07899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078992"/>
            <a:ext cx="73152" cy="987552"/>
          </a:xfrm>
          <a:prstGeom prst="rect">
            <a:avLst/>
          </a:prstGeom>
          <a:solidFill>
            <a:srgbClr val="E45757"/>
          </a:solidFill>
          <a:ln w="12700">
            <a:solidFill>
              <a:srgbClr val="E45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225296"/>
            <a:ext cx="4754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Choosing K blindly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47548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7313D"/>
                </a:solidFill>
              </a:rPr>
              <a:t>Run multiple K values and justify your choice.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263640" y="107899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1078992"/>
            <a:ext cx="73152" cy="9875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225296"/>
            <a:ext cx="4754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Ignoring scaling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1554480"/>
            <a:ext cx="47548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7313D"/>
                </a:solidFill>
              </a:rPr>
              <a:t>Standardise numeric features when distance is important.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85800" y="258775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" y="2587752"/>
            <a:ext cx="73152" cy="987552"/>
          </a:xfrm>
          <a:prstGeom prst="rect">
            <a:avLst/>
          </a:prstGeom>
          <a:solidFill>
            <a:srgbClr val="2B77E5"/>
          </a:solidFill>
          <a:ln w="12700">
            <a:solidFill>
              <a:srgbClr val="2B77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2734056"/>
            <a:ext cx="4754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Using irrelevant variables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3063240"/>
            <a:ext cx="47548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7313D"/>
                </a:solidFill>
              </a:rPr>
              <a:t>Remove IDs, leakage variables and unhelpful attributes.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63640" y="258775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3640" y="2587752"/>
            <a:ext cx="73152" cy="987552"/>
          </a:xfrm>
          <a:prstGeom prst="rect">
            <a:avLst/>
          </a:prstGeom>
          <a:solidFill>
            <a:srgbClr val="12B3B6"/>
          </a:solidFill>
          <a:ln w="12700">
            <a:solidFill>
              <a:srgbClr val="12B3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2734056"/>
            <a:ext cx="4754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Over-interpreting clusters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3063240"/>
            <a:ext cx="47548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7313D"/>
                </a:solidFill>
              </a:rPr>
              <a:t>Clusters are patterns, not guaranteed real-world categories.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85800" y="409651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800" y="4096512"/>
            <a:ext cx="73152" cy="987552"/>
          </a:xfrm>
          <a:prstGeom prst="rect">
            <a:avLst/>
          </a:prstGeom>
          <a:solidFill>
            <a:srgbClr val="3AA76D"/>
          </a:solidFill>
          <a:ln w="12700">
            <a:solidFill>
              <a:srgbClr val="3AA76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4242816"/>
            <a:ext cx="4754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Forgetting context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4400" y="4572000"/>
            <a:ext cx="47548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7313D"/>
                </a:solidFill>
              </a:rPr>
              <a:t>The result must connect back to the business or research problem.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263640" y="409651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63640" y="4096512"/>
            <a:ext cx="73152" cy="987552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0" y="4242816"/>
            <a:ext cx="4754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Weak visuals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92240" y="4572000"/>
            <a:ext cx="47548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7313D"/>
                </a:solidFill>
              </a:rPr>
              <a:t>Use scatter plots, profile charts and cluster summaries.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11155680" y="6629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pic>
        <p:nvPicPr>
          <p:cNvPr id="31" name="Picture 30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4965228C-C504-4B4A-BE7E-10B10C46B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629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9 • Clustering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3 preparation checklist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73152" cy="1874520"/>
          </a:xfrm>
          <a:prstGeom prst="rect">
            <a:avLst/>
          </a:prstGeom>
          <a:solidFill>
            <a:srgbClr val="2B77E5"/>
          </a:solidFill>
          <a:ln w="12700">
            <a:solidFill>
              <a:srgbClr val="2B77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289304"/>
            <a:ext cx="48006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Before modelling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18488"/>
            <a:ext cx="4800600" cy="1280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27313D"/>
                </a:solidFill>
              </a:rPr>
              <a:t>Understand the dataset and variables.</a:t>
            </a:r>
            <a:endParaRPr lang="en-US" sz="1200" dirty="0"/>
          </a:p>
          <a:p>
            <a:r>
              <a:rPr lang="en-US" sz="1200" dirty="0">
                <a:solidFill>
                  <a:srgbClr val="27313D"/>
                </a:solidFill>
              </a:rPr>
              <a:t>Clean missing or incorrect values.</a:t>
            </a:r>
            <a:endParaRPr lang="en-US" sz="1200" dirty="0"/>
          </a:p>
          <a:p>
            <a:r>
              <a:rPr lang="en-US" sz="1200" dirty="0">
                <a:solidFill>
                  <a:srgbClr val="27313D"/>
                </a:solidFill>
              </a:rPr>
              <a:t>Select relevant features for clustering.</a:t>
            </a:r>
            <a:endParaRPr lang="en-US" sz="1200" dirty="0"/>
          </a:p>
          <a:p>
            <a:r>
              <a:rPr lang="en-US" sz="1200" dirty="0">
                <a:solidFill>
                  <a:srgbClr val="27313D"/>
                </a:solidFill>
              </a:rPr>
              <a:t>Scale numeric features where needed.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14300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09360" y="1143000"/>
            <a:ext cx="73152" cy="1874520"/>
          </a:xfrm>
          <a:prstGeom prst="rect">
            <a:avLst/>
          </a:prstGeom>
          <a:solidFill>
            <a:srgbClr val="12B3B6"/>
          </a:solidFill>
          <a:ln w="12700">
            <a:solidFill>
              <a:srgbClr val="12B3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1289304"/>
            <a:ext cx="46634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During modelling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1618488"/>
            <a:ext cx="4663440" cy="1280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27313D"/>
                </a:solidFill>
              </a:rPr>
              <a:t>Try more than one K value.</a:t>
            </a:r>
            <a:endParaRPr lang="en-US" sz="1200" dirty="0"/>
          </a:p>
          <a:p>
            <a:r>
              <a:rPr lang="en-US" sz="1200" dirty="0">
                <a:solidFill>
                  <a:srgbClr val="27313D"/>
                </a:solidFill>
              </a:rPr>
              <a:t>Record parameter choices.</a:t>
            </a:r>
            <a:endParaRPr lang="en-US" sz="1200" dirty="0"/>
          </a:p>
          <a:p>
            <a:r>
              <a:rPr lang="en-US" sz="1200" dirty="0">
                <a:solidFill>
                  <a:srgbClr val="27313D"/>
                </a:solidFill>
              </a:rPr>
              <a:t>Use K-means as required.</a:t>
            </a:r>
            <a:endParaRPr lang="en-US" sz="1200" dirty="0"/>
          </a:p>
          <a:p>
            <a:r>
              <a:rPr lang="en-US" sz="1200" dirty="0">
                <a:solidFill>
                  <a:srgbClr val="27313D"/>
                </a:solidFill>
              </a:rPr>
              <a:t>Visualise and compare cluster outputs.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10652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73152" cy="1783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3666744"/>
            <a:ext cx="102412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In your report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995928"/>
            <a:ext cx="1024128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00" dirty="0">
                <a:solidFill>
                  <a:srgbClr val="27313D"/>
                </a:solidFill>
              </a:rPr>
              <a:t>Explain why the selected K is reasonable.</a:t>
            </a:r>
            <a:endParaRPr lang="en-US" sz="1200" dirty="0"/>
          </a:p>
          <a:p>
            <a:r>
              <a:rPr lang="en-US" sz="1200" dirty="0">
                <a:solidFill>
                  <a:srgbClr val="27313D"/>
                </a:solidFill>
              </a:rPr>
              <a:t>Describe each cluster in plain language.</a:t>
            </a:r>
            <a:endParaRPr lang="en-US" sz="1200" dirty="0"/>
          </a:p>
          <a:p>
            <a:r>
              <a:rPr lang="en-US" sz="1200" dirty="0">
                <a:solidFill>
                  <a:srgbClr val="27313D"/>
                </a:solidFill>
              </a:rPr>
              <a:t>Connect findings to the case context.</a:t>
            </a:r>
            <a:endParaRPr lang="en-US" sz="1200" dirty="0"/>
          </a:p>
          <a:p>
            <a:r>
              <a:rPr lang="en-US" sz="1200" dirty="0">
                <a:solidFill>
                  <a:srgbClr val="27313D"/>
                </a:solidFill>
              </a:rPr>
              <a:t>Mention limitations and possible improvements.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37360" y="5650992"/>
            <a:ext cx="8595360" cy="50292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38528" y="5815584"/>
            <a:ext cx="819302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Marks usually come from reasoning and interpretation, not just running the algorithm.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155680" y="6629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pic>
        <p:nvPicPr>
          <p:cNvPr id="21" name="Picture 20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C277C167-9991-7008-DEB9-46E92FBA0A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629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9 • Clustering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resources and wrap-up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14300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143000"/>
            <a:ext cx="73152" cy="2743200"/>
          </a:xfrm>
          <a:prstGeom prst="rect">
            <a:avLst/>
          </a:prstGeom>
          <a:solidFill>
            <a:srgbClr val="2B77E5"/>
          </a:solidFill>
          <a:ln w="12700">
            <a:solidFill>
              <a:srgbClr val="2B77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289304"/>
            <a:ext cx="48463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Essential resources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18488"/>
            <a:ext cx="4846320" cy="2148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130" dirty="0">
                <a:solidFill>
                  <a:srgbClr val="27313D"/>
                </a:solidFill>
              </a:rPr>
              <a:t>Xu &amp; Wunsch (2009): cluster analysis workflow and applications.</a:t>
            </a:r>
            <a:endParaRPr lang="en-US" sz="1130" dirty="0"/>
          </a:p>
          <a:p>
            <a:r>
              <a:rPr lang="en-US" sz="1130" dirty="0">
                <a:solidFill>
                  <a:srgbClr val="27313D"/>
                </a:solidFill>
              </a:rPr>
              <a:t>Le (2019): clustering types — K-means, hierarchical, DBSCAN.</a:t>
            </a:r>
            <a:endParaRPr lang="en-US" sz="1130" dirty="0"/>
          </a:p>
          <a:p>
            <a:r>
              <a:rPr lang="en-US" sz="1130" dirty="0">
                <a:solidFill>
                  <a:srgbClr val="27313D"/>
                </a:solidFill>
              </a:rPr>
              <a:t>Sharma (2019): K-means concepts and implementation.</a:t>
            </a:r>
            <a:endParaRPr lang="en-US" sz="1130" dirty="0"/>
          </a:p>
          <a:p>
            <a:r>
              <a:rPr lang="en-US" sz="1130" dirty="0">
                <a:solidFill>
                  <a:srgbClr val="27313D"/>
                </a:solidFill>
              </a:rPr>
              <a:t>Sullivan (2017): PySpark K-means practical demonstration.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400800" y="1143000"/>
            <a:ext cx="49834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143000"/>
            <a:ext cx="73152" cy="2743200"/>
          </a:xfrm>
          <a:prstGeom prst="rect">
            <a:avLst/>
          </a:prstGeom>
          <a:solidFill>
            <a:srgbClr val="3AA76D"/>
          </a:solidFill>
          <a:ln w="12700">
            <a:solidFill>
              <a:srgbClr val="3AA76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29400" y="1289304"/>
            <a:ext cx="45720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1618488"/>
            <a:ext cx="4572000" cy="2148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130" dirty="0">
                <a:solidFill>
                  <a:srgbClr val="27313D"/>
                </a:solidFill>
              </a:rPr>
              <a:t>Clustering is unsupervised pattern discovery.</a:t>
            </a:r>
            <a:endParaRPr lang="en-US" sz="1130" dirty="0"/>
          </a:p>
          <a:p>
            <a:r>
              <a:rPr lang="en-US" sz="1130" dirty="0">
                <a:solidFill>
                  <a:srgbClr val="27313D"/>
                </a:solidFill>
              </a:rPr>
              <a:t>K-means requires a selected K and distance-based features.</a:t>
            </a:r>
            <a:endParaRPr lang="en-US" sz="1130" dirty="0"/>
          </a:p>
          <a:p>
            <a:r>
              <a:rPr lang="en-US" sz="1130" dirty="0">
                <a:solidFill>
                  <a:srgbClr val="27313D"/>
                </a:solidFill>
              </a:rPr>
              <a:t>Feature scaling and interpretation are central.</a:t>
            </a:r>
            <a:endParaRPr lang="en-US" sz="1130" dirty="0"/>
          </a:p>
          <a:p>
            <a:r>
              <a:rPr lang="en-US" sz="1130" dirty="0">
                <a:solidFill>
                  <a:srgbClr val="27313D"/>
                </a:solidFill>
              </a:rPr>
              <a:t>Good cluster analysis ends with useful explanations.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1874520" y="4892040"/>
            <a:ext cx="8366760" cy="868680"/>
          </a:xfrm>
          <a:prstGeom prst="roundRect">
            <a:avLst/>
          </a:prstGeom>
          <a:solidFill>
            <a:srgbClr val="F0EC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75688" y="5056632"/>
            <a:ext cx="79644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Next: practical K-means clustering using PySpark.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155680" y="6629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  <p:pic>
        <p:nvPicPr>
          <p:cNvPr id="17" name="Picture 16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683B9D01-D920-1ABD-3507-80877D6EC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A1057F29386142A5B9755C5531A820" ma:contentTypeVersion="7" ma:contentTypeDescription="Create a new document." ma:contentTypeScope="" ma:versionID="4fba0a4a6bc0f311a775a35ccccf5e6d">
  <xsd:schema xmlns:xsd="http://www.w3.org/2001/XMLSchema" xmlns:xs="http://www.w3.org/2001/XMLSchema" xmlns:p="http://schemas.microsoft.com/office/2006/metadata/properties" xmlns:ns2="cc5d4512-e7db-40f5-9b40-1e14bbbc82d5" targetNamespace="http://schemas.microsoft.com/office/2006/metadata/properties" ma:root="true" ma:fieldsID="b67d525fc411f0dd1bf3f93df30eccba" ns2:_="">
    <xsd:import namespace="cc5d4512-e7db-40f5-9b40-1e14bbbc82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5d4512-e7db-40f5-9b40-1e14bbbc82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83930B2-5275-482C-8873-E42CDC15CACF}"/>
</file>

<file path=customXml/itemProps2.xml><?xml version="1.0" encoding="utf-8"?>
<ds:datastoreItem xmlns:ds="http://schemas.openxmlformats.org/officeDocument/2006/customXml" ds:itemID="{1C587277-9516-4051-B456-02F8F8BFF379}"/>
</file>

<file path=customXml/itemProps3.xml><?xml version="1.0" encoding="utf-8"?>
<ds:datastoreItem xmlns:ds="http://schemas.openxmlformats.org/officeDocument/2006/customXml" ds:itemID="{E5D59739-BCBE-48F1-8DB1-F4F885D39D50}"/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1342</Words>
  <Application>Microsoft Macintosh PowerPoint</Application>
  <PresentationFormat>Widescreen</PresentationFormat>
  <Paragraphs>247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Zhan</dc:creator>
  <cp:lastModifiedBy>Chen Zhan</cp:lastModifiedBy>
  <cp:revision>1</cp:revision>
  <dcterms:created xsi:type="dcterms:W3CDTF">2026-07-26T10:16:26Z</dcterms:created>
  <dcterms:modified xsi:type="dcterms:W3CDTF">2026-07-26T10:26:01Z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0x01010086A1057F29386142A5B9755C5531A820</vt:lpwstr>
  </property>
</Properties>
</file>