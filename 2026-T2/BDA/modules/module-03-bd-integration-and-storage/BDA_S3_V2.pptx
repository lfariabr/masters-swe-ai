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 id="559" r:id="rId20"/>
    <p:sldId id="569" r:id="rId21"/>
    <p:sldId id="567" r:id="rId22"/>
    <p:sldId id="565" r:id="rId23"/>
    <p:sldId id="566" r:id="rId24"/>
    <p:sldId id="571" r:id="rId25"/>
    <p:sldId id="56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22B203-A84B-B145-AB79-AFE55151AE98}" v="1" dt="2026-06-15T22:31:02.7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35" Type="http://schemas.openxmlformats.org/officeDocument/2006/relationships/customXml" Target="../customXml/item2.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 Zhan" userId="9bf1158d-5ec6-44ed-8784-22fed4df2891" providerId="ADAL" clId="{EF4162E8-50B5-4366-BB2C-AECDBD1DB3FC}"/>
    <pc:docChg chg="undo custSel addSld delSld modSld">
      <pc:chgData name="Chen Zhan" userId="9bf1158d-5ec6-44ed-8784-22fed4df2891" providerId="ADAL" clId="{EF4162E8-50B5-4366-BB2C-AECDBD1DB3FC}" dt="2026-06-15T12:20:08.282" v="105" actId="1076"/>
      <pc:docMkLst>
        <pc:docMk/>
      </pc:docMkLst>
      <pc:sldChg chg="addSp add mod setBg">
        <pc:chgData name="Chen Zhan" userId="9bf1158d-5ec6-44ed-8784-22fed4df2891" providerId="ADAL" clId="{EF4162E8-50B5-4366-BB2C-AECDBD1DB3FC}" dt="2026-06-12T12:14:29.023" v="4" actId="22"/>
        <pc:sldMkLst>
          <pc:docMk/>
          <pc:sldMk cId="0" sldId="256"/>
        </pc:sldMkLst>
        <pc:picChg chg="add">
          <ac:chgData name="Chen Zhan" userId="9bf1158d-5ec6-44ed-8784-22fed4df2891" providerId="ADAL" clId="{EF4162E8-50B5-4366-BB2C-AECDBD1DB3FC}" dt="2026-06-12T12:14:29.023" v="4" actId="22"/>
          <ac:picMkLst>
            <pc:docMk/>
            <pc:sldMk cId="0" sldId="256"/>
            <ac:picMk id="12" creationId="{29CC4D6A-CCB9-04DC-7607-27E5812B34C4}"/>
          </ac:picMkLst>
        </pc:picChg>
      </pc:sldChg>
      <pc:sldChg chg="addSp modSp add mod setBg">
        <pc:chgData name="Chen Zhan" userId="9bf1158d-5ec6-44ed-8784-22fed4df2891" providerId="ADAL" clId="{EF4162E8-50B5-4366-BB2C-AECDBD1DB3FC}" dt="2026-06-12T12:30:48.679" v="40" actId="20577"/>
        <pc:sldMkLst>
          <pc:docMk/>
          <pc:sldMk cId="0" sldId="257"/>
        </pc:sldMkLst>
        <pc:spChg chg="mod">
          <ac:chgData name="Chen Zhan" userId="9bf1158d-5ec6-44ed-8784-22fed4df2891" providerId="ADAL" clId="{EF4162E8-50B5-4366-BB2C-AECDBD1DB3FC}" dt="2026-06-12T12:30:48.679" v="40" actId="20577"/>
          <ac:spMkLst>
            <pc:docMk/>
            <pc:sldMk cId="0" sldId="257"/>
            <ac:spMk id="7" creationId="{00000000-0000-0000-0000-000000000000}"/>
          </ac:spMkLst>
        </pc:spChg>
        <pc:picChg chg="add">
          <ac:chgData name="Chen Zhan" userId="9bf1158d-5ec6-44ed-8784-22fed4df2891" providerId="ADAL" clId="{EF4162E8-50B5-4366-BB2C-AECDBD1DB3FC}" dt="2026-06-12T12:14:30.089" v="5" actId="22"/>
          <ac:picMkLst>
            <pc:docMk/>
            <pc:sldMk cId="0" sldId="257"/>
            <ac:picMk id="13" creationId="{B9D1C529-B781-F3C1-A433-FF40F5F8E8E1}"/>
          </ac:picMkLst>
        </pc:picChg>
      </pc:sldChg>
      <pc:sldChg chg="addSp modSp add mod setBg">
        <pc:chgData name="Chen Zhan" userId="9bf1158d-5ec6-44ed-8784-22fed4df2891" providerId="ADAL" clId="{EF4162E8-50B5-4366-BB2C-AECDBD1DB3FC}" dt="2026-06-12T12:30:33.124" v="30" actId="1076"/>
        <pc:sldMkLst>
          <pc:docMk/>
          <pc:sldMk cId="0" sldId="258"/>
        </pc:sldMkLst>
        <pc:spChg chg="mod">
          <ac:chgData name="Chen Zhan" userId="9bf1158d-5ec6-44ed-8784-22fed4df2891" providerId="ADAL" clId="{EF4162E8-50B5-4366-BB2C-AECDBD1DB3FC}" dt="2026-06-12T12:30:15.838" v="25" actId="1076"/>
          <ac:spMkLst>
            <pc:docMk/>
            <pc:sldMk cId="0" sldId="258"/>
            <ac:spMk id="5" creationId="{00000000-0000-0000-0000-000000000000}"/>
          </ac:spMkLst>
        </pc:spChg>
        <pc:spChg chg="mod">
          <ac:chgData name="Chen Zhan" userId="9bf1158d-5ec6-44ed-8784-22fed4df2891" providerId="ADAL" clId="{EF4162E8-50B5-4366-BB2C-AECDBD1DB3FC}" dt="2026-06-12T12:30:20.348" v="26" actId="1076"/>
          <ac:spMkLst>
            <pc:docMk/>
            <pc:sldMk cId="0" sldId="258"/>
            <ac:spMk id="7" creationId="{00000000-0000-0000-0000-000000000000}"/>
          </ac:spMkLst>
        </pc:spChg>
        <pc:spChg chg="mod">
          <ac:chgData name="Chen Zhan" userId="9bf1158d-5ec6-44ed-8784-22fed4df2891" providerId="ADAL" clId="{EF4162E8-50B5-4366-BB2C-AECDBD1DB3FC}" dt="2026-06-12T12:30:24.017" v="28" actId="1076"/>
          <ac:spMkLst>
            <pc:docMk/>
            <pc:sldMk cId="0" sldId="258"/>
            <ac:spMk id="8" creationId="{00000000-0000-0000-0000-000000000000}"/>
          </ac:spMkLst>
        </pc:spChg>
        <pc:spChg chg="mod">
          <ac:chgData name="Chen Zhan" userId="9bf1158d-5ec6-44ed-8784-22fed4df2891" providerId="ADAL" clId="{EF4162E8-50B5-4366-BB2C-AECDBD1DB3FC}" dt="2026-06-12T12:30:29.823" v="29" actId="1076"/>
          <ac:spMkLst>
            <pc:docMk/>
            <pc:sldMk cId="0" sldId="258"/>
            <ac:spMk id="10" creationId="{00000000-0000-0000-0000-000000000000}"/>
          </ac:spMkLst>
        </pc:spChg>
        <pc:spChg chg="mod">
          <ac:chgData name="Chen Zhan" userId="9bf1158d-5ec6-44ed-8784-22fed4df2891" providerId="ADAL" clId="{EF4162E8-50B5-4366-BB2C-AECDBD1DB3FC}" dt="2026-06-12T12:30:33.124" v="30" actId="1076"/>
          <ac:spMkLst>
            <pc:docMk/>
            <pc:sldMk cId="0" sldId="258"/>
            <ac:spMk id="13" creationId="{00000000-0000-0000-0000-000000000000}"/>
          </ac:spMkLst>
        </pc:spChg>
        <pc:picChg chg="add">
          <ac:chgData name="Chen Zhan" userId="9bf1158d-5ec6-44ed-8784-22fed4df2891" providerId="ADAL" clId="{EF4162E8-50B5-4366-BB2C-AECDBD1DB3FC}" dt="2026-06-12T12:14:31.195" v="6" actId="22"/>
          <ac:picMkLst>
            <pc:docMk/>
            <pc:sldMk cId="0" sldId="258"/>
            <ac:picMk id="17" creationId="{9CDE6EC3-54B6-0A5D-D8DB-28D42BD86CD5}"/>
          </ac:picMkLst>
        </pc:picChg>
      </pc:sldChg>
      <pc:sldChg chg="addSp modSp add mod setBg">
        <pc:chgData name="Chen Zhan" userId="9bf1158d-5ec6-44ed-8784-22fed4df2891" providerId="ADAL" clId="{EF4162E8-50B5-4366-BB2C-AECDBD1DB3FC}" dt="2026-06-12T12:14:32.029" v="7" actId="22"/>
        <pc:sldMkLst>
          <pc:docMk/>
          <pc:sldMk cId="0" sldId="259"/>
        </pc:sldMkLst>
        <pc:spChg chg="mod">
          <ac:chgData name="Chen Zhan" userId="9bf1158d-5ec6-44ed-8784-22fed4df2891" providerId="ADAL" clId="{EF4162E8-50B5-4366-BB2C-AECDBD1DB3FC}" dt="2026-06-12T12:14:05.267" v="1" actId="27636"/>
          <ac:spMkLst>
            <pc:docMk/>
            <pc:sldMk cId="0" sldId="259"/>
            <ac:spMk id="23" creationId="{00000000-0000-0000-0000-000000000000}"/>
          </ac:spMkLst>
        </pc:spChg>
        <pc:picChg chg="add">
          <ac:chgData name="Chen Zhan" userId="9bf1158d-5ec6-44ed-8784-22fed4df2891" providerId="ADAL" clId="{EF4162E8-50B5-4366-BB2C-AECDBD1DB3FC}" dt="2026-06-12T12:14:32.029" v="7" actId="22"/>
          <ac:picMkLst>
            <pc:docMk/>
            <pc:sldMk cId="0" sldId="259"/>
            <ac:picMk id="26" creationId="{DD4AA7CB-3AEF-E908-DD03-D9D2349B2677}"/>
          </ac:picMkLst>
        </pc:picChg>
      </pc:sldChg>
      <pc:sldChg chg="addSp add mod setBg">
        <pc:chgData name="Chen Zhan" userId="9bf1158d-5ec6-44ed-8784-22fed4df2891" providerId="ADAL" clId="{EF4162E8-50B5-4366-BB2C-AECDBD1DB3FC}" dt="2026-06-12T12:14:32.649" v="8" actId="22"/>
        <pc:sldMkLst>
          <pc:docMk/>
          <pc:sldMk cId="0" sldId="260"/>
        </pc:sldMkLst>
        <pc:picChg chg="add">
          <ac:chgData name="Chen Zhan" userId="9bf1158d-5ec6-44ed-8784-22fed4df2891" providerId="ADAL" clId="{EF4162E8-50B5-4366-BB2C-AECDBD1DB3FC}" dt="2026-06-12T12:14:32.649" v="8" actId="22"/>
          <ac:picMkLst>
            <pc:docMk/>
            <pc:sldMk cId="0" sldId="260"/>
            <ac:picMk id="20" creationId="{48490C47-18C2-9D98-0D12-F68CB346B9E4}"/>
          </ac:picMkLst>
        </pc:picChg>
      </pc:sldChg>
      <pc:sldChg chg="addSp add mod setBg">
        <pc:chgData name="Chen Zhan" userId="9bf1158d-5ec6-44ed-8784-22fed4df2891" providerId="ADAL" clId="{EF4162E8-50B5-4366-BB2C-AECDBD1DB3FC}" dt="2026-06-12T12:14:34.225" v="9" actId="22"/>
        <pc:sldMkLst>
          <pc:docMk/>
          <pc:sldMk cId="0" sldId="261"/>
        </pc:sldMkLst>
        <pc:picChg chg="add">
          <ac:chgData name="Chen Zhan" userId="9bf1158d-5ec6-44ed-8784-22fed4df2891" providerId="ADAL" clId="{EF4162E8-50B5-4366-BB2C-AECDBD1DB3FC}" dt="2026-06-12T12:14:34.225" v="9" actId="22"/>
          <ac:picMkLst>
            <pc:docMk/>
            <pc:sldMk cId="0" sldId="261"/>
            <ac:picMk id="29" creationId="{D429F230-2E16-487F-C1DA-E4AB61D0D4C7}"/>
          </ac:picMkLst>
        </pc:picChg>
      </pc:sldChg>
      <pc:sldChg chg="addSp add mod setBg">
        <pc:chgData name="Chen Zhan" userId="9bf1158d-5ec6-44ed-8784-22fed4df2891" providerId="ADAL" clId="{EF4162E8-50B5-4366-BB2C-AECDBD1DB3FC}" dt="2026-06-12T12:14:35.963" v="10" actId="22"/>
        <pc:sldMkLst>
          <pc:docMk/>
          <pc:sldMk cId="0" sldId="262"/>
        </pc:sldMkLst>
        <pc:picChg chg="add">
          <ac:chgData name="Chen Zhan" userId="9bf1158d-5ec6-44ed-8784-22fed4df2891" providerId="ADAL" clId="{EF4162E8-50B5-4366-BB2C-AECDBD1DB3FC}" dt="2026-06-12T12:14:35.963" v="10" actId="22"/>
          <ac:picMkLst>
            <pc:docMk/>
            <pc:sldMk cId="0" sldId="262"/>
            <ac:picMk id="31" creationId="{9DEBB206-01D5-F792-E97D-0D89AE9B0EAD}"/>
          </ac:picMkLst>
        </pc:picChg>
      </pc:sldChg>
      <pc:sldChg chg="addSp modSp add mod setBg">
        <pc:chgData name="Chen Zhan" userId="9bf1158d-5ec6-44ed-8784-22fed4df2891" providerId="ADAL" clId="{EF4162E8-50B5-4366-BB2C-AECDBD1DB3FC}" dt="2026-06-12T12:40:34.895" v="58" actId="1076"/>
        <pc:sldMkLst>
          <pc:docMk/>
          <pc:sldMk cId="0" sldId="263"/>
        </pc:sldMkLst>
        <pc:spChg chg="mod">
          <ac:chgData name="Chen Zhan" userId="9bf1158d-5ec6-44ed-8784-22fed4df2891" providerId="ADAL" clId="{EF4162E8-50B5-4366-BB2C-AECDBD1DB3FC}" dt="2026-06-12T12:40:34.895" v="58" actId="1076"/>
          <ac:spMkLst>
            <pc:docMk/>
            <pc:sldMk cId="0" sldId="263"/>
            <ac:spMk id="23" creationId="{00000000-0000-0000-0000-000000000000}"/>
          </ac:spMkLst>
        </pc:spChg>
        <pc:picChg chg="add">
          <ac:chgData name="Chen Zhan" userId="9bf1158d-5ec6-44ed-8784-22fed4df2891" providerId="ADAL" clId="{EF4162E8-50B5-4366-BB2C-AECDBD1DB3FC}" dt="2026-06-12T12:14:36.549" v="11" actId="22"/>
          <ac:picMkLst>
            <pc:docMk/>
            <pc:sldMk cId="0" sldId="263"/>
            <ac:picMk id="26" creationId="{13178B80-5470-7B28-98A6-9F25BB92BFBA}"/>
          </ac:picMkLst>
        </pc:picChg>
      </pc:sldChg>
      <pc:sldChg chg="addSp add mod setBg">
        <pc:chgData name="Chen Zhan" userId="9bf1158d-5ec6-44ed-8784-22fed4df2891" providerId="ADAL" clId="{EF4162E8-50B5-4366-BB2C-AECDBD1DB3FC}" dt="2026-06-12T12:14:38.109" v="12" actId="22"/>
        <pc:sldMkLst>
          <pc:docMk/>
          <pc:sldMk cId="0" sldId="264"/>
        </pc:sldMkLst>
        <pc:picChg chg="add">
          <ac:chgData name="Chen Zhan" userId="9bf1158d-5ec6-44ed-8784-22fed4df2891" providerId="ADAL" clId="{EF4162E8-50B5-4366-BB2C-AECDBD1DB3FC}" dt="2026-06-12T12:14:38.109" v="12" actId="22"/>
          <ac:picMkLst>
            <pc:docMk/>
            <pc:sldMk cId="0" sldId="264"/>
            <ac:picMk id="23" creationId="{37882221-F9B9-6197-02FE-F345988A1707}"/>
          </ac:picMkLst>
        </pc:picChg>
      </pc:sldChg>
      <pc:sldChg chg="addSp add mod setBg">
        <pc:chgData name="Chen Zhan" userId="9bf1158d-5ec6-44ed-8784-22fed4df2891" providerId="ADAL" clId="{EF4162E8-50B5-4366-BB2C-AECDBD1DB3FC}" dt="2026-06-12T12:14:39.707" v="13" actId="22"/>
        <pc:sldMkLst>
          <pc:docMk/>
          <pc:sldMk cId="0" sldId="265"/>
        </pc:sldMkLst>
        <pc:picChg chg="add">
          <ac:chgData name="Chen Zhan" userId="9bf1158d-5ec6-44ed-8784-22fed4df2891" providerId="ADAL" clId="{EF4162E8-50B5-4366-BB2C-AECDBD1DB3FC}" dt="2026-06-12T12:14:39.707" v="13" actId="22"/>
          <ac:picMkLst>
            <pc:docMk/>
            <pc:sldMk cId="0" sldId="265"/>
            <ac:picMk id="25" creationId="{91BC33DE-202D-4E64-A255-DB852335444F}"/>
          </ac:picMkLst>
        </pc:picChg>
      </pc:sldChg>
      <pc:sldChg chg="addSp modSp add mod setBg">
        <pc:chgData name="Chen Zhan" userId="9bf1158d-5ec6-44ed-8784-22fed4df2891" providerId="ADAL" clId="{EF4162E8-50B5-4366-BB2C-AECDBD1DB3FC}" dt="2026-06-12T12:14:41.077" v="14" actId="22"/>
        <pc:sldMkLst>
          <pc:docMk/>
          <pc:sldMk cId="0" sldId="266"/>
        </pc:sldMkLst>
        <pc:spChg chg="mod">
          <ac:chgData name="Chen Zhan" userId="9bf1158d-5ec6-44ed-8784-22fed4df2891" providerId="ADAL" clId="{EF4162E8-50B5-4366-BB2C-AECDBD1DB3FC}" dt="2026-06-12T12:14:05.287" v="3" actId="27636"/>
          <ac:spMkLst>
            <pc:docMk/>
            <pc:sldMk cId="0" sldId="266"/>
            <ac:spMk id="25" creationId="{00000000-0000-0000-0000-000000000000}"/>
          </ac:spMkLst>
        </pc:spChg>
        <pc:picChg chg="add">
          <ac:chgData name="Chen Zhan" userId="9bf1158d-5ec6-44ed-8784-22fed4df2891" providerId="ADAL" clId="{EF4162E8-50B5-4366-BB2C-AECDBD1DB3FC}" dt="2026-06-12T12:14:41.077" v="14" actId="22"/>
          <ac:picMkLst>
            <pc:docMk/>
            <pc:sldMk cId="0" sldId="266"/>
            <ac:picMk id="28" creationId="{76CC91F0-E5AE-CBED-F68E-6B13812111D1}"/>
          </ac:picMkLst>
        </pc:picChg>
      </pc:sldChg>
      <pc:sldChg chg="addSp add mod setBg">
        <pc:chgData name="Chen Zhan" userId="9bf1158d-5ec6-44ed-8784-22fed4df2891" providerId="ADAL" clId="{EF4162E8-50B5-4366-BB2C-AECDBD1DB3FC}" dt="2026-06-12T12:14:42.572" v="15" actId="22"/>
        <pc:sldMkLst>
          <pc:docMk/>
          <pc:sldMk cId="0" sldId="267"/>
        </pc:sldMkLst>
        <pc:picChg chg="add">
          <ac:chgData name="Chen Zhan" userId="9bf1158d-5ec6-44ed-8784-22fed4df2891" providerId="ADAL" clId="{EF4162E8-50B5-4366-BB2C-AECDBD1DB3FC}" dt="2026-06-12T12:14:42.572" v="15" actId="22"/>
          <ac:picMkLst>
            <pc:docMk/>
            <pc:sldMk cId="0" sldId="267"/>
            <ac:picMk id="27" creationId="{7101E6BE-37A1-F0E8-2023-E670DCF3CC9D}"/>
          </ac:picMkLst>
        </pc:picChg>
      </pc:sldChg>
      <pc:sldChg chg="addSp add mod setBg">
        <pc:chgData name="Chen Zhan" userId="9bf1158d-5ec6-44ed-8784-22fed4df2891" providerId="ADAL" clId="{EF4162E8-50B5-4366-BB2C-AECDBD1DB3FC}" dt="2026-06-12T12:14:43.642" v="16" actId="22"/>
        <pc:sldMkLst>
          <pc:docMk/>
          <pc:sldMk cId="0" sldId="268"/>
        </pc:sldMkLst>
        <pc:picChg chg="add">
          <ac:chgData name="Chen Zhan" userId="9bf1158d-5ec6-44ed-8784-22fed4df2891" providerId="ADAL" clId="{EF4162E8-50B5-4366-BB2C-AECDBD1DB3FC}" dt="2026-06-12T12:14:43.642" v="16" actId="22"/>
          <ac:picMkLst>
            <pc:docMk/>
            <pc:sldMk cId="0" sldId="268"/>
            <ac:picMk id="19" creationId="{EBF4EB31-1098-7D23-8166-093FA656E8AA}"/>
          </ac:picMkLst>
        </pc:picChg>
      </pc:sldChg>
      <pc:sldChg chg="addSp modSp add mod setBg">
        <pc:chgData name="Chen Zhan" userId="9bf1158d-5ec6-44ed-8784-22fed4df2891" providerId="ADAL" clId="{EF4162E8-50B5-4366-BB2C-AECDBD1DB3FC}" dt="2026-06-15T12:20:08.282" v="105" actId="1076"/>
        <pc:sldMkLst>
          <pc:docMk/>
          <pc:sldMk cId="0" sldId="269"/>
        </pc:sldMkLst>
        <pc:spChg chg="mod">
          <ac:chgData name="Chen Zhan" userId="9bf1158d-5ec6-44ed-8784-22fed4df2891" providerId="ADAL" clId="{EF4162E8-50B5-4366-BB2C-AECDBD1DB3FC}" dt="2026-06-15T12:20:00.931" v="103" actId="1076"/>
          <ac:spMkLst>
            <pc:docMk/>
            <pc:sldMk cId="0" sldId="269"/>
            <ac:spMk id="12" creationId="{00000000-0000-0000-0000-000000000000}"/>
          </ac:spMkLst>
        </pc:spChg>
        <pc:spChg chg="mod">
          <ac:chgData name="Chen Zhan" userId="9bf1158d-5ec6-44ed-8784-22fed4df2891" providerId="ADAL" clId="{EF4162E8-50B5-4366-BB2C-AECDBD1DB3FC}" dt="2026-06-15T12:20:03.526" v="104" actId="1076"/>
          <ac:spMkLst>
            <pc:docMk/>
            <pc:sldMk cId="0" sldId="269"/>
            <ac:spMk id="14" creationId="{00000000-0000-0000-0000-000000000000}"/>
          </ac:spMkLst>
        </pc:spChg>
        <pc:spChg chg="mod">
          <ac:chgData name="Chen Zhan" userId="9bf1158d-5ec6-44ed-8784-22fed4df2891" providerId="ADAL" clId="{EF4162E8-50B5-4366-BB2C-AECDBD1DB3FC}" dt="2026-06-15T12:20:08.282" v="105" actId="1076"/>
          <ac:spMkLst>
            <pc:docMk/>
            <pc:sldMk cId="0" sldId="269"/>
            <ac:spMk id="16" creationId="{00000000-0000-0000-0000-000000000000}"/>
          </ac:spMkLst>
        </pc:spChg>
        <pc:picChg chg="add">
          <ac:chgData name="Chen Zhan" userId="9bf1158d-5ec6-44ed-8784-22fed4df2891" providerId="ADAL" clId="{EF4162E8-50B5-4366-BB2C-AECDBD1DB3FC}" dt="2026-06-12T12:14:44.855" v="17" actId="22"/>
          <ac:picMkLst>
            <pc:docMk/>
            <pc:sldMk cId="0" sldId="269"/>
            <ac:picMk id="20" creationId="{9B4B7EEE-6483-724C-BF6A-3ED5CF3F4E72}"/>
          </ac:picMkLst>
        </pc:picChg>
      </pc:sldChg>
      <pc:sldChg chg="addSp add mod setBg">
        <pc:chgData name="Chen Zhan" userId="9bf1158d-5ec6-44ed-8784-22fed4df2891" providerId="ADAL" clId="{EF4162E8-50B5-4366-BB2C-AECDBD1DB3FC}" dt="2026-06-12T12:14:46.202" v="18" actId="22"/>
        <pc:sldMkLst>
          <pc:docMk/>
          <pc:sldMk cId="0" sldId="270"/>
        </pc:sldMkLst>
        <pc:picChg chg="add">
          <ac:chgData name="Chen Zhan" userId="9bf1158d-5ec6-44ed-8784-22fed4df2891" providerId="ADAL" clId="{EF4162E8-50B5-4366-BB2C-AECDBD1DB3FC}" dt="2026-06-12T12:14:46.202" v="18" actId="22"/>
          <ac:picMkLst>
            <pc:docMk/>
            <pc:sldMk cId="0" sldId="270"/>
            <ac:picMk id="22" creationId="{E7AF6CD8-9917-3736-FC6A-65AB8A89CDF1}"/>
          </ac:picMkLst>
        </pc:picChg>
      </pc:sldChg>
      <pc:sldChg chg="addSp modSp add mod setBg">
        <pc:chgData name="Chen Zhan" userId="9bf1158d-5ec6-44ed-8784-22fed4df2891" providerId="ADAL" clId="{EF4162E8-50B5-4366-BB2C-AECDBD1DB3FC}" dt="2026-06-12T13:38:48.471" v="68" actId="404"/>
        <pc:sldMkLst>
          <pc:docMk/>
          <pc:sldMk cId="0" sldId="271"/>
        </pc:sldMkLst>
        <pc:spChg chg="mod">
          <ac:chgData name="Chen Zhan" userId="9bf1158d-5ec6-44ed-8784-22fed4df2891" providerId="ADAL" clId="{EF4162E8-50B5-4366-BB2C-AECDBD1DB3FC}" dt="2026-06-12T13:38:48.471" v="68" actId="404"/>
          <ac:spMkLst>
            <pc:docMk/>
            <pc:sldMk cId="0" sldId="271"/>
            <ac:spMk id="6" creationId="{00000000-0000-0000-0000-000000000000}"/>
          </ac:spMkLst>
        </pc:spChg>
        <pc:spChg chg="mod">
          <ac:chgData name="Chen Zhan" userId="9bf1158d-5ec6-44ed-8784-22fed4df2891" providerId="ADAL" clId="{EF4162E8-50B5-4366-BB2C-AECDBD1DB3FC}" dt="2026-06-12T13:38:48.471" v="68" actId="404"/>
          <ac:spMkLst>
            <pc:docMk/>
            <pc:sldMk cId="0" sldId="271"/>
            <ac:spMk id="11" creationId="{00000000-0000-0000-0000-000000000000}"/>
          </ac:spMkLst>
        </pc:spChg>
        <pc:spChg chg="mod">
          <ac:chgData name="Chen Zhan" userId="9bf1158d-5ec6-44ed-8784-22fed4df2891" providerId="ADAL" clId="{EF4162E8-50B5-4366-BB2C-AECDBD1DB3FC}" dt="2026-06-12T13:38:48.471" v="68" actId="404"/>
          <ac:spMkLst>
            <pc:docMk/>
            <pc:sldMk cId="0" sldId="271"/>
            <ac:spMk id="17" creationId="{00000000-0000-0000-0000-000000000000}"/>
          </ac:spMkLst>
        </pc:spChg>
        <pc:spChg chg="mod">
          <ac:chgData name="Chen Zhan" userId="9bf1158d-5ec6-44ed-8784-22fed4df2891" providerId="ADAL" clId="{EF4162E8-50B5-4366-BB2C-AECDBD1DB3FC}" dt="2026-06-12T13:38:48.471" v="68" actId="404"/>
          <ac:spMkLst>
            <pc:docMk/>
            <pc:sldMk cId="0" sldId="271"/>
            <ac:spMk id="20" creationId="{00000000-0000-0000-0000-000000000000}"/>
          </ac:spMkLst>
        </pc:spChg>
        <pc:spChg chg="mod">
          <ac:chgData name="Chen Zhan" userId="9bf1158d-5ec6-44ed-8784-22fed4df2891" providerId="ADAL" clId="{EF4162E8-50B5-4366-BB2C-AECDBD1DB3FC}" dt="2026-06-12T13:38:48.471" v="68" actId="404"/>
          <ac:spMkLst>
            <pc:docMk/>
            <pc:sldMk cId="0" sldId="271"/>
            <ac:spMk id="27" creationId="{00000000-0000-0000-0000-000000000000}"/>
          </ac:spMkLst>
        </pc:spChg>
        <pc:spChg chg="mod">
          <ac:chgData name="Chen Zhan" userId="9bf1158d-5ec6-44ed-8784-22fed4df2891" providerId="ADAL" clId="{EF4162E8-50B5-4366-BB2C-AECDBD1DB3FC}" dt="2026-06-12T13:38:48.471" v="68" actId="404"/>
          <ac:spMkLst>
            <pc:docMk/>
            <pc:sldMk cId="0" sldId="271"/>
            <ac:spMk id="29" creationId="{00000000-0000-0000-0000-000000000000}"/>
          </ac:spMkLst>
        </pc:spChg>
        <pc:spChg chg="mod">
          <ac:chgData name="Chen Zhan" userId="9bf1158d-5ec6-44ed-8784-22fed4df2891" providerId="ADAL" clId="{EF4162E8-50B5-4366-BB2C-AECDBD1DB3FC}" dt="2026-06-12T13:38:47.353" v="67" actId="27636"/>
          <ac:spMkLst>
            <pc:docMk/>
            <pc:sldMk cId="0" sldId="271"/>
            <ac:spMk id="32" creationId="{00000000-0000-0000-0000-000000000000}"/>
          </ac:spMkLst>
        </pc:spChg>
        <pc:spChg chg="mod">
          <ac:chgData name="Chen Zhan" userId="9bf1158d-5ec6-44ed-8784-22fed4df2891" providerId="ADAL" clId="{EF4162E8-50B5-4366-BB2C-AECDBD1DB3FC}" dt="2026-06-12T13:38:48.471" v="68" actId="404"/>
          <ac:spMkLst>
            <pc:docMk/>
            <pc:sldMk cId="0" sldId="271"/>
            <ac:spMk id="40" creationId="{00000000-0000-0000-0000-000000000000}"/>
          </ac:spMkLst>
        </pc:spChg>
        <pc:spChg chg="mod">
          <ac:chgData name="Chen Zhan" userId="9bf1158d-5ec6-44ed-8784-22fed4df2891" providerId="ADAL" clId="{EF4162E8-50B5-4366-BB2C-AECDBD1DB3FC}" dt="2026-06-12T13:38:48.471" v="68" actId="404"/>
          <ac:spMkLst>
            <pc:docMk/>
            <pc:sldMk cId="0" sldId="271"/>
            <ac:spMk id="50" creationId="{00000000-0000-0000-0000-000000000000}"/>
          </ac:spMkLst>
        </pc:spChg>
        <pc:spChg chg="mod">
          <ac:chgData name="Chen Zhan" userId="9bf1158d-5ec6-44ed-8784-22fed4df2891" providerId="ADAL" clId="{EF4162E8-50B5-4366-BB2C-AECDBD1DB3FC}" dt="2026-06-12T13:38:48.471" v="68" actId="404"/>
          <ac:spMkLst>
            <pc:docMk/>
            <pc:sldMk cId="0" sldId="271"/>
            <ac:spMk id="51" creationId="{00000000-0000-0000-0000-000000000000}"/>
          </ac:spMkLst>
        </pc:spChg>
        <pc:spChg chg="mod">
          <ac:chgData name="Chen Zhan" userId="9bf1158d-5ec6-44ed-8784-22fed4df2891" providerId="ADAL" clId="{EF4162E8-50B5-4366-BB2C-AECDBD1DB3FC}" dt="2026-06-12T13:38:48.471" v="68" actId="404"/>
          <ac:spMkLst>
            <pc:docMk/>
            <pc:sldMk cId="0" sldId="271"/>
            <ac:spMk id="52" creationId="{00000000-0000-0000-0000-000000000000}"/>
          </ac:spMkLst>
        </pc:spChg>
        <pc:picChg chg="add">
          <ac:chgData name="Chen Zhan" userId="9bf1158d-5ec6-44ed-8784-22fed4df2891" providerId="ADAL" clId="{EF4162E8-50B5-4366-BB2C-AECDBD1DB3FC}" dt="2026-06-12T12:14:47.467" v="19" actId="22"/>
          <ac:picMkLst>
            <pc:docMk/>
            <pc:sldMk cId="0" sldId="271"/>
            <ac:picMk id="56" creationId="{0296C3AC-5D94-E9E1-B8DC-55DC386566D4}"/>
          </ac:picMkLst>
        </pc:picChg>
      </pc:sldChg>
      <pc:sldChg chg="addSp modSp add mod setBg">
        <pc:chgData name="Chen Zhan" userId="9bf1158d-5ec6-44ed-8784-22fed4df2891" providerId="ADAL" clId="{EF4162E8-50B5-4366-BB2C-AECDBD1DB3FC}" dt="2026-06-12T12:14:53.580" v="21" actId="404"/>
        <pc:sldMkLst>
          <pc:docMk/>
          <pc:sldMk cId="0" sldId="272"/>
        </pc:sldMkLst>
        <pc:spChg chg="mod">
          <ac:chgData name="Chen Zhan" userId="9bf1158d-5ec6-44ed-8784-22fed4df2891" providerId="ADAL" clId="{EF4162E8-50B5-4366-BB2C-AECDBD1DB3FC}" dt="2026-06-12T12:14:53.580" v="21" actId="404"/>
          <ac:spMkLst>
            <pc:docMk/>
            <pc:sldMk cId="0" sldId="272"/>
            <ac:spMk id="2" creationId="{00000000-0000-0000-0000-000000000000}"/>
          </ac:spMkLst>
        </pc:spChg>
        <pc:picChg chg="add">
          <ac:chgData name="Chen Zhan" userId="9bf1158d-5ec6-44ed-8784-22fed4df2891" providerId="ADAL" clId="{EF4162E8-50B5-4366-BB2C-AECDBD1DB3FC}" dt="2026-06-12T12:14:48.974" v="20" actId="22"/>
          <ac:picMkLst>
            <pc:docMk/>
            <pc:sldMk cId="0" sldId="272"/>
            <ac:picMk id="42" creationId="{C201ED4E-44F3-B6B8-1A93-E4E55AD89F24}"/>
          </ac:picMkLst>
        </pc:picChg>
      </pc:sldChg>
      <pc:sldChg chg="addSp add mod setBg">
        <pc:chgData name="Chen Zhan" userId="9bf1158d-5ec6-44ed-8784-22fed4df2891" providerId="ADAL" clId="{EF4162E8-50B5-4366-BB2C-AECDBD1DB3FC}" dt="2026-06-12T12:15:05.868" v="24" actId="22"/>
        <pc:sldMkLst>
          <pc:docMk/>
          <pc:sldMk cId="0" sldId="275"/>
        </pc:sldMkLst>
        <pc:picChg chg="add">
          <ac:chgData name="Chen Zhan" userId="9bf1158d-5ec6-44ed-8784-22fed4df2891" providerId="ADAL" clId="{EF4162E8-50B5-4366-BB2C-AECDBD1DB3FC}" dt="2026-06-12T12:15:05.868" v="24" actId="22"/>
          <ac:picMkLst>
            <pc:docMk/>
            <pc:sldMk cId="0" sldId="275"/>
            <ac:picMk id="9" creationId="{EE419CAB-0F74-FE42-4A1F-A2237E452528}"/>
          </ac:picMkLst>
        </pc:picChg>
      </pc:sldChg>
      <pc:sldChg chg="modSp add mod">
        <pc:chgData name="Chen Zhan" userId="9bf1158d-5ec6-44ed-8784-22fed4df2891" providerId="ADAL" clId="{EF4162E8-50B5-4366-BB2C-AECDBD1DB3FC}" dt="2026-06-12T13:39:44.244" v="72" actId="1076"/>
        <pc:sldMkLst>
          <pc:docMk/>
          <pc:sldMk cId="3887098098" sldId="559"/>
        </pc:sldMkLst>
        <pc:spChg chg="mod">
          <ac:chgData name="Chen Zhan" userId="9bf1158d-5ec6-44ed-8784-22fed4df2891" providerId="ADAL" clId="{EF4162E8-50B5-4366-BB2C-AECDBD1DB3FC}" dt="2026-06-12T13:39:44.244" v="72" actId="1076"/>
          <ac:spMkLst>
            <pc:docMk/>
            <pc:sldMk cId="3887098098" sldId="559"/>
            <ac:spMk id="5" creationId="{00000000-0000-0000-0000-000000000000}"/>
          </ac:spMkLst>
        </pc:spChg>
      </pc:sldChg>
      <pc:sldChg chg="modSp add mod">
        <pc:chgData name="Chen Zhan" userId="9bf1158d-5ec6-44ed-8784-22fed4df2891" providerId="ADAL" clId="{EF4162E8-50B5-4366-BB2C-AECDBD1DB3FC}" dt="2026-06-12T13:40:09.191" v="75" actId="1076"/>
        <pc:sldMkLst>
          <pc:docMk/>
          <pc:sldMk cId="2888533714" sldId="565"/>
        </pc:sldMkLst>
        <pc:spChg chg="mod">
          <ac:chgData name="Chen Zhan" userId="9bf1158d-5ec6-44ed-8784-22fed4df2891" providerId="ADAL" clId="{EF4162E8-50B5-4366-BB2C-AECDBD1DB3FC}" dt="2026-06-12T13:40:09.191" v="75" actId="1076"/>
          <ac:spMkLst>
            <pc:docMk/>
            <pc:sldMk cId="2888533714" sldId="565"/>
            <ac:spMk id="5" creationId="{00000000-0000-0000-0000-000000000000}"/>
          </ac:spMkLst>
        </pc:spChg>
      </pc:sldChg>
      <pc:sldChg chg="addSp delSp modSp add mod">
        <pc:chgData name="Chen Zhan" userId="9bf1158d-5ec6-44ed-8784-22fed4df2891" providerId="ADAL" clId="{EF4162E8-50B5-4366-BB2C-AECDBD1DB3FC}" dt="2026-06-12T13:41:41.912" v="85" actId="22"/>
        <pc:sldMkLst>
          <pc:docMk/>
          <pc:sldMk cId="2695413519" sldId="566"/>
        </pc:sldMkLst>
        <pc:spChg chg="mod">
          <ac:chgData name="Chen Zhan" userId="9bf1158d-5ec6-44ed-8784-22fed4df2891" providerId="ADAL" clId="{EF4162E8-50B5-4366-BB2C-AECDBD1DB3FC}" dt="2026-06-12T13:40:16.639" v="76" actId="1076"/>
          <ac:spMkLst>
            <pc:docMk/>
            <pc:sldMk cId="2695413519" sldId="566"/>
            <ac:spMk id="5" creationId="{00000000-0000-0000-0000-000000000000}"/>
          </ac:spMkLst>
        </pc:spChg>
      </pc:sldChg>
      <pc:sldChg chg="modSp add mod">
        <pc:chgData name="Chen Zhan" userId="9bf1158d-5ec6-44ed-8784-22fed4df2891" providerId="ADAL" clId="{EF4162E8-50B5-4366-BB2C-AECDBD1DB3FC}" dt="2026-06-12T13:39:59.874" v="74" actId="1076"/>
        <pc:sldMkLst>
          <pc:docMk/>
          <pc:sldMk cId="2184085691" sldId="567"/>
        </pc:sldMkLst>
        <pc:spChg chg="mod">
          <ac:chgData name="Chen Zhan" userId="9bf1158d-5ec6-44ed-8784-22fed4df2891" providerId="ADAL" clId="{EF4162E8-50B5-4366-BB2C-AECDBD1DB3FC}" dt="2026-06-12T13:39:59.874" v="74" actId="1076"/>
          <ac:spMkLst>
            <pc:docMk/>
            <pc:sldMk cId="2184085691" sldId="567"/>
            <ac:spMk id="5" creationId="{00000000-0000-0000-0000-000000000000}"/>
          </ac:spMkLst>
        </pc:spChg>
      </pc:sldChg>
      <pc:sldChg chg="modSp add mod">
        <pc:chgData name="Chen Zhan" userId="9bf1158d-5ec6-44ed-8784-22fed4df2891" providerId="ADAL" clId="{EF4162E8-50B5-4366-BB2C-AECDBD1DB3FC}" dt="2026-06-12T13:42:37.150" v="102" actId="404"/>
        <pc:sldMkLst>
          <pc:docMk/>
          <pc:sldMk cId="2951019405" sldId="568"/>
        </pc:sldMkLst>
        <pc:spChg chg="mod">
          <ac:chgData name="Chen Zhan" userId="9bf1158d-5ec6-44ed-8784-22fed4df2891" providerId="ADAL" clId="{EF4162E8-50B5-4366-BB2C-AECDBD1DB3FC}" dt="2026-06-12T13:42:16.823" v="92" actId="1076"/>
          <ac:spMkLst>
            <pc:docMk/>
            <pc:sldMk cId="2951019405" sldId="568"/>
            <ac:spMk id="5" creationId="{00000000-0000-0000-0000-000000000000}"/>
          </ac:spMkLst>
        </pc:spChg>
        <pc:spChg chg="mod">
          <ac:chgData name="Chen Zhan" userId="9bf1158d-5ec6-44ed-8784-22fed4df2891" providerId="ADAL" clId="{EF4162E8-50B5-4366-BB2C-AECDBD1DB3FC}" dt="2026-06-12T13:42:13.281" v="91" actId="1076"/>
          <ac:spMkLst>
            <pc:docMk/>
            <pc:sldMk cId="2951019405" sldId="568"/>
            <ac:spMk id="6" creationId="{46C79753-5235-5ED8-466B-07BC60AEFD12}"/>
          </ac:spMkLst>
        </pc:spChg>
        <pc:spChg chg="mod">
          <ac:chgData name="Chen Zhan" userId="9bf1158d-5ec6-44ed-8784-22fed4df2891" providerId="ADAL" clId="{EF4162E8-50B5-4366-BB2C-AECDBD1DB3FC}" dt="2026-06-12T13:42:33.867" v="99" actId="1076"/>
          <ac:spMkLst>
            <pc:docMk/>
            <pc:sldMk cId="2951019405" sldId="568"/>
            <ac:spMk id="10" creationId="{BEBFA8E4-CAEF-9A07-8C32-14D8CEDC0EBB}"/>
          </ac:spMkLst>
        </pc:spChg>
        <pc:spChg chg="mod">
          <ac:chgData name="Chen Zhan" userId="9bf1158d-5ec6-44ed-8784-22fed4df2891" providerId="ADAL" clId="{EF4162E8-50B5-4366-BB2C-AECDBD1DB3FC}" dt="2026-06-12T13:42:37.150" v="102" actId="404"/>
          <ac:spMkLst>
            <pc:docMk/>
            <pc:sldMk cId="2951019405" sldId="568"/>
            <ac:spMk id="15" creationId="{68934F67-3FE8-0A3E-BB55-BE7841D1BEA7}"/>
          </ac:spMkLst>
        </pc:spChg>
      </pc:sldChg>
      <pc:sldChg chg="modSp add mod">
        <pc:chgData name="Chen Zhan" userId="9bf1158d-5ec6-44ed-8784-22fed4df2891" providerId="ADAL" clId="{EF4162E8-50B5-4366-BB2C-AECDBD1DB3FC}" dt="2026-06-12T13:39:51.343" v="73" actId="1076"/>
        <pc:sldMkLst>
          <pc:docMk/>
          <pc:sldMk cId="479567261" sldId="569"/>
        </pc:sldMkLst>
        <pc:spChg chg="mod">
          <ac:chgData name="Chen Zhan" userId="9bf1158d-5ec6-44ed-8784-22fed4df2891" providerId="ADAL" clId="{EF4162E8-50B5-4366-BB2C-AECDBD1DB3FC}" dt="2026-06-12T13:39:51.343" v="73" actId="1076"/>
          <ac:spMkLst>
            <pc:docMk/>
            <pc:sldMk cId="479567261" sldId="569"/>
            <ac:spMk id="5" creationId="{00000000-0000-0000-0000-000000000000}"/>
          </ac:spMkLst>
        </pc:spChg>
      </pc:sldChg>
      <pc:sldChg chg="addSp delSp modSp add mod setBg">
        <pc:chgData name="Chen Zhan" userId="9bf1158d-5ec6-44ed-8784-22fed4df2891" providerId="ADAL" clId="{EF4162E8-50B5-4366-BB2C-AECDBD1DB3FC}" dt="2026-06-12T13:42:07.443" v="89" actId="22"/>
        <pc:sldMkLst>
          <pc:docMk/>
          <pc:sldMk cId="0" sldId="571"/>
        </pc:sldMkLst>
        <pc:picChg chg="add">
          <ac:chgData name="Chen Zhan" userId="9bf1158d-5ec6-44ed-8784-22fed4df2891" providerId="ADAL" clId="{EF4162E8-50B5-4366-BB2C-AECDBD1DB3FC}" dt="2026-06-12T13:42:07.443" v="89" actId="22"/>
          <ac:picMkLst>
            <pc:docMk/>
            <pc:sldMk cId="0" sldId="571"/>
            <ac:picMk id="54" creationId="{BA7FCBC5-E9E3-B810-91B6-2577C51190D3}"/>
          </ac:picMkLst>
        </pc:picChg>
      </pc:sldChg>
    </pc:docChg>
  </pc:docChgLst>
  <pc:docChgLst>
    <pc:chgData name="Chen Zhan" userId="9bf1158d-5ec6-44ed-8784-22fed4df2891" providerId="ADAL" clId="{D42B64AA-9EFF-5844-9BBE-459DF059C33B}"/>
    <pc:docChg chg="undo custSel modSld">
      <pc:chgData name="Chen Zhan" userId="9bf1158d-5ec6-44ed-8784-22fed4df2891" providerId="ADAL" clId="{D42B64AA-9EFF-5844-9BBE-459DF059C33B}" dt="2026-06-15T22:31:36.663" v="66" actId="1076"/>
      <pc:docMkLst>
        <pc:docMk/>
      </pc:docMkLst>
      <pc:sldChg chg="addSp modSp mod">
        <pc:chgData name="Chen Zhan" userId="9bf1158d-5ec6-44ed-8784-22fed4df2891" providerId="ADAL" clId="{D42B64AA-9EFF-5844-9BBE-459DF059C33B}" dt="2026-06-15T22:31:36.663" v="66" actId="1076"/>
        <pc:sldMkLst>
          <pc:docMk/>
          <pc:sldMk cId="0" sldId="256"/>
        </pc:sldMkLst>
        <pc:spChg chg="mod">
          <ac:chgData name="Chen Zhan" userId="9bf1158d-5ec6-44ed-8784-22fed4df2891" providerId="ADAL" clId="{D42B64AA-9EFF-5844-9BBE-459DF059C33B}" dt="2026-06-15T22:31:26.620" v="58" actId="404"/>
          <ac:spMkLst>
            <pc:docMk/>
            <pc:sldMk cId="0" sldId="256"/>
            <ac:spMk id="7" creationId="{00000000-0000-0000-0000-000000000000}"/>
          </ac:spMkLst>
        </pc:spChg>
        <pc:spChg chg="mod">
          <ac:chgData name="Chen Zhan" userId="9bf1158d-5ec6-44ed-8784-22fed4df2891" providerId="ADAL" clId="{D42B64AA-9EFF-5844-9BBE-459DF059C33B}" dt="2026-06-15T22:31:34.791" v="64" actId="404"/>
          <ac:spMkLst>
            <pc:docMk/>
            <pc:sldMk cId="0" sldId="256"/>
            <ac:spMk id="9" creationId="{00000000-0000-0000-0000-000000000000}"/>
          </ac:spMkLst>
        </pc:spChg>
        <pc:spChg chg="add mod">
          <ac:chgData name="Chen Zhan" userId="9bf1158d-5ec6-44ed-8784-22fed4df2891" providerId="ADAL" clId="{D42B64AA-9EFF-5844-9BBE-459DF059C33B}" dt="2026-06-15T22:31:19.539" v="51" actId="6549"/>
          <ac:spMkLst>
            <pc:docMk/>
            <pc:sldMk cId="0" sldId="256"/>
            <ac:spMk id="11" creationId="{15B957E5-4D5F-95F5-A850-FEE8AD85D2A3}"/>
          </ac:spMkLst>
        </pc:spChg>
        <pc:picChg chg="mod">
          <ac:chgData name="Chen Zhan" userId="9bf1158d-5ec6-44ed-8784-22fed4df2891" providerId="ADAL" clId="{D42B64AA-9EFF-5844-9BBE-459DF059C33B}" dt="2026-06-15T22:31:36.663" v="66" actId="1076"/>
          <ac:picMkLst>
            <pc:docMk/>
            <pc:sldMk cId="0" sldId="256"/>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0E23DA-0FE5-40C8-B6A6-32197C76445A}" type="datetimeFigureOut">
              <a:rPr lang="en-AU" smtClean="0"/>
              <a:t>16/06/2026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854E10-2BCD-484A-B1DE-A11EAA9DCE6C}" type="slidenum">
              <a:rPr lang="en-AU" smtClean="0"/>
              <a:t>‹#›</a:t>
            </a:fld>
            <a:endParaRPr lang="en-AU"/>
          </a:p>
        </p:txBody>
      </p:sp>
    </p:spTree>
    <p:extLst>
      <p:ext uri="{BB962C8B-B14F-4D97-AF65-F5344CB8AC3E}">
        <p14:creationId xmlns:p14="http://schemas.microsoft.com/office/powerpoint/2010/main" val="3222592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Opening: connect Module 3 to Module 2. Module 2 covered sourcing and ingestion; Module 3 asks what happens next: we need to unify, clean, enrich and store data so it can support analytics and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Emphasise that AI and ML are not only algorithms; they depend on upstream data work. This module focuses on the layers below modelling: move/store, explore/transform, aggregate/label.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as a bridge: intake gets data in, management makes it coherent and trustworthy, consumption turns it into decisions.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integration as semantic and operational. The technical issue is that each system may encode the same real-world entity differently; the business issue is that decisions can be wrong if these differences are not resolved.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maps directly to the first resource. Keep the message simple: integration creates a usable view, matters because data is otherwise fragmented, and is implemented through technical and governance practices.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the airline example to make integration concrete. Different datasets may describe the same flight but use different identifiers, granularities, times, locations and business rules.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Ask students to think about which challenge they have personally seen in spreadsheets, business systems, research datasets or APIs.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summarizes Chapter 3 of Pasupuleti and Purra. Clarify that these components are not always strictly sequential; many organisations iterate among them.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Distinguish ETL and ELT with simple language. In modern cloud data lakes, ELT is common because raw or lightly transformed data can be loaded first, then transformed with distributed compute.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Position quality as a set of checks and documented decisions. For an analytics task, a dataset can be high quality for one purpose and inadequate for another.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Emphasise that enrichment is about adding useful context, not just adding more columns. More data is not automatically better.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data swamp metaphor carefully: a data lake only works when assets are discoverable, documented, governed and protected.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storage decision is both technical and business-driven. A cheap storage layer is not enough if retrieval is slow, access is insecure, or data cannot be governed.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 this vendor-neutral: S3 is an example of cloud object storage, not the only option. AWS describes S3 as object storage for data lakes with scalability, availability, security and performance, plus lifecycle management and integrations.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as a second example, not a deep vendor comparison. Highlight hierarchical namespace as a concept that makes object storage behave more like a file system for analytics workflows.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connects to the optional survey paper. Students do not need to memorise every technology; they need to learn how to reason about storage choices.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architecture students can use when explaining a big data pipeline. Encourage them to name zones, data movement, transformation tasks, storage decisions and governance controls.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References slide.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6D6AA351-6953-1E48-8EC4-68F89E579C6C}" type="slidenum">
              <a:rPr lang="en-US" smtClean="0"/>
              <a:pPr/>
              <a:t>19</a:t>
            </a:fld>
            <a:endParaRPr lang="en-US"/>
          </a:p>
        </p:txBody>
      </p:sp>
    </p:spTree>
    <p:extLst>
      <p:ext uri="{BB962C8B-B14F-4D97-AF65-F5344CB8AC3E}">
        <p14:creationId xmlns:p14="http://schemas.microsoft.com/office/powerpoint/2010/main" val="17803919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6D6AA351-6953-1E48-8EC4-68F89E579C6C}" type="slidenum">
              <a:rPr lang="en-US" smtClean="0"/>
              <a:pPr/>
              <a:t>20</a:t>
            </a:fld>
            <a:endParaRPr lang="en-US"/>
          </a:p>
        </p:txBody>
      </p:sp>
    </p:spTree>
    <p:extLst>
      <p:ext uri="{BB962C8B-B14F-4D97-AF65-F5344CB8AC3E}">
        <p14:creationId xmlns:p14="http://schemas.microsoft.com/office/powerpoint/2010/main" val="266261576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6D6AA351-6953-1E48-8EC4-68F89E579C6C}" type="slidenum">
              <a:rPr lang="en-US" smtClean="0"/>
              <a:pPr/>
              <a:t>21</a:t>
            </a:fld>
            <a:endParaRPr lang="en-US"/>
          </a:p>
        </p:txBody>
      </p:sp>
    </p:spTree>
    <p:extLst>
      <p:ext uri="{BB962C8B-B14F-4D97-AF65-F5344CB8AC3E}">
        <p14:creationId xmlns:p14="http://schemas.microsoft.com/office/powerpoint/2010/main" val="13496559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AU"/>
            </a:br>
            <a:endParaRPr lang="en-AU"/>
          </a:p>
        </p:txBody>
      </p:sp>
      <p:sp>
        <p:nvSpPr>
          <p:cNvPr id="4" name="Slide Number Placeholder 3"/>
          <p:cNvSpPr>
            <a:spLocks noGrp="1"/>
          </p:cNvSpPr>
          <p:nvPr>
            <p:ph type="sldNum" sz="quarter" idx="5"/>
          </p:nvPr>
        </p:nvSpPr>
        <p:spPr/>
        <p:txBody>
          <a:bodyPr/>
          <a:lstStyle/>
          <a:p>
            <a:fld id="{6D6AA351-6953-1E48-8EC4-68F89E579C6C}" type="slidenum">
              <a:rPr lang="en-US" smtClean="0"/>
              <a:pPr/>
              <a:t>22</a:t>
            </a:fld>
            <a:endParaRPr lang="en-US"/>
          </a:p>
        </p:txBody>
      </p:sp>
    </p:spTree>
    <p:extLst>
      <p:ext uri="{BB962C8B-B14F-4D97-AF65-F5344CB8AC3E}">
        <p14:creationId xmlns:p14="http://schemas.microsoft.com/office/powerpoint/2010/main" val="40300977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AU"/>
            </a:br>
            <a:endParaRPr lang="en-AU"/>
          </a:p>
        </p:txBody>
      </p:sp>
      <p:sp>
        <p:nvSpPr>
          <p:cNvPr id="4" name="Slide Number Placeholder 3"/>
          <p:cNvSpPr>
            <a:spLocks noGrp="1"/>
          </p:cNvSpPr>
          <p:nvPr>
            <p:ph type="sldNum" sz="quarter" idx="5"/>
          </p:nvPr>
        </p:nvSpPr>
        <p:spPr/>
        <p:txBody>
          <a:bodyPr/>
          <a:lstStyle/>
          <a:p>
            <a:fld id="{6D6AA351-6953-1E48-8EC4-68F89E579C6C}" type="slidenum">
              <a:rPr lang="en-US" smtClean="0"/>
              <a:pPr/>
              <a:t>23</a:t>
            </a:fld>
            <a:endParaRPr lang="en-US"/>
          </a:p>
        </p:txBody>
      </p:sp>
    </p:spTree>
    <p:extLst>
      <p:ext uri="{BB962C8B-B14F-4D97-AF65-F5344CB8AC3E}">
        <p14:creationId xmlns:p14="http://schemas.microsoft.com/office/powerpoint/2010/main" val="33633136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AU"/>
            </a:br>
            <a:endParaRPr lang="en-AU"/>
          </a:p>
        </p:txBody>
      </p:sp>
      <p:sp>
        <p:nvSpPr>
          <p:cNvPr id="4" name="Slide Number Placeholder 3"/>
          <p:cNvSpPr>
            <a:spLocks noGrp="1"/>
          </p:cNvSpPr>
          <p:nvPr>
            <p:ph type="sldNum" sz="quarter" idx="5"/>
          </p:nvPr>
        </p:nvSpPr>
        <p:spPr/>
        <p:txBody>
          <a:bodyPr/>
          <a:lstStyle/>
          <a:p>
            <a:fld id="{6D6AA351-6953-1E48-8EC4-68F89E579C6C}" type="slidenum">
              <a:rPr lang="en-US" smtClean="0"/>
              <a:pPr/>
              <a:t>25</a:t>
            </a:fld>
            <a:endParaRPr lang="en-US"/>
          </a:p>
        </p:txBody>
      </p:sp>
    </p:spTree>
    <p:extLst>
      <p:ext uri="{BB962C8B-B14F-4D97-AF65-F5344CB8AC3E}">
        <p14:creationId xmlns:p14="http://schemas.microsoft.com/office/powerpoint/2010/main" val="2065880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ED8FF-A107-C778-32B7-7A5FB3709D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F6BC2A27-8FC5-B2AF-82A6-94CD3BDCBE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655F4A4-C29D-5A31-34A7-505E3F2C1349}"/>
              </a:ext>
            </a:extLst>
          </p:cNvPr>
          <p:cNvSpPr>
            <a:spLocks noGrp="1"/>
          </p:cNvSpPr>
          <p:nvPr>
            <p:ph type="dt" sz="half" idx="10"/>
          </p:nvPr>
        </p:nvSpPr>
        <p:spPr/>
        <p:txBody>
          <a:bodyPr/>
          <a:lstStyle/>
          <a:p>
            <a:fld id="{1236A869-8D21-4460-BC95-A532E7594163}" type="datetimeFigureOut">
              <a:rPr lang="en-AU" smtClean="0"/>
              <a:t>16/06/2026</a:t>
            </a:fld>
            <a:endParaRPr lang="en-AU"/>
          </a:p>
        </p:txBody>
      </p:sp>
      <p:sp>
        <p:nvSpPr>
          <p:cNvPr id="5" name="Footer Placeholder 4">
            <a:extLst>
              <a:ext uri="{FF2B5EF4-FFF2-40B4-BE49-F238E27FC236}">
                <a16:creationId xmlns:a16="http://schemas.microsoft.com/office/drawing/2014/main" id="{D72BE615-BA15-F145-7346-3A3219856AB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81622B2-E57D-A1F7-8763-7CFB3588EF77}"/>
              </a:ext>
            </a:extLst>
          </p:cNvPr>
          <p:cNvSpPr>
            <a:spLocks noGrp="1"/>
          </p:cNvSpPr>
          <p:nvPr>
            <p:ph type="sldNum" sz="quarter" idx="12"/>
          </p:nvPr>
        </p:nvSpPr>
        <p:spPr/>
        <p:txBody>
          <a:bodyPr/>
          <a:lstStyle/>
          <a:p>
            <a:fld id="{DC0C9039-D45D-49B3-A3E6-68FBFEFA7D86}" type="slidenum">
              <a:rPr lang="en-AU" smtClean="0"/>
              <a:t>‹#›</a:t>
            </a:fld>
            <a:endParaRPr lang="en-AU"/>
          </a:p>
        </p:txBody>
      </p:sp>
    </p:spTree>
    <p:extLst>
      <p:ext uri="{BB962C8B-B14F-4D97-AF65-F5344CB8AC3E}">
        <p14:creationId xmlns:p14="http://schemas.microsoft.com/office/powerpoint/2010/main" val="3547665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B0D8D-288A-A67F-DABB-C4517506D38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772998C-2F18-34BB-AE6E-18E5D8E8BB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295E9DD-ACBE-3EC2-D43F-7A39232110C0}"/>
              </a:ext>
            </a:extLst>
          </p:cNvPr>
          <p:cNvSpPr>
            <a:spLocks noGrp="1"/>
          </p:cNvSpPr>
          <p:nvPr>
            <p:ph type="dt" sz="half" idx="10"/>
          </p:nvPr>
        </p:nvSpPr>
        <p:spPr/>
        <p:txBody>
          <a:bodyPr/>
          <a:lstStyle/>
          <a:p>
            <a:fld id="{1236A869-8D21-4460-BC95-A532E7594163}" type="datetimeFigureOut">
              <a:rPr lang="en-AU" smtClean="0"/>
              <a:t>16/06/2026</a:t>
            </a:fld>
            <a:endParaRPr lang="en-AU"/>
          </a:p>
        </p:txBody>
      </p:sp>
      <p:sp>
        <p:nvSpPr>
          <p:cNvPr id="5" name="Footer Placeholder 4">
            <a:extLst>
              <a:ext uri="{FF2B5EF4-FFF2-40B4-BE49-F238E27FC236}">
                <a16:creationId xmlns:a16="http://schemas.microsoft.com/office/drawing/2014/main" id="{E30A4973-C377-CFB2-C6D8-03EE5460DA7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C638BA0-7067-A439-6E1E-183383DB9A55}"/>
              </a:ext>
            </a:extLst>
          </p:cNvPr>
          <p:cNvSpPr>
            <a:spLocks noGrp="1"/>
          </p:cNvSpPr>
          <p:nvPr>
            <p:ph type="sldNum" sz="quarter" idx="12"/>
          </p:nvPr>
        </p:nvSpPr>
        <p:spPr/>
        <p:txBody>
          <a:bodyPr/>
          <a:lstStyle/>
          <a:p>
            <a:fld id="{DC0C9039-D45D-49B3-A3E6-68FBFEFA7D86}" type="slidenum">
              <a:rPr lang="en-AU" smtClean="0"/>
              <a:t>‹#›</a:t>
            </a:fld>
            <a:endParaRPr lang="en-AU"/>
          </a:p>
        </p:txBody>
      </p:sp>
    </p:spTree>
    <p:extLst>
      <p:ext uri="{BB962C8B-B14F-4D97-AF65-F5344CB8AC3E}">
        <p14:creationId xmlns:p14="http://schemas.microsoft.com/office/powerpoint/2010/main" val="16709863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1EC9E-BE63-E311-0B92-C2275F655B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C758304-F108-D2D2-CC01-A7D7A58E21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0350838-55B5-C1AE-356E-050A30A4B8C2}"/>
              </a:ext>
            </a:extLst>
          </p:cNvPr>
          <p:cNvSpPr>
            <a:spLocks noGrp="1"/>
          </p:cNvSpPr>
          <p:nvPr>
            <p:ph type="dt" sz="half" idx="10"/>
          </p:nvPr>
        </p:nvSpPr>
        <p:spPr/>
        <p:txBody>
          <a:bodyPr/>
          <a:lstStyle/>
          <a:p>
            <a:fld id="{1236A869-8D21-4460-BC95-A532E7594163}" type="datetimeFigureOut">
              <a:rPr lang="en-AU" smtClean="0"/>
              <a:t>16/06/2026</a:t>
            </a:fld>
            <a:endParaRPr lang="en-AU"/>
          </a:p>
        </p:txBody>
      </p:sp>
      <p:sp>
        <p:nvSpPr>
          <p:cNvPr id="5" name="Footer Placeholder 4">
            <a:extLst>
              <a:ext uri="{FF2B5EF4-FFF2-40B4-BE49-F238E27FC236}">
                <a16:creationId xmlns:a16="http://schemas.microsoft.com/office/drawing/2014/main" id="{67EF16E0-39B5-5529-F288-3DFE6ECE988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70FD8BC-7A81-DD01-AA4C-505C8A403FA3}"/>
              </a:ext>
            </a:extLst>
          </p:cNvPr>
          <p:cNvSpPr>
            <a:spLocks noGrp="1"/>
          </p:cNvSpPr>
          <p:nvPr>
            <p:ph type="sldNum" sz="quarter" idx="12"/>
          </p:nvPr>
        </p:nvSpPr>
        <p:spPr/>
        <p:txBody>
          <a:bodyPr/>
          <a:lstStyle/>
          <a:p>
            <a:fld id="{DC0C9039-D45D-49B3-A3E6-68FBFEFA7D86}" type="slidenum">
              <a:rPr lang="en-AU" smtClean="0"/>
              <a:t>‹#›</a:t>
            </a:fld>
            <a:endParaRPr lang="en-AU"/>
          </a:p>
        </p:txBody>
      </p:sp>
    </p:spTree>
    <p:extLst>
      <p:ext uri="{BB962C8B-B14F-4D97-AF65-F5344CB8AC3E}">
        <p14:creationId xmlns:p14="http://schemas.microsoft.com/office/powerpoint/2010/main" val="2881291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16DC1-BED0-5AC4-5332-5E49EE7BEB6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0F6A028B-85F4-8652-E87A-D067488B88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FC02ABF2-9F34-A112-24AA-7D79C0CC03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5DEC736A-3988-A7BD-EB42-ECF3A2E47591}"/>
              </a:ext>
            </a:extLst>
          </p:cNvPr>
          <p:cNvSpPr>
            <a:spLocks noGrp="1"/>
          </p:cNvSpPr>
          <p:nvPr>
            <p:ph type="dt" sz="half" idx="10"/>
          </p:nvPr>
        </p:nvSpPr>
        <p:spPr/>
        <p:txBody>
          <a:bodyPr/>
          <a:lstStyle/>
          <a:p>
            <a:fld id="{1236A869-8D21-4460-BC95-A532E7594163}" type="datetimeFigureOut">
              <a:rPr lang="en-AU" smtClean="0"/>
              <a:t>16/06/2026</a:t>
            </a:fld>
            <a:endParaRPr lang="en-AU"/>
          </a:p>
        </p:txBody>
      </p:sp>
      <p:sp>
        <p:nvSpPr>
          <p:cNvPr id="6" name="Footer Placeholder 5">
            <a:extLst>
              <a:ext uri="{FF2B5EF4-FFF2-40B4-BE49-F238E27FC236}">
                <a16:creationId xmlns:a16="http://schemas.microsoft.com/office/drawing/2014/main" id="{1F83B71C-D90F-4152-2D4A-4C1A415599E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8D6570AF-7538-47F4-8C95-0078D67233EB}"/>
              </a:ext>
            </a:extLst>
          </p:cNvPr>
          <p:cNvSpPr>
            <a:spLocks noGrp="1"/>
          </p:cNvSpPr>
          <p:nvPr>
            <p:ph type="sldNum" sz="quarter" idx="12"/>
          </p:nvPr>
        </p:nvSpPr>
        <p:spPr/>
        <p:txBody>
          <a:bodyPr/>
          <a:lstStyle/>
          <a:p>
            <a:fld id="{DC0C9039-D45D-49B3-A3E6-68FBFEFA7D86}" type="slidenum">
              <a:rPr lang="en-AU" smtClean="0"/>
              <a:t>‹#›</a:t>
            </a:fld>
            <a:endParaRPr lang="en-AU"/>
          </a:p>
        </p:txBody>
      </p:sp>
    </p:spTree>
    <p:extLst>
      <p:ext uri="{BB962C8B-B14F-4D97-AF65-F5344CB8AC3E}">
        <p14:creationId xmlns:p14="http://schemas.microsoft.com/office/powerpoint/2010/main" val="3646602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99DC0-F7D7-1BCA-ABB4-92279BBF12F0}"/>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79E6ACB1-5F78-D0C6-2188-21359A6DBC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7C0D31D-0680-7167-85B3-B49018EF330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87649686-8B5E-53BB-81E4-F2DFE62CA1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05D0A5-6A5E-71FE-20B3-39B4856614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DB6E34AB-7865-37E0-9F35-51D002F983A4}"/>
              </a:ext>
            </a:extLst>
          </p:cNvPr>
          <p:cNvSpPr>
            <a:spLocks noGrp="1"/>
          </p:cNvSpPr>
          <p:nvPr>
            <p:ph type="dt" sz="half" idx="10"/>
          </p:nvPr>
        </p:nvSpPr>
        <p:spPr/>
        <p:txBody>
          <a:bodyPr/>
          <a:lstStyle/>
          <a:p>
            <a:fld id="{1236A869-8D21-4460-BC95-A532E7594163}" type="datetimeFigureOut">
              <a:rPr lang="en-AU" smtClean="0"/>
              <a:t>16/06/2026</a:t>
            </a:fld>
            <a:endParaRPr lang="en-AU"/>
          </a:p>
        </p:txBody>
      </p:sp>
      <p:sp>
        <p:nvSpPr>
          <p:cNvPr id="8" name="Footer Placeholder 7">
            <a:extLst>
              <a:ext uri="{FF2B5EF4-FFF2-40B4-BE49-F238E27FC236}">
                <a16:creationId xmlns:a16="http://schemas.microsoft.com/office/drawing/2014/main" id="{07EFB8FC-545A-67DB-A974-549E122FB0D3}"/>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FE465BE0-EF35-46E5-E9C1-0C422DA147A1}"/>
              </a:ext>
            </a:extLst>
          </p:cNvPr>
          <p:cNvSpPr>
            <a:spLocks noGrp="1"/>
          </p:cNvSpPr>
          <p:nvPr>
            <p:ph type="sldNum" sz="quarter" idx="12"/>
          </p:nvPr>
        </p:nvSpPr>
        <p:spPr/>
        <p:txBody>
          <a:bodyPr/>
          <a:lstStyle/>
          <a:p>
            <a:fld id="{DC0C9039-D45D-49B3-A3E6-68FBFEFA7D86}" type="slidenum">
              <a:rPr lang="en-AU" smtClean="0"/>
              <a:t>‹#›</a:t>
            </a:fld>
            <a:endParaRPr lang="en-AU"/>
          </a:p>
        </p:txBody>
      </p:sp>
    </p:spTree>
    <p:extLst>
      <p:ext uri="{BB962C8B-B14F-4D97-AF65-F5344CB8AC3E}">
        <p14:creationId xmlns:p14="http://schemas.microsoft.com/office/powerpoint/2010/main" val="791209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BD5E0-BB63-7E0F-9947-76B615E0BD39}"/>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B72972AC-0E84-B1E4-7EC9-4E24493E79D0}"/>
              </a:ext>
            </a:extLst>
          </p:cNvPr>
          <p:cNvSpPr>
            <a:spLocks noGrp="1"/>
          </p:cNvSpPr>
          <p:nvPr>
            <p:ph type="dt" sz="half" idx="10"/>
          </p:nvPr>
        </p:nvSpPr>
        <p:spPr/>
        <p:txBody>
          <a:bodyPr/>
          <a:lstStyle/>
          <a:p>
            <a:fld id="{1236A869-8D21-4460-BC95-A532E7594163}" type="datetimeFigureOut">
              <a:rPr lang="en-AU" smtClean="0"/>
              <a:t>16/06/2026</a:t>
            </a:fld>
            <a:endParaRPr lang="en-AU"/>
          </a:p>
        </p:txBody>
      </p:sp>
      <p:sp>
        <p:nvSpPr>
          <p:cNvPr id="4" name="Footer Placeholder 3">
            <a:extLst>
              <a:ext uri="{FF2B5EF4-FFF2-40B4-BE49-F238E27FC236}">
                <a16:creationId xmlns:a16="http://schemas.microsoft.com/office/drawing/2014/main" id="{C791132E-2C21-2253-2317-D2986002A73C}"/>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CA68D161-316D-9C09-9936-66540F0D1CF0}"/>
              </a:ext>
            </a:extLst>
          </p:cNvPr>
          <p:cNvSpPr>
            <a:spLocks noGrp="1"/>
          </p:cNvSpPr>
          <p:nvPr>
            <p:ph type="sldNum" sz="quarter" idx="12"/>
          </p:nvPr>
        </p:nvSpPr>
        <p:spPr/>
        <p:txBody>
          <a:bodyPr/>
          <a:lstStyle/>
          <a:p>
            <a:fld id="{DC0C9039-D45D-49B3-A3E6-68FBFEFA7D86}" type="slidenum">
              <a:rPr lang="en-AU" smtClean="0"/>
              <a:t>‹#›</a:t>
            </a:fld>
            <a:endParaRPr lang="en-AU"/>
          </a:p>
        </p:txBody>
      </p:sp>
    </p:spTree>
    <p:extLst>
      <p:ext uri="{BB962C8B-B14F-4D97-AF65-F5344CB8AC3E}">
        <p14:creationId xmlns:p14="http://schemas.microsoft.com/office/powerpoint/2010/main" val="39783234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3B999D-2255-F0AA-8709-DF21C0393810}"/>
              </a:ext>
            </a:extLst>
          </p:cNvPr>
          <p:cNvSpPr>
            <a:spLocks noGrp="1"/>
          </p:cNvSpPr>
          <p:nvPr>
            <p:ph type="dt" sz="half" idx="10"/>
          </p:nvPr>
        </p:nvSpPr>
        <p:spPr/>
        <p:txBody>
          <a:bodyPr/>
          <a:lstStyle/>
          <a:p>
            <a:fld id="{1236A869-8D21-4460-BC95-A532E7594163}" type="datetimeFigureOut">
              <a:rPr lang="en-AU" smtClean="0"/>
              <a:t>16/06/2026</a:t>
            </a:fld>
            <a:endParaRPr lang="en-AU"/>
          </a:p>
        </p:txBody>
      </p:sp>
      <p:sp>
        <p:nvSpPr>
          <p:cNvPr id="3" name="Footer Placeholder 2">
            <a:extLst>
              <a:ext uri="{FF2B5EF4-FFF2-40B4-BE49-F238E27FC236}">
                <a16:creationId xmlns:a16="http://schemas.microsoft.com/office/drawing/2014/main" id="{A92672FC-982A-F27A-996D-B2D7C867B9B9}"/>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E98B83CD-2AF1-4848-C7C2-A6789A3E5AD5}"/>
              </a:ext>
            </a:extLst>
          </p:cNvPr>
          <p:cNvSpPr>
            <a:spLocks noGrp="1"/>
          </p:cNvSpPr>
          <p:nvPr>
            <p:ph type="sldNum" sz="quarter" idx="12"/>
          </p:nvPr>
        </p:nvSpPr>
        <p:spPr/>
        <p:txBody>
          <a:bodyPr/>
          <a:lstStyle/>
          <a:p>
            <a:fld id="{DC0C9039-D45D-49B3-A3E6-68FBFEFA7D86}" type="slidenum">
              <a:rPr lang="en-AU" smtClean="0"/>
              <a:t>‹#›</a:t>
            </a:fld>
            <a:endParaRPr lang="en-AU"/>
          </a:p>
        </p:txBody>
      </p:sp>
    </p:spTree>
    <p:extLst>
      <p:ext uri="{BB962C8B-B14F-4D97-AF65-F5344CB8AC3E}">
        <p14:creationId xmlns:p14="http://schemas.microsoft.com/office/powerpoint/2010/main" val="759492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33326-96A3-8AC4-1DF7-C82A3D5E8A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6DB75057-26BA-29DE-FBB6-0B0DD7499B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FADCB4DF-291A-E438-AF99-3ECD04AF78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D5C3AD-0A88-0367-90A9-8E01B95A47DD}"/>
              </a:ext>
            </a:extLst>
          </p:cNvPr>
          <p:cNvSpPr>
            <a:spLocks noGrp="1"/>
          </p:cNvSpPr>
          <p:nvPr>
            <p:ph type="dt" sz="half" idx="10"/>
          </p:nvPr>
        </p:nvSpPr>
        <p:spPr/>
        <p:txBody>
          <a:bodyPr/>
          <a:lstStyle/>
          <a:p>
            <a:fld id="{1236A869-8D21-4460-BC95-A532E7594163}" type="datetimeFigureOut">
              <a:rPr lang="en-AU" smtClean="0"/>
              <a:t>16/06/2026</a:t>
            </a:fld>
            <a:endParaRPr lang="en-AU"/>
          </a:p>
        </p:txBody>
      </p:sp>
      <p:sp>
        <p:nvSpPr>
          <p:cNvPr id="6" name="Footer Placeholder 5">
            <a:extLst>
              <a:ext uri="{FF2B5EF4-FFF2-40B4-BE49-F238E27FC236}">
                <a16:creationId xmlns:a16="http://schemas.microsoft.com/office/drawing/2014/main" id="{A6253058-54D6-A947-5B19-481B14E4C18F}"/>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FAC7772-359D-B72D-6881-A477862F1A28}"/>
              </a:ext>
            </a:extLst>
          </p:cNvPr>
          <p:cNvSpPr>
            <a:spLocks noGrp="1"/>
          </p:cNvSpPr>
          <p:nvPr>
            <p:ph type="sldNum" sz="quarter" idx="12"/>
          </p:nvPr>
        </p:nvSpPr>
        <p:spPr/>
        <p:txBody>
          <a:bodyPr/>
          <a:lstStyle/>
          <a:p>
            <a:fld id="{DC0C9039-D45D-49B3-A3E6-68FBFEFA7D86}" type="slidenum">
              <a:rPr lang="en-AU" smtClean="0"/>
              <a:t>‹#›</a:t>
            </a:fld>
            <a:endParaRPr lang="en-AU"/>
          </a:p>
        </p:txBody>
      </p:sp>
    </p:spTree>
    <p:extLst>
      <p:ext uri="{BB962C8B-B14F-4D97-AF65-F5344CB8AC3E}">
        <p14:creationId xmlns:p14="http://schemas.microsoft.com/office/powerpoint/2010/main" val="603149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1F9AF-1EC2-F149-F6CA-C0389F7F1D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E7A88492-42EA-5BDA-DE0A-DCAB9A42EE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981382BF-5C50-0C19-AA2D-57FFECA8F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470748-499D-EB09-86BE-2BC3920C2292}"/>
              </a:ext>
            </a:extLst>
          </p:cNvPr>
          <p:cNvSpPr>
            <a:spLocks noGrp="1"/>
          </p:cNvSpPr>
          <p:nvPr>
            <p:ph type="dt" sz="half" idx="10"/>
          </p:nvPr>
        </p:nvSpPr>
        <p:spPr/>
        <p:txBody>
          <a:bodyPr/>
          <a:lstStyle/>
          <a:p>
            <a:fld id="{1236A869-8D21-4460-BC95-A532E7594163}" type="datetimeFigureOut">
              <a:rPr lang="en-AU" smtClean="0"/>
              <a:t>16/06/2026</a:t>
            </a:fld>
            <a:endParaRPr lang="en-AU"/>
          </a:p>
        </p:txBody>
      </p:sp>
      <p:sp>
        <p:nvSpPr>
          <p:cNvPr id="6" name="Footer Placeholder 5">
            <a:extLst>
              <a:ext uri="{FF2B5EF4-FFF2-40B4-BE49-F238E27FC236}">
                <a16:creationId xmlns:a16="http://schemas.microsoft.com/office/drawing/2014/main" id="{17547686-E461-E989-2024-D1D92C2E1B8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56DB372-2270-5C0F-2839-0E16EAC191DB}"/>
              </a:ext>
            </a:extLst>
          </p:cNvPr>
          <p:cNvSpPr>
            <a:spLocks noGrp="1"/>
          </p:cNvSpPr>
          <p:nvPr>
            <p:ph type="sldNum" sz="quarter" idx="12"/>
          </p:nvPr>
        </p:nvSpPr>
        <p:spPr/>
        <p:txBody>
          <a:bodyPr/>
          <a:lstStyle/>
          <a:p>
            <a:fld id="{DC0C9039-D45D-49B3-A3E6-68FBFEFA7D86}" type="slidenum">
              <a:rPr lang="en-AU" smtClean="0"/>
              <a:t>‹#›</a:t>
            </a:fld>
            <a:endParaRPr lang="en-AU"/>
          </a:p>
        </p:txBody>
      </p:sp>
    </p:spTree>
    <p:extLst>
      <p:ext uri="{BB962C8B-B14F-4D97-AF65-F5344CB8AC3E}">
        <p14:creationId xmlns:p14="http://schemas.microsoft.com/office/powerpoint/2010/main" val="2794485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7DEC2-4A36-AD4A-98AC-5E02C4D0279F}"/>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7444B03A-91A9-9AB5-DC7D-92DB2647EAE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7BC1D439-3748-C0FB-F7B4-59FE06D445E8}"/>
              </a:ext>
            </a:extLst>
          </p:cNvPr>
          <p:cNvSpPr>
            <a:spLocks noGrp="1"/>
          </p:cNvSpPr>
          <p:nvPr>
            <p:ph type="dt" sz="half" idx="10"/>
          </p:nvPr>
        </p:nvSpPr>
        <p:spPr/>
        <p:txBody>
          <a:bodyPr/>
          <a:lstStyle/>
          <a:p>
            <a:fld id="{1236A869-8D21-4460-BC95-A532E7594163}" type="datetimeFigureOut">
              <a:rPr lang="en-AU" smtClean="0"/>
              <a:t>16/06/2026</a:t>
            </a:fld>
            <a:endParaRPr lang="en-AU"/>
          </a:p>
        </p:txBody>
      </p:sp>
      <p:sp>
        <p:nvSpPr>
          <p:cNvPr id="5" name="Footer Placeholder 4">
            <a:extLst>
              <a:ext uri="{FF2B5EF4-FFF2-40B4-BE49-F238E27FC236}">
                <a16:creationId xmlns:a16="http://schemas.microsoft.com/office/drawing/2014/main" id="{41C83724-FA75-49EA-1AF2-B492ED6A991D}"/>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EAF2BA8-969C-A18D-414A-BE01ABE02C2F}"/>
              </a:ext>
            </a:extLst>
          </p:cNvPr>
          <p:cNvSpPr>
            <a:spLocks noGrp="1"/>
          </p:cNvSpPr>
          <p:nvPr>
            <p:ph type="sldNum" sz="quarter" idx="12"/>
          </p:nvPr>
        </p:nvSpPr>
        <p:spPr/>
        <p:txBody>
          <a:bodyPr/>
          <a:lstStyle/>
          <a:p>
            <a:fld id="{DC0C9039-D45D-49B3-A3E6-68FBFEFA7D86}" type="slidenum">
              <a:rPr lang="en-AU" smtClean="0"/>
              <a:t>‹#›</a:t>
            </a:fld>
            <a:endParaRPr lang="en-AU"/>
          </a:p>
        </p:txBody>
      </p:sp>
    </p:spTree>
    <p:extLst>
      <p:ext uri="{BB962C8B-B14F-4D97-AF65-F5344CB8AC3E}">
        <p14:creationId xmlns:p14="http://schemas.microsoft.com/office/powerpoint/2010/main" val="2595638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F4930E0-DCA7-7981-6A45-65A51D9A49E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BF897FD-F7DC-1DC8-FCF7-A6721D3416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5B6D462-73BA-345B-63C0-4F5EEB079E4F}"/>
              </a:ext>
            </a:extLst>
          </p:cNvPr>
          <p:cNvSpPr>
            <a:spLocks noGrp="1"/>
          </p:cNvSpPr>
          <p:nvPr>
            <p:ph type="dt" sz="half" idx="10"/>
          </p:nvPr>
        </p:nvSpPr>
        <p:spPr/>
        <p:txBody>
          <a:bodyPr/>
          <a:lstStyle/>
          <a:p>
            <a:fld id="{1236A869-8D21-4460-BC95-A532E7594163}" type="datetimeFigureOut">
              <a:rPr lang="en-AU" smtClean="0"/>
              <a:t>16/06/2026</a:t>
            </a:fld>
            <a:endParaRPr lang="en-AU"/>
          </a:p>
        </p:txBody>
      </p:sp>
      <p:sp>
        <p:nvSpPr>
          <p:cNvPr id="5" name="Footer Placeholder 4">
            <a:extLst>
              <a:ext uri="{FF2B5EF4-FFF2-40B4-BE49-F238E27FC236}">
                <a16:creationId xmlns:a16="http://schemas.microsoft.com/office/drawing/2014/main" id="{4A0F6D6E-1027-B724-F38D-2DC3E5CF76D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DDCF39B-60CF-3237-B139-113776C79976}"/>
              </a:ext>
            </a:extLst>
          </p:cNvPr>
          <p:cNvSpPr>
            <a:spLocks noGrp="1"/>
          </p:cNvSpPr>
          <p:nvPr>
            <p:ph type="sldNum" sz="quarter" idx="12"/>
          </p:nvPr>
        </p:nvSpPr>
        <p:spPr/>
        <p:txBody>
          <a:bodyPr/>
          <a:lstStyle/>
          <a:p>
            <a:fld id="{DC0C9039-D45D-49B3-A3E6-68FBFEFA7D86}" type="slidenum">
              <a:rPr lang="en-AU" smtClean="0"/>
              <a:t>‹#›</a:t>
            </a:fld>
            <a:endParaRPr lang="en-AU"/>
          </a:p>
        </p:txBody>
      </p:sp>
    </p:spTree>
    <p:extLst>
      <p:ext uri="{BB962C8B-B14F-4D97-AF65-F5344CB8AC3E}">
        <p14:creationId xmlns:p14="http://schemas.microsoft.com/office/powerpoint/2010/main" val="2521597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9697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B3D74E-DF5D-3890-9384-1079108929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87239FFB-8C69-28FA-9C95-3F5CDC67EA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3822DD2-C45D-25A7-0B4A-FC8E819877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236A869-8D21-4460-BC95-A532E7594163}" type="datetimeFigureOut">
              <a:rPr lang="en-AU" smtClean="0"/>
              <a:t>16/06/2026</a:t>
            </a:fld>
            <a:endParaRPr lang="en-AU"/>
          </a:p>
        </p:txBody>
      </p:sp>
      <p:sp>
        <p:nvSpPr>
          <p:cNvPr id="5" name="Footer Placeholder 4">
            <a:extLst>
              <a:ext uri="{FF2B5EF4-FFF2-40B4-BE49-F238E27FC236}">
                <a16:creationId xmlns:a16="http://schemas.microsoft.com/office/drawing/2014/main" id="{EF377DEA-C103-7D2C-5723-1E5E6E3FFA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BD0F0AF5-C917-69E3-7701-A4B1C34CB0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0C9039-D45D-49B3-A3E6-68FBFEFA7D86}" type="slidenum">
              <a:rPr lang="en-AU" smtClean="0"/>
              <a:t>‹#›</a:t>
            </a:fld>
            <a:endParaRPr lang="en-AU"/>
          </a:p>
        </p:txBody>
      </p:sp>
    </p:spTree>
    <p:extLst>
      <p:ext uri="{BB962C8B-B14F-4D97-AF65-F5344CB8AC3E}">
        <p14:creationId xmlns:p14="http://schemas.microsoft.com/office/powerpoint/2010/main" val="19183100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a_wide_high_resolution_futuristic_infographic_dia.png"/>
          <p:cNvPicPr>
            <a:picLocks noChangeAspect="1"/>
          </p:cNvPicPr>
          <p:nvPr/>
        </p:nvPicPr>
        <p:blipFill>
          <a:blip r:embed="rId3"/>
          <a:srcRect t="25" b="25"/>
          <a:stretch/>
        </p:blipFill>
        <p:spPr>
          <a:xfrm>
            <a:off x="0" y="0"/>
            <a:ext cx="12191695" cy="6858000"/>
          </a:xfrm>
          <a:prstGeom prst="rect">
            <a:avLst/>
          </a:prstGeom>
        </p:spPr>
      </p:pic>
      <p:sp>
        <p:nvSpPr>
          <p:cNvPr id="3" name="Text 0"/>
          <p:cNvSpPr/>
          <p:nvPr/>
        </p:nvSpPr>
        <p:spPr>
          <a:xfrm>
            <a:off x="640080" y="594360"/>
            <a:ext cx="2011680" cy="320040"/>
          </a:xfrm>
          <a:prstGeom prst="rect">
            <a:avLst/>
          </a:prstGeom>
          <a:noFill/>
          <a:ln/>
        </p:spPr>
        <p:txBody>
          <a:bodyPr wrap="square" lIns="0" tIns="0" rIns="0" bIns="0" rtlCol="0" anchor="ctr"/>
          <a:lstStyle/>
          <a:p>
            <a:pPr marL="0" indent="0">
              <a:buNone/>
            </a:pPr>
            <a:r>
              <a:rPr lang="en-US" sz="1700" b="1">
                <a:solidFill>
                  <a:srgbClr val="8EC5FF"/>
                </a:solidFill>
              </a:rPr>
              <a:t>Module 3</a:t>
            </a:r>
            <a:endParaRPr lang="en-US" sz="1700"/>
          </a:p>
        </p:txBody>
      </p:sp>
      <p:sp>
        <p:nvSpPr>
          <p:cNvPr id="4" name="Text 1"/>
          <p:cNvSpPr/>
          <p:nvPr/>
        </p:nvSpPr>
        <p:spPr>
          <a:xfrm>
            <a:off x="640080" y="1060704"/>
            <a:ext cx="6583680" cy="1325880"/>
          </a:xfrm>
          <a:prstGeom prst="rect">
            <a:avLst/>
          </a:prstGeom>
          <a:noFill/>
          <a:ln/>
        </p:spPr>
        <p:txBody>
          <a:bodyPr wrap="square" lIns="0" tIns="0" rIns="0" bIns="0" rtlCol="0" anchor="ctr"/>
          <a:lstStyle/>
          <a:p>
            <a:pPr marL="0" indent="0">
              <a:buNone/>
            </a:pPr>
            <a:r>
              <a:rPr lang="en-US" sz="4200" b="1">
                <a:solidFill>
                  <a:srgbClr val="FFFFFF"/>
                </a:solidFill>
                <a:latin typeface="Aptos Display" pitchFamily="34" charset="0"/>
                <a:ea typeface="Aptos Display" pitchFamily="34" charset="-122"/>
                <a:cs typeface="Aptos Display" pitchFamily="34" charset="-120"/>
              </a:rPr>
              <a:t>Big Data Integration</a:t>
            </a:r>
            <a:endParaRPr lang="en-US" sz="4200"/>
          </a:p>
          <a:p>
            <a:pPr marL="0" indent="0">
              <a:buNone/>
            </a:pPr>
            <a:r>
              <a:rPr lang="en-US" sz="4200" b="1">
                <a:solidFill>
                  <a:srgbClr val="FFFFFF"/>
                </a:solidFill>
                <a:latin typeface="Aptos Display" pitchFamily="34" charset="0"/>
                <a:ea typeface="Aptos Display" pitchFamily="34" charset="-122"/>
                <a:cs typeface="Aptos Display" pitchFamily="34" charset="-120"/>
              </a:rPr>
              <a:t>and Storage</a:t>
            </a:r>
            <a:endParaRPr lang="en-US" sz="4200"/>
          </a:p>
        </p:txBody>
      </p:sp>
      <p:sp>
        <p:nvSpPr>
          <p:cNvPr id="5" name="Text 2"/>
          <p:cNvSpPr/>
          <p:nvPr/>
        </p:nvSpPr>
        <p:spPr>
          <a:xfrm>
            <a:off x="685800" y="2697480"/>
            <a:ext cx="6949440" cy="320040"/>
          </a:xfrm>
          <a:prstGeom prst="rect">
            <a:avLst/>
          </a:prstGeom>
          <a:noFill/>
          <a:ln/>
        </p:spPr>
        <p:txBody>
          <a:bodyPr wrap="square" lIns="0" tIns="0" rIns="0" bIns="0" rtlCol="0" anchor="ctr"/>
          <a:lstStyle/>
          <a:p>
            <a:pPr marL="0" indent="0">
              <a:buNone/>
            </a:pPr>
            <a:r>
              <a:rPr lang="en-US" sz="1600">
                <a:solidFill>
                  <a:srgbClr val="DCEBFF"/>
                </a:solidFill>
              </a:rPr>
              <a:t>From sourced data to trusted, enriched, retrieval-ready data assets</a:t>
            </a:r>
            <a:endParaRPr lang="en-US" sz="1600"/>
          </a:p>
        </p:txBody>
      </p:sp>
      <p:sp>
        <p:nvSpPr>
          <p:cNvPr id="6" name="Shape 3"/>
          <p:cNvSpPr/>
          <p:nvPr/>
        </p:nvSpPr>
        <p:spPr>
          <a:xfrm>
            <a:off x="685800" y="3246120"/>
            <a:ext cx="2651760" cy="329184"/>
          </a:xfrm>
          <a:prstGeom prst="roundRect">
            <a:avLst>
              <a:gd name="adj" fmla="val 22222"/>
            </a:avLst>
          </a:prstGeom>
          <a:solidFill>
            <a:srgbClr val="00A7A5">
              <a:alpha val="92000"/>
            </a:srgbClr>
          </a:solidFill>
          <a:ln w="12700">
            <a:solidFill>
              <a:srgbClr val="00A7A5">
                <a:alpha val="0"/>
              </a:srgbClr>
            </a:solidFill>
            <a:prstDash val="solid"/>
          </a:ln>
        </p:spPr>
        <p:txBody>
          <a:bodyPr/>
          <a:lstStyle/>
          <a:p>
            <a:endParaRPr lang="en-AU"/>
          </a:p>
        </p:txBody>
      </p:sp>
      <p:sp>
        <p:nvSpPr>
          <p:cNvPr id="7" name="Text 4"/>
          <p:cNvSpPr/>
          <p:nvPr/>
        </p:nvSpPr>
        <p:spPr>
          <a:xfrm>
            <a:off x="795528" y="3328416"/>
            <a:ext cx="2432304" cy="164592"/>
          </a:xfrm>
          <a:prstGeom prst="rect">
            <a:avLst/>
          </a:prstGeom>
          <a:noFill/>
          <a:ln/>
        </p:spPr>
        <p:txBody>
          <a:bodyPr wrap="square" lIns="0" tIns="0" rIns="0" bIns="0" rtlCol="0" anchor="ctr"/>
          <a:lstStyle/>
          <a:p>
            <a:pPr marL="0" indent="0" algn="ctr">
              <a:buNone/>
            </a:pPr>
            <a:r>
              <a:rPr lang="en-US" sz="1400" b="1">
                <a:solidFill>
                  <a:srgbClr val="FFFFFF"/>
                </a:solidFill>
              </a:rPr>
              <a:t>Data lake management tier</a:t>
            </a:r>
            <a:endParaRPr lang="en-US" sz="1400"/>
          </a:p>
        </p:txBody>
      </p:sp>
      <p:sp>
        <p:nvSpPr>
          <p:cNvPr id="8" name="Shape 5"/>
          <p:cNvSpPr/>
          <p:nvPr/>
        </p:nvSpPr>
        <p:spPr>
          <a:xfrm>
            <a:off x="3520440" y="3246120"/>
            <a:ext cx="3749040" cy="329184"/>
          </a:xfrm>
          <a:prstGeom prst="roundRect">
            <a:avLst>
              <a:gd name="adj" fmla="val 22222"/>
            </a:avLst>
          </a:prstGeom>
          <a:solidFill>
            <a:srgbClr val="1665D8">
              <a:alpha val="92000"/>
            </a:srgbClr>
          </a:solidFill>
          <a:ln w="12700">
            <a:solidFill>
              <a:srgbClr val="1665D8">
                <a:alpha val="0"/>
              </a:srgbClr>
            </a:solidFill>
            <a:prstDash val="solid"/>
          </a:ln>
        </p:spPr>
        <p:txBody>
          <a:bodyPr/>
          <a:lstStyle/>
          <a:p>
            <a:endParaRPr lang="en-AU"/>
          </a:p>
        </p:txBody>
      </p:sp>
      <p:sp>
        <p:nvSpPr>
          <p:cNvPr id="9" name="Text 6"/>
          <p:cNvSpPr/>
          <p:nvPr/>
        </p:nvSpPr>
        <p:spPr>
          <a:xfrm>
            <a:off x="3630168" y="3328416"/>
            <a:ext cx="3529584" cy="164592"/>
          </a:xfrm>
          <a:prstGeom prst="rect">
            <a:avLst/>
          </a:prstGeom>
          <a:noFill/>
          <a:ln/>
        </p:spPr>
        <p:txBody>
          <a:bodyPr wrap="square" lIns="0" tIns="0" rIns="0" bIns="0" rtlCol="0" anchor="ctr"/>
          <a:lstStyle/>
          <a:p>
            <a:pPr marL="0" indent="0" algn="ctr">
              <a:buNone/>
            </a:pPr>
            <a:r>
              <a:rPr lang="en-US" sz="1200" b="1">
                <a:solidFill>
                  <a:srgbClr val="FFFFFF"/>
                </a:solidFill>
              </a:rPr>
              <a:t>Integration • Quality • Enrichment • Storage</a:t>
            </a:r>
            <a:endParaRPr lang="en-US" sz="1200"/>
          </a:p>
        </p:txBody>
      </p:sp>
      <p:sp>
        <p:nvSpPr>
          <p:cNvPr id="10" name="Text 7"/>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1</a:t>
            </a:r>
            <a:endParaRPr lang="en-US" sz="800"/>
          </a:p>
        </p:txBody>
      </p:sp>
      <p:pic>
        <p:nvPicPr>
          <p:cNvPr id="12" name="Picture 11" descr="A logo with orange and grey text&#10;&#10;Description automatically generated">
            <a:extLst>
              <a:ext uri="{FF2B5EF4-FFF2-40B4-BE49-F238E27FC236}">
                <a16:creationId xmlns:a16="http://schemas.microsoft.com/office/drawing/2014/main" id="{29CC4D6A-CCB9-04DC-7607-27E5812B34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
        <p:nvSpPr>
          <p:cNvPr id="11" name="Text 4">
            <a:extLst>
              <a:ext uri="{FF2B5EF4-FFF2-40B4-BE49-F238E27FC236}">
                <a16:creationId xmlns:a16="http://schemas.microsoft.com/office/drawing/2014/main" id="{15B957E5-4D5F-95F5-A850-FEE8AD85D2A3}"/>
              </a:ext>
            </a:extLst>
          </p:cNvPr>
          <p:cNvSpPr/>
          <p:nvPr/>
        </p:nvSpPr>
        <p:spPr>
          <a:xfrm>
            <a:off x="640080" y="4302252"/>
            <a:ext cx="5943600" cy="320040"/>
          </a:xfrm>
          <a:prstGeom prst="rect">
            <a:avLst/>
          </a:prstGeom>
          <a:noFill/>
          <a:ln/>
        </p:spPr>
        <p:txBody>
          <a:bodyPr wrap="square" lIns="0" tIns="0" rIns="0" bIns="0" rtlCol="0" anchor="ctr"/>
          <a:lstStyle/>
          <a:p>
            <a:pPr marL="0" indent="0">
              <a:buNone/>
            </a:pPr>
            <a:r>
              <a:rPr lang="en-US" altLang="zh-CN" sz="1800">
                <a:solidFill>
                  <a:srgbClr val="D6E8FF"/>
                </a:solidFill>
              </a:rPr>
              <a:t>Lets</a:t>
            </a:r>
            <a:r>
              <a:rPr lang="zh-CN" altLang="en-US" sz="1800">
                <a:solidFill>
                  <a:srgbClr val="D6E8FF"/>
                </a:solidFill>
              </a:rPr>
              <a:t> </a:t>
            </a:r>
            <a:r>
              <a:rPr lang="en-US" altLang="zh-CN" sz="1800">
                <a:solidFill>
                  <a:srgbClr val="D6E8FF"/>
                </a:solidFill>
              </a:rPr>
              <a:t>wait</a:t>
            </a:r>
            <a:r>
              <a:rPr lang="zh-CN" altLang="en-US" sz="1800">
                <a:solidFill>
                  <a:srgbClr val="D6E8FF"/>
                </a:solidFill>
              </a:rPr>
              <a:t> </a:t>
            </a:r>
            <a:r>
              <a:rPr lang="en-US" altLang="zh-CN" sz="1800">
                <a:solidFill>
                  <a:srgbClr val="D6E8FF"/>
                </a:solidFill>
              </a:rPr>
              <a:t>for</a:t>
            </a:r>
            <a:r>
              <a:rPr lang="zh-CN" altLang="en-US" sz="1800">
                <a:solidFill>
                  <a:srgbClr val="D6E8FF"/>
                </a:solidFill>
              </a:rPr>
              <a:t> </a:t>
            </a:r>
            <a:r>
              <a:rPr lang="en-US" altLang="zh-CN" sz="1800">
                <a:solidFill>
                  <a:srgbClr val="D6E8FF"/>
                </a:solidFill>
              </a:rPr>
              <a:t>another</a:t>
            </a:r>
            <a:r>
              <a:rPr lang="zh-CN" altLang="en-US" sz="1800">
                <a:solidFill>
                  <a:srgbClr val="D6E8FF"/>
                </a:solidFill>
              </a:rPr>
              <a:t> </a:t>
            </a:r>
            <a:r>
              <a:rPr lang="en-US" altLang="zh-CN" sz="1800">
                <a:solidFill>
                  <a:srgbClr val="D6E8FF"/>
                </a:solidFill>
              </a:rPr>
              <a:t>15</a:t>
            </a:r>
            <a:r>
              <a:rPr lang="zh-CN" altLang="en-US" sz="1800">
                <a:solidFill>
                  <a:srgbClr val="D6E8FF"/>
                </a:solidFill>
              </a:rPr>
              <a:t> </a:t>
            </a:r>
            <a:r>
              <a:rPr lang="en-US" altLang="zh-CN" sz="1800">
                <a:solidFill>
                  <a:srgbClr val="D6E8FF"/>
                </a:solidFill>
              </a:rPr>
              <a:t>mins</a:t>
            </a:r>
            <a:br>
              <a:rPr lang="en-US" altLang="zh-CN" sz="1800">
                <a:solidFill>
                  <a:srgbClr val="D6E8FF"/>
                </a:solidFill>
              </a:rPr>
            </a:br>
            <a:r>
              <a:rPr lang="en-US" altLang="zh-CN" sz="1800">
                <a:solidFill>
                  <a:srgbClr val="D6E8FF"/>
                </a:solidFill>
              </a:rPr>
              <a:t>To</a:t>
            </a:r>
            <a:r>
              <a:rPr lang="zh-CN" altLang="en-US" sz="1800">
                <a:solidFill>
                  <a:srgbClr val="D6E8FF"/>
                </a:solidFill>
              </a:rPr>
              <a:t> </a:t>
            </a:r>
            <a:r>
              <a:rPr lang="en-US" altLang="zh-CN" sz="1800">
                <a:solidFill>
                  <a:srgbClr val="D6E8FF"/>
                </a:solidFill>
              </a:rPr>
              <a:t>allow</a:t>
            </a:r>
            <a:r>
              <a:rPr lang="zh-CN" altLang="en-US" sz="1800">
                <a:solidFill>
                  <a:srgbClr val="D6E8FF"/>
                </a:solidFill>
              </a:rPr>
              <a:t> </a:t>
            </a:r>
            <a:r>
              <a:rPr lang="en-US" altLang="zh-CN" sz="1800">
                <a:solidFill>
                  <a:srgbClr val="D6E8FF"/>
                </a:solidFill>
              </a:rPr>
              <a:t>more</a:t>
            </a:r>
            <a:r>
              <a:rPr lang="zh-CN" altLang="en-US" sz="1800">
                <a:solidFill>
                  <a:srgbClr val="D6E8FF"/>
                </a:solidFill>
              </a:rPr>
              <a:t> </a:t>
            </a:r>
            <a:r>
              <a:rPr lang="en-US" altLang="zh-CN" sz="1800">
                <a:solidFill>
                  <a:srgbClr val="D6E8FF"/>
                </a:solidFill>
              </a:rPr>
              <a:t>students</a:t>
            </a:r>
            <a:r>
              <a:rPr lang="zh-CN" altLang="en-US" sz="1800">
                <a:solidFill>
                  <a:srgbClr val="D6E8FF"/>
                </a:solidFill>
              </a:rPr>
              <a:t> </a:t>
            </a:r>
            <a:r>
              <a:rPr lang="en-US" altLang="zh-CN" sz="1800">
                <a:solidFill>
                  <a:srgbClr val="D6E8FF"/>
                </a:solidFill>
              </a:rPr>
              <a:t>join</a:t>
            </a:r>
            <a:r>
              <a:rPr lang="zh-CN" altLang="en-US" sz="1800">
                <a:solidFill>
                  <a:srgbClr val="D6E8FF"/>
                </a:solidFill>
              </a:rPr>
              <a:t> </a:t>
            </a:r>
            <a:r>
              <a:rPr lang="en-US" altLang="zh-CN" sz="1800">
                <a:solidFill>
                  <a:srgbClr val="D6E8FF"/>
                </a:solidFill>
              </a:rPr>
              <a:t>us</a:t>
            </a:r>
            <a:br>
              <a:rPr lang="en-US" altLang="zh-CN" sz="1800">
                <a:solidFill>
                  <a:srgbClr val="D6E8FF"/>
                </a:solidFill>
              </a:rPr>
            </a:br>
            <a:r>
              <a:rPr lang="en-US" altLang="zh-CN" sz="1800">
                <a:solidFill>
                  <a:srgbClr val="D6E8FF"/>
                </a:solidFill>
              </a:rPr>
              <a:t>Q&amp;A</a:t>
            </a:r>
            <a:r>
              <a:rPr lang="zh-CN" altLang="en-US" sz="1800">
                <a:solidFill>
                  <a:srgbClr val="D6E8FF"/>
                </a:solidFill>
              </a:rPr>
              <a:t> </a:t>
            </a:r>
            <a:r>
              <a:rPr lang="en-US" altLang="zh-CN" sz="1800">
                <a:solidFill>
                  <a:srgbClr val="D6E8FF"/>
                </a:solidFill>
              </a:rPr>
              <a:t>session</a:t>
            </a:r>
            <a:r>
              <a:rPr lang="zh-CN" altLang="en-US" sz="1800">
                <a:solidFill>
                  <a:srgbClr val="D6E8FF"/>
                </a:solidFill>
              </a:rPr>
              <a:t> </a:t>
            </a:r>
            <a:r>
              <a:rPr lang="en-US" altLang="zh-CN" sz="1800">
                <a:solidFill>
                  <a:srgbClr val="D6E8FF"/>
                </a:solidFill>
              </a:rPr>
              <a:t>now!</a:t>
            </a:r>
            <a:endParaRPr lang="en-US"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Today’s Learning Focus</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Module 3 maps the management tier of the data lake to practical integration and storage decisions.</a:t>
            </a:r>
            <a:endParaRPr lang="en-US" sz="1250"/>
          </a:p>
        </p:txBody>
      </p:sp>
      <p:sp>
        <p:nvSpPr>
          <p:cNvPr id="5" name="Shape 3"/>
          <p:cNvSpPr/>
          <p:nvPr/>
        </p:nvSpPr>
        <p:spPr>
          <a:xfrm>
            <a:off x="594360" y="1417320"/>
            <a:ext cx="3383280" cy="4297680"/>
          </a:xfrm>
          <a:prstGeom prst="roundRect">
            <a:avLst>
              <a:gd name="adj" fmla="val 2162"/>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6" name="Shape 4"/>
          <p:cNvSpPr/>
          <p:nvPr/>
        </p:nvSpPr>
        <p:spPr>
          <a:xfrm>
            <a:off x="594360" y="1417320"/>
            <a:ext cx="73152" cy="4297680"/>
          </a:xfrm>
          <a:prstGeom prst="rect">
            <a:avLst/>
          </a:prstGeom>
          <a:solidFill>
            <a:srgbClr val="1665D8"/>
          </a:solidFill>
          <a:ln w="12700">
            <a:solidFill>
              <a:srgbClr val="1665D8">
                <a:alpha val="0"/>
              </a:srgbClr>
            </a:solidFill>
            <a:prstDash val="solid"/>
          </a:ln>
        </p:spPr>
        <p:txBody>
          <a:bodyPr/>
          <a:lstStyle/>
          <a:p>
            <a:endParaRPr lang="en-AU"/>
          </a:p>
        </p:txBody>
      </p:sp>
      <p:sp>
        <p:nvSpPr>
          <p:cNvPr id="7" name="Text 5"/>
          <p:cNvSpPr/>
          <p:nvPr/>
        </p:nvSpPr>
        <p:spPr>
          <a:xfrm>
            <a:off x="795528" y="1545336"/>
            <a:ext cx="3035808" cy="534924"/>
          </a:xfrm>
          <a:prstGeom prst="rect">
            <a:avLst/>
          </a:prstGeom>
          <a:noFill/>
          <a:ln/>
        </p:spPr>
        <p:txBody>
          <a:bodyPr wrap="square" lIns="0" tIns="0" rIns="0" bIns="0" rtlCol="0" anchor="ctr"/>
          <a:lstStyle/>
          <a:p>
            <a:pPr marL="0" indent="0">
              <a:buNone/>
            </a:pPr>
            <a:r>
              <a:rPr lang="en-US" sz="1400" b="1">
                <a:solidFill>
                  <a:srgbClr val="172033"/>
                </a:solidFill>
              </a:rPr>
              <a:t>By the end, you should be able to:</a:t>
            </a:r>
            <a:endParaRPr lang="en-US" sz="1400"/>
          </a:p>
        </p:txBody>
      </p:sp>
      <p:sp>
        <p:nvSpPr>
          <p:cNvPr id="8" name="Text 6"/>
          <p:cNvSpPr/>
          <p:nvPr/>
        </p:nvSpPr>
        <p:spPr>
          <a:xfrm>
            <a:off x="850392" y="1920240"/>
            <a:ext cx="2944368" cy="3639312"/>
          </a:xfrm>
          <a:prstGeom prst="rect">
            <a:avLst/>
          </a:prstGeom>
          <a:noFill/>
          <a:ln/>
        </p:spPr>
        <p:txBody>
          <a:bodyPr wrap="square" lIns="254" tIns="254" rIns="254" bIns="254" rtlCol="0" anchor="ctr">
            <a:normAutofit/>
          </a:bodyPr>
          <a:lstStyle/>
          <a:p>
            <a:r>
              <a:rPr lang="en-US" sz="1200">
                <a:solidFill>
                  <a:srgbClr val="172033"/>
                </a:solidFill>
              </a:rPr>
              <a:t>Explain what big data integration means and why it is difficult.</a:t>
            </a:r>
            <a:endParaRPr lang="en-US" sz="1200"/>
          </a:p>
          <a:p>
            <a:r>
              <a:rPr lang="en-US" sz="1200">
                <a:solidFill>
                  <a:srgbClr val="172033"/>
                </a:solidFill>
              </a:rPr>
              <a:t>Identify common data integration, quality and enrichment tasks.</a:t>
            </a:r>
            <a:endParaRPr lang="en-US" sz="1200"/>
          </a:p>
          <a:p>
            <a:r>
              <a:rPr lang="en-US" sz="1200">
                <a:solidFill>
                  <a:srgbClr val="172033"/>
                </a:solidFill>
              </a:rPr>
              <a:t>Describe the role of the data hub/storage layer in a data lake.</a:t>
            </a:r>
            <a:endParaRPr lang="en-US" sz="1200"/>
          </a:p>
          <a:p>
            <a:r>
              <a:rPr lang="en-US" sz="1200">
                <a:solidFill>
                  <a:srgbClr val="172033"/>
                </a:solidFill>
              </a:rPr>
              <a:t>Compare major big data storage technologies at a high level.</a:t>
            </a:r>
            <a:endParaRPr lang="en-US" sz="1200"/>
          </a:p>
          <a:p>
            <a:r>
              <a:rPr lang="en-US" sz="1200">
                <a:solidFill>
                  <a:srgbClr val="172033"/>
                </a:solidFill>
              </a:rPr>
              <a:t>Connect these concepts to Assessment 1.</a:t>
            </a:r>
            <a:endParaRPr lang="en-US" sz="1200"/>
          </a:p>
        </p:txBody>
      </p:sp>
      <p:pic>
        <p:nvPicPr>
          <p:cNvPr id="9" name="Image 0" descr="/mnt/data/data_science_hierarchy.jpg"/>
          <p:cNvPicPr>
            <a:picLocks noChangeAspect="1"/>
          </p:cNvPicPr>
          <p:nvPr/>
        </p:nvPicPr>
        <p:blipFill>
          <a:blip r:embed="rId3"/>
          <a:stretch>
            <a:fillRect/>
          </a:stretch>
        </p:blipFill>
        <p:spPr>
          <a:xfrm>
            <a:off x="4572000" y="1376155"/>
            <a:ext cx="6903720" cy="4425731"/>
          </a:xfrm>
          <a:prstGeom prst="rect">
            <a:avLst/>
          </a:prstGeom>
        </p:spPr>
      </p:pic>
      <p:sp>
        <p:nvSpPr>
          <p:cNvPr id="10" name="Text 7"/>
          <p:cNvSpPr/>
          <p:nvPr/>
        </p:nvSpPr>
        <p:spPr>
          <a:xfrm>
            <a:off x="4663440" y="5925312"/>
            <a:ext cx="6629400" cy="320040"/>
          </a:xfrm>
          <a:prstGeom prst="rect">
            <a:avLst/>
          </a:prstGeom>
          <a:noFill/>
          <a:ln/>
        </p:spPr>
        <p:txBody>
          <a:bodyPr wrap="square" lIns="0" tIns="0" rIns="0" bIns="0" rtlCol="0" anchor="ctr"/>
          <a:lstStyle/>
          <a:p>
            <a:pPr marL="0" indent="0">
              <a:buNone/>
            </a:pPr>
            <a:r>
              <a:rPr lang="en-US" sz="1100" i="1">
                <a:solidFill>
                  <a:srgbClr val="5B667A"/>
                </a:solidFill>
              </a:rPr>
              <a:t>Key message: advanced AI/ML sits on top of reliable data collection, movement, storage, transformation and labelling.</a:t>
            </a:r>
            <a:endParaRPr lang="en-US" sz="1100"/>
          </a:p>
        </p:txBody>
      </p:sp>
      <p:sp>
        <p:nvSpPr>
          <p:cNvPr id="11" name="Text 8"/>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2</a:t>
            </a:r>
            <a:endParaRPr lang="en-US" sz="800"/>
          </a:p>
        </p:txBody>
      </p:sp>
      <p:pic>
        <p:nvPicPr>
          <p:cNvPr id="13" name="Picture 12" descr="A logo with orange and grey text&#10;&#10;Description automatically generated">
            <a:extLst>
              <a:ext uri="{FF2B5EF4-FFF2-40B4-BE49-F238E27FC236}">
                <a16:creationId xmlns:a16="http://schemas.microsoft.com/office/drawing/2014/main" id="{B9D1C529-B781-F3C1-A433-FF40F5F8E8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Where Module 3 Fits in the Data Lake Architecture</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Module 2 focused on the intake tier; this module focuses on the management tier.</a:t>
            </a:r>
            <a:endParaRPr lang="en-US" sz="1250"/>
          </a:p>
        </p:txBody>
      </p:sp>
      <p:sp>
        <p:nvSpPr>
          <p:cNvPr id="5" name="Shape 3"/>
          <p:cNvSpPr/>
          <p:nvPr/>
        </p:nvSpPr>
        <p:spPr>
          <a:xfrm>
            <a:off x="720090" y="1965960"/>
            <a:ext cx="2926080" cy="2148840"/>
          </a:xfrm>
          <a:prstGeom prst="chevron">
            <a:avLst/>
          </a:prstGeom>
          <a:solidFill>
            <a:srgbClr val="1665D8">
              <a:alpha val="85000"/>
            </a:srgbClr>
          </a:solidFill>
          <a:ln w="12700">
            <a:solidFill>
              <a:srgbClr val="1665D8"/>
            </a:solidFill>
            <a:prstDash val="solid"/>
          </a:ln>
        </p:spPr>
        <p:txBody>
          <a:bodyPr/>
          <a:lstStyle/>
          <a:p>
            <a:endParaRPr lang="en-AU"/>
          </a:p>
        </p:txBody>
      </p:sp>
      <p:sp>
        <p:nvSpPr>
          <p:cNvPr id="6" name="Text 4"/>
          <p:cNvSpPr/>
          <p:nvPr/>
        </p:nvSpPr>
        <p:spPr>
          <a:xfrm>
            <a:off x="960120" y="2240280"/>
            <a:ext cx="2103120" cy="274320"/>
          </a:xfrm>
          <a:prstGeom prst="rect">
            <a:avLst/>
          </a:prstGeom>
          <a:noFill/>
          <a:ln/>
        </p:spPr>
        <p:txBody>
          <a:bodyPr wrap="square" lIns="0" tIns="0" rIns="0" bIns="0" rtlCol="0" anchor="ctr"/>
          <a:lstStyle/>
          <a:p>
            <a:pPr marL="0" indent="0" algn="ctr">
              <a:buNone/>
            </a:pPr>
            <a:r>
              <a:rPr lang="en-US" sz="1600" b="1">
                <a:solidFill>
                  <a:srgbClr val="FFFFFF"/>
                </a:solidFill>
              </a:rPr>
              <a:t>1. Intake tier</a:t>
            </a:r>
            <a:endParaRPr lang="en-US" sz="1600"/>
          </a:p>
        </p:txBody>
      </p:sp>
      <p:sp>
        <p:nvSpPr>
          <p:cNvPr id="7" name="Text 5"/>
          <p:cNvSpPr/>
          <p:nvPr/>
        </p:nvSpPr>
        <p:spPr>
          <a:xfrm>
            <a:off x="1691640" y="2610612"/>
            <a:ext cx="1828800" cy="1005840"/>
          </a:xfrm>
          <a:prstGeom prst="rect">
            <a:avLst/>
          </a:prstGeom>
          <a:noFill/>
          <a:ln/>
        </p:spPr>
        <p:txBody>
          <a:bodyPr wrap="square" lIns="254" tIns="254" rIns="254" bIns="254" rtlCol="0" anchor="ctr"/>
          <a:lstStyle/>
          <a:p>
            <a:pPr marL="0" indent="0" algn="ctr">
              <a:buNone/>
            </a:pPr>
            <a:r>
              <a:rPr lang="en-US" sz="1250">
                <a:solidFill>
                  <a:srgbClr val="FFFFFF"/>
                </a:solidFill>
              </a:rPr>
              <a:t>Source system zone</a:t>
            </a:r>
            <a:endParaRPr lang="en-US" sz="1250"/>
          </a:p>
          <a:p>
            <a:pPr marL="0" indent="0" algn="ctr">
              <a:buNone/>
            </a:pPr>
            <a:r>
              <a:rPr lang="en-US" sz="1250">
                <a:solidFill>
                  <a:srgbClr val="FFFFFF"/>
                </a:solidFill>
              </a:rPr>
              <a:t>Transient zone</a:t>
            </a:r>
            <a:endParaRPr lang="en-US" sz="1250"/>
          </a:p>
          <a:p>
            <a:pPr marL="0" indent="0" algn="ctr">
              <a:buNone/>
            </a:pPr>
            <a:r>
              <a:rPr lang="en-US" sz="1250">
                <a:solidFill>
                  <a:srgbClr val="FFFFFF"/>
                </a:solidFill>
              </a:rPr>
              <a:t>Raw zone</a:t>
            </a:r>
            <a:endParaRPr lang="en-US" sz="1250"/>
          </a:p>
        </p:txBody>
      </p:sp>
      <p:sp>
        <p:nvSpPr>
          <p:cNvPr id="8" name="Shape 6"/>
          <p:cNvSpPr/>
          <p:nvPr/>
        </p:nvSpPr>
        <p:spPr>
          <a:xfrm>
            <a:off x="4434840" y="1965960"/>
            <a:ext cx="2926080" cy="2148840"/>
          </a:xfrm>
          <a:prstGeom prst="chevron">
            <a:avLst/>
          </a:prstGeom>
          <a:solidFill>
            <a:srgbClr val="00A7A5"/>
          </a:solidFill>
          <a:ln w="12700">
            <a:solidFill>
              <a:srgbClr val="00A7A5"/>
            </a:solidFill>
            <a:prstDash val="solid"/>
          </a:ln>
        </p:spPr>
        <p:txBody>
          <a:bodyPr/>
          <a:lstStyle/>
          <a:p>
            <a:endParaRPr lang="en-AU"/>
          </a:p>
        </p:txBody>
      </p:sp>
      <p:sp>
        <p:nvSpPr>
          <p:cNvPr id="9" name="Text 7"/>
          <p:cNvSpPr/>
          <p:nvPr/>
        </p:nvSpPr>
        <p:spPr>
          <a:xfrm>
            <a:off x="4709160" y="2240280"/>
            <a:ext cx="2103120" cy="274320"/>
          </a:xfrm>
          <a:prstGeom prst="rect">
            <a:avLst/>
          </a:prstGeom>
          <a:noFill/>
          <a:ln/>
        </p:spPr>
        <p:txBody>
          <a:bodyPr wrap="square" lIns="0" tIns="0" rIns="0" bIns="0" rtlCol="0" anchor="ctr"/>
          <a:lstStyle/>
          <a:p>
            <a:pPr marL="0" indent="0" algn="ctr">
              <a:buNone/>
            </a:pPr>
            <a:r>
              <a:rPr lang="en-US" sz="1600" b="1">
                <a:solidFill>
                  <a:srgbClr val="FFFFFF"/>
                </a:solidFill>
              </a:rPr>
              <a:t>2. Management tier</a:t>
            </a:r>
            <a:endParaRPr lang="en-US" sz="1600"/>
          </a:p>
        </p:txBody>
      </p:sp>
      <p:sp>
        <p:nvSpPr>
          <p:cNvPr id="10" name="Text 8"/>
          <p:cNvSpPr/>
          <p:nvPr/>
        </p:nvSpPr>
        <p:spPr>
          <a:xfrm>
            <a:off x="5326380" y="2537460"/>
            <a:ext cx="1828800" cy="1005840"/>
          </a:xfrm>
          <a:prstGeom prst="rect">
            <a:avLst/>
          </a:prstGeom>
          <a:noFill/>
          <a:ln/>
        </p:spPr>
        <p:txBody>
          <a:bodyPr wrap="square" lIns="254" tIns="254" rIns="254" bIns="254" rtlCol="0" anchor="ctr"/>
          <a:lstStyle/>
          <a:p>
            <a:pPr marL="0" indent="0" algn="ctr">
              <a:buNone/>
            </a:pPr>
            <a:r>
              <a:rPr lang="en-US" sz="1250">
                <a:solidFill>
                  <a:srgbClr val="FFFFFF"/>
                </a:solidFill>
              </a:rPr>
              <a:t>Integrate</a:t>
            </a:r>
            <a:endParaRPr lang="en-US" sz="1250"/>
          </a:p>
          <a:p>
            <a:pPr marL="0" indent="0" algn="ctr">
              <a:buNone/>
            </a:pPr>
            <a:r>
              <a:rPr lang="en-US" sz="1250">
                <a:solidFill>
                  <a:srgbClr val="FFFFFF"/>
                </a:solidFill>
              </a:rPr>
              <a:t>Clean &amp; validate</a:t>
            </a:r>
            <a:endParaRPr lang="en-US" sz="1250"/>
          </a:p>
          <a:p>
            <a:pPr marL="0" indent="0" algn="ctr">
              <a:buNone/>
            </a:pPr>
            <a:r>
              <a:rPr lang="en-US" sz="1250">
                <a:solidFill>
                  <a:srgbClr val="FFFFFF"/>
                </a:solidFill>
              </a:rPr>
              <a:t>Enrich</a:t>
            </a:r>
            <a:endParaRPr lang="en-US" sz="1250"/>
          </a:p>
          <a:p>
            <a:pPr marL="0" indent="0" algn="ctr">
              <a:buNone/>
            </a:pPr>
            <a:r>
              <a:rPr lang="en-US" sz="1250">
                <a:solidFill>
                  <a:srgbClr val="FFFFFF"/>
                </a:solidFill>
              </a:rPr>
              <a:t>Store &amp; retrieve</a:t>
            </a:r>
            <a:endParaRPr lang="en-US" sz="1250"/>
          </a:p>
        </p:txBody>
      </p:sp>
      <p:sp>
        <p:nvSpPr>
          <p:cNvPr id="11" name="Shape 9"/>
          <p:cNvSpPr/>
          <p:nvPr/>
        </p:nvSpPr>
        <p:spPr>
          <a:xfrm>
            <a:off x="8183880" y="1965960"/>
            <a:ext cx="2926080" cy="2148840"/>
          </a:xfrm>
          <a:prstGeom prst="chevron">
            <a:avLst/>
          </a:prstGeom>
          <a:solidFill>
            <a:srgbClr val="2EAD66">
              <a:alpha val="85000"/>
            </a:srgbClr>
          </a:solidFill>
          <a:ln w="12700">
            <a:solidFill>
              <a:srgbClr val="2EAD66"/>
            </a:solidFill>
            <a:prstDash val="solid"/>
          </a:ln>
        </p:spPr>
        <p:txBody>
          <a:bodyPr/>
          <a:lstStyle/>
          <a:p>
            <a:endParaRPr lang="en-AU"/>
          </a:p>
        </p:txBody>
      </p:sp>
      <p:sp>
        <p:nvSpPr>
          <p:cNvPr id="12" name="Text 10"/>
          <p:cNvSpPr/>
          <p:nvPr/>
        </p:nvSpPr>
        <p:spPr>
          <a:xfrm>
            <a:off x="8458200" y="2240280"/>
            <a:ext cx="2103120" cy="274320"/>
          </a:xfrm>
          <a:prstGeom prst="rect">
            <a:avLst/>
          </a:prstGeom>
          <a:noFill/>
          <a:ln/>
        </p:spPr>
        <p:txBody>
          <a:bodyPr wrap="square" lIns="0" tIns="0" rIns="0" bIns="0" rtlCol="0" anchor="ctr"/>
          <a:lstStyle/>
          <a:p>
            <a:pPr marL="0" indent="0" algn="ctr">
              <a:buNone/>
            </a:pPr>
            <a:r>
              <a:rPr lang="en-US" sz="1600" b="1">
                <a:solidFill>
                  <a:srgbClr val="FFFFFF"/>
                </a:solidFill>
              </a:rPr>
              <a:t>3. Consumption tier</a:t>
            </a:r>
            <a:endParaRPr lang="en-US" sz="1600"/>
          </a:p>
        </p:txBody>
      </p:sp>
      <p:sp>
        <p:nvSpPr>
          <p:cNvPr id="13" name="Text 11"/>
          <p:cNvSpPr/>
          <p:nvPr/>
        </p:nvSpPr>
        <p:spPr>
          <a:xfrm>
            <a:off x="8983980" y="2606040"/>
            <a:ext cx="1828800" cy="1005840"/>
          </a:xfrm>
          <a:prstGeom prst="rect">
            <a:avLst/>
          </a:prstGeom>
          <a:noFill/>
          <a:ln/>
        </p:spPr>
        <p:txBody>
          <a:bodyPr wrap="square" lIns="254" tIns="254" rIns="254" bIns="254" rtlCol="0" anchor="ctr"/>
          <a:lstStyle/>
          <a:p>
            <a:pPr marL="0" indent="0" algn="ctr">
              <a:buNone/>
            </a:pPr>
            <a:r>
              <a:rPr lang="en-US" sz="1250">
                <a:solidFill>
                  <a:srgbClr val="FFFFFF"/>
                </a:solidFill>
              </a:rPr>
              <a:t>BI dashboards</a:t>
            </a:r>
            <a:endParaRPr lang="en-US" sz="1250"/>
          </a:p>
          <a:p>
            <a:pPr marL="0" indent="0" algn="ctr">
              <a:buNone/>
            </a:pPr>
            <a:r>
              <a:rPr lang="en-US" sz="1250">
                <a:solidFill>
                  <a:srgbClr val="FFFFFF"/>
                </a:solidFill>
              </a:rPr>
              <a:t>Analytics</a:t>
            </a:r>
            <a:endParaRPr lang="en-US" sz="1250"/>
          </a:p>
          <a:p>
            <a:pPr marL="0" indent="0" algn="ctr">
              <a:buNone/>
            </a:pPr>
            <a:r>
              <a:rPr lang="en-US" sz="1250">
                <a:solidFill>
                  <a:srgbClr val="FFFFFF"/>
                </a:solidFill>
              </a:rPr>
              <a:t>ML/AI models</a:t>
            </a:r>
            <a:endParaRPr lang="en-US" sz="1250"/>
          </a:p>
          <a:p>
            <a:pPr marL="0" indent="0" algn="ctr">
              <a:buNone/>
            </a:pPr>
            <a:r>
              <a:rPr lang="en-US" sz="1250">
                <a:solidFill>
                  <a:srgbClr val="FFFFFF"/>
                </a:solidFill>
              </a:rPr>
              <a:t>Applications</a:t>
            </a:r>
            <a:endParaRPr lang="en-US" sz="1250"/>
          </a:p>
        </p:txBody>
      </p:sp>
      <p:sp>
        <p:nvSpPr>
          <p:cNvPr id="14" name="Text 12"/>
          <p:cNvSpPr/>
          <p:nvPr/>
        </p:nvSpPr>
        <p:spPr>
          <a:xfrm>
            <a:off x="1051560" y="5074920"/>
            <a:ext cx="10058400" cy="411480"/>
          </a:xfrm>
          <a:prstGeom prst="rect">
            <a:avLst/>
          </a:prstGeom>
          <a:noFill/>
          <a:ln/>
        </p:spPr>
        <p:txBody>
          <a:bodyPr wrap="square" lIns="0" tIns="0" rIns="0" bIns="0" rtlCol="0" anchor="ctr"/>
          <a:lstStyle/>
          <a:p>
            <a:pPr marL="0" indent="0" algn="ctr">
              <a:buNone/>
            </a:pPr>
            <a:r>
              <a:rPr lang="en-US" sz="2000" b="1">
                <a:solidFill>
                  <a:srgbClr val="172033"/>
                </a:solidFill>
              </a:rPr>
              <a:t>Module 3 = turning raw, heterogeneous data into reliable, reusable data assets.</a:t>
            </a:r>
            <a:endParaRPr lang="en-US" sz="2000"/>
          </a:p>
        </p:txBody>
      </p:sp>
      <p:sp>
        <p:nvSpPr>
          <p:cNvPr id="15" name="Text 13"/>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3</a:t>
            </a:r>
            <a:endParaRPr lang="en-US" sz="800"/>
          </a:p>
        </p:txBody>
      </p:sp>
      <p:pic>
        <p:nvPicPr>
          <p:cNvPr id="17" name="Picture 16" descr="A logo with orange and grey text&#10;&#10;Description automatically generated">
            <a:extLst>
              <a:ext uri="{FF2B5EF4-FFF2-40B4-BE49-F238E27FC236}">
                <a16:creationId xmlns:a16="http://schemas.microsoft.com/office/drawing/2014/main" id="{9CDE6EC3-54B6-0A5D-D8DB-28D42BD86C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The Integration Problem: Data Arrives in Silos</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Big data integration is not just “copying files”; it is resolving meaning, structure, identity and quality.</a:t>
            </a:r>
            <a:endParaRPr lang="en-US" sz="1250"/>
          </a:p>
        </p:txBody>
      </p:sp>
      <p:sp>
        <p:nvSpPr>
          <p:cNvPr id="5" name="Shape 3"/>
          <p:cNvSpPr/>
          <p:nvPr/>
        </p:nvSpPr>
        <p:spPr>
          <a:xfrm>
            <a:off x="731520" y="1645920"/>
            <a:ext cx="1463040" cy="777240"/>
          </a:xfrm>
          <a:prstGeom prst="roundRect">
            <a:avLst/>
          </a:prstGeom>
          <a:solidFill>
            <a:srgbClr val="1665D8">
              <a:alpha val="90000"/>
            </a:srgbClr>
          </a:solidFill>
          <a:ln w="12700">
            <a:solidFill>
              <a:srgbClr val="FFFFFF"/>
            </a:solidFill>
            <a:prstDash val="solid"/>
          </a:ln>
        </p:spPr>
        <p:txBody>
          <a:bodyPr/>
          <a:lstStyle/>
          <a:p>
            <a:endParaRPr lang="en-AU"/>
          </a:p>
        </p:txBody>
      </p:sp>
      <p:sp>
        <p:nvSpPr>
          <p:cNvPr id="6" name="Text 4"/>
          <p:cNvSpPr/>
          <p:nvPr/>
        </p:nvSpPr>
        <p:spPr>
          <a:xfrm>
            <a:off x="731520" y="1901952"/>
            <a:ext cx="1463040" cy="182880"/>
          </a:xfrm>
          <a:prstGeom prst="rect">
            <a:avLst/>
          </a:prstGeom>
          <a:noFill/>
          <a:ln/>
        </p:spPr>
        <p:txBody>
          <a:bodyPr wrap="square" lIns="0" tIns="0" rIns="0" bIns="0" rtlCol="0" anchor="ctr"/>
          <a:lstStyle/>
          <a:p>
            <a:pPr marL="0" indent="0" algn="ctr">
              <a:buNone/>
            </a:pPr>
            <a:r>
              <a:rPr lang="en-US" sz="1100" b="1">
                <a:solidFill>
                  <a:srgbClr val="FFFFFF"/>
                </a:solidFill>
              </a:rPr>
              <a:t>CRM</a:t>
            </a:r>
            <a:endParaRPr lang="en-US" sz="1100"/>
          </a:p>
        </p:txBody>
      </p:sp>
      <p:sp>
        <p:nvSpPr>
          <p:cNvPr id="7" name="Shape 5"/>
          <p:cNvSpPr/>
          <p:nvPr/>
        </p:nvSpPr>
        <p:spPr>
          <a:xfrm>
            <a:off x="2926080" y="1645920"/>
            <a:ext cx="1463040" cy="777240"/>
          </a:xfrm>
          <a:prstGeom prst="roundRect">
            <a:avLst/>
          </a:prstGeom>
          <a:solidFill>
            <a:srgbClr val="00A7A5">
              <a:alpha val="90000"/>
            </a:srgbClr>
          </a:solidFill>
          <a:ln w="12700">
            <a:solidFill>
              <a:srgbClr val="FFFFFF"/>
            </a:solidFill>
            <a:prstDash val="solid"/>
          </a:ln>
        </p:spPr>
        <p:txBody>
          <a:bodyPr/>
          <a:lstStyle/>
          <a:p>
            <a:endParaRPr lang="en-AU"/>
          </a:p>
        </p:txBody>
      </p:sp>
      <p:sp>
        <p:nvSpPr>
          <p:cNvPr id="8" name="Text 6"/>
          <p:cNvSpPr/>
          <p:nvPr/>
        </p:nvSpPr>
        <p:spPr>
          <a:xfrm>
            <a:off x="2926080" y="1901952"/>
            <a:ext cx="1463040" cy="182880"/>
          </a:xfrm>
          <a:prstGeom prst="rect">
            <a:avLst/>
          </a:prstGeom>
          <a:noFill/>
          <a:ln/>
        </p:spPr>
        <p:txBody>
          <a:bodyPr wrap="square" lIns="0" tIns="0" rIns="0" bIns="0" rtlCol="0" anchor="ctr"/>
          <a:lstStyle/>
          <a:p>
            <a:pPr marL="0" indent="0" algn="ctr">
              <a:buNone/>
            </a:pPr>
            <a:r>
              <a:rPr lang="en-US" sz="1100" b="1">
                <a:solidFill>
                  <a:srgbClr val="FFFFFF"/>
                </a:solidFill>
              </a:rPr>
              <a:t>Sales</a:t>
            </a:r>
            <a:endParaRPr lang="en-US" sz="1100"/>
          </a:p>
        </p:txBody>
      </p:sp>
      <p:sp>
        <p:nvSpPr>
          <p:cNvPr id="9" name="Shape 7"/>
          <p:cNvSpPr/>
          <p:nvPr/>
        </p:nvSpPr>
        <p:spPr>
          <a:xfrm>
            <a:off x="5120640" y="1645920"/>
            <a:ext cx="1463040" cy="777240"/>
          </a:xfrm>
          <a:prstGeom prst="roundRect">
            <a:avLst/>
          </a:prstGeom>
          <a:solidFill>
            <a:srgbClr val="1665D8">
              <a:alpha val="90000"/>
            </a:srgbClr>
          </a:solidFill>
          <a:ln w="12700">
            <a:solidFill>
              <a:srgbClr val="FFFFFF"/>
            </a:solidFill>
            <a:prstDash val="solid"/>
          </a:ln>
        </p:spPr>
        <p:txBody>
          <a:bodyPr/>
          <a:lstStyle/>
          <a:p>
            <a:endParaRPr lang="en-AU"/>
          </a:p>
        </p:txBody>
      </p:sp>
      <p:sp>
        <p:nvSpPr>
          <p:cNvPr id="10" name="Text 8"/>
          <p:cNvSpPr/>
          <p:nvPr/>
        </p:nvSpPr>
        <p:spPr>
          <a:xfrm>
            <a:off x="5120640" y="1901952"/>
            <a:ext cx="1463040" cy="182880"/>
          </a:xfrm>
          <a:prstGeom prst="rect">
            <a:avLst/>
          </a:prstGeom>
          <a:noFill/>
          <a:ln/>
        </p:spPr>
        <p:txBody>
          <a:bodyPr wrap="square" lIns="0" tIns="0" rIns="0" bIns="0" rtlCol="0" anchor="ctr"/>
          <a:lstStyle/>
          <a:p>
            <a:pPr marL="0" indent="0" algn="ctr">
              <a:buNone/>
            </a:pPr>
            <a:r>
              <a:rPr lang="en-US" sz="1100" b="1">
                <a:solidFill>
                  <a:srgbClr val="FFFFFF"/>
                </a:solidFill>
              </a:rPr>
              <a:t>Web logs</a:t>
            </a:r>
            <a:endParaRPr lang="en-US" sz="1100"/>
          </a:p>
        </p:txBody>
      </p:sp>
      <p:sp>
        <p:nvSpPr>
          <p:cNvPr id="11" name="Shape 9"/>
          <p:cNvSpPr/>
          <p:nvPr/>
        </p:nvSpPr>
        <p:spPr>
          <a:xfrm>
            <a:off x="731520" y="3063240"/>
            <a:ext cx="1463040" cy="777240"/>
          </a:xfrm>
          <a:prstGeom prst="roundRect">
            <a:avLst/>
          </a:prstGeom>
          <a:solidFill>
            <a:srgbClr val="00A7A5">
              <a:alpha val="90000"/>
            </a:srgbClr>
          </a:solidFill>
          <a:ln w="12700">
            <a:solidFill>
              <a:srgbClr val="FFFFFF"/>
            </a:solidFill>
            <a:prstDash val="solid"/>
          </a:ln>
        </p:spPr>
        <p:txBody>
          <a:bodyPr/>
          <a:lstStyle/>
          <a:p>
            <a:endParaRPr lang="en-AU"/>
          </a:p>
        </p:txBody>
      </p:sp>
      <p:sp>
        <p:nvSpPr>
          <p:cNvPr id="12" name="Text 10"/>
          <p:cNvSpPr/>
          <p:nvPr/>
        </p:nvSpPr>
        <p:spPr>
          <a:xfrm>
            <a:off x="731520" y="3319272"/>
            <a:ext cx="1463040" cy="182880"/>
          </a:xfrm>
          <a:prstGeom prst="rect">
            <a:avLst/>
          </a:prstGeom>
          <a:noFill/>
          <a:ln/>
        </p:spPr>
        <p:txBody>
          <a:bodyPr wrap="square" lIns="0" tIns="0" rIns="0" bIns="0" rtlCol="0" anchor="ctr"/>
          <a:lstStyle/>
          <a:p>
            <a:pPr marL="0" indent="0" algn="ctr">
              <a:buNone/>
            </a:pPr>
            <a:r>
              <a:rPr lang="en-US" sz="1100" b="1">
                <a:solidFill>
                  <a:srgbClr val="FFFFFF"/>
                </a:solidFill>
              </a:rPr>
              <a:t>IoT</a:t>
            </a:r>
            <a:endParaRPr lang="en-US" sz="1100"/>
          </a:p>
        </p:txBody>
      </p:sp>
      <p:sp>
        <p:nvSpPr>
          <p:cNvPr id="13" name="Shape 11"/>
          <p:cNvSpPr/>
          <p:nvPr/>
        </p:nvSpPr>
        <p:spPr>
          <a:xfrm>
            <a:off x="2926080" y="3063240"/>
            <a:ext cx="1463040" cy="777240"/>
          </a:xfrm>
          <a:prstGeom prst="roundRect">
            <a:avLst/>
          </a:prstGeom>
          <a:solidFill>
            <a:srgbClr val="1665D8">
              <a:alpha val="90000"/>
            </a:srgbClr>
          </a:solidFill>
          <a:ln w="12700">
            <a:solidFill>
              <a:srgbClr val="FFFFFF"/>
            </a:solidFill>
            <a:prstDash val="solid"/>
          </a:ln>
        </p:spPr>
        <p:txBody>
          <a:bodyPr/>
          <a:lstStyle/>
          <a:p>
            <a:endParaRPr lang="en-AU"/>
          </a:p>
        </p:txBody>
      </p:sp>
      <p:sp>
        <p:nvSpPr>
          <p:cNvPr id="14" name="Text 12"/>
          <p:cNvSpPr/>
          <p:nvPr/>
        </p:nvSpPr>
        <p:spPr>
          <a:xfrm>
            <a:off x="2926080" y="3319272"/>
            <a:ext cx="1463040" cy="182880"/>
          </a:xfrm>
          <a:prstGeom prst="rect">
            <a:avLst/>
          </a:prstGeom>
          <a:noFill/>
          <a:ln/>
        </p:spPr>
        <p:txBody>
          <a:bodyPr wrap="square" lIns="0" tIns="0" rIns="0" bIns="0" rtlCol="0" anchor="ctr"/>
          <a:lstStyle/>
          <a:p>
            <a:pPr marL="0" indent="0" algn="ctr">
              <a:buNone/>
            </a:pPr>
            <a:r>
              <a:rPr lang="en-US" sz="1100" b="1">
                <a:solidFill>
                  <a:srgbClr val="FFFFFF"/>
                </a:solidFill>
              </a:rPr>
              <a:t>Partner APIs</a:t>
            </a:r>
            <a:endParaRPr lang="en-US" sz="1100"/>
          </a:p>
        </p:txBody>
      </p:sp>
      <p:sp>
        <p:nvSpPr>
          <p:cNvPr id="15" name="Shape 13"/>
          <p:cNvSpPr/>
          <p:nvPr/>
        </p:nvSpPr>
        <p:spPr>
          <a:xfrm>
            <a:off x="5120640" y="3063240"/>
            <a:ext cx="1463040" cy="777240"/>
          </a:xfrm>
          <a:prstGeom prst="roundRect">
            <a:avLst/>
          </a:prstGeom>
          <a:solidFill>
            <a:srgbClr val="00A7A5">
              <a:alpha val="90000"/>
            </a:srgbClr>
          </a:solidFill>
          <a:ln w="12700">
            <a:solidFill>
              <a:srgbClr val="FFFFFF"/>
            </a:solidFill>
            <a:prstDash val="solid"/>
          </a:ln>
        </p:spPr>
        <p:txBody>
          <a:bodyPr/>
          <a:lstStyle/>
          <a:p>
            <a:endParaRPr lang="en-AU"/>
          </a:p>
        </p:txBody>
      </p:sp>
      <p:sp>
        <p:nvSpPr>
          <p:cNvPr id="16" name="Text 14"/>
          <p:cNvSpPr/>
          <p:nvPr/>
        </p:nvSpPr>
        <p:spPr>
          <a:xfrm>
            <a:off x="5120640" y="3319272"/>
            <a:ext cx="1463040" cy="182880"/>
          </a:xfrm>
          <a:prstGeom prst="rect">
            <a:avLst/>
          </a:prstGeom>
          <a:noFill/>
          <a:ln/>
        </p:spPr>
        <p:txBody>
          <a:bodyPr wrap="square" lIns="0" tIns="0" rIns="0" bIns="0" rtlCol="0" anchor="ctr"/>
          <a:lstStyle/>
          <a:p>
            <a:pPr marL="0" indent="0" algn="ctr">
              <a:buNone/>
            </a:pPr>
            <a:r>
              <a:rPr lang="en-US" sz="1100" b="1">
                <a:solidFill>
                  <a:srgbClr val="FFFFFF"/>
                </a:solidFill>
              </a:rPr>
              <a:t>Support tickets</a:t>
            </a:r>
            <a:endParaRPr lang="en-US" sz="1100"/>
          </a:p>
        </p:txBody>
      </p:sp>
      <p:sp>
        <p:nvSpPr>
          <p:cNvPr id="17" name="Shape 15"/>
          <p:cNvSpPr/>
          <p:nvPr/>
        </p:nvSpPr>
        <p:spPr>
          <a:xfrm>
            <a:off x="7315200" y="2743200"/>
            <a:ext cx="1097280" cy="237744"/>
          </a:xfrm>
          <a:prstGeom prst="rightArrow">
            <a:avLst/>
          </a:prstGeom>
          <a:solidFill>
            <a:srgbClr val="F59E0B">
              <a:alpha val="92000"/>
            </a:srgbClr>
          </a:solidFill>
          <a:ln w="12700">
            <a:solidFill>
              <a:srgbClr val="F59E0B">
                <a:alpha val="0"/>
              </a:srgbClr>
            </a:solidFill>
            <a:prstDash val="solid"/>
          </a:ln>
        </p:spPr>
        <p:txBody>
          <a:bodyPr/>
          <a:lstStyle/>
          <a:p>
            <a:endParaRPr lang="en-AU"/>
          </a:p>
        </p:txBody>
      </p:sp>
      <p:sp>
        <p:nvSpPr>
          <p:cNvPr id="18" name="Shape 16"/>
          <p:cNvSpPr/>
          <p:nvPr/>
        </p:nvSpPr>
        <p:spPr>
          <a:xfrm>
            <a:off x="8778240" y="2148840"/>
            <a:ext cx="2194560" cy="1737360"/>
          </a:xfrm>
          <a:prstGeom prst="cloud">
            <a:avLst/>
          </a:prstGeom>
          <a:solidFill>
            <a:srgbClr val="D94C4C">
              <a:alpha val="95000"/>
            </a:srgbClr>
          </a:solidFill>
          <a:ln w="12700">
            <a:solidFill>
              <a:srgbClr val="D94C4C"/>
            </a:solidFill>
            <a:prstDash val="solid"/>
          </a:ln>
        </p:spPr>
        <p:txBody>
          <a:bodyPr/>
          <a:lstStyle/>
          <a:p>
            <a:endParaRPr lang="en-AU"/>
          </a:p>
        </p:txBody>
      </p:sp>
      <p:sp>
        <p:nvSpPr>
          <p:cNvPr id="19" name="Text 17"/>
          <p:cNvSpPr/>
          <p:nvPr/>
        </p:nvSpPr>
        <p:spPr>
          <a:xfrm>
            <a:off x="9144000" y="2724912"/>
            <a:ext cx="1417320" cy="457200"/>
          </a:xfrm>
          <a:prstGeom prst="rect">
            <a:avLst/>
          </a:prstGeom>
          <a:noFill/>
          <a:ln/>
        </p:spPr>
        <p:txBody>
          <a:bodyPr wrap="square" lIns="0" tIns="0" rIns="0" bIns="0" rtlCol="0" anchor="ctr"/>
          <a:lstStyle/>
          <a:p>
            <a:pPr marL="0" indent="0" algn="ctr">
              <a:buNone/>
            </a:pPr>
            <a:r>
              <a:rPr lang="en-US" sz="1600" b="1">
                <a:solidFill>
                  <a:srgbClr val="FFFFFF"/>
                </a:solidFill>
              </a:rPr>
              <a:t>Unresolved</a:t>
            </a:r>
            <a:endParaRPr lang="en-US" sz="1600"/>
          </a:p>
          <a:p>
            <a:pPr marL="0" indent="0" algn="ctr">
              <a:buNone/>
            </a:pPr>
            <a:r>
              <a:rPr lang="en-US" sz="1600" b="1">
                <a:solidFill>
                  <a:srgbClr val="FFFFFF"/>
                </a:solidFill>
              </a:rPr>
              <a:t>questions</a:t>
            </a:r>
            <a:endParaRPr lang="en-US" sz="1600"/>
          </a:p>
        </p:txBody>
      </p:sp>
      <p:sp>
        <p:nvSpPr>
          <p:cNvPr id="20" name="Shape 18"/>
          <p:cNvSpPr/>
          <p:nvPr/>
        </p:nvSpPr>
        <p:spPr>
          <a:xfrm>
            <a:off x="777240" y="4892040"/>
            <a:ext cx="10652760" cy="914400"/>
          </a:xfrm>
          <a:prstGeom prst="roundRect">
            <a:avLst>
              <a:gd name="adj" fmla="val 8000"/>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21" name="Shape 19"/>
          <p:cNvSpPr/>
          <p:nvPr/>
        </p:nvSpPr>
        <p:spPr>
          <a:xfrm>
            <a:off x="777240" y="4892040"/>
            <a:ext cx="73152" cy="914400"/>
          </a:xfrm>
          <a:prstGeom prst="rect">
            <a:avLst/>
          </a:prstGeom>
          <a:solidFill>
            <a:srgbClr val="F59E0B"/>
          </a:solidFill>
          <a:ln w="12700">
            <a:solidFill>
              <a:srgbClr val="F59E0B">
                <a:alpha val="0"/>
              </a:srgbClr>
            </a:solidFill>
            <a:prstDash val="solid"/>
          </a:ln>
        </p:spPr>
        <p:txBody>
          <a:bodyPr/>
          <a:lstStyle/>
          <a:p>
            <a:endParaRPr lang="en-AU"/>
          </a:p>
        </p:txBody>
      </p:sp>
      <p:sp>
        <p:nvSpPr>
          <p:cNvPr id="22" name="Text 20"/>
          <p:cNvSpPr/>
          <p:nvPr/>
        </p:nvSpPr>
        <p:spPr>
          <a:xfrm>
            <a:off x="978408" y="5020056"/>
            <a:ext cx="10305288" cy="228600"/>
          </a:xfrm>
          <a:prstGeom prst="rect">
            <a:avLst/>
          </a:prstGeom>
          <a:noFill/>
          <a:ln/>
        </p:spPr>
        <p:txBody>
          <a:bodyPr wrap="square" lIns="0" tIns="0" rIns="0" bIns="0" rtlCol="0" anchor="ctr"/>
          <a:lstStyle/>
          <a:p>
            <a:pPr marL="0" indent="0">
              <a:buNone/>
            </a:pPr>
            <a:r>
              <a:rPr lang="en-US" sz="1400" b="1">
                <a:solidFill>
                  <a:srgbClr val="172033"/>
                </a:solidFill>
              </a:rPr>
              <a:t>Examples of integration questions</a:t>
            </a:r>
            <a:endParaRPr lang="en-US" sz="1400"/>
          </a:p>
        </p:txBody>
      </p:sp>
      <p:sp>
        <p:nvSpPr>
          <p:cNvPr id="23" name="Text 21"/>
          <p:cNvSpPr/>
          <p:nvPr/>
        </p:nvSpPr>
        <p:spPr>
          <a:xfrm>
            <a:off x="978408" y="5394960"/>
            <a:ext cx="10305288" cy="256032"/>
          </a:xfrm>
          <a:prstGeom prst="rect">
            <a:avLst/>
          </a:prstGeom>
          <a:noFill/>
          <a:ln/>
        </p:spPr>
        <p:txBody>
          <a:bodyPr wrap="square" lIns="0" tIns="0" rIns="0" bIns="0" rtlCol="0" anchor="ctr">
            <a:normAutofit fontScale="77500" lnSpcReduction="20000"/>
          </a:bodyPr>
          <a:lstStyle/>
          <a:p>
            <a:pPr marL="0" indent="0">
              <a:buNone/>
            </a:pPr>
            <a:r>
              <a:rPr lang="en-US" sz="1250">
                <a:solidFill>
                  <a:srgbClr val="172033"/>
                </a:solidFill>
              </a:rPr>
              <a:t>Does “customer_id” mean the same thing across systems? Are timestamps in the same timezone? Are duplicates, missing values and outliers handled consistently? Which record is authoritative?</a:t>
            </a:r>
            <a:endParaRPr lang="en-US" sz="1250"/>
          </a:p>
        </p:txBody>
      </p:sp>
      <p:sp>
        <p:nvSpPr>
          <p:cNvPr id="24" name="Text 22"/>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4</a:t>
            </a:r>
            <a:endParaRPr lang="en-US" sz="800"/>
          </a:p>
        </p:txBody>
      </p:sp>
      <p:pic>
        <p:nvPicPr>
          <p:cNvPr id="26" name="Picture 25" descr="A logo with orange and grey text&#10;&#10;Description automatically generated">
            <a:extLst>
              <a:ext uri="{FF2B5EF4-FFF2-40B4-BE49-F238E27FC236}">
                <a16:creationId xmlns:a16="http://schemas.microsoft.com/office/drawing/2014/main" id="{DD4AA7CB-3AEF-E908-DD03-D9D2349B26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Big Data Integration: What, Why and How</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A practical framing for integration decisions.</a:t>
            </a:r>
            <a:endParaRPr lang="en-US" sz="1250"/>
          </a:p>
        </p:txBody>
      </p:sp>
      <p:sp>
        <p:nvSpPr>
          <p:cNvPr id="5" name="Shape 3"/>
          <p:cNvSpPr/>
          <p:nvPr/>
        </p:nvSpPr>
        <p:spPr>
          <a:xfrm>
            <a:off x="640080" y="1417320"/>
            <a:ext cx="3429000" cy="4023360"/>
          </a:xfrm>
          <a:prstGeom prst="roundRect">
            <a:avLst>
              <a:gd name="adj" fmla="val 2133"/>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6" name="Shape 4"/>
          <p:cNvSpPr/>
          <p:nvPr/>
        </p:nvSpPr>
        <p:spPr>
          <a:xfrm>
            <a:off x="640080" y="1417320"/>
            <a:ext cx="73152" cy="4023360"/>
          </a:xfrm>
          <a:prstGeom prst="rect">
            <a:avLst/>
          </a:prstGeom>
          <a:solidFill>
            <a:srgbClr val="1665D8"/>
          </a:solidFill>
          <a:ln w="12700">
            <a:solidFill>
              <a:srgbClr val="1665D8">
                <a:alpha val="0"/>
              </a:srgbClr>
            </a:solidFill>
            <a:prstDash val="solid"/>
          </a:ln>
        </p:spPr>
        <p:txBody>
          <a:bodyPr/>
          <a:lstStyle/>
          <a:p>
            <a:endParaRPr lang="en-AU"/>
          </a:p>
        </p:txBody>
      </p:sp>
      <p:sp>
        <p:nvSpPr>
          <p:cNvPr id="7" name="Text 5"/>
          <p:cNvSpPr/>
          <p:nvPr/>
        </p:nvSpPr>
        <p:spPr>
          <a:xfrm>
            <a:off x="841248" y="1545336"/>
            <a:ext cx="3081528" cy="228600"/>
          </a:xfrm>
          <a:prstGeom prst="rect">
            <a:avLst/>
          </a:prstGeom>
          <a:noFill/>
          <a:ln/>
        </p:spPr>
        <p:txBody>
          <a:bodyPr wrap="square" lIns="0" tIns="0" rIns="0" bIns="0" rtlCol="0" anchor="ctr"/>
          <a:lstStyle/>
          <a:p>
            <a:pPr marL="0" indent="0">
              <a:buNone/>
            </a:pPr>
            <a:r>
              <a:rPr lang="en-US" sz="1400" b="1">
                <a:solidFill>
                  <a:srgbClr val="172033"/>
                </a:solidFill>
              </a:rPr>
              <a:t>What?</a:t>
            </a:r>
            <a:endParaRPr lang="en-US" sz="1400"/>
          </a:p>
        </p:txBody>
      </p:sp>
      <p:sp>
        <p:nvSpPr>
          <p:cNvPr id="8" name="Text 6"/>
          <p:cNvSpPr/>
          <p:nvPr/>
        </p:nvSpPr>
        <p:spPr>
          <a:xfrm>
            <a:off x="841248" y="1920240"/>
            <a:ext cx="3081528" cy="3364992"/>
          </a:xfrm>
          <a:prstGeom prst="rect">
            <a:avLst/>
          </a:prstGeom>
          <a:noFill/>
          <a:ln/>
        </p:spPr>
        <p:txBody>
          <a:bodyPr wrap="square" lIns="0" tIns="0" rIns="0" bIns="0" rtlCol="0" anchor="ctr">
            <a:normAutofit/>
          </a:bodyPr>
          <a:lstStyle/>
          <a:p>
            <a:pPr marL="0" indent="0">
              <a:buNone/>
            </a:pPr>
            <a:r>
              <a:rPr lang="en-US" sz="1500">
                <a:solidFill>
                  <a:srgbClr val="172033"/>
                </a:solidFill>
              </a:rPr>
              <a:t>Combining data from multiple heterogeneous sources into a coherent, usable view for analytics, reporting and applications.</a:t>
            </a:r>
            <a:endParaRPr lang="en-US" sz="1500"/>
          </a:p>
        </p:txBody>
      </p:sp>
      <p:sp>
        <p:nvSpPr>
          <p:cNvPr id="9" name="Shape 7"/>
          <p:cNvSpPr/>
          <p:nvPr/>
        </p:nvSpPr>
        <p:spPr>
          <a:xfrm>
            <a:off x="4389120" y="1417320"/>
            <a:ext cx="3429000" cy="4023360"/>
          </a:xfrm>
          <a:prstGeom prst="roundRect">
            <a:avLst>
              <a:gd name="adj" fmla="val 2133"/>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0" name="Shape 8"/>
          <p:cNvSpPr/>
          <p:nvPr/>
        </p:nvSpPr>
        <p:spPr>
          <a:xfrm>
            <a:off x="4389120" y="1417320"/>
            <a:ext cx="73152" cy="4023360"/>
          </a:xfrm>
          <a:prstGeom prst="rect">
            <a:avLst/>
          </a:prstGeom>
          <a:solidFill>
            <a:srgbClr val="00A7A5"/>
          </a:solidFill>
          <a:ln w="12700">
            <a:solidFill>
              <a:srgbClr val="00A7A5">
                <a:alpha val="0"/>
              </a:srgbClr>
            </a:solidFill>
            <a:prstDash val="solid"/>
          </a:ln>
        </p:spPr>
        <p:txBody>
          <a:bodyPr/>
          <a:lstStyle/>
          <a:p>
            <a:endParaRPr lang="en-AU"/>
          </a:p>
        </p:txBody>
      </p:sp>
      <p:sp>
        <p:nvSpPr>
          <p:cNvPr id="11" name="Text 9"/>
          <p:cNvSpPr/>
          <p:nvPr/>
        </p:nvSpPr>
        <p:spPr>
          <a:xfrm>
            <a:off x="4590288" y="1545336"/>
            <a:ext cx="3081528" cy="228600"/>
          </a:xfrm>
          <a:prstGeom prst="rect">
            <a:avLst/>
          </a:prstGeom>
          <a:noFill/>
          <a:ln/>
        </p:spPr>
        <p:txBody>
          <a:bodyPr wrap="square" lIns="0" tIns="0" rIns="0" bIns="0" rtlCol="0" anchor="ctr"/>
          <a:lstStyle/>
          <a:p>
            <a:pPr marL="0" indent="0">
              <a:buNone/>
            </a:pPr>
            <a:r>
              <a:rPr lang="en-US" sz="1400" b="1">
                <a:solidFill>
                  <a:srgbClr val="172033"/>
                </a:solidFill>
              </a:rPr>
              <a:t>Why?</a:t>
            </a:r>
            <a:endParaRPr lang="en-US" sz="1400"/>
          </a:p>
        </p:txBody>
      </p:sp>
      <p:sp>
        <p:nvSpPr>
          <p:cNvPr id="12" name="Text 10"/>
          <p:cNvSpPr/>
          <p:nvPr/>
        </p:nvSpPr>
        <p:spPr>
          <a:xfrm>
            <a:off x="4590288" y="1920240"/>
            <a:ext cx="3081528" cy="3364992"/>
          </a:xfrm>
          <a:prstGeom prst="rect">
            <a:avLst/>
          </a:prstGeom>
          <a:noFill/>
          <a:ln/>
        </p:spPr>
        <p:txBody>
          <a:bodyPr wrap="square" lIns="0" tIns="0" rIns="0" bIns="0" rtlCol="0" anchor="ctr">
            <a:normAutofit/>
          </a:bodyPr>
          <a:lstStyle/>
          <a:p>
            <a:pPr marL="0" indent="0">
              <a:buNone/>
            </a:pPr>
            <a:r>
              <a:rPr lang="en-US" sz="1500">
                <a:solidFill>
                  <a:srgbClr val="172033"/>
                </a:solidFill>
              </a:rPr>
              <a:t>To break down silos, improve data completeness, enable cross-source analysis and give decision-makers a more reliable version of reality.</a:t>
            </a:r>
            <a:endParaRPr lang="en-US" sz="1500"/>
          </a:p>
        </p:txBody>
      </p:sp>
      <p:sp>
        <p:nvSpPr>
          <p:cNvPr id="13" name="Shape 11"/>
          <p:cNvSpPr/>
          <p:nvPr/>
        </p:nvSpPr>
        <p:spPr>
          <a:xfrm>
            <a:off x="8138160" y="1417320"/>
            <a:ext cx="3429000" cy="4023360"/>
          </a:xfrm>
          <a:prstGeom prst="roundRect">
            <a:avLst>
              <a:gd name="adj" fmla="val 2133"/>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4" name="Shape 12"/>
          <p:cNvSpPr/>
          <p:nvPr/>
        </p:nvSpPr>
        <p:spPr>
          <a:xfrm>
            <a:off x="8138160" y="1417320"/>
            <a:ext cx="73152" cy="4023360"/>
          </a:xfrm>
          <a:prstGeom prst="rect">
            <a:avLst/>
          </a:prstGeom>
          <a:solidFill>
            <a:srgbClr val="2EAD66"/>
          </a:solidFill>
          <a:ln w="12700">
            <a:solidFill>
              <a:srgbClr val="2EAD66">
                <a:alpha val="0"/>
              </a:srgbClr>
            </a:solidFill>
            <a:prstDash val="solid"/>
          </a:ln>
        </p:spPr>
        <p:txBody>
          <a:bodyPr/>
          <a:lstStyle/>
          <a:p>
            <a:endParaRPr lang="en-AU"/>
          </a:p>
        </p:txBody>
      </p:sp>
      <p:sp>
        <p:nvSpPr>
          <p:cNvPr id="15" name="Text 13"/>
          <p:cNvSpPr/>
          <p:nvPr/>
        </p:nvSpPr>
        <p:spPr>
          <a:xfrm>
            <a:off x="8339328" y="1545336"/>
            <a:ext cx="3081528" cy="228600"/>
          </a:xfrm>
          <a:prstGeom prst="rect">
            <a:avLst/>
          </a:prstGeom>
          <a:noFill/>
          <a:ln/>
        </p:spPr>
        <p:txBody>
          <a:bodyPr wrap="square" lIns="0" tIns="0" rIns="0" bIns="0" rtlCol="0" anchor="ctr"/>
          <a:lstStyle/>
          <a:p>
            <a:pPr marL="0" indent="0">
              <a:buNone/>
            </a:pPr>
            <a:r>
              <a:rPr lang="en-US" sz="1400" b="1">
                <a:solidFill>
                  <a:srgbClr val="172033"/>
                </a:solidFill>
              </a:rPr>
              <a:t>How?</a:t>
            </a:r>
            <a:endParaRPr lang="en-US" sz="1400"/>
          </a:p>
        </p:txBody>
      </p:sp>
      <p:sp>
        <p:nvSpPr>
          <p:cNvPr id="16" name="Text 14"/>
          <p:cNvSpPr/>
          <p:nvPr/>
        </p:nvSpPr>
        <p:spPr>
          <a:xfrm>
            <a:off x="8339328" y="1920240"/>
            <a:ext cx="3081528" cy="3364992"/>
          </a:xfrm>
          <a:prstGeom prst="rect">
            <a:avLst/>
          </a:prstGeom>
          <a:noFill/>
          <a:ln/>
        </p:spPr>
        <p:txBody>
          <a:bodyPr wrap="square" lIns="0" tIns="0" rIns="0" bIns="0" rtlCol="0" anchor="ctr">
            <a:normAutofit/>
          </a:bodyPr>
          <a:lstStyle/>
          <a:p>
            <a:pPr marL="0" indent="0">
              <a:buNone/>
            </a:pPr>
            <a:r>
              <a:rPr lang="en-US" sz="1500">
                <a:solidFill>
                  <a:srgbClr val="172033"/>
                </a:solidFill>
              </a:rPr>
              <a:t>Through schemas, metadata, transformation rules, data quality checks, entity matching, master data, governance and scalable storage.</a:t>
            </a:r>
            <a:endParaRPr lang="en-US" sz="1500"/>
          </a:p>
        </p:txBody>
      </p:sp>
      <p:sp>
        <p:nvSpPr>
          <p:cNvPr id="17" name="Text 15"/>
          <p:cNvSpPr/>
          <p:nvPr/>
        </p:nvSpPr>
        <p:spPr>
          <a:xfrm>
            <a:off x="731520" y="5879592"/>
            <a:ext cx="9601200" cy="228600"/>
          </a:xfrm>
          <a:prstGeom prst="rect">
            <a:avLst/>
          </a:prstGeom>
          <a:noFill/>
          <a:ln/>
        </p:spPr>
        <p:txBody>
          <a:bodyPr wrap="square" lIns="0" tIns="0" rIns="0" bIns="0" rtlCol="0" anchor="ctr"/>
          <a:lstStyle/>
          <a:p>
            <a:pPr marL="0" indent="0">
              <a:buNone/>
            </a:pPr>
            <a:r>
              <a:rPr lang="en-US" sz="1050" i="1">
                <a:solidFill>
                  <a:srgbClr val="5B667A"/>
                </a:solidFill>
              </a:rPr>
              <a:t>Foote (2019) frames big data integration around these three fundamental questions.</a:t>
            </a:r>
            <a:endParaRPr lang="en-US" sz="1050"/>
          </a:p>
        </p:txBody>
      </p:sp>
      <p:sp>
        <p:nvSpPr>
          <p:cNvPr id="18" name="Text 16"/>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5</a:t>
            </a:r>
            <a:endParaRPr lang="en-US" sz="800"/>
          </a:p>
        </p:txBody>
      </p:sp>
      <p:pic>
        <p:nvPicPr>
          <p:cNvPr id="20" name="Picture 19" descr="A logo with orange and grey text&#10;&#10;Description automatically generated">
            <a:extLst>
              <a:ext uri="{FF2B5EF4-FFF2-40B4-BE49-F238E27FC236}">
                <a16:creationId xmlns:a16="http://schemas.microsoft.com/office/drawing/2014/main" id="{48490C47-18C2-9D98-0D12-F68CB346B9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Traditional Integration Is Already Difficult</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Dong &amp; Srivastava use airline data to show integration challenges before “big data” even enters the picture.</a:t>
            </a:r>
            <a:endParaRPr lang="en-US" sz="1250"/>
          </a:p>
        </p:txBody>
      </p:sp>
      <p:sp>
        <p:nvSpPr>
          <p:cNvPr id="5" name="Shape 3"/>
          <p:cNvSpPr/>
          <p:nvPr/>
        </p:nvSpPr>
        <p:spPr>
          <a:xfrm>
            <a:off x="594360" y="1417320"/>
            <a:ext cx="2377440" cy="1965960"/>
          </a:xfrm>
          <a:prstGeom prst="roundRect">
            <a:avLst>
              <a:gd name="adj" fmla="val 3721"/>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6" name="Shape 4"/>
          <p:cNvSpPr/>
          <p:nvPr/>
        </p:nvSpPr>
        <p:spPr>
          <a:xfrm>
            <a:off x="594360" y="1417320"/>
            <a:ext cx="73152" cy="1965960"/>
          </a:xfrm>
          <a:prstGeom prst="rect">
            <a:avLst/>
          </a:prstGeom>
          <a:solidFill>
            <a:srgbClr val="1665D8"/>
          </a:solidFill>
          <a:ln w="12700">
            <a:solidFill>
              <a:srgbClr val="1665D8">
                <a:alpha val="0"/>
              </a:srgbClr>
            </a:solidFill>
            <a:prstDash val="solid"/>
          </a:ln>
        </p:spPr>
        <p:txBody>
          <a:bodyPr/>
          <a:lstStyle/>
          <a:p>
            <a:endParaRPr lang="en-AU"/>
          </a:p>
        </p:txBody>
      </p:sp>
      <p:sp>
        <p:nvSpPr>
          <p:cNvPr id="7" name="Text 5"/>
          <p:cNvSpPr/>
          <p:nvPr/>
        </p:nvSpPr>
        <p:spPr>
          <a:xfrm>
            <a:off x="795528" y="1545336"/>
            <a:ext cx="2029968" cy="228600"/>
          </a:xfrm>
          <a:prstGeom prst="rect">
            <a:avLst/>
          </a:prstGeom>
          <a:noFill/>
          <a:ln/>
        </p:spPr>
        <p:txBody>
          <a:bodyPr wrap="square" lIns="0" tIns="0" rIns="0" bIns="0" rtlCol="0" anchor="ctr"/>
          <a:lstStyle/>
          <a:p>
            <a:pPr marL="0" indent="0">
              <a:buNone/>
            </a:pPr>
            <a:r>
              <a:rPr lang="en-US" sz="1400" b="1">
                <a:solidFill>
                  <a:srgbClr val="172033"/>
                </a:solidFill>
              </a:rPr>
              <a:t>Airline schedule</a:t>
            </a:r>
            <a:endParaRPr lang="en-US" sz="1400"/>
          </a:p>
        </p:txBody>
      </p:sp>
      <p:sp>
        <p:nvSpPr>
          <p:cNvPr id="8" name="Text 6"/>
          <p:cNvSpPr/>
          <p:nvPr/>
        </p:nvSpPr>
        <p:spPr>
          <a:xfrm>
            <a:off x="850392" y="1920240"/>
            <a:ext cx="1938528" cy="1307592"/>
          </a:xfrm>
          <a:prstGeom prst="rect">
            <a:avLst/>
          </a:prstGeom>
          <a:noFill/>
          <a:ln/>
        </p:spPr>
        <p:txBody>
          <a:bodyPr wrap="square" lIns="254" tIns="254" rIns="254" bIns="254" rtlCol="0" anchor="ctr">
            <a:normAutofit/>
          </a:bodyPr>
          <a:lstStyle/>
          <a:p>
            <a:r>
              <a:rPr lang="en-US" sz="1050">
                <a:solidFill>
                  <a:srgbClr val="172033"/>
                </a:solidFill>
              </a:rPr>
              <a:t>flight no.</a:t>
            </a:r>
            <a:endParaRPr lang="en-US" sz="1050"/>
          </a:p>
          <a:p>
            <a:r>
              <a:rPr lang="en-US" sz="1050">
                <a:solidFill>
                  <a:srgbClr val="172033"/>
                </a:solidFill>
              </a:rPr>
              <a:t>departure time</a:t>
            </a:r>
            <a:endParaRPr lang="en-US" sz="1050"/>
          </a:p>
          <a:p>
            <a:r>
              <a:rPr lang="en-US" sz="1050">
                <a:solidFill>
                  <a:srgbClr val="172033"/>
                </a:solidFill>
              </a:rPr>
              <a:t>arrival city</a:t>
            </a:r>
            <a:endParaRPr lang="en-US" sz="1050"/>
          </a:p>
        </p:txBody>
      </p:sp>
      <p:sp>
        <p:nvSpPr>
          <p:cNvPr id="9" name="Shape 7"/>
          <p:cNvSpPr/>
          <p:nvPr/>
        </p:nvSpPr>
        <p:spPr>
          <a:xfrm>
            <a:off x="3429000" y="1417320"/>
            <a:ext cx="2377440" cy="1965960"/>
          </a:xfrm>
          <a:prstGeom prst="roundRect">
            <a:avLst>
              <a:gd name="adj" fmla="val 3721"/>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0" name="Shape 8"/>
          <p:cNvSpPr/>
          <p:nvPr/>
        </p:nvSpPr>
        <p:spPr>
          <a:xfrm>
            <a:off x="3429000" y="1417320"/>
            <a:ext cx="73152" cy="1965960"/>
          </a:xfrm>
          <a:prstGeom prst="rect">
            <a:avLst/>
          </a:prstGeom>
          <a:solidFill>
            <a:srgbClr val="00A7A5"/>
          </a:solidFill>
          <a:ln w="12700">
            <a:solidFill>
              <a:srgbClr val="00A7A5">
                <a:alpha val="0"/>
              </a:srgbClr>
            </a:solidFill>
            <a:prstDash val="solid"/>
          </a:ln>
        </p:spPr>
        <p:txBody>
          <a:bodyPr/>
          <a:lstStyle/>
          <a:p>
            <a:endParaRPr lang="en-AU"/>
          </a:p>
        </p:txBody>
      </p:sp>
      <p:sp>
        <p:nvSpPr>
          <p:cNvPr id="11" name="Text 9"/>
          <p:cNvSpPr/>
          <p:nvPr/>
        </p:nvSpPr>
        <p:spPr>
          <a:xfrm>
            <a:off x="3630168" y="1545336"/>
            <a:ext cx="2029968" cy="228600"/>
          </a:xfrm>
          <a:prstGeom prst="rect">
            <a:avLst/>
          </a:prstGeom>
          <a:noFill/>
          <a:ln/>
        </p:spPr>
        <p:txBody>
          <a:bodyPr wrap="square" lIns="0" tIns="0" rIns="0" bIns="0" rtlCol="0" anchor="ctr"/>
          <a:lstStyle/>
          <a:p>
            <a:pPr marL="0" indent="0">
              <a:buNone/>
            </a:pPr>
            <a:r>
              <a:rPr lang="en-US" sz="1400" b="1">
                <a:solidFill>
                  <a:srgbClr val="172033"/>
                </a:solidFill>
              </a:rPr>
              <a:t>Airport data</a:t>
            </a:r>
            <a:endParaRPr lang="en-US" sz="1400"/>
          </a:p>
        </p:txBody>
      </p:sp>
      <p:sp>
        <p:nvSpPr>
          <p:cNvPr id="12" name="Text 10"/>
          <p:cNvSpPr/>
          <p:nvPr/>
        </p:nvSpPr>
        <p:spPr>
          <a:xfrm>
            <a:off x="3685032" y="1920240"/>
            <a:ext cx="1938528" cy="1307592"/>
          </a:xfrm>
          <a:prstGeom prst="rect">
            <a:avLst/>
          </a:prstGeom>
          <a:noFill/>
          <a:ln/>
        </p:spPr>
        <p:txBody>
          <a:bodyPr wrap="square" lIns="254" tIns="254" rIns="254" bIns="254" rtlCol="0" anchor="ctr">
            <a:normAutofit/>
          </a:bodyPr>
          <a:lstStyle/>
          <a:p>
            <a:r>
              <a:rPr lang="en-US" sz="1050">
                <a:solidFill>
                  <a:srgbClr val="172033"/>
                </a:solidFill>
              </a:rPr>
              <a:t>airport code</a:t>
            </a:r>
            <a:endParaRPr lang="en-US" sz="1050"/>
          </a:p>
          <a:p>
            <a:r>
              <a:rPr lang="en-US" sz="1050">
                <a:solidFill>
                  <a:srgbClr val="172033"/>
                </a:solidFill>
              </a:rPr>
              <a:t>city</a:t>
            </a:r>
            <a:endParaRPr lang="en-US" sz="1050"/>
          </a:p>
          <a:p>
            <a:r>
              <a:rPr lang="en-US" sz="1050">
                <a:solidFill>
                  <a:srgbClr val="172033"/>
                </a:solidFill>
              </a:rPr>
              <a:t>terminal</a:t>
            </a:r>
            <a:endParaRPr lang="en-US" sz="1050"/>
          </a:p>
        </p:txBody>
      </p:sp>
      <p:sp>
        <p:nvSpPr>
          <p:cNvPr id="13" name="Shape 11"/>
          <p:cNvSpPr/>
          <p:nvPr/>
        </p:nvSpPr>
        <p:spPr>
          <a:xfrm>
            <a:off x="6263640" y="1417320"/>
            <a:ext cx="2377440" cy="1965960"/>
          </a:xfrm>
          <a:prstGeom prst="roundRect">
            <a:avLst>
              <a:gd name="adj" fmla="val 3721"/>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4" name="Shape 12"/>
          <p:cNvSpPr/>
          <p:nvPr/>
        </p:nvSpPr>
        <p:spPr>
          <a:xfrm>
            <a:off x="6263640" y="1417320"/>
            <a:ext cx="73152" cy="1965960"/>
          </a:xfrm>
          <a:prstGeom prst="rect">
            <a:avLst/>
          </a:prstGeom>
          <a:solidFill>
            <a:srgbClr val="F59E0B"/>
          </a:solidFill>
          <a:ln w="12700">
            <a:solidFill>
              <a:srgbClr val="F59E0B">
                <a:alpha val="0"/>
              </a:srgbClr>
            </a:solidFill>
            <a:prstDash val="solid"/>
          </a:ln>
        </p:spPr>
        <p:txBody>
          <a:bodyPr/>
          <a:lstStyle/>
          <a:p>
            <a:endParaRPr lang="en-AU"/>
          </a:p>
        </p:txBody>
      </p:sp>
      <p:sp>
        <p:nvSpPr>
          <p:cNvPr id="15" name="Text 13"/>
          <p:cNvSpPr/>
          <p:nvPr/>
        </p:nvSpPr>
        <p:spPr>
          <a:xfrm>
            <a:off x="6464808" y="1545336"/>
            <a:ext cx="2029968" cy="228600"/>
          </a:xfrm>
          <a:prstGeom prst="rect">
            <a:avLst/>
          </a:prstGeom>
          <a:noFill/>
          <a:ln/>
        </p:spPr>
        <p:txBody>
          <a:bodyPr wrap="square" lIns="0" tIns="0" rIns="0" bIns="0" rtlCol="0" anchor="ctr"/>
          <a:lstStyle/>
          <a:p>
            <a:pPr marL="0" indent="0">
              <a:buNone/>
            </a:pPr>
            <a:r>
              <a:rPr lang="en-US" sz="1400" b="1">
                <a:solidFill>
                  <a:srgbClr val="172033"/>
                </a:solidFill>
              </a:rPr>
              <a:t>Weather feed</a:t>
            </a:r>
            <a:endParaRPr lang="en-US" sz="1400"/>
          </a:p>
        </p:txBody>
      </p:sp>
      <p:sp>
        <p:nvSpPr>
          <p:cNvPr id="16" name="Text 14"/>
          <p:cNvSpPr/>
          <p:nvPr/>
        </p:nvSpPr>
        <p:spPr>
          <a:xfrm>
            <a:off x="6519672" y="1920240"/>
            <a:ext cx="1938528" cy="1307592"/>
          </a:xfrm>
          <a:prstGeom prst="rect">
            <a:avLst/>
          </a:prstGeom>
          <a:noFill/>
          <a:ln/>
        </p:spPr>
        <p:txBody>
          <a:bodyPr wrap="square" lIns="254" tIns="254" rIns="254" bIns="254" rtlCol="0" anchor="ctr">
            <a:normAutofit/>
          </a:bodyPr>
          <a:lstStyle/>
          <a:p>
            <a:r>
              <a:rPr lang="en-US" sz="1050">
                <a:solidFill>
                  <a:srgbClr val="172033"/>
                </a:solidFill>
              </a:rPr>
              <a:t>station id</a:t>
            </a:r>
            <a:endParaRPr lang="en-US" sz="1050"/>
          </a:p>
          <a:p>
            <a:r>
              <a:rPr lang="en-US" sz="1050">
                <a:solidFill>
                  <a:srgbClr val="172033"/>
                </a:solidFill>
              </a:rPr>
              <a:t>timestamp</a:t>
            </a:r>
            <a:endParaRPr lang="en-US" sz="1050"/>
          </a:p>
          <a:p>
            <a:r>
              <a:rPr lang="en-US" sz="1050">
                <a:solidFill>
                  <a:srgbClr val="172033"/>
                </a:solidFill>
              </a:rPr>
              <a:t>conditions</a:t>
            </a:r>
            <a:endParaRPr lang="en-US" sz="1050"/>
          </a:p>
        </p:txBody>
      </p:sp>
      <p:sp>
        <p:nvSpPr>
          <p:cNvPr id="17" name="Shape 15"/>
          <p:cNvSpPr/>
          <p:nvPr/>
        </p:nvSpPr>
        <p:spPr>
          <a:xfrm>
            <a:off x="9098280" y="1417320"/>
            <a:ext cx="2377440" cy="1965960"/>
          </a:xfrm>
          <a:prstGeom prst="roundRect">
            <a:avLst>
              <a:gd name="adj" fmla="val 3721"/>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8" name="Shape 16"/>
          <p:cNvSpPr/>
          <p:nvPr/>
        </p:nvSpPr>
        <p:spPr>
          <a:xfrm>
            <a:off x="9098280" y="1417320"/>
            <a:ext cx="73152" cy="1965960"/>
          </a:xfrm>
          <a:prstGeom prst="rect">
            <a:avLst/>
          </a:prstGeom>
          <a:solidFill>
            <a:srgbClr val="7C3AED"/>
          </a:solidFill>
          <a:ln w="12700">
            <a:solidFill>
              <a:srgbClr val="7C3AED">
                <a:alpha val="0"/>
              </a:srgbClr>
            </a:solidFill>
            <a:prstDash val="solid"/>
          </a:ln>
        </p:spPr>
        <p:txBody>
          <a:bodyPr/>
          <a:lstStyle/>
          <a:p>
            <a:endParaRPr lang="en-AU"/>
          </a:p>
        </p:txBody>
      </p:sp>
      <p:sp>
        <p:nvSpPr>
          <p:cNvPr id="19" name="Text 17"/>
          <p:cNvSpPr/>
          <p:nvPr/>
        </p:nvSpPr>
        <p:spPr>
          <a:xfrm>
            <a:off x="9299448" y="1545336"/>
            <a:ext cx="2029968" cy="228600"/>
          </a:xfrm>
          <a:prstGeom prst="rect">
            <a:avLst/>
          </a:prstGeom>
          <a:noFill/>
          <a:ln/>
        </p:spPr>
        <p:txBody>
          <a:bodyPr wrap="square" lIns="0" tIns="0" rIns="0" bIns="0" rtlCol="0" anchor="ctr"/>
          <a:lstStyle/>
          <a:p>
            <a:pPr marL="0" indent="0">
              <a:buNone/>
            </a:pPr>
            <a:r>
              <a:rPr lang="en-US" sz="1400" b="1">
                <a:solidFill>
                  <a:srgbClr val="172033"/>
                </a:solidFill>
              </a:rPr>
              <a:t>Ticketing data</a:t>
            </a:r>
            <a:endParaRPr lang="en-US" sz="1400"/>
          </a:p>
        </p:txBody>
      </p:sp>
      <p:sp>
        <p:nvSpPr>
          <p:cNvPr id="20" name="Text 18"/>
          <p:cNvSpPr/>
          <p:nvPr/>
        </p:nvSpPr>
        <p:spPr>
          <a:xfrm>
            <a:off x="9354312" y="1920240"/>
            <a:ext cx="1938528" cy="1307592"/>
          </a:xfrm>
          <a:prstGeom prst="rect">
            <a:avLst/>
          </a:prstGeom>
          <a:noFill/>
          <a:ln/>
        </p:spPr>
        <p:txBody>
          <a:bodyPr wrap="square" lIns="254" tIns="254" rIns="254" bIns="254" rtlCol="0" anchor="ctr">
            <a:normAutofit/>
          </a:bodyPr>
          <a:lstStyle/>
          <a:p>
            <a:r>
              <a:rPr lang="en-US" sz="1050">
                <a:solidFill>
                  <a:srgbClr val="172033"/>
                </a:solidFill>
              </a:rPr>
              <a:t>booking id</a:t>
            </a:r>
            <a:endParaRPr lang="en-US" sz="1050"/>
          </a:p>
          <a:p>
            <a:r>
              <a:rPr lang="en-US" sz="1050">
                <a:solidFill>
                  <a:srgbClr val="172033"/>
                </a:solidFill>
              </a:rPr>
              <a:t>passenger</a:t>
            </a:r>
            <a:endParaRPr lang="en-US" sz="1050"/>
          </a:p>
          <a:p>
            <a:r>
              <a:rPr lang="en-US" sz="1050">
                <a:solidFill>
                  <a:srgbClr val="172033"/>
                </a:solidFill>
              </a:rPr>
              <a:t>fare class</a:t>
            </a:r>
            <a:endParaRPr lang="en-US" sz="1050"/>
          </a:p>
        </p:txBody>
      </p:sp>
      <p:sp>
        <p:nvSpPr>
          <p:cNvPr id="21" name="Shape 19"/>
          <p:cNvSpPr/>
          <p:nvPr/>
        </p:nvSpPr>
        <p:spPr>
          <a:xfrm>
            <a:off x="5303520" y="3794760"/>
            <a:ext cx="1005840" cy="237744"/>
          </a:xfrm>
          <a:prstGeom prst="rightArrow">
            <a:avLst/>
          </a:prstGeom>
          <a:solidFill>
            <a:srgbClr val="0B1F3A">
              <a:alpha val="92000"/>
            </a:srgbClr>
          </a:solidFill>
          <a:ln w="12700">
            <a:solidFill>
              <a:srgbClr val="0B1F3A">
                <a:alpha val="0"/>
              </a:srgbClr>
            </a:solidFill>
            <a:prstDash val="solid"/>
          </a:ln>
        </p:spPr>
        <p:txBody>
          <a:bodyPr/>
          <a:lstStyle/>
          <a:p>
            <a:endParaRPr lang="en-AU"/>
          </a:p>
        </p:txBody>
      </p:sp>
      <p:sp>
        <p:nvSpPr>
          <p:cNvPr id="22" name="Shape 20"/>
          <p:cNvSpPr/>
          <p:nvPr/>
        </p:nvSpPr>
        <p:spPr>
          <a:xfrm>
            <a:off x="3291840" y="4389120"/>
            <a:ext cx="5577840" cy="1097280"/>
          </a:xfrm>
          <a:prstGeom prst="roundRect">
            <a:avLst>
              <a:gd name="adj" fmla="val 6667"/>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23" name="Shape 21"/>
          <p:cNvSpPr/>
          <p:nvPr/>
        </p:nvSpPr>
        <p:spPr>
          <a:xfrm>
            <a:off x="3291840" y="4389120"/>
            <a:ext cx="73152" cy="1097280"/>
          </a:xfrm>
          <a:prstGeom prst="rect">
            <a:avLst/>
          </a:prstGeom>
          <a:solidFill>
            <a:srgbClr val="2EAD66"/>
          </a:solidFill>
          <a:ln w="12700">
            <a:solidFill>
              <a:srgbClr val="2EAD66">
                <a:alpha val="0"/>
              </a:srgbClr>
            </a:solidFill>
            <a:prstDash val="solid"/>
          </a:ln>
        </p:spPr>
        <p:txBody>
          <a:bodyPr/>
          <a:lstStyle/>
          <a:p>
            <a:endParaRPr lang="en-AU"/>
          </a:p>
        </p:txBody>
      </p:sp>
      <p:sp>
        <p:nvSpPr>
          <p:cNvPr id="24" name="Text 22"/>
          <p:cNvSpPr/>
          <p:nvPr/>
        </p:nvSpPr>
        <p:spPr>
          <a:xfrm>
            <a:off x="3493008" y="4517136"/>
            <a:ext cx="5230368" cy="228600"/>
          </a:xfrm>
          <a:prstGeom prst="rect">
            <a:avLst/>
          </a:prstGeom>
          <a:noFill/>
          <a:ln/>
        </p:spPr>
        <p:txBody>
          <a:bodyPr wrap="square" lIns="0" tIns="0" rIns="0" bIns="0" rtlCol="0" anchor="ctr"/>
          <a:lstStyle/>
          <a:p>
            <a:pPr marL="0" indent="0">
              <a:buNone/>
            </a:pPr>
            <a:r>
              <a:rPr lang="en-US" sz="1400" b="1">
                <a:solidFill>
                  <a:srgbClr val="172033"/>
                </a:solidFill>
              </a:rPr>
              <a:t>Goal: one analytical view</a:t>
            </a:r>
            <a:endParaRPr lang="en-US" sz="1400"/>
          </a:p>
        </p:txBody>
      </p:sp>
      <p:sp>
        <p:nvSpPr>
          <p:cNvPr id="25" name="Text 23"/>
          <p:cNvSpPr/>
          <p:nvPr/>
        </p:nvSpPr>
        <p:spPr>
          <a:xfrm>
            <a:off x="3493008" y="4892040"/>
            <a:ext cx="5230368" cy="438912"/>
          </a:xfrm>
          <a:prstGeom prst="rect">
            <a:avLst/>
          </a:prstGeom>
          <a:noFill/>
          <a:ln/>
        </p:spPr>
        <p:txBody>
          <a:bodyPr wrap="square" lIns="0" tIns="0" rIns="0" bIns="0" rtlCol="0" anchor="ctr">
            <a:normAutofit/>
          </a:bodyPr>
          <a:lstStyle/>
          <a:p>
            <a:pPr marL="0" indent="0">
              <a:buNone/>
            </a:pPr>
            <a:r>
              <a:rPr lang="en-US" sz="1350">
                <a:solidFill>
                  <a:srgbClr val="172033"/>
                </a:solidFill>
              </a:rPr>
              <a:t>For example, understand delays by route, airport, weather and customer impact.</a:t>
            </a:r>
            <a:endParaRPr lang="en-US" sz="1350"/>
          </a:p>
        </p:txBody>
      </p:sp>
      <p:sp>
        <p:nvSpPr>
          <p:cNvPr id="26" name="Text 24"/>
          <p:cNvSpPr/>
          <p:nvPr/>
        </p:nvSpPr>
        <p:spPr>
          <a:xfrm>
            <a:off x="1005840" y="5989320"/>
            <a:ext cx="10149840" cy="256032"/>
          </a:xfrm>
          <a:prstGeom prst="rect">
            <a:avLst/>
          </a:prstGeom>
          <a:noFill/>
          <a:ln/>
        </p:spPr>
        <p:txBody>
          <a:bodyPr wrap="square" lIns="0" tIns="0" rIns="0" bIns="0" rtlCol="0" anchor="ctr"/>
          <a:lstStyle/>
          <a:p>
            <a:pPr marL="0" indent="0" algn="ctr">
              <a:buNone/>
            </a:pPr>
            <a:r>
              <a:rPr lang="en-US" sz="1250" b="1">
                <a:solidFill>
                  <a:srgbClr val="172033"/>
                </a:solidFill>
              </a:rPr>
              <a:t>Even traditional systems require schema matching, entity resolution, conflict handling and provenance tracking.</a:t>
            </a:r>
            <a:endParaRPr lang="en-US" sz="1250"/>
          </a:p>
        </p:txBody>
      </p:sp>
      <p:sp>
        <p:nvSpPr>
          <p:cNvPr id="27" name="Text 25"/>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6</a:t>
            </a:r>
            <a:endParaRPr lang="en-US" sz="800"/>
          </a:p>
        </p:txBody>
      </p:sp>
      <p:pic>
        <p:nvPicPr>
          <p:cNvPr id="29" name="Picture 28" descr="A logo with orange and grey text&#10;&#10;Description automatically generated">
            <a:extLst>
              <a:ext uri="{FF2B5EF4-FFF2-40B4-BE49-F238E27FC236}">
                <a16:creationId xmlns:a16="http://schemas.microsoft.com/office/drawing/2014/main" id="{D429F230-2E16-487F-C1DA-E4AB61D0D4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Common Challenges in Big Data Integration</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Big data expands the traditional integration problem through volume, velocity, variety, veracity, value and valence.</a:t>
            </a:r>
            <a:endParaRPr lang="en-US" sz="1250"/>
          </a:p>
        </p:txBody>
      </p:sp>
      <p:sp>
        <p:nvSpPr>
          <p:cNvPr id="5" name="Shape 3"/>
          <p:cNvSpPr/>
          <p:nvPr/>
        </p:nvSpPr>
        <p:spPr>
          <a:xfrm>
            <a:off x="685800" y="1417320"/>
            <a:ext cx="3337560" cy="1508760"/>
          </a:xfrm>
          <a:prstGeom prst="roundRect">
            <a:avLst>
              <a:gd name="adj" fmla="val 4848"/>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6" name="Shape 4"/>
          <p:cNvSpPr/>
          <p:nvPr/>
        </p:nvSpPr>
        <p:spPr>
          <a:xfrm>
            <a:off x="685800" y="1417320"/>
            <a:ext cx="73152" cy="1508760"/>
          </a:xfrm>
          <a:prstGeom prst="rect">
            <a:avLst/>
          </a:prstGeom>
          <a:solidFill>
            <a:srgbClr val="1665D8"/>
          </a:solidFill>
          <a:ln w="12700">
            <a:solidFill>
              <a:srgbClr val="1665D8">
                <a:alpha val="0"/>
              </a:srgbClr>
            </a:solidFill>
            <a:prstDash val="solid"/>
          </a:ln>
        </p:spPr>
        <p:txBody>
          <a:bodyPr/>
          <a:lstStyle/>
          <a:p>
            <a:endParaRPr lang="en-AU"/>
          </a:p>
        </p:txBody>
      </p:sp>
      <p:sp>
        <p:nvSpPr>
          <p:cNvPr id="7" name="Text 5"/>
          <p:cNvSpPr/>
          <p:nvPr/>
        </p:nvSpPr>
        <p:spPr>
          <a:xfrm>
            <a:off x="886968" y="1545336"/>
            <a:ext cx="2990088" cy="228600"/>
          </a:xfrm>
          <a:prstGeom prst="rect">
            <a:avLst/>
          </a:prstGeom>
          <a:noFill/>
          <a:ln/>
        </p:spPr>
        <p:txBody>
          <a:bodyPr wrap="square" lIns="0" tIns="0" rIns="0" bIns="0" rtlCol="0" anchor="ctr"/>
          <a:lstStyle/>
          <a:p>
            <a:pPr marL="0" indent="0">
              <a:buNone/>
            </a:pPr>
            <a:r>
              <a:rPr lang="en-US" sz="1400" b="1">
                <a:solidFill>
                  <a:srgbClr val="172033"/>
                </a:solidFill>
              </a:rPr>
              <a:t>Schema heterogeneity</a:t>
            </a:r>
            <a:endParaRPr lang="en-US" sz="1400"/>
          </a:p>
        </p:txBody>
      </p:sp>
      <p:sp>
        <p:nvSpPr>
          <p:cNvPr id="8" name="Text 6"/>
          <p:cNvSpPr/>
          <p:nvPr/>
        </p:nvSpPr>
        <p:spPr>
          <a:xfrm>
            <a:off x="886968" y="1920240"/>
            <a:ext cx="2990088" cy="850392"/>
          </a:xfrm>
          <a:prstGeom prst="rect">
            <a:avLst/>
          </a:prstGeom>
          <a:noFill/>
          <a:ln/>
        </p:spPr>
        <p:txBody>
          <a:bodyPr wrap="square" lIns="0" tIns="0" rIns="0" bIns="0" rtlCol="0" anchor="ctr">
            <a:normAutofit/>
          </a:bodyPr>
          <a:lstStyle/>
          <a:p>
            <a:pPr marL="0" indent="0">
              <a:buNone/>
            </a:pPr>
            <a:r>
              <a:rPr lang="en-US" sz="1120">
                <a:solidFill>
                  <a:srgbClr val="172033"/>
                </a:solidFill>
              </a:rPr>
              <a:t>Same concept, different column names, data types or formats.</a:t>
            </a:r>
            <a:endParaRPr lang="en-US" sz="1120"/>
          </a:p>
        </p:txBody>
      </p:sp>
      <p:sp>
        <p:nvSpPr>
          <p:cNvPr id="9" name="Shape 7"/>
          <p:cNvSpPr/>
          <p:nvPr/>
        </p:nvSpPr>
        <p:spPr>
          <a:xfrm>
            <a:off x="4480560" y="1417320"/>
            <a:ext cx="3337560" cy="1508760"/>
          </a:xfrm>
          <a:prstGeom prst="roundRect">
            <a:avLst>
              <a:gd name="adj" fmla="val 4848"/>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0" name="Shape 8"/>
          <p:cNvSpPr/>
          <p:nvPr/>
        </p:nvSpPr>
        <p:spPr>
          <a:xfrm>
            <a:off x="4480560" y="1417320"/>
            <a:ext cx="73152" cy="1508760"/>
          </a:xfrm>
          <a:prstGeom prst="rect">
            <a:avLst/>
          </a:prstGeom>
          <a:solidFill>
            <a:srgbClr val="00A7A5"/>
          </a:solidFill>
          <a:ln w="12700">
            <a:solidFill>
              <a:srgbClr val="00A7A5">
                <a:alpha val="0"/>
              </a:srgbClr>
            </a:solidFill>
            <a:prstDash val="solid"/>
          </a:ln>
        </p:spPr>
        <p:txBody>
          <a:bodyPr/>
          <a:lstStyle/>
          <a:p>
            <a:endParaRPr lang="en-AU"/>
          </a:p>
        </p:txBody>
      </p:sp>
      <p:sp>
        <p:nvSpPr>
          <p:cNvPr id="11" name="Text 9"/>
          <p:cNvSpPr/>
          <p:nvPr/>
        </p:nvSpPr>
        <p:spPr>
          <a:xfrm>
            <a:off x="4681728" y="1545336"/>
            <a:ext cx="2990088" cy="228600"/>
          </a:xfrm>
          <a:prstGeom prst="rect">
            <a:avLst/>
          </a:prstGeom>
          <a:noFill/>
          <a:ln/>
        </p:spPr>
        <p:txBody>
          <a:bodyPr wrap="square" lIns="0" tIns="0" rIns="0" bIns="0" rtlCol="0" anchor="ctr"/>
          <a:lstStyle/>
          <a:p>
            <a:pPr marL="0" indent="0">
              <a:buNone/>
            </a:pPr>
            <a:r>
              <a:rPr lang="en-US" sz="1400" b="1">
                <a:solidFill>
                  <a:srgbClr val="172033"/>
                </a:solidFill>
              </a:rPr>
              <a:t>Entity resolution</a:t>
            </a:r>
            <a:endParaRPr lang="en-US" sz="1400"/>
          </a:p>
        </p:txBody>
      </p:sp>
      <p:sp>
        <p:nvSpPr>
          <p:cNvPr id="12" name="Text 10"/>
          <p:cNvSpPr/>
          <p:nvPr/>
        </p:nvSpPr>
        <p:spPr>
          <a:xfrm>
            <a:off x="4681728" y="1920240"/>
            <a:ext cx="2990088" cy="850392"/>
          </a:xfrm>
          <a:prstGeom prst="rect">
            <a:avLst/>
          </a:prstGeom>
          <a:noFill/>
          <a:ln/>
        </p:spPr>
        <p:txBody>
          <a:bodyPr wrap="square" lIns="0" tIns="0" rIns="0" bIns="0" rtlCol="0" anchor="ctr">
            <a:normAutofit/>
          </a:bodyPr>
          <a:lstStyle/>
          <a:p>
            <a:pPr marL="0" indent="0">
              <a:buNone/>
            </a:pPr>
            <a:r>
              <a:rPr lang="en-US" sz="1120">
                <a:solidFill>
                  <a:srgbClr val="172033"/>
                </a:solidFill>
              </a:rPr>
              <a:t>Identifying records that refer to the same real-world object.</a:t>
            </a:r>
            <a:endParaRPr lang="en-US" sz="1120"/>
          </a:p>
        </p:txBody>
      </p:sp>
      <p:sp>
        <p:nvSpPr>
          <p:cNvPr id="13" name="Shape 11"/>
          <p:cNvSpPr/>
          <p:nvPr/>
        </p:nvSpPr>
        <p:spPr>
          <a:xfrm>
            <a:off x="8275320" y="1417320"/>
            <a:ext cx="3337560" cy="1508760"/>
          </a:xfrm>
          <a:prstGeom prst="roundRect">
            <a:avLst>
              <a:gd name="adj" fmla="val 4848"/>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4" name="Shape 12"/>
          <p:cNvSpPr/>
          <p:nvPr/>
        </p:nvSpPr>
        <p:spPr>
          <a:xfrm>
            <a:off x="8275320" y="1417320"/>
            <a:ext cx="73152" cy="1508760"/>
          </a:xfrm>
          <a:prstGeom prst="rect">
            <a:avLst/>
          </a:prstGeom>
          <a:solidFill>
            <a:srgbClr val="F59E0B"/>
          </a:solidFill>
          <a:ln w="12700">
            <a:solidFill>
              <a:srgbClr val="F59E0B">
                <a:alpha val="0"/>
              </a:srgbClr>
            </a:solidFill>
            <a:prstDash val="solid"/>
          </a:ln>
        </p:spPr>
        <p:txBody>
          <a:bodyPr/>
          <a:lstStyle/>
          <a:p>
            <a:endParaRPr lang="en-AU"/>
          </a:p>
        </p:txBody>
      </p:sp>
      <p:sp>
        <p:nvSpPr>
          <p:cNvPr id="15" name="Text 13"/>
          <p:cNvSpPr/>
          <p:nvPr/>
        </p:nvSpPr>
        <p:spPr>
          <a:xfrm>
            <a:off x="8476488" y="1545336"/>
            <a:ext cx="2990088" cy="228600"/>
          </a:xfrm>
          <a:prstGeom prst="rect">
            <a:avLst/>
          </a:prstGeom>
          <a:noFill/>
          <a:ln/>
        </p:spPr>
        <p:txBody>
          <a:bodyPr wrap="square" lIns="0" tIns="0" rIns="0" bIns="0" rtlCol="0" anchor="ctr"/>
          <a:lstStyle/>
          <a:p>
            <a:pPr marL="0" indent="0">
              <a:buNone/>
            </a:pPr>
            <a:r>
              <a:rPr lang="en-US" sz="1400" b="1">
                <a:solidFill>
                  <a:srgbClr val="172033"/>
                </a:solidFill>
              </a:rPr>
              <a:t>Data quality</a:t>
            </a:r>
            <a:endParaRPr lang="en-US" sz="1400"/>
          </a:p>
        </p:txBody>
      </p:sp>
      <p:sp>
        <p:nvSpPr>
          <p:cNvPr id="16" name="Text 14"/>
          <p:cNvSpPr/>
          <p:nvPr/>
        </p:nvSpPr>
        <p:spPr>
          <a:xfrm>
            <a:off x="8476488" y="1920240"/>
            <a:ext cx="2990088" cy="850392"/>
          </a:xfrm>
          <a:prstGeom prst="rect">
            <a:avLst/>
          </a:prstGeom>
          <a:noFill/>
          <a:ln/>
        </p:spPr>
        <p:txBody>
          <a:bodyPr wrap="square" lIns="0" tIns="0" rIns="0" bIns="0" rtlCol="0" anchor="ctr">
            <a:normAutofit/>
          </a:bodyPr>
          <a:lstStyle/>
          <a:p>
            <a:pPr marL="0" indent="0">
              <a:buNone/>
            </a:pPr>
            <a:r>
              <a:rPr lang="en-US" sz="1120">
                <a:solidFill>
                  <a:srgbClr val="172033"/>
                </a:solidFill>
              </a:rPr>
              <a:t>Missingness, duplicates, outliers, inconsistent units and invalid values.</a:t>
            </a:r>
            <a:endParaRPr lang="en-US" sz="1120"/>
          </a:p>
        </p:txBody>
      </p:sp>
      <p:sp>
        <p:nvSpPr>
          <p:cNvPr id="17" name="Shape 15"/>
          <p:cNvSpPr/>
          <p:nvPr/>
        </p:nvSpPr>
        <p:spPr>
          <a:xfrm>
            <a:off x="685800" y="3474720"/>
            <a:ext cx="3337560" cy="1508760"/>
          </a:xfrm>
          <a:prstGeom prst="roundRect">
            <a:avLst>
              <a:gd name="adj" fmla="val 4848"/>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8" name="Shape 16"/>
          <p:cNvSpPr/>
          <p:nvPr/>
        </p:nvSpPr>
        <p:spPr>
          <a:xfrm>
            <a:off x="685800" y="3474720"/>
            <a:ext cx="73152" cy="1508760"/>
          </a:xfrm>
          <a:prstGeom prst="rect">
            <a:avLst/>
          </a:prstGeom>
          <a:solidFill>
            <a:srgbClr val="7C3AED"/>
          </a:solidFill>
          <a:ln w="12700">
            <a:solidFill>
              <a:srgbClr val="7C3AED">
                <a:alpha val="0"/>
              </a:srgbClr>
            </a:solidFill>
            <a:prstDash val="solid"/>
          </a:ln>
        </p:spPr>
        <p:txBody>
          <a:bodyPr/>
          <a:lstStyle/>
          <a:p>
            <a:endParaRPr lang="en-AU"/>
          </a:p>
        </p:txBody>
      </p:sp>
      <p:sp>
        <p:nvSpPr>
          <p:cNvPr id="19" name="Text 17"/>
          <p:cNvSpPr/>
          <p:nvPr/>
        </p:nvSpPr>
        <p:spPr>
          <a:xfrm>
            <a:off x="886968" y="3602736"/>
            <a:ext cx="2990088" cy="228600"/>
          </a:xfrm>
          <a:prstGeom prst="rect">
            <a:avLst/>
          </a:prstGeom>
          <a:noFill/>
          <a:ln/>
        </p:spPr>
        <p:txBody>
          <a:bodyPr wrap="square" lIns="0" tIns="0" rIns="0" bIns="0" rtlCol="0" anchor="ctr"/>
          <a:lstStyle/>
          <a:p>
            <a:pPr marL="0" indent="0">
              <a:buNone/>
            </a:pPr>
            <a:r>
              <a:rPr lang="en-US" sz="1400" b="1">
                <a:solidFill>
                  <a:srgbClr val="172033"/>
                </a:solidFill>
              </a:rPr>
              <a:t>Velocity</a:t>
            </a:r>
            <a:endParaRPr lang="en-US" sz="1400"/>
          </a:p>
        </p:txBody>
      </p:sp>
      <p:sp>
        <p:nvSpPr>
          <p:cNvPr id="20" name="Text 18"/>
          <p:cNvSpPr/>
          <p:nvPr/>
        </p:nvSpPr>
        <p:spPr>
          <a:xfrm>
            <a:off x="886968" y="3977640"/>
            <a:ext cx="2990088" cy="850392"/>
          </a:xfrm>
          <a:prstGeom prst="rect">
            <a:avLst/>
          </a:prstGeom>
          <a:noFill/>
          <a:ln/>
        </p:spPr>
        <p:txBody>
          <a:bodyPr wrap="square" lIns="0" tIns="0" rIns="0" bIns="0" rtlCol="0" anchor="ctr">
            <a:normAutofit/>
          </a:bodyPr>
          <a:lstStyle/>
          <a:p>
            <a:pPr marL="0" indent="0">
              <a:buNone/>
            </a:pPr>
            <a:r>
              <a:rPr lang="en-US" sz="1120">
                <a:solidFill>
                  <a:srgbClr val="172033"/>
                </a:solidFill>
              </a:rPr>
              <a:t>Batch files, event streams and APIs arrive at different speeds.</a:t>
            </a:r>
            <a:endParaRPr lang="en-US" sz="1120"/>
          </a:p>
        </p:txBody>
      </p:sp>
      <p:sp>
        <p:nvSpPr>
          <p:cNvPr id="21" name="Shape 19"/>
          <p:cNvSpPr/>
          <p:nvPr/>
        </p:nvSpPr>
        <p:spPr>
          <a:xfrm>
            <a:off x="4480560" y="3474720"/>
            <a:ext cx="3337560" cy="1508760"/>
          </a:xfrm>
          <a:prstGeom prst="roundRect">
            <a:avLst>
              <a:gd name="adj" fmla="val 4848"/>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22" name="Shape 20"/>
          <p:cNvSpPr/>
          <p:nvPr/>
        </p:nvSpPr>
        <p:spPr>
          <a:xfrm>
            <a:off x="4480560" y="3474720"/>
            <a:ext cx="73152" cy="1508760"/>
          </a:xfrm>
          <a:prstGeom prst="rect">
            <a:avLst/>
          </a:prstGeom>
          <a:solidFill>
            <a:srgbClr val="D94C4C"/>
          </a:solidFill>
          <a:ln w="12700">
            <a:solidFill>
              <a:srgbClr val="D94C4C">
                <a:alpha val="0"/>
              </a:srgbClr>
            </a:solidFill>
            <a:prstDash val="solid"/>
          </a:ln>
        </p:spPr>
        <p:txBody>
          <a:bodyPr/>
          <a:lstStyle/>
          <a:p>
            <a:endParaRPr lang="en-AU"/>
          </a:p>
        </p:txBody>
      </p:sp>
      <p:sp>
        <p:nvSpPr>
          <p:cNvPr id="23" name="Text 21"/>
          <p:cNvSpPr/>
          <p:nvPr/>
        </p:nvSpPr>
        <p:spPr>
          <a:xfrm>
            <a:off x="4681728" y="3602736"/>
            <a:ext cx="2990088" cy="228600"/>
          </a:xfrm>
          <a:prstGeom prst="rect">
            <a:avLst/>
          </a:prstGeom>
          <a:noFill/>
          <a:ln/>
        </p:spPr>
        <p:txBody>
          <a:bodyPr wrap="square" lIns="0" tIns="0" rIns="0" bIns="0" rtlCol="0" anchor="ctr"/>
          <a:lstStyle/>
          <a:p>
            <a:pPr marL="0" indent="0">
              <a:buNone/>
            </a:pPr>
            <a:r>
              <a:rPr lang="en-US" sz="1400" b="1">
                <a:solidFill>
                  <a:srgbClr val="172033"/>
                </a:solidFill>
              </a:rPr>
              <a:t>Governance</a:t>
            </a:r>
            <a:endParaRPr lang="en-US" sz="1400"/>
          </a:p>
        </p:txBody>
      </p:sp>
      <p:sp>
        <p:nvSpPr>
          <p:cNvPr id="24" name="Text 22"/>
          <p:cNvSpPr/>
          <p:nvPr/>
        </p:nvSpPr>
        <p:spPr>
          <a:xfrm>
            <a:off x="4681728" y="3977640"/>
            <a:ext cx="2990088" cy="850392"/>
          </a:xfrm>
          <a:prstGeom prst="rect">
            <a:avLst/>
          </a:prstGeom>
          <a:noFill/>
          <a:ln/>
        </p:spPr>
        <p:txBody>
          <a:bodyPr wrap="square" lIns="0" tIns="0" rIns="0" bIns="0" rtlCol="0" anchor="ctr">
            <a:normAutofit/>
          </a:bodyPr>
          <a:lstStyle/>
          <a:p>
            <a:pPr marL="0" indent="0">
              <a:buNone/>
            </a:pPr>
            <a:r>
              <a:rPr lang="en-US" sz="1120">
                <a:solidFill>
                  <a:srgbClr val="172033"/>
                </a:solidFill>
              </a:rPr>
              <a:t>Access control, privacy, lineage and accountability must be preserved.</a:t>
            </a:r>
            <a:endParaRPr lang="en-US" sz="1120"/>
          </a:p>
        </p:txBody>
      </p:sp>
      <p:sp>
        <p:nvSpPr>
          <p:cNvPr id="25" name="Shape 23"/>
          <p:cNvSpPr/>
          <p:nvPr/>
        </p:nvSpPr>
        <p:spPr>
          <a:xfrm>
            <a:off x="8275320" y="3474720"/>
            <a:ext cx="3337560" cy="1508760"/>
          </a:xfrm>
          <a:prstGeom prst="roundRect">
            <a:avLst>
              <a:gd name="adj" fmla="val 4848"/>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26" name="Shape 24"/>
          <p:cNvSpPr/>
          <p:nvPr/>
        </p:nvSpPr>
        <p:spPr>
          <a:xfrm>
            <a:off x="8275320" y="3474720"/>
            <a:ext cx="73152" cy="1508760"/>
          </a:xfrm>
          <a:prstGeom prst="rect">
            <a:avLst/>
          </a:prstGeom>
          <a:solidFill>
            <a:srgbClr val="2EAD66"/>
          </a:solidFill>
          <a:ln w="12700">
            <a:solidFill>
              <a:srgbClr val="2EAD66">
                <a:alpha val="0"/>
              </a:srgbClr>
            </a:solidFill>
            <a:prstDash val="solid"/>
          </a:ln>
        </p:spPr>
        <p:txBody>
          <a:bodyPr/>
          <a:lstStyle/>
          <a:p>
            <a:endParaRPr lang="en-AU"/>
          </a:p>
        </p:txBody>
      </p:sp>
      <p:sp>
        <p:nvSpPr>
          <p:cNvPr id="27" name="Text 25"/>
          <p:cNvSpPr/>
          <p:nvPr/>
        </p:nvSpPr>
        <p:spPr>
          <a:xfrm>
            <a:off x="8476488" y="3602736"/>
            <a:ext cx="2990088" cy="228600"/>
          </a:xfrm>
          <a:prstGeom prst="rect">
            <a:avLst/>
          </a:prstGeom>
          <a:noFill/>
          <a:ln/>
        </p:spPr>
        <p:txBody>
          <a:bodyPr wrap="square" lIns="0" tIns="0" rIns="0" bIns="0" rtlCol="0" anchor="ctr"/>
          <a:lstStyle/>
          <a:p>
            <a:pPr marL="0" indent="0">
              <a:buNone/>
            </a:pPr>
            <a:r>
              <a:rPr lang="en-US" sz="1400" b="1">
                <a:solidFill>
                  <a:srgbClr val="172033"/>
                </a:solidFill>
              </a:rPr>
              <a:t>Scale &amp; cost</a:t>
            </a:r>
            <a:endParaRPr lang="en-US" sz="1400"/>
          </a:p>
        </p:txBody>
      </p:sp>
      <p:sp>
        <p:nvSpPr>
          <p:cNvPr id="28" name="Text 26"/>
          <p:cNvSpPr/>
          <p:nvPr/>
        </p:nvSpPr>
        <p:spPr>
          <a:xfrm>
            <a:off x="8476488" y="3977640"/>
            <a:ext cx="2990088" cy="850392"/>
          </a:xfrm>
          <a:prstGeom prst="rect">
            <a:avLst/>
          </a:prstGeom>
          <a:noFill/>
          <a:ln/>
        </p:spPr>
        <p:txBody>
          <a:bodyPr wrap="square" lIns="0" tIns="0" rIns="0" bIns="0" rtlCol="0" anchor="ctr">
            <a:normAutofit/>
          </a:bodyPr>
          <a:lstStyle/>
          <a:p>
            <a:pPr marL="0" indent="0">
              <a:buNone/>
            </a:pPr>
            <a:r>
              <a:rPr lang="en-US" sz="1120">
                <a:solidFill>
                  <a:srgbClr val="172033"/>
                </a:solidFill>
              </a:rPr>
              <a:t>Storage, compute and retrieval must remain performant and affordable.</a:t>
            </a:r>
            <a:endParaRPr lang="en-US" sz="1120"/>
          </a:p>
        </p:txBody>
      </p:sp>
      <p:sp>
        <p:nvSpPr>
          <p:cNvPr id="29" name="Text 27"/>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7</a:t>
            </a:r>
            <a:endParaRPr lang="en-US" sz="800"/>
          </a:p>
        </p:txBody>
      </p:sp>
      <p:pic>
        <p:nvPicPr>
          <p:cNvPr id="31" name="Picture 30" descr="A logo with orange and grey text&#10;&#10;Description automatically generated">
            <a:extLst>
              <a:ext uri="{FF2B5EF4-FFF2-40B4-BE49-F238E27FC236}">
                <a16:creationId xmlns:a16="http://schemas.microsoft.com/office/drawing/2014/main" id="{9DEBB206-01D5-F792-E97D-0D89AE9B0E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Data Lake Management Tier: Core Components</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The management tier converts raw ingested data into managed data assets.</a:t>
            </a:r>
            <a:endParaRPr lang="en-US" sz="1250"/>
          </a:p>
        </p:txBody>
      </p:sp>
      <p:sp>
        <p:nvSpPr>
          <p:cNvPr id="5" name="Shape 3"/>
          <p:cNvSpPr/>
          <p:nvPr/>
        </p:nvSpPr>
        <p:spPr>
          <a:xfrm>
            <a:off x="685800" y="1828800"/>
            <a:ext cx="2057400" cy="1508760"/>
          </a:xfrm>
          <a:prstGeom prst="hexagon">
            <a:avLst/>
          </a:prstGeom>
          <a:solidFill>
            <a:srgbClr val="1665D8">
              <a:alpha val="92000"/>
            </a:srgbClr>
          </a:solidFill>
          <a:ln w="12700">
            <a:solidFill>
              <a:srgbClr val="FFFFFF"/>
            </a:solidFill>
            <a:prstDash val="solid"/>
          </a:ln>
        </p:spPr>
        <p:txBody>
          <a:bodyPr/>
          <a:lstStyle/>
          <a:p>
            <a:endParaRPr lang="en-AU"/>
          </a:p>
        </p:txBody>
      </p:sp>
      <p:sp>
        <p:nvSpPr>
          <p:cNvPr id="6" name="Text 4"/>
          <p:cNvSpPr/>
          <p:nvPr/>
        </p:nvSpPr>
        <p:spPr>
          <a:xfrm>
            <a:off x="896112" y="2267712"/>
            <a:ext cx="1645920" cy="274320"/>
          </a:xfrm>
          <a:prstGeom prst="rect">
            <a:avLst/>
          </a:prstGeom>
          <a:noFill/>
          <a:ln/>
        </p:spPr>
        <p:txBody>
          <a:bodyPr wrap="square" lIns="0" tIns="0" rIns="0" bIns="0" rtlCol="0" anchor="ctr"/>
          <a:lstStyle/>
          <a:p>
            <a:pPr marL="0" indent="0" algn="ctr">
              <a:buNone/>
            </a:pPr>
            <a:r>
              <a:rPr lang="en-US" sz="1700" b="1">
                <a:solidFill>
                  <a:srgbClr val="FFFFFF"/>
                </a:solidFill>
              </a:rPr>
              <a:t>Integrate</a:t>
            </a:r>
            <a:endParaRPr lang="en-US" sz="1700"/>
          </a:p>
        </p:txBody>
      </p:sp>
      <p:sp>
        <p:nvSpPr>
          <p:cNvPr id="7" name="Text 5"/>
          <p:cNvSpPr/>
          <p:nvPr/>
        </p:nvSpPr>
        <p:spPr>
          <a:xfrm>
            <a:off x="777240" y="3703320"/>
            <a:ext cx="1920240" cy="685800"/>
          </a:xfrm>
          <a:prstGeom prst="rect">
            <a:avLst/>
          </a:prstGeom>
          <a:noFill/>
          <a:ln/>
        </p:spPr>
        <p:txBody>
          <a:bodyPr wrap="square" lIns="254" tIns="254" rIns="254" bIns="254" rtlCol="0" anchor="ctr">
            <a:normAutofit/>
          </a:bodyPr>
          <a:lstStyle/>
          <a:p>
            <a:pPr marL="0" indent="0" algn="ctr">
              <a:buNone/>
            </a:pPr>
            <a:r>
              <a:rPr lang="en-US" sz="1100">
                <a:solidFill>
                  <a:srgbClr val="172033"/>
                </a:solidFill>
              </a:rPr>
              <a:t>Join and reconcile data from multiple sources</a:t>
            </a:r>
            <a:endParaRPr lang="en-US" sz="1100"/>
          </a:p>
        </p:txBody>
      </p:sp>
      <p:sp>
        <p:nvSpPr>
          <p:cNvPr id="8" name="Shape 6"/>
          <p:cNvSpPr/>
          <p:nvPr/>
        </p:nvSpPr>
        <p:spPr>
          <a:xfrm>
            <a:off x="2880360" y="2468880"/>
            <a:ext cx="502920" cy="237744"/>
          </a:xfrm>
          <a:prstGeom prst="rightArrow">
            <a:avLst/>
          </a:prstGeom>
          <a:solidFill>
            <a:srgbClr val="0B1F3A">
              <a:alpha val="92000"/>
            </a:srgbClr>
          </a:solidFill>
          <a:ln w="12700">
            <a:solidFill>
              <a:srgbClr val="0B1F3A">
                <a:alpha val="0"/>
              </a:srgbClr>
            </a:solidFill>
            <a:prstDash val="solid"/>
          </a:ln>
        </p:spPr>
        <p:txBody>
          <a:bodyPr/>
          <a:lstStyle/>
          <a:p>
            <a:endParaRPr lang="en-AU"/>
          </a:p>
        </p:txBody>
      </p:sp>
      <p:sp>
        <p:nvSpPr>
          <p:cNvPr id="9" name="Shape 7"/>
          <p:cNvSpPr/>
          <p:nvPr/>
        </p:nvSpPr>
        <p:spPr>
          <a:xfrm>
            <a:off x="3520440" y="1828800"/>
            <a:ext cx="2057400" cy="1508760"/>
          </a:xfrm>
          <a:prstGeom prst="hexagon">
            <a:avLst/>
          </a:prstGeom>
          <a:solidFill>
            <a:srgbClr val="F59E0B">
              <a:alpha val="92000"/>
            </a:srgbClr>
          </a:solidFill>
          <a:ln w="12700">
            <a:solidFill>
              <a:srgbClr val="FFFFFF"/>
            </a:solidFill>
            <a:prstDash val="solid"/>
          </a:ln>
        </p:spPr>
        <p:txBody>
          <a:bodyPr/>
          <a:lstStyle/>
          <a:p>
            <a:endParaRPr lang="en-AU"/>
          </a:p>
        </p:txBody>
      </p:sp>
      <p:sp>
        <p:nvSpPr>
          <p:cNvPr id="10" name="Text 8"/>
          <p:cNvSpPr/>
          <p:nvPr/>
        </p:nvSpPr>
        <p:spPr>
          <a:xfrm>
            <a:off x="3730752" y="2267712"/>
            <a:ext cx="1645920" cy="274320"/>
          </a:xfrm>
          <a:prstGeom prst="rect">
            <a:avLst/>
          </a:prstGeom>
          <a:noFill/>
          <a:ln/>
        </p:spPr>
        <p:txBody>
          <a:bodyPr wrap="square" lIns="0" tIns="0" rIns="0" bIns="0" rtlCol="0" anchor="ctr"/>
          <a:lstStyle/>
          <a:p>
            <a:pPr marL="0" indent="0" algn="ctr">
              <a:buNone/>
            </a:pPr>
            <a:r>
              <a:rPr lang="en-US" sz="1700" b="1">
                <a:solidFill>
                  <a:srgbClr val="FFFFFF"/>
                </a:solidFill>
              </a:rPr>
              <a:t>Quality</a:t>
            </a:r>
            <a:endParaRPr lang="en-US" sz="1700"/>
          </a:p>
        </p:txBody>
      </p:sp>
      <p:sp>
        <p:nvSpPr>
          <p:cNvPr id="11" name="Text 9"/>
          <p:cNvSpPr/>
          <p:nvPr/>
        </p:nvSpPr>
        <p:spPr>
          <a:xfrm>
            <a:off x="3611880" y="3703320"/>
            <a:ext cx="1920240" cy="685800"/>
          </a:xfrm>
          <a:prstGeom prst="rect">
            <a:avLst/>
          </a:prstGeom>
          <a:noFill/>
          <a:ln/>
        </p:spPr>
        <p:txBody>
          <a:bodyPr wrap="square" lIns="254" tIns="254" rIns="254" bIns="254" rtlCol="0" anchor="ctr">
            <a:normAutofit/>
          </a:bodyPr>
          <a:lstStyle/>
          <a:p>
            <a:pPr marL="0" indent="0" algn="ctr">
              <a:buNone/>
            </a:pPr>
            <a:r>
              <a:rPr lang="en-US" sz="1100">
                <a:solidFill>
                  <a:srgbClr val="172033"/>
                </a:solidFill>
              </a:rPr>
              <a:t>Clean, validate and monitor fitness-for-use</a:t>
            </a:r>
            <a:endParaRPr lang="en-US" sz="1100"/>
          </a:p>
        </p:txBody>
      </p:sp>
      <p:sp>
        <p:nvSpPr>
          <p:cNvPr id="12" name="Shape 10"/>
          <p:cNvSpPr/>
          <p:nvPr/>
        </p:nvSpPr>
        <p:spPr>
          <a:xfrm>
            <a:off x="5715000" y="2468880"/>
            <a:ext cx="502920" cy="237744"/>
          </a:xfrm>
          <a:prstGeom prst="rightArrow">
            <a:avLst/>
          </a:prstGeom>
          <a:solidFill>
            <a:srgbClr val="0B1F3A">
              <a:alpha val="92000"/>
            </a:srgbClr>
          </a:solidFill>
          <a:ln w="12700">
            <a:solidFill>
              <a:srgbClr val="0B1F3A">
                <a:alpha val="0"/>
              </a:srgbClr>
            </a:solidFill>
            <a:prstDash val="solid"/>
          </a:ln>
        </p:spPr>
        <p:txBody>
          <a:bodyPr/>
          <a:lstStyle/>
          <a:p>
            <a:endParaRPr lang="en-AU"/>
          </a:p>
        </p:txBody>
      </p:sp>
      <p:sp>
        <p:nvSpPr>
          <p:cNvPr id="13" name="Shape 11"/>
          <p:cNvSpPr/>
          <p:nvPr/>
        </p:nvSpPr>
        <p:spPr>
          <a:xfrm>
            <a:off x="6355080" y="1828800"/>
            <a:ext cx="2057400" cy="1508760"/>
          </a:xfrm>
          <a:prstGeom prst="hexagon">
            <a:avLst/>
          </a:prstGeom>
          <a:solidFill>
            <a:srgbClr val="00A7A5">
              <a:alpha val="92000"/>
            </a:srgbClr>
          </a:solidFill>
          <a:ln w="12700">
            <a:solidFill>
              <a:srgbClr val="FFFFFF"/>
            </a:solidFill>
            <a:prstDash val="solid"/>
          </a:ln>
        </p:spPr>
        <p:txBody>
          <a:bodyPr/>
          <a:lstStyle/>
          <a:p>
            <a:endParaRPr lang="en-AU"/>
          </a:p>
        </p:txBody>
      </p:sp>
      <p:sp>
        <p:nvSpPr>
          <p:cNvPr id="14" name="Text 12"/>
          <p:cNvSpPr/>
          <p:nvPr/>
        </p:nvSpPr>
        <p:spPr>
          <a:xfrm>
            <a:off x="6565392" y="2267712"/>
            <a:ext cx="1645920" cy="274320"/>
          </a:xfrm>
          <a:prstGeom prst="rect">
            <a:avLst/>
          </a:prstGeom>
          <a:noFill/>
          <a:ln/>
        </p:spPr>
        <p:txBody>
          <a:bodyPr wrap="square" lIns="0" tIns="0" rIns="0" bIns="0" rtlCol="0" anchor="ctr"/>
          <a:lstStyle/>
          <a:p>
            <a:pPr marL="0" indent="0" algn="ctr">
              <a:buNone/>
            </a:pPr>
            <a:r>
              <a:rPr lang="en-US" sz="1700" b="1">
                <a:solidFill>
                  <a:srgbClr val="FFFFFF"/>
                </a:solidFill>
              </a:rPr>
              <a:t>Enrich</a:t>
            </a:r>
            <a:endParaRPr lang="en-US" sz="1700"/>
          </a:p>
        </p:txBody>
      </p:sp>
      <p:sp>
        <p:nvSpPr>
          <p:cNvPr id="15" name="Text 13"/>
          <p:cNvSpPr/>
          <p:nvPr/>
        </p:nvSpPr>
        <p:spPr>
          <a:xfrm>
            <a:off x="6446520" y="3703320"/>
            <a:ext cx="1920240" cy="685800"/>
          </a:xfrm>
          <a:prstGeom prst="rect">
            <a:avLst/>
          </a:prstGeom>
          <a:noFill/>
          <a:ln/>
        </p:spPr>
        <p:txBody>
          <a:bodyPr wrap="square" lIns="254" tIns="254" rIns="254" bIns="254" rtlCol="0" anchor="ctr">
            <a:normAutofit/>
          </a:bodyPr>
          <a:lstStyle/>
          <a:p>
            <a:pPr marL="0" indent="0" algn="ctr">
              <a:buNone/>
            </a:pPr>
            <a:r>
              <a:rPr lang="en-US" sz="1100">
                <a:solidFill>
                  <a:srgbClr val="172033"/>
                </a:solidFill>
              </a:rPr>
              <a:t>Add context, metadata, labels or derived attributes</a:t>
            </a:r>
            <a:endParaRPr lang="en-US" sz="1100"/>
          </a:p>
        </p:txBody>
      </p:sp>
      <p:sp>
        <p:nvSpPr>
          <p:cNvPr id="16" name="Shape 14"/>
          <p:cNvSpPr/>
          <p:nvPr/>
        </p:nvSpPr>
        <p:spPr>
          <a:xfrm>
            <a:off x="8549640" y="2468880"/>
            <a:ext cx="502920" cy="237744"/>
          </a:xfrm>
          <a:prstGeom prst="rightArrow">
            <a:avLst/>
          </a:prstGeom>
          <a:solidFill>
            <a:srgbClr val="0B1F3A">
              <a:alpha val="92000"/>
            </a:srgbClr>
          </a:solidFill>
          <a:ln w="12700">
            <a:solidFill>
              <a:srgbClr val="0B1F3A">
                <a:alpha val="0"/>
              </a:srgbClr>
            </a:solidFill>
            <a:prstDash val="solid"/>
          </a:ln>
        </p:spPr>
        <p:txBody>
          <a:bodyPr/>
          <a:lstStyle/>
          <a:p>
            <a:endParaRPr lang="en-AU"/>
          </a:p>
        </p:txBody>
      </p:sp>
      <p:sp>
        <p:nvSpPr>
          <p:cNvPr id="17" name="Shape 15"/>
          <p:cNvSpPr/>
          <p:nvPr/>
        </p:nvSpPr>
        <p:spPr>
          <a:xfrm>
            <a:off x="9189720" y="1828800"/>
            <a:ext cx="2057400" cy="1508760"/>
          </a:xfrm>
          <a:prstGeom prst="hexagon">
            <a:avLst/>
          </a:prstGeom>
          <a:solidFill>
            <a:srgbClr val="2EAD66">
              <a:alpha val="92000"/>
            </a:srgbClr>
          </a:solidFill>
          <a:ln w="12700">
            <a:solidFill>
              <a:srgbClr val="FFFFFF"/>
            </a:solidFill>
            <a:prstDash val="solid"/>
          </a:ln>
        </p:spPr>
        <p:txBody>
          <a:bodyPr/>
          <a:lstStyle/>
          <a:p>
            <a:endParaRPr lang="en-AU"/>
          </a:p>
        </p:txBody>
      </p:sp>
      <p:sp>
        <p:nvSpPr>
          <p:cNvPr id="18" name="Text 16"/>
          <p:cNvSpPr/>
          <p:nvPr/>
        </p:nvSpPr>
        <p:spPr>
          <a:xfrm>
            <a:off x="9400032" y="2267712"/>
            <a:ext cx="1645920" cy="274320"/>
          </a:xfrm>
          <a:prstGeom prst="rect">
            <a:avLst/>
          </a:prstGeom>
          <a:noFill/>
          <a:ln/>
        </p:spPr>
        <p:txBody>
          <a:bodyPr wrap="square" lIns="0" tIns="0" rIns="0" bIns="0" rtlCol="0" anchor="ctr"/>
          <a:lstStyle/>
          <a:p>
            <a:pPr marL="0" indent="0" algn="ctr">
              <a:buNone/>
            </a:pPr>
            <a:r>
              <a:rPr lang="en-US" sz="1700" b="1">
                <a:solidFill>
                  <a:srgbClr val="FFFFFF"/>
                </a:solidFill>
              </a:rPr>
              <a:t>Store</a:t>
            </a:r>
            <a:endParaRPr lang="en-US" sz="1700"/>
          </a:p>
        </p:txBody>
      </p:sp>
      <p:sp>
        <p:nvSpPr>
          <p:cNvPr id="19" name="Text 17"/>
          <p:cNvSpPr/>
          <p:nvPr/>
        </p:nvSpPr>
        <p:spPr>
          <a:xfrm>
            <a:off x="9281160" y="3703320"/>
            <a:ext cx="1920240" cy="685800"/>
          </a:xfrm>
          <a:prstGeom prst="rect">
            <a:avLst/>
          </a:prstGeom>
          <a:noFill/>
          <a:ln/>
        </p:spPr>
        <p:txBody>
          <a:bodyPr wrap="square" lIns="254" tIns="254" rIns="254" bIns="254" rtlCol="0" anchor="ctr">
            <a:normAutofit/>
          </a:bodyPr>
          <a:lstStyle/>
          <a:p>
            <a:pPr marL="0" indent="0" algn="ctr">
              <a:buNone/>
            </a:pPr>
            <a:r>
              <a:rPr lang="en-US" sz="1100">
                <a:solidFill>
                  <a:srgbClr val="172033"/>
                </a:solidFill>
              </a:rPr>
              <a:t>Persist data in scalable, secure, retrieval-ready form</a:t>
            </a:r>
            <a:endParaRPr lang="en-US" sz="1100"/>
          </a:p>
        </p:txBody>
      </p:sp>
      <p:sp>
        <p:nvSpPr>
          <p:cNvPr id="20" name="Shape 18"/>
          <p:cNvSpPr/>
          <p:nvPr/>
        </p:nvSpPr>
        <p:spPr>
          <a:xfrm>
            <a:off x="1097280" y="5074920"/>
            <a:ext cx="9966960" cy="713232"/>
          </a:xfrm>
          <a:prstGeom prst="roundRect">
            <a:avLst>
              <a:gd name="adj" fmla="val 10256"/>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21" name="Shape 19"/>
          <p:cNvSpPr/>
          <p:nvPr/>
        </p:nvSpPr>
        <p:spPr>
          <a:xfrm>
            <a:off x="1097280" y="5074920"/>
            <a:ext cx="73152" cy="713232"/>
          </a:xfrm>
          <a:prstGeom prst="rect">
            <a:avLst/>
          </a:prstGeom>
          <a:solidFill>
            <a:srgbClr val="0B1F3A"/>
          </a:solidFill>
          <a:ln w="12700">
            <a:solidFill>
              <a:srgbClr val="0B1F3A">
                <a:alpha val="0"/>
              </a:srgbClr>
            </a:solidFill>
            <a:prstDash val="solid"/>
          </a:ln>
        </p:spPr>
        <p:txBody>
          <a:bodyPr/>
          <a:lstStyle/>
          <a:p>
            <a:endParaRPr lang="en-AU"/>
          </a:p>
        </p:txBody>
      </p:sp>
      <p:sp>
        <p:nvSpPr>
          <p:cNvPr id="22" name="Text 20"/>
          <p:cNvSpPr/>
          <p:nvPr/>
        </p:nvSpPr>
        <p:spPr>
          <a:xfrm>
            <a:off x="1298448" y="5202936"/>
            <a:ext cx="9619488" cy="228600"/>
          </a:xfrm>
          <a:prstGeom prst="rect">
            <a:avLst/>
          </a:prstGeom>
          <a:noFill/>
          <a:ln/>
        </p:spPr>
        <p:txBody>
          <a:bodyPr wrap="square" lIns="0" tIns="0" rIns="0" bIns="0" rtlCol="0" anchor="ctr"/>
          <a:lstStyle/>
          <a:p>
            <a:pPr marL="0" indent="0">
              <a:buNone/>
            </a:pPr>
            <a:r>
              <a:rPr lang="en-US" sz="1400" b="1">
                <a:solidFill>
                  <a:srgbClr val="172033"/>
                </a:solidFill>
              </a:rPr>
              <a:t>Operational principle</a:t>
            </a:r>
            <a:endParaRPr lang="en-US" sz="1400"/>
          </a:p>
        </p:txBody>
      </p:sp>
      <p:sp>
        <p:nvSpPr>
          <p:cNvPr id="23" name="Text 21"/>
          <p:cNvSpPr/>
          <p:nvPr/>
        </p:nvSpPr>
        <p:spPr>
          <a:xfrm>
            <a:off x="1307592" y="5545836"/>
            <a:ext cx="9619488" cy="228600"/>
          </a:xfrm>
          <a:prstGeom prst="rect">
            <a:avLst/>
          </a:prstGeom>
          <a:noFill/>
          <a:ln/>
        </p:spPr>
        <p:txBody>
          <a:bodyPr wrap="square" lIns="0" tIns="0" rIns="0" bIns="0" rtlCol="0" anchor="ctr">
            <a:normAutofit fontScale="85000" lnSpcReduction="10000"/>
          </a:bodyPr>
          <a:lstStyle/>
          <a:p>
            <a:pPr marL="0" indent="0">
              <a:buNone/>
            </a:pPr>
            <a:r>
              <a:rPr lang="en-US" sz="1400">
                <a:solidFill>
                  <a:srgbClr val="172033"/>
                </a:solidFill>
              </a:rPr>
              <a:t>Do not wait until modelling to discover integration or quality problems. Capture rules, metadata and lineage during the data management process.</a:t>
            </a:r>
            <a:endParaRPr lang="en-US" sz="1400"/>
          </a:p>
        </p:txBody>
      </p:sp>
      <p:sp>
        <p:nvSpPr>
          <p:cNvPr id="24" name="Text 22"/>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8</a:t>
            </a:r>
            <a:endParaRPr lang="en-US" sz="800"/>
          </a:p>
        </p:txBody>
      </p:sp>
      <p:pic>
        <p:nvPicPr>
          <p:cNvPr id="26" name="Picture 25" descr="A logo with orange and grey text&#10;&#10;Description automatically generated">
            <a:extLst>
              <a:ext uri="{FF2B5EF4-FFF2-40B4-BE49-F238E27FC236}">
                <a16:creationId xmlns:a16="http://schemas.microsoft.com/office/drawing/2014/main" id="{13178B80-5470-7B28-98A6-9F25BB92BF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Integration Patterns: ETL, ELT, Virtualisation and Streaming</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Different workloads require different integration approaches.</a:t>
            </a:r>
            <a:endParaRPr lang="en-US" sz="1250"/>
          </a:p>
        </p:txBody>
      </p:sp>
      <p:sp>
        <p:nvSpPr>
          <p:cNvPr id="5" name="Shape 3"/>
          <p:cNvSpPr/>
          <p:nvPr/>
        </p:nvSpPr>
        <p:spPr>
          <a:xfrm>
            <a:off x="640080" y="1417320"/>
            <a:ext cx="5166360" cy="1737360"/>
          </a:xfrm>
          <a:prstGeom prst="roundRect">
            <a:avLst>
              <a:gd name="adj" fmla="val 4211"/>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6" name="Shape 4"/>
          <p:cNvSpPr/>
          <p:nvPr/>
        </p:nvSpPr>
        <p:spPr>
          <a:xfrm>
            <a:off x="640080" y="1417320"/>
            <a:ext cx="73152" cy="1737360"/>
          </a:xfrm>
          <a:prstGeom prst="rect">
            <a:avLst/>
          </a:prstGeom>
          <a:solidFill>
            <a:srgbClr val="1665D8"/>
          </a:solidFill>
          <a:ln w="12700">
            <a:solidFill>
              <a:srgbClr val="1665D8">
                <a:alpha val="0"/>
              </a:srgbClr>
            </a:solidFill>
            <a:prstDash val="solid"/>
          </a:ln>
        </p:spPr>
        <p:txBody>
          <a:bodyPr/>
          <a:lstStyle/>
          <a:p>
            <a:endParaRPr lang="en-AU"/>
          </a:p>
        </p:txBody>
      </p:sp>
      <p:sp>
        <p:nvSpPr>
          <p:cNvPr id="7" name="Text 5"/>
          <p:cNvSpPr/>
          <p:nvPr/>
        </p:nvSpPr>
        <p:spPr>
          <a:xfrm>
            <a:off x="841248" y="1545336"/>
            <a:ext cx="4818888" cy="228600"/>
          </a:xfrm>
          <a:prstGeom prst="rect">
            <a:avLst/>
          </a:prstGeom>
          <a:noFill/>
          <a:ln/>
        </p:spPr>
        <p:txBody>
          <a:bodyPr wrap="square" lIns="0" tIns="0" rIns="0" bIns="0" rtlCol="0" anchor="ctr"/>
          <a:lstStyle/>
          <a:p>
            <a:pPr marL="0" indent="0">
              <a:buNone/>
            </a:pPr>
            <a:r>
              <a:rPr lang="en-US" sz="1400" b="1">
                <a:solidFill>
                  <a:srgbClr val="172033"/>
                </a:solidFill>
              </a:rPr>
              <a:t>ETL</a:t>
            </a:r>
            <a:endParaRPr lang="en-US" sz="1400"/>
          </a:p>
        </p:txBody>
      </p:sp>
      <p:sp>
        <p:nvSpPr>
          <p:cNvPr id="8" name="Text 6"/>
          <p:cNvSpPr/>
          <p:nvPr/>
        </p:nvSpPr>
        <p:spPr>
          <a:xfrm>
            <a:off x="841248" y="1920240"/>
            <a:ext cx="4818888" cy="1078992"/>
          </a:xfrm>
          <a:prstGeom prst="rect">
            <a:avLst/>
          </a:prstGeom>
          <a:noFill/>
          <a:ln/>
        </p:spPr>
        <p:txBody>
          <a:bodyPr wrap="square" lIns="0" tIns="0" rIns="0" bIns="0" rtlCol="0" anchor="ctr">
            <a:normAutofit/>
          </a:bodyPr>
          <a:lstStyle/>
          <a:p>
            <a:pPr marL="0" indent="0">
              <a:buNone/>
            </a:pPr>
            <a:r>
              <a:rPr lang="en-US" sz="1150">
                <a:solidFill>
                  <a:srgbClr val="172033"/>
                </a:solidFill>
              </a:rPr>
              <a:t>Extract → Transform → Load</a:t>
            </a:r>
            <a:endParaRPr lang="en-US" sz="1150"/>
          </a:p>
          <a:p>
            <a:pPr marL="0" indent="0">
              <a:buNone/>
            </a:pPr>
            <a:r>
              <a:rPr lang="en-US" sz="1150">
                <a:solidFill>
                  <a:srgbClr val="172033"/>
                </a:solidFill>
              </a:rPr>
              <a:t>Useful when data must be standardised before entering storage.</a:t>
            </a:r>
            <a:endParaRPr lang="en-US" sz="1150"/>
          </a:p>
        </p:txBody>
      </p:sp>
      <p:sp>
        <p:nvSpPr>
          <p:cNvPr id="9" name="Shape 7"/>
          <p:cNvSpPr/>
          <p:nvPr/>
        </p:nvSpPr>
        <p:spPr>
          <a:xfrm>
            <a:off x="6309360" y="1417320"/>
            <a:ext cx="5166360" cy="1737360"/>
          </a:xfrm>
          <a:prstGeom prst="roundRect">
            <a:avLst>
              <a:gd name="adj" fmla="val 4211"/>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0" name="Shape 8"/>
          <p:cNvSpPr/>
          <p:nvPr/>
        </p:nvSpPr>
        <p:spPr>
          <a:xfrm>
            <a:off x="6309360" y="1417320"/>
            <a:ext cx="73152" cy="1737360"/>
          </a:xfrm>
          <a:prstGeom prst="rect">
            <a:avLst/>
          </a:prstGeom>
          <a:solidFill>
            <a:srgbClr val="00A7A5"/>
          </a:solidFill>
          <a:ln w="12700">
            <a:solidFill>
              <a:srgbClr val="00A7A5">
                <a:alpha val="0"/>
              </a:srgbClr>
            </a:solidFill>
            <a:prstDash val="solid"/>
          </a:ln>
        </p:spPr>
        <p:txBody>
          <a:bodyPr/>
          <a:lstStyle/>
          <a:p>
            <a:endParaRPr lang="en-AU"/>
          </a:p>
        </p:txBody>
      </p:sp>
      <p:sp>
        <p:nvSpPr>
          <p:cNvPr id="11" name="Text 9"/>
          <p:cNvSpPr/>
          <p:nvPr/>
        </p:nvSpPr>
        <p:spPr>
          <a:xfrm>
            <a:off x="6510528" y="1545336"/>
            <a:ext cx="4818888" cy="228600"/>
          </a:xfrm>
          <a:prstGeom prst="rect">
            <a:avLst/>
          </a:prstGeom>
          <a:noFill/>
          <a:ln/>
        </p:spPr>
        <p:txBody>
          <a:bodyPr wrap="square" lIns="0" tIns="0" rIns="0" bIns="0" rtlCol="0" anchor="ctr"/>
          <a:lstStyle/>
          <a:p>
            <a:pPr marL="0" indent="0">
              <a:buNone/>
            </a:pPr>
            <a:r>
              <a:rPr lang="en-US" sz="1400" b="1">
                <a:solidFill>
                  <a:srgbClr val="172033"/>
                </a:solidFill>
              </a:rPr>
              <a:t>ELT</a:t>
            </a:r>
            <a:endParaRPr lang="en-US" sz="1400"/>
          </a:p>
        </p:txBody>
      </p:sp>
      <p:sp>
        <p:nvSpPr>
          <p:cNvPr id="12" name="Text 10"/>
          <p:cNvSpPr/>
          <p:nvPr/>
        </p:nvSpPr>
        <p:spPr>
          <a:xfrm>
            <a:off x="6510528" y="1920240"/>
            <a:ext cx="4818888" cy="1078992"/>
          </a:xfrm>
          <a:prstGeom prst="rect">
            <a:avLst/>
          </a:prstGeom>
          <a:noFill/>
          <a:ln/>
        </p:spPr>
        <p:txBody>
          <a:bodyPr wrap="square" lIns="0" tIns="0" rIns="0" bIns="0" rtlCol="0" anchor="ctr">
            <a:normAutofit/>
          </a:bodyPr>
          <a:lstStyle/>
          <a:p>
            <a:pPr marL="0" indent="0">
              <a:buNone/>
            </a:pPr>
            <a:r>
              <a:rPr lang="en-US" sz="1150">
                <a:solidFill>
                  <a:srgbClr val="172033"/>
                </a:solidFill>
              </a:rPr>
              <a:t>Extract → Load → Transform</a:t>
            </a:r>
            <a:endParaRPr lang="en-US" sz="1150"/>
          </a:p>
          <a:p>
            <a:pPr marL="0" indent="0">
              <a:buNone/>
            </a:pPr>
            <a:r>
              <a:rPr lang="en-US" sz="1150">
                <a:solidFill>
                  <a:srgbClr val="172033"/>
                </a:solidFill>
              </a:rPr>
              <a:t>Common in cloud data lakes/lakehouses where scalable storage is cheap.</a:t>
            </a:r>
            <a:endParaRPr lang="en-US" sz="1150"/>
          </a:p>
        </p:txBody>
      </p:sp>
      <p:sp>
        <p:nvSpPr>
          <p:cNvPr id="13" name="Shape 11"/>
          <p:cNvSpPr/>
          <p:nvPr/>
        </p:nvSpPr>
        <p:spPr>
          <a:xfrm>
            <a:off x="640080" y="3657600"/>
            <a:ext cx="5166360" cy="1737360"/>
          </a:xfrm>
          <a:prstGeom prst="roundRect">
            <a:avLst>
              <a:gd name="adj" fmla="val 4211"/>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4" name="Shape 12"/>
          <p:cNvSpPr/>
          <p:nvPr/>
        </p:nvSpPr>
        <p:spPr>
          <a:xfrm>
            <a:off x="640080" y="3657600"/>
            <a:ext cx="73152" cy="1737360"/>
          </a:xfrm>
          <a:prstGeom prst="rect">
            <a:avLst/>
          </a:prstGeom>
          <a:solidFill>
            <a:srgbClr val="F59E0B"/>
          </a:solidFill>
          <a:ln w="12700">
            <a:solidFill>
              <a:srgbClr val="F59E0B">
                <a:alpha val="0"/>
              </a:srgbClr>
            </a:solidFill>
            <a:prstDash val="solid"/>
          </a:ln>
        </p:spPr>
        <p:txBody>
          <a:bodyPr/>
          <a:lstStyle/>
          <a:p>
            <a:endParaRPr lang="en-AU"/>
          </a:p>
        </p:txBody>
      </p:sp>
      <p:sp>
        <p:nvSpPr>
          <p:cNvPr id="15" name="Text 13"/>
          <p:cNvSpPr/>
          <p:nvPr/>
        </p:nvSpPr>
        <p:spPr>
          <a:xfrm>
            <a:off x="841248" y="3785616"/>
            <a:ext cx="4818888" cy="228600"/>
          </a:xfrm>
          <a:prstGeom prst="rect">
            <a:avLst/>
          </a:prstGeom>
          <a:noFill/>
          <a:ln/>
        </p:spPr>
        <p:txBody>
          <a:bodyPr wrap="square" lIns="0" tIns="0" rIns="0" bIns="0" rtlCol="0" anchor="ctr"/>
          <a:lstStyle/>
          <a:p>
            <a:pPr marL="0" indent="0">
              <a:buNone/>
            </a:pPr>
            <a:r>
              <a:rPr lang="en-US" sz="1400" b="1">
                <a:solidFill>
                  <a:srgbClr val="172033"/>
                </a:solidFill>
              </a:rPr>
              <a:t>Data virtualisation</a:t>
            </a:r>
            <a:endParaRPr lang="en-US" sz="1400"/>
          </a:p>
        </p:txBody>
      </p:sp>
      <p:sp>
        <p:nvSpPr>
          <p:cNvPr id="16" name="Text 14"/>
          <p:cNvSpPr/>
          <p:nvPr/>
        </p:nvSpPr>
        <p:spPr>
          <a:xfrm>
            <a:off x="841248" y="4160520"/>
            <a:ext cx="4818888" cy="1078992"/>
          </a:xfrm>
          <a:prstGeom prst="rect">
            <a:avLst/>
          </a:prstGeom>
          <a:noFill/>
          <a:ln/>
        </p:spPr>
        <p:txBody>
          <a:bodyPr wrap="square" lIns="0" tIns="0" rIns="0" bIns="0" rtlCol="0" anchor="ctr">
            <a:normAutofit/>
          </a:bodyPr>
          <a:lstStyle/>
          <a:p>
            <a:pPr marL="0" indent="0">
              <a:buNone/>
            </a:pPr>
            <a:r>
              <a:rPr lang="en-US" sz="1150">
                <a:solidFill>
                  <a:srgbClr val="172033"/>
                </a:solidFill>
              </a:rPr>
              <a:t>Query across sources without physically moving all data.</a:t>
            </a:r>
            <a:endParaRPr lang="en-US" sz="1150"/>
          </a:p>
          <a:p>
            <a:pPr marL="0" indent="0">
              <a:buNone/>
            </a:pPr>
            <a:r>
              <a:rPr lang="en-US" sz="1150">
                <a:solidFill>
                  <a:srgbClr val="172033"/>
                </a:solidFill>
              </a:rPr>
              <a:t>Useful for fast access, but can expose latency and governance issues.</a:t>
            </a:r>
            <a:endParaRPr lang="en-US" sz="1150"/>
          </a:p>
        </p:txBody>
      </p:sp>
      <p:sp>
        <p:nvSpPr>
          <p:cNvPr id="17" name="Shape 15"/>
          <p:cNvSpPr/>
          <p:nvPr/>
        </p:nvSpPr>
        <p:spPr>
          <a:xfrm>
            <a:off x="6309360" y="3657600"/>
            <a:ext cx="5166360" cy="1737360"/>
          </a:xfrm>
          <a:prstGeom prst="roundRect">
            <a:avLst>
              <a:gd name="adj" fmla="val 4211"/>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8" name="Shape 16"/>
          <p:cNvSpPr/>
          <p:nvPr/>
        </p:nvSpPr>
        <p:spPr>
          <a:xfrm>
            <a:off x="6309360" y="3657600"/>
            <a:ext cx="73152" cy="1737360"/>
          </a:xfrm>
          <a:prstGeom prst="rect">
            <a:avLst/>
          </a:prstGeom>
          <a:solidFill>
            <a:srgbClr val="7C3AED"/>
          </a:solidFill>
          <a:ln w="12700">
            <a:solidFill>
              <a:srgbClr val="7C3AED">
                <a:alpha val="0"/>
              </a:srgbClr>
            </a:solidFill>
            <a:prstDash val="solid"/>
          </a:ln>
        </p:spPr>
        <p:txBody>
          <a:bodyPr/>
          <a:lstStyle/>
          <a:p>
            <a:endParaRPr lang="en-AU"/>
          </a:p>
        </p:txBody>
      </p:sp>
      <p:sp>
        <p:nvSpPr>
          <p:cNvPr id="19" name="Text 17"/>
          <p:cNvSpPr/>
          <p:nvPr/>
        </p:nvSpPr>
        <p:spPr>
          <a:xfrm>
            <a:off x="6510528" y="3785616"/>
            <a:ext cx="4818888" cy="228600"/>
          </a:xfrm>
          <a:prstGeom prst="rect">
            <a:avLst/>
          </a:prstGeom>
          <a:noFill/>
          <a:ln/>
        </p:spPr>
        <p:txBody>
          <a:bodyPr wrap="square" lIns="0" tIns="0" rIns="0" bIns="0" rtlCol="0" anchor="ctr"/>
          <a:lstStyle/>
          <a:p>
            <a:pPr marL="0" indent="0">
              <a:buNone/>
            </a:pPr>
            <a:r>
              <a:rPr lang="en-US" sz="1400" b="1">
                <a:solidFill>
                  <a:srgbClr val="172033"/>
                </a:solidFill>
              </a:rPr>
              <a:t>Streaming ingestion</a:t>
            </a:r>
            <a:endParaRPr lang="en-US" sz="1400"/>
          </a:p>
        </p:txBody>
      </p:sp>
      <p:sp>
        <p:nvSpPr>
          <p:cNvPr id="20" name="Text 18"/>
          <p:cNvSpPr/>
          <p:nvPr/>
        </p:nvSpPr>
        <p:spPr>
          <a:xfrm>
            <a:off x="6510528" y="4160520"/>
            <a:ext cx="4818888" cy="1078992"/>
          </a:xfrm>
          <a:prstGeom prst="rect">
            <a:avLst/>
          </a:prstGeom>
          <a:noFill/>
          <a:ln/>
        </p:spPr>
        <p:txBody>
          <a:bodyPr wrap="square" lIns="0" tIns="0" rIns="0" bIns="0" rtlCol="0" anchor="ctr">
            <a:normAutofit/>
          </a:bodyPr>
          <a:lstStyle/>
          <a:p>
            <a:pPr marL="0" indent="0">
              <a:buNone/>
            </a:pPr>
            <a:r>
              <a:rPr lang="en-US" sz="1150">
                <a:solidFill>
                  <a:srgbClr val="172033"/>
                </a:solidFill>
              </a:rPr>
              <a:t>Continuously process events as they arrive.</a:t>
            </a:r>
            <a:endParaRPr lang="en-US" sz="1150"/>
          </a:p>
          <a:p>
            <a:pPr marL="0" indent="0">
              <a:buNone/>
            </a:pPr>
            <a:r>
              <a:rPr lang="en-US" sz="1150">
                <a:solidFill>
                  <a:srgbClr val="172033"/>
                </a:solidFill>
              </a:rPr>
              <a:t>Useful for IoT, clickstreams, fraud detection and operational monitoring.</a:t>
            </a:r>
            <a:endParaRPr lang="en-US" sz="1150"/>
          </a:p>
        </p:txBody>
      </p:sp>
      <p:sp>
        <p:nvSpPr>
          <p:cNvPr id="21" name="Text 19"/>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9</a:t>
            </a:r>
            <a:endParaRPr lang="en-US" sz="800"/>
          </a:p>
        </p:txBody>
      </p:sp>
      <p:pic>
        <p:nvPicPr>
          <p:cNvPr id="23" name="Picture 22" descr="A logo with orange and grey text&#10;&#10;Description automatically generated">
            <a:extLst>
              <a:ext uri="{FF2B5EF4-FFF2-40B4-BE49-F238E27FC236}">
                <a16:creationId xmlns:a16="http://schemas.microsoft.com/office/drawing/2014/main" id="{37882221-F9B9-6197-02FE-F345988A17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Data Quality: “Fit for Purpose”</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Quality is not abstract; it is measured against the business question and analytics use case.</a:t>
            </a:r>
            <a:endParaRPr lang="en-US" sz="1250"/>
          </a:p>
        </p:txBody>
      </p:sp>
      <p:sp>
        <p:nvSpPr>
          <p:cNvPr id="5" name="Shape 3"/>
          <p:cNvSpPr/>
          <p:nvPr/>
        </p:nvSpPr>
        <p:spPr>
          <a:xfrm>
            <a:off x="6995160" y="1600200"/>
            <a:ext cx="1508760" cy="566928"/>
          </a:xfrm>
          <a:prstGeom prst="ellipse">
            <a:avLst/>
          </a:prstGeom>
          <a:solidFill>
            <a:srgbClr val="1665D8">
              <a:alpha val="95000"/>
            </a:srgbClr>
          </a:solidFill>
          <a:ln w="12700">
            <a:solidFill>
              <a:srgbClr val="FFFFFF"/>
            </a:solidFill>
            <a:prstDash val="solid"/>
          </a:ln>
        </p:spPr>
        <p:txBody>
          <a:bodyPr/>
          <a:lstStyle/>
          <a:p>
            <a:endParaRPr lang="en-AU"/>
          </a:p>
        </p:txBody>
      </p:sp>
      <p:sp>
        <p:nvSpPr>
          <p:cNvPr id="6" name="Text 4"/>
          <p:cNvSpPr/>
          <p:nvPr/>
        </p:nvSpPr>
        <p:spPr>
          <a:xfrm>
            <a:off x="6995160" y="1764792"/>
            <a:ext cx="1508760" cy="164592"/>
          </a:xfrm>
          <a:prstGeom prst="rect">
            <a:avLst/>
          </a:prstGeom>
          <a:noFill/>
          <a:ln/>
        </p:spPr>
        <p:txBody>
          <a:bodyPr wrap="square" lIns="0" tIns="0" rIns="0" bIns="0" rtlCol="0" anchor="ctr"/>
          <a:lstStyle/>
          <a:p>
            <a:pPr marL="0" indent="0" algn="ctr">
              <a:buNone/>
            </a:pPr>
            <a:r>
              <a:rPr lang="en-US" sz="1050" b="1">
                <a:solidFill>
                  <a:srgbClr val="FFFFFF"/>
                </a:solidFill>
              </a:rPr>
              <a:t>Accuracy</a:t>
            </a:r>
            <a:endParaRPr lang="en-US" sz="1050"/>
          </a:p>
        </p:txBody>
      </p:sp>
      <p:sp>
        <p:nvSpPr>
          <p:cNvPr id="7" name="Shape 5"/>
          <p:cNvSpPr/>
          <p:nvPr/>
        </p:nvSpPr>
        <p:spPr>
          <a:xfrm>
            <a:off x="8856110" y="2308860"/>
            <a:ext cx="1508760" cy="566928"/>
          </a:xfrm>
          <a:prstGeom prst="ellipse">
            <a:avLst/>
          </a:prstGeom>
          <a:solidFill>
            <a:srgbClr val="00A7A5">
              <a:alpha val="95000"/>
            </a:srgbClr>
          </a:solidFill>
          <a:ln w="12700">
            <a:solidFill>
              <a:srgbClr val="FFFFFF"/>
            </a:solidFill>
            <a:prstDash val="solid"/>
          </a:ln>
        </p:spPr>
        <p:txBody>
          <a:bodyPr/>
          <a:lstStyle/>
          <a:p>
            <a:endParaRPr lang="en-AU"/>
          </a:p>
        </p:txBody>
      </p:sp>
      <p:sp>
        <p:nvSpPr>
          <p:cNvPr id="8" name="Text 6"/>
          <p:cNvSpPr/>
          <p:nvPr/>
        </p:nvSpPr>
        <p:spPr>
          <a:xfrm>
            <a:off x="8856110" y="2473452"/>
            <a:ext cx="1508760" cy="164592"/>
          </a:xfrm>
          <a:prstGeom prst="rect">
            <a:avLst/>
          </a:prstGeom>
          <a:noFill/>
          <a:ln/>
        </p:spPr>
        <p:txBody>
          <a:bodyPr wrap="square" lIns="0" tIns="0" rIns="0" bIns="0" rtlCol="0" anchor="ctr"/>
          <a:lstStyle/>
          <a:p>
            <a:pPr marL="0" indent="0" algn="ctr">
              <a:buNone/>
            </a:pPr>
            <a:r>
              <a:rPr lang="en-US" sz="1050" b="1">
                <a:solidFill>
                  <a:srgbClr val="FFFFFF"/>
                </a:solidFill>
              </a:rPr>
              <a:t>Completeness</a:t>
            </a:r>
            <a:endParaRPr lang="en-US" sz="1050"/>
          </a:p>
        </p:txBody>
      </p:sp>
      <p:sp>
        <p:nvSpPr>
          <p:cNvPr id="9" name="Shape 7"/>
          <p:cNvSpPr/>
          <p:nvPr/>
        </p:nvSpPr>
        <p:spPr>
          <a:xfrm>
            <a:off x="8856110" y="3726180"/>
            <a:ext cx="1508760" cy="566928"/>
          </a:xfrm>
          <a:prstGeom prst="ellipse">
            <a:avLst/>
          </a:prstGeom>
          <a:solidFill>
            <a:srgbClr val="2EAD66">
              <a:alpha val="95000"/>
            </a:srgbClr>
          </a:solidFill>
          <a:ln w="12700">
            <a:solidFill>
              <a:srgbClr val="FFFFFF"/>
            </a:solidFill>
            <a:prstDash val="solid"/>
          </a:ln>
        </p:spPr>
        <p:txBody>
          <a:bodyPr/>
          <a:lstStyle/>
          <a:p>
            <a:endParaRPr lang="en-AU"/>
          </a:p>
        </p:txBody>
      </p:sp>
      <p:sp>
        <p:nvSpPr>
          <p:cNvPr id="10" name="Text 8"/>
          <p:cNvSpPr/>
          <p:nvPr/>
        </p:nvSpPr>
        <p:spPr>
          <a:xfrm>
            <a:off x="8856110" y="3890772"/>
            <a:ext cx="1508760" cy="164592"/>
          </a:xfrm>
          <a:prstGeom prst="rect">
            <a:avLst/>
          </a:prstGeom>
          <a:noFill/>
          <a:ln/>
        </p:spPr>
        <p:txBody>
          <a:bodyPr wrap="square" lIns="0" tIns="0" rIns="0" bIns="0" rtlCol="0" anchor="ctr"/>
          <a:lstStyle/>
          <a:p>
            <a:pPr marL="0" indent="0" algn="ctr">
              <a:buNone/>
            </a:pPr>
            <a:r>
              <a:rPr lang="en-US" sz="1050" b="1">
                <a:solidFill>
                  <a:srgbClr val="FFFFFF"/>
                </a:solidFill>
              </a:rPr>
              <a:t>Consistency</a:t>
            </a:r>
            <a:endParaRPr lang="en-US" sz="1050"/>
          </a:p>
        </p:txBody>
      </p:sp>
      <p:sp>
        <p:nvSpPr>
          <p:cNvPr id="11" name="Shape 9"/>
          <p:cNvSpPr/>
          <p:nvPr/>
        </p:nvSpPr>
        <p:spPr>
          <a:xfrm>
            <a:off x="6995160" y="4434840"/>
            <a:ext cx="1508760" cy="566928"/>
          </a:xfrm>
          <a:prstGeom prst="ellipse">
            <a:avLst/>
          </a:prstGeom>
          <a:solidFill>
            <a:srgbClr val="F59E0B">
              <a:alpha val="95000"/>
            </a:srgbClr>
          </a:solidFill>
          <a:ln w="12700">
            <a:solidFill>
              <a:srgbClr val="FFFFFF"/>
            </a:solidFill>
            <a:prstDash val="solid"/>
          </a:ln>
        </p:spPr>
        <p:txBody>
          <a:bodyPr/>
          <a:lstStyle/>
          <a:p>
            <a:endParaRPr lang="en-AU"/>
          </a:p>
        </p:txBody>
      </p:sp>
      <p:sp>
        <p:nvSpPr>
          <p:cNvPr id="12" name="Text 10"/>
          <p:cNvSpPr/>
          <p:nvPr/>
        </p:nvSpPr>
        <p:spPr>
          <a:xfrm>
            <a:off x="6995160" y="4599432"/>
            <a:ext cx="1508760" cy="164592"/>
          </a:xfrm>
          <a:prstGeom prst="rect">
            <a:avLst/>
          </a:prstGeom>
          <a:noFill/>
          <a:ln/>
        </p:spPr>
        <p:txBody>
          <a:bodyPr wrap="square" lIns="0" tIns="0" rIns="0" bIns="0" rtlCol="0" anchor="ctr"/>
          <a:lstStyle/>
          <a:p>
            <a:pPr marL="0" indent="0" algn="ctr">
              <a:buNone/>
            </a:pPr>
            <a:r>
              <a:rPr lang="en-US" sz="1050" b="1">
                <a:solidFill>
                  <a:srgbClr val="FFFFFF"/>
                </a:solidFill>
              </a:rPr>
              <a:t>Timeliness</a:t>
            </a:r>
            <a:endParaRPr lang="en-US" sz="1050"/>
          </a:p>
        </p:txBody>
      </p:sp>
      <p:sp>
        <p:nvSpPr>
          <p:cNvPr id="13" name="Shape 11"/>
          <p:cNvSpPr/>
          <p:nvPr/>
        </p:nvSpPr>
        <p:spPr>
          <a:xfrm>
            <a:off x="5134210" y="3726180"/>
            <a:ext cx="1508760" cy="566928"/>
          </a:xfrm>
          <a:prstGeom prst="ellipse">
            <a:avLst/>
          </a:prstGeom>
          <a:solidFill>
            <a:srgbClr val="7C3AED">
              <a:alpha val="95000"/>
            </a:srgbClr>
          </a:solidFill>
          <a:ln w="12700">
            <a:solidFill>
              <a:srgbClr val="FFFFFF"/>
            </a:solidFill>
            <a:prstDash val="solid"/>
          </a:ln>
        </p:spPr>
        <p:txBody>
          <a:bodyPr/>
          <a:lstStyle/>
          <a:p>
            <a:endParaRPr lang="en-AU"/>
          </a:p>
        </p:txBody>
      </p:sp>
      <p:sp>
        <p:nvSpPr>
          <p:cNvPr id="14" name="Text 12"/>
          <p:cNvSpPr/>
          <p:nvPr/>
        </p:nvSpPr>
        <p:spPr>
          <a:xfrm>
            <a:off x="5134210" y="3890772"/>
            <a:ext cx="1508760" cy="164592"/>
          </a:xfrm>
          <a:prstGeom prst="rect">
            <a:avLst/>
          </a:prstGeom>
          <a:noFill/>
          <a:ln/>
        </p:spPr>
        <p:txBody>
          <a:bodyPr wrap="square" lIns="0" tIns="0" rIns="0" bIns="0" rtlCol="0" anchor="ctr"/>
          <a:lstStyle/>
          <a:p>
            <a:pPr marL="0" indent="0" algn="ctr">
              <a:buNone/>
            </a:pPr>
            <a:r>
              <a:rPr lang="en-US" sz="1050" b="1">
                <a:solidFill>
                  <a:srgbClr val="FFFFFF"/>
                </a:solidFill>
              </a:rPr>
              <a:t>Validity</a:t>
            </a:r>
            <a:endParaRPr lang="en-US" sz="1050"/>
          </a:p>
        </p:txBody>
      </p:sp>
      <p:sp>
        <p:nvSpPr>
          <p:cNvPr id="15" name="Shape 13"/>
          <p:cNvSpPr/>
          <p:nvPr/>
        </p:nvSpPr>
        <p:spPr>
          <a:xfrm>
            <a:off x="5134210" y="2308860"/>
            <a:ext cx="1508760" cy="566928"/>
          </a:xfrm>
          <a:prstGeom prst="ellipse">
            <a:avLst/>
          </a:prstGeom>
          <a:solidFill>
            <a:srgbClr val="D94C4C">
              <a:alpha val="95000"/>
            </a:srgbClr>
          </a:solidFill>
          <a:ln w="12700">
            <a:solidFill>
              <a:srgbClr val="FFFFFF"/>
            </a:solidFill>
            <a:prstDash val="solid"/>
          </a:ln>
        </p:spPr>
        <p:txBody>
          <a:bodyPr/>
          <a:lstStyle/>
          <a:p>
            <a:endParaRPr lang="en-AU"/>
          </a:p>
        </p:txBody>
      </p:sp>
      <p:sp>
        <p:nvSpPr>
          <p:cNvPr id="16" name="Text 14"/>
          <p:cNvSpPr/>
          <p:nvPr/>
        </p:nvSpPr>
        <p:spPr>
          <a:xfrm>
            <a:off x="5134210" y="2473452"/>
            <a:ext cx="1508760" cy="164592"/>
          </a:xfrm>
          <a:prstGeom prst="rect">
            <a:avLst/>
          </a:prstGeom>
          <a:noFill/>
          <a:ln/>
        </p:spPr>
        <p:txBody>
          <a:bodyPr wrap="square" lIns="0" tIns="0" rIns="0" bIns="0" rtlCol="0" anchor="ctr"/>
          <a:lstStyle/>
          <a:p>
            <a:pPr marL="0" indent="0" algn="ctr">
              <a:buNone/>
            </a:pPr>
            <a:r>
              <a:rPr lang="en-US" sz="1050" b="1">
                <a:solidFill>
                  <a:srgbClr val="FFFFFF"/>
                </a:solidFill>
              </a:rPr>
              <a:t>Uniqueness</a:t>
            </a:r>
            <a:endParaRPr lang="en-US" sz="1050"/>
          </a:p>
        </p:txBody>
      </p:sp>
      <p:sp>
        <p:nvSpPr>
          <p:cNvPr id="17" name="Shape 15"/>
          <p:cNvSpPr/>
          <p:nvPr/>
        </p:nvSpPr>
        <p:spPr>
          <a:xfrm>
            <a:off x="6903720" y="2834640"/>
            <a:ext cx="1691640" cy="777240"/>
          </a:xfrm>
          <a:prstGeom prst="ellipse">
            <a:avLst/>
          </a:prstGeom>
          <a:solidFill>
            <a:srgbClr val="0B1F3A"/>
          </a:solidFill>
          <a:ln w="12700">
            <a:solidFill>
              <a:srgbClr val="0B1F3A"/>
            </a:solidFill>
            <a:prstDash val="solid"/>
          </a:ln>
        </p:spPr>
        <p:txBody>
          <a:bodyPr/>
          <a:lstStyle/>
          <a:p>
            <a:endParaRPr lang="en-AU"/>
          </a:p>
        </p:txBody>
      </p:sp>
      <p:sp>
        <p:nvSpPr>
          <p:cNvPr id="18" name="Text 16"/>
          <p:cNvSpPr/>
          <p:nvPr/>
        </p:nvSpPr>
        <p:spPr>
          <a:xfrm>
            <a:off x="7040880" y="2980944"/>
            <a:ext cx="1417320" cy="502920"/>
          </a:xfrm>
          <a:prstGeom prst="rect">
            <a:avLst/>
          </a:prstGeom>
          <a:noFill/>
          <a:ln/>
        </p:spPr>
        <p:txBody>
          <a:bodyPr wrap="square" lIns="0" tIns="0" rIns="0" bIns="0" rtlCol="0" anchor="ctr"/>
          <a:lstStyle/>
          <a:p>
            <a:pPr marL="0" indent="0" algn="ctr">
              <a:buNone/>
            </a:pPr>
            <a:r>
              <a:rPr lang="en-US" sz="1350" b="1">
                <a:solidFill>
                  <a:srgbClr val="FFFFFF"/>
                </a:solidFill>
              </a:rPr>
              <a:t>Trusted</a:t>
            </a:r>
            <a:endParaRPr lang="en-US" sz="1350"/>
          </a:p>
          <a:p>
            <a:pPr marL="0" indent="0" algn="ctr">
              <a:buNone/>
            </a:pPr>
            <a:r>
              <a:rPr lang="en-US" sz="1350" b="1">
                <a:solidFill>
                  <a:srgbClr val="FFFFFF"/>
                </a:solidFill>
              </a:rPr>
              <a:t>Data Asset</a:t>
            </a:r>
            <a:endParaRPr lang="en-US" sz="1350"/>
          </a:p>
        </p:txBody>
      </p:sp>
      <p:sp>
        <p:nvSpPr>
          <p:cNvPr id="19" name="Shape 17"/>
          <p:cNvSpPr/>
          <p:nvPr/>
        </p:nvSpPr>
        <p:spPr>
          <a:xfrm>
            <a:off x="685800" y="1463040"/>
            <a:ext cx="3611880" cy="4160520"/>
          </a:xfrm>
          <a:prstGeom prst="roundRect">
            <a:avLst>
              <a:gd name="adj" fmla="val 2025"/>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20" name="Shape 18"/>
          <p:cNvSpPr/>
          <p:nvPr/>
        </p:nvSpPr>
        <p:spPr>
          <a:xfrm>
            <a:off x="685800" y="1463040"/>
            <a:ext cx="73152" cy="4160520"/>
          </a:xfrm>
          <a:prstGeom prst="rect">
            <a:avLst/>
          </a:prstGeom>
          <a:solidFill>
            <a:srgbClr val="F59E0B"/>
          </a:solidFill>
          <a:ln w="12700">
            <a:solidFill>
              <a:srgbClr val="F59E0B">
                <a:alpha val="0"/>
              </a:srgbClr>
            </a:solidFill>
            <a:prstDash val="solid"/>
          </a:ln>
        </p:spPr>
        <p:txBody>
          <a:bodyPr/>
          <a:lstStyle/>
          <a:p>
            <a:endParaRPr lang="en-AU"/>
          </a:p>
        </p:txBody>
      </p:sp>
      <p:sp>
        <p:nvSpPr>
          <p:cNvPr id="21" name="Text 19"/>
          <p:cNvSpPr/>
          <p:nvPr/>
        </p:nvSpPr>
        <p:spPr>
          <a:xfrm>
            <a:off x="886968" y="1591056"/>
            <a:ext cx="3264408" cy="228600"/>
          </a:xfrm>
          <a:prstGeom prst="rect">
            <a:avLst/>
          </a:prstGeom>
          <a:noFill/>
          <a:ln/>
        </p:spPr>
        <p:txBody>
          <a:bodyPr wrap="square" lIns="0" tIns="0" rIns="0" bIns="0" rtlCol="0" anchor="ctr"/>
          <a:lstStyle/>
          <a:p>
            <a:pPr marL="0" indent="0">
              <a:buNone/>
            </a:pPr>
            <a:r>
              <a:rPr lang="en-US" sz="1400" b="1">
                <a:solidFill>
                  <a:srgbClr val="172033"/>
                </a:solidFill>
              </a:rPr>
              <a:t>Examples of quality controls</a:t>
            </a:r>
            <a:endParaRPr lang="en-US" sz="1400"/>
          </a:p>
        </p:txBody>
      </p:sp>
      <p:sp>
        <p:nvSpPr>
          <p:cNvPr id="22" name="Text 20"/>
          <p:cNvSpPr/>
          <p:nvPr/>
        </p:nvSpPr>
        <p:spPr>
          <a:xfrm>
            <a:off x="941832" y="1965960"/>
            <a:ext cx="3172968" cy="3502152"/>
          </a:xfrm>
          <a:prstGeom prst="rect">
            <a:avLst/>
          </a:prstGeom>
          <a:noFill/>
          <a:ln/>
        </p:spPr>
        <p:txBody>
          <a:bodyPr wrap="square" lIns="254" tIns="254" rIns="254" bIns="254" rtlCol="0" anchor="ctr">
            <a:normAutofit/>
          </a:bodyPr>
          <a:lstStyle/>
          <a:p>
            <a:r>
              <a:rPr lang="en-US" sz="1150">
                <a:solidFill>
                  <a:srgbClr val="172033"/>
                </a:solidFill>
              </a:rPr>
              <a:t>Type checks: date, numeric, category</a:t>
            </a:r>
            <a:endParaRPr lang="en-US" sz="1150"/>
          </a:p>
          <a:p>
            <a:r>
              <a:rPr lang="en-US" sz="1150">
                <a:solidFill>
                  <a:srgbClr val="172033"/>
                </a:solidFill>
              </a:rPr>
              <a:t>Range checks: age &gt; 0, price ≥ 0</a:t>
            </a:r>
            <a:endParaRPr lang="en-US" sz="1150"/>
          </a:p>
          <a:p>
            <a:r>
              <a:rPr lang="en-US" sz="1150">
                <a:solidFill>
                  <a:srgbClr val="172033"/>
                </a:solidFill>
              </a:rPr>
              <a:t>Referential checks: customer exists</a:t>
            </a:r>
            <a:endParaRPr lang="en-US" sz="1150"/>
          </a:p>
          <a:p>
            <a:r>
              <a:rPr lang="en-US" sz="1150">
                <a:solidFill>
                  <a:srgbClr val="172033"/>
                </a:solidFill>
              </a:rPr>
              <a:t>Duplicate detection and merge rules</a:t>
            </a:r>
            <a:endParaRPr lang="en-US" sz="1150"/>
          </a:p>
          <a:p>
            <a:r>
              <a:rPr lang="en-US" sz="1150">
                <a:solidFill>
                  <a:srgbClr val="172033"/>
                </a:solidFill>
              </a:rPr>
              <a:t>Missing-value handling</a:t>
            </a:r>
            <a:endParaRPr lang="en-US" sz="1150"/>
          </a:p>
          <a:p>
            <a:r>
              <a:rPr lang="en-US" sz="1150">
                <a:solidFill>
                  <a:srgbClr val="172033"/>
                </a:solidFill>
              </a:rPr>
              <a:t>Quality logs and exception reports</a:t>
            </a:r>
            <a:endParaRPr lang="en-US" sz="1150"/>
          </a:p>
        </p:txBody>
      </p:sp>
      <p:sp>
        <p:nvSpPr>
          <p:cNvPr id="23" name="Text 21"/>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10</a:t>
            </a:r>
            <a:endParaRPr lang="en-US" sz="800"/>
          </a:p>
        </p:txBody>
      </p:sp>
      <p:pic>
        <p:nvPicPr>
          <p:cNvPr id="25" name="Picture 24" descr="A logo with orange and grey text&#10;&#10;Description automatically generated">
            <a:extLst>
              <a:ext uri="{FF2B5EF4-FFF2-40B4-BE49-F238E27FC236}">
                <a16:creationId xmlns:a16="http://schemas.microsoft.com/office/drawing/2014/main" id="{91BC33DE-202D-4E64-A255-DB85233544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Data Enrichment: Adding Context and Analytical Value</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Enrichment augments data with additional attributes that make later analysis more meaningful.</a:t>
            </a:r>
            <a:endParaRPr lang="en-US" sz="1250"/>
          </a:p>
        </p:txBody>
      </p:sp>
      <p:pic>
        <p:nvPicPr>
          <p:cNvPr id="5" name="Image 0" descr="/mnt/data/wide_clean_infographic_style_illustration_of_a_da.png"/>
          <p:cNvPicPr>
            <a:picLocks noChangeAspect="1"/>
          </p:cNvPicPr>
          <p:nvPr/>
        </p:nvPicPr>
        <p:blipFill>
          <a:blip r:embed="rId3"/>
          <a:srcRect l="15160" r="15160"/>
          <a:stretch/>
        </p:blipFill>
        <p:spPr>
          <a:xfrm>
            <a:off x="411480" y="1280160"/>
            <a:ext cx="4754880" cy="3840480"/>
          </a:xfrm>
          <a:prstGeom prst="rect">
            <a:avLst/>
          </a:prstGeom>
        </p:spPr>
      </p:pic>
      <p:sp>
        <p:nvSpPr>
          <p:cNvPr id="6" name="Shape 3"/>
          <p:cNvSpPr/>
          <p:nvPr/>
        </p:nvSpPr>
        <p:spPr>
          <a:xfrm>
            <a:off x="5486400" y="1353312"/>
            <a:ext cx="2697480" cy="1234440"/>
          </a:xfrm>
          <a:prstGeom prst="roundRect">
            <a:avLst>
              <a:gd name="adj" fmla="val 5926"/>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7" name="Shape 4"/>
          <p:cNvSpPr/>
          <p:nvPr/>
        </p:nvSpPr>
        <p:spPr>
          <a:xfrm>
            <a:off x="5486400" y="1353312"/>
            <a:ext cx="73152" cy="1234440"/>
          </a:xfrm>
          <a:prstGeom prst="rect">
            <a:avLst/>
          </a:prstGeom>
          <a:solidFill>
            <a:srgbClr val="1665D8"/>
          </a:solidFill>
          <a:ln w="12700">
            <a:solidFill>
              <a:srgbClr val="1665D8">
                <a:alpha val="0"/>
              </a:srgbClr>
            </a:solidFill>
            <a:prstDash val="solid"/>
          </a:ln>
        </p:spPr>
        <p:txBody>
          <a:bodyPr/>
          <a:lstStyle/>
          <a:p>
            <a:endParaRPr lang="en-AU"/>
          </a:p>
        </p:txBody>
      </p:sp>
      <p:sp>
        <p:nvSpPr>
          <p:cNvPr id="8" name="Text 5"/>
          <p:cNvSpPr/>
          <p:nvPr/>
        </p:nvSpPr>
        <p:spPr>
          <a:xfrm>
            <a:off x="5687568" y="1481328"/>
            <a:ext cx="2350008" cy="228600"/>
          </a:xfrm>
          <a:prstGeom prst="rect">
            <a:avLst/>
          </a:prstGeom>
          <a:noFill/>
          <a:ln/>
        </p:spPr>
        <p:txBody>
          <a:bodyPr wrap="square" lIns="0" tIns="0" rIns="0" bIns="0" rtlCol="0" anchor="ctr"/>
          <a:lstStyle/>
          <a:p>
            <a:pPr marL="0" indent="0">
              <a:buNone/>
            </a:pPr>
            <a:r>
              <a:rPr lang="en-US" sz="1400" b="1">
                <a:solidFill>
                  <a:srgbClr val="172033"/>
                </a:solidFill>
              </a:rPr>
              <a:t>Internal enrichment</a:t>
            </a:r>
            <a:endParaRPr lang="en-US" sz="1400"/>
          </a:p>
        </p:txBody>
      </p:sp>
      <p:sp>
        <p:nvSpPr>
          <p:cNvPr id="9" name="Text 6"/>
          <p:cNvSpPr/>
          <p:nvPr/>
        </p:nvSpPr>
        <p:spPr>
          <a:xfrm>
            <a:off x="5687568" y="1856232"/>
            <a:ext cx="2350008" cy="576072"/>
          </a:xfrm>
          <a:prstGeom prst="rect">
            <a:avLst/>
          </a:prstGeom>
          <a:noFill/>
          <a:ln/>
        </p:spPr>
        <p:txBody>
          <a:bodyPr wrap="square" lIns="0" tIns="0" rIns="0" bIns="0" rtlCol="0" anchor="ctr">
            <a:normAutofit/>
          </a:bodyPr>
          <a:lstStyle/>
          <a:p>
            <a:pPr marL="0" indent="0">
              <a:buNone/>
            </a:pPr>
            <a:r>
              <a:rPr lang="en-US" sz="1170">
                <a:solidFill>
                  <a:srgbClr val="172033"/>
                </a:solidFill>
              </a:rPr>
              <a:t>Customer segments, product hierarchy, department mapping, business rules.</a:t>
            </a:r>
            <a:endParaRPr lang="en-US" sz="1170"/>
          </a:p>
        </p:txBody>
      </p:sp>
      <p:sp>
        <p:nvSpPr>
          <p:cNvPr id="10" name="Shape 7"/>
          <p:cNvSpPr/>
          <p:nvPr/>
        </p:nvSpPr>
        <p:spPr>
          <a:xfrm>
            <a:off x="8412480" y="1353312"/>
            <a:ext cx="2697480" cy="1234440"/>
          </a:xfrm>
          <a:prstGeom prst="roundRect">
            <a:avLst>
              <a:gd name="adj" fmla="val 5926"/>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1" name="Shape 8"/>
          <p:cNvSpPr/>
          <p:nvPr/>
        </p:nvSpPr>
        <p:spPr>
          <a:xfrm>
            <a:off x="8412480" y="1353312"/>
            <a:ext cx="73152" cy="1234440"/>
          </a:xfrm>
          <a:prstGeom prst="rect">
            <a:avLst/>
          </a:prstGeom>
          <a:solidFill>
            <a:srgbClr val="00A7A5"/>
          </a:solidFill>
          <a:ln w="12700">
            <a:solidFill>
              <a:srgbClr val="00A7A5">
                <a:alpha val="0"/>
              </a:srgbClr>
            </a:solidFill>
            <a:prstDash val="solid"/>
          </a:ln>
        </p:spPr>
        <p:txBody>
          <a:bodyPr/>
          <a:lstStyle/>
          <a:p>
            <a:endParaRPr lang="en-AU"/>
          </a:p>
        </p:txBody>
      </p:sp>
      <p:sp>
        <p:nvSpPr>
          <p:cNvPr id="12" name="Text 9"/>
          <p:cNvSpPr/>
          <p:nvPr/>
        </p:nvSpPr>
        <p:spPr>
          <a:xfrm>
            <a:off x="8613648" y="1481328"/>
            <a:ext cx="2350008" cy="228600"/>
          </a:xfrm>
          <a:prstGeom prst="rect">
            <a:avLst/>
          </a:prstGeom>
          <a:noFill/>
          <a:ln/>
        </p:spPr>
        <p:txBody>
          <a:bodyPr wrap="square" lIns="0" tIns="0" rIns="0" bIns="0" rtlCol="0" anchor="ctr"/>
          <a:lstStyle/>
          <a:p>
            <a:pPr marL="0" indent="0">
              <a:buNone/>
            </a:pPr>
            <a:r>
              <a:rPr lang="en-US" sz="1400" b="1">
                <a:solidFill>
                  <a:srgbClr val="172033"/>
                </a:solidFill>
              </a:rPr>
              <a:t>External enrichment</a:t>
            </a:r>
            <a:endParaRPr lang="en-US" sz="1400"/>
          </a:p>
        </p:txBody>
      </p:sp>
      <p:sp>
        <p:nvSpPr>
          <p:cNvPr id="13" name="Text 10"/>
          <p:cNvSpPr/>
          <p:nvPr/>
        </p:nvSpPr>
        <p:spPr>
          <a:xfrm>
            <a:off x="8613648" y="1856232"/>
            <a:ext cx="2350008" cy="576072"/>
          </a:xfrm>
          <a:prstGeom prst="rect">
            <a:avLst/>
          </a:prstGeom>
          <a:noFill/>
          <a:ln/>
        </p:spPr>
        <p:txBody>
          <a:bodyPr wrap="square" lIns="0" tIns="0" rIns="0" bIns="0" rtlCol="0" anchor="ctr">
            <a:normAutofit/>
          </a:bodyPr>
          <a:lstStyle/>
          <a:p>
            <a:pPr marL="0" indent="0">
              <a:buNone/>
            </a:pPr>
            <a:r>
              <a:rPr lang="en-US" sz="1170">
                <a:solidFill>
                  <a:srgbClr val="172033"/>
                </a:solidFill>
              </a:rPr>
              <a:t>Geographic, demographic, economic, weather or public datasets.</a:t>
            </a:r>
            <a:endParaRPr lang="en-US" sz="1170"/>
          </a:p>
        </p:txBody>
      </p:sp>
      <p:sp>
        <p:nvSpPr>
          <p:cNvPr id="14" name="Shape 11"/>
          <p:cNvSpPr/>
          <p:nvPr/>
        </p:nvSpPr>
        <p:spPr>
          <a:xfrm>
            <a:off x="5486400" y="2907792"/>
            <a:ext cx="2697480" cy="1234440"/>
          </a:xfrm>
          <a:prstGeom prst="roundRect">
            <a:avLst>
              <a:gd name="adj" fmla="val 5926"/>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5" name="Shape 12"/>
          <p:cNvSpPr/>
          <p:nvPr/>
        </p:nvSpPr>
        <p:spPr>
          <a:xfrm>
            <a:off x="5486400" y="2907792"/>
            <a:ext cx="73152" cy="1234440"/>
          </a:xfrm>
          <a:prstGeom prst="rect">
            <a:avLst/>
          </a:prstGeom>
          <a:solidFill>
            <a:srgbClr val="2EAD66"/>
          </a:solidFill>
          <a:ln w="12700">
            <a:solidFill>
              <a:srgbClr val="2EAD66">
                <a:alpha val="0"/>
              </a:srgbClr>
            </a:solidFill>
            <a:prstDash val="solid"/>
          </a:ln>
        </p:spPr>
        <p:txBody>
          <a:bodyPr/>
          <a:lstStyle/>
          <a:p>
            <a:endParaRPr lang="en-AU"/>
          </a:p>
        </p:txBody>
      </p:sp>
      <p:sp>
        <p:nvSpPr>
          <p:cNvPr id="16" name="Text 13"/>
          <p:cNvSpPr/>
          <p:nvPr/>
        </p:nvSpPr>
        <p:spPr>
          <a:xfrm>
            <a:off x="5687568" y="3035808"/>
            <a:ext cx="2350008" cy="228600"/>
          </a:xfrm>
          <a:prstGeom prst="rect">
            <a:avLst/>
          </a:prstGeom>
          <a:noFill/>
          <a:ln/>
        </p:spPr>
        <p:txBody>
          <a:bodyPr wrap="square" lIns="0" tIns="0" rIns="0" bIns="0" rtlCol="0" anchor="ctr"/>
          <a:lstStyle/>
          <a:p>
            <a:pPr marL="0" indent="0">
              <a:buNone/>
            </a:pPr>
            <a:r>
              <a:rPr lang="en-US" sz="1400" b="1">
                <a:solidFill>
                  <a:srgbClr val="172033"/>
                </a:solidFill>
              </a:rPr>
              <a:t>Derived features</a:t>
            </a:r>
            <a:endParaRPr lang="en-US" sz="1400"/>
          </a:p>
        </p:txBody>
      </p:sp>
      <p:sp>
        <p:nvSpPr>
          <p:cNvPr id="17" name="Text 14"/>
          <p:cNvSpPr/>
          <p:nvPr/>
        </p:nvSpPr>
        <p:spPr>
          <a:xfrm>
            <a:off x="5687568" y="3410712"/>
            <a:ext cx="2350008" cy="576072"/>
          </a:xfrm>
          <a:prstGeom prst="rect">
            <a:avLst/>
          </a:prstGeom>
          <a:noFill/>
          <a:ln/>
        </p:spPr>
        <p:txBody>
          <a:bodyPr wrap="square" lIns="0" tIns="0" rIns="0" bIns="0" rtlCol="0" anchor="ctr">
            <a:normAutofit/>
          </a:bodyPr>
          <a:lstStyle/>
          <a:p>
            <a:pPr marL="0" indent="0">
              <a:buNone/>
            </a:pPr>
            <a:r>
              <a:rPr lang="en-US" sz="1170">
                <a:solidFill>
                  <a:srgbClr val="172033"/>
                </a:solidFill>
              </a:rPr>
              <a:t>Calculated measures such as lifetime value, churn risk or rolling averages.</a:t>
            </a:r>
            <a:endParaRPr lang="en-US" sz="1170"/>
          </a:p>
        </p:txBody>
      </p:sp>
      <p:sp>
        <p:nvSpPr>
          <p:cNvPr id="18" name="Shape 15"/>
          <p:cNvSpPr/>
          <p:nvPr/>
        </p:nvSpPr>
        <p:spPr>
          <a:xfrm>
            <a:off x="8412480" y="2907792"/>
            <a:ext cx="2697480" cy="1234440"/>
          </a:xfrm>
          <a:prstGeom prst="roundRect">
            <a:avLst>
              <a:gd name="adj" fmla="val 5926"/>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9" name="Shape 16"/>
          <p:cNvSpPr/>
          <p:nvPr/>
        </p:nvSpPr>
        <p:spPr>
          <a:xfrm>
            <a:off x="8412480" y="2907792"/>
            <a:ext cx="73152" cy="1234440"/>
          </a:xfrm>
          <a:prstGeom prst="rect">
            <a:avLst/>
          </a:prstGeom>
          <a:solidFill>
            <a:srgbClr val="F59E0B"/>
          </a:solidFill>
          <a:ln w="12700">
            <a:solidFill>
              <a:srgbClr val="F59E0B">
                <a:alpha val="0"/>
              </a:srgbClr>
            </a:solidFill>
            <a:prstDash val="solid"/>
          </a:ln>
        </p:spPr>
        <p:txBody>
          <a:bodyPr/>
          <a:lstStyle/>
          <a:p>
            <a:endParaRPr lang="en-AU"/>
          </a:p>
        </p:txBody>
      </p:sp>
      <p:sp>
        <p:nvSpPr>
          <p:cNvPr id="20" name="Text 17"/>
          <p:cNvSpPr/>
          <p:nvPr/>
        </p:nvSpPr>
        <p:spPr>
          <a:xfrm>
            <a:off x="8613648" y="3035808"/>
            <a:ext cx="2350008" cy="228600"/>
          </a:xfrm>
          <a:prstGeom prst="rect">
            <a:avLst/>
          </a:prstGeom>
          <a:noFill/>
          <a:ln/>
        </p:spPr>
        <p:txBody>
          <a:bodyPr wrap="square" lIns="0" tIns="0" rIns="0" bIns="0" rtlCol="0" anchor="ctr"/>
          <a:lstStyle/>
          <a:p>
            <a:pPr marL="0" indent="0">
              <a:buNone/>
            </a:pPr>
            <a:r>
              <a:rPr lang="en-US" sz="1400" b="1">
                <a:solidFill>
                  <a:srgbClr val="172033"/>
                </a:solidFill>
              </a:rPr>
              <a:t>Labels &amp; metadata</a:t>
            </a:r>
            <a:endParaRPr lang="en-US" sz="1400"/>
          </a:p>
        </p:txBody>
      </p:sp>
      <p:sp>
        <p:nvSpPr>
          <p:cNvPr id="21" name="Text 18"/>
          <p:cNvSpPr/>
          <p:nvPr/>
        </p:nvSpPr>
        <p:spPr>
          <a:xfrm>
            <a:off x="8613648" y="3410712"/>
            <a:ext cx="2350008" cy="576072"/>
          </a:xfrm>
          <a:prstGeom prst="rect">
            <a:avLst/>
          </a:prstGeom>
          <a:noFill/>
          <a:ln/>
        </p:spPr>
        <p:txBody>
          <a:bodyPr wrap="square" lIns="0" tIns="0" rIns="0" bIns="0" rtlCol="0" anchor="ctr">
            <a:normAutofit/>
          </a:bodyPr>
          <a:lstStyle/>
          <a:p>
            <a:pPr marL="0" indent="0">
              <a:buNone/>
            </a:pPr>
            <a:r>
              <a:rPr lang="en-US" sz="1170">
                <a:solidFill>
                  <a:srgbClr val="172033"/>
                </a:solidFill>
              </a:rPr>
              <a:t>Training labels, source lineage, quality scores and business definitions.</a:t>
            </a:r>
            <a:endParaRPr lang="en-US" sz="1170"/>
          </a:p>
        </p:txBody>
      </p:sp>
      <p:sp>
        <p:nvSpPr>
          <p:cNvPr id="22" name="Shape 19"/>
          <p:cNvSpPr/>
          <p:nvPr/>
        </p:nvSpPr>
        <p:spPr>
          <a:xfrm>
            <a:off x="5715000" y="4617720"/>
            <a:ext cx="5166360" cy="777240"/>
          </a:xfrm>
          <a:prstGeom prst="roundRect">
            <a:avLst>
              <a:gd name="adj" fmla="val 9412"/>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23" name="Shape 20"/>
          <p:cNvSpPr/>
          <p:nvPr/>
        </p:nvSpPr>
        <p:spPr>
          <a:xfrm>
            <a:off x="5715000" y="4617720"/>
            <a:ext cx="73152" cy="777240"/>
          </a:xfrm>
          <a:prstGeom prst="rect">
            <a:avLst/>
          </a:prstGeom>
          <a:solidFill>
            <a:srgbClr val="D94C4C"/>
          </a:solidFill>
          <a:ln w="12700">
            <a:solidFill>
              <a:srgbClr val="D94C4C">
                <a:alpha val="0"/>
              </a:srgbClr>
            </a:solidFill>
            <a:prstDash val="solid"/>
          </a:ln>
        </p:spPr>
        <p:txBody>
          <a:bodyPr/>
          <a:lstStyle/>
          <a:p>
            <a:endParaRPr lang="en-AU"/>
          </a:p>
        </p:txBody>
      </p:sp>
      <p:sp>
        <p:nvSpPr>
          <p:cNvPr id="24" name="Text 21"/>
          <p:cNvSpPr/>
          <p:nvPr/>
        </p:nvSpPr>
        <p:spPr>
          <a:xfrm>
            <a:off x="5916168" y="4745736"/>
            <a:ext cx="4818888" cy="228600"/>
          </a:xfrm>
          <a:prstGeom prst="rect">
            <a:avLst/>
          </a:prstGeom>
          <a:noFill/>
          <a:ln/>
        </p:spPr>
        <p:txBody>
          <a:bodyPr wrap="square" lIns="0" tIns="0" rIns="0" bIns="0" rtlCol="0" anchor="ctr"/>
          <a:lstStyle/>
          <a:p>
            <a:pPr marL="0" indent="0">
              <a:buNone/>
            </a:pPr>
            <a:r>
              <a:rPr lang="en-US" sz="1400" b="1">
                <a:solidFill>
                  <a:srgbClr val="172033"/>
                </a:solidFill>
              </a:rPr>
              <a:t>Important caution</a:t>
            </a:r>
            <a:endParaRPr lang="en-US" sz="1400"/>
          </a:p>
        </p:txBody>
      </p:sp>
      <p:sp>
        <p:nvSpPr>
          <p:cNvPr id="25" name="Text 22"/>
          <p:cNvSpPr/>
          <p:nvPr/>
        </p:nvSpPr>
        <p:spPr>
          <a:xfrm>
            <a:off x="5916168" y="5120640"/>
            <a:ext cx="4818888" cy="118872"/>
          </a:xfrm>
          <a:prstGeom prst="rect">
            <a:avLst/>
          </a:prstGeom>
          <a:noFill/>
          <a:ln/>
        </p:spPr>
        <p:txBody>
          <a:bodyPr wrap="square" lIns="0" tIns="0" rIns="0" bIns="0" rtlCol="0" anchor="ctr">
            <a:normAutofit fontScale="70000" lnSpcReduction="20000"/>
          </a:bodyPr>
          <a:lstStyle/>
          <a:p>
            <a:pPr marL="0" indent="0">
              <a:buNone/>
            </a:pPr>
            <a:r>
              <a:rPr lang="en-US" sz="1250">
                <a:solidFill>
                  <a:srgbClr val="172033"/>
                </a:solidFill>
              </a:rPr>
              <a:t>Enrichment can introduce bias, privacy risks or misleading correlations if it is not governed.</a:t>
            </a:r>
            <a:endParaRPr lang="en-US" sz="1250"/>
          </a:p>
        </p:txBody>
      </p:sp>
      <p:sp>
        <p:nvSpPr>
          <p:cNvPr id="26" name="Text 23"/>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11</a:t>
            </a:r>
            <a:endParaRPr lang="en-US" sz="800"/>
          </a:p>
        </p:txBody>
      </p:sp>
      <p:pic>
        <p:nvPicPr>
          <p:cNvPr id="28" name="Picture 27" descr="A logo with orange and grey text&#10;&#10;Description automatically generated">
            <a:extLst>
              <a:ext uri="{FF2B5EF4-FFF2-40B4-BE49-F238E27FC236}">
                <a16:creationId xmlns:a16="http://schemas.microsoft.com/office/drawing/2014/main" id="{76CC91F0-E5AE-CBED-F68E-6B13812111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Metadata, Lineage and Governance</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In a data lake, unmanaged data becomes a “data swamp”. Governance keeps data findable, understandable and safe.</a:t>
            </a:r>
            <a:endParaRPr lang="en-US" sz="1250"/>
          </a:p>
        </p:txBody>
      </p:sp>
      <p:sp>
        <p:nvSpPr>
          <p:cNvPr id="5" name="Shape 3"/>
          <p:cNvSpPr/>
          <p:nvPr/>
        </p:nvSpPr>
        <p:spPr>
          <a:xfrm>
            <a:off x="731520" y="1508760"/>
            <a:ext cx="3246120" cy="1280160"/>
          </a:xfrm>
          <a:prstGeom prst="roundRect">
            <a:avLst>
              <a:gd name="adj" fmla="val 5714"/>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6" name="Shape 4"/>
          <p:cNvSpPr/>
          <p:nvPr/>
        </p:nvSpPr>
        <p:spPr>
          <a:xfrm>
            <a:off x="731520" y="1508760"/>
            <a:ext cx="73152" cy="1280160"/>
          </a:xfrm>
          <a:prstGeom prst="rect">
            <a:avLst/>
          </a:prstGeom>
          <a:solidFill>
            <a:srgbClr val="1665D8"/>
          </a:solidFill>
          <a:ln w="12700">
            <a:solidFill>
              <a:srgbClr val="1665D8">
                <a:alpha val="0"/>
              </a:srgbClr>
            </a:solidFill>
            <a:prstDash val="solid"/>
          </a:ln>
        </p:spPr>
        <p:txBody>
          <a:bodyPr/>
          <a:lstStyle/>
          <a:p>
            <a:endParaRPr lang="en-AU"/>
          </a:p>
        </p:txBody>
      </p:sp>
      <p:sp>
        <p:nvSpPr>
          <p:cNvPr id="7" name="Text 5"/>
          <p:cNvSpPr/>
          <p:nvPr/>
        </p:nvSpPr>
        <p:spPr>
          <a:xfrm>
            <a:off x="932688" y="1636776"/>
            <a:ext cx="2898648" cy="228600"/>
          </a:xfrm>
          <a:prstGeom prst="rect">
            <a:avLst/>
          </a:prstGeom>
          <a:noFill/>
          <a:ln/>
        </p:spPr>
        <p:txBody>
          <a:bodyPr wrap="square" lIns="0" tIns="0" rIns="0" bIns="0" rtlCol="0" anchor="ctr"/>
          <a:lstStyle/>
          <a:p>
            <a:pPr marL="0" indent="0">
              <a:buNone/>
            </a:pPr>
            <a:r>
              <a:rPr lang="en-US" sz="1400" b="1">
                <a:solidFill>
                  <a:srgbClr val="172033"/>
                </a:solidFill>
              </a:rPr>
              <a:t>Metadata catalogue</a:t>
            </a:r>
            <a:endParaRPr lang="en-US" sz="1400"/>
          </a:p>
        </p:txBody>
      </p:sp>
      <p:sp>
        <p:nvSpPr>
          <p:cNvPr id="8" name="Text 6"/>
          <p:cNvSpPr/>
          <p:nvPr/>
        </p:nvSpPr>
        <p:spPr>
          <a:xfrm>
            <a:off x="932688" y="2011680"/>
            <a:ext cx="2898648" cy="621792"/>
          </a:xfrm>
          <a:prstGeom prst="rect">
            <a:avLst/>
          </a:prstGeom>
          <a:noFill/>
          <a:ln/>
        </p:spPr>
        <p:txBody>
          <a:bodyPr wrap="square" lIns="0" tIns="0" rIns="0" bIns="0" rtlCol="0" anchor="ctr">
            <a:normAutofit/>
          </a:bodyPr>
          <a:lstStyle/>
          <a:p>
            <a:pPr marL="0" indent="0">
              <a:buNone/>
            </a:pPr>
            <a:r>
              <a:rPr lang="en-US" sz="1180">
                <a:solidFill>
                  <a:srgbClr val="172033"/>
                </a:solidFill>
              </a:rPr>
              <a:t>What data exists, what it means, who owns it</a:t>
            </a:r>
            <a:endParaRPr lang="en-US" sz="1180"/>
          </a:p>
        </p:txBody>
      </p:sp>
      <p:sp>
        <p:nvSpPr>
          <p:cNvPr id="9" name="Shape 7"/>
          <p:cNvSpPr/>
          <p:nvPr/>
        </p:nvSpPr>
        <p:spPr>
          <a:xfrm>
            <a:off x="4526280" y="1508760"/>
            <a:ext cx="3246120" cy="1280160"/>
          </a:xfrm>
          <a:prstGeom prst="roundRect">
            <a:avLst>
              <a:gd name="adj" fmla="val 5714"/>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0" name="Shape 8"/>
          <p:cNvSpPr/>
          <p:nvPr/>
        </p:nvSpPr>
        <p:spPr>
          <a:xfrm>
            <a:off x="4526280" y="1508760"/>
            <a:ext cx="73152" cy="1280160"/>
          </a:xfrm>
          <a:prstGeom prst="rect">
            <a:avLst/>
          </a:prstGeom>
          <a:solidFill>
            <a:srgbClr val="00A7A5"/>
          </a:solidFill>
          <a:ln w="12700">
            <a:solidFill>
              <a:srgbClr val="00A7A5">
                <a:alpha val="0"/>
              </a:srgbClr>
            </a:solidFill>
            <a:prstDash val="solid"/>
          </a:ln>
        </p:spPr>
        <p:txBody>
          <a:bodyPr/>
          <a:lstStyle/>
          <a:p>
            <a:endParaRPr lang="en-AU"/>
          </a:p>
        </p:txBody>
      </p:sp>
      <p:sp>
        <p:nvSpPr>
          <p:cNvPr id="11" name="Text 9"/>
          <p:cNvSpPr/>
          <p:nvPr/>
        </p:nvSpPr>
        <p:spPr>
          <a:xfrm>
            <a:off x="4727448" y="1636776"/>
            <a:ext cx="2898648" cy="228600"/>
          </a:xfrm>
          <a:prstGeom prst="rect">
            <a:avLst/>
          </a:prstGeom>
          <a:noFill/>
          <a:ln/>
        </p:spPr>
        <p:txBody>
          <a:bodyPr wrap="square" lIns="0" tIns="0" rIns="0" bIns="0" rtlCol="0" anchor="ctr"/>
          <a:lstStyle/>
          <a:p>
            <a:pPr marL="0" indent="0">
              <a:buNone/>
            </a:pPr>
            <a:r>
              <a:rPr lang="en-US" sz="1400" b="1">
                <a:solidFill>
                  <a:srgbClr val="172033"/>
                </a:solidFill>
              </a:rPr>
              <a:t>Lineage</a:t>
            </a:r>
            <a:endParaRPr lang="en-US" sz="1400"/>
          </a:p>
        </p:txBody>
      </p:sp>
      <p:sp>
        <p:nvSpPr>
          <p:cNvPr id="12" name="Text 10"/>
          <p:cNvSpPr/>
          <p:nvPr/>
        </p:nvSpPr>
        <p:spPr>
          <a:xfrm>
            <a:off x="4727448" y="2011680"/>
            <a:ext cx="2898648" cy="621792"/>
          </a:xfrm>
          <a:prstGeom prst="rect">
            <a:avLst/>
          </a:prstGeom>
          <a:noFill/>
          <a:ln/>
        </p:spPr>
        <p:txBody>
          <a:bodyPr wrap="square" lIns="0" tIns="0" rIns="0" bIns="0" rtlCol="0" anchor="ctr">
            <a:normAutofit/>
          </a:bodyPr>
          <a:lstStyle/>
          <a:p>
            <a:pPr marL="0" indent="0">
              <a:buNone/>
            </a:pPr>
            <a:r>
              <a:rPr lang="en-US" sz="1180">
                <a:solidFill>
                  <a:srgbClr val="172033"/>
                </a:solidFill>
              </a:rPr>
              <a:t>Where the data came from and how it changed</a:t>
            </a:r>
            <a:endParaRPr lang="en-US" sz="1180"/>
          </a:p>
        </p:txBody>
      </p:sp>
      <p:sp>
        <p:nvSpPr>
          <p:cNvPr id="13" name="Shape 11"/>
          <p:cNvSpPr/>
          <p:nvPr/>
        </p:nvSpPr>
        <p:spPr>
          <a:xfrm>
            <a:off x="8321040" y="1508760"/>
            <a:ext cx="3246120" cy="1280160"/>
          </a:xfrm>
          <a:prstGeom prst="roundRect">
            <a:avLst>
              <a:gd name="adj" fmla="val 5714"/>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4" name="Shape 12"/>
          <p:cNvSpPr/>
          <p:nvPr/>
        </p:nvSpPr>
        <p:spPr>
          <a:xfrm>
            <a:off x="8321040" y="1508760"/>
            <a:ext cx="73152" cy="1280160"/>
          </a:xfrm>
          <a:prstGeom prst="rect">
            <a:avLst/>
          </a:prstGeom>
          <a:solidFill>
            <a:srgbClr val="F59E0B"/>
          </a:solidFill>
          <a:ln w="12700">
            <a:solidFill>
              <a:srgbClr val="F59E0B">
                <a:alpha val="0"/>
              </a:srgbClr>
            </a:solidFill>
            <a:prstDash val="solid"/>
          </a:ln>
        </p:spPr>
        <p:txBody>
          <a:bodyPr/>
          <a:lstStyle/>
          <a:p>
            <a:endParaRPr lang="en-AU"/>
          </a:p>
        </p:txBody>
      </p:sp>
      <p:sp>
        <p:nvSpPr>
          <p:cNvPr id="15" name="Text 13"/>
          <p:cNvSpPr/>
          <p:nvPr/>
        </p:nvSpPr>
        <p:spPr>
          <a:xfrm>
            <a:off x="8522208" y="1636776"/>
            <a:ext cx="2898648" cy="228600"/>
          </a:xfrm>
          <a:prstGeom prst="rect">
            <a:avLst/>
          </a:prstGeom>
          <a:noFill/>
          <a:ln/>
        </p:spPr>
        <p:txBody>
          <a:bodyPr wrap="square" lIns="0" tIns="0" rIns="0" bIns="0" rtlCol="0" anchor="ctr"/>
          <a:lstStyle/>
          <a:p>
            <a:pPr marL="0" indent="0">
              <a:buNone/>
            </a:pPr>
            <a:r>
              <a:rPr lang="en-US" sz="1400" b="1">
                <a:solidFill>
                  <a:srgbClr val="172033"/>
                </a:solidFill>
              </a:rPr>
              <a:t>Access control</a:t>
            </a:r>
            <a:endParaRPr lang="en-US" sz="1400"/>
          </a:p>
        </p:txBody>
      </p:sp>
      <p:sp>
        <p:nvSpPr>
          <p:cNvPr id="16" name="Text 14"/>
          <p:cNvSpPr/>
          <p:nvPr/>
        </p:nvSpPr>
        <p:spPr>
          <a:xfrm>
            <a:off x="8522208" y="2011680"/>
            <a:ext cx="2898648" cy="621792"/>
          </a:xfrm>
          <a:prstGeom prst="rect">
            <a:avLst/>
          </a:prstGeom>
          <a:noFill/>
          <a:ln/>
        </p:spPr>
        <p:txBody>
          <a:bodyPr wrap="square" lIns="0" tIns="0" rIns="0" bIns="0" rtlCol="0" anchor="ctr">
            <a:normAutofit/>
          </a:bodyPr>
          <a:lstStyle/>
          <a:p>
            <a:pPr marL="0" indent="0">
              <a:buNone/>
            </a:pPr>
            <a:r>
              <a:rPr lang="en-US" sz="1180">
                <a:solidFill>
                  <a:srgbClr val="172033"/>
                </a:solidFill>
              </a:rPr>
              <a:t>Who can read, write, transform or share it</a:t>
            </a:r>
            <a:endParaRPr lang="en-US" sz="1180"/>
          </a:p>
        </p:txBody>
      </p:sp>
      <p:sp>
        <p:nvSpPr>
          <p:cNvPr id="17" name="Shape 15"/>
          <p:cNvSpPr/>
          <p:nvPr/>
        </p:nvSpPr>
        <p:spPr>
          <a:xfrm>
            <a:off x="2606040" y="3794760"/>
            <a:ext cx="3246120" cy="1280160"/>
          </a:xfrm>
          <a:prstGeom prst="roundRect">
            <a:avLst>
              <a:gd name="adj" fmla="val 5714"/>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8" name="Shape 16"/>
          <p:cNvSpPr/>
          <p:nvPr/>
        </p:nvSpPr>
        <p:spPr>
          <a:xfrm>
            <a:off x="2606040" y="3794760"/>
            <a:ext cx="73152" cy="1280160"/>
          </a:xfrm>
          <a:prstGeom prst="rect">
            <a:avLst/>
          </a:prstGeom>
          <a:solidFill>
            <a:srgbClr val="7C3AED"/>
          </a:solidFill>
          <a:ln w="12700">
            <a:solidFill>
              <a:srgbClr val="7C3AED">
                <a:alpha val="0"/>
              </a:srgbClr>
            </a:solidFill>
            <a:prstDash val="solid"/>
          </a:ln>
        </p:spPr>
        <p:txBody>
          <a:bodyPr/>
          <a:lstStyle/>
          <a:p>
            <a:endParaRPr lang="en-AU"/>
          </a:p>
        </p:txBody>
      </p:sp>
      <p:sp>
        <p:nvSpPr>
          <p:cNvPr id="19" name="Text 17"/>
          <p:cNvSpPr/>
          <p:nvPr/>
        </p:nvSpPr>
        <p:spPr>
          <a:xfrm>
            <a:off x="2807208" y="3922776"/>
            <a:ext cx="2898648" cy="228600"/>
          </a:xfrm>
          <a:prstGeom prst="rect">
            <a:avLst/>
          </a:prstGeom>
          <a:noFill/>
          <a:ln/>
        </p:spPr>
        <p:txBody>
          <a:bodyPr wrap="square" lIns="0" tIns="0" rIns="0" bIns="0" rtlCol="0" anchor="ctr"/>
          <a:lstStyle/>
          <a:p>
            <a:pPr marL="0" indent="0">
              <a:buNone/>
            </a:pPr>
            <a:r>
              <a:rPr lang="en-US" sz="1400" b="1">
                <a:solidFill>
                  <a:srgbClr val="172033"/>
                </a:solidFill>
              </a:rPr>
              <a:t>Privacy &amp; security</a:t>
            </a:r>
            <a:endParaRPr lang="en-US" sz="1400"/>
          </a:p>
        </p:txBody>
      </p:sp>
      <p:sp>
        <p:nvSpPr>
          <p:cNvPr id="20" name="Text 18"/>
          <p:cNvSpPr/>
          <p:nvPr/>
        </p:nvSpPr>
        <p:spPr>
          <a:xfrm>
            <a:off x="2807208" y="4297680"/>
            <a:ext cx="2898648" cy="621792"/>
          </a:xfrm>
          <a:prstGeom prst="rect">
            <a:avLst/>
          </a:prstGeom>
          <a:noFill/>
          <a:ln/>
        </p:spPr>
        <p:txBody>
          <a:bodyPr wrap="square" lIns="0" tIns="0" rIns="0" bIns="0" rtlCol="0" anchor="ctr">
            <a:normAutofit/>
          </a:bodyPr>
          <a:lstStyle/>
          <a:p>
            <a:pPr marL="0" indent="0">
              <a:buNone/>
            </a:pPr>
            <a:r>
              <a:rPr lang="en-US" sz="1180">
                <a:solidFill>
                  <a:srgbClr val="172033"/>
                </a:solidFill>
              </a:rPr>
              <a:t>Protection of sensitive data and regulatory compliance</a:t>
            </a:r>
            <a:endParaRPr lang="en-US" sz="1180"/>
          </a:p>
        </p:txBody>
      </p:sp>
      <p:sp>
        <p:nvSpPr>
          <p:cNvPr id="21" name="Shape 19"/>
          <p:cNvSpPr/>
          <p:nvPr/>
        </p:nvSpPr>
        <p:spPr>
          <a:xfrm>
            <a:off x="6400800" y="3794760"/>
            <a:ext cx="3246120" cy="1280160"/>
          </a:xfrm>
          <a:prstGeom prst="roundRect">
            <a:avLst>
              <a:gd name="adj" fmla="val 5714"/>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22" name="Shape 20"/>
          <p:cNvSpPr/>
          <p:nvPr/>
        </p:nvSpPr>
        <p:spPr>
          <a:xfrm>
            <a:off x="6400800" y="3794760"/>
            <a:ext cx="73152" cy="1280160"/>
          </a:xfrm>
          <a:prstGeom prst="rect">
            <a:avLst/>
          </a:prstGeom>
          <a:solidFill>
            <a:srgbClr val="2EAD66"/>
          </a:solidFill>
          <a:ln w="12700">
            <a:solidFill>
              <a:srgbClr val="2EAD66">
                <a:alpha val="0"/>
              </a:srgbClr>
            </a:solidFill>
            <a:prstDash val="solid"/>
          </a:ln>
        </p:spPr>
        <p:txBody>
          <a:bodyPr/>
          <a:lstStyle/>
          <a:p>
            <a:endParaRPr lang="en-AU"/>
          </a:p>
        </p:txBody>
      </p:sp>
      <p:sp>
        <p:nvSpPr>
          <p:cNvPr id="23" name="Text 21"/>
          <p:cNvSpPr/>
          <p:nvPr/>
        </p:nvSpPr>
        <p:spPr>
          <a:xfrm>
            <a:off x="6601968" y="3922776"/>
            <a:ext cx="2898648" cy="228600"/>
          </a:xfrm>
          <a:prstGeom prst="rect">
            <a:avLst/>
          </a:prstGeom>
          <a:noFill/>
          <a:ln/>
        </p:spPr>
        <p:txBody>
          <a:bodyPr wrap="square" lIns="0" tIns="0" rIns="0" bIns="0" rtlCol="0" anchor="ctr"/>
          <a:lstStyle/>
          <a:p>
            <a:pPr marL="0" indent="0">
              <a:buNone/>
            </a:pPr>
            <a:r>
              <a:rPr lang="en-US" sz="1400" b="1">
                <a:solidFill>
                  <a:srgbClr val="172033"/>
                </a:solidFill>
              </a:rPr>
              <a:t>Retention &amp; lifecycle</a:t>
            </a:r>
            <a:endParaRPr lang="en-US" sz="1400"/>
          </a:p>
        </p:txBody>
      </p:sp>
      <p:sp>
        <p:nvSpPr>
          <p:cNvPr id="24" name="Text 22"/>
          <p:cNvSpPr/>
          <p:nvPr/>
        </p:nvSpPr>
        <p:spPr>
          <a:xfrm>
            <a:off x="6601968" y="4297680"/>
            <a:ext cx="2898648" cy="621792"/>
          </a:xfrm>
          <a:prstGeom prst="rect">
            <a:avLst/>
          </a:prstGeom>
          <a:noFill/>
          <a:ln/>
        </p:spPr>
        <p:txBody>
          <a:bodyPr wrap="square" lIns="0" tIns="0" rIns="0" bIns="0" rtlCol="0" anchor="ctr">
            <a:normAutofit/>
          </a:bodyPr>
          <a:lstStyle/>
          <a:p>
            <a:pPr marL="0" indent="0">
              <a:buNone/>
            </a:pPr>
            <a:r>
              <a:rPr lang="en-US" sz="1180">
                <a:solidFill>
                  <a:srgbClr val="172033"/>
                </a:solidFill>
              </a:rPr>
              <a:t>How long data is kept and when it is archived/deleted</a:t>
            </a:r>
            <a:endParaRPr lang="en-US" sz="1180"/>
          </a:p>
        </p:txBody>
      </p:sp>
      <p:sp>
        <p:nvSpPr>
          <p:cNvPr id="25" name="Text 23"/>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12</a:t>
            </a:r>
            <a:endParaRPr lang="en-US" sz="800"/>
          </a:p>
        </p:txBody>
      </p:sp>
      <p:pic>
        <p:nvPicPr>
          <p:cNvPr id="27" name="Picture 26" descr="A logo with orange and grey text&#10;&#10;Description automatically generated">
            <a:extLst>
              <a:ext uri="{FF2B5EF4-FFF2-40B4-BE49-F238E27FC236}">
                <a16:creationId xmlns:a16="http://schemas.microsoft.com/office/drawing/2014/main" id="{7101E6BE-37A1-F0E8-2023-E670DCF3CC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Data Lake Storage Requirements</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The data hub/storage layer must support analytics at scale without losing control.</a:t>
            </a:r>
            <a:endParaRPr lang="en-US" sz="1250"/>
          </a:p>
        </p:txBody>
      </p:sp>
      <p:sp>
        <p:nvSpPr>
          <p:cNvPr id="5" name="Shape 3"/>
          <p:cNvSpPr/>
          <p:nvPr/>
        </p:nvSpPr>
        <p:spPr>
          <a:xfrm>
            <a:off x="685800" y="1371600"/>
            <a:ext cx="3291840" cy="4206240"/>
          </a:xfrm>
          <a:prstGeom prst="roundRect">
            <a:avLst>
              <a:gd name="adj" fmla="val 2222"/>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6" name="Shape 4"/>
          <p:cNvSpPr/>
          <p:nvPr/>
        </p:nvSpPr>
        <p:spPr>
          <a:xfrm>
            <a:off x="685800" y="1371600"/>
            <a:ext cx="73152" cy="4206240"/>
          </a:xfrm>
          <a:prstGeom prst="rect">
            <a:avLst/>
          </a:prstGeom>
          <a:solidFill>
            <a:srgbClr val="1665D8"/>
          </a:solidFill>
          <a:ln w="12700">
            <a:solidFill>
              <a:srgbClr val="1665D8">
                <a:alpha val="0"/>
              </a:srgbClr>
            </a:solidFill>
            <a:prstDash val="solid"/>
          </a:ln>
        </p:spPr>
        <p:txBody>
          <a:bodyPr/>
          <a:lstStyle/>
          <a:p>
            <a:endParaRPr lang="en-AU"/>
          </a:p>
        </p:txBody>
      </p:sp>
      <p:sp>
        <p:nvSpPr>
          <p:cNvPr id="7" name="Text 5"/>
          <p:cNvSpPr/>
          <p:nvPr/>
        </p:nvSpPr>
        <p:spPr>
          <a:xfrm>
            <a:off x="886968" y="1499616"/>
            <a:ext cx="2944368" cy="228600"/>
          </a:xfrm>
          <a:prstGeom prst="rect">
            <a:avLst/>
          </a:prstGeom>
          <a:noFill/>
          <a:ln/>
        </p:spPr>
        <p:txBody>
          <a:bodyPr wrap="square" lIns="0" tIns="0" rIns="0" bIns="0" rtlCol="0" anchor="ctr"/>
          <a:lstStyle/>
          <a:p>
            <a:pPr marL="0" indent="0">
              <a:buNone/>
            </a:pPr>
            <a:r>
              <a:rPr lang="en-US" sz="1400" b="1">
                <a:solidFill>
                  <a:srgbClr val="172033"/>
                </a:solidFill>
              </a:rPr>
              <a:t>Technical requirements</a:t>
            </a:r>
            <a:endParaRPr lang="en-US" sz="1400"/>
          </a:p>
        </p:txBody>
      </p:sp>
      <p:sp>
        <p:nvSpPr>
          <p:cNvPr id="8" name="Text 6"/>
          <p:cNvSpPr/>
          <p:nvPr/>
        </p:nvSpPr>
        <p:spPr>
          <a:xfrm>
            <a:off x="941832" y="1874520"/>
            <a:ext cx="2852928" cy="3547872"/>
          </a:xfrm>
          <a:prstGeom prst="rect">
            <a:avLst/>
          </a:prstGeom>
          <a:noFill/>
          <a:ln/>
        </p:spPr>
        <p:txBody>
          <a:bodyPr wrap="square" lIns="254" tIns="254" rIns="254" bIns="254" rtlCol="0" anchor="ctr">
            <a:normAutofit/>
          </a:bodyPr>
          <a:lstStyle/>
          <a:p>
            <a:r>
              <a:rPr lang="en-US" sz="1200">
                <a:solidFill>
                  <a:srgbClr val="172033"/>
                </a:solidFill>
              </a:rPr>
              <a:t>Scalable capacity for structured and unstructured data</a:t>
            </a:r>
            <a:endParaRPr lang="en-US" sz="1200"/>
          </a:p>
          <a:p>
            <a:r>
              <a:rPr lang="en-US" sz="1200">
                <a:solidFill>
                  <a:srgbClr val="172033"/>
                </a:solidFill>
              </a:rPr>
              <a:t>High-throughput read/write performance</a:t>
            </a:r>
            <a:endParaRPr lang="en-US" sz="1200"/>
          </a:p>
          <a:p>
            <a:r>
              <a:rPr lang="en-US" sz="1200">
                <a:solidFill>
                  <a:srgbClr val="172033"/>
                </a:solidFill>
              </a:rPr>
              <a:t>Support for batch and stream workloads</a:t>
            </a:r>
            <a:endParaRPr lang="en-US" sz="1200"/>
          </a:p>
          <a:p>
            <a:r>
              <a:rPr lang="en-US" sz="1200">
                <a:solidFill>
                  <a:srgbClr val="172033"/>
                </a:solidFill>
              </a:rPr>
              <a:t>Integration with analytics and ML tools</a:t>
            </a:r>
            <a:endParaRPr lang="en-US" sz="1200"/>
          </a:p>
        </p:txBody>
      </p:sp>
      <p:sp>
        <p:nvSpPr>
          <p:cNvPr id="9" name="Shape 7"/>
          <p:cNvSpPr/>
          <p:nvPr/>
        </p:nvSpPr>
        <p:spPr>
          <a:xfrm>
            <a:off x="4434840" y="1371600"/>
            <a:ext cx="3291840" cy="4206240"/>
          </a:xfrm>
          <a:prstGeom prst="roundRect">
            <a:avLst>
              <a:gd name="adj" fmla="val 2222"/>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0" name="Shape 8"/>
          <p:cNvSpPr/>
          <p:nvPr/>
        </p:nvSpPr>
        <p:spPr>
          <a:xfrm>
            <a:off x="4434840" y="1371600"/>
            <a:ext cx="73152" cy="4206240"/>
          </a:xfrm>
          <a:prstGeom prst="rect">
            <a:avLst/>
          </a:prstGeom>
          <a:solidFill>
            <a:srgbClr val="00A7A5"/>
          </a:solidFill>
          <a:ln w="12700">
            <a:solidFill>
              <a:srgbClr val="00A7A5">
                <a:alpha val="0"/>
              </a:srgbClr>
            </a:solidFill>
            <a:prstDash val="solid"/>
          </a:ln>
        </p:spPr>
        <p:txBody>
          <a:bodyPr/>
          <a:lstStyle/>
          <a:p>
            <a:endParaRPr lang="en-AU"/>
          </a:p>
        </p:txBody>
      </p:sp>
      <p:sp>
        <p:nvSpPr>
          <p:cNvPr id="11" name="Text 9"/>
          <p:cNvSpPr/>
          <p:nvPr/>
        </p:nvSpPr>
        <p:spPr>
          <a:xfrm>
            <a:off x="4636008" y="1499616"/>
            <a:ext cx="2944368" cy="228600"/>
          </a:xfrm>
          <a:prstGeom prst="rect">
            <a:avLst/>
          </a:prstGeom>
          <a:noFill/>
          <a:ln/>
        </p:spPr>
        <p:txBody>
          <a:bodyPr wrap="square" lIns="0" tIns="0" rIns="0" bIns="0" rtlCol="0" anchor="ctr"/>
          <a:lstStyle/>
          <a:p>
            <a:pPr marL="0" indent="0">
              <a:buNone/>
            </a:pPr>
            <a:r>
              <a:rPr lang="en-US" sz="1400" b="1">
                <a:solidFill>
                  <a:srgbClr val="172033"/>
                </a:solidFill>
              </a:rPr>
              <a:t>Governance requirements</a:t>
            </a:r>
            <a:endParaRPr lang="en-US" sz="1400"/>
          </a:p>
        </p:txBody>
      </p:sp>
      <p:sp>
        <p:nvSpPr>
          <p:cNvPr id="12" name="Text 10"/>
          <p:cNvSpPr/>
          <p:nvPr/>
        </p:nvSpPr>
        <p:spPr>
          <a:xfrm>
            <a:off x="4690872" y="1874520"/>
            <a:ext cx="2852928" cy="3547872"/>
          </a:xfrm>
          <a:prstGeom prst="rect">
            <a:avLst/>
          </a:prstGeom>
          <a:noFill/>
          <a:ln/>
        </p:spPr>
        <p:txBody>
          <a:bodyPr wrap="square" lIns="254" tIns="254" rIns="254" bIns="254" rtlCol="0" anchor="ctr">
            <a:normAutofit/>
          </a:bodyPr>
          <a:lstStyle/>
          <a:p>
            <a:r>
              <a:rPr lang="en-US" sz="1200">
                <a:solidFill>
                  <a:srgbClr val="172033"/>
                </a:solidFill>
              </a:rPr>
              <a:t>Identity and access management</a:t>
            </a:r>
            <a:endParaRPr lang="en-US" sz="1200"/>
          </a:p>
          <a:p>
            <a:r>
              <a:rPr lang="en-US" sz="1200">
                <a:solidFill>
                  <a:srgbClr val="172033"/>
                </a:solidFill>
              </a:rPr>
              <a:t>Encryption and key management</a:t>
            </a:r>
            <a:endParaRPr lang="en-US" sz="1200"/>
          </a:p>
          <a:p>
            <a:r>
              <a:rPr lang="en-US" sz="1200">
                <a:solidFill>
                  <a:srgbClr val="172033"/>
                </a:solidFill>
              </a:rPr>
              <a:t>Audit logs and lineage</a:t>
            </a:r>
            <a:endParaRPr lang="en-US" sz="1200"/>
          </a:p>
          <a:p>
            <a:r>
              <a:rPr lang="en-US" sz="1200">
                <a:solidFill>
                  <a:srgbClr val="172033"/>
                </a:solidFill>
              </a:rPr>
              <a:t>Policy-based data lifecycle management</a:t>
            </a:r>
            <a:endParaRPr lang="en-US" sz="1200"/>
          </a:p>
        </p:txBody>
      </p:sp>
      <p:sp>
        <p:nvSpPr>
          <p:cNvPr id="13" name="Shape 11"/>
          <p:cNvSpPr/>
          <p:nvPr/>
        </p:nvSpPr>
        <p:spPr>
          <a:xfrm>
            <a:off x="8183880" y="1371600"/>
            <a:ext cx="3291840" cy="4206240"/>
          </a:xfrm>
          <a:prstGeom prst="roundRect">
            <a:avLst>
              <a:gd name="adj" fmla="val 2222"/>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14" name="Shape 12"/>
          <p:cNvSpPr/>
          <p:nvPr/>
        </p:nvSpPr>
        <p:spPr>
          <a:xfrm>
            <a:off x="8183880" y="1371600"/>
            <a:ext cx="73152" cy="4206240"/>
          </a:xfrm>
          <a:prstGeom prst="rect">
            <a:avLst/>
          </a:prstGeom>
          <a:solidFill>
            <a:srgbClr val="2EAD66"/>
          </a:solidFill>
          <a:ln w="12700">
            <a:solidFill>
              <a:srgbClr val="2EAD66">
                <a:alpha val="0"/>
              </a:srgbClr>
            </a:solidFill>
            <a:prstDash val="solid"/>
          </a:ln>
        </p:spPr>
        <p:txBody>
          <a:bodyPr/>
          <a:lstStyle/>
          <a:p>
            <a:endParaRPr lang="en-AU"/>
          </a:p>
        </p:txBody>
      </p:sp>
      <p:sp>
        <p:nvSpPr>
          <p:cNvPr id="15" name="Text 13"/>
          <p:cNvSpPr/>
          <p:nvPr/>
        </p:nvSpPr>
        <p:spPr>
          <a:xfrm>
            <a:off x="8385048" y="1499616"/>
            <a:ext cx="2944368" cy="228600"/>
          </a:xfrm>
          <a:prstGeom prst="rect">
            <a:avLst/>
          </a:prstGeom>
          <a:noFill/>
          <a:ln/>
        </p:spPr>
        <p:txBody>
          <a:bodyPr wrap="square" lIns="0" tIns="0" rIns="0" bIns="0" rtlCol="0" anchor="ctr"/>
          <a:lstStyle/>
          <a:p>
            <a:pPr marL="0" indent="0">
              <a:buNone/>
            </a:pPr>
            <a:r>
              <a:rPr lang="en-US" sz="1400" b="1">
                <a:solidFill>
                  <a:srgbClr val="172033"/>
                </a:solidFill>
              </a:rPr>
              <a:t>Business requirements</a:t>
            </a:r>
            <a:endParaRPr lang="en-US" sz="1400"/>
          </a:p>
        </p:txBody>
      </p:sp>
      <p:sp>
        <p:nvSpPr>
          <p:cNvPr id="16" name="Text 14"/>
          <p:cNvSpPr/>
          <p:nvPr/>
        </p:nvSpPr>
        <p:spPr>
          <a:xfrm>
            <a:off x="8439912" y="1874520"/>
            <a:ext cx="2852928" cy="3547872"/>
          </a:xfrm>
          <a:prstGeom prst="rect">
            <a:avLst/>
          </a:prstGeom>
          <a:noFill/>
          <a:ln/>
        </p:spPr>
        <p:txBody>
          <a:bodyPr wrap="square" lIns="254" tIns="254" rIns="254" bIns="254" rtlCol="0" anchor="ctr">
            <a:normAutofit/>
          </a:bodyPr>
          <a:lstStyle/>
          <a:p>
            <a:r>
              <a:rPr lang="en-US" sz="1200">
                <a:solidFill>
                  <a:srgbClr val="172033"/>
                </a:solidFill>
              </a:rPr>
              <a:t>Cost-effective storage tiers</a:t>
            </a:r>
            <a:endParaRPr lang="en-US" sz="1200"/>
          </a:p>
          <a:p>
            <a:r>
              <a:rPr lang="en-US" sz="1200">
                <a:solidFill>
                  <a:srgbClr val="172033"/>
                </a:solidFill>
              </a:rPr>
              <a:t>Reliability and availability</a:t>
            </a:r>
            <a:endParaRPr lang="en-US" sz="1200"/>
          </a:p>
          <a:p>
            <a:r>
              <a:rPr lang="en-US" sz="1200">
                <a:solidFill>
                  <a:srgbClr val="172033"/>
                </a:solidFill>
              </a:rPr>
              <a:t>Self-service data discovery</a:t>
            </a:r>
            <a:endParaRPr lang="en-US" sz="1200"/>
          </a:p>
          <a:p>
            <a:r>
              <a:rPr lang="en-US" sz="1200">
                <a:solidFill>
                  <a:srgbClr val="172033"/>
                </a:solidFill>
              </a:rPr>
              <a:t>Alignment with compliance obligations</a:t>
            </a:r>
            <a:endParaRPr lang="en-US" sz="1200"/>
          </a:p>
        </p:txBody>
      </p:sp>
      <p:sp>
        <p:nvSpPr>
          <p:cNvPr id="17" name="Text 15"/>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13</a:t>
            </a:r>
            <a:endParaRPr lang="en-US" sz="800"/>
          </a:p>
        </p:txBody>
      </p:sp>
      <p:pic>
        <p:nvPicPr>
          <p:cNvPr id="19" name="Picture 18" descr="A logo with orange and grey text&#10;&#10;Description automatically generated">
            <a:extLst>
              <a:ext uri="{FF2B5EF4-FFF2-40B4-BE49-F238E27FC236}">
                <a16:creationId xmlns:a16="http://schemas.microsoft.com/office/drawing/2014/main" id="{EBF4EB31-1098-7D23-8166-093FA656E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Cloud Object Storage Example: Amazon S3</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Amazon S3 is widely used as a cloud data lake foundation because it combines elastic object storage with governance and analytics integration.</a:t>
            </a:r>
            <a:endParaRPr lang="en-US" sz="1250"/>
          </a:p>
        </p:txBody>
      </p:sp>
      <p:sp>
        <p:nvSpPr>
          <p:cNvPr id="5" name="Shape 3"/>
          <p:cNvSpPr/>
          <p:nvPr/>
        </p:nvSpPr>
        <p:spPr>
          <a:xfrm>
            <a:off x="685800" y="1417320"/>
            <a:ext cx="5257800" cy="4343400"/>
          </a:xfrm>
          <a:prstGeom prst="roundRect">
            <a:avLst>
              <a:gd name="adj" fmla="val 1684"/>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6" name="Shape 4"/>
          <p:cNvSpPr/>
          <p:nvPr/>
        </p:nvSpPr>
        <p:spPr>
          <a:xfrm>
            <a:off x="685800" y="1417320"/>
            <a:ext cx="73152" cy="4343400"/>
          </a:xfrm>
          <a:prstGeom prst="rect">
            <a:avLst/>
          </a:prstGeom>
          <a:solidFill>
            <a:srgbClr val="F59E0B"/>
          </a:solidFill>
          <a:ln w="12700">
            <a:solidFill>
              <a:srgbClr val="F59E0B">
                <a:alpha val="0"/>
              </a:srgbClr>
            </a:solidFill>
            <a:prstDash val="solid"/>
          </a:ln>
        </p:spPr>
        <p:txBody>
          <a:bodyPr/>
          <a:lstStyle/>
          <a:p>
            <a:endParaRPr lang="en-AU"/>
          </a:p>
        </p:txBody>
      </p:sp>
      <p:sp>
        <p:nvSpPr>
          <p:cNvPr id="7" name="Text 5"/>
          <p:cNvSpPr/>
          <p:nvPr/>
        </p:nvSpPr>
        <p:spPr>
          <a:xfrm>
            <a:off x="886968" y="1545336"/>
            <a:ext cx="4910328" cy="228600"/>
          </a:xfrm>
          <a:prstGeom prst="rect">
            <a:avLst/>
          </a:prstGeom>
          <a:noFill/>
          <a:ln/>
        </p:spPr>
        <p:txBody>
          <a:bodyPr wrap="square" lIns="0" tIns="0" rIns="0" bIns="0" rtlCol="0" anchor="ctr"/>
          <a:lstStyle/>
          <a:p>
            <a:pPr marL="0" indent="0">
              <a:buNone/>
            </a:pPr>
            <a:r>
              <a:rPr lang="en-US" sz="1400" b="1">
                <a:solidFill>
                  <a:srgbClr val="172033"/>
                </a:solidFill>
              </a:rPr>
              <a:t>S3 data lake strengths</a:t>
            </a:r>
            <a:endParaRPr lang="en-US" sz="1400"/>
          </a:p>
        </p:txBody>
      </p:sp>
      <p:sp>
        <p:nvSpPr>
          <p:cNvPr id="8" name="Text 6"/>
          <p:cNvSpPr/>
          <p:nvPr/>
        </p:nvSpPr>
        <p:spPr>
          <a:xfrm>
            <a:off x="941832" y="1920240"/>
            <a:ext cx="4818888" cy="3685032"/>
          </a:xfrm>
          <a:prstGeom prst="rect">
            <a:avLst/>
          </a:prstGeom>
          <a:noFill/>
          <a:ln/>
        </p:spPr>
        <p:txBody>
          <a:bodyPr wrap="square" lIns="254" tIns="254" rIns="254" bIns="254" rtlCol="0" anchor="ctr">
            <a:normAutofit/>
          </a:bodyPr>
          <a:lstStyle/>
          <a:p>
            <a:r>
              <a:rPr lang="en-US" sz="1200">
                <a:solidFill>
                  <a:srgbClr val="172033"/>
                </a:solidFill>
              </a:rPr>
              <a:t>Object storage for structured and unstructured data</a:t>
            </a:r>
            <a:endParaRPr lang="en-US" sz="1200"/>
          </a:p>
          <a:p>
            <a:r>
              <a:rPr lang="en-US" sz="1200">
                <a:solidFill>
                  <a:srgbClr val="172033"/>
                </a:solidFill>
              </a:rPr>
              <a:t>Elastic scale without provisioning capacity</a:t>
            </a:r>
            <a:endParaRPr lang="en-US" sz="1200"/>
          </a:p>
          <a:p>
            <a:r>
              <a:rPr lang="en-US" sz="1200">
                <a:solidFill>
                  <a:srgbClr val="172033"/>
                </a:solidFill>
              </a:rPr>
              <a:t>Durability, availability, access control and encryption features</a:t>
            </a:r>
            <a:endParaRPr lang="en-US" sz="1200"/>
          </a:p>
          <a:p>
            <a:r>
              <a:rPr lang="en-US" sz="1200">
                <a:solidFill>
                  <a:srgbClr val="172033"/>
                </a:solidFill>
              </a:rPr>
              <a:t>Storage classes and lifecycle policies to manage cost</a:t>
            </a:r>
            <a:endParaRPr lang="en-US" sz="1200"/>
          </a:p>
          <a:p>
            <a:r>
              <a:rPr lang="en-US" sz="1200">
                <a:solidFill>
                  <a:srgbClr val="172033"/>
                </a:solidFill>
              </a:rPr>
              <a:t>Integrates with AWS analytics services and third-party engines</a:t>
            </a:r>
            <a:endParaRPr lang="en-US" sz="1200"/>
          </a:p>
        </p:txBody>
      </p:sp>
      <p:sp>
        <p:nvSpPr>
          <p:cNvPr id="9" name="Shape 7"/>
          <p:cNvSpPr/>
          <p:nvPr/>
        </p:nvSpPr>
        <p:spPr>
          <a:xfrm>
            <a:off x="7315200" y="1783080"/>
            <a:ext cx="2926080" cy="1828800"/>
          </a:xfrm>
          <a:prstGeom prst="cloud">
            <a:avLst/>
          </a:prstGeom>
          <a:solidFill>
            <a:srgbClr val="F59E0B">
              <a:alpha val="98000"/>
            </a:srgbClr>
          </a:solidFill>
          <a:ln w="12700">
            <a:solidFill>
              <a:srgbClr val="F59E0B"/>
            </a:solidFill>
            <a:prstDash val="solid"/>
          </a:ln>
        </p:spPr>
        <p:txBody>
          <a:bodyPr/>
          <a:lstStyle/>
          <a:p>
            <a:endParaRPr lang="en-AU"/>
          </a:p>
        </p:txBody>
      </p:sp>
      <p:sp>
        <p:nvSpPr>
          <p:cNvPr id="10" name="Text 8"/>
          <p:cNvSpPr/>
          <p:nvPr/>
        </p:nvSpPr>
        <p:spPr>
          <a:xfrm>
            <a:off x="8092440" y="2377440"/>
            <a:ext cx="1371600" cy="411480"/>
          </a:xfrm>
          <a:prstGeom prst="rect">
            <a:avLst/>
          </a:prstGeom>
          <a:noFill/>
          <a:ln/>
        </p:spPr>
        <p:txBody>
          <a:bodyPr wrap="square" lIns="0" tIns="0" rIns="0" bIns="0" rtlCol="0" anchor="ctr"/>
          <a:lstStyle/>
          <a:p>
            <a:pPr marL="0" indent="0" algn="ctr">
              <a:buNone/>
            </a:pPr>
            <a:r>
              <a:rPr lang="en-US" sz="2600" b="1">
                <a:solidFill>
                  <a:srgbClr val="FFFFFF"/>
                </a:solidFill>
              </a:rPr>
              <a:t>S3</a:t>
            </a:r>
            <a:endParaRPr lang="en-US" sz="2600"/>
          </a:p>
        </p:txBody>
      </p:sp>
      <p:sp>
        <p:nvSpPr>
          <p:cNvPr id="11" name="Shape 9"/>
          <p:cNvSpPr/>
          <p:nvPr/>
        </p:nvSpPr>
        <p:spPr>
          <a:xfrm>
            <a:off x="6629400" y="4251960"/>
            <a:ext cx="1143000" cy="713232"/>
          </a:xfrm>
          <a:prstGeom prst="roundRect">
            <a:avLst/>
          </a:prstGeom>
          <a:solidFill>
            <a:srgbClr val="1665D8">
              <a:alpha val="95000"/>
            </a:srgbClr>
          </a:solidFill>
          <a:ln w="12700">
            <a:solidFill>
              <a:srgbClr val="FFFFFF"/>
            </a:solidFill>
            <a:prstDash val="solid"/>
          </a:ln>
        </p:spPr>
        <p:txBody>
          <a:bodyPr/>
          <a:lstStyle/>
          <a:p>
            <a:endParaRPr lang="en-AU"/>
          </a:p>
        </p:txBody>
      </p:sp>
      <p:sp>
        <p:nvSpPr>
          <p:cNvPr id="12" name="Text 10"/>
          <p:cNvSpPr/>
          <p:nvPr/>
        </p:nvSpPr>
        <p:spPr>
          <a:xfrm>
            <a:off x="6492240" y="4539996"/>
            <a:ext cx="1417320" cy="182880"/>
          </a:xfrm>
          <a:prstGeom prst="rect">
            <a:avLst/>
          </a:prstGeom>
          <a:noFill/>
          <a:ln/>
        </p:spPr>
        <p:txBody>
          <a:bodyPr wrap="square" lIns="0" tIns="0" rIns="0" bIns="0" rtlCol="0" anchor="ctr"/>
          <a:lstStyle/>
          <a:p>
            <a:pPr marL="0" indent="0" algn="ctr">
              <a:buNone/>
            </a:pPr>
            <a:r>
              <a:rPr lang="en-US" sz="950">
                <a:solidFill>
                  <a:srgbClr val="172033"/>
                </a:solidFill>
              </a:rPr>
              <a:t>Raw zone</a:t>
            </a:r>
            <a:endParaRPr lang="en-US" sz="950"/>
          </a:p>
        </p:txBody>
      </p:sp>
      <p:sp>
        <p:nvSpPr>
          <p:cNvPr id="13" name="Shape 11"/>
          <p:cNvSpPr/>
          <p:nvPr/>
        </p:nvSpPr>
        <p:spPr>
          <a:xfrm>
            <a:off x="8183880" y="4251960"/>
            <a:ext cx="1143000" cy="713232"/>
          </a:xfrm>
          <a:prstGeom prst="roundRect">
            <a:avLst/>
          </a:prstGeom>
          <a:solidFill>
            <a:srgbClr val="00A7A5">
              <a:alpha val="95000"/>
            </a:srgbClr>
          </a:solidFill>
          <a:ln w="12700">
            <a:solidFill>
              <a:srgbClr val="FFFFFF"/>
            </a:solidFill>
            <a:prstDash val="solid"/>
          </a:ln>
        </p:spPr>
        <p:txBody>
          <a:bodyPr/>
          <a:lstStyle/>
          <a:p>
            <a:endParaRPr lang="en-AU"/>
          </a:p>
        </p:txBody>
      </p:sp>
      <p:sp>
        <p:nvSpPr>
          <p:cNvPr id="14" name="Text 12"/>
          <p:cNvSpPr/>
          <p:nvPr/>
        </p:nvSpPr>
        <p:spPr>
          <a:xfrm>
            <a:off x="8046720" y="4539996"/>
            <a:ext cx="1417320" cy="182880"/>
          </a:xfrm>
          <a:prstGeom prst="rect">
            <a:avLst/>
          </a:prstGeom>
          <a:noFill/>
          <a:ln/>
        </p:spPr>
        <p:txBody>
          <a:bodyPr wrap="square" lIns="0" tIns="0" rIns="0" bIns="0" rtlCol="0" anchor="ctr"/>
          <a:lstStyle/>
          <a:p>
            <a:pPr marL="0" indent="0" algn="ctr">
              <a:buNone/>
            </a:pPr>
            <a:r>
              <a:rPr lang="en-US" sz="950">
                <a:solidFill>
                  <a:srgbClr val="172033"/>
                </a:solidFill>
              </a:rPr>
              <a:t>Curated zone</a:t>
            </a:r>
            <a:endParaRPr lang="en-US" sz="950"/>
          </a:p>
        </p:txBody>
      </p:sp>
      <p:sp>
        <p:nvSpPr>
          <p:cNvPr id="15" name="Shape 13"/>
          <p:cNvSpPr/>
          <p:nvPr/>
        </p:nvSpPr>
        <p:spPr>
          <a:xfrm>
            <a:off x="9738360" y="4251960"/>
            <a:ext cx="1143000" cy="713232"/>
          </a:xfrm>
          <a:prstGeom prst="roundRect">
            <a:avLst/>
          </a:prstGeom>
          <a:solidFill>
            <a:srgbClr val="2EAD66">
              <a:alpha val="95000"/>
            </a:srgbClr>
          </a:solidFill>
          <a:ln w="12700">
            <a:solidFill>
              <a:srgbClr val="FFFFFF"/>
            </a:solidFill>
            <a:prstDash val="solid"/>
          </a:ln>
        </p:spPr>
        <p:txBody>
          <a:bodyPr/>
          <a:lstStyle/>
          <a:p>
            <a:endParaRPr lang="en-AU"/>
          </a:p>
        </p:txBody>
      </p:sp>
      <p:sp>
        <p:nvSpPr>
          <p:cNvPr id="16" name="Text 14"/>
          <p:cNvSpPr/>
          <p:nvPr/>
        </p:nvSpPr>
        <p:spPr>
          <a:xfrm>
            <a:off x="9601200" y="4517136"/>
            <a:ext cx="1417320" cy="182880"/>
          </a:xfrm>
          <a:prstGeom prst="rect">
            <a:avLst/>
          </a:prstGeom>
          <a:noFill/>
          <a:ln/>
        </p:spPr>
        <p:txBody>
          <a:bodyPr wrap="square" lIns="0" tIns="0" rIns="0" bIns="0" rtlCol="0" anchor="ctr"/>
          <a:lstStyle/>
          <a:p>
            <a:pPr marL="0" indent="0" algn="ctr">
              <a:buNone/>
            </a:pPr>
            <a:r>
              <a:rPr lang="en-US" sz="950">
                <a:solidFill>
                  <a:srgbClr val="172033"/>
                </a:solidFill>
              </a:rPr>
              <a:t>Analytics zone</a:t>
            </a:r>
            <a:endParaRPr lang="en-US" sz="950"/>
          </a:p>
        </p:txBody>
      </p:sp>
      <p:sp>
        <p:nvSpPr>
          <p:cNvPr id="17" name="Text 15"/>
          <p:cNvSpPr/>
          <p:nvPr/>
        </p:nvSpPr>
        <p:spPr>
          <a:xfrm>
            <a:off x="731520" y="6016752"/>
            <a:ext cx="7315200" cy="201168"/>
          </a:xfrm>
          <a:prstGeom prst="rect">
            <a:avLst/>
          </a:prstGeom>
          <a:noFill/>
          <a:ln/>
        </p:spPr>
        <p:txBody>
          <a:bodyPr wrap="square" lIns="0" tIns="0" rIns="0" bIns="0" rtlCol="0" anchor="ctr"/>
          <a:lstStyle/>
          <a:p>
            <a:pPr marL="0" indent="0">
              <a:buNone/>
            </a:pPr>
            <a:r>
              <a:rPr lang="en-US" sz="950" i="1">
                <a:solidFill>
                  <a:srgbClr val="5B667A"/>
                </a:solidFill>
              </a:rPr>
              <a:t>Source: AWS S3 and AWS data lake storage product pages.</a:t>
            </a:r>
            <a:endParaRPr lang="en-US" sz="950"/>
          </a:p>
        </p:txBody>
      </p:sp>
      <p:sp>
        <p:nvSpPr>
          <p:cNvPr id="18" name="Text 16"/>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14</a:t>
            </a:r>
            <a:endParaRPr lang="en-US" sz="800"/>
          </a:p>
        </p:txBody>
      </p:sp>
      <p:pic>
        <p:nvPicPr>
          <p:cNvPr id="20" name="Picture 19" descr="A logo with orange and grey text&#10;&#10;Description automatically generated">
            <a:extLst>
              <a:ext uri="{FF2B5EF4-FFF2-40B4-BE49-F238E27FC236}">
                <a16:creationId xmlns:a16="http://schemas.microsoft.com/office/drawing/2014/main" id="{9B4B7EEE-6483-724C-BF6A-3ED5CF3F4E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Cloud Data Lake Example: Azure Data Lake Storage Gen2</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ADLS Gen2 combines Azure Blob Storage with data lake capabilities such as hierarchical namespace and analytics integration.</a:t>
            </a:r>
            <a:endParaRPr lang="en-US" sz="1250"/>
          </a:p>
        </p:txBody>
      </p:sp>
      <p:sp>
        <p:nvSpPr>
          <p:cNvPr id="5" name="Shape 3"/>
          <p:cNvSpPr/>
          <p:nvPr/>
        </p:nvSpPr>
        <p:spPr>
          <a:xfrm>
            <a:off x="685800" y="1417320"/>
            <a:ext cx="5212080" cy="4389120"/>
          </a:xfrm>
          <a:prstGeom prst="roundRect">
            <a:avLst>
              <a:gd name="adj" fmla="val 1667"/>
            </a:avLst>
          </a:prstGeom>
          <a:solidFill>
            <a:srgbClr val="FFFFFF"/>
          </a:solidFill>
          <a:ln w="12700">
            <a:solidFill>
              <a:srgbClr val="D9E2EF"/>
            </a:solidFill>
            <a:prstDash val="solid"/>
          </a:ln>
          <a:effectLst>
            <a:outerShdw blurRad="25400" dist="12700" dir="2700000" algn="bl" rotWithShape="0">
              <a:srgbClr val="000000">
                <a:alpha val="12000"/>
              </a:srgbClr>
            </a:outerShdw>
          </a:effectLst>
        </p:spPr>
        <p:txBody>
          <a:bodyPr/>
          <a:lstStyle/>
          <a:p>
            <a:endParaRPr lang="en-AU"/>
          </a:p>
        </p:txBody>
      </p:sp>
      <p:sp>
        <p:nvSpPr>
          <p:cNvPr id="6" name="Shape 4"/>
          <p:cNvSpPr/>
          <p:nvPr/>
        </p:nvSpPr>
        <p:spPr>
          <a:xfrm>
            <a:off x="685800" y="1417320"/>
            <a:ext cx="73152" cy="4389120"/>
          </a:xfrm>
          <a:prstGeom prst="rect">
            <a:avLst/>
          </a:prstGeom>
          <a:solidFill>
            <a:srgbClr val="1665D8"/>
          </a:solidFill>
          <a:ln w="12700">
            <a:solidFill>
              <a:srgbClr val="1665D8">
                <a:alpha val="0"/>
              </a:srgbClr>
            </a:solidFill>
            <a:prstDash val="solid"/>
          </a:ln>
        </p:spPr>
        <p:txBody>
          <a:bodyPr/>
          <a:lstStyle/>
          <a:p>
            <a:endParaRPr lang="en-AU"/>
          </a:p>
        </p:txBody>
      </p:sp>
      <p:sp>
        <p:nvSpPr>
          <p:cNvPr id="7" name="Text 5"/>
          <p:cNvSpPr/>
          <p:nvPr/>
        </p:nvSpPr>
        <p:spPr>
          <a:xfrm>
            <a:off x="886968" y="1545336"/>
            <a:ext cx="4864608" cy="228600"/>
          </a:xfrm>
          <a:prstGeom prst="rect">
            <a:avLst/>
          </a:prstGeom>
          <a:noFill/>
          <a:ln/>
        </p:spPr>
        <p:txBody>
          <a:bodyPr wrap="square" lIns="0" tIns="0" rIns="0" bIns="0" rtlCol="0" anchor="ctr"/>
          <a:lstStyle/>
          <a:p>
            <a:pPr marL="0" indent="0">
              <a:buNone/>
            </a:pPr>
            <a:r>
              <a:rPr lang="en-US" sz="1400" b="1">
                <a:solidFill>
                  <a:srgbClr val="172033"/>
                </a:solidFill>
              </a:rPr>
              <a:t>ADLS Gen2 data lake strengths</a:t>
            </a:r>
            <a:endParaRPr lang="en-US" sz="1400"/>
          </a:p>
        </p:txBody>
      </p:sp>
      <p:sp>
        <p:nvSpPr>
          <p:cNvPr id="8" name="Text 6"/>
          <p:cNvSpPr/>
          <p:nvPr/>
        </p:nvSpPr>
        <p:spPr>
          <a:xfrm>
            <a:off x="941832" y="1920240"/>
            <a:ext cx="4773168" cy="3730752"/>
          </a:xfrm>
          <a:prstGeom prst="rect">
            <a:avLst/>
          </a:prstGeom>
          <a:noFill/>
          <a:ln/>
        </p:spPr>
        <p:txBody>
          <a:bodyPr wrap="square" lIns="254" tIns="254" rIns="254" bIns="254" rtlCol="0" anchor="ctr">
            <a:normAutofit/>
          </a:bodyPr>
          <a:lstStyle/>
          <a:p>
            <a:r>
              <a:rPr lang="en-US" sz="1200">
                <a:solidFill>
                  <a:srgbClr val="172033"/>
                </a:solidFill>
              </a:rPr>
              <a:t>Designed for big data analytics workloads on Azure</a:t>
            </a:r>
            <a:endParaRPr lang="en-US" sz="1200"/>
          </a:p>
          <a:p>
            <a:r>
              <a:rPr lang="en-US" sz="1200">
                <a:solidFill>
                  <a:srgbClr val="172033"/>
                </a:solidFill>
              </a:rPr>
              <a:t>Hierarchical namespace supports directory/file semantics</a:t>
            </a:r>
            <a:endParaRPr lang="en-US" sz="1200"/>
          </a:p>
          <a:p>
            <a:r>
              <a:rPr lang="en-US" sz="1200">
                <a:solidFill>
                  <a:srgbClr val="172033"/>
                </a:solidFill>
              </a:rPr>
              <a:t>Works with Azure identity, RBAC and access-control models</a:t>
            </a:r>
            <a:endParaRPr lang="en-US" sz="1200"/>
          </a:p>
          <a:p>
            <a:r>
              <a:rPr lang="en-US" sz="1200">
                <a:solidFill>
                  <a:srgbClr val="172033"/>
                </a:solidFill>
              </a:rPr>
              <a:t>Integrates with analytics platforms such as Azure Synapse and Databricks</a:t>
            </a:r>
            <a:endParaRPr lang="en-US" sz="1200"/>
          </a:p>
          <a:p>
            <a:r>
              <a:rPr lang="en-US" sz="1200">
                <a:solidFill>
                  <a:srgbClr val="172033"/>
                </a:solidFill>
              </a:rPr>
              <a:t>Supports scalable storage for raw, curated and consumption-ready data</a:t>
            </a:r>
            <a:endParaRPr lang="en-US" sz="1200"/>
          </a:p>
        </p:txBody>
      </p:sp>
      <p:sp>
        <p:nvSpPr>
          <p:cNvPr id="9" name="Shape 7"/>
          <p:cNvSpPr/>
          <p:nvPr/>
        </p:nvSpPr>
        <p:spPr>
          <a:xfrm>
            <a:off x="7498080" y="1600200"/>
            <a:ext cx="2286000" cy="1371600"/>
          </a:xfrm>
          <a:prstGeom prst="roundRect">
            <a:avLst/>
          </a:prstGeom>
          <a:solidFill>
            <a:srgbClr val="1665D8"/>
          </a:solidFill>
          <a:ln w="12700">
            <a:solidFill>
              <a:srgbClr val="1665D8"/>
            </a:solidFill>
            <a:prstDash val="solid"/>
          </a:ln>
        </p:spPr>
        <p:txBody>
          <a:bodyPr/>
          <a:lstStyle/>
          <a:p>
            <a:endParaRPr lang="en-AU"/>
          </a:p>
        </p:txBody>
      </p:sp>
      <p:sp>
        <p:nvSpPr>
          <p:cNvPr id="10" name="Text 8"/>
          <p:cNvSpPr/>
          <p:nvPr/>
        </p:nvSpPr>
        <p:spPr>
          <a:xfrm>
            <a:off x="7818120" y="1938528"/>
            <a:ext cx="1645920" cy="530352"/>
          </a:xfrm>
          <a:prstGeom prst="rect">
            <a:avLst/>
          </a:prstGeom>
          <a:noFill/>
          <a:ln/>
        </p:spPr>
        <p:txBody>
          <a:bodyPr wrap="square" lIns="0" tIns="0" rIns="0" bIns="0" rtlCol="0" anchor="ctr"/>
          <a:lstStyle/>
          <a:p>
            <a:pPr marL="0" indent="0" algn="ctr">
              <a:buNone/>
            </a:pPr>
            <a:r>
              <a:rPr lang="en-US" sz="2200" b="1">
                <a:solidFill>
                  <a:srgbClr val="FFFFFF"/>
                </a:solidFill>
              </a:rPr>
              <a:t>ADLS</a:t>
            </a:r>
            <a:endParaRPr lang="en-US" sz="2200"/>
          </a:p>
          <a:p>
            <a:pPr marL="0" indent="0" algn="ctr">
              <a:buNone/>
            </a:pPr>
            <a:r>
              <a:rPr lang="en-US" sz="2200" b="1">
                <a:solidFill>
                  <a:srgbClr val="FFFFFF"/>
                </a:solidFill>
              </a:rPr>
              <a:t>Gen2</a:t>
            </a:r>
            <a:endParaRPr lang="en-US" sz="2200"/>
          </a:p>
        </p:txBody>
      </p:sp>
      <p:sp>
        <p:nvSpPr>
          <p:cNvPr id="11" name="Shape 9"/>
          <p:cNvSpPr/>
          <p:nvPr/>
        </p:nvSpPr>
        <p:spPr>
          <a:xfrm>
            <a:off x="6675120" y="3520440"/>
            <a:ext cx="3474720" cy="292608"/>
          </a:xfrm>
          <a:prstGeom prst="rect">
            <a:avLst/>
          </a:prstGeom>
          <a:solidFill>
            <a:srgbClr val="FFFFFF"/>
          </a:solidFill>
          <a:ln w="12700">
            <a:solidFill>
              <a:srgbClr val="D9E2EF"/>
            </a:solidFill>
            <a:prstDash val="solid"/>
          </a:ln>
        </p:spPr>
        <p:txBody>
          <a:bodyPr/>
          <a:lstStyle/>
          <a:p>
            <a:endParaRPr lang="en-AU"/>
          </a:p>
        </p:txBody>
      </p:sp>
      <p:sp>
        <p:nvSpPr>
          <p:cNvPr id="12" name="Text 10"/>
          <p:cNvSpPr/>
          <p:nvPr/>
        </p:nvSpPr>
        <p:spPr>
          <a:xfrm>
            <a:off x="6812280" y="3584448"/>
            <a:ext cx="1463040" cy="109728"/>
          </a:xfrm>
          <a:prstGeom prst="rect">
            <a:avLst/>
          </a:prstGeom>
          <a:noFill/>
          <a:ln/>
        </p:spPr>
        <p:txBody>
          <a:bodyPr wrap="square" lIns="0" tIns="0" rIns="0" bIns="0" rtlCol="0" anchor="ctr"/>
          <a:lstStyle/>
          <a:p>
            <a:pPr marL="0" indent="0">
              <a:buNone/>
            </a:pPr>
            <a:r>
              <a:rPr lang="en-US" sz="950">
                <a:solidFill>
                  <a:srgbClr val="172033"/>
                </a:solidFill>
              </a:rPr>
              <a:t>/raw</a:t>
            </a:r>
            <a:endParaRPr lang="en-US" sz="950"/>
          </a:p>
        </p:txBody>
      </p:sp>
      <p:sp>
        <p:nvSpPr>
          <p:cNvPr id="13" name="Shape 11"/>
          <p:cNvSpPr/>
          <p:nvPr/>
        </p:nvSpPr>
        <p:spPr>
          <a:xfrm>
            <a:off x="6675120" y="3931920"/>
            <a:ext cx="3474720" cy="292608"/>
          </a:xfrm>
          <a:prstGeom prst="rect">
            <a:avLst/>
          </a:prstGeom>
          <a:solidFill>
            <a:srgbClr val="F5F8FC"/>
          </a:solidFill>
          <a:ln w="12700">
            <a:solidFill>
              <a:srgbClr val="D9E2EF"/>
            </a:solidFill>
            <a:prstDash val="solid"/>
          </a:ln>
        </p:spPr>
        <p:txBody>
          <a:bodyPr/>
          <a:lstStyle/>
          <a:p>
            <a:endParaRPr lang="en-AU"/>
          </a:p>
        </p:txBody>
      </p:sp>
      <p:sp>
        <p:nvSpPr>
          <p:cNvPr id="14" name="Text 12"/>
          <p:cNvSpPr/>
          <p:nvPr/>
        </p:nvSpPr>
        <p:spPr>
          <a:xfrm>
            <a:off x="6812280" y="3995928"/>
            <a:ext cx="1463040" cy="109728"/>
          </a:xfrm>
          <a:prstGeom prst="rect">
            <a:avLst/>
          </a:prstGeom>
          <a:noFill/>
          <a:ln/>
        </p:spPr>
        <p:txBody>
          <a:bodyPr wrap="square" lIns="0" tIns="0" rIns="0" bIns="0" rtlCol="0" anchor="ctr"/>
          <a:lstStyle/>
          <a:p>
            <a:pPr marL="0" indent="0">
              <a:buNone/>
            </a:pPr>
            <a:r>
              <a:rPr lang="en-US" sz="950">
                <a:solidFill>
                  <a:srgbClr val="172033"/>
                </a:solidFill>
              </a:rPr>
              <a:t>/curated</a:t>
            </a:r>
            <a:endParaRPr lang="en-US" sz="950"/>
          </a:p>
        </p:txBody>
      </p:sp>
      <p:sp>
        <p:nvSpPr>
          <p:cNvPr id="15" name="Shape 13"/>
          <p:cNvSpPr/>
          <p:nvPr/>
        </p:nvSpPr>
        <p:spPr>
          <a:xfrm>
            <a:off x="6675120" y="4343400"/>
            <a:ext cx="3474720" cy="292608"/>
          </a:xfrm>
          <a:prstGeom prst="rect">
            <a:avLst/>
          </a:prstGeom>
          <a:solidFill>
            <a:srgbClr val="FFFFFF"/>
          </a:solidFill>
          <a:ln w="12700">
            <a:solidFill>
              <a:srgbClr val="D9E2EF"/>
            </a:solidFill>
            <a:prstDash val="solid"/>
          </a:ln>
        </p:spPr>
        <p:txBody>
          <a:bodyPr/>
          <a:lstStyle/>
          <a:p>
            <a:endParaRPr lang="en-AU"/>
          </a:p>
        </p:txBody>
      </p:sp>
      <p:sp>
        <p:nvSpPr>
          <p:cNvPr id="16" name="Text 14"/>
          <p:cNvSpPr/>
          <p:nvPr/>
        </p:nvSpPr>
        <p:spPr>
          <a:xfrm>
            <a:off x="6812280" y="4407408"/>
            <a:ext cx="1463040" cy="109728"/>
          </a:xfrm>
          <a:prstGeom prst="rect">
            <a:avLst/>
          </a:prstGeom>
          <a:noFill/>
          <a:ln/>
        </p:spPr>
        <p:txBody>
          <a:bodyPr wrap="square" lIns="0" tIns="0" rIns="0" bIns="0" rtlCol="0" anchor="ctr"/>
          <a:lstStyle/>
          <a:p>
            <a:pPr marL="0" indent="0">
              <a:buNone/>
            </a:pPr>
            <a:r>
              <a:rPr lang="en-US" sz="950">
                <a:solidFill>
                  <a:srgbClr val="172033"/>
                </a:solidFill>
              </a:rPr>
              <a:t>/trusted</a:t>
            </a:r>
            <a:endParaRPr lang="en-US" sz="950"/>
          </a:p>
        </p:txBody>
      </p:sp>
      <p:sp>
        <p:nvSpPr>
          <p:cNvPr id="17" name="Shape 15"/>
          <p:cNvSpPr/>
          <p:nvPr/>
        </p:nvSpPr>
        <p:spPr>
          <a:xfrm>
            <a:off x="6675120" y="4754880"/>
            <a:ext cx="3474720" cy="292608"/>
          </a:xfrm>
          <a:prstGeom prst="rect">
            <a:avLst/>
          </a:prstGeom>
          <a:solidFill>
            <a:srgbClr val="F5F8FC"/>
          </a:solidFill>
          <a:ln w="12700">
            <a:solidFill>
              <a:srgbClr val="D9E2EF"/>
            </a:solidFill>
            <a:prstDash val="solid"/>
          </a:ln>
        </p:spPr>
        <p:txBody>
          <a:bodyPr/>
          <a:lstStyle/>
          <a:p>
            <a:endParaRPr lang="en-AU"/>
          </a:p>
        </p:txBody>
      </p:sp>
      <p:sp>
        <p:nvSpPr>
          <p:cNvPr id="18" name="Text 16"/>
          <p:cNvSpPr/>
          <p:nvPr/>
        </p:nvSpPr>
        <p:spPr>
          <a:xfrm>
            <a:off x="6812280" y="4818888"/>
            <a:ext cx="1463040" cy="109728"/>
          </a:xfrm>
          <a:prstGeom prst="rect">
            <a:avLst/>
          </a:prstGeom>
          <a:noFill/>
          <a:ln/>
        </p:spPr>
        <p:txBody>
          <a:bodyPr wrap="square" lIns="0" tIns="0" rIns="0" bIns="0" rtlCol="0" anchor="ctr"/>
          <a:lstStyle/>
          <a:p>
            <a:pPr marL="0" indent="0">
              <a:buNone/>
            </a:pPr>
            <a:r>
              <a:rPr lang="en-US" sz="950">
                <a:solidFill>
                  <a:srgbClr val="172033"/>
                </a:solidFill>
              </a:rPr>
              <a:t>/sandbox</a:t>
            </a:r>
            <a:endParaRPr lang="en-US" sz="950"/>
          </a:p>
        </p:txBody>
      </p:sp>
      <p:sp>
        <p:nvSpPr>
          <p:cNvPr id="19" name="Text 17"/>
          <p:cNvSpPr/>
          <p:nvPr/>
        </p:nvSpPr>
        <p:spPr>
          <a:xfrm>
            <a:off x="731520" y="6016752"/>
            <a:ext cx="7315200" cy="201168"/>
          </a:xfrm>
          <a:prstGeom prst="rect">
            <a:avLst/>
          </a:prstGeom>
          <a:noFill/>
          <a:ln/>
        </p:spPr>
        <p:txBody>
          <a:bodyPr wrap="square" lIns="0" tIns="0" rIns="0" bIns="0" rtlCol="0" anchor="ctr"/>
          <a:lstStyle/>
          <a:p>
            <a:pPr marL="0" indent="0">
              <a:buNone/>
            </a:pPr>
            <a:r>
              <a:rPr lang="en-US" sz="950" i="1">
                <a:solidFill>
                  <a:srgbClr val="5B667A"/>
                </a:solidFill>
              </a:rPr>
              <a:t>Source: Microsoft Azure documentation and product information.</a:t>
            </a:r>
            <a:endParaRPr lang="en-US" sz="950"/>
          </a:p>
        </p:txBody>
      </p:sp>
      <p:sp>
        <p:nvSpPr>
          <p:cNvPr id="20" name="Text 18"/>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15</a:t>
            </a:r>
            <a:endParaRPr lang="en-US" sz="800"/>
          </a:p>
        </p:txBody>
      </p:sp>
      <p:pic>
        <p:nvPicPr>
          <p:cNvPr id="22" name="Picture 21" descr="A logo with orange and grey text&#10;&#10;Description automatically generated">
            <a:extLst>
              <a:ext uri="{FF2B5EF4-FFF2-40B4-BE49-F238E27FC236}">
                <a16:creationId xmlns:a16="http://schemas.microsoft.com/office/drawing/2014/main" id="{E7AF6CD8-9917-3736-FC6A-65AB8A89CD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Comparing Big Data Storage Technologies</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sz="3200"/>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The right storage architecture depends on data type, access pattern, latency, governance and cost.</a:t>
            </a:r>
            <a:endParaRPr lang="en-US" sz="1250"/>
          </a:p>
        </p:txBody>
      </p:sp>
      <p:sp>
        <p:nvSpPr>
          <p:cNvPr id="5" name="Shape 3"/>
          <p:cNvSpPr/>
          <p:nvPr/>
        </p:nvSpPr>
        <p:spPr>
          <a:xfrm>
            <a:off x="502920" y="1417320"/>
            <a:ext cx="1920240" cy="384048"/>
          </a:xfrm>
          <a:prstGeom prst="rect">
            <a:avLst/>
          </a:prstGeom>
          <a:solidFill>
            <a:srgbClr val="0B1F3A"/>
          </a:solidFill>
          <a:ln w="6350">
            <a:solidFill>
              <a:srgbClr val="FFFFFF"/>
            </a:solidFill>
            <a:prstDash val="solid"/>
          </a:ln>
        </p:spPr>
        <p:txBody>
          <a:bodyPr/>
          <a:lstStyle/>
          <a:p>
            <a:endParaRPr lang="en-AU" sz="3200"/>
          </a:p>
        </p:txBody>
      </p:sp>
      <p:sp>
        <p:nvSpPr>
          <p:cNvPr id="6" name="Text 4"/>
          <p:cNvSpPr/>
          <p:nvPr/>
        </p:nvSpPr>
        <p:spPr>
          <a:xfrm>
            <a:off x="576072" y="1527048"/>
            <a:ext cx="1773936" cy="137160"/>
          </a:xfrm>
          <a:prstGeom prst="rect">
            <a:avLst/>
          </a:prstGeom>
          <a:noFill/>
          <a:ln/>
        </p:spPr>
        <p:txBody>
          <a:bodyPr wrap="square" lIns="0" tIns="0" rIns="0" bIns="0" rtlCol="0" anchor="ctr"/>
          <a:lstStyle/>
          <a:p>
            <a:pPr marL="0" indent="0">
              <a:buNone/>
            </a:pPr>
            <a:r>
              <a:rPr lang="en-US" sz="1200" b="1">
                <a:solidFill>
                  <a:srgbClr val="FFFFFF"/>
                </a:solidFill>
              </a:rPr>
              <a:t>Technology</a:t>
            </a:r>
            <a:endParaRPr lang="en-US" sz="1200"/>
          </a:p>
        </p:txBody>
      </p:sp>
      <p:sp>
        <p:nvSpPr>
          <p:cNvPr id="7" name="Shape 5"/>
          <p:cNvSpPr/>
          <p:nvPr/>
        </p:nvSpPr>
        <p:spPr>
          <a:xfrm>
            <a:off x="2423160" y="1417320"/>
            <a:ext cx="3017520" cy="384048"/>
          </a:xfrm>
          <a:prstGeom prst="rect">
            <a:avLst/>
          </a:prstGeom>
          <a:solidFill>
            <a:srgbClr val="0B1F3A"/>
          </a:solidFill>
          <a:ln w="6350">
            <a:solidFill>
              <a:srgbClr val="FFFFFF"/>
            </a:solidFill>
            <a:prstDash val="solid"/>
          </a:ln>
        </p:spPr>
        <p:txBody>
          <a:bodyPr/>
          <a:lstStyle/>
          <a:p>
            <a:endParaRPr lang="en-AU" sz="3200"/>
          </a:p>
        </p:txBody>
      </p:sp>
      <p:sp>
        <p:nvSpPr>
          <p:cNvPr id="8" name="Text 6"/>
          <p:cNvSpPr/>
          <p:nvPr/>
        </p:nvSpPr>
        <p:spPr>
          <a:xfrm>
            <a:off x="2496312" y="1527048"/>
            <a:ext cx="2871216" cy="137160"/>
          </a:xfrm>
          <a:prstGeom prst="rect">
            <a:avLst/>
          </a:prstGeom>
          <a:noFill/>
          <a:ln/>
        </p:spPr>
        <p:txBody>
          <a:bodyPr wrap="square" lIns="0" tIns="0" rIns="0" bIns="0" rtlCol="0" anchor="ctr"/>
          <a:lstStyle/>
          <a:p>
            <a:pPr marL="0" indent="0">
              <a:buNone/>
            </a:pPr>
            <a:r>
              <a:rPr lang="en-US" sz="1200" b="1">
                <a:solidFill>
                  <a:srgbClr val="FFFFFF"/>
                </a:solidFill>
              </a:rPr>
              <a:t>Typical fit</a:t>
            </a:r>
            <a:endParaRPr lang="en-US" sz="1200"/>
          </a:p>
        </p:txBody>
      </p:sp>
      <p:sp>
        <p:nvSpPr>
          <p:cNvPr id="9" name="Shape 7"/>
          <p:cNvSpPr/>
          <p:nvPr/>
        </p:nvSpPr>
        <p:spPr>
          <a:xfrm>
            <a:off x="5440680" y="1417320"/>
            <a:ext cx="3200400" cy="384048"/>
          </a:xfrm>
          <a:prstGeom prst="rect">
            <a:avLst/>
          </a:prstGeom>
          <a:solidFill>
            <a:srgbClr val="0B1F3A"/>
          </a:solidFill>
          <a:ln w="6350">
            <a:solidFill>
              <a:srgbClr val="FFFFFF"/>
            </a:solidFill>
            <a:prstDash val="solid"/>
          </a:ln>
        </p:spPr>
        <p:txBody>
          <a:bodyPr/>
          <a:lstStyle/>
          <a:p>
            <a:endParaRPr lang="en-AU" sz="3200"/>
          </a:p>
        </p:txBody>
      </p:sp>
      <p:sp>
        <p:nvSpPr>
          <p:cNvPr id="10" name="Text 8"/>
          <p:cNvSpPr/>
          <p:nvPr/>
        </p:nvSpPr>
        <p:spPr>
          <a:xfrm>
            <a:off x="5513832" y="1527048"/>
            <a:ext cx="3054096" cy="137160"/>
          </a:xfrm>
          <a:prstGeom prst="rect">
            <a:avLst/>
          </a:prstGeom>
          <a:noFill/>
          <a:ln/>
        </p:spPr>
        <p:txBody>
          <a:bodyPr wrap="square" lIns="0" tIns="0" rIns="0" bIns="0" rtlCol="0" anchor="ctr"/>
          <a:lstStyle/>
          <a:p>
            <a:pPr marL="0" indent="0">
              <a:buNone/>
            </a:pPr>
            <a:r>
              <a:rPr lang="en-US" sz="1200" b="1">
                <a:solidFill>
                  <a:srgbClr val="FFFFFF"/>
                </a:solidFill>
              </a:rPr>
              <a:t>Strength</a:t>
            </a:r>
            <a:endParaRPr lang="en-US" sz="1200"/>
          </a:p>
        </p:txBody>
      </p:sp>
      <p:sp>
        <p:nvSpPr>
          <p:cNvPr id="11" name="Shape 9"/>
          <p:cNvSpPr/>
          <p:nvPr/>
        </p:nvSpPr>
        <p:spPr>
          <a:xfrm>
            <a:off x="8641080" y="1417320"/>
            <a:ext cx="3108960" cy="384048"/>
          </a:xfrm>
          <a:prstGeom prst="rect">
            <a:avLst/>
          </a:prstGeom>
          <a:solidFill>
            <a:srgbClr val="0B1F3A"/>
          </a:solidFill>
          <a:ln w="6350">
            <a:solidFill>
              <a:srgbClr val="FFFFFF"/>
            </a:solidFill>
            <a:prstDash val="solid"/>
          </a:ln>
        </p:spPr>
        <p:txBody>
          <a:bodyPr/>
          <a:lstStyle/>
          <a:p>
            <a:endParaRPr lang="en-AU" sz="3200"/>
          </a:p>
        </p:txBody>
      </p:sp>
      <p:sp>
        <p:nvSpPr>
          <p:cNvPr id="12" name="Text 10"/>
          <p:cNvSpPr/>
          <p:nvPr/>
        </p:nvSpPr>
        <p:spPr>
          <a:xfrm>
            <a:off x="8714232" y="1527048"/>
            <a:ext cx="2962656" cy="137160"/>
          </a:xfrm>
          <a:prstGeom prst="rect">
            <a:avLst/>
          </a:prstGeom>
          <a:noFill/>
          <a:ln/>
        </p:spPr>
        <p:txBody>
          <a:bodyPr wrap="square" lIns="0" tIns="0" rIns="0" bIns="0" rtlCol="0" anchor="ctr"/>
          <a:lstStyle/>
          <a:p>
            <a:pPr marL="0" indent="0">
              <a:buNone/>
            </a:pPr>
            <a:r>
              <a:rPr lang="en-US" sz="1200" b="1">
                <a:solidFill>
                  <a:srgbClr val="FFFFFF"/>
                </a:solidFill>
              </a:rPr>
              <a:t>Watch-outs</a:t>
            </a:r>
            <a:endParaRPr lang="en-US" sz="1200"/>
          </a:p>
        </p:txBody>
      </p:sp>
      <p:sp>
        <p:nvSpPr>
          <p:cNvPr id="13" name="Shape 11"/>
          <p:cNvSpPr/>
          <p:nvPr/>
        </p:nvSpPr>
        <p:spPr>
          <a:xfrm>
            <a:off x="502920" y="1801368"/>
            <a:ext cx="1920240" cy="749808"/>
          </a:xfrm>
          <a:prstGeom prst="rect">
            <a:avLst/>
          </a:prstGeom>
          <a:solidFill>
            <a:srgbClr val="EEF5FF"/>
          </a:solidFill>
          <a:ln w="10160">
            <a:solidFill>
              <a:srgbClr val="FFFFFF"/>
            </a:solidFill>
            <a:prstDash val="solid"/>
          </a:ln>
        </p:spPr>
        <p:txBody>
          <a:bodyPr/>
          <a:lstStyle/>
          <a:p>
            <a:endParaRPr lang="en-AU" sz="3200"/>
          </a:p>
        </p:txBody>
      </p:sp>
      <p:sp>
        <p:nvSpPr>
          <p:cNvPr id="14" name="Text 12"/>
          <p:cNvSpPr/>
          <p:nvPr/>
        </p:nvSpPr>
        <p:spPr>
          <a:xfrm>
            <a:off x="576072" y="1947672"/>
            <a:ext cx="1773936" cy="384048"/>
          </a:xfrm>
          <a:prstGeom prst="rect">
            <a:avLst/>
          </a:prstGeom>
          <a:noFill/>
          <a:ln/>
        </p:spPr>
        <p:txBody>
          <a:bodyPr wrap="square" lIns="0" tIns="0" rIns="0" bIns="0" rtlCol="0" anchor="ctr">
            <a:normAutofit/>
          </a:bodyPr>
          <a:lstStyle/>
          <a:p>
            <a:pPr marL="0" indent="0">
              <a:buNone/>
            </a:pPr>
            <a:r>
              <a:rPr lang="en-US" sz="1200" b="1">
                <a:solidFill>
                  <a:srgbClr val="172033"/>
                </a:solidFill>
              </a:rPr>
              <a:t>HDFS</a:t>
            </a:r>
            <a:endParaRPr lang="en-US" sz="1200"/>
          </a:p>
        </p:txBody>
      </p:sp>
      <p:sp>
        <p:nvSpPr>
          <p:cNvPr id="15" name="Shape 13"/>
          <p:cNvSpPr/>
          <p:nvPr/>
        </p:nvSpPr>
        <p:spPr>
          <a:xfrm>
            <a:off x="2423160" y="1801368"/>
            <a:ext cx="3017520" cy="749808"/>
          </a:xfrm>
          <a:prstGeom prst="rect">
            <a:avLst/>
          </a:prstGeom>
          <a:solidFill>
            <a:srgbClr val="EEF5FF"/>
          </a:solidFill>
          <a:ln w="10160">
            <a:solidFill>
              <a:srgbClr val="FFFFFF"/>
            </a:solidFill>
            <a:prstDash val="solid"/>
          </a:ln>
        </p:spPr>
        <p:txBody>
          <a:bodyPr/>
          <a:lstStyle/>
          <a:p>
            <a:endParaRPr lang="en-AU" sz="3200"/>
          </a:p>
        </p:txBody>
      </p:sp>
      <p:sp>
        <p:nvSpPr>
          <p:cNvPr id="16" name="Text 14"/>
          <p:cNvSpPr/>
          <p:nvPr/>
        </p:nvSpPr>
        <p:spPr>
          <a:xfrm>
            <a:off x="2496312" y="1947672"/>
            <a:ext cx="2871216" cy="384048"/>
          </a:xfrm>
          <a:prstGeom prst="rect">
            <a:avLst/>
          </a:prstGeom>
          <a:noFill/>
          <a:ln/>
        </p:spPr>
        <p:txBody>
          <a:bodyPr wrap="square" lIns="0" tIns="0" rIns="0" bIns="0" rtlCol="0" anchor="ctr">
            <a:normAutofit/>
          </a:bodyPr>
          <a:lstStyle/>
          <a:p>
            <a:pPr marL="0" indent="0">
              <a:buNone/>
            </a:pPr>
            <a:r>
              <a:rPr lang="en-US" sz="1200">
                <a:solidFill>
                  <a:srgbClr val="172033"/>
                </a:solidFill>
              </a:rPr>
              <a:t>On-prem distributed files</a:t>
            </a:r>
            <a:endParaRPr lang="en-US" sz="1200"/>
          </a:p>
        </p:txBody>
      </p:sp>
      <p:sp>
        <p:nvSpPr>
          <p:cNvPr id="17" name="Shape 15"/>
          <p:cNvSpPr/>
          <p:nvPr/>
        </p:nvSpPr>
        <p:spPr>
          <a:xfrm>
            <a:off x="5440680" y="1801368"/>
            <a:ext cx="3200400" cy="749808"/>
          </a:xfrm>
          <a:prstGeom prst="rect">
            <a:avLst/>
          </a:prstGeom>
          <a:solidFill>
            <a:srgbClr val="EEF5FF"/>
          </a:solidFill>
          <a:ln w="10160">
            <a:solidFill>
              <a:srgbClr val="FFFFFF"/>
            </a:solidFill>
            <a:prstDash val="solid"/>
          </a:ln>
        </p:spPr>
        <p:txBody>
          <a:bodyPr/>
          <a:lstStyle/>
          <a:p>
            <a:endParaRPr lang="en-AU" sz="3200"/>
          </a:p>
        </p:txBody>
      </p:sp>
      <p:sp>
        <p:nvSpPr>
          <p:cNvPr id="18" name="Text 16"/>
          <p:cNvSpPr/>
          <p:nvPr/>
        </p:nvSpPr>
        <p:spPr>
          <a:xfrm>
            <a:off x="5513832" y="1947672"/>
            <a:ext cx="3054096" cy="384048"/>
          </a:xfrm>
          <a:prstGeom prst="rect">
            <a:avLst/>
          </a:prstGeom>
          <a:noFill/>
          <a:ln/>
        </p:spPr>
        <p:txBody>
          <a:bodyPr wrap="square" lIns="0" tIns="0" rIns="0" bIns="0" rtlCol="0" anchor="ctr">
            <a:normAutofit/>
          </a:bodyPr>
          <a:lstStyle/>
          <a:p>
            <a:pPr marL="0" indent="0">
              <a:buNone/>
            </a:pPr>
            <a:r>
              <a:rPr lang="en-US" sz="1200">
                <a:solidFill>
                  <a:srgbClr val="172033"/>
                </a:solidFill>
              </a:rPr>
              <a:t>High-throughput batch processing</a:t>
            </a:r>
            <a:endParaRPr lang="en-US" sz="1200"/>
          </a:p>
        </p:txBody>
      </p:sp>
      <p:sp>
        <p:nvSpPr>
          <p:cNvPr id="19" name="Shape 17"/>
          <p:cNvSpPr/>
          <p:nvPr/>
        </p:nvSpPr>
        <p:spPr>
          <a:xfrm>
            <a:off x="8641080" y="1801368"/>
            <a:ext cx="3108960" cy="749808"/>
          </a:xfrm>
          <a:prstGeom prst="rect">
            <a:avLst/>
          </a:prstGeom>
          <a:solidFill>
            <a:srgbClr val="EEF5FF"/>
          </a:solidFill>
          <a:ln w="10160">
            <a:solidFill>
              <a:srgbClr val="FFFFFF"/>
            </a:solidFill>
            <a:prstDash val="solid"/>
          </a:ln>
        </p:spPr>
        <p:txBody>
          <a:bodyPr/>
          <a:lstStyle/>
          <a:p>
            <a:endParaRPr lang="en-AU" sz="3200"/>
          </a:p>
        </p:txBody>
      </p:sp>
      <p:sp>
        <p:nvSpPr>
          <p:cNvPr id="20" name="Text 18"/>
          <p:cNvSpPr/>
          <p:nvPr/>
        </p:nvSpPr>
        <p:spPr>
          <a:xfrm>
            <a:off x="8714232" y="1947672"/>
            <a:ext cx="2962656" cy="384048"/>
          </a:xfrm>
          <a:prstGeom prst="rect">
            <a:avLst/>
          </a:prstGeom>
          <a:noFill/>
          <a:ln/>
        </p:spPr>
        <p:txBody>
          <a:bodyPr wrap="square" lIns="0" tIns="0" rIns="0" bIns="0" rtlCol="0" anchor="ctr">
            <a:normAutofit/>
          </a:bodyPr>
          <a:lstStyle/>
          <a:p>
            <a:pPr marL="0" indent="0">
              <a:buNone/>
            </a:pPr>
            <a:r>
              <a:rPr lang="en-US" sz="1200">
                <a:solidFill>
                  <a:srgbClr val="172033"/>
                </a:solidFill>
              </a:rPr>
              <a:t>Cluster ops and scaling burden</a:t>
            </a:r>
            <a:endParaRPr lang="en-US" sz="1200"/>
          </a:p>
        </p:txBody>
      </p:sp>
      <p:sp>
        <p:nvSpPr>
          <p:cNvPr id="21" name="Shape 19"/>
          <p:cNvSpPr/>
          <p:nvPr/>
        </p:nvSpPr>
        <p:spPr>
          <a:xfrm>
            <a:off x="502920" y="2551176"/>
            <a:ext cx="1920240" cy="749808"/>
          </a:xfrm>
          <a:prstGeom prst="rect">
            <a:avLst/>
          </a:prstGeom>
          <a:solidFill>
            <a:srgbClr val="FFFFFF"/>
          </a:solidFill>
          <a:ln w="10160">
            <a:solidFill>
              <a:srgbClr val="FFFFFF"/>
            </a:solidFill>
            <a:prstDash val="solid"/>
          </a:ln>
        </p:spPr>
        <p:txBody>
          <a:bodyPr/>
          <a:lstStyle/>
          <a:p>
            <a:endParaRPr lang="en-AU" sz="3200"/>
          </a:p>
        </p:txBody>
      </p:sp>
      <p:sp>
        <p:nvSpPr>
          <p:cNvPr id="22" name="Text 20"/>
          <p:cNvSpPr/>
          <p:nvPr/>
        </p:nvSpPr>
        <p:spPr>
          <a:xfrm>
            <a:off x="576072" y="2697480"/>
            <a:ext cx="1773936" cy="384048"/>
          </a:xfrm>
          <a:prstGeom prst="rect">
            <a:avLst/>
          </a:prstGeom>
          <a:noFill/>
          <a:ln/>
        </p:spPr>
        <p:txBody>
          <a:bodyPr wrap="square" lIns="0" tIns="0" rIns="0" bIns="0" rtlCol="0" anchor="ctr">
            <a:normAutofit/>
          </a:bodyPr>
          <a:lstStyle/>
          <a:p>
            <a:pPr marL="0" indent="0">
              <a:buNone/>
            </a:pPr>
            <a:r>
              <a:rPr lang="en-US" sz="1200" b="1">
                <a:solidFill>
                  <a:srgbClr val="172033"/>
                </a:solidFill>
              </a:rPr>
              <a:t>Object storage</a:t>
            </a:r>
            <a:endParaRPr lang="en-US" sz="1200"/>
          </a:p>
        </p:txBody>
      </p:sp>
      <p:sp>
        <p:nvSpPr>
          <p:cNvPr id="23" name="Shape 21"/>
          <p:cNvSpPr/>
          <p:nvPr/>
        </p:nvSpPr>
        <p:spPr>
          <a:xfrm>
            <a:off x="2423160" y="2551176"/>
            <a:ext cx="3017520" cy="749808"/>
          </a:xfrm>
          <a:prstGeom prst="rect">
            <a:avLst/>
          </a:prstGeom>
          <a:solidFill>
            <a:srgbClr val="FFFFFF"/>
          </a:solidFill>
          <a:ln w="10160">
            <a:solidFill>
              <a:srgbClr val="FFFFFF"/>
            </a:solidFill>
            <a:prstDash val="solid"/>
          </a:ln>
        </p:spPr>
        <p:txBody>
          <a:bodyPr/>
          <a:lstStyle/>
          <a:p>
            <a:endParaRPr lang="en-AU" sz="3200"/>
          </a:p>
        </p:txBody>
      </p:sp>
      <p:sp>
        <p:nvSpPr>
          <p:cNvPr id="24" name="Text 22"/>
          <p:cNvSpPr/>
          <p:nvPr/>
        </p:nvSpPr>
        <p:spPr>
          <a:xfrm>
            <a:off x="2496312" y="2697480"/>
            <a:ext cx="2871216" cy="384048"/>
          </a:xfrm>
          <a:prstGeom prst="rect">
            <a:avLst/>
          </a:prstGeom>
          <a:noFill/>
          <a:ln/>
        </p:spPr>
        <p:txBody>
          <a:bodyPr wrap="square" lIns="0" tIns="0" rIns="0" bIns="0" rtlCol="0" anchor="ctr">
            <a:normAutofit/>
          </a:bodyPr>
          <a:lstStyle/>
          <a:p>
            <a:pPr marL="0" indent="0">
              <a:buNone/>
            </a:pPr>
            <a:r>
              <a:rPr lang="en-US" sz="1200">
                <a:solidFill>
                  <a:srgbClr val="172033"/>
                </a:solidFill>
              </a:rPr>
              <a:t>Cloud data lakes</a:t>
            </a:r>
            <a:endParaRPr lang="en-US" sz="1200"/>
          </a:p>
        </p:txBody>
      </p:sp>
      <p:sp>
        <p:nvSpPr>
          <p:cNvPr id="25" name="Shape 23"/>
          <p:cNvSpPr/>
          <p:nvPr/>
        </p:nvSpPr>
        <p:spPr>
          <a:xfrm>
            <a:off x="5440680" y="2551176"/>
            <a:ext cx="3200400" cy="749808"/>
          </a:xfrm>
          <a:prstGeom prst="rect">
            <a:avLst/>
          </a:prstGeom>
          <a:solidFill>
            <a:srgbClr val="FFFFFF"/>
          </a:solidFill>
          <a:ln w="10160">
            <a:solidFill>
              <a:srgbClr val="FFFFFF"/>
            </a:solidFill>
            <a:prstDash val="solid"/>
          </a:ln>
        </p:spPr>
        <p:txBody>
          <a:bodyPr/>
          <a:lstStyle/>
          <a:p>
            <a:endParaRPr lang="en-AU" sz="3200"/>
          </a:p>
        </p:txBody>
      </p:sp>
      <p:sp>
        <p:nvSpPr>
          <p:cNvPr id="26" name="Text 24"/>
          <p:cNvSpPr/>
          <p:nvPr/>
        </p:nvSpPr>
        <p:spPr>
          <a:xfrm>
            <a:off x="5513832" y="2697480"/>
            <a:ext cx="3054096" cy="384048"/>
          </a:xfrm>
          <a:prstGeom prst="rect">
            <a:avLst/>
          </a:prstGeom>
          <a:noFill/>
          <a:ln/>
        </p:spPr>
        <p:txBody>
          <a:bodyPr wrap="square" lIns="0" tIns="0" rIns="0" bIns="0" rtlCol="0" anchor="ctr">
            <a:normAutofit/>
          </a:bodyPr>
          <a:lstStyle/>
          <a:p>
            <a:pPr marL="0" indent="0">
              <a:buNone/>
            </a:pPr>
            <a:r>
              <a:rPr lang="en-US" sz="1200">
                <a:solidFill>
                  <a:srgbClr val="172033"/>
                </a:solidFill>
              </a:rPr>
              <a:t>Elastic, cheap, durable</a:t>
            </a:r>
            <a:endParaRPr lang="en-US" sz="1200"/>
          </a:p>
        </p:txBody>
      </p:sp>
      <p:sp>
        <p:nvSpPr>
          <p:cNvPr id="27" name="Shape 25"/>
          <p:cNvSpPr/>
          <p:nvPr/>
        </p:nvSpPr>
        <p:spPr>
          <a:xfrm>
            <a:off x="8641080" y="2551176"/>
            <a:ext cx="3108960" cy="749808"/>
          </a:xfrm>
          <a:prstGeom prst="rect">
            <a:avLst/>
          </a:prstGeom>
          <a:solidFill>
            <a:srgbClr val="FFFFFF"/>
          </a:solidFill>
          <a:ln w="10160">
            <a:solidFill>
              <a:srgbClr val="FFFFFF"/>
            </a:solidFill>
            <a:prstDash val="solid"/>
          </a:ln>
        </p:spPr>
        <p:txBody>
          <a:bodyPr/>
          <a:lstStyle/>
          <a:p>
            <a:endParaRPr lang="en-AU" sz="3200"/>
          </a:p>
        </p:txBody>
      </p:sp>
      <p:sp>
        <p:nvSpPr>
          <p:cNvPr id="28" name="Text 26"/>
          <p:cNvSpPr/>
          <p:nvPr/>
        </p:nvSpPr>
        <p:spPr>
          <a:xfrm>
            <a:off x="8714232" y="2697480"/>
            <a:ext cx="2962656" cy="384048"/>
          </a:xfrm>
          <a:prstGeom prst="rect">
            <a:avLst/>
          </a:prstGeom>
          <a:noFill/>
          <a:ln/>
        </p:spPr>
        <p:txBody>
          <a:bodyPr wrap="square" lIns="0" tIns="0" rIns="0" bIns="0" rtlCol="0" anchor="ctr">
            <a:noAutofit/>
          </a:bodyPr>
          <a:lstStyle/>
          <a:p>
            <a:pPr marL="0" indent="0">
              <a:buNone/>
            </a:pPr>
            <a:r>
              <a:rPr lang="en-US" sz="1200">
                <a:solidFill>
                  <a:srgbClr val="172033"/>
                </a:solidFill>
              </a:rPr>
              <a:t>Needs metadata/governance layer</a:t>
            </a:r>
            <a:endParaRPr lang="en-US" sz="1200"/>
          </a:p>
        </p:txBody>
      </p:sp>
      <p:sp>
        <p:nvSpPr>
          <p:cNvPr id="29" name="Shape 27"/>
          <p:cNvSpPr/>
          <p:nvPr/>
        </p:nvSpPr>
        <p:spPr>
          <a:xfrm>
            <a:off x="502920" y="3300984"/>
            <a:ext cx="1920240" cy="749808"/>
          </a:xfrm>
          <a:prstGeom prst="rect">
            <a:avLst/>
          </a:prstGeom>
          <a:solidFill>
            <a:srgbClr val="EEF5FF"/>
          </a:solidFill>
          <a:ln w="10160">
            <a:solidFill>
              <a:srgbClr val="FFFFFF"/>
            </a:solidFill>
            <a:prstDash val="solid"/>
          </a:ln>
        </p:spPr>
        <p:txBody>
          <a:bodyPr/>
          <a:lstStyle/>
          <a:p>
            <a:endParaRPr lang="en-AU" sz="3200"/>
          </a:p>
        </p:txBody>
      </p:sp>
      <p:sp>
        <p:nvSpPr>
          <p:cNvPr id="30" name="Text 28"/>
          <p:cNvSpPr/>
          <p:nvPr/>
        </p:nvSpPr>
        <p:spPr>
          <a:xfrm>
            <a:off x="576072" y="3447288"/>
            <a:ext cx="1773936" cy="384048"/>
          </a:xfrm>
          <a:prstGeom prst="rect">
            <a:avLst/>
          </a:prstGeom>
          <a:noFill/>
          <a:ln/>
        </p:spPr>
        <p:txBody>
          <a:bodyPr wrap="square" lIns="0" tIns="0" rIns="0" bIns="0" rtlCol="0" anchor="ctr">
            <a:normAutofit/>
          </a:bodyPr>
          <a:lstStyle/>
          <a:p>
            <a:pPr marL="0" indent="0">
              <a:buNone/>
            </a:pPr>
            <a:r>
              <a:rPr lang="en-US" sz="1200" b="1">
                <a:solidFill>
                  <a:srgbClr val="172033"/>
                </a:solidFill>
              </a:rPr>
              <a:t>NoSQL databases</a:t>
            </a:r>
            <a:endParaRPr lang="en-US" sz="1200"/>
          </a:p>
        </p:txBody>
      </p:sp>
      <p:sp>
        <p:nvSpPr>
          <p:cNvPr id="31" name="Shape 29"/>
          <p:cNvSpPr/>
          <p:nvPr/>
        </p:nvSpPr>
        <p:spPr>
          <a:xfrm>
            <a:off x="2423160" y="3300984"/>
            <a:ext cx="3017520" cy="749808"/>
          </a:xfrm>
          <a:prstGeom prst="rect">
            <a:avLst/>
          </a:prstGeom>
          <a:solidFill>
            <a:srgbClr val="EEF5FF"/>
          </a:solidFill>
          <a:ln w="10160">
            <a:solidFill>
              <a:srgbClr val="FFFFFF"/>
            </a:solidFill>
            <a:prstDash val="solid"/>
          </a:ln>
        </p:spPr>
        <p:txBody>
          <a:bodyPr/>
          <a:lstStyle/>
          <a:p>
            <a:endParaRPr lang="en-AU" sz="3200"/>
          </a:p>
        </p:txBody>
      </p:sp>
      <p:sp>
        <p:nvSpPr>
          <p:cNvPr id="32" name="Text 30"/>
          <p:cNvSpPr/>
          <p:nvPr/>
        </p:nvSpPr>
        <p:spPr>
          <a:xfrm>
            <a:off x="2496312" y="3447288"/>
            <a:ext cx="2871216" cy="384048"/>
          </a:xfrm>
          <a:prstGeom prst="rect">
            <a:avLst/>
          </a:prstGeom>
          <a:noFill/>
          <a:ln/>
        </p:spPr>
        <p:txBody>
          <a:bodyPr wrap="square" lIns="0" tIns="0" rIns="0" bIns="0" rtlCol="0" anchor="ctr">
            <a:normAutofit/>
          </a:bodyPr>
          <a:lstStyle/>
          <a:p>
            <a:pPr marL="0" indent="0">
              <a:buNone/>
            </a:pPr>
            <a:r>
              <a:rPr lang="en-US" sz="1200">
                <a:solidFill>
                  <a:srgbClr val="172033"/>
                </a:solidFill>
              </a:rPr>
              <a:t>Semi-structured/operational data</a:t>
            </a:r>
            <a:endParaRPr lang="en-US" sz="1200"/>
          </a:p>
        </p:txBody>
      </p:sp>
      <p:sp>
        <p:nvSpPr>
          <p:cNvPr id="33" name="Shape 31"/>
          <p:cNvSpPr/>
          <p:nvPr/>
        </p:nvSpPr>
        <p:spPr>
          <a:xfrm>
            <a:off x="5440680" y="3300984"/>
            <a:ext cx="3200400" cy="749808"/>
          </a:xfrm>
          <a:prstGeom prst="rect">
            <a:avLst/>
          </a:prstGeom>
          <a:solidFill>
            <a:srgbClr val="EEF5FF"/>
          </a:solidFill>
          <a:ln w="10160">
            <a:solidFill>
              <a:srgbClr val="FFFFFF"/>
            </a:solidFill>
            <a:prstDash val="solid"/>
          </a:ln>
        </p:spPr>
        <p:txBody>
          <a:bodyPr/>
          <a:lstStyle/>
          <a:p>
            <a:endParaRPr lang="en-AU" sz="3200"/>
          </a:p>
        </p:txBody>
      </p:sp>
      <p:sp>
        <p:nvSpPr>
          <p:cNvPr id="34" name="Text 32"/>
          <p:cNvSpPr/>
          <p:nvPr/>
        </p:nvSpPr>
        <p:spPr>
          <a:xfrm>
            <a:off x="5513832" y="3447288"/>
            <a:ext cx="3054096" cy="384048"/>
          </a:xfrm>
          <a:prstGeom prst="rect">
            <a:avLst/>
          </a:prstGeom>
          <a:noFill/>
          <a:ln/>
        </p:spPr>
        <p:txBody>
          <a:bodyPr wrap="square" lIns="0" tIns="0" rIns="0" bIns="0" rtlCol="0" anchor="ctr">
            <a:normAutofit/>
          </a:bodyPr>
          <a:lstStyle/>
          <a:p>
            <a:pPr marL="0" indent="0">
              <a:buNone/>
            </a:pPr>
            <a:r>
              <a:rPr lang="en-US" sz="1200">
                <a:solidFill>
                  <a:srgbClr val="172033"/>
                </a:solidFill>
              </a:rPr>
              <a:t>Flexible schema and scale-out</a:t>
            </a:r>
            <a:endParaRPr lang="en-US" sz="1200"/>
          </a:p>
        </p:txBody>
      </p:sp>
      <p:sp>
        <p:nvSpPr>
          <p:cNvPr id="35" name="Shape 33"/>
          <p:cNvSpPr/>
          <p:nvPr/>
        </p:nvSpPr>
        <p:spPr>
          <a:xfrm>
            <a:off x="8641080" y="3300984"/>
            <a:ext cx="3108960" cy="749808"/>
          </a:xfrm>
          <a:prstGeom prst="rect">
            <a:avLst/>
          </a:prstGeom>
          <a:solidFill>
            <a:srgbClr val="EEF5FF"/>
          </a:solidFill>
          <a:ln w="10160">
            <a:solidFill>
              <a:srgbClr val="FFFFFF"/>
            </a:solidFill>
            <a:prstDash val="solid"/>
          </a:ln>
        </p:spPr>
        <p:txBody>
          <a:bodyPr/>
          <a:lstStyle/>
          <a:p>
            <a:endParaRPr lang="en-AU" sz="3200"/>
          </a:p>
        </p:txBody>
      </p:sp>
      <p:sp>
        <p:nvSpPr>
          <p:cNvPr id="36" name="Text 34"/>
          <p:cNvSpPr/>
          <p:nvPr/>
        </p:nvSpPr>
        <p:spPr>
          <a:xfrm>
            <a:off x="8714232" y="3447288"/>
            <a:ext cx="2962656" cy="384048"/>
          </a:xfrm>
          <a:prstGeom prst="rect">
            <a:avLst/>
          </a:prstGeom>
          <a:noFill/>
          <a:ln/>
        </p:spPr>
        <p:txBody>
          <a:bodyPr wrap="square" lIns="0" tIns="0" rIns="0" bIns="0" rtlCol="0" anchor="ctr">
            <a:noAutofit/>
          </a:bodyPr>
          <a:lstStyle/>
          <a:p>
            <a:pPr marL="0" indent="0">
              <a:buNone/>
            </a:pPr>
            <a:r>
              <a:rPr lang="en-US" sz="1200">
                <a:solidFill>
                  <a:srgbClr val="172033"/>
                </a:solidFill>
              </a:rPr>
              <a:t>Query consistency varies by design</a:t>
            </a:r>
            <a:endParaRPr lang="en-US" sz="1200"/>
          </a:p>
        </p:txBody>
      </p:sp>
      <p:sp>
        <p:nvSpPr>
          <p:cNvPr id="37" name="Shape 35"/>
          <p:cNvSpPr/>
          <p:nvPr/>
        </p:nvSpPr>
        <p:spPr>
          <a:xfrm>
            <a:off x="502920" y="4050792"/>
            <a:ext cx="1920240" cy="749808"/>
          </a:xfrm>
          <a:prstGeom prst="rect">
            <a:avLst/>
          </a:prstGeom>
          <a:solidFill>
            <a:srgbClr val="FFFFFF"/>
          </a:solidFill>
          <a:ln w="10160">
            <a:solidFill>
              <a:srgbClr val="FFFFFF"/>
            </a:solidFill>
            <a:prstDash val="solid"/>
          </a:ln>
        </p:spPr>
        <p:txBody>
          <a:bodyPr/>
          <a:lstStyle/>
          <a:p>
            <a:endParaRPr lang="en-AU" sz="3200"/>
          </a:p>
        </p:txBody>
      </p:sp>
      <p:sp>
        <p:nvSpPr>
          <p:cNvPr id="38" name="Text 36"/>
          <p:cNvSpPr/>
          <p:nvPr/>
        </p:nvSpPr>
        <p:spPr>
          <a:xfrm>
            <a:off x="576072" y="4197096"/>
            <a:ext cx="1773936" cy="384048"/>
          </a:xfrm>
          <a:prstGeom prst="rect">
            <a:avLst/>
          </a:prstGeom>
          <a:noFill/>
          <a:ln/>
        </p:spPr>
        <p:txBody>
          <a:bodyPr wrap="square" lIns="0" tIns="0" rIns="0" bIns="0" rtlCol="0" anchor="ctr">
            <a:normAutofit/>
          </a:bodyPr>
          <a:lstStyle/>
          <a:p>
            <a:pPr marL="0" indent="0">
              <a:buNone/>
            </a:pPr>
            <a:r>
              <a:rPr lang="en-US" sz="1200" b="1">
                <a:solidFill>
                  <a:srgbClr val="172033"/>
                </a:solidFill>
              </a:rPr>
              <a:t>Data warehouses</a:t>
            </a:r>
            <a:endParaRPr lang="en-US" sz="1200"/>
          </a:p>
        </p:txBody>
      </p:sp>
      <p:sp>
        <p:nvSpPr>
          <p:cNvPr id="39" name="Shape 37"/>
          <p:cNvSpPr/>
          <p:nvPr/>
        </p:nvSpPr>
        <p:spPr>
          <a:xfrm>
            <a:off x="2423160" y="4050792"/>
            <a:ext cx="3017520" cy="749808"/>
          </a:xfrm>
          <a:prstGeom prst="rect">
            <a:avLst/>
          </a:prstGeom>
          <a:solidFill>
            <a:srgbClr val="FFFFFF"/>
          </a:solidFill>
          <a:ln w="10160">
            <a:solidFill>
              <a:srgbClr val="FFFFFF"/>
            </a:solidFill>
            <a:prstDash val="solid"/>
          </a:ln>
        </p:spPr>
        <p:txBody>
          <a:bodyPr/>
          <a:lstStyle/>
          <a:p>
            <a:endParaRPr lang="en-AU" sz="3200"/>
          </a:p>
        </p:txBody>
      </p:sp>
      <p:sp>
        <p:nvSpPr>
          <p:cNvPr id="40" name="Text 38"/>
          <p:cNvSpPr/>
          <p:nvPr/>
        </p:nvSpPr>
        <p:spPr>
          <a:xfrm>
            <a:off x="2496312" y="4197096"/>
            <a:ext cx="2871216" cy="384048"/>
          </a:xfrm>
          <a:prstGeom prst="rect">
            <a:avLst/>
          </a:prstGeom>
          <a:noFill/>
          <a:ln/>
        </p:spPr>
        <p:txBody>
          <a:bodyPr wrap="square" lIns="0" tIns="0" rIns="0" bIns="0" rtlCol="0" anchor="ctr">
            <a:normAutofit/>
          </a:bodyPr>
          <a:lstStyle/>
          <a:p>
            <a:pPr marL="0" indent="0">
              <a:buNone/>
            </a:pPr>
            <a:r>
              <a:rPr lang="en-US" sz="1200">
                <a:solidFill>
                  <a:srgbClr val="172033"/>
                </a:solidFill>
              </a:rPr>
              <a:t>Structured BI reporting</a:t>
            </a:r>
            <a:endParaRPr lang="en-US" sz="1200"/>
          </a:p>
        </p:txBody>
      </p:sp>
      <p:sp>
        <p:nvSpPr>
          <p:cNvPr id="41" name="Shape 39"/>
          <p:cNvSpPr/>
          <p:nvPr/>
        </p:nvSpPr>
        <p:spPr>
          <a:xfrm>
            <a:off x="5440680" y="4050792"/>
            <a:ext cx="3200400" cy="749808"/>
          </a:xfrm>
          <a:prstGeom prst="rect">
            <a:avLst/>
          </a:prstGeom>
          <a:solidFill>
            <a:srgbClr val="FFFFFF"/>
          </a:solidFill>
          <a:ln w="10160">
            <a:solidFill>
              <a:srgbClr val="FFFFFF"/>
            </a:solidFill>
            <a:prstDash val="solid"/>
          </a:ln>
        </p:spPr>
        <p:txBody>
          <a:bodyPr/>
          <a:lstStyle/>
          <a:p>
            <a:endParaRPr lang="en-AU" sz="3200"/>
          </a:p>
        </p:txBody>
      </p:sp>
      <p:sp>
        <p:nvSpPr>
          <p:cNvPr id="42" name="Text 40"/>
          <p:cNvSpPr/>
          <p:nvPr/>
        </p:nvSpPr>
        <p:spPr>
          <a:xfrm>
            <a:off x="5513832" y="4197096"/>
            <a:ext cx="3054096" cy="384048"/>
          </a:xfrm>
          <a:prstGeom prst="rect">
            <a:avLst/>
          </a:prstGeom>
          <a:noFill/>
          <a:ln/>
        </p:spPr>
        <p:txBody>
          <a:bodyPr wrap="square" lIns="0" tIns="0" rIns="0" bIns="0" rtlCol="0" anchor="ctr">
            <a:normAutofit/>
          </a:bodyPr>
          <a:lstStyle/>
          <a:p>
            <a:pPr marL="0" indent="0">
              <a:buNone/>
            </a:pPr>
            <a:r>
              <a:rPr lang="en-US" sz="1200">
                <a:solidFill>
                  <a:srgbClr val="172033"/>
                </a:solidFill>
              </a:rPr>
              <a:t>Fast SQL analytics</a:t>
            </a:r>
            <a:endParaRPr lang="en-US" sz="1200"/>
          </a:p>
        </p:txBody>
      </p:sp>
      <p:sp>
        <p:nvSpPr>
          <p:cNvPr id="43" name="Shape 41"/>
          <p:cNvSpPr/>
          <p:nvPr/>
        </p:nvSpPr>
        <p:spPr>
          <a:xfrm>
            <a:off x="8641080" y="4050792"/>
            <a:ext cx="3108960" cy="749808"/>
          </a:xfrm>
          <a:prstGeom prst="rect">
            <a:avLst/>
          </a:prstGeom>
          <a:solidFill>
            <a:srgbClr val="FFFFFF"/>
          </a:solidFill>
          <a:ln w="10160">
            <a:solidFill>
              <a:srgbClr val="FFFFFF"/>
            </a:solidFill>
            <a:prstDash val="solid"/>
          </a:ln>
        </p:spPr>
        <p:txBody>
          <a:bodyPr/>
          <a:lstStyle/>
          <a:p>
            <a:endParaRPr lang="en-AU" sz="3200"/>
          </a:p>
        </p:txBody>
      </p:sp>
      <p:sp>
        <p:nvSpPr>
          <p:cNvPr id="44" name="Text 42"/>
          <p:cNvSpPr/>
          <p:nvPr/>
        </p:nvSpPr>
        <p:spPr>
          <a:xfrm>
            <a:off x="8714232" y="4197096"/>
            <a:ext cx="2962656" cy="384048"/>
          </a:xfrm>
          <a:prstGeom prst="rect">
            <a:avLst/>
          </a:prstGeom>
          <a:noFill/>
          <a:ln/>
        </p:spPr>
        <p:txBody>
          <a:bodyPr wrap="square" lIns="0" tIns="0" rIns="0" bIns="0" rtlCol="0" anchor="ctr">
            <a:noAutofit/>
          </a:bodyPr>
          <a:lstStyle/>
          <a:p>
            <a:pPr marL="0" indent="0">
              <a:buNone/>
            </a:pPr>
            <a:r>
              <a:rPr lang="en-US" sz="1200">
                <a:solidFill>
                  <a:srgbClr val="172033"/>
                </a:solidFill>
              </a:rPr>
              <a:t>Less flexible for raw/unstructured data</a:t>
            </a:r>
            <a:endParaRPr lang="en-US" sz="1200"/>
          </a:p>
        </p:txBody>
      </p:sp>
      <p:sp>
        <p:nvSpPr>
          <p:cNvPr id="45" name="Shape 43"/>
          <p:cNvSpPr/>
          <p:nvPr/>
        </p:nvSpPr>
        <p:spPr>
          <a:xfrm>
            <a:off x="502920" y="4800600"/>
            <a:ext cx="1920240" cy="749808"/>
          </a:xfrm>
          <a:prstGeom prst="rect">
            <a:avLst/>
          </a:prstGeom>
          <a:solidFill>
            <a:srgbClr val="EEF5FF"/>
          </a:solidFill>
          <a:ln w="10160">
            <a:solidFill>
              <a:srgbClr val="FFFFFF"/>
            </a:solidFill>
            <a:prstDash val="solid"/>
          </a:ln>
        </p:spPr>
        <p:txBody>
          <a:bodyPr/>
          <a:lstStyle/>
          <a:p>
            <a:endParaRPr lang="en-AU" sz="3200"/>
          </a:p>
        </p:txBody>
      </p:sp>
      <p:sp>
        <p:nvSpPr>
          <p:cNvPr id="46" name="Text 44"/>
          <p:cNvSpPr/>
          <p:nvPr/>
        </p:nvSpPr>
        <p:spPr>
          <a:xfrm>
            <a:off x="576072" y="4946904"/>
            <a:ext cx="1773936" cy="384048"/>
          </a:xfrm>
          <a:prstGeom prst="rect">
            <a:avLst/>
          </a:prstGeom>
          <a:noFill/>
          <a:ln/>
        </p:spPr>
        <p:txBody>
          <a:bodyPr wrap="square" lIns="0" tIns="0" rIns="0" bIns="0" rtlCol="0" anchor="ctr">
            <a:noAutofit/>
          </a:bodyPr>
          <a:lstStyle/>
          <a:p>
            <a:pPr marL="0" indent="0">
              <a:buNone/>
            </a:pPr>
            <a:r>
              <a:rPr lang="en-US" sz="1200" b="1">
                <a:solidFill>
                  <a:srgbClr val="172033"/>
                </a:solidFill>
              </a:rPr>
              <a:t>Lakehouse/table formats</a:t>
            </a:r>
            <a:endParaRPr lang="en-US" sz="1200"/>
          </a:p>
        </p:txBody>
      </p:sp>
      <p:sp>
        <p:nvSpPr>
          <p:cNvPr id="47" name="Shape 45"/>
          <p:cNvSpPr/>
          <p:nvPr/>
        </p:nvSpPr>
        <p:spPr>
          <a:xfrm>
            <a:off x="2423160" y="4800600"/>
            <a:ext cx="3017520" cy="749808"/>
          </a:xfrm>
          <a:prstGeom prst="rect">
            <a:avLst/>
          </a:prstGeom>
          <a:solidFill>
            <a:srgbClr val="EEF5FF"/>
          </a:solidFill>
          <a:ln w="10160">
            <a:solidFill>
              <a:srgbClr val="FFFFFF"/>
            </a:solidFill>
            <a:prstDash val="solid"/>
          </a:ln>
        </p:spPr>
        <p:txBody>
          <a:bodyPr/>
          <a:lstStyle/>
          <a:p>
            <a:endParaRPr lang="en-AU" sz="3200"/>
          </a:p>
        </p:txBody>
      </p:sp>
      <p:sp>
        <p:nvSpPr>
          <p:cNvPr id="48" name="Text 46"/>
          <p:cNvSpPr/>
          <p:nvPr/>
        </p:nvSpPr>
        <p:spPr>
          <a:xfrm>
            <a:off x="2496312" y="4946904"/>
            <a:ext cx="2871216" cy="384048"/>
          </a:xfrm>
          <a:prstGeom prst="rect">
            <a:avLst/>
          </a:prstGeom>
          <a:noFill/>
          <a:ln/>
        </p:spPr>
        <p:txBody>
          <a:bodyPr wrap="square" lIns="0" tIns="0" rIns="0" bIns="0" rtlCol="0" anchor="ctr">
            <a:normAutofit/>
          </a:bodyPr>
          <a:lstStyle/>
          <a:p>
            <a:pPr marL="0" indent="0">
              <a:buNone/>
            </a:pPr>
            <a:r>
              <a:rPr lang="en-US" sz="1200">
                <a:solidFill>
                  <a:srgbClr val="172033"/>
                </a:solidFill>
              </a:rPr>
              <a:t>Unified analytics + ML</a:t>
            </a:r>
            <a:endParaRPr lang="en-US" sz="1200"/>
          </a:p>
        </p:txBody>
      </p:sp>
      <p:sp>
        <p:nvSpPr>
          <p:cNvPr id="49" name="Shape 47"/>
          <p:cNvSpPr/>
          <p:nvPr/>
        </p:nvSpPr>
        <p:spPr>
          <a:xfrm>
            <a:off x="5440680" y="4800600"/>
            <a:ext cx="3200400" cy="749808"/>
          </a:xfrm>
          <a:prstGeom prst="rect">
            <a:avLst/>
          </a:prstGeom>
          <a:solidFill>
            <a:srgbClr val="EEF5FF"/>
          </a:solidFill>
          <a:ln w="10160">
            <a:solidFill>
              <a:srgbClr val="FFFFFF"/>
            </a:solidFill>
            <a:prstDash val="solid"/>
          </a:ln>
        </p:spPr>
        <p:txBody>
          <a:bodyPr/>
          <a:lstStyle/>
          <a:p>
            <a:endParaRPr lang="en-AU" sz="3200"/>
          </a:p>
        </p:txBody>
      </p:sp>
      <p:sp>
        <p:nvSpPr>
          <p:cNvPr id="50" name="Text 48"/>
          <p:cNvSpPr/>
          <p:nvPr/>
        </p:nvSpPr>
        <p:spPr>
          <a:xfrm>
            <a:off x="5513832" y="4946904"/>
            <a:ext cx="3054096" cy="384048"/>
          </a:xfrm>
          <a:prstGeom prst="rect">
            <a:avLst/>
          </a:prstGeom>
          <a:noFill/>
          <a:ln/>
        </p:spPr>
        <p:txBody>
          <a:bodyPr wrap="square" lIns="0" tIns="0" rIns="0" bIns="0" rtlCol="0" anchor="ctr">
            <a:normAutofit/>
          </a:bodyPr>
          <a:lstStyle/>
          <a:p>
            <a:pPr marL="0" indent="0">
              <a:buNone/>
            </a:pPr>
            <a:r>
              <a:rPr lang="en-US" sz="1200">
                <a:solidFill>
                  <a:srgbClr val="172033"/>
                </a:solidFill>
              </a:rPr>
              <a:t>ACID tables on lake storage</a:t>
            </a:r>
            <a:endParaRPr lang="en-US" sz="1200"/>
          </a:p>
        </p:txBody>
      </p:sp>
      <p:sp>
        <p:nvSpPr>
          <p:cNvPr id="51" name="Shape 49"/>
          <p:cNvSpPr/>
          <p:nvPr/>
        </p:nvSpPr>
        <p:spPr>
          <a:xfrm>
            <a:off x="8641080" y="4800600"/>
            <a:ext cx="3108960" cy="749808"/>
          </a:xfrm>
          <a:prstGeom prst="rect">
            <a:avLst/>
          </a:prstGeom>
          <a:solidFill>
            <a:srgbClr val="EEF5FF"/>
          </a:solidFill>
          <a:ln w="10160">
            <a:solidFill>
              <a:srgbClr val="FFFFFF"/>
            </a:solidFill>
            <a:prstDash val="solid"/>
          </a:ln>
        </p:spPr>
        <p:txBody>
          <a:bodyPr/>
          <a:lstStyle/>
          <a:p>
            <a:endParaRPr lang="en-AU" sz="3200"/>
          </a:p>
        </p:txBody>
      </p:sp>
      <p:sp>
        <p:nvSpPr>
          <p:cNvPr id="52" name="Text 50"/>
          <p:cNvSpPr/>
          <p:nvPr/>
        </p:nvSpPr>
        <p:spPr>
          <a:xfrm>
            <a:off x="8714232" y="4946904"/>
            <a:ext cx="2962656" cy="384048"/>
          </a:xfrm>
          <a:prstGeom prst="rect">
            <a:avLst/>
          </a:prstGeom>
          <a:noFill/>
          <a:ln/>
        </p:spPr>
        <p:txBody>
          <a:bodyPr wrap="square" lIns="0" tIns="0" rIns="0" bIns="0" rtlCol="0" anchor="ctr">
            <a:normAutofit/>
          </a:bodyPr>
          <a:lstStyle/>
          <a:p>
            <a:pPr marL="0" indent="0">
              <a:buNone/>
            </a:pPr>
            <a:r>
              <a:rPr lang="en-US" sz="1200">
                <a:solidFill>
                  <a:srgbClr val="172033"/>
                </a:solidFill>
              </a:rPr>
              <a:t>Requires careful platform design</a:t>
            </a:r>
            <a:endParaRPr lang="en-US" sz="1200"/>
          </a:p>
        </p:txBody>
      </p:sp>
      <p:sp>
        <p:nvSpPr>
          <p:cNvPr id="53" name="Text 51"/>
          <p:cNvSpPr/>
          <p:nvPr/>
        </p:nvSpPr>
        <p:spPr>
          <a:xfrm>
            <a:off x="594360" y="5989320"/>
            <a:ext cx="10698480" cy="228600"/>
          </a:xfrm>
          <a:prstGeom prst="rect">
            <a:avLst/>
          </a:prstGeom>
          <a:noFill/>
          <a:ln/>
        </p:spPr>
        <p:txBody>
          <a:bodyPr wrap="square" lIns="0" tIns="0" rIns="0" bIns="0" rtlCol="0" anchor="ctr"/>
          <a:lstStyle/>
          <a:p>
            <a:pPr marL="0" indent="0" algn="ctr">
              <a:buNone/>
            </a:pPr>
            <a:r>
              <a:rPr lang="en-US" sz="1100" i="1">
                <a:solidFill>
                  <a:srgbClr val="5B667A"/>
                </a:solidFill>
              </a:rPr>
              <a:t>Teaching note: technology choice is rarely “best overall”; it is best for a workload and governance context.</a:t>
            </a:r>
            <a:endParaRPr lang="en-US" sz="1100"/>
          </a:p>
        </p:txBody>
      </p:sp>
      <p:sp>
        <p:nvSpPr>
          <p:cNvPr id="54" name="Text 52"/>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16</a:t>
            </a:r>
            <a:endParaRPr lang="en-US" sz="800"/>
          </a:p>
        </p:txBody>
      </p:sp>
      <p:pic>
        <p:nvPicPr>
          <p:cNvPr id="56" name="Picture 55" descr="A logo with orange and grey text&#10;&#10;Description automatically generated">
            <a:extLst>
              <a:ext uri="{FF2B5EF4-FFF2-40B4-BE49-F238E27FC236}">
                <a16:creationId xmlns:a16="http://schemas.microsoft.com/office/drawing/2014/main" id="{0296C3AC-5D94-E9E1-B8DC-55DC386566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400" b="1">
                <a:solidFill>
                  <a:srgbClr val="172033"/>
                </a:solidFill>
                <a:latin typeface="Aptos Display" pitchFamily="34" charset="0"/>
                <a:ea typeface="Aptos Display" pitchFamily="34" charset="-122"/>
                <a:cs typeface="Aptos Display" pitchFamily="34" charset="-120"/>
              </a:rPr>
              <a:t>Reference Architecture: From Raw Data to Analytics-Ready Assets</a:t>
            </a:r>
            <a:endParaRPr lang="en-US" sz="24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A high-level mental model for Assessment 1 and later modules.</a:t>
            </a:r>
            <a:endParaRPr lang="en-US" sz="1250"/>
          </a:p>
        </p:txBody>
      </p:sp>
      <p:sp>
        <p:nvSpPr>
          <p:cNvPr id="5" name="Shape 3"/>
          <p:cNvSpPr/>
          <p:nvPr/>
        </p:nvSpPr>
        <p:spPr>
          <a:xfrm>
            <a:off x="320040" y="2057400"/>
            <a:ext cx="1508760" cy="1234440"/>
          </a:xfrm>
          <a:prstGeom prst="roundRect">
            <a:avLst>
              <a:gd name="adj" fmla="val 5926"/>
            </a:avLst>
          </a:prstGeom>
          <a:solidFill>
            <a:srgbClr val="1665D8">
              <a:alpha val="92000"/>
            </a:srgbClr>
          </a:solidFill>
          <a:ln w="12700">
            <a:solidFill>
              <a:srgbClr val="1665D8"/>
            </a:solidFill>
            <a:prstDash val="solid"/>
          </a:ln>
        </p:spPr>
        <p:txBody>
          <a:bodyPr/>
          <a:lstStyle/>
          <a:p>
            <a:endParaRPr lang="en-AU"/>
          </a:p>
        </p:txBody>
      </p:sp>
      <p:sp>
        <p:nvSpPr>
          <p:cNvPr id="6" name="Text 4"/>
          <p:cNvSpPr/>
          <p:nvPr/>
        </p:nvSpPr>
        <p:spPr>
          <a:xfrm>
            <a:off x="393192" y="2249424"/>
            <a:ext cx="1362456" cy="182880"/>
          </a:xfrm>
          <a:prstGeom prst="rect">
            <a:avLst/>
          </a:prstGeom>
          <a:noFill/>
          <a:ln/>
        </p:spPr>
        <p:txBody>
          <a:bodyPr wrap="square" lIns="0" tIns="0" rIns="0" bIns="0" rtlCol="0" anchor="ctr"/>
          <a:lstStyle/>
          <a:p>
            <a:pPr marL="0" indent="0" algn="ctr">
              <a:buNone/>
            </a:pPr>
            <a:r>
              <a:rPr lang="en-US" sz="1120" b="1">
                <a:solidFill>
                  <a:srgbClr val="FFFFFF"/>
                </a:solidFill>
              </a:rPr>
              <a:t>Sources</a:t>
            </a:r>
            <a:endParaRPr lang="en-US" sz="1120"/>
          </a:p>
        </p:txBody>
      </p:sp>
      <p:sp>
        <p:nvSpPr>
          <p:cNvPr id="7" name="Text 5"/>
          <p:cNvSpPr/>
          <p:nvPr/>
        </p:nvSpPr>
        <p:spPr>
          <a:xfrm>
            <a:off x="393192" y="2578608"/>
            <a:ext cx="1362456" cy="457200"/>
          </a:xfrm>
          <a:prstGeom prst="rect">
            <a:avLst/>
          </a:prstGeom>
          <a:noFill/>
          <a:ln/>
        </p:spPr>
        <p:txBody>
          <a:bodyPr wrap="square" lIns="0" tIns="0" rIns="0" bIns="0" rtlCol="0" anchor="ctr">
            <a:normAutofit/>
          </a:bodyPr>
          <a:lstStyle/>
          <a:p>
            <a:pPr marL="0" indent="0" algn="ctr">
              <a:buNone/>
            </a:pPr>
            <a:r>
              <a:rPr lang="en-US" sz="880">
                <a:solidFill>
                  <a:srgbClr val="FFFFFF"/>
                </a:solidFill>
              </a:rPr>
              <a:t>Internal DBs</a:t>
            </a:r>
            <a:endParaRPr lang="en-US" sz="880"/>
          </a:p>
          <a:p>
            <a:pPr marL="0" indent="0" algn="ctr">
              <a:buNone/>
            </a:pPr>
            <a:r>
              <a:rPr lang="en-US" sz="880">
                <a:solidFill>
                  <a:srgbClr val="FFFFFF"/>
                </a:solidFill>
              </a:rPr>
              <a:t>External APIs</a:t>
            </a:r>
            <a:endParaRPr lang="en-US" sz="880"/>
          </a:p>
          <a:p>
            <a:pPr marL="0" indent="0" algn="ctr">
              <a:buNone/>
            </a:pPr>
            <a:r>
              <a:rPr lang="en-US" sz="880">
                <a:solidFill>
                  <a:srgbClr val="FFFFFF"/>
                </a:solidFill>
              </a:rPr>
              <a:t>Logs / IoT</a:t>
            </a:r>
            <a:endParaRPr lang="en-US" sz="880"/>
          </a:p>
        </p:txBody>
      </p:sp>
      <p:sp>
        <p:nvSpPr>
          <p:cNvPr id="8" name="Shape 6"/>
          <p:cNvSpPr/>
          <p:nvPr/>
        </p:nvSpPr>
        <p:spPr>
          <a:xfrm>
            <a:off x="1892808" y="2551176"/>
            <a:ext cx="310896" cy="237744"/>
          </a:xfrm>
          <a:prstGeom prst="rightArrow">
            <a:avLst/>
          </a:prstGeom>
          <a:solidFill>
            <a:srgbClr val="5B667A">
              <a:alpha val="92000"/>
            </a:srgbClr>
          </a:solidFill>
          <a:ln w="12700">
            <a:solidFill>
              <a:srgbClr val="5B667A">
                <a:alpha val="0"/>
              </a:srgbClr>
            </a:solidFill>
            <a:prstDash val="solid"/>
          </a:ln>
        </p:spPr>
        <p:txBody>
          <a:bodyPr/>
          <a:lstStyle/>
          <a:p>
            <a:endParaRPr lang="en-AU"/>
          </a:p>
        </p:txBody>
      </p:sp>
      <p:sp>
        <p:nvSpPr>
          <p:cNvPr id="9" name="Shape 7"/>
          <p:cNvSpPr/>
          <p:nvPr/>
        </p:nvSpPr>
        <p:spPr>
          <a:xfrm>
            <a:off x="2267712" y="2057400"/>
            <a:ext cx="1508760" cy="1234440"/>
          </a:xfrm>
          <a:prstGeom prst="roundRect">
            <a:avLst>
              <a:gd name="adj" fmla="val 5926"/>
            </a:avLst>
          </a:prstGeom>
          <a:solidFill>
            <a:srgbClr val="00A7A5">
              <a:alpha val="92000"/>
            </a:srgbClr>
          </a:solidFill>
          <a:ln w="12700">
            <a:solidFill>
              <a:srgbClr val="00A7A5"/>
            </a:solidFill>
            <a:prstDash val="solid"/>
          </a:ln>
        </p:spPr>
        <p:txBody>
          <a:bodyPr/>
          <a:lstStyle/>
          <a:p>
            <a:endParaRPr lang="en-AU"/>
          </a:p>
        </p:txBody>
      </p:sp>
      <p:sp>
        <p:nvSpPr>
          <p:cNvPr id="10" name="Text 8"/>
          <p:cNvSpPr/>
          <p:nvPr/>
        </p:nvSpPr>
        <p:spPr>
          <a:xfrm>
            <a:off x="2340864" y="2249424"/>
            <a:ext cx="1362456" cy="182880"/>
          </a:xfrm>
          <a:prstGeom prst="rect">
            <a:avLst/>
          </a:prstGeom>
          <a:noFill/>
          <a:ln/>
        </p:spPr>
        <p:txBody>
          <a:bodyPr wrap="square" lIns="0" tIns="0" rIns="0" bIns="0" rtlCol="0" anchor="ctr"/>
          <a:lstStyle/>
          <a:p>
            <a:pPr marL="0" indent="0" algn="ctr">
              <a:buNone/>
            </a:pPr>
            <a:r>
              <a:rPr lang="en-US" sz="1120" b="1">
                <a:solidFill>
                  <a:srgbClr val="FFFFFF"/>
                </a:solidFill>
              </a:rPr>
              <a:t>Ingestion</a:t>
            </a:r>
            <a:endParaRPr lang="en-US" sz="1120"/>
          </a:p>
        </p:txBody>
      </p:sp>
      <p:sp>
        <p:nvSpPr>
          <p:cNvPr id="11" name="Text 9"/>
          <p:cNvSpPr/>
          <p:nvPr/>
        </p:nvSpPr>
        <p:spPr>
          <a:xfrm>
            <a:off x="2340864" y="2578608"/>
            <a:ext cx="1362456" cy="457200"/>
          </a:xfrm>
          <a:prstGeom prst="rect">
            <a:avLst/>
          </a:prstGeom>
          <a:noFill/>
          <a:ln/>
        </p:spPr>
        <p:txBody>
          <a:bodyPr wrap="square" lIns="0" tIns="0" rIns="0" bIns="0" rtlCol="0" anchor="ctr">
            <a:normAutofit/>
          </a:bodyPr>
          <a:lstStyle/>
          <a:p>
            <a:pPr marL="0" indent="0" algn="ctr">
              <a:buNone/>
            </a:pPr>
            <a:r>
              <a:rPr lang="en-US" sz="880">
                <a:solidFill>
                  <a:srgbClr val="FFFFFF"/>
                </a:solidFill>
              </a:rPr>
              <a:t>Batch</a:t>
            </a:r>
            <a:endParaRPr lang="en-US" sz="880"/>
          </a:p>
          <a:p>
            <a:pPr marL="0" indent="0" algn="ctr">
              <a:buNone/>
            </a:pPr>
            <a:r>
              <a:rPr lang="en-US" sz="880">
                <a:solidFill>
                  <a:srgbClr val="FFFFFF"/>
                </a:solidFill>
              </a:rPr>
              <a:t>Streaming</a:t>
            </a:r>
            <a:endParaRPr lang="en-US" sz="880"/>
          </a:p>
          <a:p>
            <a:pPr marL="0" indent="0" algn="ctr">
              <a:buNone/>
            </a:pPr>
            <a:r>
              <a:rPr lang="en-US" sz="880">
                <a:solidFill>
                  <a:srgbClr val="FFFFFF"/>
                </a:solidFill>
              </a:rPr>
              <a:t>APIs</a:t>
            </a:r>
            <a:endParaRPr lang="en-US" sz="880"/>
          </a:p>
        </p:txBody>
      </p:sp>
      <p:sp>
        <p:nvSpPr>
          <p:cNvPr id="12" name="Shape 10"/>
          <p:cNvSpPr/>
          <p:nvPr/>
        </p:nvSpPr>
        <p:spPr>
          <a:xfrm>
            <a:off x="3840480" y="2551176"/>
            <a:ext cx="310896" cy="237744"/>
          </a:xfrm>
          <a:prstGeom prst="rightArrow">
            <a:avLst/>
          </a:prstGeom>
          <a:solidFill>
            <a:srgbClr val="5B667A">
              <a:alpha val="92000"/>
            </a:srgbClr>
          </a:solidFill>
          <a:ln w="12700">
            <a:solidFill>
              <a:srgbClr val="5B667A">
                <a:alpha val="0"/>
              </a:srgbClr>
            </a:solidFill>
            <a:prstDash val="solid"/>
          </a:ln>
        </p:spPr>
        <p:txBody>
          <a:bodyPr/>
          <a:lstStyle/>
          <a:p>
            <a:endParaRPr lang="en-AU"/>
          </a:p>
        </p:txBody>
      </p:sp>
      <p:sp>
        <p:nvSpPr>
          <p:cNvPr id="13" name="Shape 11"/>
          <p:cNvSpPr/>
          <p:nvPr/>
        </p:nvSpPr>
        <p:spPr>
          <a:xfrm>
            <a:off x="4215384" y="2057400"/>
            <a:ext cx="1508760" cy="1234440"/>
          </a:xfrm>
          <a:prstGeom prst="roundRect">
            <a:avLst>
              <a:gd name="adj" fmla="val 5926"/>
            </a:avLst>
          </a:prstGeom>
          <a:solidFill>
            <a:srgbClr val="F59E0B">
              <a:alpha val="92000"/>
            </a:srgbClr>
          </a:solidFill>
          <a:ln w="12700">
            <a:solidFill>
              <a:srgbClr val="F59E0B"/>
            </a:solidFill>
            <a:prstDash val="solid"/>
          </a:ln>
        </p:spPr>
        <p:txBody>
          <a:bodyPr/>
          <a:lstStyle/>
          <a:p>
            <a:endParaRPr lang="en-AU"/>
          </a:p>
        </p:txBody>
      </p:sp>
      <p:sp>
        <p:nvSpPr>
          <p:cNvPr id="14" name="Text 12"/>
          <p:cNvSpPr/>
          <p:nvPr/>
        </p:nvSpPr>
        <p:spPr>
          <a:xfrm>
            <a:off x="4288536" y="2249424"/>
            <a:ext cx="1362456" cy="182880"/>
          </a:xfrm>
          <a:prstGeom prst="rect">
            <a:avLst/>
          </a:prstGeom>
          <a:noFill/>
          <a:ln/>
        </p:spPr>
        <p:txBody>
          <a:bodyPr wrap="square" lIns="0" tIns="0" rIns="0" bIns="0" rtlCol="0" anchor="ctr"/>
          <a:lstStyle/>
          <a:p>
            <a:pPr marL="0" indent="0" algn="ctr">
              <a:buNone/>
            </a:pPr>
            <a:r>
              <a:rPr lang="en-US" sz="1120" b="1">
                <a:solidFill>
                  <a:srgbClr val="FFFFFF"/>
                </a:solidFill>
              </a:rPr>
              <a:t>Raw zone</a:t>
            </a:r>
            <a:endParaRPr lang="en-US" sz="1120"/>
          </a:p>
        </p:txBody>
      </p:sp>
      <p:sp>
        <p:nvSpPr>
          <p:cNvPr id="15" name="Text 13"/>
          <p:cNvSpPr/>
          <p:nvPr/>
        </p:nvSpPr>
        <p:spPr>
          <a:xfrm>
            <a:off x="4288536" y="2578608"/>
            <a:ext cx="1362456" cy="457200"/>
          </a:xfrm>
          <a:prstGeom prst="rect">
            <a:avLst/>
          </a:prstGeom>
          <a:noFill/>
          <a:ln/>
        </p:spPr>
        <p:txBody>
          <a:bodyPr wrap="square" lIns="0" tIns="0" rIns="0" bIns="0" rtlCol="0" anchor="ctr">
            <a:normAutofit/>
          </a:bodyPr>
          <a:lstStyle/>
          <a:p>
            <a:pPr marL="0" indent="0" algn="ctr">
              <a:buNone/>
            </a:pPr>
            <a:r>
              <a:rPr lang="en-US" sz="880">
                <a:solidFill>
                  <a:srgbClr val="FFFFFF"/>
                </a:solidFill>
              </a:rPr>
              <a:t>Immutable landing</a:t>
            </a:r>
            <a:endParaRPr lang="en-US" sz="880"/>
          </a:p>
          <a:p>
            <a:pPr marL="0" indent="0" algn="ctr">
              <a:buNone/>
            </a:pPr>
            <a:r>
              <a:rPr lang="en-US" sz="880">
                <a:solidFill>
                  <a:srgbClr val="FFFFFF"/>
                </a:solidFill>
              </a:rPr>
              <a:t>Original format</a:t>
            </a:r>
            <a:endParaRPr lang="en-US" sz="880"/>
          </a:p>
        </p:txBody>
      </p:sp>
      <p:sp>
        <p:nvSpPr>
          <p:cNvPr id="16" name="Shape 14"/>
          <p:cNvSpPr/>
          <p:nvPr/>
        </p:nvSpPr>
        <p:spPr>
          <a:xfrm>
            <a:off x="5788152" y="2551176"/>
            <a:ext cx="310896" cy="237744"/>
          </a:xfrm>
          <a:prstGeom prst="rightArrow">
            <a:avLst/>
          </a:prstGeom>
          <a:solidFill>
            <a:srgbClr val="5B667A">
              <a:alpha val="92000"/>
            </a:srgbClr>
          </a:solidFill>
          <a:ln w="12700">
            <a:solidFill>
              <a:srgbClr val="5B667A">
                <a:alpha val="0"/>
              </a:srgbClr>
            </a:solidFill>
            <a:prstDash val="solid"/>
          </a:ln>
        </p:spPr>
        <p:txBody>
          <a:bodyPr/>
          <a:lstStyle/>
          <a:p>
            <a:endParaRPr lang="en-AU"/>
          </a:p>
        </p:txBody>
      </p:sp>
      <p:sp>
        <p:nvSpPr>
          <p:cNvPr id="17" name="Shape 15"/>
          <p:cNvSpPr/>
          <p:nvPr/>
        </p:nvSpPr>
        <p:spPr>
          <a:xfrm>
            <a:off x="6163056" y="2057400"/>
            <a:ext cx="1508760" cy="1234440"/>
          </a:xfrm>
          <a:prstGeom prst="roundRect">
            <a:avLst>
              <a:gd name="adj" fmla="val 5926"/>
            </a:avLst>
          </a:prstGeom>
          <a:solidFill>
            <a:srgbClr val="7C3AED">
              <a:alpha val="92000"/>
            </a:srgbClr>
          </a:solidFill>
          <a:ln w="12700">
            <a:solidFill>
              <a:srgbClr val="7C3AED"/>
            </a:solidFill>
            <a:prstDash val="solid"/>
          </a:ln>
        </p:spPr>
        <p:txBody>
          <a:bodyPr/>
          <a:lstStyle/>
          <a:p>
            <a:endParaRPr lang="en-AU"/>
          </a:p>
        </p:txBody>
      </p:sp>
      <p:sp>
        <p:nvSpPr>
          <p:cNvPr id="18" name="Text 16"/>
          <p:cNvSpPr/>
          <p:nvPr/>
        </p:nvSpPr>
        <p:spPr>
          <a:xfrm>
            <a:off x="6236208" y="2249424"/>
            <a:ext cx="1362456" cy="182880"/>
          </a:xfrm>
          <a:prstGeom prst="rect">
            <a:avLst/>
          </a:prstGeom>
          <a:noFill/>
          <a:ln/>
        </p:spPr>
        <p:txBody>
          <a:bodyPr wrap="square" lIns="0" tIns="0" rIns="0" bIns="0" rtlCol="0" anchor="ctr"/>
          <a:lstStyle/>
          <a:p>
            <a:pPr marL="0" indent="0" algn="ctr">
              <a:buNone/>
            </a:pPr>
            <a:r>
              <a:rPr lang="en-US" sz="1120" b="1">
                <a:solidFill>
                  <a:srgbClr val="FFFFFF"/>
                </a:solidFill>
              </a:rPr>
              <a:t>Management</a:t>
            </a:r>
            <a:endParaRPr lang="en-US" sz="1120"/>
          </a:p>
        </p:txBody>
      </p:sp>
      <p:sp>
        <p:nvSpPr>
          <p:cNvPr id="19" name="Text 17"/>
          <p:cNvSpPr/>
          <p:nvPr/>
        </p:nvSpPr>
        <p:spPr>
          <a:xfrm>
            <a:off x="6236208" y="2578608"/>
            <a:ext cx="1362456" cy="457200"/>
          </a:xfrm>
          <a:prstGeom prst="rect">
            <a:avLst/>
          </a:prstGeom>
          <a:noFill/>
          <a:ln/>
        </p:spPr>
        <p:txBody>
          <a:bodyPr wrap="square" lIns="0" tIns="0" rIns="0" bIns="0" rtlCol="0" anchor="ctr">
            <a:normAutofit/>
          </a:bodyPr>
          <a:lstStyle/>
          <a:p>
            <a:pPr marL="0" indent="0" algn="ctr">
              <a:buNone/>
            </a:pPr>
            <a:r>
              <a:rPr lang="en-US" sz="880">
                <a:solidFill>
                  <a:srgbClr val="FFFFFF"/>
                </a:solidFill>
              </a:rPr>
              <a:t>Integrate</a:t>
            </a:r>
            <a:endParaRPr lang="en-US" sz="880"/>
          </a:p>
          <a:p>
            <a:pPr marL="0" indent="0" algn="ctr">
              <a:buNone/>
            </a:pPr>
            <a:r>
              <a:rPr lang="en-US" sz="880">
                <a:solidFill>
                  <a:srgbClr val="FFFFFF"/>
                </a:solidFill>
              </a:rPr>
              <a:t>Quality</a:t>
            </a:r>
            <a:endParaRPr lang="en-US" sz="880"/>
          </a:p>
          <a:p>
            <a:pPr marL="0" indent="0" algn="ctr">
              <a:buNone/>
            </a:pPr>
            <a:r>
              <a:rPr lang="en-US" sz="880">
                <a:solidFill>
                  <a:srgbClr val="FFFFFF"/>
                </a:solidFill>
              </a:rPr>
              <a:t>Enrich</a:t>
            </a:r>
            <a:endParaRPr lang="en-US" sz="880"/>
          </a:p>
        </p:txBody>
      </p:sp>
      <p:sp>
        <p:nvSpPr>
          <p:cNvPr id="20" name="Shape 18"/>
          <p:cNvSpPr/>
          <p:nvPr/>
        </p:nvSpPr>
        <p:spPr>
          <a:xfrm>
            <a:off x="7735824" y="2551176"/>
            <a:ext cx="310896" cy="237744"/>
          </a:xfrm>
          <a:prstGeom prst="rightArrow">
            <a:avLst/>
          </a:prstGeom>
          <a:solidFill>
            <a:srgbClr val="5B667A">
              <a:alpha val="92000"/>
            </a:srgbClr>
          </a:solidFill>
          <a:ln w="12700">
            <a:solidFill>
              <a:srgbClr val="5B667A">
                <a:alpha val="0"/>
              </a:srgbClr>
            </a:solidFill>
            <a:prstDash val="solid"/>
          </a:ln>
        </p:spPr>
        <p:txBody>
          <a:bodyPr/>
          <a:lstStyle/>
          <a:p>
            <a:endParaRPr lang="en-AU"/>
          </a:p>
        </p:txBody>
      </p:sp>
      <p:sp>
        <p:nvSpPr>
          <p:cNvPr id="21" name="Shape 19"/>
          <p:cNvSpPr/>
          <p:nvPr/>
        </p:nvSpPr>
        <p:spPr>
          <a:xfrm>
            <a:off x="8110728" y="2057400"/>
            <a:ext cx="1508760" cy="1234440"/>
          </a:xfrm>
          <a:prstGeom prst="roundRect">
            <a:avLst>
              <a:gd name="adj" fmla="val 5926"/>
            </a:avLst>
          </a:prstGeom>
          <a:solidFill>
            <a:srgbClr val="2EAD66">
              <a:alpha val="92000"/>
            </a:srgbClr>
          </a:solidFill>
          <a:ln w="12700">
            <a:solidFill>
              <a:srgbClr val="2EAD66"/>
            </a:solidFill>
            <a:prstDash val="solid"/>
          </a:ln>
        </p:spPr>
        <p:txBody>
          <a:bodyPr/>
          <a:lstStyle/>
          <a:p>
            <a:endParaRPr lang="en-AU"/>
          </a:p>
        </p:txBody>
      </p:sp>
      <p:sp>
        <p:nvSpPr>
          <p:cNvPr id="22" name="Text 20"/>
          <p:cNvSpPr/>
          <p:nvPr/>
        </p:nvSpPr>
        <p:spPr>
          <a:xfrm>
            <a:off x="8183880" y="2249424"/>
            <a:ext cx="1362456" cy="182880"/>
          </a:xfrm>
          <a:prstGeom prst="rect">
            <a:avLst/>
          </a:prstGeom>
          <a:noFill/>
          <a:ln/>
        </p:spPr>
        <p:txBody>
          <a:bodyPr wrap="square" lIns="0" tIns="0" rIns="0" bIns="0" rtlCol="0" anchor="ctr"/>
          <a:lstStyle/>
          <a:p>
            <a:pPr marL="0" indent="0" algn="ctr">
              <a:buNone/>
            </a:pPr>
            <a:r>
              <a:rPr lang="en-US" sz="1120" b="1">
                <a:solidFill>
                  <a:srgbClr val="FFFFFF"/>
                </a:solidFill>
              </a:rPr>
              <a:t>Curated storage</a:t>
            </a:r>
            <a:endParaRPr lang="en-US" sz="1120"/>
          </a:p>
        </p:txBody>
      </p:sp>
      <p:sp>
        <p:nvSpPr>
          <p:cNvPr id="23" name="Text 21"/>
          <p:cNvSpPr/>
          <p:nvPr/>
        </p:nvSpPr>
        <p:spPr>
          <a:xfrm>
            <a:off x="8183880" y="2578608"/>
            <a:ext cx="1362456" cy="457200"/>
          </a:xfrm>
          <a:prstGeom prst="rect">
            <a:avLst/>
          </a:prstGeom>
          <a:noFill/>
          <a:ln/>
        </p:spPr>
        <p:txBody>
          <a:bodyPr wrap="square" lIns="0" tIns="0" rIns="0" bIns="0" rtlCol="0" anchor="ctr">
            <a:normAutofit/>
          </a:bodyPr>
          <a:lstStyle/>
          <a:p>
            <a:pPr marL="0" indent="0" algn="ctr">
              <a:buNone/>
            </a:pPr>
            <a:r>
              <a:rPr lang="en-US" sz="880">
                <a:solidFill>
                  <a:srgbClr val="FFFFFF"/>
                </a:solidFill>
              </a:rPr>
              <a:t>Trusted tables</a:t>
            </a:r>
            <a:endParaRPr lang="en-US" sz="880"/>
          </a:p>
          <a:p>
            <a:pPr marL="0" indent="0" algn="ctr">
              <a:buNone/>
            </a:pPr>
            <a:r>
              <a:rPr lang="en-US" sz="880">
                <a:solidFill>
                  <a:srgbClr val="FFFFFF"/>
                </a:solidFill>
              </a:rPr>
              <a:t>Metadata</a:t>
            </a:r>
            <a:endParaRPr lang="en-US" sz="880"/>
          </a:p>
          <a:p>
            <a:pPr marL="0" indent="0" algn="ctr">
              <a:buNone/>
            </a:pPr>
            <a:r>
              <a:rPr lang="en-US" sz="880">
                <a:solidFill>
                  <a:srgbClr val="FFFFFF"/>
                </a:solidFill>
              </a:rPr>
              <a:t>Security</a:t>
            </a:r>
            <a:endParaRPr lang="en-US" sz="880"/>
          </a:p>
        </p:txBody>
      </p:sp>
      <p:sp>
        <p:nvSpPr>
          <p:cNvPr id="24" name="Shape 22"/>
          <p:cNvSpPr/>
          <p:nvPr/>
        </p:nvSpPr>
        <p:spPr>
          <a:xfrm>
            <a:off x="9683496" y="2551176"/>
            <a:ext cx="310896" cy="237744"/>
          </a:xfrm>
          <a:prstGeom prst="rightArrow">
            <a:avLst/>
          </a:prstGeom>
          <a:solidFill>
            <a:srgbClr val="5B667A">
              <a:alpha val="92000"/>
            </a:srgbClr>
          </a:solidFill>
          <a:ln w="12700">
            <a:solidFill>
              <a:srgbClr val="5B667A">
                <a:alpha val="0"/>
              </a:srgbClr>
            </a:solidFill>
            <a:prstDash val="solid"/>
          </a:ln>
        </p:spPr>
        <p:txBody>
          <a:bodyPr/>
          <a:lstStyle/>
          <a:p>
            <a:endParaRPr lang="en-AU"/>
          </a:p>
        </p:txBody>
      </p:sp>
      <p:sp>
        <p:nvSpPr>
          <p:cNvPr id="25" name="Shape 23"/>
          <p:cNvSpPr/>
          <p:nvPr/>
        </p:nvSpPr>
        <p:spPr>
          <a:xfrm>
            <a:off x="10058400" y="2057400"/>
            <a:ext cx="1508760" cy="1234440"/>
          </a:xfrm>
          <a:prstGeom prst="roundRect">
            <a:avLst>
              <a:gd name="adj" fmla="val 5926"/>
            </a:avLst>
          </a:prstGeom>
          <a:solidFill>
            <a:srgbClr val="0B1F3A">
              <a:alpha val="92000"/>
            </a:srgbClr>
          </a:solidFill>
          <a:ln w="12700">
            <a:solidFill>
              <a:srgbClr val="0B1F3A"/>
            </a:solidFill>
            <a:prstDash val="solid"/>
          </a:ln>
        </p:spPr>
        <p:txBody>
          <a:bodyPr/>
          <a:lstStyle/>
          <a:p>
            <a:endParaRPr lang="en-AU"/>
          </a:p>
        </p:txBody>
      </p:sp>
      <p:sp>
        <p:nvSpPr>
          <p:cNvPr id="26" name="Text 24"/>
          <p:cNvSpPr/>
          <p:nvPr/>
        </p:nvSpPr>
        <p:spPr>
          <a:xfrm>
            <a:off x="10131552" y="2249424"/>
            <a:ext cx="1362456" cy="182880"/>
          </a:xfrm>
          <a:prstGeom prst="rect">
            <a:avLst/>
          </a:prstGeom>
          <a:noFill/>
          <a:ln/>
        </p:spPr>
        <p:txBody>
          <a:bodyPr wrap="square" lIns="0" tIns="0" rIns="0" bIns="0" rtlCol="0" anchor="ctr"/>
          <a:lstStyle/>
          <a:p>
            <a:pPr marL="0" indent="0" algn="ctr">
              <a:buNone/>
            </a:pPr>
            <a:r>
              <a:rPr lang="en-US" sz="1120" b="1">
                <a:solidFill>
                  <a:srgbClr val="FFFFFF"/>
                </a:solidFill>
              </a:rPr>
              <a:t>Consumption</a:t>
            </a:r>
            <a:endParaRPr lang="en-US" sz="1120"/>
          </a:p>
        </p:txBody>
      </p:sp>
      <p:sp>
        <p:nvSpPr>
          <p:cNvPr id="27" name="Text 25"/>
          <p:cNvSpPr/>
          <p:nvPr/>
        </p:nvSpPr>
        <p:spPr>
          <a:xfrm>
            <a:off x="10131552" y="2578608"/>
            <a:ext cx="1362456" cy="457200"/>
          </a:xfrm>
          <a:prstGeom prst="rect">
            <a:avLst/>
          </a:prstGeom>
          <a:noFill/>
          <a:ln/>
        </p:spPr>
        <p:txBody>
          <a:bodyPr wrap="square" lIns="0" tIns="0" rIns="0" bIns="0" rtlCol="0" anchor="ctr">
            <a:normAutofit/>
          </a:bodyPr>
          <a:lstStyle/>
          <a:p>
            <a:pPr marL="0" indent="0" algn="ctr">
              <a:buNone/>
            </a:pPr>
            <a:r>
              <a:rPr lang="en-US" sz="880">
                <a:solidFill>
                  <a:srgbClr val="FFFFFF"/>
                </a:solidFill>
              </a:rPr>
              <a:t>BI</a:t>
            </a:r>
            <a:endParaRPr lang="en-US" sz="880"/>
          </a:p>
          <a:p>
            <a:pPr marL="0" indent="0" algn="ctr">
              <a:buNone/>
            </a:pPr>
            <a:r>
              <a:rPr lang="en-US" sz="880">
                <a:solidFill>
                  <a:srgbClr val="FFFFFF"/>
                </a:solidFill>
              </a:rPr>
              <a:t>ML/AI</a:t>
            </a:r>
            <a:endParaRPr lang="en-US" sz="880"/>
          </a:p>
          <a:p>
            <a:pPr marL="0" indent="0" algn="ctr">
              <a:buNone/>
            </a:pPr>
            <a:r>
              <a:rPr lang="en-US" sz="880">
                <a:solidFill>
                  <a:srgbClr val="FFFFFF"/>
                </a:solidFill>
              </a:rPr>
              <a:t>Apps</a:t>
            </a:r>
            <a:endParaRPr lang="en-US" sz="880"/>
          </a:p>
        </p:txBody>
      </p:sp>
      <p:sp>
        <p:nvSpPr>
          <p:cNvPr id="28" name="Shape 26"/>
          <p:cNvSpPr/>
          <p:nvPr/>
        </p:nvSpPr>
        <p:spPr>
          <a:xfrm>
            <a:off x="731520" y="4069080"/>
            <a:ext cx="10789920" cy="0"/>
          </a:xfrm>
          <a:prstGeom prst="line">
            <a:avLst/>
          </a:prstGeom>
          <a:noFill/>
          <a:ln w="12700">
            <a:solidFill>
              <a:srgbClr val="D9E2EF"/>
            </a:solidFill>
            <a:prstDash val="solid"/>
          </a:ln>
        </p:spPr>
        <p:txBody>
          <a:bodyPr/>
          <a:lstStyle/>
          <a:p>
            <a:endParaRPr lang="en-AU"/>
          </a:p>
        </p:txBody>
      </p:sp>
      <p:sp>
        <p:nvSpPr>
          <p:cNvPr id="29" name="Shape 27"/>
          <p:cNvSpPr/>
          <p:nvPr/>
        </p:nvSpPr>
        <p:spPr>
          <a:xfrm>
            <a:off x="685800" y="4572000"/>
            <a:ext cx="1874520" cy="329184"/>
          </a:xfrm>
          <a:prstGeom prst="roundRect">
            <a:avLst>
              <a:gd name="adj" fmla="val 22222"/>
            </a:avLst>
          </a:prstGeom>
          <a:solidFill>
            <a:srgbClr val="1665D8">
              <a:alpha val="92000"/>
            </a:srgbClr>
          </a:solidFill>
          <a:ln w="12700">
            <a:solidFill>
              <a:srgbClr val="1665D8">
                <a:alpha val="0"/>
              </a:srgbClr>
            </a:solidFill>
            <a:prstDash val="solid"/>
          </a:ln>
        </p:spPr>
        <p:txBody>
          <a:bodyPr/>
          <a:lstStyle/>
          <a:p>
            <a:endParaRPr lang="en-AU"/>
          </a:p>
        </p:txBody>
      </p:sp>
      <p:sp>
        <p:nvSpPr>
          <p:cNvPr id="30" name="Text 28"/>
          <p:cNvSpPr/>
          <p:nvPr/>
        </p:nvSpPr>
        <p:spPr>
          <a:xfrm>
            <a:off x="795528" y="4654296"/>
            <a:ext cx="1655064" cy="164592"/>
          </a:xfrm>
          <a:prstGeom prst="rect">
            <a:avLst/>
          </a:prstGeom>
          <a:noFill/>
          <a:ln/>
        </p:spPr>
        <p:txBody>
          <a:bodyPr wrap="square" lIns="0" tIns="0" rIns="0" bIns="0" rtlCol="0" anchor="ctr"/>
          <a:lstStyle/>
          <a:p>
            <a:pPr marL="0" indent="0" algn="ctr">
              <a:buNone/>
            </a:pPr>
            <a:r>
              <a:rPr lang="en-US" sz="900" b="1">
                <a:solidFill>
                  <a:srgbClr val="FFFFFF"/>
                </a:solidFill>
              </a:rPr>
              <a:t>Metadata catalogue</a:t>
            </a:r>
            <a:endParaRPr lang="en-US" sz="900"/>
          </a:p>
        </p:txBody>
      </p:sp>
      <p:sp>
        <p:nvSpPr>
          <p:cNvPr id="31" name="Shape 29"/>
          <p:cNvSpPr/>
          <p:nvPr/>
        </p:nvSpPr>
        <p:spPr>
          <a:xfrm>
            <a:off x="2953512" y="4572000"/>
            <a:ext cx="1874520" cy="329184"/>
          </a:xfrm>
          <a:prstGeom prst="roundRect">
            <a:avLst>
              <a:gd name="adj" fmla="val 22222"/>
            </a:avLst>
          </a:prstGeom>
          <a:solidFill>
            <a:srgbClr val="00A7A5">
              <a:alpha val="92000"/>
            </a:srgbClr>
          </a:solidFill>
          <a:ln w="12700">
            <a:solidFill>
              <a:srgbClr val="00A7A5">
                <a:alpha val="0"/>
              </a:srgbClr>
            </a:solidFill>
            <a:prstDash val="solid"/>
          </a:ln>
        </p:spPr>
        <p:txBody>
          <a:bodyPr/>
          <a:lstStyle/>
          <a:p>
            <a:endParaRPr lang="en-AU"/>
          </a:p>
        </p:txBody>
      </p:sp>
      <p:sp>
        <p:nvSpPr>
          <p:cNvPr id="32" name="Text 30"/>
          <p:cNvSpPr/>
          <p:nvPr/>
        </p:nvSpPr>
        <p:spPr>
          <a:xfrm>
            <a:off x="3063240" y="4654296"/>
            <a:ext cx="1655064" cy="164592"/>
          </a:xfrm>
          <a:prstGeom prst="rect">
            <a:avLst/>
          </a:prstGeom>
          <a:noFill/>
          <a:ln/>
        </p:spPr>
        <p:txBody>
          <a:bodyPr wrap="square" lIns="0" tIns="0" rIns="0" bIns="0" rtlCol="0" anchor="ctr"/>
          <a:lstStyle/>
          <a:p>
            <a:pPr marL="0" indent="0" algn="ctr">
              <a:buNone/>
            </a:pPr>
            <a:r>
              <a:rPr lang="en-US" sz="900" b="1">
                <a:solidFill>
                  <a:srgbClr val="FFFFFF"/>
                </a:solidFill>
              </a:rPr>
              <a:t>Lineage</a:t>
            </a:r>
            <a:endParaRPr lang="en-US" sz="900"/>
          </a:p>
        </p:txBody>
      </p:sp>
      <p:sp>
        <p:nvSpPr>
          <p:cNvPr id="33" name="Shape 31"/>
          <p:cNvSpPr/>
          <p:nvPr/>
        </p:nvSpPr>
        <p:spPr>
          <a:xfrm>
            <a:off x="5221224" y="4572000"/>
            <a:ext cx="1874520" cy="329184"/>
          </a:xfrm>
          <a:prstGeom prst="roundRect">
            <a:avLst>
              <a:gd name="adj" fmla="val 22222"/>
            </a:avLst>
          </a:prstGeom>
          <a:solidFill>
            <a:srgbClr val="F59E0B">
              <a:alpha val="92000"/>
            </a:srgbClr>
          </a:solidFill>
          <a:ln w="12700">
            <a:solidFill>
              <a:srgbClr val="F59E0B">
                <a:alpha val="0"/>
              </a:srgbClr>
            </a:solidFill>
            <a:prstDash val="solid"/>
          </a:ln>
        </p:spPr>
        <p:txBody>
          <a:bodyPr/>
          <a:lstStyle/>
          <a:p>
            <a:endParaRPr lang="en-AU"/>
          </a:p>
        </p:txBody>
      </p:sp>
      <p:sp>
        <p:nvSpPr>
          <p:cNvPr id="34" name="Text 32"/>
          <p:cNvSpPr/>
          <p:nvPr/>
        </p:nvSpPr>
        <p:spPr>
          <a:xfrm>
            <a:off x="5330952" y="4654296"/>
            <a:ext cx="1655064" cy="164592"/>
          </a:xfrm>
          <a:prstGeom prst="rect">
            <a:avLst/>
          </a:prstGeom>
          <a:noFill/>
          <a:ln/>
        </p:spPr>
        <p:txBody>
          <a:bodyPr wrap="square" lIns="0" tIns="0" rIns="0" bIns="0" rtlCol="0" anchor="ctr"/>
          <a:lstStyle/>
          <a:p>
            <a:pPr marL="0" indent="0" algn="ctr">
              <a:buNone/>
            </a:pPr>
            <a:r>
              <a:rPr lang="en-US" sz="900" b="1">
                <a:solidFill>
                  <a:srgbClr val="FFFFFF"/>
                </a:solidFill>
              </a:rPr>
              <a:t>Access control</a:t>
            </a:r>
            <a:endParaRPr lang="en-US" sz="900"/>
          </a:p>
        </p:txBody>
      </p:sp>
      <p:sp>
        <p:nvSpPr>
          <p:cNvPr id="35" name="Shape 33"/>
          <p:cNvSpPr/>
          <p:nvPr/>
        </p:nvSpPr>
        <p:spPr>
          <a:xfrm>
            <a:off x="7488936" y="4572000"/>
            <a:ext cx="1874520" cy="329184"/>
          </a:xfrm>
          <a:prstGeom prst="roundRect">
            <a:avLst>
              <a:gd name="adj" fmla="val 22222"/>
            </a:avLst>
          </a:prstGeom>
          <a:solidFill>
            <a:srgbClr val="7C3AED">
              <a:alpha val="92000"/>
            </a:srgbClr>
          </a:solidFill>
          <a:ln w="12700">
            <a:solidFill>
              <a:srgbClr val="7C3AED">
                <a:alpha val="0"/>
              </a:srgbClr>
            </a:solidFill>
            <a:prstDash val="solid"/>
          </a:ln>
        </p:spPr>
        <p:txBody>
          <a:bodyPr/>
          <a:lstStyle/>
          <a:p>
            <a:endParaRPr lang="en-AU"/>
          </a:p>
        </p:txBody>
      </p:sp>
      <p:sp>
        <p:nvSpPr>
          <p:cNvPr id="36" name="Text 34"/>
          <p:cNvSpPr/>
          <p:nvPr/>
        </p:nvSpPr>
        <p:spPr>
          <a:xfrm>
            <a:off x="7598664" y="4654296"/>
            <a:ext cx="1655064" cy="164592"/>
          </a:xfrm>
          <a:prstGeom prst="rect">
            <a:avLst/>
          </a:prstGeom>
          <a:noFill/>
          <a:ln/>
        </p:spPr>
        <p:txBody>
          <a:bodyPr wrap="square" lIns="0" tIns="0" rIns="0" bIns="0" rtlCol="0" anchor="ctr"/>
          <a:lstStyle/>
          <a:p>
            <a:pPr marL="0" indent="0" algn="ctr">
              <a:buNone/>
            </a:pPr>
            <a:r>
              <a:rPr lang="en-US" sz="900" b="1">
                <a:solidFill>
                  <a:srgbClr val="FFFFFF"/>
                </a:solidFill>
              </a:rPr>
              <a:t>Quality monitoring</a:t>
            </a:r>
            <a:endParaRPr lang="en-US" sz="900"/>
          </a:p>
        </p:txBody>
      </p:sp>
      <p:sp>
        <p:nvSpPr>
          <p:cNvPr id="37" name="Shape 35"/>
          <p:cNvSpPr/>
          <p:nvPr/>
        </p:nvSpPr>
        <p:spPr>
          <a:xfrm>
            <a:off x="9756648" y="4572000"/>
            <a:ext cx="1874520" cy="329184"/>
          </a:xfrm>
          <a:prstGeom prst="roundRect">
            <a:avLst>
              <a:gd name="adj" fmla="val 22222"/>
            </a:avLst>
          </a:prstGeom>
          <a:solidFill>
            <a:srgbClr val="2EAD66">
              <a:alpha val="92000"/>
            </a:srgbClr>
          </a:solidFill>
          <a:ln w="12700">
            <a:solidFill>
              <a:srgbClr val="2EAD66">
                <a:alpha val="0"/>
              </a:srgbClr>
            </a:solidFill>
            <a:prstDash val="solid"/>
          </a:ln>
        </p:spPr>
        <p:txBody>
          <a:bodyPr/>
          <a:lstStyle/>
          <a:p>
            <a:endParaRPr lang="en-AU"/>
          </a:p>
        </p:txBody>
      </p:sp>
      <p:sp>
        <p:nvSpPr>
          <p:cNvPr id="38" name="Text 36"/>
          <p:cNvSpPr/>
          <p:nvPr/>
        </p:nvSpPr>
        <p:spPr>
          <a:xfrm>
            <a:off x="9866376" y="4654296"/>
            <a:ext cx="1655064" cy="164592"/>
          </a:xfrm>
          <a:prstGeom prst="rect">
            <a:avLst/>
          </a:prstGeom>
          <a:noFill/>
          <a:ln/>
        </p:spPr>
        <p:txBody>
          <a:bodyPr wrap="square" lIns="0" tIns="0" rIns="0" bIns="0" rtlCol="0" anchor="ctr"/>
          <a:lstStyle/>
          <a:p>
            <a:pPr marL="0" indent="0" algn="ctr">
              <a:buNone/>
            </a:pPr>
            <a:r>
              <a:rPr lang="en-US" sz="900" b="1">
                <a:solidFill>
                  <a:srgbClr val="FFFFFF"/>
                </a:solidFill>
              </a:rPr>
              <a:t>Lifecycle policy</a:t>
            </a:r>
            <a:endParaRPr lang="en-US" sz="900"/>
          </a:p>
        </p:txBody>
      </p:sp>
      <p:sp>
        <p:nvSpPr>
          <p:cNvPr id="39" name="Text 37"/>
          <p:cNvSpPr/>
          <p:nvPr/>
        </p:nvSpPr>
        <p:spPr>
          <a:xfrm>
            <a:off x="2011680" y="5138928"/>
            <a:ext cx="8229600" cy="228600"/>
          </a:xfrm>
          <a:prstGeom prst="rect">
            <a:avLst/>
          </a:prstGeom>
          <a:noFill/>
          <a:ln/>
        </p:spPr>
        <p:txBody>
          <a:bodyPr wrap="square" lIns="0" tIns="0" rIns="0" bIns="0" rtlCol="0" anchor="ctr"/>
          <a:lstStyle/>
          <a:p>
            <a:pPr marL="0" indent="0" algn="ctr">
              <a:buNone/>
            </a:pPr>
            <a:r>
              <a:rPr lang="en-US" sz="1300" b="1">
                <a:solidFill>
                  <a:srgbClr val="172033"/>
                </a:solidFill>
              </a:rPr>
              <a:t>Governance services cut across every stage of the pipeline.</a:t>
            </a:r>
            <a:endParaRPr lang="en-US" sz="1300"/>
          </a:p>
        </p:txBody>
      </p:sp>
      <p:sp>
        <p:nvSpPr>
          <p:cNvPr id="40" name="Text 38"/>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17</a:t>
            </a:r>
            <a:endParaRPr lang="en-US" sz="800"/>
          </a:p>
        </p:txBody>
      </p:sp>
      <p:pic>
        <p:nvPicPr>
          <p:cNvPr id="42" name="Picture 41" descr="A logo with orange and grey text&#10;&#10;Description automatically generated">
            <a:extLst>
              <a:ext uri="{FF2B5EF4-FFF2-40B4-BE49-F238E27FC236}">
                <a16:creationId xmlns:a16="http://schemas.microsoft.com/office/drawing/2014/main" id="{C201ED4E-44F3-B6B8-1A93-E4E55AD89F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20040"/>
            <a:ext cx="10789920" cy="438912"/>
          </a:xfrm>
          <a:prstGeom prst="rect">
            <a:avLst/>
          </a:prstGeom>
          <a:noFill/>
          <a:ln/>
        </p:spPr>
        <p:txBody>
          <a:bodyPr wrap="square" lIns="0" tIns="0" rIns="0" bIns="0" rtlCol="0" anchor="ctr"/>
          <a:lstStyle/>
          <a:p>
            <a:pPr marL="0" indent="0">
              <a:buNone/>
            </a:pPr>
            <a:r>
              <a:rPr lang="en-US" sz="2800" b="1">
                <a:solidFill>
                  <a:srgbClr val="172033"/>
                </a:solidFill>
                <a:latin typeface="Aptos Display" pitchFamily="34" charset="0"/>
                <a:ea typeface="Aptos Display" pitchFamily="34" charset="-122"/>
                <a:cs typeface="Aptos Display" pitchFamily="34" charset="-120"/>
              </a:rPr>
              <a:t>References</a:t>
            </a:r>
            <a:endParaRPr lang="en-US" sz="2800"/>
          </a:p>
        </p:txBody>
      </p:sp>
      <p:sp>
        <p:nvSpPr>
          <p:cNvPr id="3" name="Shape 1"/>
          <p:cNvSpPr/>
          <p:nvPr/>
        </p:nvSpPr>
        <p:spPr>
          <a:xfrm>
            <a:off x="502920" y="868680"/>
            <a:ext cx="1143000" cy="0"/>
          </a:xfrm>
          <a:prstGeom prst="line">
            <a:avLst/>
          </a:prstGeom>
          <a:noFill/>
          <a:ln w="38100">
            <a:solidFill>
              <a:srgbClr val="1665D8"/>
            </a:solidFill>
            <a:prstDash val="solid"/>
          </a:ln>
        </p:spPr>
        <p:txBody>
          <a:bodyPr/>
          <a:lstStyle/>
          <a:p>
            <a:endParaRPr lang="en-AU"/>
          </a:p>
        </p:txBody>
      </p:sp>
      <p:sp>
        <p:nvSpPr>
          <p:cNvPr id="4" name="Text 2"/>
          <p:cNvSpPr/>
          <p:nvPr/>
        </p:nvSpPr>
        <p:spPr>
          <a:xfrm>
            <a:off x="502920" y="960120"/>
            <a:ext cx="10698480" cy="292608"/>
          </a:xfrm>
          <a:prstGeom prst="rect">
            <a:avLst/>
          </a:prstGeom>
          <a:noFill/>
          <a:ln/>
        </p:spPr>
        <p:txBody>
          <a:bodyPr wrap="square" lIns="0" tIns="0" rIns="0" bIns="0" rtlCol="0" anchor="ctr"/>
          <a:lstStyle/>
          <a:p>
            <a:pPr marL="0" indent="0">
              <a:buNone/>
            </a:pPr>
            <a:r>
              <a:rPr lang="en-US" sz="1250">
                <a:solidFill>
                  <a:srgbClr val="5B667A"/>
                </a:solidFill>
              </a:rPr>
              <a:t>Core and optional resources for Module 3.</a:t>
            </a:r>
            <a:endParaRPr lang="en-US" sz="1250"/>
          </a:p>
        </p:txBody>
      </p:sp>
      <p:sp>
        <p:nvSpPr>
          <p:cNvPr id="5" name="Text 3"/>
          <p:cNvSpPr/>
          <p:nvPr/>
        </p:nvSpPr>
        <p:spPr>
          <a:xfrm>
            <a:off x="777240" y="1325880"/>
            <a:ext cx="10789920" cy="4937760"/>
          </a:xfrm>
          <a:prstGeom prst="rect">
            <a:avLst/>
          </a:prstGeom>
          <a:noFill/>
          <a:ln/>
        </p:spPr>
        <p:txBody>
          <a:bodyPr wrap="square" lIns="254" tIns="254" rIns="254" bIns="254" rtlCol="0" anchor="ctr">
            <a:normAutofit/>
          </a:bodyPr>
          <a:lstStyle/>
          <a:p>
            <a:r>
              <a:rPr lang="en-US" sz="1220">
                <a:solidFill>
                  <a:srgbClr val="172033"/>
                </a:solidFill>
              </a:rPr>
              <a:t>Foote, K. (2019, 27 February). Big data integration 101: The what, why and how. DATAVERSITY.</a:t>
            </a:r>
            <a:endParaRPr lang="en-US" sz="1220"/>
          </a:p>
          <a:p>
            <a:r>
              <a:rPr lang="en-US" sz="1220">
                <a:solidFill>
                  <a:srgbClr val="172033"/>
                </a:solidFill>
              </a:rPr>
              <a:t>Dong, X. L., &amp; Srivastava, D. (2015). Big data integration. Synthesis Lectures on Data Management, 7(1), 1–198.</a:t>
            </a:r>
            <a:endParaRPr lang="en-US" sz="1220"/>
          </a:p>
          <a:p>
            <a:r>
              <a:rPr lang="en-US" sz="1220">
                <a:solidFill>
                  <a:srgbClr val="172033"/>
                </a:solidFill>
              </a:rPr>
              <a:t>Pasupuleti, P., &amp; Purra, B. S. (2015). Data lake development with big data. Packt Publishing.</a:t>
            </a:r>
            <a:endParaRPr lang="en-US" sz="1220"/>
          </a:p>
          <a:p>
            <a:r>
              <a:rPr lang="en-US" sz="1220">
                <a:solidFill>
                  <a:srgbClr val="172033"/>
                </a:solidFill>
              </a:rPr>
              <a:t>AWS. (n.d.). Data lake storage on AWS; Amazon S3 product information.</a:t>
            </a:r>
            <a:endParaRPr lang="en-US" sz="1220"/>
          </a:p>
          <a:p>
            <a:r>
              <a:rPr lang="en-US" sz="1220">
                <a:solidFill>
                  <a:srgbClr val="172033"/>
                </a:solidFill>
              </a:rPr>
              <a:t>Microsoft Azure. (n.d.). Azure Data Lake Storage / Azure storage documentation and product information.</a:t>
            </a:r>
            <a:endParaRPr lang="en-US" sz="1220"/>
          </a:p>
          <a:p>
            <a:r>
              <a:rPr lang="en-US" sz="1220">
                <a:solidFill>
                  <a:srgbClr val="172033"/>
                </a:solidFill>
              </a:rPr>
              <a:t>Siddiqa, A., Karim, A., &amp; Gani, A. (2017). Big data storage technologies: A survey. Frontiers of Information Technology &amp; Electronic Engineering, 18(8), 1040–1070.</a:t>
            </a:r>
            <a:endParaRPr lang="en-US" sz="1220"/>
          </a:p>
          <a:p>
            <a:r>
              <a:rPr lang="en-US" sz="1220">
                <a:solidFill>
                  <a:srgbClr val="172033"/>
                </a:solidFill>
              </a:rPr>
              <a:t>Rogati, M. (2017). Data Science Hierarchy of Needs.</a:t>
            </a:r>
            <a:endParaRPr lang="en-US" sz="1220"/>
          </a:p>
        </p:txBody>
      </p:sp>
      <p:sp>
        <p:nvSpPr>
          <p:cNvPr id="6" name="Text 4"/>
          <p:cNvSpPr/>
          <p:nvPr/>
        </p:nvSpPr>
        <p:spPr>
          <a:xfrm>
            <a:off x="10378440" y="6473952"/>
            <a:ext cx="1280160" cy="164592"/>
          </a:xfrm>
          <a:prstGeom prst="rect">
            <a:avLst/>
          </a:prstGeom>
          <a:noFill/>
          <a:ln/>
        </p:spPr>
        <p:txBody>
          <a:bodyPr wrap="square" lIns="0" tIns="0" rIns="0" bIns="0" rtlCol="0" anchor="ctr"/>
          <a:lstStyle/>
          <a:p>
            <a:pPr marL="0" indent="0" algn="r">
              <a:buNone/>
            </a:pPr>
            <a:r>
              <a:rPr lang="en-US" sz="800">
                <a:solidFill>
                  <a:srgbClr val="7B8794"/>
                </a:solidFill>
              </a:rPr>
              <a:t>BDA | Module 3 | 20</a:t>
            </a:r>
            <a:endParaRPr lang="en-US" sz="800"/>
          </a:p>
        </p:txBody>
      </p:sp>
      <p:pic>
        <p:nvPicPr>
          <p:cNvPr id="9" name="Picture 8" descr="A logo with orange and grey text&#10;&#10;Description automatically generated">
            <a:extLst>
              <a:ext uri="{FF2B5EF4-FFF2-40B4-BE49-F238E27FC236}">
                <a16:creationId xmlns:a16="http://schemas.microsoft.com/office/drawing/2014/main" id="{EE419CAB-0F74-FE42-4A1F-A2237E4525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419600" y="76200"/>
            <a:ext cx="60960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000" b="1">
                <a:solidFill>
                  <a:schemeClr val="bg1"/>
                </a:solidFill>
                <a:latin typeface="+mj-lt"/>
                <a:ea typeface="+mj-ea"/>
                <a:cs typeface="+mj-cs"/>
              </a:defRPr>
            </a:lvl1pPr>
            <a:lvl2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2pPr>
            <a:lvl3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3pPr>
            <a:lvl4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4pPr>
            <a:lvl5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5pPr>
            <a:lvl6pPr marL="4572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6pPr>
            <a:lvl7pPr marL="9144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7pPr>
            <a:lvl8pPr marL="13716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8pPr>
            <a:lvl9pPr marL="18288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9pPr>
          </a:lstStyle>
          <a:p>
            <a:pPr eaLnBrk="1" hangingPunct="1"/>
            <a:r>
              <a:rPr lang="en-GB">
                <a:latin typeface="Arial" pitchFamily="34" charset="0"/>
                <a:cs typeface="Arial" pitchFamily="34" charset="0"/>
              </a:rPr>
              <a:t>Linear Programming – Transportation</a:t>
            </a:r>
            <a:endParaRPr lang="en-AU" kern="0"/>
          </a:p>
        </p:txBody>
      </p:sp>
      <p:sp>
        <p:nvSpPr>
          <p:cNvPr id="5" name="Title 4"/>
          <p:cNvSpPr>
            <a:spLocks noGrp="1"/>
          </p:cNvSpPr>
          <p:nvPr>
            <p:ph type="title"/>
          </p:nvPr>
        </p:nvSpPr>
        <p:spPr>
          <a:xfrm>
            <a:off x="330200" y="99218"/>
            <a:ext cx="10515600" cy="1325563"/>
          </a:xfrm>
        </p:spPr>
        <p:txBody>
          <a:bodyPr/>
          <a:lstStyle/>
          <a:p>
            <a:r>
              <a:rPr lang="en-AU"/>
              <a:t>Case Study</a:t>
            </a:r>
          </a:p>
        </p:txBody>
      </p:sp>
      <p:sp>
        <p:nvSpPr>
          <p:cNvPr id="2" name="Footer Placeholder 1"/>
          <p:cNvSpPr>
            <a:spLocks noGrp="1"/>
          </p:cNvSpPr>
          <p:nvPr>
            <p:ph type="ftr" sz="quarter" idx="11"/>
          </p:nvPr>
        </p:nvSpPr>
        <p:spPr/>
        <p:txBody>
          <a:bodyPr/>
          <a:lstStyle/>
          <a:p>
            <a:pPr>
              <a:defRPr/>
            </a:pPr>
            <a:r>
              <a:rPr lang="en-AU"/>
              <a:t>Big Data and Analytics</a:t>
            </a:r>
            <a:endParaRPr lang="en-US"/>
          </a:p>
        </p:txBody>
      </p:sp>
      <p:sp>
        <p:nvSpPr>
          <p:cNvPr id="3" name="Slide Number Placeholder 2"/>
          <p:cNvSpPr>
            <a:spLocks noGrp="1"/>
          </p:cNvSpPr>
          <p:nvPr>
            <p:ph type="sldNum" sz="quarter" idx="12"/>
          </p:nvPr>
        </p:nvSpPr>
        <p:spPr/>
        <p:txBody>
          <a:bodyPr/>
          <a:lstStyle/>
          <a:p>
            <a:fld id="{3956DA85-404E-9646-866F-75D030953504}" type="slidenum">
              <a:rPr lang="en-US" smtClean="0"/>
              <a:pPr/>
              <a:t>19</a:t>
            </a:fld>
            <a:endParaRPr lang="en-US"/>
          </a:p>
        </p:txBody>
      </p:sp>
      <p:pic>
        <p:nvPicPr>
          <p:cNvPr id="8" name="Picture 7" descr="A logo with orange and grey text&#10;&#10;Description automatically generated">
            <a:extLst>
              <a:ext uri="{FF2B5EF4-FFF2-40B4-BE49-F238E27FC236}">
                <a16:creationId xmlns:a16="http://schemas.microsoft.com/office/drawing/2014/main" id="{224C2F61-35C9-A22F-7AB5-CA19B5F4A1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
        <p:nvSpPr>
          <p:cNvPr id="7" name="TextBox 6">
            <a:extLst>
              <a:ext uri="{FF2B5EF4-FFF2-40B4-BE49-F238E27FC236}">
                <a16:creationId xmlns:a16="http://schemas.microsoft.com/office/drawing/2014/main" id="{32E3442A-4BDF-99FB-AC9B-BE330FEBFCC7}"/>
              </a:ext>
            </a:extLst>
          </p:cNvPr>
          <p:cNvSpPr txBox="1"/>
          <p:nvPr/>
        </p:nvSpPr>
        <p:spPr>
          <a:xfrm>
            <a:off x="381000" y="1026556"/>
            <a:ext cx="11277600" cy="5262979"/>
          </a:xfrm>
          <a:prstGeom prst="rect">
            <a:avLst/>
          </a:prstGeom>
          <a:noFill/>
        </p:spPr>
        <p:txBody>
          <a:bodyPr wrap="square" rtlCol="0">
            <a:spAutoFit/>
          </a:bodyPr>
          <a:lstStyle/>
          <a:p>
            <a:pPr algn="l"/>
            <a:r>
              <a:rPr lang="en-AU" sz="1600" b="1" i="0" err="1">
                <a:solidFill>
                  <a:schemeClr val="tx1"/>
                </a:solidFill>
                <a:effectLst/>
                <a:latin typeface="Söhne"/>
              </a:rPr>
              <a:t>CityFresh</a:t>
            </a:r>
            <a:r>
              <a:rPr lang="en-AU" sz="1600" b="1" i="0">
                <a:solidFill>
                  <a:schemeClr val="tx1"/>
                </a:solidFill>
                <a:effectLst/>
                <a:latin typeface="Söhne"/>
              </a:rPr>
              <a:t> Markets</a:t>
            </a:r>
            <a:r>
              <a:rPr lang="en-AU" sz="1600" b="0" i="0">
                <a:solidFill>
                  <a:schemeClr val="tx1"/>
                </a:solidFill>
                <a:effectLst/>
                <a:latin typeface="Söhne"/>
              </a:rPr>
              <a:t> is an emerging online platform based in Brisbane, Australia, focusing on delivering fresh farm produce and organic food products directly to households. The portal sees a steady traffic of around 50,000 health-conscious visitors every month. When it comes to completing an order, shoppers are given three alternatives: 1) signing in using an existing membership; 2) initializing a fresh membership if they're new to the platform; or 3) opting for a one-time purchase without the need for membership. </a:t>
            </a:r>
          </a:p>
          <a:p>
            <a:pPr algn="l"/>
            <a:r>
              <a:rPr lang="en-AU" sz="1600" b="0" i="0">
                <a:solidFill>
                  <a:schemeClr val="tx1"/>
                </a:solidFill>
                <a:effectLst/>
                <a:latin typeface="Söhne"/>
              </a:rPr>
              <a:t>The account details of shoppers are fragmented across two internal systems - one managed by the customer relations team and the other by the health and nutrition outreach team. The procurement department, on the other hand, oversees the details of orders and supply chain data. In tandem, the digital operations unit is responsible for the platform's user experience and stability.</a:t>
            </a:r>
          </a:p>
          <a:p>
            <a:pPr algn="l"/>
            <a:r>
              <a:rPr lang="en-AU" sz="1600" b="0" i="0">
                <a:solidFill>
                  <a:schemeClr val="tx1"/>
                </a:solidFill>
                <a:effectLst/>
                <a:latin typeface="Söhne"/>
              </a:rPr>
              <a:t>Bi-monthly, </a:t>
            </a:r>
            <a:r>
              <a:rPr lang="en-AU" sz="1600" b="1" i="0" err="1">
                <a:solidFill>
                  <a:schemeClr val="tx1"/>
                </a:solidFill>
                <a:effectLst/>
                <a:latin typeface="Söhne"/>
              </a:rPr>
              <a:t>CityFresh</a:t>
            </a:r>
            <a:r>
              <a:rPr lang="en-AU" sz="1600" b="1" i="0">
                <a:solidFill>
                  <a:schemeClr val="tx1"/>
                </a:solidFill>
                <a:effectLst/>
                <a:latin typeface="Söhne"/>
              </a:rPr>
              <a:t> Markets</a:t>
            </a:r>
            <a:r>
              <a:rPr lang="en-AU" sz="1600" b="0" i="0">
                <a:solidFill>
                  <a:schemeClr val="tx1"/>
                </a:solidFill>
                <a:effectLst/>
                <a:latin typeface="Söhne"/>
              </a:rPr>
              <a:t> rolls out an e-magazine that encompasses articles about healthy living, showcases farm stories, highlights fresh arrivals, and offers exclusive discounts. This digital magazine is both displayed on the platform and dispatched to their community of registered shoppers. It's essential to note that as of now, the platform follows a one-size-fits-all model, implying every user, regardless of past interactions, location, or preferences, views the same content.</a:t>
            </a:r>
          </a:p>
          <a:p>
            <a:pPr algn="l"/>
            <a:r>
              <a:rPr lang="en-AU" sz="1600" b="0" i="0">
                <a:solidFill>
                  <a:schemeClr val="tx1"/>
                </a:solidFill>
                <a:effectLst/>
                <a:latin typeface="Söhne"/>
              </a:rPr>
              <a:t>In the past few months, </a:t>
            </a:r>
            <a:r>
              <a:rPr lang="en-AU" sz="1600" b="1" i="0" err="1">
                <a:solidFill>
                  <a:schemeClr val="tx1"/>
                </a:solidFill>
                <a:effectLst/>
                <a:latin typeface="Söhne"/>
              </a:rPr>
              <a:t>CityFresh</a:t>
            </a:r>
            <a:r>
              <a:rPr lang="en-AU" sz="1600" b="1" i="0">
                <a:solidFill>
                  <a:schemeClr val="tx1"/>
                </a:solidFill>
                <a:effectLst/>
                <a:latin typeface="Söhne"/>
              </a:rPr>
              <a:t> Markets</a:t>
            </a:r>
            <a:r>
              <a:rPr lang="en-AU" sz="1600" b="0" i="0">
                <a:solidFill>
                  <a:schemeClr val="tx1"/>
                </a:solidFill>
                <a:effectLst/>
                <a:latin typeface="Söhne"/>
              </a:rPr>
              <a:t> has encountered an unexpected plateau in its growth trajectory. Even with their unique selling proposition of farm-fresh products, the metrics reflecting site engagement and conversion rates (the fraction of users who move from browsing to purchasing) are not as promising as projected. </a:t>
            </a:r>
          </a:p>
          <a:p>
            <a:pPr algn="l"/>
            <a:r>
              <a:rPr lang="en-AU" sz="1600" b="0" i="0">
                <a:solidFill>
                  <a:schemeClr val="tx1"/>
                </a:solidFill>
                <a:effectLst/>
                <a:latin typeface="Söhne"/>
              </a:rPr>
              <a:t>To counter this challenge and infuse momentum into sales, the top brass at </a:t>
            </a:r>
            <a:r>
              <a:rPr lang="en-AU" sz="1600" b="1" i="0" err="1">
                <a:solidFill>
                  <a:schemeClr val="tx1"/>
                </a:solidFill>
                <a:effectLst/>
                <a:latin typeface="Söhne"/>
              </a:rPr>
              <a:t>CityFresh</a:t>
            </a:r>
            <a:r>
              <a:rPr lang="en-AU" sz="1600" b="1" i="0">
                <a:solidFill>
                  <a:schemeClr val="tx1"/>
                </a:solidFill>
                <a:effectLst/>
                <a:latin typeface="Söhne"/>
              </a:rPr>
              <a:t> Markets</a:t>
            </a:r>
            <a:r>
              <a:rPr lang="en-AU" sz="1600" b="0" i="0">
                <a:solidFill>
                  <a:schemeClr val="tx1"/>
                </a:solidFill>
                <a:effectLst/>
                <a:latin typeface="Söhne"/>
              </a:rPr>
              <a:t> envisions transitioning to a data-centric operational model. They're eager to explore the domain of data analytics to curate bespoke user journeys, which might include features like health-based product suggestions, personalized discount strategies, and insights into buying patterns.</a:t>
            </a:r>
          </a:p>
          <a:p>
            <a:pPr algn="l"/>
            <a:r>
              <a:rPr lang="en-AU" sz="1600" b="0" i="0">
                <a:solidFill>
                  <a:schemeClr val="tx1"/>
                </a:solidFill>
                <a:effectLst/>
                <a:latin typeface="Söhne"/>
              </a:rPr>
              <a:t>Embarking on this data-centric journey necessitates the creation of an adept data pipeline. The primary objective of this pipeline would be to adeptly collate data from diverse touchpoints, harmonize it, and then deposit it into a 'data repository'. This centralized hub should facilitate seamless access for strategists, leaders, and data professionals.</a:t>
            </a:r>
          </a:p>
          <a:p>
            <a:endParaRPr lang="en-AU" sz="1600">
              <a:solidFill>
                <a:schemeClr val="tx1"/>
              </a:solidFill>
            </a:endParaRPr>
          </a:p>
        </p:txBody>
      </p:sp>
    </p:spTree>
    <p:extLst>
      <p:ext uri="{BB962C8B-B14F-4D97-AF65-F5344CB8AC3E}">
        <p14:creationId xmlns:p14="http://schemas.microsoft.com/office/powerpoint/2010/main" val="3887098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419600" y="76200"/>
            <a:ext cx="60960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000" b="1">
                <a:solidFill>
                  <a:schemeClr val="bg1"/>
                </a:solidFill>
                <a:latin typeface="+mj-lt"/>
                <a:ea typeface="+mj-ea"/>
                <a:cs typeface="+mj-cs"/>
              </a:defRPr>
            </a:lvl1pPr>
            <a:lvl2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2pPr>
            <a:lvl3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3pPr>
            <a:lvl4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4pPr>
            <a:lvl5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5pPr>
            <a:lvl6pPr marL="4572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6pPr>
            <a:lvl7pPr marL="9144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7pPr>
            <a:lvl8pPr marL="13716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8pPr>
            <a:lvl9pPr marL="18288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9pPr>
          </a:lstStyle>
          <a:p>
            <a:pPr eaLnBrk="1" hangingPunct="1"/>
            <a:r>
              <a:rPr lang="en-GB">
                <a:latin typeface="Arial" pitchFamily="34" charset="0"/>
                <a:cs typeface="Arial" pitchFamily="34" charset="0"/>
              </a:rPr>
              <a:t>Linear Programming – Transportation</a:t>
            </a:r>
            <a:endParaRPr lang="en-AU" kern="0"/>
          </a:p>
        </p:txBody>
      </p:sp>
      <p:sp>
        <p:nvSpPr>
          <p:cNvPr id="5" name="Title 4"/>
          <p:cNvSpPr>
            <a:spLocks noGrp="1"/>
          </p:cNvSpPr>
          <p:nvPr>
            <p:ph type="title"/>
          </p:nvPr>
        </p:nvSpPr>
        <p:spPr>
          <a:xfrm>
            <a:off x="457200" y="0"/>
            <a:ext cx="10515600" cy="1325563"/>
          </a:xfrm>
        </p:spPr>
        <p:txBody>
          <a:bodyPr/>
          <a:lstStyle/>
          <a:p>
            <a:r>
              <a:rPr lang="en-AU"/>
              <a:t>Case Study</a:t>
            </a:r>
          </a:p>
        </p:txBody>
      </p:sp>
      <p:sp>
        <p:nvSpPr>
          <p:cNvPr id="2" name="Footer Placeholder 1"/>
          <p:cNvSpPr>
            <a:spLocks noGrp="1"/>
          </p:cNvSpPr>
          <p:nvPr>
            <p:ph type="ftr" sz="quarter" idx="11"/>
          </p:nvPr>
        </p:nvSpPr>
        <p:spPr/>
        <p:txBody>
          <a:bodyPr/>
          <a:lstStyle/>
          <a:p>
            <a:pPr>
              <a:defRPr/>
            </a:pPr>
            <a:r>
              <a:rPr lang="en-AU"/>
              <a:t>Big Data and Analytics</a:t>
            </a:r>
            <a:endParaRPr lang="en-US"/>
          </a:p>
        </p:txBody>
      </p:sp>
      <p:sp>
        <p:nvSpPr>
          <p:cNvPr id="3" name="Slide Number Placeholder 2"/>
          <p:cNvSpPr>
            <a:spLocks noGrp="1"/>
          </p:cNvSpPr>
          <p:nvPr>
            <p:ph type="sldNum" sz="quarter" idx="12"/>
          </p:nvPr>
        </p:nvSpPr>
        <p:spPr/>
        <p:txBody>
          <a:bodyPr/>
          <a:lstStyle/>
          <a:p>
            <a:fld id="{3956DA85-404E-9646-866F-75D030953504}" type="slidenum">
              <a:rPr lang="en-US" smtClean="0"/>
              <a:pPr/>
              <a:t>20</a:t>
            </a:fld>
            <a:endParaRPr lang="en-US"/>
          </a:p>
        </p:txBody>
      </p:sp>
      <p:pic>
        <p:nvPicPr>
          <p:cNvPr id="8" name="Picture 7" descr="A logo with orange and grey text&#10;&#10;Description automatically generated">
            <a:extLst>
              <a:ext uri="{FF2B5EF4-FFF2-40B4-BE49-F238E27FC236}">
                <a16:creationId xmlns:a16="http://schemas.microsoft.com/office/drawing/2014/main" id="{224C2F61-35C9-A22F-7AB5-CA19B5F4A1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
        <p:nvSpPr>
          <p:cNvPr id="7" name="TextBox 6">
            <a:extLst>
              <a:ext uri="{FF2B5EF4-FFF2-40B4-BE49-F238E27FC236}">
                <a16:creationId xmlns:a16="http://schemas.microsoft.com/office/drawing/2014/main" id="{32E3442A-4BDF-99FB-AC9B-BE330FEBFCC7}"/>
              </a:ext>
            </a:extLst>
          </p:cNvPr>
          <p:cNvSpPr txBox="1"/>
          <p:nvPr/>
        </p:nvSpPr>
        <p:spPr>
          <a:xfrm>
            <a:off x="457200" y="904015"/>
            <a:ext cx="11277600" cy="5909310"/>
          </a:xfrm>
          <a:prstGeom prst="rect">
            <a:avLst/>
          </a:prstGeom>
          <a:noFill/>
        </p:spPr>
        <p:txBody>
          <a:bodyPr wrap="square" rtlCol="0">
            <a:spAutoFit/>
          </a:bodyPr>
          <a:lstStyle/>
          <a:p>
            <a:r>
              <a:rPr lang="en-AU" sz="2000" b="1">
                <a:solidFill>
                  <a:schemeClr val="tx1"/>
                </a:solidFill>
                <a:effectLst/>
                <a:latin typeface="Calibri" panose="020F0502020204030204" pitchFamily="34" charset="0"/>
                <a:ea typeface="Calibri" panose="020F0502020204030204" pitchFamily="34" charset="0"/>
                <a:cs typeface="Arial" panose="020B0604020202020204" pitchFamily="34" charset="0"/>
              </a:rPr>
              <a:t>The information you can provide about data characteristics:</a:t>
            </a:r>
          </a:p>
          <a:p>
            <a:r>
              <a:rPr lang="en-AU" sz="1800" b="1">
                <a:solidFill>
                  <a:schemeClr val="tx1"/>
                </a:solidFill>
                <a:effectLst/>
                <a:latin typeface="Calibri" panose="020F0502020204030204" pitchFamily="34" charset="0"/>
                <a:ea typeface="Calibri" panose="020F0502020204030204" pitchFamily="34" charset="0"/>
                <a:cs typeface="Arial" panose="020B0604020202020204" pitchFamily="34" charset="0"/>
              </a:rPr>
              <a:t>Type of Data:</a:t>
            </a:r>
            <a:r>
              <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rPr>
              <a:t> Whether the data is structured (like databases with defined fields), semi-structured (like JSON or XML files), or unstructured (like plain text or images).</a:t>
            </a:r>
          </a:p>
          <a:p>
            <a:endPar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r>
              <a:rPr lang="en-AU" sz="1800" b="1">
                <a:solidFill>
                  <a:schemeClr val="tx1"/>
                </a:solidFill>
                <a:effectLst/>
                <a:latin typeface="Calibri" panose="020F0502020204030204" pitchFamily="34" charset="0"/>
                <a:ea typeface="Calibri" panose="020F0502020204030204" pitchFamily="34" charset="0"/>
                <a:cs typeface="Arial" panose="020B0604020202020204" pitchFamily="34" charset="0"/>
              </a:rPr>
              <a:t>Volume</a:t>
            </a:r>
            <a:r>
              <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rPr>
              <a:t>: How much data is produced and stored. For example, clickstream data from a website might be generated at a rate of gigabytes per day, while a sales database might only be a few megabytes.</a:t>
            </a:r>
          </a:p>
          <a:p>
            <a:endPar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r>
              <a:rPr lang="en-AU" sz="1800" b="1">
                <a:solidFill>
                  <a:schemeClr val="tx1"/>
                </a:solidFill>
                <a:effectLst/>
                <a:latin typeface="Calibri" panose="020F0502020204030204" pitchFamily="34" charset="0"/>
                <a:ea typeface="Calibri" panose="020F0502020204030204" pitchFamily="34" charset="0"/>
                <a:cs typeface="Arial" panose="020B0604020202020204" pitchFamily="34" charset="0"/>
              </a:rPr>
              <a:t>Velocity</a:t>
            </a:r>
            <a:r>
              <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rPr>
              <a:t>: The speed at which new data is generated and needs to be processed. Real-time data, such as website interactions, has a high velocity.</a:t>
            </a:r>
          </a:p>
          <a:p>
            <a:endPar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r>
              <a:rPr lang="en-AU" sz="1800" b="1">
                <a:solidFill>
                  <a:schemeClr val="tx1"/>
                </a:solidFill>
                <a:effectLst/>
                <a:latin typeface="Calibri" panose="020F0502020204030204" pitchFamily="34" charset="0"/>
                <a:ea typeface="Calibri" panose="020F0502020204030204" pitchFamily="34" charset="0"/>
                <a:cs typeface="Arial" panose="020B0604020202020204" pitchFamily="34" charset="0"/>
              </a:rPr>
              <a:t>Variability</a:t>
            </a:r>
            <a:r>
              <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rPr>
              <a:t>: How consistent is the data format? If a data source frequently changes its format, it has high variability.</a:t>
            </a:r>
          </a:p>
          <a:p>
            <a:endPar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r>
              <a:rPr lang="en-AU" sz="1800" b="1">
                <a:solidFill>
                  <a:schemeClr val="tx1"/>
                </a:solidFill>
                <a:effectLst/>
                <a:latin typeface="Calibri" panose="020F0502020204030204" pitchFamily="34" charset="0"/>
                <a:ea typeface="Calibri" panose="020F0502020204030204" pitchFamily="34" charset="0"/>
                <a:cs typeface="Arial" panose="020B0604020202020204" pitchFamily="34" charset="0"/>
              </a:rPr>
              <a:t>Fields/Attributes</a:t>
            </a:r>
            <a:r>
              <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rPr>
              <a:t>: What are the specific pieces of information contained in the data? For instance, transactional data might have fields like </a:t>
            </a:r>
            <a:r>
              <a:rPr lang="en-AU" sz="1800" err="1">
                <a:solidFill>
                  <a:schemeClr val="tx1"/>
                </a:solidFill>
                <a:effectLst/>
                <a:latin typeface="Calibri" panose="020F0502020204030204" pitchFamily="34" charset="0"/>
                <a:ea typeface="Calibri" panose="020F0502020204030204" pitchFamily="34" charset="0"/>
                <a:cs typeface="Arial" panose="020B0604020202020204" pitchFamily="34" charset="0"/>
              </a:rPr>
              <a:t>TransactionID</a:t>
            </a:r>
            <a:r>
              <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lang="en-AU" sz="1800" err="1">
                <a:solidFill>
                  <a:schemeClr val="tx1"/>
                </a:solidFill>
                <a:effectLst/>
                <a:latin typeface="Calibri" panose="020F0502020204030204" pitchFamily="34" charset="0"/>
                <a:ea typeface="Calibri" panose="020F0502020204030204" pitchFamily="34" charset="0"/>
                <a:cs typeface="Arial" panose="020B0604020202020204" pitchFamily="34" charset="0"/>
              </a:rPr>
              <a:t>UserID</a:t>
            </a:r>
            <a:r>
              <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rPr>
              <a:t>, </a:t>
            </a:r>
            <a:r>
              <a:rPr lang="en-AU" sz="1800" err="1">
                <a:solidFill>
                  <a:schemeClr val="tx1"/>
                </a:solidFill>
                <a:effectLst/>
                <a:latin typeface="Calibri" panose="020F0502020204030204" pitchFamily="34" charset="0"/>
                <a:ea typeface="Calibri" panose="020F0502020204030204" pitchFamily="34" charset="0"/>
                <a:cs typeface="Arial" panose="020B0604020202020204" pitchFamily="34" charset="0"/>
              </a:rPr>
              <a:t>ProductID</a:t>
            </a:r>
            <a:r>
              <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rPr>
              <a:t>, Timestamp, and Amount.</a:t>
            </a:r>
          </a:p>
          <a:p>
            <a:endPar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r>
              <a:rPr lang="en-AU" sz="1800" b="1">
                <a:solidFill>
                  <a:schemeClr val="tx1"/>
                </a:solidFill>
                <a:effectLst/>
                <a:latin typeface="Calibri" panose="020F0502020204030204" pitchFamily="34" charset="0"/>
                <a:ea typeface="Calibri" panose="020F0502020204030204" pitchFamily="34" charset="0"/>
                <a:cs typeface="Arial" panose="020B0604020202020204" pitchFamily="34" charset="0"/>
              </a:rPr>
              <a:t>Format</a:t>
            </a:r>
            <a:r>
              <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rPr>
              <a:t>: How is the data formatted? Is it in CSV files, relational databases, logs, JSON files, etc.?</a:t>
            </a:r>
          </a:p>
          <a:p>
            <a:endPar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r>
              <a:rPr lang="en-AU" sz="1800" b="1">
                <a:solidFill>
                  <a:schemeClr val="tx1"/>
                </a:solidFill>
                <a:effectLst/>
                <a:latin typeface="Calibri" panose="020F0502020204030204" pitchFamily="34" charset="0"/>
                <a:ea typeface="Calibri" panose="020F0502020204030204" pitchFamily="34" charset="0"/>
                <a:cs typeface="Arial" panose="020B0604020202020204" pitchFamily="34" charset="0"/>
              </a:rPr>
              <a:t>Quality</a:t>
            </a:r>
            <a:r>
              <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rPr>
              <a:t>: The accuracy, completeness, reliability, and consistency of the data. High-quality data has fewer missing values, errors, or inconsistencies.</a:t>
            </a:r>
          </a:p>
          <a:p>
            <a:r>
              <a:rPr lang="en-AU" sz="1800" b="1">
                <a:solidFill>
                  <a:schemeClr val="tx1"/>
                </a:solidFill>
                <a:effectLst/>
                <a:latin typeface="Calibri" panose="020F0502020204030204" pitchFamily="34" charset="0"/>
                <a:ea typeface="Calibri" panose="020F0502020204030204" pitchFamily="34" charset="0"/>
                <a:cs typeface="Arial" panose="020B0604020202020204" pitchFamily="34" charset="0"/>
              </a:rPr>
              <a:t>Source</a:t>
            </a:r>
            <a:r>
              <a:rPr lang="en-AU" sz="1800">
                <a:solidFill>
                  <a:schemeClr val="tx1"/>
                </a:solidFill>
                <a:effectLst/>
                <a:latin typeface="Calibri" panose="020F0502020204030204" pitchFamily="34" charset="0"/>
                <a:ea typeface="Calibri" panose="020F0502020204030204" pitchFamily="34" charset="0"/>
                <a:cs typeface="Arial" panose="020B0604020202020204" pitchFamily="34" charset="0"/>
              </a:rPr>
              <a:t>: Where is the data coming from? Is it internal (like sales databases) or external (like social media analytics)?</a:t>
            </a:r>
          </a:p>
          <a:p>
            <a:endParaRPr lang="en-AU" sz="1600">
              <a:solidFill>
                <a:schemeClr val="tx1"/>
              </a:solidFill>
            </a:endParaRPr>
          </a:p>
        </p:txBody>
      </p:sp>
    </p:spTree>
    <p:extLst>
      <p:ext uri="{BB962C8B-B14F-4D97-AF65-F5344CB8AC3E}">
        <p14:creationId xmlns:p14="http://schemas.microsoft.com/office/powerpoint/2010/main" val="479567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419600" y="76200"/>
            <a:ext cx="60960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000" b="1">
                <a:solidFill>
                  <a:schemeClr val="bg1"/>
                </a:solidFill>
                <a:latin typeface="+mj-lt"/>
                <a:ea typeface="+mj-ea"/>
                <a:cs typeface="+mj-cs"/>
              </a:defRPr>
            </a:lvl1pPr>
            <a:lvl2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2pPr>
            <a:lvl3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3pPr>
            <a:lvl4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4pPr>
            <a:lvl5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5pPr>
            <a:lvl6pPr marL="4572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6pPr>
            <a:lvl7pPr marL="9144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7pPr>
            <a:lvl8pPr marL="13716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8pPr>
            <a:lvl9pPr marL="18288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9pPr>
          </a:lstStyle>
          <a:p>
            <a:pPr eaLnBrk="1" hangingPunct="1"/>
            <a:r>
              <a:rPr lang="en-GB">
                <a:latin typeface="Arial" pitchFamily="34" charset="0"/>
                <a:cs typeface="Arial" pitchFamily="34" charset="0"/>
              </a:rPr>
              <a:t>Linear Programming – Transportation</a:t>
            </a:r>
            <a:endParaRPr lang="en-AU" kern="0"/>
          </a:p>
        </p:txBody>
      </p:sp>
      <p:sp>
        <p:nvSpPr>
          <p:cNvPr id="5" name="Title 4"/>
          <p:cNvSpPr>
            <a:spLocks noGrp="1"/>
          </p:cNvSpPr>
          <p:nvPr>
            <p:ph type="title"/>
          </p:nvPr>
        </p:nvSpPr>
        <p:spPr>
          <a:xfrm>
            <a:off x="448540" y="-30162"/>
            <a:ext cx="10515600" cy="1325563"/>
          </a:xfrm>
        </p:spPr>
        <p:txBody>
          <a:bodyPr/>
          <a:lstStyle/>
          <a:p>
            <a:r>
              <a:rPr lang="en-AU"/>
              <a:t>Case Study</a:t>
            </a:r>
          </a:p>
        </p:txBody>
      </p:sp>
      <p:sp>
        <p:nvSpPr>
          <p:cNvPr id="2" name="Footer Placeholder 1"/>
          <p:cNvSpPr>
            <a:spLocks noGrp="1"/>
          </p:cNvSpPr>
          <p:nvPr>
            <p:ph type="ftr" sz="quarter" idx="11"/>
          </p:nvPr>
        </p:nvSpPr>
        <p:spPr/>
        <p:txBody>
          <a:bodyPr/>
          <a:lstStyle/>
          <a:p>
            <a:pPr>
              <a:defRPr/>
            </a:pPr>
            <a:r>
              <a:rPr lang="en-AU"/>
              <a:t>Big Data and Analytics</a:t>
            </a:r>
            <a:endParaRPr lang="en-US"/>
          </a:p>
        </p:txBody>
      </p:sp>
      <p:sp>
        <p:nvSpPr>
          <p:cNvPr id="3" name="Slide Number Placeholder 2"/>
          <p:cNvSpPr>
            <a:spLocks noGrp="1"/>
          </p:cNvSpPr>
          <p:nvPr>
            <p:ph type="sldNum" sz="quarter" idx="12"/>
          </p:nvPr>
        </p:nvSpPr>
        <p:spPr/>
        <p:txBody>
          <a:bodyPr/>
          <a:lstStyle/>
          <a:p>
            <a:fld id="{3956DA85-404E-9646-866F-75D030953504}" type="slidenum">
              <a:rPr lang="en-US" smtClean="0"/>
              <a:pPr/>
              <a:t>21</a:t>
            </a:fld>
            <a:endParaRPr lang="en-US"/>
          </a:p>
        </p:txBody>
      </p:sp>
      <p:pic>
        <p:nvPicPr>
          <p:cNvPr id="8" name="Picture 7" descr="A logo with orange and grey text&#10;&#10;Description automatically generated">
            <a:extLst>
              <a:ext uri="{FF2B5EF4-FFF2-40B4-BE49-F238E27FC236}">
                <a16:creationId xmlns:a16="http://schemas.microsoft.com/office/drawing/2014/main" id="{224C2F61-35C9-A22F-7AB5-CA19B5F4A1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
        <p:nvSpPr>
          <p:cNvPr id="9" name="TextBox 8">
            <a:extLst>
              <a:ext uri="{FF2B5EF4-FFF2-40B4-BE49-F238E27FC236}">
                <a16:creationId xmlns:a16="http://schemas.microsoft.com/office/drawing/2014/main" id="{17355375-4828-8173-1F0D-3E382EEFD698}"/>
              </a:ext>
            </a:extLst>
          </p:cNvPr>
          <p:cNvSpPr txBox="1"/>
          <p:nvPr/>
        </p:nvSpPr>
        <p:spPr>
          <a:xfrm>
            <a:off x="357718" y="837469"/>
            <a:ext cx="6248400" cy="5755422"/>
          </a:xfrm>
          <a:prstGeom prst="rect">
            <a:avLst/>
          </a:prstGeom>
          <a:noFill/>
        </p:spPr>
        <p:txBody>
          <a:bodyPr wrap="square" rtlCol="0">
            <a:spAutoFit/>
          </a:bodyPr>
          <a:lstStyle/>
          <a:p>
            <a:pPr algn="l"/>
            <a:r>
              <a:rPr lang="en-AU" sz="1800" b="1" i="0">
                <a:solidFill>
                  <a:schemeClr val="tx1"/>
                </a:solidFill>
                <a:effectLst/>
                <a:latin typeface="Söhne"/>
              </a:rPr>
              <a:t>Example of external data: Market Research:</a:t>
            </a:r>
          </a:p>
          <a:p>
            <a:pPr marL="228600" indent="-228600" algn="l">
              <a:buAutoNum type="arabicPeriod"/>
            </a:pPr>
            <a:r>
              <a:rPr lang="en-AU" sz="1400" b="1" i="0">
                <a:solidFill>
                  <a:schemeClr val="tx1"/>
                </a:solidFill>
                <a:effectLst/>
                <a:latin typeface="Söhne"/>
              </a:rPr>
              <a:t>Farm Reports:</a:t>
            </a:r>
            <a:endParaRPr lang="en-AU" sz="1400" b="0" i="0">
              <a:solidFill>
                <a:schemeClr val="tx1"/>
              </a:solidFill>
              <a:effectLst/>
              <a:latin typeface="Söhne"/>
            </a:endParaRPr>
          </a:p>
          <a:p>
            <a:pPr marL="285750" indent="-285750" algn="l">
              <a:buFont typeface="Arial" panose="020B0604020202020204" pitchFamily="34" charset="0"/>
              <a:buChar char="•"/>
            </a:pPr>
            <a:r>
              <a:rPr lang="en-AU" sz="1400" b="1" i="0">
                <a:solidFill>
                  <a:schemeClr val="tx1"/>
                </a:solidFill>
                <a:effectLst/>
                <a:latin typeface="Söhne"/>
              </a:rPr>
              <a:t>Source:</a:t>
            </a:r>
            <a:r>
              <a:rPr lang="en-AU" sz="1400" b="0" i="0">
                <a:solidFill>
                  <a:schemeClr val="tx1"/>
                </a:solidFill>
                <a:effectLst/>
                <a:latin typeface="Söhne"/>
              </a:rPr>
              <a:t> Typically generated by farmers or agricultural experts overseeing the operations of a farm.</a:t>
            </a:r>
          </a:p>
          <a:p>
            <a:pPr marL="285750" indent="-285750" algn="l">
              <a:buFont typeface="Arial" panose="020B0604020202020204" pitchFamily="34" charset="0"/>
              <a:buChar char="•"/>
            </a:pPr>
            <a:r>
              <a:rPr lang="en-AU" sz="1400" b="1" i="0">
                <a:solidFill>
                  <a:schemeClr val="tx1"/>
                </a:solidFill>
                <a:effectLst/>
                <a:latin typeface="Söhne"/>
              </a:rPr>
              <a:t>Content:</a:t>
            </a:r>
            <a:r>
              <a:rPr lang="en-AU" sz="1400" b="0" i="0">
                <a:solidFill>
                  <a:schemeClr val="tx1"/>
                </a:solidFill>
                <a:effectLst/>
                <a:latin typeface="Söhne"/>
              </a:rPr>
              <a:t> Contains information about crop yields, soil health, usage of fertilizers and pesticides, machinery and equipment status, livestock health (if applicable), and other farming activities.</a:t>
            </a:r>
          </a:p>
          <a:p>
            <a:pPr marL="285750" indent="-285750" algn="l">
              <a:buFont typeface="Arial" panose="020B0604020202020204" pitchFamily="34" charset="0"/>
              <a:buChar char="•"/>
            </a:pPr>
            <a:r>
              <a:rPr lang="en-AU" sz="1400" b="1" i="0">
                <a:solidFill>
                  <a:schemeClr val="tx1"/>
                </a:solidFill>
                <a:effectLst/>
                <a:latin typeface="Söhne"/>
              </a:rPr>
              <a:t>Structure:</a:t>
            </a:r>
            <a:r>
              <a:rPr lang="en-AU" sz="1400" b="0" i="0">
                <a:solidFill>
                  <a:schemeClr val="tx1"/>
                </a:solidFill>
                <a:effectLst/>
                <a:latin typeface="Söhne"/>
              </a:rPr>
              <a:t> Can be both structured (numeric data about yields, equipment usage, etc.) and unstructured (observations, notes about crop health or any anomalies).</a:t>
            </a:r>
          </a:p>
          <a:p>
            <a:pPr marL="285750" indent="-285750" algn="l">
              <a:buFont typeface="Arial" panose="020B0604020202020204" pitchFamily="34" charset="0"/>
              <a:buChar char="•"/>
            </a:pPr>
            <a:r>
              <a:rPr lang="en-AU" sz="1400" b="1" i="0">
                <a:solidFill>
                  <a:schemeClr val="tx1"/>
                </a:solidFill>
                <a:effectLst/>
                <a:latin typeface="Söhne"/>
              </a:rPr>
              <a:t>Frequency:</a:t>
            </a:r>
            <a:r>
              <a:rPr lang="en-AU" sz="1400" b="0" i="0">
                <a:solidFill>
                  <a:schemeClr val="tx1"/>
                </a:solidFill>
                <a:effectLst/>
                <a:latin typeface="Söhne"/>
              </a:rPr>
              <a:t> Might be generated after specific farming cycles, seasons, or at regular intervals (monthly, quarterly).</a:t>
            </a:r>
          </a:p>
          <a:p>
            <a:pPr marL="285750" indent="-285750" algn="l">
              <a:buFont typeface="Arial" panose="020B0604020202020204" pitchFamily="34" charset="0"/>
              <a:buChar char="•"/>
            </a:pPr>
            <a:r>
              <a:rPr lang="en-AU" sz="1400" b="1" i="0">
                <a:solidFill>
                  <a:schemeClr val="tx1"/>
                </a:solidFill>
                <a:effectLst/>
                <a:latin typeface="Söhne"/>
              </a:rPr>
              <a:t>Data Types:</a:t>
            </a:r>
            <a:endParaRPr lang="en-AU" sz="1400" b="0" i="0">
              <a:solidFill>
                <a:schemeClr val="tx1"/>
              </a:solidFill>
              <a:effectLst/>
              <a:latin typeface="Söhne"/>
            </a:endParaRPr>
          </a:p>
          <a:p>
            <a:pPr marL="742950" lvl="1" indent="-285750" algn="l">
              <a:buFont typeface="Arial" panose="020B0604020202020204" pitchFamily="34" charset="0"/>
              <a:buChar char="•"/>
            </a:pPr>
            <a:r>
              <a:rPr lang="en-AU" sz="1400" b="1" i="0">
                <a:solidFill>
                  <a:schemeClr val="tx1"/>
                </a:solidFill>
                <a:effectLst/>
                <a:latin typeface="Söhne"/>
              </a:rPr>
              <a:t>Structured:</a:t>
            </a:r>
            <a:r>
              <a:rPr lang="en-AU" sz="1400" b="0" i="0">
                <a:solidFill>
                  <a:schemeClr val="tx1"/>
                </a:solidFill>
                <a:effectLst/>
                <a:latin typeface="Söhne"/>
              </a:rPr>
              <a:t> Quantitative metrics like crop yield (in tons or other units), amount of fertilizer used (in kilograms or </a:t>
            </a:r>
            <a:r>
              <a:rPr lang="en-AU" sz="1400" b="0" i="0" err="1">
                <a:solidFill>
                  <a:schemeClr val="tx1"/>
                </a:solidFill>
                <a:effectLst/>
                <a:latin typeface="Söhne"/>
              </a:rPr>
              <a:t>liters</a:t>
            </a:r>
            <a:r>
              <a:rPr lang="en-AU" sz="1400" b="0" i="0">
                <a:solidFill>
                  <a:schemeClr val="tx1"/>
                </a:solidFill>
                <a:effectLst/>
                <a:latin typeface="Söhne"/>
              </a:rPr>
              <a:t>), number of equipment pieces used, etc.</a:t>
            </a:r>
          </a:p>
          <a:p>
            <a:pPr marL="742950" lvl="1" indent="-285750" algn="l">
              <a:buFont typeface="Arial" panose="020B0604020202020204" pitchFamily="34" charset="0"/>
              <a:buChar char="•"/>
            </a:pPr>
            <a:r>
              <a:rPr lang="en-AU" sz="1400" b="1" i="0">
                <a:solidFill>
                  <a:schemeClr val="tx1"/>
                </a:solidFill>
                <a:effectLst/>
                <a:latin typeface="Söhne"/>
              </a:rPr>
              <a:t>Unstructured:</a:t>
            </a:r>
            <a:r>
              <a:rPr lang="en-AU" sz="1400" b="0" i="0">
                <a:solidFill>
                  <a:schemeClr val="tx1"/>
                </a:solidFill>
                <a:effectLst/>
                <a:latin typeface="Söhne"/>
              </a:rPr>
              <a:t> Observations or notes about pest infestations, comments about soil health, remarks about any unusual weather conditions affecting crops, etc.</a:t>
            </a:r>
          </a:p>
          <a:p>
            <a:pPr marL="285750" indent="-285750" algn="l">
              <a:buFont typeface="Arial" panose="020B0604020202020204" pitchFamily="34" charset="0"/>
              <a:buChar char="•"/>
            </a:pPr>
            <a:r>
              <a:rPr lang="en-AU" sz="1400" b="1" i="0">
                <a:solidFill>
                  <a:schemeClr val="tx1"/>
                </a:solidFill>
                <a:effectLst/>
                <a:latin typeface="Söhne"/>
              </a:rPr>
              <a:t>Relevance:</a:t>
            </a:r>
            <a:r>
              <a:rPr lang="en-AU" sz="1400" b="0" i="0">
                <a:solidFill>
                  <a:schemeClr val="tx1"/>
                </a:solidFill>
                <a:effectLst/>
                <a:latin typeface="Söhne"/>
              </a:rPr>
              <a:t> Vital for understanding the agricultural output and any challenges faced during farming. It can influence decisions about what crops to prioritise, when to harvest, and how to deal with pests or diseases.</a:t>
            </a:r>
          </a:p>
          <a:p>
            <a:pPr algn="l"/>
            <a:r>
              <a:rPr lang="en-AU" sz="1400" b="1">
                <a:solidFill>
                  <a:srgbClr val="0432FF"/>
                </a:solidFill>
                <a:latin typeface="Söhne"/>
              </a:rPr>
              <a:t>Assumptions</a:t>
            </a:r>
            <a:r>
              <a:rPr lang="en-AU" sz="1400">
                <a:solidFill>
                  <a:schemeClr val="tx1"/>
                </a:solidFill>
                <a:latin typeface="Söhne"/>
              </a:rPr>
              <a:t>: </a:t>
            </a:r>
            <a:r>
              <a:rPr lang="en-AU" sz="1400" b="0" i="0">
                <a:solidFill>
                  <a:schemeClr val="tx1"/>
                </a:solidFill>
                <a:effectLst/>
                <a:latin typeface="Söhne"/>
              </a:rPr>
              <a:t>It's assumed that farm reports are provided immediately after the end of each farming cycle or season, allowing for timely decision-making. If receiving reports from multiple farms or suppliers, it's assumed that they all follow a standardized format or structure, aiding in easy comparison and aggregation.</a:t>
            </a:r>
          </a:p>
        </p:txBody>
      </p:sp>
      <p:sp>
        <p:nvSpPr>
          <p:cNvPr id="6" name="TextBox 5">
            <a:extLst>
              <a:ext uri="{FF2B5EF4-FFF2-40B4-BE49-F238E27FC236}">
                <a16:creationId xmlns:a16="http://schemas.microsoft.com/office/drawing/2014/main" id="{611DF768-1BF8-8E36-44C8-33601756083C}"/>
              </a:ext>
            </a:extLst>
          </p:cNvPr>
          <p:cNvSpPr txBox="1"/>
          <p:nvPr/>
        </p:nvSpPr>
        <p:spPr>
          <a:xfrm>
            <a:off x="6866660" y="960440"/>
            <a:ext cx="4876800" cy="5909310"/>
          </a:xfrm>
          <a:prstGeom prst="rect">
            <a:avLst/>
          </a:prstGeom>
          <a:noFill/>
        </p:spPr>
        <p:txBody>
          <a:bodyPr wrap="square" rtlCol="0">
            <a:spAutoFit/>
          </a:bodyPr>
          <a:lstStyle/>
          <a:p>
            <a:pPr algn="l"/>
            <a:r>
              <a:rPr lang="en-AU" sz="1400" b="1" i="0">
                <a:solidFill>
                  <a:schemeClr val="tx1"/>
                </a:solidFill>
                <a:effectLst/>
                <a:latin typeface="Söhne"/>
              </a:rPr>
              <a:t>2. Market Trend Data:</a:t>
            </a:r>
            <a:endParaRPr lang="en-AU" sz="1400" b="0" i="0">
              <a:solidFill>
                <a:schemeClr val="tx1"/>
              </a:solidFill>
              <a:effectLst/>
              <a:latin typeface="Söhne"/>
            </a:endParaRPr>
          </a:p>
          <a:p>
            <a:pPr marL="285750" indent="-285750" algn="l">
              <a:buFont typeface="Arial" panose="020B0604020202020204" pitchFamily="34" charset="0"/>
              <a:buChar char="•"/>
            </a:pPr>
            <a:r>
              <a:rPr lang="en-AU" sz="1400" b="1" i="0">
                <a:solidFill>
                  <a:schemeClr val="tx1"/>
                </a:solidFill>
                <a:effectLst/>
                <a:latin typeface="Söhne"/>
              </a:rPr>
              <a:t>Source:</a:t>
            </a:r>
            <a:r>
              <a:rPr lang="en-AU" sz="1400" b="0" i="0">
                <a:solidFill>
                  <a:schemeClr val="tx1"/>
                </a:solidFill>
                <a:effectLst/>
                <a:latin typeface="Söhne"/>
              </a:rPr>
              <a:t> Often generated by market research firms, industry experts, or gathered through surveys and data analytics tools.</a:t>
            </a:r>
          </a:p>
          <a:p>
            <a:pPr marL="285750" indent="-285750" algn="l">
              <a:buFont typeface="Arial" panose="020B0604020202020204" pitchFamily="34" charset="0"/>
              <a:buChar char="•"/>
            </a:pPr>
            <a:r>
              <a:rPr lang="en-AU" sz="1400" b="1" i="0">
                <a:solidFill>
                  <a:schemeClr val="tx1"/>
                </a:solidFill>
                <a:effectLst/>
                <a:latin typeface="Söhne"/>
              </a:rPr>
              <a:t>Content:</a:t>
            </a:r>
            <a:r>
              <a:rPr lang="en-AU" sz="1400" b="0" i="0">
                <a:solidFill>
                  <a:schemeClr val="tx1"/>
                </a:solidFill>
                <a:effectLst/>
                <a:latin typeface="Söhne"/>
              </a:rPr>
              <a:t> Contains insights about the popularity of certain products, changes in consumer preferences, market growth or decline rates, competitive analysis, and potential opportunities or threats.</a:t>
            </a:r>
          </a:p>
          <a:p>
            <a:pPr marL="285750" indent="-285750" algn="l">
              <a:buFont typeface="Arial" panose="020B0604020202020204" pitchFamily="34" charset="0"/>
              <a:buChar char="•"/>
            </a:pPr>
            <a:r>
              <a:rPr lang="en-AU" sz="1400" b="1" i="0">
                <a:solidFill>
                  <a:schemeClr val="tx1"/>
                </a:solidFill>
                <a:effectLst/>
                <a:latin typeface="Söhne"/>
              </a:rPr>
              <a:t>Structure:</a:t>
            </a:r>
            <a:r>
              <a:rPr lang="en-AU" sz="1400" b="0" i="0">
                <a:solidFill>
                  <a:schemeClr val="tx1"/>
                </a:solidFill>
                <a:effectLst/>
                <a:latin typeface="Söhne"/>
              </a:rPr>
              <a:t> Usually structured (data points, percentages, growth rates) but can also have unstructured elements (analyst observations, qualitative feedback from surveys).</a:t>
            </a:r>
          </a:p>
          <a:p>
            <a:pPr marL="285750" indent="-285750" algn="l">
              <a:buFont typeface="Arial" panose="020B0604020202020204" pitchFamily="34" charset="0"/>
              <a:buChar char="•"/>
            </a:pPr>
            <a:r>
              <a:rPr lang="en-AU" sz="1400" b="1" i="0">
                <a:solidFill>
                  <a:schemeClr val="tx1"/>
                </a:solidFill>
                <a:effectLst/>
                <a:latin typeface="Söhne"/>
              </a:rPr>
              <a:t>Frequency:</a:t>
            </a:r>
            <a:r>
              <a:rPr lang="en-AU" sz="1400" b="0" i="0">
                <a:solidFill>
                  <a:schemeClr val="tx1"/>
                </a:solidFill>
                <a:effectLst/>
                <a:latin typeface="Söhne"/>
              </a:rPr>
              <a:t> Can be updated periodically, such as monthly, quarterly, or annually. Special reports might be generated after significant market events.</a:t>
            </a:r>
          </a:p>
          <a:p>
            <a:pPr marL="285750" indent="-285750" algn="l">
              <a:buFont typeface="Arial" panose="020B0604020202020204" pitchFamily="34" charset="0"/>
              <a:buChar char="•"/>
            </a:pPr>
            <a:r>
              <a:rPr lang="en-AU" sz="1400" b="1" i="0">
                <a:solidFill>
                  <a:schemeClr val="tx1"/>
                </a:solidFill>
                <a:effectLst/>
                <a:latin typeface="Söhne"/>
              </a:rPr>
              <a:t>Data Types:</a:t>
            </a:r>
            <a:endParaRPr lang="en-AU" sz="1400" b="0" i="0">
              <a:solidFill>
                <a:schemeClr val="tx1"/>
              </a:solidFill>
              <a:effectLst/>
              <a:latin typeface="Söhne"/>
            </a:endParaRPr>
          </a:p>
          <a:p>
            <a:pPr marL="742950" lvl="1" indent="-285750" algn="l">
              <a:buFont typeface="Arial" panose="020B0604020202020204" pitchFamily="34" charset="0"/>
              <a:buChar char="•"/>
            </a:pPr>
            <a:r>
              <a:rPr lang="en-AU" sz="1400" b="1" i="0">
                <a:solidFill>
                  <a:schemeClr val="tx1"/>
                </a:solidFill>
                <a:effectLst/>
                <a:latin typeface="Söhne"/>
              </a:rPr>
              <a:t>Structured:</a:t>
            </a:r>
            <a:r>
              <a:rPr lang="en-AU" sz="1400" b="0" i="0">
                <a:solidFill>
                  <a:schemeClr val="tx1"/>
                </a:solidFill>
                <a:effectLst/>
                <a:latin typeface="Söhne"/>
              </a:rPr>
              <a:t> Numeric data like market growth rate (%), sales volume of specific products, market share (%), etc.</a:t>
            </a:r>
          </a:p>
          <a:p>
            <a:pPr marL="742950" lvl="1" indent="-285750" algn="l">
              <a:buFont typeface="Arial" panose="020B0604020202020204" pitchFamily="34" charset="0"/>
              <a:buChar char="•"/>
            </a:pPr>
            <a:r>
              <a:rPr lang="en-AU" sz="1400" b="1" i="0">
                <a:solidFill>
                  <a:schemeClr val="tx1"/>
                </a:solidFill>
                <a:effectLst/>
                <a:latin typeface="Söhne"/>
              </a:rPr>
              <a:t>Unstructured:</a:t>
            </a:r>
            <a:r>
              <a:rPr lang="en-AU" sz="1400" b="0" i="0">
                <a:solidFill>
                  <a:schemeClr val="tx1"/>
                </a:solidFill>
                <a:effectLst/>
                <a:latin typeface="Söhne"/>
              </a:rPr>
              <a:t> Qualitative feedback from consumers, expert opinions, and narrative descriptions of market dynamics.</a:t>
            </a:r>
          </a:p>
          <a:p>
            <a:pPr marL="285750" indent="-285750" algn="l">
              <a:buFont typeface="Arial" panose="020B0604020202020204" pitchFamily="34" charset="0"/>
              <a:buChar char="•"/>
            </a:pPr>
            <a:r>
              <a:rPr lang="en-AU" sz="1400" b="1" i="0">
                <a:solidFill>
                  <a:schemeClr val="tx1"/>
                </a:solidFill>
                <a:effectLst/>
                <a:latin typeface="Söhne"/>
              </a:rPr>
              <a:t>Relevance:</a:t>
            </a:r>
            <a:r>
              <a:rPr lang="en-AU" sz="1400" b="0" i="0">
                <a:solidFill>
                  <a:schemeClr val="tx1"/>
                </a:solidFill>
                <a:effectLst/>
                <a:latin typeface="Söhne"/>
              </a:rPr>
              <a:t> Essential for strategic decision-making. Helps businesses understand where they stand in the market, what products or services are gaining traction, and how to position themselves against competitors.</a:t>
            </a:r>
          </a:p>
          <a:p>
            <a:endParaRPr lang="en-AU" sz="1400">
              <a:solidFill>
                <a:schemeClr val="tx1"/>
              </a:solidFill>
            </a:endParaRPr>
          </a:p>
        </p:txBody>
      </p:sp>
    </p:spTree>
    <p:extLst>
      <p:ext uri="{BB962C8B-B14F-4D97-AF65-F5344CB8AC3E}">
        <p14:creationId xmlns:p14="http://schemas.microsoft.com/office/powerpoint/2010/main" val="2184085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419600" y="76200"/>
            <a:ext cx="60960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000" b="1">
                <a:solidFill>
                  <a:schemeClr val="bg1"/>
                </a:solidFill>
                <a:latin typeface="+mj-lt"/>
                <a:ea typeface="+mj-ea"/>
                <a:cs typeface="+mj-cs"/>
              </a:defRPr>
            </a:lvl1pPr>
            <a:lvl2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2pPr>
            <a:lvl3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3pPr>
            <a:lvl4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4pPr>
            <a:lvl5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5pPr>
            <a:lvl6pPr marL="4572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6pPr>
            <a:lvl7pPr marL="9144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7pPr>
            <a:lvl8pPr marL="13716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8pPr>
            <a:lvl9pPr marL="18288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9pPr>
          </a:lstStyle>
          <a:p>
            <a:pPr eaLnBrk="1" hangingPunct="1"/>
            <a:r>
              <a:rPr lang="en-GB">
                <a:latin typeface="Arial" pitchFamily="34" charset="0"/>
                <a:cs typeface="Arial" pitchFamily="34" charset="0"/>
              </a:rPr>
              <a:t>Linear Programming – Transportation</a:t>
            </a:r>
            <a:endParaRPr lang="en-AU" kern="0"/>
          </a:p>
        </p:txBody>
      </p:sp>
      <p:sp>
        <p:nvSpPr>
          <p:cNvPr id="5" name="Title 4"/>
          <p:cNvSpPr>
            <a:spLocks noGrp="1"/>
          </p:cNvSpPr>
          <p:nvPr>
            <p:ph type="title"/>
          </p:nvPr>
        </p:nvSpPr>
        <p:spPr>
          <a:xfrm>
            <a:off x="419100" y="-98653"/>
            <a:ext cx="10515600" cy="1325563"/>
          </a:xfrm>
        </p:spPr>
        <p:txBody>
          <a:bodyPr/>
          <a:lstStyle/>
          <a:p>
            <a:r>
              <a:rPr lang="en-AU"/>
              <a:t>Case Study</a:t>
            </a:r>
          </a:p>
        </p:txBody>
      </p:sp>
      <p:sp>
        <p:nvSpPr>
          <p:cNvPr id="2" name="Footer Placeholder 1"/>
          <p:cNvSpPr>
            <a:spLocks noGrp="1"/>
          </p:cNvSpPr>
          <p:nvPr>
            <p:ph type="ftr" sz="quarter" idx="11"/>
          </p:nvPr>
        </p:nvSpPr>
        <p:spPr/>
        <p:txBody>
          <a:bodyPr/>
          <a:lstStyle/>
          <a:p>
            <a:pPr>
              <a:defRPr/>
            </a:pPr>
            <a:r>
              <a:rPr lang="en-AU"/>
              <a:t>Big Data and Analytics</a:t>
            </a:r>
            <a:endParaRPr lang="en-US"/>
          </a:p>
        </p:txBody>
      </p:sp>
      <p:sp>
        <p:nvSpPr>
          <p:cNvPr id="3" name="Slide Number Placeholder 2"/>
          <p:cNvSpPr>
            <a:spLocks noGrp="1"/>
          </p:cNvSpPr>
          <p:nvPr>
            <p:ph type="sldNum" sz="quarter" idx="12"/>
          </p:nvPr>
        </p:nvSpPr>
        <p:spPr/>
        <p:txBody>
          <a:bodyPr/>
          <a:lstStyle/>
          <a:p>
            <a:fld id="{3956DA85-404E-9646-866F-75D030953504}" type="slidenum">
              <a:rPr lang="en-US" smtClean="0"/>
              <a:pPr/>
              <a:t>22</a:t>
            </a:fld>
            <a:endParaRPr lang="en-US"/>
          </a:p>
        </p:txBody>
      </p:sp>
      <p:pic>
        <p:nvPicPr>
          <p:cNvPr id="8" name="Picture 7" descr="A logo with orange and grey text&#10;&#10;Description automatically generated">
            <a:extLst>
              <a:ext uri="{FF2B5EF4-FFF2-40B4-BE49-F238E27FC236}">
                <a16:creationId xmlns:a16="http://schemas.microsoft.com/office/drawing/2014/main" id="{224C2F61-35C9-A22F-7AB5-CA19B5F4A1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
        <p:nvSpPr>
          <p:cNvPr id="6" name="TextBox 5">
            <a:extLst>
              <a:ext uri="{FF2B5EF4-FFF2-40B4-BE49-F238E27FC236}">
                <a16:creationId xmlns:a16="http://schemas.microsoft.com/office/drawing/2014/main" id="{46C79753-5235-5ED8-466B-07BC60AEFD12}"/>
              </a:ext>
            </a:extLst>
          </p:cNvPr>
          <p:cNvSpPr txBox="1"/>
          <p:nvPr/>
        </p:nvSpPr>
        <p:spPr>
          <a:xfrm>
            <a:off x="419100" y="888202"/>
            <a:ext cx="11353800" cy="5509200"/>
          </a:xfrm>
          <a:prstGeom prst="rect">
            <a:avLst/>
          </a:prstGeom>
          <a:noFill/>
        </p:spPr>
        <p:txBody>
          <a:bodyPr wrap="square" rtlCol="0">
            <a:spAutoFit/>
          </a:bodyPr>
          <a:lstStyle/>
          <a:p>
            <a:pPr algn="l"/>
            <a:r>
              <a:rPr lang="en-AU" sz="1600" b="1" i="0">
                <a:solidFill>
                  <a:schemeClr val="tx1"/>
                </a:solidFill>
                <a:effectLst/>
                <a:latin typeface="Söhne"/>
              </a:rPr>
              <a:t>Big Data Challenges:</a:t>
            </a:r>
            <a:endParaRPr lang="en-AU" sz="1600" b="0" i="0">
              <a:solidFill>
                <a:schemeClr val="tx1"/>
              </a:solidFill>
              <a:effectLst/>
              <a:latin typeface="Söhne"/>
            </a:endParaRPr>
          </a:p>
          <a:p>
            <a:pPr marL="285750" indent="-285750" algn="l">
              <a:buFont typeface="Arial" panose="020B0604020202020204" pitchFamily="34" charset="0"/>
              <a:buChar char="•"/>
            </a:pPr>
            <a:r>
              <a:rPr lang="en-AU" sz="1600" b="1" i="0">
                <a:solidFill>
                  <a:schemeClr val="tx1"/>
                </a:solidFill>
                <a:effectLst/>
                <a:latin typeface="Söhne"/>
              </a:rPr>
              <a:t>Data Volume:</a:t>
            </a:r>
            <a:r>
              <a:rPr lang="en-AU" sz="1600" b="0" i="0">
                <a:solidFill>
                  <a:schemeClr val="tx1"/>
                </a:solidFill>
                <a:effectLst/>
                <a:latin typeface="Söhne"/>
              </a:rPr>
              <a:t> With both online transactions and potential in-person events like health workshops, </a:t>
            </a:r>
            <a:r>
              <a:rPr lang="en-AU" sz="1600" b="1" i="0" err="1">
                <a:solidFill>
                  <a:schemeClr val="tx1"/>
                </a:solidFill>
                <a:effectLst/>
                <a:latin typeface="Söhne"/>
              </a:rPr>
              <a:t>CityFresh</a:t>
            </a:r>
            <a:r>
              <a:rPr lang="en-AU" sz="1600" b="1" i="0">
                <a:solidFill>
                  <a:schemeClr val="tx1"/>
                </a:solidFill>
                <a:effectLst/>
                <a:latin typeface="Söhne"/>
              </a:rPr>
              <a:t> Markets</a:t>
            </a:r>
            <a:r>
              <a:rPr lang="en-AU" sz="1600" b="0" i="0">
                <a:solidFill>
                  <a:schemeClr val="tx1"/>
                </a:solidFill>
                <a:effectLst/>
                <a:latin typeface="Söhne"/>
              </a:rPr>
              <a:t> is accumulating vast amounts of customer, transaction, and engagement data daily. Managing this magnitude, especially from diverse sources like the customer relations system, procurement logs, and digital operations, poses a significant challenge.</a:t>
            </a:r>
          </a:p>
          <a:p>
            <a:pPr marL="285750" indent="-285750" algn="l">
              <a:buFont typeface="Arial" panose="020B0604020202020204" pitchFamily="34" charset="0"/>
              <a:buChar char="•"/>
            </a:pPr>
            <a:endParaRPr lang="en-AU" sz="1600" b="0" i="0">
              <a:solidFill>
                <a:schemeClr val="tx1"/>
              </a:solidFill>
              <a:effectLst/>
              <a:latin typeface="Söhne"/>
            </a:endParaRPr>
          </a:p>
          <a:p>
            <a:pPr marL="285750" indent="-285750" algn="l">
              <a:buFont typeface="Arial" panose="020B0604020202020204" pitchFamily="34" charset="0"/>
              <a:buChar char="•"/>
            </a:pPr>
            <a:r>
              <a:rPr lang="en-AU" sz="1600" b="1" i="0">
                <a:solidFill>
                  <a:schemeClr val="tx1"/>
                </a:solidFill>
                <a:effectLst/>
                <a:latin typeface="Söhne"/>
              </a:rPr>
              <a:t>Data Variety:</a:t>
            </a:r>
            <a:r>
              <a:rPr lang="en-AU" sz="1600" b="0" i="0">
                <a:solidFill>
                  <a:schemeClr val="tx1"/>
                </a:solidFill>
                <a:effectLst/>
                <a:latin typeface="Söhne"/>
              </a:rPr>
              <a:t> The platform's digital operations might produce structured logs, while feedback from health campaigns could be unstructured text. The mix of structured, semi-structured (like JSON from web interactions), and unstructured data (like customer feedback or reviews) requires versatile processing solutions.</a:t>
            </a:r>
          </a:p>
          <a:p>
            <a:pPr marL="285750" indent="-285750" algn="l">
              <a:buFont typeface="Arial" panose="020B0604020202020204" pitchFamily="34" charset="0"/>
              <a:buChar char="•"/>
            </a:pPr>
            <a:endParaRPr lang="en-AU" sz="1600" b="0" i="0">
              <a:solidFill>
                <a:schemeClr val="tx1"/>
              </a:solidFill>
              <a:effectLst/>
              <a:latin typeface="Söhne"/>
            </a:endParaRPr>
          </a:p>
          <a:p>
            <a:pPr marL="285750" indent="-285750" algn="l">
              <a:buFont typeface="Arial" panose="020B0604020202020204" pitchFamily="34" charset="0"/>
              <a:buChar char="•"/>
            </a:pPr>
            <a:r>
              <a:rPr lang="en-AU" sz="1600" b="1" i="0">
                <a:solidFill>
                  <a:schemeClr val="tx1"/>
                </a:solidFill>
                <a:effectLst/>
                <a:latin typeface="Söhne"/>
              </a:rPr>
              <a:t>Data Velocity:</a:t>
            </a:r>
            <a:r>
              <a:rPr lang="en-AU" sz="1600" b="0" i="0">
                <a:solidFill>
                  <a:schemeClr val="tx1"/>
                </a:solidFill>
                <a:effectLst/>
                <a:latin typeface="Söhne"/>
              </a:rPr>
              <a:t> Real-time analytics from website interactions, combined with transactional data and feedback from bi-monthly e-magazines, means data is pouring in at high speeds. The company must be equipped to process this information promptly to make informed decisions.</a:t>
            </a:r>
          </a:p>
          <a:p>
            <a:pPr marL="285750" indent="-285750" algn="l">
              <a:buFont typeface="Arial" panose="020B0604020202020204" pitchFamily="34" charset="0"/>
              <a:buChar char="•"/>
            </a:pPr>
            <a:endParaRPr lang="en-AU" sz="1600" b="0" i="0">
              <a:solidFill>
                <a:schemeClr val="tx1"/>
              </a:solidFill>
              <a:effectLst/>
              <a:latin typeface="Söhne"/>
            </a:endParaRPr>
          </a:p>
          <a:p>
            <a:pPr marL="285750" indent="-285750" algn="l">
              <a:buFont typeface="Arial" panose="020B0604020202020204" pitchFamily="34" charset="0"/>
              <a:buChar char="•"/>
            </a:pPr>
            <a:r>
              <a:rPr lang="en-AU" sz="1600" b="1" i="0">
                <a:solidFill>
                  <a:schemeClr val="tx1"/>
                </a:solidFill>
                <a:effectLst/>
                <a:latin typeface="Söhne"/>
              </a:rPr>
              <a:t>Data Veracity:</a:t>
            </a:r>
            <a:r>
              <a:rPr lang="en-AU" sz="1600" b="0" i="0">
                <a:solidFill>
                  <a:schemeClr val="tx1"/>
                </a:solidFill>
                <a:effectLst/>
                <a:latin typeface="Söhne"/>
              </a:rPr>
              <a:t> Ensuring that feedback from health campaigns is genuine and not manipulated, verifying the authenticity of …...</a:t>
            </a:r>
          </a:p>
          <a:p>
            <a:pPr marL="285750" indent="-285750" algn="l">
              <a:buFont typeface="Arial" panose="020B0604020202020204" pitchFamily="34" charset="0"/>
              <a:buChar char="•"/>
            </a:pPr>
            <a:endParaRPr lang="en-AU" sz="1600" b="0" i="0">
              <a:solidFill>
                <a:schemeClr val="tx1"/>
              </a:solidFill>
              <a:effectLst/>
              <a:latin typeface="Söhne"/>
            </a:endParaRPr>
          </a:p>
          <a:p>
            <a:pPr marL="285750" indent="-285750" algn="l">
              <a:buFont typeface="Arial" panose="020B0604020202020204" pitchFamily="34" charset="0"/>
              <a:buChar char="•"/>
            </a:pPr>
            <a:r>
              <a:rPr lang="en-AU" sz="1600" b="1" i="0">
                <a:solidFill>
                  <a:schemeClr val="tx1"/>
                </a:solidFill>
                <a:effectLst/>
                <a:latin typeface="Söhne"/>
              </a:rPr>
              <a:t>Data Integration:</a:t>
            </a:r>
            <a:r>
              <a:rPr lang="en-AU" sz="1600" b="0" i="0">
                <a:solidFill>
                  <a:schemeClr val="tx1"/>
                </a:solidFill>
                <a:effectLst/>
                <a:latin typeface="Söhne"/>
              </a:rPr>
              <a:t> Merging data from the customer relations system with that of the health and nutrition outreach program, without causing data duplication or loss, is essential to …….</a:t>
            </a:r>
          </a:p>
          <a:p>
            <a:pPr marL="285750" indent="-285750" algn="l">
              <a:buFont typeface="Arial" panose="020B0604020202020204" pitchFamily="34" charset="0"/>
              <a:buChar char="•"/>
            </a:pPr>
            <a:endParaRPr lang="en-AU" sz="1600" b="0" i="0">
              <a:solidFill>
                <a:schemeClr val="tx1"/>
              </a:solidFill>
              <a:effectLst/>
              <a:latin typeface="Söhne"/>
            </a:endParaRPr>
          </a:p>
          <a:p>
            <a:pPr marL="285750" indent="-285750" algn="l">
              <a:buFont typeface="Arial" panose="020B0604020202020204" pitchFamily="34" charset="0"/>
              <a:buChar char="•"/>
            </a:pPr>
            <a:r>
              <a:rPr lang="en-AU" sz="1600" b="1" i="0">
                <a:solidFill>
                  <a:schemeClr val="tx1"/>
                </a:solidFill>
                <a:effectLst/>
                <a:latin typeface="Söhne"/>
              </a:rPr>
              <a:t>Data Privacy and Security:</a:t>
            </a:r>
            <a:r>
              <a:rPr lang="en-AU" sz="1600" b="0" i="0">
                <a:solidFill>
                  <a:schemeClr val="tx1"/>
                </a:solidFill>
                <a:effectLst/>
                <a:latin typeface="Söhne"/>
              </a:rPr>
              <a:t> Given the nature of products – fresh produce and organic foods – understanding customer dietary habits and preferences can be sensitive. Additionally, protecting transactional data and personal customer information from potential breaches is paramount in maintaining trust and compliance with data protection regulations.</a:t>
            </a:r>
          </a:p>
          <a:p>
            <a:endParaRPr lang="en-AU" sz="1600">
              <a:solidFill>
                <a:schemeClr val="tx1"/>
              </a:solidFill>
            </a:endParaRPr>
          </a:p>
        </p:txBody>
      </p:sp>
    </p:spTree>
    <p:extLst>
      <p:ext uri="{BB962C8B-B14F-4D97-AF65-F5344CB8AC3E}">
        <p14:creationId xmlns:p14="http://schemas.microsoft.com/office/powerpoint/2010/main" val="2888533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419600" y="76200"/>
            <a:ext cx="60960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000" b="1">
                <a:solidFill>
                  <a:schemeClr val="bg1"/>
                </a:solidFill>
                <a:latin typeface="+mj-lt"/>
                <a:ea typeface="+mj-ea"/>
                <a:cs typeface="+mj-cs"/>
              </a:defRPr>
            </a:lvl1pPr>
            <a:lvl2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2pPr>
            <a:lvl3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3pPr>
            <a:lvl4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4pPr>
            <a:lvl5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5pPr>
            <a:lvl6pPr marL="4572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6pPr>
            <a:lvl7pPr marL="9144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7pPr>
            <a:lvl8pPr marL="13716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8pPr>
            <a:lvl9pPr marL="18288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9pPr>
          </a:lstStyle>
          <a:p>
            <a:pPr eaLnBrk="1" hangingPunct="1"/>
            <a:r>
              <a:rPr lang="en-GB">
                <a:latin typeface="Arial" pitchFamily="34" charset="0"/>
                <a:cs typeface="Arial" pitchFamily="34" charset="0"/>
              </a:rPr>
              <a:t>Linear Programming – Transportation</a:t>
            </a:r>
            <a:endParaRPr lang="en-AU" kern="0"/>
          </a:p>
        </p:txBody>
      </p:sp>
      <p:sp>
        <p:nvSpPr>
          <p:cNvPr id="5" name="Title 4"/>
          <p:cNvSpPr>
            <a:spLocks noGrp="1"/>
          </p:cNvSpPr>
          <p:nvPr>
            <p:ph type="title"/>
          </p:nvPr>
        </p:nvSpPr>
        <p:spPr>
          <a:xfrm>
            <a:off x="457200" y="-30162"/>
            <a:ext cx="10515600" cy="1325563"/>
          </a:xfrm>
        </p:spPr>
        <p:txBody>
          <a:bodyPr/>
          <a:lstStyle/>
          <a:p>
            <a:r>
              <a:rPr lang="en-AU"/>
              <a:t>Case Study</a:t>
            </a:r>
          </a:p>
        </p:txBody>
      </p:sp>
      <p:sp>
        <p:nvSpPr>
          <p:cNvPr id="2" name="Footer Placeholder 1"/>
          <p:cNvSpPr>
            <a:spLocks noGrp="1"/>
          </p:cNvSpPr>
          <p:nvPr>
            <p:ph type="ftr" sz="quarter" idx="11"/>
          </p:nvPr>
        </p:nvSpPr>
        <p:spPr/>
        <p:txBody>
          <a:bodyPr/>
          <a:lstStyle/>
          <a:p>
            <a:pPr>
              <a:defRPr/>
            </a:pPr>
            <a:r>
              <a:rPr lang="en-AU"/>
              <a:t>Big Data and Analytics</a:t>
            </a:r>
            <a:endParaRPr lang="en-US"/>
          </a:p>
        </p:txBody>
      </p:sp>
      <p:sp>
        <p:nvSpPr>
          <p:cNvPr id="3" name="Slide Number Placeholder 2"/>
          <p:cNvSpPr>
            <a:spLocks noGrp="1"/>
          </p:cNvSpPr>
          <p:nvPr>
            <p:ph type="sldNum" sz="quarter" idx="12"/>
          </p:nvPr>
        </p:nvSpPr>
        <p:spPr/>
        <p:txBody>
          <a:bodyPr/>
          <a:lstStyle/>
          <a:p>
            <a:fld id="{3956DA85-404E-9646-866F-75D030953504}" type="slidenum">
              <a:rPr lang="en-US" smtClean="0"/>
              <a:pPr/>
              <a:t>23</a:t>
            </a:fld>
            <a:endParaRPr lang="en-US"/>
          </a:p>
        </p:txBody>
      </p:sp>
      <p:pic>
        <p:nvPicPr>
          <p:cNvPr id="8" name="Picture 7" descr="A logo with orange and grey text&#10;&#10;Description automatically generated">
            <a:extLst>
              <a:ext uri="{FF2B5EF4-FFF2-40B4-BE49-F238E27FC236}">
                <a16:creationId xmlns:a16="http://schemas.microsoft.com/office/drawing/2014/main" id="{224C2F61-35C9-A22F-7AB5-CA19B5F4A1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
        <p:nvSpPr>
          <p:cNvPr id="6" name="TextBox 5">
            <a:extLst>
              <a:ext uri="{FF2B5EF4-FFF2-40B4-BE49-F238E27FC236}">
                <a16:creationId xmlns:a16="http://schemas.microsoft.com/office/drawing/2014/main" id="{46C79753-5235-5ED8-466B-07BC60AEFD12}"/>
              </a:ext>
            </a:extLst>
          </p:cNvPr>
          <p:cNvSpPr txBox="1"/>
          <p:nvPr/>
        </p:nvSpPr>
        <p:spPr>
          <a:xfrm>
            <a:off x="457200" y="885471"/>
            <a:ext cx="10972800" cy="5755422"/>
          </a:xfrm>
          <a:prstGeom prst="rect">
            <a:avLst/>
          </a:prstGeom>
          <a:noFill/>
        </p:spPr>
        <p:txBody>
          <a:bodyPr wrap="square" rtlCol="0">
            <a:spAutoFit/>
          </a:bodyPr>
          <a:lstStyle/>
          <a:p>
            <a:pPr algn="l"/>
            <a:r>
              <a:rPr lang="en-AU" sz="1800" b="1" i="0">
                <a:solidFill>
                  <a:schemeClr val="tx1"/>
                </a:solidFill>
                <a:effectLst/>
                <a:latin typeface="Söhne"/>
              </a:rPr>
              <a:t>Recommended Data pipeline:</a:t>
            </a:r>
          </a:p>
          <a:p>
            <a:pPr algn="l"/>
            <a:r>
              <a:rPr lang="en-AU" sz="1400" b="1" i="0">
                <a:solidFill>
                  <a:schemeClr val="tx1"/>
                </a:solidFill>
                <a:effectLst/>
                <a:latin typeface="Söhne"/>
              </a:rPr>
              <a:t>Data Ingestion</a:t>
            </a:r>
            <a:endParaRPr lang="en-AU" sz="1400" b="0" i="0">
              <a:solidFill>
                <a:schemeClr val="tx1"/>
              </a:solidFill>
              <a:effectLst/>
              <a:latin typeface="Söhne"/>
            </a:endParaRPr>
          </a:p>
          <a:p>
            <a:pPr marL="285750" indent="-285750" algn="l">
              <a:buFont typeface="Arial" panose="020B0604020202020204" pitchFamily="34" charset="0"/>
              <a:buChar char="•"/>
            </a:pPr>
            <a:r>
              <a:rPr lang="en-AU" sz="1400" b="0" i="0">
                <a:solidFill>
                  <a:schemeClr val="tx1"/>
                </a:solidFill>
                <a:effectLst/>
                <a:latin typeface="Söhne"/>
              </a:rPr>
              <a:t>Extract data from farm management systems, health and nutrition outreach records, procurement systems, and digital operations logs.</a:t>
            </a:r>
          </a:p>
          <a:p>
            <a:pPr marL="285750" indent="-285750" algn="l">
              <a:buFont typeface="Arial" panose="020B0604020202020204" pitchFamily="34" charset="0"/>
              <a:buChar char="•"/>
            </a:pPr>
            <a:r>
              <a:rPr lang="en-AU" sz="1400" b="0" i="0">
                <a:solidFill>
                  <a:schemeClr val="tx1"/>
                </a:solidFill>
                <a:effectLst/>
                <a:latin typeface="Söhne"/>
              </a:rPr>
              <a:t>Utilise sensors, IoT devices, or manual data logging mechanisms from the farm fields to capture real-time data on crop health, soil conditions, and weather patterns.</a:t>
            </a:r>
          </a:p>
          <a:p>
            <a:pPr marL="285750" indent="-285750" algn="l">
              <a:buFont typeface="Arial" panose="020B0604020202020204" pitchFamily="34" charset="0"/>
              <a:buChar char="•"/>
            </a:pPr>
            <a:r>
              <a:rPr lang="en-AU" sz="1400" b="0" i="0">
                <a:solidFill>
                  <a:schemeClr val="tx1"/>
                </a:solidFill>
                <a:effectLst/>
                <a:latin typeface="Söhne"/>
              </a:rPr>
              <a:t>Ingest data from external sources like weather forecast services, agricultural research bodies, and any collaborations with universities or </a:t>
            </a:r>
            <a:r>
              <a:rPr lang="en-AU" sz="1400" b="0" i="0" err="1">
                <a:solidFill>
                  <a:schemeClr val="tx1"/>
                </a:solidFill>
                <a:effectLst/>
                <a:latin typeface="Söhne"/>
              </a:rPr>
              <a:t>agri</a:t>
            </a:r>
            <a:r>
              <a:rPr lang="en-AU" sz="1400" b="0" i="0">
                <a:solidFill>
                  <a:schemeClr val="tx1"/>
                </a:solidFill>
                <a:effectLst/>
                <a:latin typeface="Söhne"/>
              </a:rPr>
              <a:t>-tech companies.</a:t>
            </a:r>
          </a:p>
          <a:p>
            <a:pPr algn="l"/>
            <a:r>
              <a:rPr lang="en-AU" sz="1400" b="1" i="0">
                <a:solidFill>
                  <a:schemeClr val="tx1"/>
                </a:solidFill>
                <a:effectLst/>
                <a:latin typeface="Söhne"/>
              </a:rPr>
              <a:t>Data Transformation</a:t>
            </a:r>
            <a:endParaRPr lang="en-AU" sz="1400" b="0" i="0">
              <a:solidFill>
                <a:schemeClr val="tx1"/>
              </a:solidFill>
              <a:effectLst/>
              <a:latin typeface="Söhne"/>
            </a:endParaRPr>
          </a:p>
          <a:p>
            <a:pPr marL="285750" indent="-285750" algn="l">
              <a:buFont typeface="Arial" panose="020B0604020202020204" pitchFamily="34" charset="0"/>
              <a:buChar char="•"/>
            </a:pPr>
            <a:r>
              <a:rPr lang="en-AU" sz="1400" b="0" i="0">
                <a:solidFill>
                  <a:schemeClr val="tx1"/>
                </a:solidFill>
                <a:effectLst/>
                <a:latin typeface="Söhne"/>
              </a:rPr>
              <a:t>Process data to ensure uniformity, especially if data is coming from diverse farm sources or different farming methodologies.</a:t>
            </a:r>
          </a:p>
          <a:p>
            <a:pPr marL="285750" indent="-285750" algn="l">
              <a:buFont typeface="Arial" panose="020B0604020202020204" pitchFamily="34" charset="0"/>
              <a:buChar char="•"/>
            </a:pPr>
            <a:r>
              <a:rPr lang="en-AU" sz="1400" b="0" i="0">
                <a:solidFill>
                  <a:schemeClr val="tx1"/>
                </a:solidFill>
                <a:effectLst/>
                <a:latin typeface="Söhne"/>
              </a:rPr>
              <a:t>Handle missing data, outliers, or inconsistencies often found in sensor data or manual logs.</a:t>
            </a:r>
          </a:p>
          <a:p>
            <a:pPr marL="285750" indent="-285750" algn="l">
              <a:buFont typeface="Arial" panose="020B0604020202020204" pitchFamily="34" charset="0"/>
              <a:buChar char="•"/>
            </a:pPr>
            <a:r>
              <a:rPr lang="en-AU" sz="1400" b="0" i="0">
                <a:solidFill>
                  <a:schemeClr val="tx1"/>
                </a:solidFill>
                <a:effectLst/>
                <a:latin typeface="Söhne"/>
              </a:rPr>
              <a:t>Integrate insights from market trend data to associate with actual farm outputs, leading to better demand-supply matching.</a:t>
            </a:r>
          </a:p>
          <a:p>
            <a:pPr algn="l"/>
            <a:r>
              <a:rPr lang="en-AU" sz="1400" b="1" i="0">
                <a:solidFill>
                  <a:schemeClr val="tx1"/>
                </a:solidFill>
                <a:effectLst/>
                <a:latin typeface="Söhne"/>
              </a:rPr>
              <a:t>Data Storage</a:t>
            </a:r>
            <a:endParaRPr lang="en-AU" sz="1400" b="0" i="0">
              <a:solidFill>
                <a:schemeClr val="tx1"/>
              </a:solidFill>
              <a:effectLst/>
              <a:latin typeface="Söhne"/>
            </a:endParaRPr>
          </a:p>
          <a:p>
            <a:pPr marL="285750" indent="-285750" algn="l">
              <a:buFont typeface="Arial" panose="020B0604020202020204" pitchFamily="34" charset="0"/>
              <a:buChar char="•"/>
            </a:pPr>
            <a:r>
              <a:rPr lang="en-AU" sz="1400" b="0" i="0">
                <a:solidFill>
                  <a:schemeClr val="tx1"/>
                </a:solidFill>
                <a:effectLst/>
                <a:latin typeface="Söhne"/>
              </a:rPr>
              <a:t>Use a hybrid storage system that combines relational databases for structured data (like farm reports) and NoSQL or data lakes for semi-structured and unstructured data (like sensor logs or images).</a:t>
            </a:r>
          </a:p>
          <a:p>
            <a:pPr marL="285750" indent="-285750" algn="l">
              <a:buFont typeface="Arial" panose="020B0604020202020204" pitchFamily="34" charset="0"/>
              <a:buChar char="•"/>
            </a:pPr>
            <a:r>
              <a:rPr lang="en-AU" sz="1400" b="0" i="0">
                <a:solidFill>
                  <a:schemeClr val="tx1"/>
                </a:solidFill>
                <a:effectLst/>
                <a:latin typeface="Söhne"/>
              </a:rPr>
              <a:t>Leverage cloud platforms like AWS, GCP, or Azure for scalability, especially during harvesting seasons when data influx might be higher.</a:t>
            </a:r>
          </a:p>
          <a:p>
            <a:pPr marL="285750" indent="-285750" algn="l">
              <a:buFont typeface="Arial" panose="020B0604020202020204" pitchFamily="34" charset="0"/>
              <a:buChar char="•"/>
            </a:pPr>
            <a:r>
              <a:rPr lang="en-AU" sz="1400" b="0" i="0">
                <a:solidFill>
                  <a:schemeClr val="tx1"/>
                </a:solidFill>
                <a:effectLst/>
                <a:latin typeface="Söhne"/>
              </a:rPr>
              <a:t>Maintain backup mechanisms considering the critical nature of the data.</a:t>
            </a:r>
          </a:p>
          <a:p>
            <a:pPr algn="l"/>
            <a:r>
              <a:rPr lang="en-AU" sz="1400" b="1" i="0">
                <a:solidFill>
                  <a:schemeClr val="tx1"/>
                </a:solidFill>
                <a:effectLst/>
                <a:latin typeface="Söhne"/>
              </a:rPr>
              <a:t>Data Analytics</a:t>
            </a:r>
            <a:endParaRPr lang="en-AU" sz="1400" b="0" i="0">
              <a:solidFill>
                <a:schemeClr val="tx1"/>
              </a:solidFill>
              <a:effectLst/>
              <a:latin typeface="Söhne"/>
            </a:endParaRPr>
          </a:p>
          <a:p>
            <a:pPr marL="285750" indent="-285750" algn="l">
              <a:buFont typeface="Arial" panose="020B0604020202020204" pitchFamily="34" charset="0"/>
              <a:buChar char="•"/>
            </a:pPr>
            <a:r>
              <a:rPr lang="en-AU" sz="1400" b="0" i="0">
                <a:solidFill>
                  <a:schemeClr val="tx1"/>
                </a:solidFill>
                <a:effectLst/>
                <a:latin typeface="Söhne"/>
              </a:rPr>
              <a:t>Implement frameworks such as Apache Spark for analytics that combine farm operations with market trends.</a:t>
            </a:r>
          </a:p>
          <a:p>
            <a:pPr marL="285750" indent="-285750" algn="l">
              <a:buFont typeface="Arial" panose="020B0604020202020204" pitchFamily="34" charset="0"/>
              <a:buChar char="•"/>
            </a:pPr>
            <a:r>
              <a:rPr lang="en-AU" sz="1400" b="0" i="0">
                <a:solidFill>
                  <a:schemeClr val="tx1"/>
                </a:solidFill>
                <a:effectLst/>
                <a:latin typeface="Söhne"/>
              </a:rPr>
              <a:t>Apply advanced analytics for soil health prediction, crop yield forecasting, and pest/disease prediction using AI/ML models.</a:t>
            </a:r>
          </a:p>
          <a:p>
            <a:pPr marL="285750" indent="-285750" algn="l">
              <a:buFont typeface="Arial" panose="020B0604020202020204" pitchFamily="34" charset="0"/>
              <a:buChar char="•"/>
            </a:pPr>
            <a:r>
              <a:rPr lang="en-AU" sz="1400" b="0" i="0">
                <a:solidFill>
                  <a:schemeClr val="tx1"/>
                </a:solidFill>
                <a:effectLst/>
                <a:latin typeface="Söhne"/>
              </a:rPr>
              <a:t>Integrate insights from health campaigns and nutrition webinars to align crop production with ongoing health trends.</a:t>
            </a:r>
          </a:p>
          <a:p>
            <a:pPr algn="l"/>
            <a:r>
              <a:rPr lang="en-AU" sz="1400" b="1" i="0">
                <a:solidFill>
                  <a:schemeClr val="tx1"/>
                </a:solidFill>
                <a:effectLst/>
                <a:latin typeface="Söhne"/>
              </a:rPr>
              <a:t>Data Visualisation and Reporting</a:t>
            </a:r>
            <a:endParaRPr lang="en-AU" sz="1400" b="0" i="0">
              <a:solidFill>
                <a:schemeClr val="tx1"/>
              </a:solidFill>
              <a:effectLst/>
              <a:latin typeface="Söhne"/>
            </a:endParaRPr>
          </a:p>
          <a:p>
            <a:pPr marL="285750" indent="-285750" algn="l">
              <a:buFont typeface="Arial" panose="020B0604020202020204" pitchFamily="34" charset="0"/>
              <a:buChar char="•"/>
            </a:pPr>
            <a:r>
              <a:rPr lang="en-AU" sz="1400" b="0" i="0">
                <a:solidFill>
                  <a:schemeClr val="tx1"/>
                </a:solidFill>
                <a:effectLst/>
                <a:latin typeface="Söhne"/>
              </a:rPr>
              <a:t>Utilize domain-specific visualization tools that cater to agriculture, like </a:t>
            </a:r>
            <a:r>
              <a:rPr lang="en-AU" sz="1400" b="0" i="0" err="1">
                <a:solidFill>
                  <a:schemeClr val="tx1"/>
                </a:solidFill>
                <a:effectLst/>
                <a:latin typeface="Söhne"/>
              </a:rPr>
              <a:t>AgStudio</a:t>
            </a:r>
            <a:r>
              <a:rPr lang="en-AU" sz="1400" b="0" i="0">
                <a:solidFill>
                  <a:schemeClr val="tx1"/>
                </a:solidFill>
                <a:effectLst/>
                <a:latin typeface="Söhne"/>
              </a:rPr>
              <a:t> or </a:t>
            </a:r>
            <a:r>
              <a:rPr lang="en-AU" sz="1400" b="0" i="0" err="1">
                <a:solidFill>
                  <a:schemeClr val="tx1"/>
                </a:solidFill>
                <a:effectLst/>
                <a:latin typeface="Söhne"/>
              </a:rPr>
              <a:t>FarmLogs</a:t>
            </a:r>
            <a:r>
              <a:rPr lang="en-AU" sz="1400" b="0" i="0">
                <a:solidFill>
                  <a:schemeClr val="tx1"/>
                </a:solidFill>
                <a:effectLst/>
                <a:latin typeface="Söhne"/>
              </a:rPr>
              <a:t>, along with mainstream tools like Tableau or Power BI.</a:t>
            </a:r>
          </a:p>
          <a:p>
            <a:pPr marL="285750" indent="-285750" algn="l">
              <a:buFont typeface="Arial" panose="020B0604020202020204" pitchFamily="34" charset="0"/>
              <a:buChar char="•"/>
            </a:pPr>
            <a:r>
              <a:rPr lang="en-AU" sz="1400" b="0" i="0">
                <a:solidFill>
                  <a:schemeClr val="tx1"/>
                </a:solidFill>
                <a:effectLst/>
                <a:latin typeface="Söhne"/>
              </a:rPr>
              <a:t>Design dashboards that provide insights into farm productivity, crop health, inventory status, and correlation with market trends.</a:t>
            </a:r>
          </a:p>
          <a:p>
            <a:pPr marL="285750" indent="-285750" algn="l">
              <a:buFont typeface="Arial" panose="020B0604020202020204" pitchFamily="34" charset="0"/>
              <a:buChar char="•"/>
            </a:pPr>
            <a:r>
              <a:rPr lang="en-AU" sz="1400" b="0" i="0">
                <a:solidFill>
                  <a:schemeClr val="tx1"/>
                </a:solidFill>
                <a:effectLst/>
                <a:latin typeface="Söhne"/>
              </a:rPr>
              <a:t>Make the data accessible to various stakeholders - from farm managers and field workers to supply chain personnel and market strategists.</a:t>
            </a:r>
          </a:p>
          <a:p>
            <a:endParaRPr lang="en-AU" sz="1400">
              <a:solidFill>
                <a:schemeClr val="tx1"/>
              </a:solidFill>
            </a:endParaRPr>
          </a:p>
        </p:txBody>
      </p:sp>
    </p:spTree>
    <p:extLst>
      <p:ext uri="{BB962C8B-B14F-4D97-AF65-F5344CB8AC3E}">
        <p14:creationId xmlns:p14="http://schemas.microsoft.com/office/powerpoint/2010/main" val="26954135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166360" y="6464808"/>
            <a:ext cx="2011680" cy="228600"/>
          </a:xfrm>
          <a:prstGeom prst="rect">
            <a:avLst/>
          </a:prstGeom>
          <a:noFill/>
        </p:spPr>
        <p:txBody>
          <a:bodyPr wrap="none">
            <a:spAutoFit/>
          </a:bodyPr>
          <a:lstStyle/>
          <a:p>
            <a:pPr algn="ctr"/>
            <a:r>
              <a:rPr sz="1200">
                <a:solidFill>
                  <a:srgbClr val="FFFFFF"/>
                </a:solidFill>
                <a:latin typeface="Arial"/>
              </a:rPr>
              <a:t>Big Data and Analytics</a:t>
            </a:r>
          </a:p>
        </p:txBody>
      </p:sp>
      <p:sp>
        <p:nvSpPr>
          <p:cNvPr id="8" name="TextBox 7"/>
          <p:cNvSpPr txBox="1"/>
          <p:nvPr/>
        </p:nvSpPr>
        <p:spPr>
          <a:xfrm>
            <a:off x="621792" y="201168"/>
            <a:ext cx="8961120" cy="502920"/>
          </a:xfrm>
          <a:prstGeom prst="rect">
            <a:avLst/>
          </a:prstGeom>
          <a:noFill/>
        </p:spPr>
        <p:txBody>
          <a:bodyPr wrap="none">
            <a:spAutoFit/>
          </a:bodyPr>
          <a:lstStyle/>
          <a:p>
            <a:r>
              <a:rPr sz="2400" b="1">
                <a:solidFill>
                  <a:srgbClr val="990000"/>
                </a:solidFill>
                <a:latin typeface="Arial"/>
              </a:rPr>
              <a:t>Recommended Tools and Platforms</a:t>
            </a:r>
          </a:p>
        </p:txBody>
      </p:sp>
      <p:sp>
        <p:nvSpPr>
          <p:cNvPr id="9" name="Rectangle 8"/>
          <p:cNvSpPr/>
          <p:nvPr/>
        </p:nvSpPr>
        <p:spPr>
          <a:xfrm>
            <a:off x="548640" y="1143000"/>
            <a:ext cx="1828800" cy="621792"/>
          </a:xfrm>
          <a:prstGeom prst="rect">
            <a:avLst/>
          </a:prstGeom>
          <a:solidFill>
            <a:srgbClr val="C6212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72" y="1170432"/>
            <a:ext cx="1773936" cy="566928"/>
          </a:xfrm>
          <a:prstGeom prst="rect">
            <a:avLst/>
          </a:prstGeom>
          <a:noFill/>
        </p:spPr>
        <p:txBody>
          <a:bodyPr wrap="none">
            <a:spAutoFit/>
          </a:bodyPr>
          <a:lstStyle/>
          <a:p>
            <a:pPr algn="ctr"/>
            <a:r>
              <a:rPr sz="1200" b="1">
                <a:solidFill>
                  <a:srgbClr val="FFFFFF"/>
                </a:solidFill>
                <a:latin typeface="Arial"/>
              </a:rPr>
              <a:t>Pipeline stage</a:t>
            </a:r>
          </a:p>
        </p:txBody>
      </p:sp>
      <p:sp>
        <p:nvSpPr>
          <p:cNvPr id="11" name="Rectangle 10"/>
          <p:cNvSpPr/>
          <p:nvPr/>
        </p:nvSpPr>
        <p:spPr>
          <a:xfrm>
            <a:off x="2377440" y="1143000"/>
            <a:ext cx="3520440" cy="621792"/>
          </a:xfrm>
          <a:prstGeom prst="rect">
            <a:avLst/>
          </a:prstGeom>
          <a:solidFill>
            <a:srgbClr val="C6212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04872" y="1170432"/>
            <a:ext cx="3465576" cy="566928"/>
          </a:xfrm>
          <a:prstGeom prst="rect">
            <a:avLst/>
          </a:prstGeom>
          <a:noFill/>
        </p:spPr>
        <p:txBody>
          <a:bodyPr wrap="none">
            <a:spAutoFit/>
          </a:bodyPr>
          <a:lstStyle/>
          <a:p>
            <a:pPr algn="ctr"/>
            <a:r>
              <a:rPr sz="1200" b="1">
                <a:solidFill>
                  <a:srgbClr val="FFFFFF"/>
                </a:solidFill>
                <a:latin typeface="Arial"/>
              </a:rPr>
              <a:t>Possible tools / platforms</a:t>
            </a:r>
          </a:p>
        </p:txBody>
      </p:sp>
      <p:sp>
        <p:nvSpPr>
          <p:cNvPr id="13" name="Rectangle 12"/>
          <p:cNvSpPr/>
          <p:nvPr/>
        </p:nvSpPr>
        <p:spPr>
          <a:xfrm>
            <a:off x="5897880" y="1143000"/>
            <a:ext cx="5440680" cy="621792"/>
          </a:xfrm>
          <a:prstGeom prst="rect">
            <a:avLst/>
          </a:prstGeom>
          <a:solidFill>
            <a:srgbClr val="C6212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25312" y="1170432"/>
            <a:ext cx="5385816" cy="566928"/>
          </a:xfrm>
          <a:prstGeom prst="rect">
            <a:avLst/>
          </a:prstGeom>
          <a:noFill/>
        </p:spPr>
        <p:txBody>
          <a:bodyPr wrap="none">
            <a:spAutoFit/>
          </a:bodyPr>
          <a:lstStyle/>
          <a:p>
            <a:pPr algn="ctr"/>
            <a:r>
              <a:rPr sz="1200" b="1">
                <a:solidFill>
                  <a:srgbClr val="FFFFFF"/>
                </a:solidFill>
                <a:latin typeface="Arial"/>
              </a:rPr>
              <a:t>Why they fit</a:t>
            </a:r>
          </a:p>
        </p:txBody>
      </p:sp>
      <p:sp>
        <p:nvSpPr>
          <p:cNvPr id="15" name="Rectangle 14"/>
          <p:cNvSpPr/>
          <p:nvPr/>
        </p:nvSpPr>
        <p:spPr>
          <a:xfrm>
            <a:off x="548640" y="1764792"/>
            <a:ext cx="1828800" cy="621792"/>
          </a:xfrm>
          <a:prstGeom prst="rect">
            <a:avLst/>
          </a:prstGeom>
          <a:solidFill>
            <a:srgbClr val="FCFCF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5216" y="1792224"/>
            <a:ext cx="1755648" cy="566928"/>
          </a:xfrm>
          <a:prstGeom prst="rect">
            <a:avLst/>
          </a:prstGeom>
          <a:noFill/>
        </p:spPr>
        <p:txBody>
          <a:bodyPr wrap="square">
            <a:spAutoFit/>
          </a:bodyPr>
          <a:lstStyle/>
          <a:p>
            <a:pPr algn="ctr"/>
            <a:r>
              <a:rPr sz="1200">
                <a:solidFill>
                  <a:srgbClr val="232323"/>
                </a:solidFill>
                <a:latin typeface="Arial"/>
              </a:rPr>
              <a:t>Ingestion</a:t>
            </a:r>
          </a:p>
        </p:txBody>
      </p:sp>
      <p:sp>
        <p:nvSpPr>
          <p:cNvPr id="17" name="Rectangle 16"/>
          <p:cNvSpPr/>
          <p:nvPr/>
        </p:nvSpPr>
        <p:spPr>
          <a:xfrm>
            <a:off x="2377440" y="1764792"/>
            <a:ext cx="3520440" cy="621792"/>
          </a:xfrm>
          <a:prstGeom prst="rect">
            <a:avLst/>
          </a:prstGeom>
          <a:solidFill>
            <a:srgbClr val="FCFCF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14016" y="1792224"/>
            <a:ext cx="3447288" cy="566928"/>
          </a:xfrm>
          <a:prstGeom prst="rect">
            <a:avLst/>
          </a:prstGeom>
          <a:noFill/>
        </p:spPr>
        <p:txBody>
          <a:bodyPr wrap="square">
            <a:spAutoFit/>
          </a:bodyPr>
          <a:lstStyle/>
          <a:p>
            <a:r>
              <a:rPr sz="1200">
                <a:solidFill>
                  <a:srgbClr val="232323"/>
                </a:solidFill>
                <a:latin typeface="Arial"/>
              </a:rPr>
              <a:t>Kafka, NiFi, Fivetran, Airbyte, Azure Data Factory</a:t>
            </a:r>
          </a:p>
        </p:txBody>
      </p:sp>
      <p:sp>
        <p:nvSpPr>
          <p:cNvPr id="19" name="Rectangle 18"/>
          <p:cNvSpPr/>
          <p:nvPr/>
        </p:nvSpPr>
        <p:spPr>
          <a:xfrm>
            <a:off x="5897880" y="1764792"/>
            <a:ext cx="5440680" cy="621792"/>
          </a:xfrm>
          <a:prstGeom prst="rect">
            <a:avLst/>
          </a:prstGeom>
          <a:solidFill>
            <a:srgbClr val="FCFCF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34456" y="1792224"/>
            <a:ext cx="5367528" cy="566928"/>
          </a:xfrm>
          <a:prstGeom prst="rect">
            <a:avLst/>
          </a:prstGeom>
          <a:noFill/>
        </p:spPr>
        <p:txBody>
          <a:bodyPr wrap="square">
            <a:spAutoFit/>
          </a:bodyPr>
          <a:lstStyle/>
          <a:p>
            <a:r>
              <a:rPr sz="1200">
                <a:solidFill>
                  <a:srgbClr val="232323"/>
                </a:solidFill>
                <a:latin typeface="Arial"/>
              </a:rPr>
              <a:t>Connect multiple sources; support batch + streaming intake.</a:t>
            </a:r>
          </a:p>
        </p:txBody>
      </p:sp>
      <p:sp>
        <p:nvSpPr>
          <p:cNvPr id="21" name="Rectangle 20"/>
          <p:cNvSpPr/>
          <p:nvPr/>
        </p:nvSpPr>
        <p:spPr>
          <a:xfrm>
            <a:off x="548640" y="2386584"/>
            <a:ext cx="1828800" cy="621792"/>
          </a:xfrm>
          <a:prstGeom prst="rect">
            <a:avLst/>
          </a:prstGeom>
          <a:solidFill>
            <a:srgbClr val="F5F5F5"/>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5216" y="2414016"/>
            <a:ext cx="1755648" cy="566928"/>
          </a:xfrm>
          <a:prstGeom prst="rect">
            <a:avLst/>
          </a:prstGeom>
          <a:noFill/>
        </p:spPr>
        <p:txBody>
          <a:bodyPr wrap="square">
            <a:spAutoFit/>
          </a:bodyPr>
          <a:lstStyle/>
          <a:p>
            <a:pPr algn="ctr"/>
            <a:r>
              <a:rPr sz="1200">
                <a:solidFill>
                  <a:srgbClr val="232323"/>
                </a:solidFill>
                <a:latin typeface="Arial"/>
              </a:rPr>
              <a:t>Storage</a:t>
            </a:r>
          </a:p>
        </p:txBody>
      </p:sp>
      <p:sp>
        <p:nvSpPr>
          <p:cNvPr id="23" name="Rectangle 22"/>
          <p:cNvSpPr/>
          <p:nvPr/>
        </p:nvSpPr>
        <p:spPr>
          <a:xfrm>
            <a:off x="2377440" y="2386584"/>
            <a:ext cx="3520440" cy="621792"/>
          </a:xfrm>
          <a:prstGeom prst="rect">
            <a:avLst/>
          </a:prstGeom>
          <a:solidFill>
            <a:srgbClr val="F5F5F5"/>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414016" y="2414016"/>
            <a:ext cx="3447288" cy="566928"/>
          </a:xfrm>
          <a:prstGeom prst="rect">
            <a:avLst/>
          </a:prstGeom>
          <a:noFill/>
        </p:spPr>
        <p:txBody>
          <a:bodyPr wrap="square">
            <a:spAutoFit/>
          </a:bodyPr>
          <a:lstStyle/>
          <a:p>
            <a:r>
              <a:rPr sz="1200">
                <a:solidFill>
                  <a:srgbClr val="232323"/>
                </a:solidFill>
                <a:latin typeface="Arial"/>
              </a:rPr>
              <a:t>AWS S3 or ADLS Gen2</a:t>
            </a:r>
          </a:p>
        </p:txBody>
      </p:sp>
      <p:sp>
        <p:nvSpPr>
          <p:cNvPr id="25" name="Rectangle 24"/>
          <p:cNvSpPr/>
          <p:nvPr/>
        </p:nvSpPr>
        <p:spPr>
          <a:xfrm>
            <a:off x="5897880" y="2386584"/>
            <a:ext cx="5440680" cy="621792"/>
          </a:xfrm>
          <a:prstGeom prst="rect">
            <a:avLst/>
          </a:prstGeom>
          <a:solidFill>
            <a:srgbClr val="F5F5F5"/>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934456" y="2414016"/>
            <a:ext cx="5367528" cy="566928"/>
          </a:xfrm>
          <a:prstGeom prst="rect">
            <a:avLst/>
          </a:prstGeom>
          <a:noFill/>
        </p:spPr>
        <p:txBody>
          <a:bodyPr wrap="square">
            <a:spAutoFit/>
          </a:bodyPr>
          <a:lstStyle/>
          <a:p>
            <a:r>
              <a:rPr sz="1200">
                <a:solidFill>
                  <a:srgbClr val="232323"/>
                </a:solidFill>
                <a:latin typeface="Arial"/>
              </a:rPr>
              <a:t>Scalable, durable, cloud-native data lake storage.</a:t>
            </a:r>
          </a:p>
        </p:txBody>
      </p:sp>
      <p:sp>
        <p:nvSpPr>
          <p:cNvPr id="27" name="Rectangle 26"/>
          <p:cNvSpPr/>
          <p:nvPr/>
        </p:nvSpPr>
        <p:spPr>
          <a:xfrm>
            <a:off x="548640" y="3008376"/>
            <a:ext cx="1828800" cy="621792"/>
          </a:xfrm>
          <a:prstGeom prst="rect">
            <a:avLst/>
          </a:prstGeom>
          <a:solidFill>
            <a:srgbClr val="FCFCF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5216" y="3035808"/>
            <a:ext cx="1755648" cy="566928"/>
          </a:xfrm>
          <a:prstGeom prst="rect">
            <a:avLst/>
          </a:prstGeom>
          <a:noFill/>
        </p:spPr>
        <p:txBody>
          <a:bodyPr wrap="square">
            <a:spAutoFit/>
          </a:bodyPr>
          <a:lstStyle/>
          <a:p>
            <a:pPr algn="ctr"/>
            <a:r>
              <a:rPr sz="1200">
                <a:solidFill>
                  <a:srgbClr val="232323"/>
                </a:solidFill>
                <a:latin typeface="Arial"/>
              </a:rPr>
              <a:t>Processing</a:t>
            </a:r>
          </a:p>
        </p:txBody>
      </p:sp>
      <p:sp>
        <p:nvSpPr>
          <p:cNvPr id="29" name="Rectangle 28"/>
          <p:cNvSpPr/>
          <p:nvPr/>
        </p:nvSpPr>
        <p:spPr>
          <a:xfrm>
            <a:off x="2377440" y="3008376"/>
            <a:ext cx="3520440" cy="621792"/>
          </a:xfrm>
          <a:prstGeom prst="rect">
            <a:avLst/>
          </a:prstGeom>
          <a:solidFill>
            <a:srgbClr val="FCFCF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414016" y="3035808"/>
            <a:ext cx="3447288" cy="566928"/>
          </a:xfrm>
          <a:prstGeom prst="rect">
            <a:avLst/>
          </a:prstGeom>
          <a:noFill/>
        </p:spPr>
        <p:txBody>
          <a:bodyPr wrap="square">
            <a:spAutoFit/>
          </a:bodyPr>
          <a:lstStyle/>
          <a:p>
            <a:r>
              <a:rPr sz="1200">
                <a:solidFill>
                  <a:srgbClr val="232323"/>
                </a:solidFill>
                <a:latin typeface="Arial"/>
              </a:rPr>
              <a:t>Apache Spark, Databricks, AWS Glue, dbt</a:t>
            </a:r>
          </a:p>
        </p:txBody>
      </p:sp>
      <p:sp>
        <p:nvSpPr>
          <p:cNvPr id="31" name="Rectangle 30"/>
          <p:cNvSpPr/>
          <p:nvPr/>
        </p:nvSpPr>
        <p:spPr>
          <a:xfrm>
            <a:off x="5897880" y="3008376"/>
            <a:ext cx="5440680" cy="621792"/>
          </a:xfrm>
          <a:prstGeom prst="rect">
            <a:avLst/>
          </a:prstGeom>
          <a:solidFill>
            <a:srgbClr val="FCFCF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934456" y="3035808"/>
            <a:ext cx="5367528" cy="566928"/>
          </a:xfrm>
          <a:prstGeom prst="rect">
            <a:avLst/>
          </a:prstGeom>
          <a:noFill/>
        </p:spPr>
        <p:txBody>
          <a:bodyPr wrap="square">
            <a:spAutoFit/>
          </a:bodyPr>
          <a:lstStyle/>
          <a:p>
            <a:r>
              <a:rPr sz="1200">
                <a:solidFill>
                  <a:srgbClr val="232323"/>
                </a:solidFill>
                <a:latin typeface="Arial"/>
              </a:rPr>
              <a:t>Distributed transformation, integration, and enrichment.</a:t>
            </a:r>
          </a:p>
        </p:txBody>
      </p:sp>
      <p:sp>
        <p:nvSpPr>
          <p:cNvPr id="33" name="Rectangle 32"/>
          <p:cNvSpPr/>
          <p:nvPr/>
        </p:nvSpPr>
        <p:spPr>
          <a:xfrm>
            <a:off x="548640" y="3630168"/>
            <a:ext cx="1828800" cy="621792"/>
          </a:xfrm>
          <a:prstGeom prst="rect">
            <a:avLst/>
          </a:prstGeom>
          <a:solidFill>
            <a:srgbClr val="F5F5F5"/>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85216" y="3657600"/>
            <a:ext cx="1755648" cy="566928"/>
          </a:xfrm>
          <a:prstGeom prst="rect">
            <a:avLst/>
          </a:prstGeom>
          <a:noFill/>
        </p:spPr>
        <p:txBody>
          <a:bodyPr wrap="square">
            <a:spAutoFit/>
          </a:bodyPr>
          <a:lstStyle/>
          <a:p>
            <a:pPr algn="ctr"/>
            <a:r>
              <a:rPr sz="1200">
                <a:solidFill>
                  <a:srgbClr val="232323"/>
                </a:solidFill>
                <a:latin typeface="Arial"/>
              </a:rPr>
              <a:t>Governance</a:t>
            </a:r>
          </a:p>
        </p:txBody>
      </p:sp>
      <p:sp>
        <p:nvSpPr>
          <p:cNvPr id="35" name="Rectangle 34"/>
          <p:cNvSpPr/>
          <p:nvPr/>
        </p:nvSpPr>
        <p:spPr>
          <a:xfrm>
            <a:off x="2377440" y="3630168"/>
            <a:ext cx="3520440" cy="621792"/>
          </a:xfrm>
          <a:prstGeom prst="rect">
            <a:avLst/>
          </a:prstGeom>
          <a:solidFill>
            <a:srgbClr val="F5F5F5"/>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414016" y="3657600"/>
            <a:ext cx="3447288" cy="566928"/>
          </a:xfrm>
          <a:prstGeom prst="rect">
            <a:avLst/>
          </a:prstGeom>
          <a:noFill/>
        </p:spPr>
        <p:txBody>
          <a:bodyPr wrap="square">
            <a:spAutoFit/>
          </a:bodyPr>
          <a:lstStyle/>
          <a:p>
            <a:r>
              <a:rPr sz="1200">
                <a:solidFill>
                  <a:srgbClr val="232323"/>
                </a:solidFill>
                <a:latin typeface="Arial"/>
              </a:rPr>
              <a:t>AWS Glue Data Catalog, Microsoft Purview</a:t>
            </a:r>
          </a:p>
        </p:txBody>
      </p:sp>
      <p:sp>
        <p:nvSpPr>
          <p:cNvPr id="37" name="Rectangle 36"/>
          <p:cNvSpPr/>
          <p:nvPr/>
        </p:nvSpPr>
        <p:spPr>
          <a:xfrm>
            <a:off x="5897880" y="3630168"/>
            <a:ext cx="5440680" cy="621792"/>
          </a:xfrm>
          <a:prstGeom prst="rect">
            <a:avLst/>
          </a:prstGeom>
          <a:solidFill>
            <a:srgbClr val="F5F5F5"/>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934456" y="3657600"/>
            <a:ext cx="5367528" cy="566928"/>
          </a:xfrm>
          <a:prstGeom prst="rect">
            <a:avLst/>
          </a:prstGeom>
          <a:noFill/>
        </p:spPr>
        <p:txBody>
          <a:bodyPr wrap="square">
            <a:spAutoFit/>
          </a:bodyPr>
          <a:lstStyle/>
          <a:p>
            <a:r>
              <a:rPr sz="1200">
                <a:solidFill>
                  <a:srgbClr val="232323"/>
                </a:solidFill>
                <a:latin typeface="Arial"/>
              </a:rPr>
              <a:t>Metadata, lineage, cataloguing, and discovery.</a:t>
            </a:r>
          </a:p>
        </p:txBody>
      </p:sp>
      <p:sp>
        <p:nvSpPr>
          <p:cNvPr id="39" name="Rectangle 38"/>
          <p:cNvSpPr/>
          <p:nvPr/>
        </p:nvSpPr>
        <p:spPr>
          <a:xfrm>
            <a:off x="548640" y="4251960"/>
            <a:ext cx="1828800" cy="621792"/>
          </a:xfrm>
          <a:prstGeom prst="rect">
            <a:avLst/>
          </a:prstGeom>
          <a:solidFill>
            <a:srgbClr val="FCFCF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585216" y="4279392"/>
            <a:ext cx="1755648" cy="566928"/>
          </a:xfrm>
          <a:prstGeom prst="rect">
            <a:avLst/>
          </a:prstGeom>
          <a:noFill/>
        </p:spPr>
        <p:txBody>
          <a:bodyPr wrap="square">
            <a:spAutoFit/>
          </a:bodyPr>
          <a:lstStyle/>
          <a:p>
            <a:pPr algn="ctr"/>
            <a:r>
              <a:rPr sz="1200">
                <a:solidFill>
                  <a:srgbClr val="232323"/>
                </a:solidFill>
                <a:latin typeface="Arial"/>
              </a:rPr>
              <a:t>Analytics / BI</a:t>
            </a:r>
          </a:p>
        </p:txBody>
      </p:sp>
      <p:sp>
        <p:nvSpPr>
          <p:cNvPr id="41" name="Rectangle 40"/>
          <p:cNvSpPr/>
          <p:nvPr/>
        </p:nvSpPr>
        <p:spPr>
          <a:xfrm>
            <a:off x="2377440" y="4251960"/>
            <a:ext cx="3520440" cy="621792"/>
          </a:xfrm>
          <a:prstGeom prst="rect">
            <a:avLst/>
          </a:prstGeom>
          <a:solidFill>
            <a:srgbClr val="FCFCF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414016" y="4279392"/>
            <a:ext cx="3447288" cy="566928"/>
          </a:xfrm>
          <a:prstGeom prst="rect">
            <a:avLst/>
          </a:prstGeom>
          <a:noFill/>
        </p:spPr>
        <p:txBody>
          <a:bodyPr wrap="square">
            <a:spAutoFit/>
          </a:bodyPr>
          <a:lstStyle/>
          <a:p>
            <a:r>
              <a:rPr sz="1200">
                <a:solidFill>
                  <a:srgbClr val="232323"/>
                </a:solidFill>
                <a:latin typeface="Arial"/>
              </a:rPr>
              <a:t>Power BI, Tableau, Amazon QuickSight</a:t>
            </a:r>
          </a:p>
        </p:txBody>
      </p:sp>
      <p:sp>
        <p:nvSpPr>
          <p:cNvPr id="43" name="Rectangle 42"/>
          <p:cNvSpPr/>
          <p:nvPr/>
        </p:nvSpPr>
        <p:spPr>
          <a:xfrm>
            <a:off x="5897880" y="4251960"/>
            <a:ext cx="5440680" cy="621792"/>
          </a:xfrm>
          <a:prstGeom prst="rect">
            <a:avLst/>
          </a:prstGeom>
          <a:solidFill>
            <a:srgbClr val="FCFCF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5934456" y="4279392"/>
            <a:ext cx="5367528" cy="566928"/>
          </a:xfrm>
          <a:prstGeom prst="rect">
            <a:avLst/>
          </a:prstGeom>
          <a:noFill/>
        </p:spPr>
        <p:txBody>
          <a:bodyPr wrap="square">
            <a:spAutoFit/>
          </a:bodyPr>
          <a:lstStyle/>
          <a:p>
            <a:r>
              <a:rPr sz="1200">
                <a:solidFill>
                  <a:srgbClr val="232323"/>
                </a:solidFill>
                <a:latin typeface="Arial"/>
              </a:rPr>
              <a:t>Dashboards for leaders, strategists, and operations teams.</a:t>
            </a:r>
          </a:p>
        </p:txBody>
      </p:sp>
      <p:sp>
        <p:nvSpPr>
          <p:cNvPr id="45" name="Rectangle 44"/>
          <p:cNvSpPr/>
          <p:nvPr/>
        </p:nvSpPr>
        <p:spPr>
          <a:xfrm>
            <a:off x="548640" y="4873752"/>
            <a:ext cx="1828800" cy="621792"/>
          </a:xfrm>
          <a:prstGeom prst="rect">
            <a:avLst/>
          </a:prstGeom>
          <a:solidFill>
            <a:srgbClr val="F5F5F5"/>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585216" y="4901184"/>
            <a:ext cx="1755648" cy="566928"/>
          </a:xfrm>
          <a:prstGeom prst="rect">
            <a:avLst/>
          </a:prstGeom>
          <a:noFill/>
        </p:spPr>
        <p:txBody>
          <a:bodyPr wrap="square">
            <a:spAutoFit/>
          </a:bodyPr>
          <a:lstStyle/>
          <a:p>
            <a:pPr algn="ctr"/>
            <a:r>
              <a:rPr sz="1200">
                <a:solidFill>
                  <a:srgbClr val="232323"/>
                </a:solidFill>
                <a:latin typeface="Arial"/>
              </a:rPr>
              <a:t>ML / personalisation</a:t>
            </a:r>
          </a:p>
        </p:txBody>
      </p:sp>
      <p:sp>
        <p:nvSpPr>
          <p:cNvPr id="47" name="Rectangle 46"/>
          <p:cNvSpPr/>
          <p:nvPr/>
        </p:nvSpPr>
        <p:spPr>
          <a:xfrm>
            <a:off x="2377440" y="4873752"/>
            <a:ext cx="3520440" cy="621792"/>
          </a:xfrm>
          <a:prstGeom prst="rect">
            <a:avLst/>
          </a:prstGeom>
          <a:solidFill>
            <a:srgbClr val="F5F5F5"/>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414016" y="4901184"/>
            <a:ext cx="3447288" cy="566928"/>
          </a:xfrm>
          <a:prstGeom prst="rect">
            <a:avLst/>
          </a:prstGeom>
          <a:noFill/>
        </p:spPr>
        <p:txBody>
          <a:bodyPr wrap="square">
            <a:spAutoFit/>
          </a:bodyPr>
          <a:lstStyle/>
          <a:p>
            <a:r>
              <a:rPr sz="1200">
                <a:solidFill>
                  <a:srgbClr val="232323"/>
                </a:solidFill>
                <a:latin typeface="Arial"/>
              </a:rPr>
              <a:t>SageMaker, Azure ML, Databricks ML</a:t>
            </a:r>
          </a:p>
        </p:txBody>
      </p:sp>
      <p:sp>
        <p:nvSpPr>
          <p:cNvPr id="49" name="Rectangle 48"/>
          <p:cNvSpPr/>
          <p:nvPr/>
        </p:nvSpPr>
        <p:spPr>
          <a:xfrm>
            <a:off x="5897880" y="4873752"/>
            <a:ext cx="5440680" cy="621792"/>
          </a:xfrm>
          <a:prstGeom prst="rect">
            <a:avLst/>
          </a:prstGeom>
          <a:solidFill>
            <a:srgbClr val="F5F5F5"/>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934456" y="4901184"/>
            <a:ext cx="5367528" cy="566928"/>
          </a:xfrm>
          <a:prstGeom prst="rect">
            <a:avLst/>
          </a:prstGeom>
          <a:noFill/>
        </p:spPr>
        <p:txBody>
          <a:bodyPr wrap="square">
            <a:spAutoFit/>
          </a:bodyPr>
          <a:lstStyle/>
          <a:p>
            <a:r>
              <a:rPr sz="1200">
                <a:solidFill>
                  <a:srgbClr val="232323"/>
                </a:solidFill>
                <a:latin typeface="Arial"/>
              </a:rPr>
              <a:t>Support recommendations, segmentation, and prediction.</a:t>
            </a:r>
          </a:p>
        </p:txBody>
      </p:sp>
      <p:sp>
        <p:nvSpPr>
          <p:cNvPr id="51" name="TextBox 50"/>
          <p:cNvSpPr txBox="1"/>
          <p:nvPr/>
        </p:nvSpPr>
        <p:spPr>
          <a:xfrm>
            <a:off x="749808" y="5650992"/>
            <a:ext cx="10698480" cy="320040"/>
          </a:xfrm>
          <a:prstGeom prst="rect">
            <a:avLst/>
          </a:prstGeom>
          <a:noFill/>
        </p:spPr>
        <p:txBody>
          <a:bodyPr wrap="square">
            <a:spAutoFit/>
          </a:bodyPr>
          <a:lstStyle/>
          <a:p>
            <a:r>
              <a:rPr sz="1400">
                <a:solidFill>
                  <a:srgbClr val="6E6E6E"/>
                </a:solidFill>
                <a:latin typeface="Arial"/>
              </a:rPr>
              <a:t>Key principle: choose tools that match the organisation’s cloud strategy, team capability, governance requirements, and latency needs.</a:t>
            </a:r>
          </a:p>
        </p:txBody>
      </p:sp>
      <p:sp>
        <p:nvSpPr>
          <p:cNvPr id="52" name="TextBox 51"/>
          <p:cNvSpPr txBox="1"/>
          <p:nvPr/>
        </p:nvSpPr>
        <p:spPr>
          <a:xfrm>
            <a:off x="11612880" y="6455664"/>
            <a:ext cx="274320" cy="201168"/>
          </a:xfrm>
          <a:prstGeom prst="rect">
            <a:avLst/>
          </a:prstGeom>
          <a:noFill/>
        </p:spPr>
        <p:txBody>
          <a:bodyPr wrap="none">
            <a:spAutoFit/>
          </a:bodyPr>
          <a:lstStyle/>
          <a:p>
            <a:pPr algn="r"/>
            <a:r>
              <a:rPr sz="1200">
                <a:solidFill>
                  <a:srgbClr val="FFFFFF"/>
                </a:solidFill>
                <a:latin typeface="Arial"/>
              </a:rPr>
              <a:t>12</a:t>
            </a:r>
          </a:p>
        </p:txBody>
      </p:sp>
      <p:pic>
        <p:nvPicPr>
          <p:cNvPr id="54" name="Picture 53" descr="A logo with orange and grey text&#10;&#10;Description automatically generated">
            <a:extLst>
              <a:ext uri="{FF2B5EF4-FFF2-40B4-BE49-F238E27FC236}">
                <a16:creationId xmlns:a16="http://schemas.microsoft.com/office/drawing/2014/main" id="{BA7FCBC5-E9E3-B810-91B6-2577C51190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419600" y="76200"/>
            <a:ext cx="60960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000" b="1">
                <a:solidFill>
                  <a:schemeClr val="bg1"/>
                </a:solidFill>
                <a:latin typeface="+mj-lt"/>
                <a:ea typeface="+mj-ea"/>
                <a:cs typeface="+mj-cs"/>
              </a:defRPr>
            </a:lvl1pPr>
            <a:lvl2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2pPr>
            <a:lvl3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3pPr>
            <a:lvl4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4pPr>
            <a:lvl5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5pPr>
            <a:lvl6pPr marL="4572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6pPr>
            <a:lvl7pPr marL="9144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7pPr>
            <a:lvl8pPr marL="13716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8pPr>
            <a:lvl9pPr marL="18288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9pPr>
          </a:lstStyle>
          <a:p>
            <a:pPr eaLnBrk="1" hangingPunct="1"/>
            <a:r>
              <a:rPr lang="en-GB">
                <a:latin typeface="Arial" pitchFamily="34" charset="0"/>
                <a:cs typeface="Arial" pitchFamily="34" charset="0"/>
              </a:rPr>
              <a:t>Linear Programming – Transportation</a:t>
            </a:r>
            <a:endParaRPr lang="en-AU" kern="0"/>
          </a:p>
        </p:txBody>
      </p:sp>
      <p:sp>
        <p:nvSpPr>
          <p:cNvPr id="5" name="Title 4"/>
          <p:cNvSpPr>
            <a:spLocks noGrp="1"/>
          </p:cNvSpPr>
          <p:nvPr>
            <p:ph type="title"/>
          </p:nvPr>
        </p:nvSpPr>
        <p:spPr>
          <a:xfrm>
            <a:off x="562239" y="39292"/>
            <a:ext cx="10515600" cy="1325563"/>
          </a:xfrm>
        </p:spPr>
        <p:txBody>
          <a:bodyPr/>
          <a:lstStyle/>
          <a:p>
            <a:r>
              <a:rPr lang="en-AU"/>
              <a:t>Case Study</a:t>
            </a:r>
          </a:p>
        </p:txBody>
      </p:sp>
      <p:sp>
        <p:nvSpPr>
          <p:cNvPr id="2" name="Footer Placeholder 1"/>
          <p:cNvSpPr>
            <a:spLocks noGrp="1"/>
          </p:cNvSpPr>
          <p:nvPr>
            <p:ph type="ftr" sz="quarter" idx="11"/>
          </p:nvPr>
        </p:nvSpPr>
        <p:spPr/>
        <p:txBody>
          <a:bodyPr/>
          <a:lstStyle/>
          <a:p>
            <a:pPr>
              <a:defRPr/>
            </a:pPr>
            <a:r>
              <a:rPr lang="en-AU"/>
              <a:t>Big Data and Analytics</a:t>
            </a:r>
            <a:endParaRPr lang="en-US"/>
          </a:p>
        </p:txBody>
      </p:sp>
      <p:sp>
        <p:nvSpPr>
          <p:cNvPr id="3" name="Slide Number Placeholder 2"/>
          <p:cNvSpPr>
            <a:spLocks noGrp="1"/>
          </p:cNvSpPr>
          <p:nvPr>
            <p:ph type="sldNum" sz="quarter" idx="12"/>
          </p:nvPr>
        </p:nvSpPr>
        <p:spPr/>
        <p:txBody>
          <a:bodyPr/>
          <a:lstStyle/>
          <a:p>
            <a:fld id="{3956DA85-404E-9646-866F-75D030953504}" type="slidenum">
              <a:rPr lang="en-US" smtClean="0"/>
              <a:pPr/>
              <a:t>25</a:t>
            </a:fld>
            <a:endParaRPr lang="en-US"/>
          </a:p>
        </p:txBody>
      </p:sp>
      <p:pic>
        <p:nvPicPr>
          <p:cNvPr id="8" name="Picture 7" descr="A logo with orange and grey text&#10;&#10;Description automatically generated">
            <a:extLst>
              <a:ext uri="{FF2B5EF4-FFF2-40B4-BE49-F238E27FC236}">
                <a16:creationId xmlns:a16="http://schemas.microsoft.com/office/drawing/2014/main" id="{224C2F61-35C9-A22F-7AB5-CA19B5F4A1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
        <p:nvSpPr>
          <p:cNvPr id="6" name="TextBox 5">
            <a:extLst>
              <a:ext uri="{FF2B5EF4-FFF2-40B4-BE49-F238E27FC236}">
                <a16:creationId xmlns:a16="http://schemas.microsoft.com/office/drawing/2014/main" id="{46C79753-5235-5ED8-466B-07BC60AEFD12}"/>
              </a:ext>
            </a:extLst>
          </p:cNvPr>
          <p:cNvSpPr txBox="1"/>
          <p:nvPr/>
        </p:nvSpPr>
        <p:spPr>
          <a:xfrm>
            <a:off x="457200" y="885471"/>
            <a:ext cx="10972800" cy="677108"/>
          </a:xfrm>
          <a:prstGeom prst="rect">
            <a:avLst/>
          </a:prstGeom>
          <a:noFill/>
        </p:spPr>
        <p:txBody>
          <a:bodyPr wrap="square" rtlCol="0">
            <a:spAutoFit/>
          </a:bodyPr>
          <a:lstStyle/>
          <a:p>
            <a:pPr algn="l"/>
            <a:r>
              <a:rPr lang="en-AU" sz="2400" b="1" i="0">
                <a:solidFill>
                  <a:schemeClr val="tx1"/>
                </a:solidFill>
                <a:effectLst/>
                <a:latin typeface="Söhne"/>
              </a:rPr>
              <a:t>Data pipeline Schema Sample:</a:t>
            </a:r>
          </a:p>
          <a:p>
            <a:endParaRPr lang="en-AU" sz="1400">
              <a:solidFill>
                <a:schemeClr val="tx1"/>
              </a:solidFill>
            </a:endParaRPr>
          </a:p>
        </p:txBody>
      </p:sp>
      <p:pic>
        <p:nvPicPr>
          <p:cNvPr id="9" name="Picture 8">
            <a:extLst>
              <a:ext uri="{FF2B5EF4-FFF2-40B4-BE49-F238E27FC236}">
                <a16:creationId xmlns:a16="http://schemas.microsoft.com/office/drawing/2014/main" id="{8AF9A6CF-EAC0-966C-9ED7-EB3BD8FE61E0}"/>
              </a:ext>
            </a:extLst>
          </p:cNvPr>
          <p:cNvPicPr>
            <a:picLocks noChangeAspect="1"/>
          </p:cNvPicPr>
          <p:nvPr/>
        </p:nvPicPr>
        <p:blipFill>
          <a:blip r:embed="rId4"/>
          <a:stretch>
            <a:fillRect/>
          </a:stretch>
        </p:blipFill>
        <p:spPr>
          <a:xfrm>
            <a:off x="5386450" y="3673830"/>
            <a:ext cx="6155734" cy="2499123"/>
          </a:xfrm>
          <a:prstGeom prst="rect">
            <a:avLst/>
          </a:prstGeom>
        </p:spPr>
      </p:pic>
      <p:sp>
        <p:nvSpPr>
          <p:cNvPr id="10" name="TextBox 9">
            <a:extLst>
              <a:ext uri="{FF2B5EF4-FFF2-40B4-BE49-F238E27FC236}">
                <a16:creationId xmlns:a16="http://schemas.microsoft.com/office/drawing/2014/main" id="{BEBFA8E4-CAEF-9A07-8C32-14D8CEDC0EBB}"/>
              </a:ext>
            </a:extLst>
          </p:cNvPr>
          <p:cNvSpPr txBox="1"/>
          <p:nvPr/>
        </p:nvSpPr>
        <p:spPr>
          <a:xfrm>
            <a:off x="5969851" y="6172953"/>
            <a:ext cx="5460149" cy="261610"/>
          </a:xfrm>
          <a:prstGeom prst="rect">
            <a:avLst/>
          </a:prstGeom>
          <a:noFill/>
        </p:spPr>
        <p:txBody>
          <a:bodyPr wrap="none" rtlCol="0">
            <a:spAutoFit/>
          </a:bodyPr>
          <a:lstStyle/>
          <a:p>
            <a:r>
              <a:rPr lang="en-AU" sz="1100" err="1">
                <a:solidFill>
                  <a:schemeClr val="tx1"/>
                </a:solidFill>
              </a:rPr>
              <a:t>Source:https</a:t>
            </a:r>
            <a:r>
              <a:rPr lang="en-AU" sz="1100">
                <a:solidFill>
                  <a:schemeClr val="tx1"/>
                </a:solidFill>
              </a:rPr>
              <a:t>://</a:t>
            </a:r>
            <a:r>
              <a:rPr lang="en-AU" sz="1100" err="1">
                <a:solidFill>
                  <a:schemeClr val="tx1"/>
                </a:solidFill>
              </a:rPr>
              <a:t>www.zaloni.com</a:t>
            </a:r>
            <a:r>
              <a:rPr lang="en-AU" sz="1100">
                <a:solidFill>
                  <a:schemeClr val="tx1"/>
                </a:solidFill>
              </a:rPr>
              <a:t>/resources/blogs/what-defines-an-effective-data-lake/</a:t>
            </a:r>
          </a:p>
        </p:txBody>
      </p:sp>
      <p:pic>
        <p:nvPicPr>
          <p:cNvPr id="14" name="Picture 13">
            <a:extLst>
              <a:ext uri="{FF2B5EF4-FFF2-40B4-BE49-F238E27FC236}">
                <a16:creationId xmlns:a16="http://schemas.microsoft.com/office/drawing/2014/main" id="{057AFCF5-E221-A145-0C77-0646F48FFC15}"/>
              </a:ext>
            </a:extLst>
          </p:cNvPr>
          <p:cNvPicPr>
            <a:picLocks noChangeAspect="1"/>
          </p:cNvPicPr>
          <p:nvPr/>
        </p:nvPicPr>
        <p:blipFill>
          <a:blip r:embed="rId5"/>
          <a:stretch>
            <a:fillRect/>
          </a:stretch>
        </p:blipFill>
        <p:spPr>
          <a:xfrm>
            <a:off x="5943600" y="848327"/>
            <a:ext cx="5134239" cy="2580673"/>
          </a:xfrm>
          <a:prstGeom prst="rect">
            <a:avLst/>
          </a:prstGeom>
        </p:spPr>
      </p:pic>
      <p:sp>
        <p:nvSpPr>
          <p:cNvPr id="15" name="TextBox 14">
            <a:extLst>
              <a:ext uri="{FF2B5EF4-FFF2-40B4-BE49-F238E27FC236}">
                <a16:creationId xmlns:a16="http://schemas.microsoft.com/office/drawing/2014/main" id="{68934F67-3FE8-0A3E-BB55-BE7841D1BEA7}"/>
              </a:ext>
            </a:extLst>
          </p:cNvPr>
          <p:cNvSpPr txBox="1"/>
          <p:nvPr/>
        </p:nvSpPr>
        <p:spPr>
          <a:xfrm>
            <a:off x="7167122" y="3377678"/>
            <a:ext cx="3428311" cy="276999"/>
          </a:xfrm>
          <a:prstGeom prst="rect">
            <a:avLst/>
          </a:prstGeom>
          <a:noFill/>
        </p:spPr>
        <p:txBody>
          <a:bodyPr wrap="none" rtlCol="0">
            <a:spAutoFit/>
          </a:bodyPr>
          <a:lstStyle/>
          <a:p>
            <a:r>
              <a:rPr lang="en-AU" sz="1200">
                <a:solidFill>
                  <a:schemeClr val="tx1"/>
                </a:solidFill>
              </a:rPr>
              <a:t>https://</a:t>
            </a:r>
            <a:r>
              <a:rPr lang="en-AU" sz="1200" err="1">
                <a:solidFill>
                  <a:schemeClr val="tx1"/>
                </a:solidFill>
              </a:rPr>
              <a:t>www.altexsoft.com</a:t>
            </a:r>
            <a:r>
              <a:rPr lang="en-AU" sz="1200">
                <a:solidFill>
                  <a:schemeClr val="tx1"/>
                </a:solidFill>
              </a:rPr>
              <a:t>/blog/data-</a:t>
            </a:r>
            <a:r>
              <a:rPr lang="en-AU" sz="1200" err="1">
                <a:solidFill>
                  <a:schemeClr val="tx1"/>
                </a:solidFill>
              </a:rPr>
              <a:t>lakehouse</a:t>
            </a:r>
            <a:r>
              <a:rPr lang="en-AU" sz="1200">
                <a:solidFill>
                  <a:schemeClr val="tx1"/>
                </a:solidFill>
              </a:rPr>
              <a:t>/</a:t>
            </a:r>
          </a:p>
        </p:txBody>
      </p:sp>
      <p:pic>
        <p:nvPicPr>
          <p:cNvPr id="11" name="Picture 10" descr="A screenshot of a data resources&#10;&#10;Description automatically generated">
            <a:extLst>
              <a:ext uri="{FF2B5EF4-FFF2-40B4-BE49-F238E27FC236}">
                <a16:creationId xmlns:a16="http://schemas.microsoft.com/office/drawing/2014/main" id="{20D9087B-38AD-0AF6-904B-7EB453BBABDA}"/>
              </a:ext>
            </a:extLst>
          </p:cNvPr>
          <p:cNvPicPr>
            <a:picLocks noChangeAspect="1"/>
          </p:cNvPicPr>
          <p:nvPr/>
        </p:nvPicPr>
        <p:blipFill rotWithShape="1">
          <a:blip r:embed="rId6">
            <a:extLst>
              <a:ext uri="{28A0092B-C50C-407E-A947-70E740481C1C}">
                <a14:useLocalDpi xmlns:a14="http://schemas.microsoft.com/office/drawing/2010/main" val="0"/>
              </a:ext>
            </a:extLst>
          </a:blip>
          <a:srcRect r="4179"/>
          <a:stretch/>
        </p:blipFill>
        <p:spPr>
          <a:xfrm>
            <a:off x="666441" y="2104027"/>
            <a:ext cx="3456078" cy="3759200"/>
          </a:xfrm>
          <a:prstGeom prst="rect">
            <a:avLst/>
          </a:prstGeom>
        </p:spPr>
      </p:pic>
    </p:spTree>
    <p:extLst>
      <p:ext uri="{BB962C8B-B14F-4D97-AF65-F5344CB8AC3E}">
        <p14:creationId xmlns:p14="http://schemas.microsoft.com/office/powerpoint/2010/main" val="2951019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A1057F29386142A5B9755C5531A820" ma:contentTypeVersion="7" ma:contentTypeDescription="Create a new document." ma:contentTypeScope="" ma:versionID="4fba0a4a6bc0f311a775a35ccccf5e6d">
  <xsd:schema xmlns:xsd="http://www.w3.org/2001/XMLSchema" xmlns:xs="http://www.w3.org/2001/XMLSchema" xmlns:p="http://schemas.microsoft.com/office/2006/metadata/properties" xmlns:ns2="cc5d4512-e7db-40f5-9b40-1e14bbbc82d5" targetNamespace="http://schemas.microsoft.com/office/2006/metadata/properties" ma:root="true" ma:fieldsID="b67d525fc411f0dd1bf3f93df30eccba" ns2:_="">
    <xsd:import namespace="cc5d4512-e7db-40f5-9b40-1e14bbbc82d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5d4512-e7db-40f5-9b40-1e14bbbc82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131F47-94E7-490C-BBC7-57CD17EF8192}"/>
</file>

<file path=customXml/itemProps2.xml><?xml version="1.0" encoding="utf-8"?>
<ds:datastoreItem xmlns:ds="http://schemas.openxmlformats.org/officeDocument/2006/customXml" ds:itemID="{D35A7566-CBD4-4920-BBB8-76B9B95BA50F}"/>
</file>

<file path=customXml/itemProps3.xml><?xml version="1.0" encoding="utf-8"?>
<ds:datastoreItem xmlns:ds="http://schemas.openxmlformats.org/officeDocument/2006/customXml" ds:itemID="{AA601D32-B3B4-4D47-85DF-443B9768CBBF}"/>
</file>

<file path=docProps/app.xml><?xml version="1.0" encoding="utf-8"?>
<Properties xmlns="http://schemas.openxmlformats.org/officeDocument/2006/extended-properties" xmlns:vt="http://schemas.openxmlformats.org/officeDocument/2006/docPropsVTypes">
  <TotalTime>0</TotalTime>
  <Words>4286</Words>
  <Application>Microsoft Office PowerPoint</Application>
  <PresentationFormat>Widescreen</PresentationFormat>
  <Paragraphs>457</Paragraphs>
  <Slides>25</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Söhne</vt: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Case Study</vt:lpstr>
      <vt:lpstr>Case Study</vt:lpstr>
      <vt:lpstr>Case Study</vt:lpstr>
      <vt:lpstr>Case Study</vt:lpstr>
      <vt:lpstr>Case Study</vt:lpstr>
      <vt:lpstr>PowerPoint Presentation</vt:lpstr>
      <vt:lpstr>Case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Chen Zhan</dc:creator>
  <cp:lastModifiedBy>Chen Zhan</cp:lastModifiedBy>
  <cp:revision>1</cp:revision>
  <dcterms:created xsi:type="dcterms:W3CDTF">2026-06-12T12:13:55Z</dcterms:created>
  <dcterms:modified xsi:type="dcterms:W3CDTF">2026-06-15T22:34:39Z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0x01010086A1057F29386142A5B9755C5531A820</vt:lpwstr>
  </property>
</Properties>
</file>