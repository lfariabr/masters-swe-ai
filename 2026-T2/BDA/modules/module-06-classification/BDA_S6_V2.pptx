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60" r:id="rId3"/>
    <p:sldId id="580" r:id="rId4"/>
    <p:sldId id="258" r:id="rId5"/>
    <p:sldId id="263" r:id="rId6"/>
    <p:sldId id="264" r:id="rId7"/>
    <p:sldId id="265" r:id="rId8"/>
    <p:sldId id="266" r:id="rId9"/>
    <p:sldId id="267" r:id="rId10"/>
    <p:sldId id="268" r:id="rId11"/>
    <p:sldId id="581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0" autoAdjust="0"/>
    <p:restoredTop sz="94660"/>
  </p:normalViewPr>
  <p:slideViewPr>
    <p:cSldViewPr snapToGrid="0">
      <p:cViewPr varScale="1">
        <p:scale>
          <a:sx n="80" d="100"/>
          <a:sy n="80" d="100"/>
        </p:scale>
        <p:origin x="96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 Zhan" userId="9bf1158d-5ec6-44ed-8784-22fed4df2891" providerId="ADAL" clId="{EF4162E8-50B5-4366-BB2C-AECDBD1DB3FC}"/>
    <pc:docChg chg="modSld">
      <pc:chgData name="Chen Zhan" userId="9bf1158d-5ec6-44ed-8784-22fed4df2891" providerId="ADAL" clId="{EF4162E8-50B5-4366-BB2C-AECDBD1DB3FC}" dt="2026-07-06T22:23:44.771" v="2" actId="1076"/>
      <pc:docMkLst>
        <pc:docMk/>
      </pc:docMkLst>
      <pc:sldChg chg="addSp modSp mod">
        <pc:chgData name="Chen Zhan" userId="9bf1158d-5ec6-44ed-8784-22fed4df2891" providerId="ADAL" clId="{EF4162E8-50B5-4366-BB2C-AECDBD1DB3FC}" dt="2026-07-06T22:23:44.771" v="2" actId="1076"/>
        <pc:sldMkLst>
          <pc:docMk/>
          <pc:sldMk cId="0" sldId="257"/>
        </pc:sldMkLst>
        <pc:spChg chg="add mod">
          <ac:chgData name="Chen Zhan" userId="9bf1158d-5ec6-44ed-8784-22fed4df2891" providerId="ADAL" clId="{EF4162E8-50B5-4366-BB2C-AECDBD1DB3FC}" dt="2026-07-06T22:23:44.771" v="2" actId="1076"/>
          <ac:spMkLst>
            <pc:docMk/>
            <pc:sldMk cId="0" sldId="257"/>
            <ac:spMk id="17" creationId="{ED9E223E-0502-870E-F779-8CE2A063003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82665-2F60-4C84-AD46-7A48DE6208FB}" type="datetimeFigureOut">
              <a:rPr lang="en-AU" smtClean="0"/>
              <a:t>7/07/2026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106F7-ECDB-4E4D-9B12-CA0955DBE0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187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AU" dirty="0"/>
              <a:t>Image </a:t>
            </a:r>
            <a:r>
              <a:rPr lang="en-AU" dirty="0" err="1"/>
              <a:t>source:https</a:t>
            </a:r>
            <a:r>
              <a:rPr lang="en-AU" dirty="0"/>
              <a:t>://</a:t>
            </a:r>
            <a:r>
              <a:rPr lang="en-AU" dirty="0" err="1"/>
              <a:t>www.researchgate.net</a:t>
            </a:r>
            <a:r>
              <a:rPr lang="en-AU" dirty="0"/>
              <a:t>/publication/354960266_Machine_Learning_Techniques_for_Personalised_Medicine_Approaches_in_Immune-Mediated_Chronic_Inflammatory_Diseases_Applications_and_Challenges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6AA351-6953-1E48-8EC4-68F89E579C6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27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CD139-A993-A562-CA1E-11E7783F4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1DD12-0A83-03C3-E7F3-5878A5C39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FC638-CBE7-A388-63E4-5F983F4A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76CA-F1E9-4958-A9E8-D51BA0168C1F}" type="datetimeFigureOut">
              <a:rPr lang="en-AU" smtClean="0"/>
              <a:t>7/07/2026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2E1AA-609D-E11D-5EE0-C7BBE39B3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A7A36-C85F-7A3A-F83A-02597D58E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F93E-246B-4D95-BDB1-257FB0290B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048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9124-D75A-C96E-891D-4833FC181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43204-3316-2476-B9A3-7EE9291D3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47763-8F20-FEE2-D214-B49CAABD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76CA-F1E9-4958-A9E8-D51BA0168C1F}" type="datetimeFigureOut">
              <a:rPr lang="en-AU" smtClean="0"/>
              <a:t>7/07/2026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B746C-5D09-90BF-20C8-3E44739C3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569E4-1BDF-7D09-A58D-AAE3D3A2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F93E-246B-4D95-BDB1-257FB0290B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108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0E42-1972-1C41-821A-AF02FDAF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D9E6A-0539-AB90-9578-BA593862A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5E2B2-D38E-9631-7172-9B4375910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76CA-F1E9-4958-A9E8-D51BA0168C1F}" type="datetimeFigureOut">
              <a:rPr lang="en-AU" smtClean="0"/>
              <a:t>7/07/2026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A2F1F-D691-CA8D-11AE-0AF49D20B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A28C0-418E-48F4-A60E-B9AFED5E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F93E-246B-4D95-BDB1-257FB0290B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9309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6032F-94FC-55F9-144F-7A7E84551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E61C5-91DB-C7EC-120D-79CBA20AC6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BA335-9854-95BF-7D86-43EA9D7AE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2B1FB-5E9C-40B8-AF5E-3CF2065B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76CA-F1E9-4958-A9E8-D51BA0168C1F}" type="datetimeFigureOut">
              <a:rPr lang="en-AU" smtClean="0"/>
              <a:t>7/07/2026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FA90B-D425-733D-628B-DFB30408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E7295-807D-70C0-3684-E2738860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F93E-246B-4D95-BDB1-257FB0290B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361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03532-E2FF-A374-2EC6-7DEA5D5F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F5962-637A-FCA1-B4DA-A13A7AF16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A63DE-7D11-CFDC-BBE9-86A4D40F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EBBC06-7FB6-C855-0D69-D851CF1017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55DD0-45A6-34EF-18FA-20FE8DB4D7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503F03-3864-8386-2FB1-67D30D095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76CA-F1E9-4958-A9E8-D51BA0168C1F}" type="datetimeFigureOut">
              <a:rPr lang="en-AU" smtClean="0"/>
              <a:t>7/07/2026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2D327F-D680-AA0E-A964-22AB02A04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A5C98B-A1C1-2FF8-7DEB-59B0826BE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F93E-246B-4D95-BDB1-257FB0290B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704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3A00-2E02-0852-5847-99243C32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1D5ECF-F6F8-BA97-9F05-4B74481BC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76CA-F1E9-4958-A9E8-D51BA0168C1F}" type="datetimeFigureOut">
              <a:rPr lang="en-AU" smtClean="0"/>
              <a:t>7/07/2026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75BB9-E75A-A6EF-1CBC-2D166BC30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8A7D1-043F-C878-153E-572ED069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F93E-246B-4D95-BDB1-257FB0290B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675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FBEFC3-9BB2-45F9-DFBA-022F733C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76CA-F1E9-4958-A9E8-D51BA0168C1F}" type="datetimeFigureOut">
              <a:rPr lang="en-AU" smtClean="0"/>
              <a:t>7/07/2026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2B1A44-E7FF-2045-C1E3-8CA522C6B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A80B0-B14A-ED6C-44E6-31EDFDDE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F93E-246B-4D95-BDB1-257FB0290B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61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893C4-600D-C2ED-9C68-677CF2A94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E2C74-2310-40B8-BD26-9384BB591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39E4B-A4AB-D614-1364-EA4B87AB1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6FCBE-6F23-97C2-CDB7-68736263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76CA-F1E9-4958-A9E8-D51BA0168C1F}" type="datetimeFigureOut">
              <a:rPr lang="en-AU" smtClean="0"/>
              <a:t>7/07/2026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BE616-D235-7D03-CCDE-FDCBAD6B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C90DF-8CE7-8840-E00F-7CC23C529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F93E-246B-4D95-BDB1-257FB0290B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2381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1858A-5067-2290-A683-456D5F82F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A30734-D1D5-B324-D60E-5B6FA07F6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20405-D4B5-22E8-8552-3D69CDAAC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F60A5-15E9-F64B-57E9-5DA07E537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76CA-F1E9-4958-A9E8-D51BA0168C1F}" type="datetimeFigureOut">
              <a:rPr lang="en-AU" smtClean="0"/>
              <a:t>7/07/2026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37EA6-6FAD-84D2-F8E7-8C45EE95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D0B08-2ADD-2501-9F08-92515D2E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F93E-246B-4D95-BDB1-257FB0290B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98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B765-6D3C-ECD2-0169-2ED7E3A3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FAA01-5F62-293E-4935-7F789280D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DB061-B972-7F41-20A2-536696125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76CA-F1E9-4958-A9E8-D51BA0168C1F}" type="datetimeFigureOut">
              <a:rPr lang="en-AU" smtClean="0"/>
              <a:t>7/07/2026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14B14-51BA-6AB6-42D8-7E205402D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0A123-B916-D314-CF80-D5534A739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F93E-246B-4D95-BDB1-257FB0290B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392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116CBE-7A54-581C-FA35-577F07B9D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B601C-C151-2AD1-A7B9-A12BFDEEA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99C17-40C5-D892-56C5-047AF27C0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76CA-F1E9-4958-A9E8-D51BA0168C1F}" type="datetimeFigureOut">
              <a:rPr lang="en-AU" smtClean="0"/>
              <a:t>7/07/2026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DE36A-57B1-31A2-B3B1-80B1AD0F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FB687-C05C-CC81-FF2F-FE725A83F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F93E-246B-4D95-BDB1-257FB0290B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65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A5059-9846-BAE8-29BC-858A9DEDF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14463-CD68-7950-72DA-9E067C0AF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280C9-61AE-8184-8031-5EEA6DF5B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E76CA-F1E9-4958-A9E8-D51BA0168C1F}" type="datetimeFigureOut">
              <a:rPr lang="en-AU" smtClean="0"/>
              <a:t>7/07/2026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CED77-D7D4-CAE3-30D4-4C928CFF8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AE9D2-6BA2-6333-20A4-080493E18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8EF93E-246B-4D95-BDB1-257FB0290B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8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0B2AA"/>
                </a:solidFill>
                <a:latin typeface="Aptos"/>
              </a:rP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949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"/>
              </a:rPr>
              <a:t>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633472"/>
            <a:ext cx="6400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DDE7F3"/>
                </a:solidFill>
                <a:latin typeface="Aptos"/>
              </a:rPr>
              <a:t>From cleaned data to predictive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0350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BD4E8"/>
                </a:solidFill>
                <a:latin typeface="Aptos"/>
              </a:rPr>
              <a:t>Big Data and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325880"/>
            <a:ext cx="822960" cy="640080"/>
          </a:xfrm>
          <a:prstGeom prst="round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137160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011680"/>
            <a:ext cx="822960" cy="64008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89720" y="205740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743200"/>
            <a:ext cx="822960" cy="640080"/>
          </a:xfrm>
          <a:prstGeom prst="round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278892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121408"/>
            <a:ext cx="548640" cy="502920"/>
          </a:xfrm>
          <a:prstGeom prst="roundRect">
            <a:avLst/>
          </a:prstGeom>
          <a:solidFill>
            <a:srgbClr val="7E57C2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2121408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DDE7F3"/>
                </a:solidFill>
                <a:latin typeface="Aptos"/>
              </a:rPr>
              <a:t>predict one class from many possibilities</a:t>
            </a:r>
          </a:p>
        </p:txBody>
      </p:sp>
      <p:pic>
        <p:nvPicPr>
          <p:cNvPr id="16" name="Picture 1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E667B83C-9781-D08C-6D9C-D3C732B2E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ED9E223E-0502-870E-F779-8CE2A0630038}"/>
              </a:ext>
            </a:extLst>
          </p:cNvPr>
          <p:cNvSpPr/>
          <p:nvPr/>
        </p:nvSpPr>
        <p:spPr>
          <a:xfrm>
            <a:off x="749808" y="4270248"/>
            <a:ext cx="36190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D6E8FF"/>
                </a:solidFill>
              </a:rPr>
              <a:t>Lets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wait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for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another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15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mins</a:t>
            </a:r>
            <a:br>
              <a:rPr lang="en-US" altLang="zh-CN" sz="1800" dirty="0">
                <a:solidFill>
                  <a:srgbClr val="D6E8FF"/>
                </a:solidFill>
              </a:rPr>
            </a:br>
            <a:r>
              <a:rPr lang="en-US" altLang="zh-CN" sz="1800" dirty="0">
                <a:solidFill>
                  <a:srgbClr val="D6E8FF"/>
                </a:solidFill>
              </a:rPr>
              <a:t>To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allow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more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students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join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us</a:t>
            </a:r>
            <a:br>
              <a:rPr lang="en-US" altLang="zh-CN" sz="1800" dirty="0">
                <a:solidFill>
                  <a:srgbClr val="D6E8FF"/>
                </a:solidFill>
              </a:rPr>
            </a:br>
            <a:r>
              <a:rPr lang="en-US" altLang="zh-CN" sz="1800" dirty="0">
                <a:solidFill>
                  <a:srgbClr val="D6E8FF"/>
                </a:solidFill>
              </a:rPr>
              <a:t>Q&amp;A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session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now!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  <a:latin typeface="Aptos Display"/>
              </a:rPr>
              <a:t>Learning Outcomes and Assessment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029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82296" cy="42976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380744"/>
            <a:ext cx="46817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F80ED"/>
                </a:solidFill>
                <a:latin typeface="Aptos"/>
              </a:rPr>
              <a:t>Subject Learning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468172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20">
                <a:solidFill>
                  <a:srgbClr val="172033"/>
                </a:solidFill>
                <a:latin typeface="Aptos"/>
              </a:rPr>
              <a:t>d) Design analytical models based on given problems.</a:t>
            </a:r>
            <a:br/>
            <a:br/>
            <a:r>
              <a:rPr sz="1620">
                <a:solidFill>
                  <a:srgbClr val="172033"/>
                </a:solidFill>
                <a:latin typeface="Aptos"/>
              </a:rPr>
              <a:t>In this module, that means translating a business or analytical question into a classification task, selecting a suitable algorithm, and justifying the modelling approach.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234440"/>
            <a:ext cx="5029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520" y="1234440"/>
            <a:ext cx="82296" cy="42976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1380744"/>
            <a:ext cx="46817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2994A"/>
                </a:solidFill>
                <a:latin typeface="Aptos"/>
              </a:rPr>
              <a:t>Assessment 2 connection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1764792"/>
            <a:ext cx="468172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20">
                <a:solidFill>
                  <a:srgbClr val="172033"/>
                </a:solidFill>
                <a:latin typeface="Aptos"/>
              </a:rPr>
              <a:t>Assessment 2 is due at the end of Module 8. Start preparing now by understanding classification models, especially decision trees, because decision trees are commonly used for interpretable classification tasks in PySpark MLlib.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696712"/>
            <a:ext cx="9966960" cy="475488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5742432"/>
            <a:ext cx="9692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Aptos"/>
              </a:rPr>
              <a:t>Practical direction: after today’s concepts, the next step is to implement a simple decision tree in Jupyter Notebook / PySpark.</a:t>
            </a:r>
          </a:p>
        </p:txBody>
      </p:sp>
      <p:pic>
        <p:nvPicPr>
          <p:cNvPr id="18" name="Picture 1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5C5C60EB-60B9-F712-973D-A8EC0D0E3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738D59C6-845C-31EF-C069-0C2479FA0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956DA85-404E-9646-866F-75D030953504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833E-812D-62D1-E74D-E2DE6C5E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216557"/>
            <a:ext cx="10515600" cy="688899"/>
          </a:xfrm>
        </p:spPr>
        <p:txBody>
          <a:bodyPr/>
          <a:lstStyle/>
          <a:p>
            <a:r>
              <a:rPr lang="en-AU" sz="2400" b="1" dirty="0"/>
              <a:t>Supervised and Unsupervised Machine Learning</a:t>
            </a:r>
            <a:endParaRPr lang="en-AU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6235D8-CE49-837B-BCF8-FF74ECB30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Big Data and Analytics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776DB-0BC4-4325-ECCD-0CA91E88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DA85-404E-9646-866F-75D03095350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D03D5-7EA1-67F5-C656-35F85B799D62}"/>
              </a:ext>
            </a:extLst>
          </p:cNvPr>
          <p:cNvSpPr txBox="1"/>
          <p:nvPr/>
        </p:nvSpPr>
        <p:spPr>
          <a:xfrm>
            <a:off x="447686" y="990600"/>
            <a:ext cx="111780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AU" sz="1600" b="1" i="0" dirty="0">
                <a:solidFill>
                  <a:srgbClr val="FFC000"/>
                </a:solidFill>
                <a:effectLst/>
                <a:latin typeface="Söhne"/>
              </a:rPr>
              <a:t>Supervised</a:t>
            </a:r>
            <a:r>
              <a:rPr lang="en-AU" sz="1600" b="1" i="0" dirty="0">
                <a:solidFill>
                  <a:schemeClr val="tx1"/>
                </a:solidFill>
                <a:effectLst/>
                <a:latin typeface="Söhne"/>
              </a:rPr>
              <a:t> machine learning is generally used </a:t>
            </a:r>
            <a:r>
              <a:rPr lang="en-AU" sz="1600" b="1" i="0" dirty="0">
                <a:solidFill>
                  <a:srgbClr val="FFC000"/>
                </a:solidFill>
                <a:effectLst/>
                <a:latin typeface="Söhne"/>
              </a:rPr>
              <a:t>to classify data or make predictions</a:t>
            </a:r>
            <a:r>
              <a:rPr lang="en-AU" sz="1600" b="1" i="0" dirty="0">
                <a:solidFill>
                  <a:schemeClr val="tx1"/>
                </a:solidFill>
                <a:effectLst/>
                <a:latin typeface="Söhne"/>
              </a:rPr>
              <a:t>, whereas </a:t>
            </a:r>
            <a:r>
              <a:rPr lang="en-AU" sz="1600" b="1" i="0" dirty="0">
                <a:solidFill>
                  <a:srgbClr val="0432FF"/>
                </a:solidFill>
                <a:effectLst/>
                <a:latin typeface="Söhne"/>
              </a:rPr>
              <a:t>unsupervised</a:t>
            </a:r>
            <a:r>
              <a:rPr lang="en-AU" sz="1600" b="1" i="0" dirty="0">
                <a:solidFill>
                  <a:schemeClr val="tx1"/>
                </a:solidFill>
                <a:effectLst/>
                <a:latin typeface="Söhne"/>
              </a:rPr>
              <a:t> learning is generally used to </a:t>
            </a:r>
            <a:r>
              <a:rPr lang="en-AU" sz="1600" b="1" i="0" dirty="0">
                <a:solidFill>
                  <a:srgbClr val="0432FF"/>
                </a:solidFill>
                <a:effectLst/>
                <a:latin typeface="Söhne"/>
              </a:rPr>
              <a:t>understand relationships within datasets</a:t>
            </a:r>
            <a:r>
              <a:rPr lang="en-AU" sz="1600" b="1" i="0" dirty="0">
                <a:solidFill>
                  <a:schemeClr val="tx1"/>
                </a:solidFill>
                <a:effectLst/>
                <a:latin typeface="Söhne"/>
              </a:rPr>
              <a:t>. </a:t>
            </a:r>
          </a:p>
          <a:p>
            <a:pPr marL="285750" indent="-285750">
              <a:buFont typeface="Wingdings" pitchFamily="2" charset="2"/>
              <a:buChar char="Ø"/>
            </a:pPr>
            <a:endParaRPr lang="en-AU" sz="1600" b="1" i="0" dirty="0">
              <a:solidFill>
                <a:schemeClr val="tx1"/>
              </a:solidFill>
              <a:effectLst/>
              <a:latin typeface="Söhne"/>
            </a:endParaRPr>
          </a:p>
          <a:p>
            <a:r>
              <a:rPr lang="en-AU" sz="1600" b="1" i="0" dirty="0">
                <a:solidFill>
                  <a:schemeClr val="tx1"/>
                </a:solidFill>
                <a:effectLst/>
                <a:latin typeface="Söhne"/>
              </a:rPr>
              <a:t>Supervised machine learning is much more resource-intensive because of the need for labelled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3C46E-CC77-8B1F-B7ED-82CFCF7CF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286000"/>
            <a:ext cx="5683250" cy="30524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D9547F0-08AF-9C6C-FA6F-0705D1E7CE0E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86A13061-7AF9-DAD6-D671-EC11E4D27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36A78C4-0654-D8C2-51E5-A0C7419784D0}"/>
              </a:ext>
            </a:extLst>
          </p:cNvPr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087ADF-A678-D300-DE4D-7F263F466141}"/>
              </a:ext>
            </a:extLst>
          </p:cNvPr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10853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  <a:latin typeface="Aptos Display"/>
              </a:rPr>
              <a:t>Why Classification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43000"/>
            <a:ext cx="4663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280160"/>
            <a:ext cx="426110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0B2AA"/>
                </a:solidFill>
                <a:latin typeface="Aptos"/>
              </a:rPr>
              <a:t>Problem framing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2062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har char="•"/>
              <a:defRPr sz="1650">
                <a:solidFill>
                  <a:srgbClr val="172033"/>
                </a:solidFill>
                <a:latin typeface="Aptos"/>
              </a:defRPr>
            </a:pPr>
            <a:r>
              <a:t>Many business questions ask for a decision category, not just a number.</a:t>
            </a:r>
          </a:p>
          <a:p>
            <a:pPr>
              <a:buChar char="•"/>
              <a:defRPr sz="1650">
                <a:solidFill>
                  <a:srgbClr val="172033"/>
                </a:solidFill>
                <a:latin typeface="Aptos"/>
              </a:defRPr>
            </a:pPr>
            <a:r>
              <a:t>A classification model learns patterns from examples that already have a known label.</a:t>
            </a:r>
          </a:p>
          <a:p>
            <a:pPr>
              <a:buChar char="•"/>
              <a:defRPr sz="1650">
                <a:solidFill>
                  <a:srgbClr val="172033"/>
                </a:solidFill>
                <a:latin typeface="Aptos"/>
              </a:defRPr>
            </a:pPr>
            <a:r>
              <a:t>The model can then classify new unseen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14300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93407" y="1280160"/>
            <a:ext cx="46268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2994A"/>
                </a:solidFill>
                <a:latin typeface="Aptos"/>
              </a:rPr>
              <a:t>Typical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1691640"/>
            <a:ext cx="457200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har char="•"/>
              <a:defRPr sz="1650">
                <a:solidFill>
                  <a:srgbClr val="172033"/>
                </a:solidFill>
                <a:latin typeface="Aptos"/>
              </a:defRPr>
            </a:pPr>
            <a:r>
              <a:t>Will a customer subscribe: yes or no?</a:t>
            </a:r>
          </a:p>
          <a:p>
            <a:pPr>
              <a:buChar char="•"/>
              <a:defRPr sz="1650">
                <a:solidFill>
                  <a:srgbClr val="172033"/>
                </a:solidFill>
                <a:latin typeface="Aptos"/>
              </a:defRPr>
            </a:pPr>
            <a:r>
              <a:t>Is this transaction fraud or genuine?</a:t>
            </a:r>
          </a:p>
          <a:p>
            <a:pPr>
              <a:buChar char="•"/>
              <a:defRPr sz="1650">
                <a:solidFill>
                  <a:srgbClr val="172033"/>
                </a:solidFill>
                <a:latin typeface="Aptos"/>
              </a:defRPr>
            </a:pPr>
            <a:r>
              <a:t>Which risk group does this customer belong to?</a:t>
            </a:r>
          </a:p>
          <a:p>
            <a:pPr>
              <a:buChar char="•"/>
              <a:defRPr sz="1650">
                <a:solidFill>
                  <a:srgbClr val="172033"/>
                </a:solidFill>
                <a:latin typeface="Aptos"/>
              </a:defRPr>
            </a:pPr>
            <a:r>
              <a:t>Which product category best matches this item?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3063240"/>
            <a:ext cx="640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D1B2A"/>
                </a:solidFill>
                <a:latin typeface="Aptos"/>
              </a:rPr>
              <a:t>→</a:t>
            </a:r>
          </a:p>
        </p:txBody>
      </p:sp>
      <p:pic>
        <p:nvPicPr>
          <p:cNvPr id="15" name="Picture 14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08F5A35F-0B5C-47D0-A280-F7BC3F517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9DFCC34C-D876-162B-6EA7-C50C3912A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956DA85-404E-9646-866F-75D030953504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  <a:latin typeface="Aptos Display"/>
              </a:rPr>
              <a:t>A Simple Classification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1417320" cy="731520"/>
          </a:xfrm>
          <a:prstGeom prst="round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Define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71016" y="1508760"/>
            <a:ext cx="42976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71016" y="1508760"/>
            <a:ext cx="4297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F80ED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22402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2057400"/>
            <a:ext cx="1417320" cy="731520"/>
          </a:xfrm>
          <a:prstGeom prst="round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210312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Prepare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99816" y="1508760"/>
            <a:ext cx="42976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9816" y="1508760"/>
            <a:ext cx="4297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0B2AA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22402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057400"/>
            <a:ext cx="1417320" cy="731520"/>
          </a:xfrm>
          <a:prstGeom prst="round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59" y="210312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Split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28616" y="1508760"/>
            <a:ext cx="42976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28616" y="1508760"/>
            <a:ext cx="4297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2994A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22402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057400"/>
            <a:ext cx="1417320" cy="731520"/>
          </a:xfrm>
          <a:prstGeom prst="roundRect">
            <a:avLst/>
          </a:prstGeom>
          <a:solidFill>
            <a:srgbClr val="7E57C2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59" y="210312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Train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57416" y="1508760"/>
            <a:ext cx="42976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57416" y="1508760"/>
            <a:ext cx="4297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E57C2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2" y="22402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2057400"/>
            <a:ext cx="1417320" cy="73152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210312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Evaluate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86216" y="1508760"/>
            <a:ext cx="42976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86216" y="1508760"/>
            <a:ext cx="4297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AE60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2912" y="22402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2057400"/>
            <a:ext cx="1417320" cy="731520"/>
          </a:xfrm>
          <a:prstGeom prst="roundRect">
            <a:avLst/>
          </a:prstGeom>
          <a:solidFill>
            <a:srgbClr val="EB5757"/>
          </a:solidFill>
          <a:ln w="1270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66960" y="210312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Use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15016" y="1508760"/>
            <a:ext cx="42976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15016" y="1508760"/>
            <a:ext cx="4297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5757"/>
                </a:solidFill>
                <a:latin typeface="Aptos"/>
              </a:rP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794760"/>
            <a:ext cx="4754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15568" y="3931920"/>
            <a:ext cx="43525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0B2AA"/>
                </a:solidFill>
                <a:latin typeface="Aptos"/>
              </a:rPr>
              <a:t>Before modelling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0432" y="434340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har char="•"/>
              <a:defRPr sz="1350">
                <a:solidFill>
                  <a:srgbClr val="172033"/>
                </a:solidFill>
                <a:latin typeface="Aptos"/>
              </a:defRPr>
            </a:pPr>
            <a:r>
              <a:t>Check the label is meaningful and available.</a:t>
            </a:r>
          </a:p>
          <a:p>
            <a:pPr>
              <a:buChar char="•"/>
              <a:defRPr sz="1350">
                <a:solidFill>
                  <a:srgbClr val="172033"/>
                </a:solidFill>
                <a:latin typeface="Aptos"/>
              </a:defRPr>
            </a:pPr>
            <a:r>
              <a:t>Choose relevant and ethical features.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6520" y="3794760"/>
            <a:ext cx="4754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47688" y="3931920"/>
            <a:ext cx="43525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7AE60"/>
                </a:solidFill>
                <a:latin typeface="Aptos"/>
              </a:rPr>
              <a:t>After modelling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2552" y="434340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har char="•"/>
              <a:defRPr sz="1350">
                <a:solidFill>
                  <a:srgbClr val="172033"/>
                </a:solidFill>
                <a:latin typeface="Aptos"/>
              </a:defRPr>
            </a:pPr>
            <a:r>
              <a:t>Assess performance on unseen data.</a:t>
            </a:r>
          </a:p>
          <a:p>
            <a:pPr>
              <a:buChar char="•"/>
              <a:defRPr sz="1350">
                <a:solidFill>
                  <a:srgbClr val="172033"/>
                </a:solidFill>
                <a:latin typeface="Aptos"/>
              </a:defRPr>
            </a:pPr>
            <a:r>
              <a:t>Communicate strengths, limits, and risks.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5715000"/>
            <a:ext cx="9966960" cy="475488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34440" y="5760720"/>
            <a:ext cx="9692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0D1B2A"/>
                </a:solidFill>
                <a:latin typeface="Aptos"/>
              </a:rPr>
              <a:t>The workflow is repeatable: poor evaluation results often send you back to features, cleaning, or model choice.</a:t>
            </a:r>
          </a:p>
        </p:txBody>
      </p:sp>
      <p:pic>
        <p:nvPicPr>
          <p:cNvPr id="45" name="Picture 44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AB11B573-20B5-8539-555F-2A10FBA11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  <p:sp>
        <p:nvSpPr>
          <p:cNvPr id="46" name="Slide Number Placeholder 3">
            <a:extLst>
              <a:ext uri="{FF2B5EF4-FFF2-40B4-BE49-F238E27FC236}">
                <a16:creationId xmlns:a16="http://schemas.microsoft.com/office/drawing/2014/main" id="{F013CA5C-5991-7189-77BC-E5A4DF4B2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956DA85-404E-9646-866F-75D030953504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  <a:latin typeface="Aptos Display"/>
              </a:rPr>
              <a:t>Common Classification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82296" cy="1828800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289304"/>
            <a:ext cx="31272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0B2AA"/>
                </a:solidFill>
                <a:latin typeface="Aptos"/>
              </a:rPr>
              <a:t>Rule-based classifiers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73352"/>
            <a:ext cx="31272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172033"/>
                </a:solidFill>
                <a:latin typeface="Aptos"/>
              </a:rPr>
              <a:t>Learn IF–THEN rules. Easy to explain, but may be too simple for complex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430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143000"/>
            <a:ext cx="82296" cy="18288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289304"/>
            <a:ext cx="31272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F80ED"/>
                </a:solidFill>
                <a:latin typeface="Aptos"/>
              </a:rPr>
              <a:t>Naïve Bayes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673352"/>
            <a:ext cx="31272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172033"/>
                </a:solidFill>
                <a:latin typeface="Aptos"/>
              </a:rPr>
              <a:t>Probabilistic classifier using feature likelihoods. Fast and strong for text or simple baselines.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430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143000"/>
            <a:ext cx="82296" cy="18288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289304"/>
            <a:ext cx="31272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2994A"/>
                </a:solidFill>
                <a:latin typeface="Aptos"/>
              </a:rPr>
              <a:t>Decision trees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673352"/>
            <a:ext cx="31272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172033"/>
                </a:solidFill>
                <a:latin typeface="Aptos"/>
              </a:rPr>
              <a:t>Split the data into branches. Intuitive, visual, and suitable for assignment-style explanation.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576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657600"/>
            <a:ext cx="82296" cy="1828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803904"/>
            <a:ext cx="31272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7AE60"/>
                </a:solidFill>
                <a:latin typeface="Aptos"/>
              </a:rPr>
              <a:t>Logistic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187952"/>
            <a:ext cx="31272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172033"/>
                </a:solidFill>
                <a:latin typeface="Aptos"/>
              </a:rPr>
              <a:t>Linear decision boundary for binary or multiclass classification. Interpretable coefficients.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6576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657600"/>
            <a:ext cx="82296" cy="182880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3803904"/>
            <a:ext cx="31272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E57C2"/>
                </a:solidFill>
                <a:latin typeface="Aptos"/>
              </a:rPr>
              <a:t>Random forest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187952"/>
            <a:ext cx="31272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172033"/>
                </a:solidFill>
                <a:latin typeface="Aptos"/>
              </a:rPr>
              <a:t>An ensemble of decision trees. Usually more accurate and robust than a single tree.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6576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92440" y="3657600"/>
            <a:ext cx="82296" cy="1828800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93608" y="3803904"/>
            <a:ext cx="31272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B5757"/>
                </a:solidFill>
                <a:latin typeface="Aptos"/>
              </a:rPr>
              <a:t>Gradient boosting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4187952"/>
            <a:ext cx="31272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172033"/>
                </a:solidFill>
                <a:latin typeface="Aptos"/>
              </a:rPr>
              <a:t>Sequentially improves weak trees. Powerful but less transparent and needs tuning.</a:t>
            </a:r>
          </a:p>
        </p:txBody>
      </p:sp>
      <p:pic>
        <p:nvPicPr>
          <p:cNvPr id="32" name="Picture 31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DBD6E970-890D-0123-667F-CF05A584F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  <p:sp>
        <p:nvSpPr>
          <p:cNvPr id="33" name="Slide Number Placeholder 3">
            <a:extLst>
              <a:ext uri="{FF2B5EF4-FFF2-40B4-BE49-F238E27FC236}">
                <a16:creationId xmlns:a16="http://schemas.microsoft.com/office/drawing/2014/main" id="{500FB481-43DE-BC84-846A-0B541163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956DA85-404E-9646-866F-75D030953504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  <a:latin typeface="Aptos Display"/>
              </a:rPr>
              <a:t>Two Foundations: Rules and Probabilities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029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82296" cy="4297680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380744"/>
            <a:ext cx="46817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0B2AA"/>
                </a:solidFill>
                <a:latin typeface="Aptos"/>
              </a:rPr>
              <a:t>Rule-based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468172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>
                <a:solidFill>
                  <a:srgbClr val="172033"/>
                </a:solidFill>
                <a:latin typeface="Aptos"/>
              </a:rPr>
              <a:t>A rule classifier predicts a class using human-readable logic.</a:t>
            </a:r>
            <a:br/>
            <a:br/>
            <a:r>
              <a:rPr sz="1550">
                <a:solidFill>
                  <a:srgbClr val="172033"/>
                </a:solidFill>
                <a:latin typeface="Aptos"/>
              </a:rPr>
              <a:t>Example:</a:t>
            </a:r>
            <a:br/>
            <a:r>
              <a:rPr sz="1550">
                <a:solidFill>
                  <a:srgbClr val="172033"/>
                </a:solidFill>
                <a:latin typeface="Aptos"/>
              </a:rPr>
              <a:t>IF balance &gt; 2000 AND previous contact = yes</a:t>
            </a:r>
            <a:br/>
            <a:r>
              <a:rPr sz="1550">
                <a:solidFill>
                  <a:srgbClr val="172033"/>
                </a:solidFill>
                <a:latin typeface="Aptos"/>
              </a:rPr>
              <a:t>THEN predicted class = likely subscriber</a:t>
            </a:r>
            <a:br/>
            <a:br/>
            <a:r>
              <a:rPr sz="1550">
                <a:solidFill>
                  <a:srgbClr val="172033"/>
                </a:solidFill>
                <a:latin typeface="Aptos"/>
              </a:rPr>
              <a:t>Strength: very interpretable</a:t>
            </a:r>
            <a:br/>
            <a:r>
              <a:rPr sz="1550">
                <a:solidFill>
                  <a:srgbClr val="172033"/>
                </a:solidFill>
                <a:latin typeface="Aptos"/>
              </a:rPr>
              <a:t>Limitation: may not capture complex interactions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34440"/>
            <a:ext cx="50749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82296" cy="42976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380744"/>
            <a:ext cx="4727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F80ED"/>
                </a:solidFill>
                <a:latin typeface="Aptos"/>
              </a:rPr>
              <a:t>Naïve Bayes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764792"/>
            <a:ext cx="472744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>
                <a:solidFill>
                  <a:srgbClr val="172033"/>
                </a:solidFill>
                <a:latin typeface="Aptos"/>
              </a:rPr>
              <a:t>Naïve Bayes estimates the probability of each class given the observed features.</a:t>
            </a:r>
            <a:br/>
            <a:br/>
            <a:r>
              <a:rPr sz="1550">
                <a:solidFill>
                  <a:srgbClr val="172033"/>
                </a:solidFill>
                <a:latin typeface="Aptos"/>
              </a:rPr>
              <a:t>It is “naïve” because it assumes features are conditionally independent given the class.</a:t>
            </a:r>
            <a:br/>
            <a:br/>
            <a:r>
              <a:rPr sz="1550">
                <a:solidFill>
                  <a:srgbClr val="172033"/>
                </a:solidFill>
                <a:latin typeface="Aptos"/>
              </a:rPr>
              <a:t>Strength: fast and scalable</a:t>
            </a:r>
            <a:br/>
            <a:r>
              <a:rPr sz="1550">
                <a:solidFill>
                  <a:srgbClr val="172033"/>
                </a:solidFill>
                <a:latin typeface="Aptos"/>
              </a:rPr>
              <a:t>Limitation: independence assumption can be unrealistic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669280"/>
            <a:ext cx="9966960" cy="475488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5715000"/>
            <a:ext cx="9692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Aptos"/>
              </a:rPr>
              <a:t>Both are useful baselines. A baseline helps you judge whether a more complex model is actually worth using.</a:t>
            </a:r>
          </a:p>
        </p:txBody>
      </p:sp>
      <p:pic>
        <p:nvPicPr>
          <p:cNvPr id="18" name="Picture 1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BF6F68C6-C61C-1FFF-D658-FDB83D9F3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1CFFB145-D635-A7D6-372E-E0C732AB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956DA85-404E-9646-866F-75D030953504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0D1B2A"/>
                </a:solidFill>
                <a:latin typeface="Aptos Display"/>
              </a:rPr>
              <a:t>Decision Trees: Divide-and-Conquer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2823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67085"/>
                </a:solidFill>
                <a:latin typeface="Aptos"/>
              </a:rPr>
              <a:t>10</a:t>
            </a:r>
          </a:p>
        </p:txBody>
      </p:sp>
      <p:pic>
        <p:nvPicPr>
          <p:cNvPr id="34" name="Picture 33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C7FC5653-0E52-15C1-D47A-0AB888785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60DA400-6487-20E9-73AF-436057321F46}"/>
              </a:ext>
            </a:extLst>
          </p:cNvPr>
          <p:cNvSpPr txBox="1"/>
          <p:nvPr/>
        </p:nvSpPr>
        <p:spPr>
          <a:xfrm>
            <a:off x="7674833" y="5079366"/>
            <a:ext cx="2558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chemeClr val="tx1"/>
                </a:solidFill>
              </a:rPr>
              <a:t>Source: Imakash3011.medium.com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D74ECA-1065-6282-5BC8-D9CB46DC5418}"/>
              </a:ext>
            </a:extLst>
          </p:cNvPr>
          <p:cNvSpPr txBox="1"/>
          <p:nvPr/>
        </p:nvSpPr>
        <p:spPr>
          <a:xfrm>
            <a:off x="503635" y="1651225"/>
            <a:ext cx="559221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i="0" u="none" strike="noStrike" dirty="0">
                <a:solidFill>
                  <a:schemeClr val="tx1"/>
                </a:solidFill>
                <a:effectLst/>
                <a:latin typeface="Söhne"/>
              </a:rPr>
              <a:t>Structure of a Decision Tree: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600" b="1" i="0" u="none" strike="noStrike" dirty="0">
                <a:solidFill>
                  <a:schemeClr val="tx1"/>
                </a:solidFill>
                <a:effectLst/>
                <a:latin typeface="Söhne"/>
              </a:rPr>
              <a:t>Root Node:</a:t>
            </a:r>
            <a:r>
              <a:rPr lang="en-AU" sz="1600" b="0" i="0" u="none" strike="noStrike" dirty="0">
                <a:solidFill>
                  <a:schemeClr val="tx1"/>
                </a:solidFill>
                <a:effectLst/>
                <a:latin typeface="Söhne"/>
              </a:rPr>
              <a:t> It represents the entire population or sample. It further gets divided into two or more homogeneous sets.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600" b="1" i="0" u="none" strike="noStrike" dirty="0">
                <a:solidFill>
                  <a:schemeClr val="tx1"/>
                </a:solidFill>
                <a:effectLst/>
                <a:latin typeface="Söhne"/>
              </a:rPr>
              <a:t>Decision Node:</a:t>
            </a:r>
            <a:r>
              <a:rPr lang="en-AU" sz="1600" b="0" i="0" u="none" strike="noStrike" dirty="0">
                <a:solidFill>
                  <a:schemeClr val="tx1"/>
                </a:solidFill>
                <a:effectLst/>
                <a:latin typeface="Söhne"/>
              </a:rPr>
              <a:t> When a sub-node splits into further sub-nodes, then it is called the decision node.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600" b="1" i="0" u="none" strike="noStrike" dirty="0">
                <a:solidFill>
                  <a:schemeClr val="tx1"/>
                </a:solidFill>
                <a:effectLst/>
                <a:latin typeface="Söhne"/>
              </a:rPr>
              <a:t>Leaf/Terminal Node:</a:t>
            </a:r>
            <a:r>
              <a:rPr lang="en-AU" sz="1600" b="0" i="0" u="none" strike="noStrike" dirty="0">
                <a:solidFill>
                  <a:schemeClr val="tx1"/>
                </a:solidFill>
                <a:effectLst/>
                <a:latin typeface="Söhne"/>
              </a:rPr>
              <a:t> Nodes that do not split are called Leaf or Terminal nodes.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600" b="1" i="0" u="none" strike="noStrike" dirty="0">
                <a:solidFill>
                  <a:schemeClr val="tx1"/>
                </a:solidFill>
                <a:effectLst/>
                <a:latin typeface="Söhne"/>
              </a:rPr>
              <a:t>Pruning:</a:t>
            </a:r>
            <a:r>
              <a:rPr lang="en-AU" sz="1600" b="0" i="0" u="none" strike="noStrike" dirty="0">
                <a:solidFill>
                  <a:schemeClr val="tx1"/>
                </a:solidFill>
                <a:effectLst/>
                <a:latin typeface="Söhne"/>
              </a:rPr>
              <a:t> The process of removing the unwanted branches from the tree.</a:t>
            </a:r>
          </a:p>
          <a:p>
            <a:br>
              <a:rPr lang="en-AU" sz="1600" dirty="0">
                <a:solidFill>
                  <a:schemeClr val="tx1"/>
                </a:solidFill>
              </a:rPr>
            </a:br>
            <a:endParaRPr lang="en-AU" sz="1600" dirty="0">
              <a:solidFill>
                <a:schemeClr val="tx1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B802410-D08C-9248-CB76-5958282DF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828" y="1187122"/>
            <a:ext cx="5592212" cy="37281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  <a:latin typeface="Aptos Display"/>
              </a:rPr>
              <a:t>How a Decision Tree Learns Splits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2823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67085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5029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280160"/>
            <a:ext cx="46268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F80ED"/>
                </a:solidFill>
                <a:latin typeface="Aptos"/>
              </a:rPr>
              <a:t>Learning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691640"/>
            <a:ext cx="457200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har char="•"/>
              <a:defRPr sz="1550">
                <a:solidFill>
                  <a:srgbClr val="172033"/>
                </a:solidFill>
                <a:latin typeface="Aptos"/>
              </a:defRPr>
            </a:pPr>
            <a:r>
              <a:rPr dirty="0"/>
              <a:t>At each node, the tree searches for a feature split that makes child nodes more “pure”.</a:t>
            </a:r>
          </a:p>
          <a:p>
            <a:pPr>
              <a:buChar char="•"/>
              <a:defRPr sz="1550">
                <a:solidFill>
                  <a:srgbClr val="172033"/>
                </a:solidFill>
                <a:latin typeface="Aptos"/>
              </a:defRPr>
            </a:pPr>
            <a:r>
              <a:rPr dirty="0"/>
              <a:t>A pure node contains mostly one class.</a:t>
            </a:r>
          </a:p>
          <a:p>
            <a:pPr>
              <a:buChar char="•"/>
              <a:defRPr sz="1550">
                <a:solidFill>
                  <a:srgbClr val="172033"/>
                </a:solidFill>
                <a:latin typeface="Aptos"/>
              </a:defRPr>
            </a:pPr>
            <a:r>
              <a:rPr dirty="0"/>
              <a:t>Common split criteria include information gain, entropy, and Gini impurity.</a:t>
            </a:r>
          </a:p>
          <a:p>
            <a:pPr>
              <a:buChar char="•"/>
              <a:defRPr sz="1550">
                <a:solidFill>
                  <a:srgbClr val="172033"/>
                </a:solidFill>
                <a:latin typeface="Aptos"/>
              </a:defRPr>
            </a:pPr>
            <a:r>
              <a:rPr dirty="0"/>
              <a:t>The process repeats until a stopping rule is reached.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43000"/>
            <a:ext cx="4983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143000"/>
            <a:ext cx="82296" cy="1965960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1289304"/>
            <a:ext cx="4636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0B2AA"/>
                </a:solidFill>
                <a:latin typeface="Aptos"/>
              </a:rPr>
              <a:t>Numeric attributes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673352"/>
            <a:ext cx="463600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72033"/>
                </a:solidFill>
                <a:latin typeface="Aptos"/>
              </a:rPr>
              <a:t>For a numeric feature, the tree tests threshold splits such as age &lt; 35, balance &gt; 1000, or duration ≤ 120.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429000"/>
            <a:ext cx="4983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3429000"/>
            <a:ext cx="82296" cy="219456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3575304"/>
            <a:ext cx="4636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2994A"/>
                </a:solidFill>
                <a:latin typeface="Aptos"/>
              </a:rPr>
              <a:t>Categorical attributes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959352"/>
            <a:ext cx="463600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72033"/>
                </a:solidFill>
                <a:latin typeface="Aptos"/>
              </a:rPr>
              <a:t>For categorical features, the tree tests category groups such as job in {student, retired} or housing = yes.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5806440"/>
            <a:ext cx="9966960" cy="475488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5852159"/>
            <a:ext cx="9692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Aptos"/>
              </a:rPr>
              <a:t>Good splits reduce uncertainty: after the split, the model should be more confident about the predicted class.</a:t>
            </a:r>
          </a:p>
        </p:txBody>
      </p:sp>
      <p:pic>
        <p:nvPicPr>
          <p:cNvPr id="21" name="Picture 20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641050AF-62DA-0302-5022-FB7012A9E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  <a:latin typeface="Aptos Display"/>
              </a:rPr>
              <a:t>Decision Tree: Practical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2823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67085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0749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82296" cy="1874519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80744"/>
            <a:ext cx="4727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0B2AA"/>
                </a:solidFill>
                <a:latin typeface="Aptos"/>
              </a:rPr>
              <a:t>Numeric attributes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64792"/>
            <a:ext cx="4727448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30">
                <a:solidFill>
                  <a:srgbClr val="172033"/>
                </a:solidFill>
                <a:latin typeface="Aptos"/>
              </a:rPr>
              <a:t>Choose threshold splits and avoid arbitrary manual binning unless needed for interpretation.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0749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82296" cy="1874519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380744"/>
            <a:ext cx="4727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F80ED"/>
                </a:solidFill>
                <a:latin typeface="Aptos"/>
              </a:rPr>
              <a:t>Missing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764792"/>
            <a:ext cx="4727448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30">
                <a:solidFill>
                  <a:srgbClr val="172033"/>
                </a:solidFill>
                <a:latin typeface="Aptos"/>
              </a:rPr>
              <a:t>Decide whether to impute, keep an “unknown” category, or drop records depending on meaning and scale.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50749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82296" cy="1874519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849624"/>
            <a:ext cx="4727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2994A"/>
                </a:solidFill>
                <a:latin typeface="Aptos"/>
              </a:rPr>
              <a:t>Overfitting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233672"/>
            <a:ext cx="4727448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30">
                <a:solidFill>
                  <a:srgbClr val="172033"/>
                </a:solidFill>
                <a:latin typeface="Aptos"/>
              </a:rPr>
              <a:t>A fully grown tree can memorise training data and perform poorly on unseen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03320"/>
            <a:ext cx="50749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82296" cy="1874519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7" y="3849624"/>
            <a:ext cx="4727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E57C2"/>
                </a:solidFill>
                <a:latin typeface="Aptos"/>
              </a:rPr>
              <a:t>Pruning / stopping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233672"/>
            <a:ext cx="4727448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30">
                <a:solidFill>
                  <a:srgbClr val="172033"/>
                </a:solidFill>
                <a:latin typeface="Aptos"/>
              </a:rPr>
              <a:t>Control tree depth, minimum records per leaf, or post-prune weak branches to improve generalisation.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806440"/>
            <a:ext cx="9966960" cy="475488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5852159"/>
            <a:ext cx="9692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Aptos"/>
              </a:rPr>
              <a:t>Practical modelling includes assumptions, parameter choices, and evidence that the model generalises.</a:t>
            </a:r>
          </a:p>
        </p:txBody>
      </p:sp>
      <p:pic>
        <p:nvPicPr>
          <p:cNvPr id="26" name="Picture 2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6B6C4B0D-9217-C473-2824-C703474E4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8EB028-A40D-B7C4-502F-A2E05826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4617" y="6478896"/>
            <a:ext cx="5109633" cy="215900"/>
          </a:xfrm>
        </p:spPr>
        <p:txBody>
          <a:bodyPr/>
          <a:lstStyle/>
          <a:p>
            <a:pPr>
              <a:defRPr/>
            </a:pPr>
            <a:r>
              <a:rPr lang="en-AU" dirty="0"/>
              <a:t>Big Data and Analytics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72146-8AF6-4025-AD85-8F75C492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7384" y="6578600"/>
            <a:ext cx="2844800" cy="215900"/>
          </a:xfrm>
        </p:spPr>
        <p:txBody>
          <a:bodyPr/>
          <a:lstStyle/>
          <a:p>
            <a:fld id="{3956DA85-404E-9646-866F-75D03095350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0638BE-3850-42AC-2BB1-A377E5169FD1}"/>
              </a:ext>
            </a:extLst>
          </p:cNvPr>
          <p:cNvSpPr txBox="1"/>
          <p:nvPr/>
        </p:nvSpPr>
        <p:spPr>
          <a:xfrm>
            <a:off x="438495" y="1104470"/>
            <a:ext cx="4285905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800" b="1" i="0" u="none" strike="noStrike" dirty="0">
                <a:solidFill>
                  <a:schemeClr val="tx1"/>
                </a:solidFill>
                <a:effectLst/>
                <a:latin typeface="Söhne"/>
              </a:rPr>
              <a:t>Overfitting:</a:t>
            </a:r>
            <a:r>
              <a:rPr lang="en-AU" sz="1800" b="0" i="0" u="none" strike="noStrike" dirty="0">
                <a:solidFill>
                  <a:schemeClr val="tx1"/>
                </a:solidFill>
                <a:effectLst/>
                <a:latin typeface="Söhne"/>
              </a:rPr>
              <a:t> When the tree is too complex and captures noise rather than the underlying pattern. This means it may perform well on the training data but poorly on unseen data.</a:t>
            </a:r>
          </a:p>
          <a:p>
            <a:endParaRPr lang="en-AU" sz="18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E00EF5-9A68-4F9B-84EA-3B751D9E7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481" y="1403259"/>
            <a:ext cx="5113806" cy="40514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BD37AD-F4A3-A86E-DB4E-AD31FD7E8376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23EC695A-E99C-BCE0-9761-153462BF66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99E2F7-43BD-2356-8248-13FFFCB6463D}"/>
              </a:ext>
            </a:extLst>
          </p:cNvPr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C851C1-98C3-2704-427A-98F9053A9A31}"/>
              </a:ext>
            </a:extLst>
          </p:cNvPr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75581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  <a:latin typeface="Aptos Display"/>
              </a:rPr>
              <a:t>Evaluating Classification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2823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67085"/>
                </a:solidFill>
                <a:latin typeface="Aptos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1824228" cy="713232"/>
          </a:xfrm>
          <a:prstGeom prst="rect">
            <a:avLst/>
          </a:prstGeom>
          <a:solidFill>
            <a:srgbClr val="0D1B2A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1170432"/>
            <a:ext cx="175107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3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0028" y="1143000"/>
            <a:ext cx="3387852" cy="713232"/>
          </a:xfrm>
          <a:prstGeom prst="rect">
            <a:avLst/>
          </a:prstGeom>
          <a:solidFill>
            <a:srgbClr val="0D1B2A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46604" y="1170432"/>
            <a:ext cx="33147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  <a:latin typeface="Aptos"/>
              </a:rPr>
              <a:t>Question it answers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856232"/>
            <a:ext cx="182422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1883664"/>
            <a:ext cx="175107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0028" y="1856232"/>
            <a:ext cx="33878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46604" y="1883664"/>
            <a:ext cx="33147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72033"/>
                </a:solidFill>
                <a:latin typeface="Aptos"/>
              </a:rPr>
              <a:t>What proportion of predictions are correct?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569464"/>
            <a:ext cx="1824228" cy="713232"/>
          </a:xfrm>
          <a:prstGeom prst="rect">
            <a:avLst/>
          </a:prstGeom>
          <a:solidFill>
            <a:srgbClr val="EEF2F6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2596896"/>
            <a:ext cx="175107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Precision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0028" y="2569464"/>
            <a:ext cx="3387852" cy="713232"/>
          </a:xfrm>
          <a:prstGeom prst="rect">
            <a:avLst/>
          </a:prstGeom>
          <a:solidFill>
            <a:srgbClr val="EEF2F6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46604" y="2596896"/>
            <a:ext cx="33147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72033"/>
                </a:solidFill>
                <a:latin typeface="Aptos"/>
              </a:rPr>
              <a:t>When the model predicts positive, how often is it right?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282696"/>
            <a:ext cx="182422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3310127"/>
            <a:ext cx="175107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Recall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0028" y="3282696"/>
            <a:ext cx="33878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46604" y="3310127"/>
            <a:ext cx="33147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72033"/>
                </a:solidFill>
                <a:latin typeface="Aptos"/>
              </a:rPr>
              <a:t>How many true positive cases did the model find?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95928"/>
            <a:ext cx="1824228" cy="713232"/>
          </a:xfrm>
          <a:prstGeom prst="rect">
            <a:avLst/>
          </a:prstGeom>
          <a:solidFill>
            <a:srgbClr val="EEF2F6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4023360"/>
            <a:ext cx="175107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F1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0028" y="3995928"/>
            <a:ext cx="3387852" cy="713232"/>
          </a:xfrm>
          <a:prstGeom prst="rect">
            <a:avLst/>
          </a:prstGeom>
          <a:solidFill>
            <a:srgbClr val="EEF2F6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46604" y="4023360"/>
            <a:ext cx="33147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72033"/>
                </a:solidFill>
                <a:latin typeface="Aptos"/>
              </a:rPr>
              <a:t>How well does it balance precision and recall?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114300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Aptos"/>
              </a:rPr>
              <a:t>Confusion matrix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1600200"/>
            <a:ext cx="1177747" cy="731519"/>
          </a:xfrm>
          <a:prstGeom prst="rect">
            <a:avLst/>
          </a:prstGeom>
          <a:solidFill>
            <a:srgbClr val="2F80ED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65976" y="1627632"/>
            <a:ext cx="1104595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07147" y="1600200"/>
            <a:ext cx="1514246" cy="731519"/>
          </a:xfrm>
          <a:prstGeom prst="rect">
            <a:avLst/>
          </a:prstGeom>
          <a:solidFill>
            <a:srgbClr val="2F80ED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43723" y="1627632"/>
            <a:ext cx="144109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  <a:latin typeface="Aptos"/>
              </a:rPr>
              <a:t>Predicted 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1393" y="1600200"/>
            <a:ext cx="1514246" cy="731519"/>
          </a:xfrm>
          <a:prstGeom prst="rect">
            <a:avLst/>
          </a:prstGeom>
          <a:solidFill>
            <a:srgbClr val="2F80ED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57969" y="1627632"/>
            <a:ext cx="144109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  <a:latin typeface="Aptos"/>
              </a:rPr>
              <a:t>Predicted 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0" y="2331720"/>
            <a:ext cx="1177747" cy="731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65976" y="2359151"/>
            <a:ext cx="1104595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Actual 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7147" y="2331720"/>
            <a:ext cx="1514246" cy="731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43723" y="2359151"/>
            <a:ext cx="144109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72033"/>
                </a:solidFill>
                <a:latin typeface="Aptos"/>
              </a:rPr>
              <a:t>True positive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1393" y="2331720"/>
            <a:ext cx="1514246" cy="731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57969" y="2359151"/>
            <a:ext cx="144109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72033"/>
                </a:solidFill>
                <a:latin typeface="Aptos"/>
              </a:rPr>
              <a:t>False negative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3063239"/>
            <a:ext cx="1177747" cy="731519"/>
          </a:xfrm>
          <a:prstGeom prst="rect">
            <a:avLst/>
          </a:prstGeom>
          <a:solidFill>
            <a:srgbClr val="EEF2F6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65976" y="3090671"/>
            <a:ext cx="1104595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Actual 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07147" y="3063239"/>
            <a:ext cx="1514246" cy="731519"/>
          </a:xfrm>
          <a:prstGeom prst="rect">
            <a:avLst/>
          </a:prstGeom>
          <a:solidFill>
            <a:srgbClr val="EEF2F6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43723" y="3090671"/>
            <a:ext cx="144109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72033"/>
                </a:solidFill>
                <a:latin typeface="Aptos"/>
              </a:rPr>
              <a:t>False positive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1393" y="3063239"/>
            <a:ext cx="1514246" cy="731519"/>
          </a:xfrm>
          <a:prstGeom prst="rect">
            <a:avLst/>
          </a:prstGeom>
          <a:solidFill>
            <a:srgbClr val="EEF2F6"/>
          </a:solidFill>
          <a:ln w="635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57969" y="3090671"/>
            <a:ext cx="144109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72033"/>
                </a:solidFill>
                <a:latin typeface="Aptos"/>
              </a:rPr>
              <a:t>True negative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29400" y="4160520"/>
            <a:ext cx="4206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30568" y="4297680"/>
            <a:ext cx="380390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2994A"/>
                </a:solidFill>
                <a:latin typeface="Aptos"/>
              </a:rPr>
              <a:t>Key warning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85432" y="4709159"/>
            <a:ext cx="37490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har char="•"/>
              <a:defRPr sz="1250">
                <a:solidFill>
                  <a:srgbClr val="172033"/>
                </a:solidFill>
                <a:latin typeface="Aptos"/>
              </a:defRPr>
            </a:pPr>
            <a:r>
              <a:t>Accuracy can be misleading when classes are imbalanced.</a:t>
            </a:r>
          </a:p>
          <a:p>
            <a:pPr>
              <a:buChar char="•"/>
              <a:defRPr sz="1250">
                <a:solidFill>
                  <a:srgbClr val="172033"/>
                </a:solidFill>
                <a:latin typeface="Aptos"/>
              </a:defRPr>
            </a:pPr>
            <a:r>
              <a:t>Choose metrics based on business risk.</a:t>
            </a:r>
          </a:p>
        </p:txBody>
      </p:sp>
      <p:pic>
        <p:nvPicPr>
          <p:cNvPr id="50" name="Picture 49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ACBEB1FF-D3D1-612C-336A-374D10B32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  <a:latin typeface="Aptos Display"/>
              </a:rPr>
              <a:t>Classification at Big Data Scale: Spark MLlib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2823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67085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508760" cy="73152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41731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152" y="20116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828800"/>
            <a:ext cx="1508760" cy="731520"/>
          </a:xfrm>
          <a:prstGeom prst="round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1874519"/>
            <a:ext cx="141731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Cleaned</a:t>
            </a:r>
            <a:br/>
            <a:r>
              <a:rPr sz="1400" b="1">
                <a:solidFill>
                  <a:srgbClr val="FFFFFF"/>
                </a:solidFill>
                <a:latin typeface="Aptos"/>
              </a:rPr>
              <a:t>DataFrame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116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828800"/>
            <a:ext cx="1508760" cy="731520"/>
          </a:xfrm>
          <a:prstGeom prst="round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1874519"/>
            <a:ext cx="141731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Feature</a:t>
            </a:r>
            <a:br/>
            <a:r>
              <a:rPr sz="1400" b="1">
                <a:solidFill>
                  <a:srgbClr val="FFFFFF"/>
                </a:solidFill>
                <a:latin typeface="Aptos"/>
              </a:rP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116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828800"/>
            <a:ext cx="1508760" cy="731520"/>
          </a:xfrm>
          <a:prstGeom prst="roundRect">
            <a:avLst/>
          </a:prstGeom>
          <a:solidFill>
            <a:srgbClr val="7E57C2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1874519"/>
            <a:ext cx="141731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MLlib</a:t>
            </a:r>
            <a:br/>
            <a:r>
              <a:rPr sz="1400" b="1">
                <a:solidFill>
                  <a:srgbClr val="FFFFFF"/>
                </a:solidFill>
                <a:latin typeface="Aptos"/>
              </a:rPr>
              <a:t>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20116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1828800"/>
            <a:ext cx="1508760" cy="73152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1874519"/>
            <a:ext cx="141731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Predictions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0332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" y="3840480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F80ED"/>
                </a:solidFill>
                <a:latin typeface="Aptos"/>
              </a:rPr>
              <a:t>Why Spark?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4251959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har char="•"/>
              <a:defRPr sz="1280">
                <a:solidFill>
                  <a:srgbClr val="172033"/>
                </a:solidFill>
                <a:latin typeface="Aptos"/>
              </a:defRPr>
            </a:pPr>
            <a:r>
              <a:t>Distributed processing for larger-than-memory datasets.</a:t>
            </a:r>
          </a:p>
          <a:p>
            <a:pPr>
              <a:buChar char="•"/>
              <a:defRPr sz="1280">
                <a:solidFill>
                  <a:srgbClr val="172033"/>
                </a:solidFill>
                <a:latin typeface="Aptos"/>
              </a:defRPr>
            </a:pPr>
            <a:r>
              <a:t>DataFrame API integrates with Spark SQL and ML pipelines.</a:t>
            </a:r>
          </a:p>
          <a:p>
            <a:pPr>
              <a:buChar char="•"/>
              <a:defRPr sz="1280">
                <a:solidFill>
                  <a:srgbClr val="172033"/>
                </a:solidFill>
                <a:latin typeface="Aptos"/>
              </a:defRPr>
            </a:pPr>
            <a:r>
              <a:t>Same workflow can scale from local practice to cluster execution.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03320"/>
            <a:ext cx="4937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3840480"/>
            <a:ext cx="453542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E57C2"/>
                </a:solidFill>
                <a:latin typeface="Aptos"/>
              </a:rPr>
              <a:t>PySpark MLlib ideas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4251959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har char="•"/>
              <a:defRPr sz="1280">
                <a:solidFill>
                  <a:srgbClr val="172033"/>
                </a:solidFill>
                <a:latin typeface="Aptos"/>
              </a:defRPr>
            </a:pPr>
            <a:r>
              <a:t>Transform columns into feature vectors.</a:t>
            </a:r>
          </a:p>
          <a:p>
            <a:pPr>
              <a:buChar char="•"/>
              <a:defRPr sz="1280">
                <a:solidFill>
                  <a:srgbClr val="172033"/>
                </a:solidFill>
                <a:latin typeface="Aptos"/>
              </a:defRPr>
            </a:pPr>
            <a:r>
              <a:t>Fit classifiers such as decision trees.</a:t>
            </a:r>
          </a:p>
          <a:p>
            <a:pPr>
              <a:buChar char="•"/>
              <a:defRPr sz="1280">
                <a:solidFill>
                  <a:srgbClr val="172033"/>
                </a:solidFill>
                <a:latin typeface="Aptos"/>
              </a:defRPr>
            </a:pPr>
            <a:r>
              <a:t>Evaluate predictions with standard metrics.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5715000"/>
            <a:ext cx="9966960" cy="475488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34440" y="5760720"/>
            <a:ext cx="9692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Aptos"/>
              </a:rPr>
              <a:t>Concept first, code next: the practical session will turn this workflow into PySpark steps.</a:t>
            </a:r>
          </a:p>
        </p:txBody>
      </p:sp>
      <p:pic>
        <p:nvPicPr>
          <p:cNvPr id="30" name="Picture 29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361EACF6-1C79-250E-6344-4ECB59400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  <a:latin typeface="Aptos Display"/>
              </a:rPr>
              <a:t>Preparing for Assessment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2823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67085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5074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280160"/>
            <a:ext cx="467258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F80ED"/>
                </a:solidFill>
                <a:latin typeface="Aptos"/>
              </a:rPr>
              <a:t>What to start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691640"/>
            <a:ext cx="46177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har char="•"/>
              <a:defRPr sz="1530">
                <a:solidFill>
                  <a:srgbClr val="172033"/>
                </a:solidFill>
                <a:latin typeface="Aptos"/>
              </a:defRPr>
            </a:pPr>
            <a:r>
              <a:t>Read the Assessment 2 brief carefully.</a:t>
            </a:r>
          </a:p>
          <a:p>
            <a:pPr>
              <a:buChar char="•"/>
              <a:defRPr sz="1530">
                <a:solidFill>
                  <a:srgbClr val="172033"/>
                </a:solidFill>
                <a:latin typeface="Aptos"/>
              </a:defRPr>
            </a:pPr>
            <a:r>
              <a:t>Identify the target variable: what class will be predicted?</a:t>
            </a:r>
          </a:p>
          <a:p>
            <a:pPr>
              <a:buChar char="•"/>
              <a:defRPr sz="1530">
                <a:solidFill>
                  <a:srgbClr val="172033"/>
                </a:solidFill>
                <a:latin typeface="Aptos"/>
              </a:defRPr>
            </a:pPr>
            <a:r>
              <a:t>Check which variables are numeric, categorical, missing, or noisy.</a:t>
            </a:r>
          </a:p>
          <a:p>
            <a:pPr>
              <a:buChar char="•"/>
              <a:defRPr sz="1530">
                <a:solidFill>
                  <a:srgbClr val="172033"/>
                </a:solidFill>
                <a:latin typeface="Aptos"/>
              </a:defRPr>
            </a:pPr>
            <a:r>
              <a:t>Think about how to encode features for PySpark MLlib.</a:t>
            </a:r>
          </a:p>
          <a:p>
            <a:pPr>
              <a:buChar char="•"/>
              <a:defRPr sz="1530">
                <a:solidFill>
                  <a:srgbClr val="172033"/>
                </a:solidFill>
                <a:latin typeface="Aptos"/>
              </a:defRPr>
            </a:pPr>
            <a:r>
              <a:t>Plan how you will explain the decision tree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43000"/>
            <a:ext cx="5074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1280160"/>
            <a:ext cx="467258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7AE60"/>
                </a:solidFill>
                <a:latin typeface="Aptos"/>
              </a:rPr>
              <a:t>What a strong answer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1691640"/>
            <a:ext cx="46177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har char="•"/>
              <a:defRPr sz="1530">
                <a:solidFill>
                  <a:srgbClr val="172033"/>
                </a:solidFill>
                <a:latin typeface="Aptos"/>
              </a:defRPr>
            </a:pPr>
            <a:r>
              <a:t>Clear problem framing and model choice.</a:t>
            </a:r>
          </a:p>
          <a:p>
            <a:pPr>
              <a:buChar char="•"/>
              <a:defRPr sz="1530">
                <a:solidFill>
                  <a:srgbClr val="172033"/>
                </a:solidFill>
                <a:latin typeface="Aptos"/>
              </a:defRPr>
            </a:pPr>
            <a:r>
              <a:t>Clean preprocessing and train/test split.</a:t>
            </a:r>
          </a:p>
          <a:p>
            <a:pPr>
              <a:buChar char="•"/>
              <a:defRPr sz="1530">
                <a:solidFill>
                  <a:srgbClr val="172033"/>
                </a:solidFill>
                <a:latin typeface="Aptos"/>
              </a:defRPr>
            </a:pPr>
            <a:r>
              <a:t>Appropriate evaluation metrics.</a:t>
            </a:r>
          </a:p>
          <a:p>
            <a:pPr>
              <a:buChar char="•"/>
              <a:defRPr sz="1530">
                <a:solidFill>
                  <a:srgbClr val="172033"/>
                </a:solidFill>
                <a:latin typeface="Aptos"/>
              </a:defRPr>
            </a:pPr>
            <a:r>
              <a:t>Interpretation of important splits or features.</a:t>
            </a:r>
          </a:p>
          <a:p>
            <a:pPr>
              <a:buChar char="•"/>
              <a:defRPr sz="1530">
                <a:solidFill>
                  <a:srgbClr val="172033"/>
                </a:solidFill>
                <a:latin typeface="Aptos"/>
              </a:defRPr>
            </a:pPr>
            <a:r>
              <a:t>Limitations and practical implications.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760720"/>
            <a:ext cx="9966960" cy="475488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5806440"/>
            <a:ext cx="9692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Aptos"/>
              </a:rPr>
              <a:t>Reminder: a classification model is only useful if the result is both technically valid and meaningful for the given problem.</a:t>
            </a:r>
          </a:p>
        </p:txBody>
      </p:sp>
      <p:pic>
        <p:nvPicPr>
          <p:cNvPr id="16" name="Picture 1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A79EFB4F-1D29-CDED-77F5-8EE807C37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  <a:latin typeface="Aptos Display"/>
              </a:rPr>
              <a:t>Module 6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2823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67085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170432"/>
            <a:ext cx="438912" cy="438912"/>
          </a:xfrm>
          <a:prstGeom prst="round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216152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216152"/>
            <a:ext cx="9692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Aptos"/>
              </a:rPr>
              <a:t>Classification predicts categorical outcomes using labelled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011680"/>
            <a:ext cx="438912" cy="438912"/>
          </a:xfrm>
          <a:prstGeom prst="round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057400"/>
            <a:ext cx="9692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Aptos"/>
              </a:rPr>
              <a:t>Supervised learning requires known labels; unsupervised learning finds structure without labels.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852928"/>
            <a:ext cx="438912" cy="438912"/>
          </a:xfrm>
          <a:prstGeom prst="round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89864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98648"/>
            <a:ext cx="9692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Aptos"/>
              </a:rPr>
              <a:t>Decision trees are interpretable divide-and-conquer models, but need controls against overfitting.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694176"/>
            <a:ext cx="438912" cy="438912"/>
          </a:xfrm>
          <a:prstGeom prst="roundRect">
            <a:avLst/>
          </a:prstGeom>
          <a:solidFill>
            <a:srgbClr val="7E57C2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39896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739896"/>
            <a:ext cx="9692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Aptos"/>
              </a:rPr>
              <a:t>Evaluation must match the business risk; accuracy alone is often not enough.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535424"/>
            <a:ext cx="438912" cy="438912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58114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581144"/>
            <a:ext cx="9692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Aptos"/>
              </a:rPr>
              <a:t>PySpark MLlib supports scalable model building for big-data classification tasks.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806440"/>
            <a:ext cx="9966960" cy="475488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5852159"/>
            <a:ext cx="9692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Aptos"/>
              </a:rPr>
              <a:t>Discussion prompt: What classification problem could your organisation solve, and what label would you need?</a:t>
            </a:r>
          </a:p>
        </p:txBody>
      </p:sp>
      <p:pic>
        <p:nvPicPr>
          <p:cNvPr id="25" name="Picture 24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DE6DC15D-4379-9926-76ED-03C427278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336792"/>
            <a:ext cx="1115568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  <a:latin typeface="Aptos Display"/>
              </a:rPr>
              <a:t>Core Readings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Aptos"/>
              </a:rPr>
              <a:t>Module 6 •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2823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67085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82296" cy="10058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380744"/>
            <a:ext cx="101681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F80ED"/>
                </a:solidFill>
                <a:latin typeface="Aptos"/>
              </a:rPr>
              <a:t>Reference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764792"/>
            <a:ext cx="10168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72033"/>
                </a:solidFill>
                <a:latin typeface="Aptos"/>
              </a:rPr>
              <a:t>Kelleher, J. D., &amp; Tierney, B. (2018). Data science. MIT Press. Chapter 4: Machine Learning 101.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60320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560320"/>
            <a:ext cx="82296" cy="100584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2706624"/>
            <a:ext cx="101681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2994A"/>
                </a:solidFill>
                <a:latin typeface="Aptos"/>
              </a:rPr>
              <a:t>Reference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090672"/>
            <a:ext cx="10168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72033"/>
                </a:solidFill>
                <a:latin typeface="Aptos"/>
              </a:rPr>
              <a:t>Witten, I. H., Frank, E., Hall, M. A., &amp; Pal, C. J. (2017). Data mining: Practical machine learning tools and techniques (4th ed.). Morgan Kaufmann. Sections 4.1–4.3 and 6.1.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86200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886200"/>
            <a:ext cx="82296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4032504"/>
            <a:ext cx="101681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7AE60"/>
                </a:solidFill>
                <a:latin typeface="Aptos"/>
              </a:rPr>
              <a:t>Reference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416552"/>
            <a:ext cx="10168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72033"/>
                </a:solidFill>
                <a:latin typeface="Aptos"/>
              </a:rPr>
              <a:t>Koturwar, P., Girase, S., &amp; Mukhopadhyay, D. (2015). A survey of classification techniques in the area of big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806440"/>
            <a:ext cx="9966960" cy="475488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5852159"/>
            <a:ext cx="9692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Aptos"/>
              </a:rPr>
              <a:t>Use the readings to deepen your understanding before the coding practical and Assessment 2 work.</a:t>
            </a:r>
          </a:p>
        </p:txBody>
      </p:sp>
      <p:pic>
        <p:nvPicPr>
          <p:cNvPr id="22" name="Picture 21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9614B11A-2DA8-B6A2-7E4B-051FA53F0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A1057F29386142A5B9755C5531A820" ma:contentTypeVersion="7" ma:contentTypeDescription="Create a new document." ma:contentTypeScope="" ma:versionID="4fba0a4a6bc0f311a775a35ccccf5e6d">
  <xsd:schema xmlns:xsd="http://www.w3.org/2001/XMLSchema" xmlns:xs="http://www.w3.org/2001/XMLSchema" xmlns:p="http://schemas.microsoft.com/office/2006/metadata/properties" xmlns:ns2="cc5d4512-e7db-40f5-9b40-1e14bbbc82d5" targetNamespace="http://schemas.microsoft.com/office/2006/metadata/properties" ma:root="true" ma:fieldsID="b67d525fc411f0dd1bf3f93df30eccba" ns2:_="">
    <xsd:import namespace="cc5d4512-e7db-40f5-9b40-1e14bbbc8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5d4512-e7db-40f5-9b40-1e14bbbc82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ADEB9A-9C17-41BF-AAF8-D5245D416081}"/>
</file>

<file path=customXml/itemProps2.xml><?xml version="1.0" encoding="utf-8"?>
<ds:datastoreItem xmlns:ds="http://schemas.openxmlformats.org/officeDocument/2006/customXml" ds:itemID="{131DDC6D-B609-47C4-A223-AFDB9EEA618B}"/>
</file>

<file path=customXml/itemProps3.xml><?xml version="1.0" encoding="utf-8"?>
<ds:datastoreItem xmlns:ds="http://schemas.openxmlformats.org/officeDocument/2006/customXml" ds:itemID="{A552373D-FAC9-4C52-929D-3BE51D52C605}"/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1573</Words>
  <Application>Microsoft Office PowerPoint</Application>
  <PresentationFormat>Widescreen</PresentationFormat>
  <Paragraphs>215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Söhne</vt:lpstr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Supervised and Unsupervised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Zhan</dc:creator>
  <cp:lastModifiedBy>Chen Zhan</cp:lastModifiedBy>
  <cp:revision>1</cp:revision>
  <dcterms:created xsi:type="dcterms:W3CDTF">2026-07-05T11:34:45Z</dcterms:created>
  <dcterms:modified xsi:type="dcterms:W3CDTF">2026-07-06T22:23:46Z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0x01010086A1057F29386142A5B9755C5531A820</vt:lpwstr>
  </property>
</Properties>
</file>