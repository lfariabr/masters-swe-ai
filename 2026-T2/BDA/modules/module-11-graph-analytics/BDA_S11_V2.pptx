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5" r:id="rId10"/>
    <p:sldId id="276" r:id="rId11"/>
    <p:sldId id="265" r:id="rId12"/>
    <p:sldId id="266" r:id="rId13"/>
    <p:sldId id="273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6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 Zhan" userId="9bf1158d-5ec6-44ed-8784-22fed4df2891" providerId="ADAL" clId="{84F5DB30-E39F-4316-A67F-0ADB068F30C4}"/>
    <pc:docChg chg="modSld">
      <pc:chgData name="Chen Zhan" userId="9bf1158d-5ec6-44ed-8784-22fed4df2891" providerId="ADAL" clId="{84F5DB30-E39F-4316-A67F-0ADB068F30C4}" dt="2026-08-10T22:27:10.309" v="20" actId="22"/>
      <pc:docMkLst>
        <pc:docMk/>
      </pc:docMkLst>
      <pc:sldChg chg="addSp modSp mod">
        <pc:chgData name="Chen Zhan" userId="9bf1158d-5ec6-44ed-8784-22fed4df2891" providerId="ADAL" clId="{84F5DB30-E39F-4316-A67F-0ADB068F30C4}" dt="2026-08-10T22:26:41.720" v="2" actId="22"/>
        <pc:sldMkLst>
          <pc:docMk/>
          <pc:sldMk cId="0" sldId="257"/>
        </pc:sldMkLst>
        <pc:spChg chg="add mod">
          <ac:chgData name="Chen Zhan" userId="9bf1158d-5ec6-44ed-8784-22fed4df2891" providerId="ADAL" clId="{84F5DB30-E39F-4316-A67F-0ADB068F30C4}" dt="2026-08-10T22:26:38.901" v="1" actId="1076"/>
          <ac:spMkLst>
            <pc:docMk/>
            <pc:sldMk cId="0" sldId="257"/>
            <ac:spMk id="24" creationId="{6DA888C2-F2AF-EDF6-1B27-C3A293FCDF87}"/>
          </ac:spMkLst>
        </pc:spChg>
        <pc:picChg chg="add">
          <ac:chgData name="Chen Zhan" userId="9bf1158d-5ec6-44ed-8784-22fed4df2891" providerId="ADAL" clId="{84F5DB30-E39F-4316-A67F-0ADB068F30C4}" dt="2026-08-10T22:26:41.720" v="2" actId="22"/>
          <ac:picMkLst>
            <pc:docMk/>
            <pc:sldMk cId="0" sldId="257"/>
            <ac:picMk id="26" creationId="{273546B9-AC56-0D2F-CD31-3DF418B442CE}"/>
          </ac:picMkLst>
        </pc:picChg>
      </pc:sldChg>
      <pc:sldChg chg="addSp mod">
        <pc:chgData name="Chen Zhan" userId="9bf1158d-5ec6-44ed-8784-22fed4df2891" providerId="ADAL" clId="{84F5DB30-E39F-4316-A67F-0ADB068F30C4}" dt="2026-08-10T22:26:42.981" v="3" actId="22"/>
        <pc:sldMkLst>
          <pc:docMk/>
          <pc:sldMk cId="0" sldId="258"/>
        </pc:sldMkLst>
        <pc:picChg chg="add">
          <ac:chgData name="Chen Zhan" userId="9bf1158d-5ec6-44ed-8784-22fed4df2891" providerId="ADAL" clId="{84F5DB30-E39F-4316-A67F-0ADB068F30C4}" dt="2026-08-10T22:26:42.981" v="3" actId="22"/>
          <ac:picMkLst>
            <pc:docMk/>
            <pc:sldMk cId="0" sldId="258"/>
            <ac:picMk id="26" creationId="{D4EF15E1-EB81-C2A8-B352-0EEBF51338FE}"/>
          </ac:picMkLst>
        </pc:picChg>
      </pc:sldChg>
      <pc:sldChg chg="addSp mod">
        <pc:chgData name="Chen Zhan" userId="9bf1158d-5ec6-44ed-8784-22fed4df2891" providerId="ADAL" clId="{84F5DB30-E39F-4316-A67F-0ADB068F30C4}" dt="2026-08-10T22:26:43.878" v="4" actId="22"/>
        <pc:sldMkLst>
          <pc:docMk/>
          <pc:sldMk cId="0" sldId="259"/>
        </pc:sldMkLst>
        <pc:picChg chg="add">
          <ac:chgData name="Chen Zhan" userId="9bf1158d-5ec6-44ed-8784-22fed4df2891" providerId="ADAL" clId="{84F5DB30-E39F-4316-A67F-0ADB068F30C4}" dt="2026-08-10T22:26:43.878" v="4" actId="22"/>
          <ac:picMkLst>
            <pc:docMk/>
            <pc:sldMk cId="0" sldId="259"/>
            <ac:picMk id="36" creationId="{8C8AD72E-4E2F-2802-3151-764732FB55A9}"/>
          </ac:picMkLst>
        </pc:picChg>
      </pc:sldChg>
      <pc:sldChg chg="addSp mod">
        <pc:chgData name="Chen Zhan" userId="9bf1158d-5ec6-44ed-8784-22fed4df2891" providerId="ADAL" clId="{84F5DB30-E39F-4316-A67F-0ADB068F30C4}" dt="2026-08-10T22:26:44.958" v="5" actId="22"/>
        <pc:sldMkLst>
          <pc:docMk/>
          <pc:sldMk cId="0" sldId="260"/>
        </pc:sldMkLst>
        <pc:picChg chg="add">
          <ac:chgData name="Chen Zhan" userId="9bf1158d-5ec6-44ed-8784-22fed4df2891" providerId="ADAL" clId="{84F5DB30-E39F-4316-A67F-0ADB068F30C4}" dt="2026-08-10T22:26:44.958" v="5" actId="22"/>
          <ac:picMkLst>
            <pc:docMk/>
            <pc:sldMk cId="0" sldId="260"/>
            <ac:picMk id="26" creationId="{5EB780F0-BCC7-1881-A9EE-68C8AB8977AE}"/>
          </ac:picMkLst>
        </pc:picChg>
      </pc:sldChg>
      <pc:sldChg chg="addSp mod">
        <pc:chgData name="Chen Zhan" userId="9bf1158d-5ec6-44ed-8784-22fed4df2891" providerId="ADAL" clId="{84F5DB30-E39F-4316-A67F-0ADB068F30C4}" dt="2026-08-10T22:26:45.961" v="6" actId="22"/>
        <pc:sldMkLst>
          <pc:docMk/>
          <pc:sldMk cId="0" sldId="261"/>
        </pc:sldMkLst>
        <pc:picChg chg="add">
          <ac:chgData name="Chen Zhan" userId="9bf1158d-5ec6-44ed-8784-22fed4df2891" providerId="ADAL" clId="{84F5DB30-E39F-4316-A67F-0ADB068F30C4}" dt="2026-08-10T22:26:45.961" v="6" actId="22"/>
          <ac:picMkLst>
            <pc:docMk/>
            <pc:sldMk cId="0" sldId="261"/>
            <ac:picMk id="38" creationId="{C27EA598-41BC-6FAA-A8A1-11C9041A49C5}"/>
          </ac:picMkLst>
        </pc:picChg>
      </pc:sldChg>
      <pc:sldChg chg="addSp mod">
        <pc:chgData name="Chen Zhan" userId="9bf1158d-5ec6-44ed-8784-22fed4df2891" providerId="ADAL" clId="{84F5DB30-E39F-4316-A67F-0ADB068F30C4}" dt="2026-08-10T22:26:46.920" v="7" actId="22"/>
        <pc:sldMkLst>
          <pc:docMk/>
          <pc:sldMk cId="0" sldId="262"/>
        </pc:sldMkLst>
        <pc:picChg chg="add">
          <ac:chgData name="Chen Zhan" userId="9bf1158d-5ec6-44ed-8784-22fed4df2891" providerId="ADAL" clId="{84F5DB30-E39F-4316-A67F-0ADB068F30C4}" dt="2026-08-10T22:26:46.920" v="7" actId="22"/>
          <ac:picMkLst>
            <pc:docMk/>
            <pc:sldMk cId="0" sldId="262"/>
            <ac:picMk id="32" creationId="{645C72BD-2995-3628-8EB4-D63F3621EE01}"/>
          </ac:picMkLst>
        </pc:picChg>
      </pc:sldChg>
      <pc:sldChg chg="addSp mod">
        <pc:chgData name="Chen Zhan" userId="9bf1158d-5ec6-44ed-8784-22fed4df2891" providerId="ADAL" clId="{84F5DB30-E39F-4316-A67F-0ADB068F30C4}" dt="2026-08-10T22:26:48.401" v="8" actId="22"/>
        <pc:sldMkLst>
          <pc:docMk/>
          <pc:sldMk cId="0" sldId="263"/>
        </pc:sldMkLst>
        <pc:picChg chg="add">
          <ac:chgData name="Chen Zhan" userId="9bf1158d-5ec6-44ed-8784-22fed4df2891" providerId="ADAL" clId="{84F5DB30-E39F-4316-A67F-0ADB068F30C4}" dt="2026-08-10T22:26:48.401" v="8" actId="22"/>
          <ac:picMkLst>
            <pc:docMk/>
            <pc:sldMk cId="0" sldId="263"/>
            <ac:picMk id="48" creationId="{F8DCDB01-B63F-F842-A695-86AE677C072F}"/>
          </ac:picMkLst>
        </pc:picChg>
      </pc:sldChg>
      <pc:sldChg chg="addSp mod">
        <pc:chgData name="Chen Zhan" userId="9bf1158d-5ec6-44ed-8784-22fed4df2891" providerId="ADAL" clId="{84F5DB30-E39F-4316-A67F-0ADB068F30C4}" dt="2026-08-10T22:26:49.976" v="9" actId="22"/>
        <pc:sldMkLst>
          <pc:docMk/>
          <pc:sldMk cId="0" sldId="264"/>
        </pc:sldMkLst>
        <pc:picChg chg="add">
          <ac:chgData name="Chen Zhan" userId="9bf1158d-5ec6-44ed-8784-22fed4df2891" providerId="ADAL" clId="{84F5DB30-E39F-4316-A67F-0ADB068F30C4}" dt="2026-08-10T22:26:49.976" v="9" actId="22"/>
          <ac:picMkLst>
            <pc:docMk/>
            <pc:sldMk cId="0" sldId="264"/>
            <ac:picMk id="27" creationId="{5F82E3FB-40CB-6DE4-2066-687DF9F83D5C}"/>
          </ac:picMkLst>
        </pc:picChg>
      </pc:sldChg>
      <pc:sldChg chg="addSp mod">
        <pc:chgData name="Chen Zhan" userId="9bf1158d-5ec6-44ed-8784-22fed4df2891" providerId="ADAL" clId="{84F5DB30-E39F-4316-A67F-0ADB068F30C4}" dt="2026-08-10T22:26:54.419" v="12" actId="22"/>
        <pc:sldMkLst>
          <pc:docMk/>
          <pc:sldMk cId="0" sldId="265"/>
        </pc:sldMkLst>
        <pc:picChg chg="add">
          <ac:chgData name="Chen Zhan" userId="9bf1158d-5ec6-44ed-8784-22fed4df2891" providerId="ADAL" clId="{84F5DB30-E39F-4316-A67F-0ADB068F30C4}" dt="2026-08-10T22:26:54.419" v="12" actId="22"/>
          <ac:picMkLst>
            <pc:docMk/>
            <pc:sldMk cId="0" sldId="265"/>
            <ac:picMk id="30" creationId="{715B5C59-6038-F296-571E-3B05AB257FF3}"/>
          </ac:picMkLst>
        </pc:picChg>
      </pc:sldChg>
      <pc:sldChg chg="addSp mod">
        <pc:chgData name="Chen Zhan" userId="9bf1158d-5ec6-44ed-8784-22fed4df2891" providerId="ADAL" clId="{84F5DB30-E39F-4316-A67F-0ADB068F30C4}" dt="2026-08-10T22:26:55.931" v="13" actId="22"/>
        <pc:sldMkLst>
          <pc:docMk/>
          <pc:sldMk cId="0" sldId="266"/>
        </pc:sldMkLst>
        <pc:picChg chg="add">
          <ac:chgData name="Chen Zhan" userId="9bf1158d-5ec6-44ed-8784-22fed4df2891" providerId="ADAL" clId="{84F5DB30-E39F-4316-A67F-0ADB068F30C4}" dt="2026-08-10T22:26:55.931" v="13" actId="22"/>
          <ac:picMkLst>
            <pc:docMk/>
            <pc:sldMk cId="0" sldId="266"/>
            <ac:picMk id="15" creationId="{177375DD-6E22-1D12-92A0-1FC356943EEF}"/>
          </ac:picMkLst>
        </pc:picChg>
      </pc:sldChg>
      <pc:sldChg chg="addSp mod">
        <pc:chgData name="Chen Zhan" userId="9bf1158d-5ec6-44ed-8784-22fed4df2891" providerId="ADAL" clId="{84F5DB30-E39F-4316-A67F-0ADB068F30C4}" dt="2026-08-10T22:27:03.906" v="17" actId="22"/>
        <pc:sldMkLst>
          <pc:docMk/>
          <pc:sldMk cId="0" sldId="269"/>
        </pc:sldMkLst>
        <pc:picChg chg="add">
          <ac:chgData name="Chen Zhan" userId="9bf1158d-5ec6-44ed-8784-22fed4df2891" providerId="ADAL" clId="{84F5DB30-E39F-4316-A67F-0ADB068F30C4}" dt="2026-08-10T22:27:03.906" v="17" actId="22"/>
          <ac:picMkLst>
            <pc:docMk/>
            <pc:sldMk cId="0" sldId="269"/>
            <ac:picMk id="10" creationId="{EE816D0E-4C9F-2C91-0869-12E36A278B65}"/>
          </ac:picMkLst>
        </pc:picChg>
      </pc:sldChg>
      <pc:sldChg chg="addSp mod">
        <pc:chgData name="Chen Zhan" userId="9bf1158d-5ec6-44ed-8784-22fed4df2891" providerId="ADAL" clId="{84F5DB30-E39F-4316-A67F-0ADB068F30C4}" dt="2026-08-10T22:27:05.460" v="18" actId="22"/>
        <pc:sldMkLst>
          <pc:docMk/>
          <pc:sldMk cId="0" sldId="270"/>
        </pc:sldMkLst>
        <pc:picChg chg="add">
          <ac:chgData name="Chen Zhan" userId="9bf1158d-5ec6-44ed-8784-22fed4df2891" providerId="ADAL" clId="{84F5DB30-E39F-4316-A67F-0ADB068F30C4}" dt="2026-08-10T22:27:05.460" v="18" actId="22"/>
          <ac:picMkLst>
            <pc:docMk/>
            <pc:sldMk cId="0" sldId="270"/>
            <ac:picMk id="19" creationId="{7159ECA0-AED7-8F8B-2899-4C11DFDFFC12}"/>
          </ac:picMkLst>
        </pc:picChg>
      </pc:sldChg>
      <pc:sldChg chg="addSp mod">
        <pc:chgData name="Chen Zhan" userId="9bf1158d-5ec6-44ed-8784-22fed4df2891" providerId="ADAL" clId="{84F5DB30-E39F-4316-A67F-0ADB068F30C4}" dt="2026-08-10T22:27:07.042" v="19" actId="22"/>
        <pc:sldMkLst>
          <pc:docMk/>
          <pc:sldMk cId="0" sldId="271"/>
        </pc:sldMkLst>
        <pc:picChg chg="add">
          <ac:chgData name="Chen Zhan" userId="9bf1158d-5ec6-44ed-8784-22fed4df2891" providerId="ADAL" clId="{84F5DB30-E39F-4316-A67F-0ADB068F30C4}" dt="2026-08-10T22:27:07.042" v="19" actId="22"/>
          <ac:picMkLst>
            <pc:docMk/>
            <pc:sldMk cId="0" sldId="271"/>
            <ac:picMk id="13" creationId="{CE77AA1F-205B-A436-2522-1B1048B10468}"/>
          </ac:picMkLst>
        </pc:picChg>
      </pc:sldChg>
      <pc:sldChg chg="addSp mod">
        <pc:chgData name="Chen Zhan" userId="9bf1158d-5ec6-44ed-8784-22fed4df2891" providerId="ADAL" clId="{84F5DB30-E39F-4316-A67F-0ADB068F30C4}" dt="2026-08-10T22:27:10.309" v="20" actId="22"/>
        <pc:sldMkLst>
          <pc:docMk/>
          <pc:sldMk cId="0" sldId="272"/>
        </pc:sldMkLst>
        <pc:picChg chg="add">
          <ac:chgData name="Chen Zhan" userId="9bf1158d-5ec6-44ed-8784-22fed4df2891" providerId="ADAL" clId="{84F5DB30-E39F-4316-A67F-0ADB068F30C4}" dt="2026-08-10T22:27:10.309" v="20" actId="22"/>
          <ac:picMkLst>
            <pc:docMk/>
            <pc:sldMk cId="0" sldId="272"/>
            <ac:picMk id="24" creationId="{6338F002-7ED9-9CFC-6498-EC2D8ED96BAE}"/>
          </ac:picMkLst>
        </pc:picChg>
      </pc:sldChg>
      <pc:sldChg chg="addSp modSp mod">
        <pc:chgData name="Chen Zhan" userId="9bf1158d-5ec6-44ed-8784-22fed4df2891" providerId="ADAL" clId="{84F5DB30-E39F-4316-A67F-0ADB068F30C4}" dt="2026-08-10T22:27:02.458" v="16" actId="1076"/>
        <pc:sldMkLst>
          <pc:docMk/>
          <pc:sldMk cId="0" sldId="273"/>
        </pc:sldMkLst>
        <pc:spChg chg="mod">
          <ac:chgData name="Chen Zhan" userId="9bf1158d-5ec6-44ed-8784-22fed4df2891" providerId="ADAL" clId="{84F5DB30-E39F-4316-A67F-0ADB068F30C4}" dt="2026-08-10T22:27:02.458" v="16" actId="1076"/>
          <ac:spMkLst>
            <pc:docMk/>
            <pc:sldMk cId="0" sldId="273"/>
            <ac:spMk id="7" creationId="{00000000-0000-0000-0000-000000000000}"/>
          </ac:spMkLst>
        </pc:spChg>
        <pc:spChg chg="mod">
          <ac:chgData name="Chen Zhan" userId="9bf1158d-5ec6-44ed-8784-22fed4df2891" providerId="ADAL" clId="{84F5DB30-E39F-4316-A67F-0ADB068F30C4}" dt="2026-08-10T22:26:59.893" v="15" actId="1076"/>
          <ac:spMkLst>
            <pc:docMk/>
            <pc:sldMk cId="0" sldId="273"/>
            <ac:spMk id="10" creationId="{00000000-0000-0000-0000-000000000000}"/>
          </ac:spMkLst>
        </pc:spChg>
        <pc:picChg chg="add">
          <ac:chgData name="Chen Zhan" userId="9bf1158d-5ec6-44ed-8784-22fed4df2891" providerId="ADAL" clId="{84F5DB30-E39F-4316-A67F-0ADB068F30C4}" dt="2026-08-10T22:26:57.008" v="14" actId="22"/>
          <ac:picMkLst>
            <pc:docMk/>
            <pc:sldMk cId="0" sldId="273"/>
            <ac:picMk id="28" creationId="{860B2684-B657-629F-E2F5-2D0CA82B99D6}"/>
          </ac:picMkLst>
        </pc:picChg>
      </pc:sldChg>
      <pc:sldChg chg="addSp mod">
        <pc:chgData name="Chen Zhan" userId="9bf1158d-5ec6-44ed-8784-22fed4df2891" providerId="ADAL" clId="{84F5DB30-E39F-4316-A67F-0ADB068F30C4}" dt="2026-08-10T22:26:51.224" v="10" actId="22"/>
        <pc:sldMkLst>
          <pc:docMk/>
          <pc:sldMk cId="0" sldId="275"/>
        </pc:sldMkLst>
        <pc:picChg chg="add">
          <ac:chgData name="Chen Zhan" userId="9bf1158d-5ec6-44ed-8784-22fed4df2891" providerId="ADAL" clId="{84F5DB30-E39F-4316-A67F-0ADB068F30C4}" dt="2026-08-10T22:26:51.224" v="10" actId="22"/>
          <ac:picMkLst>
            <pc:docMk/>
            <pc:sldMk cId="0" sldId="275"/>
            <ac:picMk id="37" creationId="{54F9AAAE-7A78-213B-0B97-CBCA9A30DA3A}"/>
          </ac:picMkLst>
        </pc:picChg>
      </pc:sldChg>
      <pc:sldChg chg="addSp mod">
        <pc:chgData name="Chen Zhan" userId="9bf1158d-5ec6-44ed-8784-22fed4df2891" providerId="ADAL" clId="{84F5DB30-E39F-4316-A67F-0ADB068F30C4}" dt="2026-08-10T22:26:53.516" v="11" actId="22"/>
        <pc:sldMkLst>
          <pc:docMk/>
          <pc:sldMk cId="0" sldId="276"/>
        </pc:sldMkLst>
        <pc:picChg chg="add">
          <ac:chgData name="Chen Zhan" userId="9bf1158d-5ec6-44ed-8784-22fed4df2891" providerId="ADAL" clId="{84F5DB30-E39F-4316-A67F-0ADB068F30C4}" dt="2026-08-10T22:26:53.516" v="11" actId="22"/>
          <ac:picMkLst>
            <pc:docMk/>
            <pc:sldMk cId="0" sldId="276"/>
            <ac:picMk id="40" creationId="{13C28CF1-63BC-417C-717C-A79B6E22F8D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209FB-A35C-56C6-EF75-ECA1C089B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C6DD95-B865-92E9-3596-2B3BDA23A9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81BA7-5919-49F1-B399-5D47C5AE1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E824A-981C-493B-8A38-7B108F6CEA67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A71F-ACA7-8505-B46D-A92FBCCE8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21E0D-89A7-72E2-BF98-1CD45993C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846F-9AD8-4C5A-AF2E-9184D2AC6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246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BF08F-3646-85DA-D640-86FE7EF43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811F7-A74F-7D22-A968-9000C2D83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64D82-74D3-426C-50F3-524CA199E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E824A-981C-493B-8A38-7B108F6CEA67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B645B-96CA-0F71-3227-F7C9E7C0F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CF236-BFEA-FC8E-E437-29F66516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846F-9AD8-4C5A-AF2E-9184D2AC6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922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A6A07-E536-F97C-FD34-39DC42DD2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D413E-52E7-214A-E931-F0274E414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40D6C-9A77-F16F-BAC5-D2F0389F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E824A-981C-493B-8A38-7B108F6CEA67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1894C-2D0B-6CCF-7BD1-EF1EEB4EA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A10DB-DFE4-070D-22C3-23C23CCDD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846F-9AD8-4C5A-AF2E-9184D2AC6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75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487B4-68AC-30BA-D66C-882A0C5AD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F7B4F-DBFA-9D59-A75B-5E15AC1A3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6C25D-2161-C921-D390-C4CE65599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0E6ED-C7DE-E5A2-7B1E-E369A5D0A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E824A-981C-493B-8A38-7B108F6CEA67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59B8E-B92E-4074-332F-4796A06D5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91359-94A4-3496-8B47-D2417FD63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846F-9AD8-4C5A-AF2E-9184D2AC6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3002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C5C88-9E2F-536D-6E62-27676BA9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0CE80-C2E9-4124-AA59-C9F264D56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1D10F-7C16-6D07-C529-6EF3939FA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FA6F9F-64C6-8578-C796-450BD38E87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D57C05-DE38-CFA6-0DEF-FC39DC229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1BAE57-BAC3-770D-C43A-AE2BF6103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E824A-981C-493B-8A38-7B108F6CEA67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A5F961-0834-2D1A-12DA-5227D245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38BB17-6B80-94E8-B561-A4F06ADF8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846F-9AD8-4C5A-AF2E-9184D2AC6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315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24E6-BA06-92BF-B02C-24140C266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8D5301-C2AC-749C-02FC-EA18B10B8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E824A-981C-493B-8A38-7B108F6CEA67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12E58-0CE9-9F19-10D0-BFA48B422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6344A5-1A14-39BC-1990-B47E62E6E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846F-9AD8-4C5A-AF2E-9184D2AC6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576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E58A0A-20D7-02E4-59E4-5B0EFAF05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E824A-981C-493B-8A38-7B108F6CEA67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7731EF-A5D0-1668-96D0-F057B8B08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5DC0F-5C51-5275-543A-3B92DDDD0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846F-9AD8-4C5A-AF2E-9184D2AC6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068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B038D-5D44-90C2-8B56-0AF5447E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38523-FC0A-55B5-33D4-051399FAC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229CB-6EC6-CC06-5571-901A6213B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4D3D3-5F8F-B310-FCE7-297F2EA36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E824A-981C-493B-8A38-7B108F6CEA67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6274F-672E-9951-20E7-DBEB0A765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1777F-54AA-759A-82BE-7F40E8044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846F-9AD8-4C5A-AF2E-9184D2AC6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823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525B6-CC6B-AC40-E914-C087B62CA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6B69F1-E419-BA87-1CC6-ACFA361739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46EAEF-2726-3C29-8B2B-7B656C9F0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EF8AE-6955-2523-B79D-D17353C74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E824A-981C-493B-8A38-7B108F6CEA67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ECE5A-8475-8C8E-9774-2084280C7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49624-3A5D-3537-8D19-0F9AC327C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846F-9AD8-4C5A-AF2E-9184D2AC6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189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4AC52-9124-3E42-C41A-1348DD12F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1CBD6-88A9-6FC3-9DC3-9BF350979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E19D7-C990-5C54-E9FB-DEC4FC850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E824A-981C-493B-8A38-7B108F6CEA67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CAC4B-97D5-BA38-7210-0CECCBA58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4CE97-21B6-E2F1-3B42-2F58F43C5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846F-9AD8-4C5A-AF2E-9184D2AC6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9501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06C498-F8DD-77D9-2A90-0D34369D99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E069A8-5A8D-FBFC-3E1D-A180B7983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CC6B6-E67C-39F5-9D3B-D0EE7EE0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E824A-981C-493B-8A38-7B108F6CEA67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C21AA-8791-3BEB-B6C3-5690DF67D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05207-9E39-A8D3-C3DD-93262E0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846F-9AD8-4C5A-AF2E-9184D2AC6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143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1869F5-D450-9B63-FD9D-1C7B27243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8626E-905F-C900-E49A-66C3BD220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667B7-4D2B-019D-10E8-ADC97ADBFF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E824A-981C-493B-8A38-7B108F6CEA67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28912-E771-F329-0528-AAC3F26F2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98E95-ACB8-558D-23AD-C4870F7C8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93846F-9AD8-4C5A-AF2E-9184D2AC6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001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321040" y="1005840"/>
            <a:ext cx="146304" cy="146304"/>
          </a:xfrm>
          <a:prstGeom prst="ellipse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1645920"/>
            <a:ext cx="146304" cy="146304"/>
          </a:xfrm>
          <a:prstGeom prst="ellipse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2743200"/>
            <a:ext cx="146304" cy="146304"/>
          </a:xfrm>
          <a:prstGeom prst="ellipse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0" y="3566160"/>
            <a:ext cx="146304" cy="146304"/>
          </a:xfrm>
          <a:prstGeom prst="ellipse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881360" y="4297680"/>
            <a:ext cx="146304" cy="146304"/>
          </a:xfrm>
          <a:prstGeom prst="ellipse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20" y="4754880"/>
            <a:ext cx="146304" cy="146304"/>
          </a:xfrm>
          <a:prstGeom prst="ellipse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418320" y="5303520"/>
            <a:ext cx="146304" cy="146304"/>
          </a:xfrm>
          <a:prstGeom prst="ellipse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8394192" y="1078992"/>
            <a:ext cx="1463040" cy="640080"/>
          </a:xfrm>
          <a:prstGeom prst="line">
            <a:avLst/>
          </a:prstGeom>
          <a:ln w="1397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857232" y="1719072"/>
            <a:ext cx="822960" cy="1097280"/>
          </a:xfrm>
          <a:prstGeom prst="line">
            <a:avLst/>
          </a:prstGeom>
          <a:ln w="1397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034272" y="2816352"/>
            <a:ext cx="1645920" cy="822960"/>
          </a:xfrm>
          <a:prstGeom prst="line">
            <a:avLst/>
          </a:prstGeom>
          <a:ln w="1397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119872" y="3639312"/>
            <a:ext cx="914400" cy="1188720"/>
          </a:xfrm>
          <a:prstGeom prst="line">
            <a:avLst/>
          </a:prstGeom>
          <a:ln w="1397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680192" y="2816352"/>
            <a:ext cx="274320" cy="1554480"/>
          </a:xfrm>
          <a:prstGeom prst="line">
            <a:avLst/>
          </a:prstGeom>
          <a:ln w="1397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119872" y="4828032"/>
            <a:ext cx="1371600" cy="548640"/>
          </a:xfrm>
          <a:prstGeom prst="line">
            <a:avLst/>
          </a:prstGeom>
          <a:ln w="1397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491472" y="4370832"/>
            <a:ext cx="1463040" cy="1005840"/>
          </a:xfrm>
          <a:prstGeom prst="line">
            <a:avLst/>
          </a:prstGeom>
          <a:ln w="1397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10515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D96"/>
                </a:solidFill>
                <a:latin typeface="Arial"/>
              </a:rPr>
              <a:t>Module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81328"/>
            <a:ext cx="6858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D233D"/>
                </a:solidFill>
                <a:latin typeface="Arial"/>
              </a:rPr>
              <a:t>Graph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240280"/>
            <a:ext cx="6492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F6E7D"/>
                </a:solidFill>
                <a:latin typeface="Arial"/>
              </a:rPr>
              <a:t>Representing data as relationships, not just rows and columns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57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E7D"/>
                </a:solidFill>
                <a:latin typeface="Arial"/>
              </a:rPr>
              <a:t>Big Data and Analytics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4E9F0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7D"/>
                </a:solidFill>
                <a:latin typeface="Arial"/>
              </a:defRPr>
            </a:pPr>
            <a:r>
              <a:t>BDA • Module 11 • Graph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6DA888C2-F2AF-EDF6-1B27-C3A293FCDF87}"/>
              </a:ext>
            </a:extLst>
          </p:cNvPr>
          <p:cNvSpPr/>
          <p:nvPr/>
        </p:nvSpPr>
        <p:spPr>
          <a:xfrm>
            <a:off x="770021" y="3977640"/>
            <a:ext cx="36190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800" dirty="0">
                <a:solidFill>
                  <a:srgbClr val="002060"/>
                </a:solidFill>
              </a:rPr>
              <a:t>Lets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wait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for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another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15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mins</a:t>
            </a:r>
            <a:br>
              <a:rPr lang="en-US" altLang="zh-CN" sz="1800" dirty="0">
                <a:solidFill>
                  <a:srgbClr val="002060"/>
                </a:solidFill>
              </a:rPr>
            </a:br>
            <a:r>
              <a:rPr lang="en-US" altLang="zh-CN" sz="1800" dirty="0">
                <a:solidFill>
                  <a:srgbClr val="002060"/>
                </a:solidFill>
              </a:rPr>
              <a:t>To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allow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more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students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join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us</a:t>
            </a:r>
            <a:br>
              <a:rPr lang="en-US" altLang="zh-CN" sz="1800" dirty="0">
                <a:solidFill>
                  <a:srgbClr val="002060"/>
                </a:solidFill>
              </a:rPr>
            </a:br>
            <a:r>
              <a:rPr lang="en-US" altLang="zh-CN" sz="1800" dirty="0">
                <a:solidFill>
                  <a:srgbClr val="002060"/>
                </a:solidFill>
              </a:rPr>
              <a:t>Q&amp;A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session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now!</a:t>
            </a:r>
            <a:endParaRPr lang="en-US" sz="1800" dirty="0">
              <a:solidFill>
                <a:srgbClr val="002060"/>
              </a:solidFill>
            </a:endParaRPr>
          </a:p>
        </p:txBody>
      </p:sp>
      <p:pic>
        <p:nvPicPr>
          <p:cNvPr id="26" name="Picture 25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273546B9-AC56-0D2F-CD31-3DF418B44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D233D"/>
                </a:solidFill>
                <a:latin typeface="Arial"/>
              </a:defRPr>
            </a:pPr>
            <a:r>
              <a:t>Why Graph Analytics?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E7D"/>
                </a:solidFill>
                <a:latin typeface="Arial"/>
              </a:defRPr>
            </a:pPr>
            <a:r>
              <a:t>Some questions are mainly about relationships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0749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4617720" cy="3383280"/>
          </a:xfrm>
          <a:prstGeom prst="rect">
            <a:avLst/>
          </a:prstGeom>
          <a:noFill/>
        </p:spPr>
        <p:txBody>
          <a:bodyPr wrap="square" lIns="73152" tIns="18288" rIns="36576" bIns="18288">
            <a:spAutoFit/>
          </a:bodyPr>
          <a:lstStyle/>
          <a:p>
            <a:pPr marL="342900"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1E232A"/>
                </a:solidFill>
                <a:latin typeface="Arial"/>
              </a:defRPr>
            </a:pPr>
            <a:r>
              <a:t>Which customers, products, pages, people or locations are connected?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1E232A"/>
                </a:solidFill>
                <a:latin typeface="Arial"/>
              </a:defRPr>
            </a:pPr>
            <a:r>
              <a:t>Which objects are central, influential or isolated?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1E232A"/>
                </a:solidFill>
                <a:latin typeface="Arial"/>
              </a:defRPr>
            </a:pPr>
            <a:r>
              <a:t>Which groups or communities naturally form?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1E232A"/>
                </a:solidFill>
                <a:latin typeface="Arial"/>
              </a:defRPr>
            </a:pPr>
            <a:r>
              <a:t>Which future links are likely to appear?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1E232A"/>
                </a:solidFill>
                <a:latin typeface="Arial"/>
              </a:defRPr>
            </a:pPr>
            <a:r>
              <a:t>How does information, behaviour or risk spread through a network?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132588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60920" y="1938528"/>
            <a:ext cx="12344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D233D"/>
                </a:solidFill>
                <a:latin typeface="Arial"/>
              </a:rPr>
              <a:t>Customer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828800"/>
            <a:ext cx="132588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A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89720" y="1938528"/>
            <a:ext cx="12344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D233D"/>
                </a:solidFill>
                <a:latin typeface="Arial"/>
              </a:rPr>
              <a:t>Product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926080"/>
            <a:ext cx="132588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3035808"/>
            <a:ext cx="12344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0D233D"/>
                </a:solidFill>
                <a:latin typeface="Arial"/>
              </a:rPr>
              <a:t>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977639"/>
            <a:ext cx="132588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5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4087368"/>
            <a:ext cx="12344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D233D"/>
                </a:solidFill>
                <a:latin typeface="Arial"/>
              </a:rPr>
              <a:t>Friend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3886200"/>
            <a:ext cx="132588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EA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46920" y="3995928"/>
            <a:ext cx="12344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D233D"/>
                </a:solidFill>
                <a:latin typeface="Arial"/>
              </a:rPr>
              <a:t>Campaign</a:t>
            </a:r>
          </a:p>
        </p:txBody>
      </p:sp>
      <p:cxnSp>
        <p:nvCxnSpPr>
          <p:cNvPr id="16" name="Connector 15"/>
          <p:cNvCxnSpPr>
            <a:cxnSpLocks/>
            <a:stCxn id="6" idx="3"/>
          </p:cNvCxnSpPr>
          <p:nvPr/>
        </p:nvCxnSpPr>
        <p:spPr>
          <a:xfrm flipV="1">
            <a:off x="8641080" y="2075688"/>
            <a:ext cx="502920" cy="4572"/>
          </a:xfrm>
          <a:prstGeom prst="line">
            <a:avLst/>
          </a:prstGeom>
          <a:ln w="1905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  <a:stCxn id="6" idx="2"/>
            <a:endCxn id="10" idx="0"/>
          </p:cNvCxnSpPr>
          <p:nvPr/>
        </p:nvCxnSpPr>
        <p:spPr>
          <a:xfrm>
            <a:off x="7978140" y="2331720"/>
            <a:ext cx="914400" cy="594360"/>
          </a:xfrm>
          <a:prstGeom prst="line">
            <a:avLst/>
          </a:prstGeom>
          <a:ln w="1905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cxnSpLocks/>
            <a:stCxn id="9" idx="2"/>
            <a:endCxn id="10" idx="0"/>
          </p:cNvCxnSpPr>
          <p:nvPr/>
        </p:nvCxnSpPr>
        <p:spPr>
          <a:xfrm flipH="1">
            <a:off x="8892540" y="2350008"/>
            <a:ext cx="914400" cy="576072"/>
          </a:xfrm>
          <a:prstGeom prst="line">
            <a:avLst/>
          </a:prstGeom>
          <a:ln w="1905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  <a:stCxn id="6" idx="2"/>
          </p:cNvCxnSpPr>
          <p:nvPr/>
        </p:nvCxnSpPr>
        <p:spPr>
          <a:xfrm flipH="1">
            <a:off x="7360920" y="2331720"/>
            <a:ext cx="617220" cy="1645919"/>
          </a:xfrm>
          <a:prstGeom prst="line">
            <a:avLst/>
          </a:prstGeom>
          <a:ln w="1905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02368" y="2331720"/>
            <a:ext cx="256032" cy="1554480"/>
          </a:xfrm>
          <a:prstGeom prst="line">
            <a:avLst/>
          </a:prstGeom>
          <a:ln w="1905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46520" y="489204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D233D"/>
                </a:solidFill>
                <a:latin typeface="Arial"/>
              </a:rPr>
              <a:t>Graph thinking starts when the relationship is part of the data, not just a lookup field.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4E9F0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7D"/>
                </a:solidFill>
                <a:latin typeface="Arial"/>
              </a:defRPr>
            </a:pPr>
            <a:r>
              <a:t>BDA • Module 11 • Graph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  <a:latin typeface="Arial"/>
              </a:defRPr>
            </a:pPr>
            <a:r>
              <a:t>2</a:t>
            </a:r>
          </a:p>
        </p:txBody>
      </p:sp>
      <p:pic>
        <p:nvPicPr>
          <p:cNvPr id="26" name="Picture 25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D4EF15E1-EB81-C2A8-B352-0EEBF5133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D233D"/>
                </a:solidFill>
                <a:latin typeface="Arial"/>
              </a:defRPr>
            </a:pPr>
            <a:r>
              <a:t>Graph Basics: Nodes, Edges and Properties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11580"/>
            <a:ext cx="47548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8973" y="1659636"/>
            <a:ext cx="1417320" cy="329184"/>
          </a:xfrm>
          <a:prstGeom prst="roundRect">
            <a:avLst/>
          </a:prstGeom>
          <a:solidFill>
            <a:srgbClr val="009D96"/>
          </a:solidFill>
          <a:ln w="12700">
            <a:solidFill>
              <a:srgbClr val="009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8973" y="1696212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Node / vertex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7461" y="1696212"/>
            <a:ext cx="2560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E232A"/>
                </a:solidFill>
                <a:latin typeface="Arial"/>
              </a:rPr>
              <a:t>An object: customer, product, webpage, gene, airport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3" y="2372868"/>
            <a:ext cx="1417320" cy="329184"/>
          </a:xfrm>
          <a:prstGeom prst="roundRect">
            <a:avLst/>
          </a:prstGeom>
          <a:solidFill>
            <a:srgbClr val="009D96"/>
          </a:solidFill>
          <a:ln w="12700">
            <a:solidFill>
              <a:srgbClr val="009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8973" y="2409444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Edge /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7461" y="2409444"/>
            <a:ext cx="2560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E232A"/>
                </a:solidFill>
                <a:latin typeface="Arial"/>
              </a:rPr>
              <a:t>A relationship: buys, follows, links to, travels 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3" y="3086100"/>
            <a:ext cx="1417320" cy="329184"/>
          </a:xfrm>
          <a:prstGeom prst="roundRect">
            <a:avLst/>
          </a:prstGeom>
          <a:solidFill>
            <a:srgbClr val="009D96"/>
          </a:solidFill>
          <a:ln w="12700">
            <a:solidFill>
              <a:srgbClr val="009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8973" y="3122676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7461" y="3122676"/>
            <a:ext cx="2560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E232A"/>
                </a:solidFill>
                <a:latin typeface="Arial"/>
              </a:rPr>
              <a:t>A link may be one-way or two-way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3" y="3799332"/>
            <a:ext cx="1417320" cy="329184"/>
          </a:xfrm>
          <a:prstGeom prst="roundRect">
            <a:avLst/>
          </a:prstGeom>
          <a:solidFill>
            <a:srgbClr val="009D96"/>
          </a:solidFill>
          <a:ln w="12700">
            <a:solidFill>
              <a:srgbClr val="009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8973" y="3835908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7461" y="3835908"/>
            <a:ext cx="2560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E232A"/>
                </a:solidFill>
                <a:latin typeface="Arial"/>
              </a:rPr>
              <a:t>A relationship may have strength or frequency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3" y="4512564"/>
            <a:ext cx="1417320" cy="329184"/>
          </a:xfrm>
          <a:prstGeom prst="roundRect">
            <a:avLst/>
          </a:prstGeom>
          <a:solidFill>
            <a:srgbClr val="009D96"/>
          </a:solidFill>
          <a:ln w="12700">
            <a:solidFill>
              <a:srgbClr val="009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973" y="4549140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Property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7461" y="4549140"/>
            <a:ext cx="2560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E232A"/>
                </a:solidFill>
                <a:latin typeface="Arial"/>
              </a:rPr>
              <a:t>Extra information attached to a node or edge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828800"/>
            <a:ext cx="1143000" cy="60350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1938528"/>
            <a:ext cx="10515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D233D"/>
                </a:solidFill>
                <a:latin typeface="Arial"/>
              </a:rPr>
              <a:t>Customer</a:t>
            </a:r>
            <a:br/>
            <a:r>
              <a:rPr sz="1200" b="1">
                <a:solidFill>
                  <a:srgbClr val="0D233D"/>
                </a:solidFill>
                <a:latin typeface="Arial"/>
              </a:rPr>
              <a:t>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828800"/>
            <a:ext cx="1143000" cy="60350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A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72600" y="1938528"/>
            <a:ext cx="10515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D233D"/>
                </a:solidFill>
                <a:latin typeface="Arial"/>
              </a:rPr>
              <a:t>Product</a:t>
            </a:r>
            <a:br/>
            <a:r>
              <a:rPr sz="1200" b="1">
                <a:solidFill>
                  <a:srgbClr val="0D233D"/>
                </a:solidFill>
                <a:latin typeface="Arial"/>
              </a:rPr>
              <a:t>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26679" y="2130552"/>
            <a:ext cx="1600201" cy="0"/>
          </a:xfrm>
          <a:prstGeom prst="line">
            <a:avLst/>
          </a:prstGeom>
          <a:ln w="2032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01000" y="1664209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rgbClr val="5F6E7D"/>
                </a:solidFill>
                <a:latin typeface="Arial"/>
              </a:rPr>
              <a:t>purchase</a:t>
            </a:r>
            <a:br>
              <a:rPr dirty="0"/>
            </a:br>
            <a:r>
              <a:rPr sz="1100" b="0" dirty="0">
                <a:solidFill>
                  <a:srgbClr val="5F6E7D"/>
                </a:solidFill>
                <a:latin typeface="Arial"/>
              </a:rPr>
              <a:t>count =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80" y="3749039"/>
            <a:ext cx="1143000" cy="60350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5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3858768"/>
            <a:ext cx="10515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D233D"/>
                </a:solidFill>
                <a:latin typeface="Arial"/>
              </a:rPr>
              <a:t>Page</a:t>
            </a:r>
            <a:br/>
            <a:r>
              <a:rPr sz="1200" b="1">
                <a:solidFill>
                  <a:srgbClr val="0D233D"/>
                </a:solidFill>
                <a:latin typeface="Arial"/>
              </a:rPr>
              <a:t>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3749039"/>
            <a:ext cx="1143000" cy="60350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5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89720" y="3858768"/>
            <a:ext cx="10515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D233D"/>
                </a:solidFill>
                <a:latin typeface="Arial"/>
              </a:rPr>
              <a:t>Page</a:t>
            </a:r>
            <a:br/>
            <a:r>
              <a:rPr sz="1200" b="1">
                <a:solidFill>
                  <a:srgbClr val="0D233D"/>
                </a:solidFill>
                <a:latin typeface="Arial"/>
              </a:rPr>
              <a:t>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55279" y="4050791"/>
            <a:ext cx="1188721" cy="0"/>
          </a:xfrm>
          <a:prstGeom prst="line">
            <a:avLst/>
          </a:prstGeom>
          <a:ln w="2032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29600" y="376732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F6E7D"/>
                </a:solidFill>
                <a:latin typeface="Arial"/>
              </a:rPr>
              <a:t>links 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120640"/>
            <a:ext cx="5029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D233D"/>
                </a:solidFill>
                <a:latin typeface="Arial"/>
              </a:rPr>
              <a:t>A graph is a data structure: objects + relationships + context.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4E9F0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6528816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7D"/>
                </a:solidFill>
                <a:latin typeface="Arial"/>
              </a:defRPr>
            </a:pPr>
            <a:r>
              <a:t>BDA • Module 11 • Graph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36" name="Picture 35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8C8AD72E-4E2F-2802-3151-764732FB5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D233D"/>
                </a:solidFill>
                <a:latin typeface="Arial"/>
              </a:defRPr>
            </a:pPr>
            <a:r>
              <a:t>Graphs vs Relational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E7D"/>
                </a:solidFill>
                <a:latin typeface="Arial"/>
              </a:defRPr>
            </a:pPr>
            <a:r>
              <a:t>Same data, different analytical emphasis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D233D"/>
                </a:solidFill>
                <a:latin typeface="Arial"/>
              </a:rPr>
              <a:t>Relational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47548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469B4"/>
                </a:solidFill>
                <a:latin typeface="Arial"/>
              </a:rPr>
              <a:t>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691640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469B4"/>
                </a:solidFill>
                <a:latin typeface="Arial"/>
              </a:rP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691640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469B4"/>
                </a:solidFill>
                <a:latin typeface="Arial"/>
              </a:rP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32A"/>
                </a:solidFill>
                <a:latin typeface="Arial"/>
              </a:rPr>
              <a:t>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057400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32A"/>
                </a:solidFill>
                <a:latin typeface="Arial"/>
              </a:rPr>
              <a:t>Laptop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057400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32A"/>
                </a:solidFill>
                <a:latin typeface="Arial"/>
              </a:rPr>
              <a:t>bought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32A"/>
                </a:solidFill>
                <a:latin typeface="Arial"/>
              </a:rPr>
              <a:t>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496312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32A"/>
                </a:solidFill>
                <a:latin typeface="Arial"/>
              </a:rPr>
              <a:t>Mouse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496312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32A"/>
                </a:solidFill>
                <a:latin typeface="Arial"/>
              </a:rPr>
              <a:t>bought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35224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32A"/>
                </a:solidFill>
                <a:latin typeface="Arial"/>
              </a:rPr>
              <a:t>Ben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935224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32A"/>
                </a:solidFill>
                <a:latin typeface="Arial"/>
              </a:rPr>
              <a:t>Laptop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935224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32A"/>
                </a:solidFill>
                <a:latin typeface="Arial"/>
              </a:rPr>
              <a:t>viewed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74136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32A"/>
                </a:solidFill>
                <a:latin typeface="Arial"/>
              </a:rPr>
              <a:t>Cai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374136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32A"/>
                </a:solidFill>
                <a:latin typeface="Arial"/>
              </a:rPr>
              <a:t>Bag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374136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32A"/>
                </a:solidFill>
                <a:latin typeface="Arial"/>
              </a:rPr>
              <a:t>bought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13048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32A"/>
                </a:solidFill>
                <a:latin typeface="Arial"/>
              </a:rPr>
              <a:t>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813048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32A"/>
                </a:solidFill>
                <a:latin typeface="Arial"/>
              </a:rPr>
              <a:t>Bag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813048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32A"/>
                </a:solidFill>
                <a:latin typeface="Arial"/>
              </a:rPr>
              <a:t>viewed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526280"/>
            <a:ext cx="4389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F6E7D"/>
                </a:solidFill>
                <a:latin typeface="Arial"/>
              </a:rPr>
              <a:t>Efficient for structured records and stable schemas.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14600" y="5532120"/>
            <a:ext cx="7132320" cy="438912"/>
          </a:xfrm>
          <a:prstGeom prst="roundRect">
            <a:avLst/>
          </a:prstGeom>
          <a:solidFill>
            <a:srgbClr val="009D96"/>
          </a:solidFill>
          <a:ln w="12700">
            <a:solidFill>
              <a:srgbClr val="009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514600" y="5568696"/>
            <a:ext cx="7132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Key point: graph analytics treats relationships as first-class data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4E9F0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" y="6528816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7D"/>
                </a:solidFill>
                <a:latin typeface="Arial"/>
              </a:defRPr>
            </a:pPr>
            <a:r>
              <a:t>BDA • Module 11 • Graph Analytics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96000" y="1618488"/>
            <a:ext cx="4343400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3160" y="1764792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F3C"/>
                </a:solidFill>
                <a:latin typeface="Arial"/>
              </a:rPr>
              <a:t>Graph view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056120" y="2395727"/>
            <a:ext cx="1783080" cy="0"/>
          </a:xfrm>
          <a:prstGeom prst="line">
            <a:avLst/>
          </a:prstGeom>
          <a:ln w="12700">
            <a:solidFill>
              <a:srgbClr val="525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056120" y="2395727"/>
            <a:ext cx="1783080" cy="704089"/>
          </a:xfrm>
          <a:prstGeom prst="line">
            <a:avLst/>
          </a:prstGeom>
          <a:ln w="12700">
            <a:solidFill>
              <a:srgbClr val="525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056120" y="2395727"/>
            <a:ext cx="1783080" cy="1307593"/>
          </a:xfrm>
          <a:prstGeom prst="line">
            <a:avLst/>
          </a:prstGeom>
          <a:ln w="12700">
            <a:solidFill>
              <a:srgbClr val="525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056120" y="2395727"/>
            <a:ext cx="1783080" cy="704089"/>
          </a:xfrm>
          <a:prstGeom prst="line">
            <a:avLst/>
          </a:prstGeom>
          <a:ln w="12700">
            <a:solidFill>
              <a:srgbClr val="525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056120" y="3703320"/>
            <a:ext cx="1783080" cy="0"/>
          </a:xfrm>
          <a:prstGeom prst="line">
            <a:avLst/>
          </a:prstGeom>
          <a:ln w="12700">
            <a:solidFill>
              <a:srgbClr val="525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6370320" y="2194560"/>
            <a:ext cx="1005840" cy="3931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F6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1">
                <a:solidFill>
                  <a:srgbClr val="0A1F3C"/>
                </a:solidFill>
                <a:latin typeface="Arial"/>
              </a:rPr>
              <a:t>Ana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70320" y="2898648"/>
            <a:ext cx="1005840" cy="3931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F6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1">
                <a:solidFill>
                  <a:srgbClr val="0A1F3C"/>
                </a:solidFill>
                <a:latin typeface="Arial"/>
              </a:rPr>
              <a:t>Ben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70320" y="3502152"/>
            <a:ext cx="1005840" cy="3931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F6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1">
                <a:solidFill>
                  <a:srgbClr val="0A1F3C"/>
                </a:solidFill>
                <a:latin typeface="Arial"/>
              </a:rPr>
              <a:t>Cai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610600" y="2194560"/>
            <a:ext cx="1005840" cy="3931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48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1">
                <a:solidFill>
                  <a:srgbClr val="0A1F3C"/>
                </a:solidFill>
                <a:latin typeface="Arial"/>
              </a:rPr>
              <a:t>Laptop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610600" y="2898648"/>
            <a:ext cx="1005840" cy="3931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48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1">
                <a:solidFill>
                  <a:srgbClr val="0A1F3C"/>
                </a:solidFill>
                <a:latin typeface="Arial"/>
              </a:rPr>
              <a:t>Mouse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10600" y="3502152"/>
            <a:ext cx="1005840" cy="3931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48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1">
                <a:solidFill>
                  <a:srgbClr val="0A1F3C"/>
                </a:solidFill>
                <a:latin typeface="Arial"/>
              </a:rPr>
              <a:t>Bag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88608" y="4224528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0">
                <a:solidFill>
                  <a:srgbClr val="5C6E82"/>
                </a:solidFill>
                <a:latin typeface="Arial"/>
              </a:rPr>
              <a:t>Better for paths, influence, communities and connectivity.</a:t>
            </a:r>
          </a:p>
        </p:txBody>
      </p:sp>
      <p:pic>
        <p:nvPicPr>
          <p:cNvPr id="26" name="Picture 25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5EB780F0-BCC7-1881-A9EE-68C8AB897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D233D"/>
                </a:solidFill>
                <a:latin typeface="Arial"/>
              </a:defRPr>
            </a:pPr>
            <a:r>
              <a:t>Graph Analytics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E7D"/>
                </a:solidFill>
                <a:latin typeface="Arial"/>
              </a:defRPr>
            </a:pPr>
            <a:r>
              <a:t>From scenario to interpretation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828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426464" y="1417320"/>
            <a:ext cx="457200" cy="457200"/>
          </a:xfrm>
          <a:prstGeom prst="ellipse">
            <a:avLst/>
          </a:prstGeom>
          <a:solidFill>
            <a:srgbClr val="2469B4"/>
          </a:solidFill>
          <a:ln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26464" y="1499616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48840"/>
            <a:ext cx="1609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D233D"/>
                </a:solidFill>
                <a:latin typeface="Arial"/>
              </a:rPr>
              <a:t>Define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651760"/>
            <a:ext cx="1609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F6E7D"/>
                </a:solidFill>
                <a:latin typeface="Arial"/>
              </a:rPr>
              <a:t>Customers, products, pages, users, locations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920240"/>
            <a:ext cx="1828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666744" y="1417320"/>
            <a:ext cx="457200" cy="457200"/>
          </a:xfrm>
          <a:prstGeom prst="ellipse">
            <a:avLst/>
          </a:prstGeom>
          <a:solidFill>
            <a:srgbClr val="009D96"/>
          </a:solidFill>
          <a:ln>
            <a:solidFill>
              <a:srgbClr val="009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66744" y="1499616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2148840"/>
            <a:ext cx="1609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D233D"/>
                </a:solidFill>
                <a:latin typeface="Arial"/>
              </a:rPr>
              <a:t>Define relationships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651760"/>
            <a:ext cx="1609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F6E7D"/>
                </a:solidFill>
                <a:latin typeface="Arial"/>
              </a:rPr>
              <a:t>buys, follows, links, travels, similar-to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1920240"/>
            <a:ext cx="1828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907024" y="1417320"/>
            <a:ext cx="457200" cy="457200"/>
          </a:xfrm>
          <a:prstGeom prst="ellipse">
            <a:avLst/>
          </a:prstGeom>
          <a:solidFill>
            <a:srgbClr val="EA8B2A"/>
          </a:solidFill>
          <a:ln>
            <a:solidFill>
              <a:srgbClr val="EA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07024" y="1499616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2148840"/>
            <a:ext cx="1609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D233D"/>
                </a:solidFill>
                <a:latin typeface="Arial"/>
              </a:rPr>
              <a:t>Build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651760"/>
            <a:ext cx="1609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F6E7D"/>
                </a:solidFill>
                <a:latin typeface="Arial"/>
              </a:rPr>
              <a:t>nodes + edges + properties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1920240"/>
            <a:ext cx="1828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47304" y="1417320"/>
            <a:ext cx="457200" cy="457200"/>
          </a:xfrm>
          <a:prstGeom prst="ellipse">
            <a:avLst/>
          </a:prstGeom>
          <a:solidFill>
            <a:srgbClr val="7056C5"/>
          </a:solidFill>
          <a:ln>
            <a:solidFill>
              <a:srgbClr val="705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47304" y="1499616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2148840"/>
            <a:ext cx="1609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D233D"/>
                </a:solidFill>
                <a:latin typeface="Arial"/>
              </a:rPr>
              <a:t>Run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2" y="2651760"/>
            <a:ext cx="1609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F6E7D"/>
                </a:solidFill>
                <a:latin typeface="Arial"/>
              </a:rPr>
              <a:t>centrality, communities, paths, PageRank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1920240"/>
            <a:ext cx="1828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A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341864" y="1417320"/>
            <a:ext cx="457200" cy="457200"/>
          </a:xfrm>
          <a:prstGeom prst="ellipse">
            <a:avLst/>
          </a:prstGeom>
          <a:solidFill>
            <a:srgbClr val="4EA65B"/>
          </a:solidFill>
          <a:ln>
            <a:solidFill>
              <a:srgbClr val="4EA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41864" y="1499616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6648" y="2148840"/>
            <a:ext cx="1609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D233D"/>
                </a:solidFill>
                <a:latin typeface="Arial"/>
              </a:rPr>
              <a:t>Interpret &amp;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651760"/>
            <a:ext cx="1609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F6E7D"/>
                </a:solidFill>
                <a:latin typeface="Arial"/>
              </a:rPr>
              <a:t>business meaning and action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606040" y="2788920"/>
            <a:ext cx="256032" cy="0"/>
          </a:xfrm>
          <a:prstGeom prst="line">
            <a:avLst/>
          </a:prstGeom>
          <a:ln w="2032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46320" y="2788920"/>
            <a:ext cx="256032" cy="0"/>
          </a:xfrm>
          <a:prstGeom prst="line">
            <a:avLst/>
          </a:prstGeom>
          <a:ln w="2032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086600" y="2788920"/>
            <a:ext cx="256031" cy="0"/>
          </a:xfrm>
          <a:prstGeom prst="line">
            <a:avLst/>
          </a:prstGeom>
          <a:ln w="2032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281160" y="2788920"/>
            <a:ext cx="256032" cy="0"/>
          </a:xfrm>
          <a:prstGeom prst="line">
            <a:avLst/>
          </a:prstGeom>
          <a:ln w="2032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51560" y="4709160"/>
            <a:ext cx="10058400" cy="731520"/>
          </a:xfrm>
          <a:prstGeom prst="rect">
            <a:avLst/>
          </a:prstGeom>
          <a:noFill/>
        </p:spPr>
        <p:txBody>
          <a:bodyPr wrap="square" lIns="73152" tIns="18288" rIns="36576" bIns="18288">
            <a:spAutoFit/>
          </a:bodyPr>
          <a:lstStyle/>
          <a:p>
            <a:pPr marL="342900"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1E232A"/>
                </a:solidFill>
                <a:latin typeface="Arial"/>
              </a:defRPr>
            </a:pPr>
            <a:r>
              <a:t>Assessment 3 focus: build the right graph structure first, then explain what relationships mean.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1E232A"/>
                </a:solidFill>
                <a:latin typeface="Arial"/>
              </a:defRPr>
            </a:pPr>
            <a:r>
              <a:t>A visually simple graph can still represent complex and high-value relationships.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4E9F0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6528816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7D"/>
                </a:solidFill>
                <a:latin typeface="Arial"/>
              </a:defRPr>
            </a:pPr>
            <a:r>
              <a:t>BDA • Module 11 • Graph 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  <a:latin typeface="Arial"/>
              </a:defRPr>
            </a:pPr>
            <a:r>
              <a:t>5</a:t>
            </a:r>
          </a:p>
        </p:txBody>
      </p:sp>
      <p:pic>
        <p:nvPicPr>
          <p:cNvPr id="38" name="Picture 37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C27EA598-41BC-6FAA-A8A1-11C9041A49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D233D"/>
                </a:solidFill>
                <a:latin typeface="Arial"/>
              </a:defRPr>
            </a:pPr>
            <a:r>
              <a:t>Types of Graph Analytics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34440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0120" y="1389888"/>
            <a:ext cx="2148840" cy="384048"/>
          </a:xfrm>
          <a:prstGeom prst="roundRect">
            <a:avLst/>
          </a:prstGeom>
          <a:solidFill>
            <a:srgbClr val="2469B4"/>
          </a:solidFill>
          <a:ln w="12700"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426464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Connectivity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362456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E232A"/>
                </a:solidFill>
                <a:latin typeface="Arial"/>
              </a:rPr>
              <a:t>Are two objects connected? What is the shortest path?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62456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F6E7D"/>
                </a:solidFill>
                <a:latin typeface="Arial"/>
              </a:rPr>
              <a:t>Fraud rings, supply-chain dependencies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03120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60120" y="2258568"/>
            <a:ext cx="2148840" cy="384048"/>
          </a:xfrm>
          <a:prstGeom prst="roundRect">
            <a:avLst/>
          </a:prstGeom>
          <a:solidFill>
            <a:srgbClr val="009D96"/>
          </a:solidFill>
          <a:ln w="12700">
            <a:solidFill>
              <a:srgbClr val="009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295144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Centrality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231136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E232A"/>
                </a:solidFill>
                <a:latin typeface="Arial"/>
              </a:rPr>
              <a:t>Which nodes are most important or influential?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231136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F6E7D"/>
                </a:solidFill>
                <a:latin typeface="Arial"/>
              </a:rPr>
              <a:t>Influencers, key webpages, critical infrastructure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0120" y="3127248"/>
            <a:ext cx="2148840" cy="384048"/>
          </a:xfrm>
          <a:prstGeom prst="roundRect">
            <a:avLst/>
          </a:prstGeom>
          <a:solidFill>
            <a:srgbClr val="EA8B2A"/>
          </a:solidFill>
          <a:ln w="12700">
            <a:solidFill>
              <a:srgbClr val="EA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163824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Community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099816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E232A"/>
                </a:solidFill>
                <a:latin typeface="Arial"/>
              </a:rPr>
              <a:t>Which groups naturally form?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099816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F6E7D"/>
                </a:solidFill>
                <a:latin typeface="Arial"/>
              </a:rPr>
              <a:t>Customer segments, research communities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40480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60120" y="3995928"/>
            <a:ext cx="2148840" cy="384048"/>
          </a:xfrm>
          <a:prstGeom prst="roundRect">
            <a:avLst/>
          </a:prstGeom>
          <a:solidFill>
            <a:srgbClr val="7056C5"/>
          </a:solidFill>
          <a:ln w="12700">
            <a:solidFill>
              <a:srgbClr val="705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032504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Similarity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968496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E232A"/>
                </a:solidFill>
                <a:latin typeface="Arial"/>
              </a:rPr>
              <a:t>Which nodes behave similarly?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968496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F6E7D"/>
                </a:solidFill>
                <a:latin typeface="Arial"/>
              </a:rPr>
              <a:t>Product recommendation, similar users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709160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60120" y="4864608"/>
            <a:ext cx="2148840" cy="384048"/>
          </a:xfrm>
          <a:prstGeom prst="roundRect">
            <a:avLst/>
          </a:prstGeom>
          <a:solidFill>
            <a:srgbClr val="4EA65B"/>
          </a:solidFill>
          <a:ln w="12700">
            <a:solidFill>
              <a:srgbClr val="4EA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901184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Link prediction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837176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E232A"/>
                </a:solidFill>
                <a:latin typeface="Arial"/>
              </a:rPr>
              <a:t>Which connection is likely to form next?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837176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F6E7D"/>
                </a:solidFill>
                <a:latin typeface="Arial"/>
              </a:rPr>
              <a:t>Friend suggestions, product cross-sell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4E9F0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6528816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7D"/>
                </a:solidFill>
                <a:latin typeface="Arial"/>
              </a:defRPr>
            </a:pPr>
            <a:r>
              <a:t>BDA • Module 11 • Graph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32" name="Picture 31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645C72BD-2995-3628-8EB4-D63F3621E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D233D"/>
                </a:solidFill>
                <a:latin typeface="Arial"/>
              </a:defRPr>
            </a:pPr>
            <a:r>
              <a:t>Common Graph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E7D"/>
                </a:solidFill>
                <a:latin typeface="Arial"/>
              </a:defRPr>
            </a:pPr>
            <a:r>
              <a:t>Simple measures can answer useful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D233D"/>
                </a:solidFill>
                <a:latin typeface="Arial"/>
              </a:rPr>
              <a:t>Centrality</a:t>
            </a:r>
          </a:p>
        </p:txBody>
      </p:sp>
      <p:sp>
        <p:nvSpPr>
          <p:cNvPr id="6" name="Oval 5"/>
          <p:cNvSpPr/>
          <p:nvPr/>
        </p:nvSpPr>
        <p:spPr>
          <a:xfrm>
            <a:off x="2011680" y="2743200"/>
            <a:ext cx="320040" cy="320040"/>
          </a:xfrm>
          <a:prstGeom prst="ellipse">
            <a:avLst/>
          </a:prstGeom>
          <a:solidFill>
            <a:srgbClr val="EA8B2A"/>
          </a:solidFill>
          <a:ln>
            <a:solidFill>
              <a:srgbClr val="EA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34440" y="2148840"/>
            <a:ext cx="320040" cy="320040"/>
          </a:xfrm>
          <a:prstGeom prst="ellipse">
            <a:avLst/>
          </a:prstGeom>
          <a:solidFill>
            <a:srgbClr val="2469B4"/>
          </a:solidFill>
          <a:ln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743200" y="2148840"/>
            <a:ext cx="320040" cy="320040"/>
          </a:xfrm>
          <a:prstGeom prst="ellipse">
            <a:avLst/>
          </a:prstGeom>
          <a:solidFill>
            <a:srgbClr val="2469B4"/>
          </a:solidFill>
          <a:ln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34440" y="3337560"/>
            <a:ext cx="320040" cy="320040"/>
          </a:xfrm>
          <a:prstGeom prst="ellipse">
            <a:avLst/>
          </a:prstGeom>
          <a:solidFill>
            <a:srgbClr val="2469B4"/>
          </a:solidFill>
          <a:ln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743200" y="3337560"/>
            <a:ext cx="320040" cy="320040"/>
          </a:xfrm>
          <a:prstGeom prst="ellipse">
            <a:avLst/>
          </a:prstGeom>
          <a:solidFill>
            <a:srgbClr val="2469B4"/>
          </a:solidFill>
          <a:ln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11680" y="3886200"/>
            <a:ext cx="320040" cy="320040"/>
          </a:xfrm>
          <a:prstGeom prst="ellipse">
            <a:avLst/>
          </a:prstGeom>
          <a:solidFill>
            <a:srgbClr val="2469B4"/>
          </a:solidFill>
          <a:ln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1399032" y="2313432"/>
            <a:ext cx="768096" cy="585216"/>
          </a:xfrm>
          <a:prstGeom prst="line">
            <a:avLst/>
          </a:prstGeom>
          <a:ln w="1397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167128" y="2313432"/>
            <a:ext cx="740664" cy="585216"/>
          </a:xfrm>
          <a:prstGeom prst="line">
            <a:avLst/>
          </a:prstGeom>
          <a:ln w="1397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399032" y="2898648"/>
            <a:ext cx="768096" cy="603504"/>
          </a:xfrm>
          <a:prstGeom prst="line">
            <a:avLst/>
          </a:prstGeom>
          <a:ln w="1397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67128" y="2898648"/>
            <a:ext cx="740664" cy="603504"/>
          </a:xfrm>
          <a:prstGeom prst="line">
            <a:avLst/>
          </a:prstGeom>
          <a:ln w="1397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67128" y="2898648"/>
            <a:ext cx="0" cy="1152143"/>
          </a:xfrm>
          <a:prstGeom prst="line">
            <a:avLst/>
          </a:prstGeom>
          <a:ln w="1397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4892040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5F6E7D"/>
                </a:solidFill>
                <a:latin typeface="Arial"/>
              </a:rPr>
              <a:t>Which node is most connected or influential?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32588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720" y="1554480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D233D"/>
                </a:solidFill>
                <a:latin typeface="Arial"/>
              </a:rPr>
              <a:t>Path analysis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0" y="3017520"/>
            <a:ext cx="320040" cy="320040"/>
          </a:xfrm>
          <a:prstGeom prst="ellipse">
            <a:avLst/>
          </a:prstGeom>
          <a:solidFill>
            <a:srgbClr val="009D96"/>
          </a:solidFill>
          <a:ln>
            <a:solidFill>
              <a:srgbClr val="009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5000" y="2377440"/>
            <a:ext cx="320040" cy="320040"/>
          </a:xfrm>
          <a:prstGeom prst="ellipse">
            <a:avLst/>
          </a:prstGeom>
          <a:solidFill>
            <a:srgbClr val="2469B4"/>
          </a:solidFill>
          <a:ln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0" y="3108960"/>
            <a:ext cx="320040" cy="320040"/>
          </a:xfrm>
          <a:prstGeom prst="ellipse">
            <a:avLst/>
          </a:prstGeom>
          <a:solidFill>
            <a:srgbClr val="2469B4"/>
          </a:solidFill>
          <a:ln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086600" y="2423160"/>
            <a:ext cx="320040" cy="320040"/>
          </a:xfrm>
          <a:prstGeom prst="ellipse">
            <a:avLst/>
          </a:prstGeom>
          <a:solidFill>
            <a:srgbClr val="009D96"/>
          </a:solidFill>
          <a:ln>
            <a:solidFill>
              <a:srgbClr val="009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V="1">
            <a:off x="5193792" y="2542032"/>
            <a:ext cx="685800" cy="640080"/>
          </a:xfrm>
          <a:prstGeom prst="line">
            <a:avLst/>
          </a:prstGeom>
          <a:ln w="1397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79592" y="2542032"/>
            <a:ext cx="685800" cy="731520"/>
          </a:xfrm>
          <a:prstGeom prst="line">
            <a:avLst/>
          </a:prstGeom>
          <a:ln w="1397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565392" y="2587752"/>
            <a:ext cx="685800" cy="685800"/>
          </a:xfrm>
          <a:prstGeom prst="line">
            <a:avLst/>
          </a:prstGeom>
          <a:ln w="1397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17720" y="4892040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5F6E7D"/>
                </a:solidFill>
                <a:latin typeface="Arial"/>
              </a:rPr>
              <a:t>How many steps link A to B?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132588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60" y="1554480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D233D"/>
                </a:solidFill>
                <a:latin typeface="Arial"/>
              </a:rPr>
              <a:t>Communities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2468880"/>
            <a:ext cx="320040" cy="320040"/>
          </a:xfrm>
          <a:prstGeom prst="ellipse">
            <a:avLst/>
          </a:prstGeom>
          <a:solidFill>
            <a:srgbClr val="EA8B2A"/>
          </a:solidFill>
          <a:ln>
            <a:solidFill>
              <a:srgbClr val="EA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372600" y="2697480"/>
            <a:ext cx="320040" cy="320040"/>
          </a:xfrm>
          <a:prstGeom prst="ellipse">
            <a:avLst/>
          </a:prstGeom>
          <a:solidFill>
            <a:srgbClr val="EA8B2A"/>
          </a:solidFill>
          <a:ln>
            <a:solidFill>
              <a:srgbClr val="EA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006840" y="3154680"/>
            <a:ext cx="320040" cy="320040"/>
          </a:xfrm>
          <a:prstGeom prst="ellipse">
            <a:avLst/>
          </a:prstGeom>
          <a:solidFill>
            <a:srgbClr val="EA8B2A"/>
          </a:solidFill>
          <a:ln>
            <a:solidFill>
              <a:srgbClr val="EA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424160" y="2514600"/>
            <a:ext cx="320040" cy="320040"/>
          </a:xfrm>
          <a:prstGeom prst="ellipse">
            <a:avLst/>
          </a:prstGeom>
          <a:solidFill>
            <a:srgbClr val="7056C5"/>
          </a:solidFill>
          <a:ln>
            <a:solidFill>
              <a:srgbClr val="705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835640" y="3017520"/>
            <a:ext cx="320040" cy="320040"/>
          </a:xfrm>
          <a:prstGeom prst="ellipse">
            <a:avLst/>
          </a:prstGeom>
          <a:solidFill>
            <a:srgbClr val="7056C5"/>
          </a:solidFill>
          <a:ln>
            <a:solidFill>
              <a:srgbClr val="705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149840" y="3246120"/>
            <a:ext cx="320040" cy="320040"/>
          </a:xfrm>
          <a:prstGeom prst="ellipse">
            <a:avLst/>
          </a:prstGeom>
          <a:solidFill>
            <a:srgbClr val="7056C5"/>
          </a:solidFill>
          <a:ln>
            <a:solidFill>
              <a:srgbClr val="705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" name="Connector 35"/>
          <p:cNvCxnSpPr/>
          <p:nvPr/>
        </p:nvCxnSpPr>
        <p:spPr>
          <a:xfrm>
            <a:off x="8942832" y="2633472"/>
            <a:ext cx="594360" cy="228600"/>
          </a:xfrm>
          <a:prstGeom prst="line">
            <a:avLst/>
          </a:prstGeom>
          <a:ln w="1397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9171432" y="2862072"/>
            <a:ext cx="365760" cy="457200"/>
          </a:xfrm>
          <a:prstGeom prst="line">
            <a:avLst/>
          </a:prstGeom>
          <a:ln w="1397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8942832" y="2633472"/>
            <a:ext cx="228600" cy="685800"/>
          </a:xfrm>
          <a:prstGeom prst="line">
            <a:avLst/>
          </a:prstGeom>
          <a:ln w="1397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588752" y="2679192"/>
            <a:ext cx="411480" cy="502920"/>
          </a:xfrm>
          <a:prstGeom prst="line">
            <a:avLst/>
          </a:prstGeom>
          <a:ln w="1397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0314432" y="3182112"/>
            <a:ext cx="685800" cy="228600"/>
          </a:xfrm>
          <a:prstGeom prst="line">
            <a:avLst/>
          </a:prstGeom>
          <a:ln w="1397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314432" y="2679192"/>
            <a:ext cx="274320" cy="731520"/>
          </a:xfrm>
          <a:prstGeom prst="line">
            <a:avLst/>
          </a:prstGeom>
          <a:ln w="1397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>
            <a:cxnSpLocks/>
          </p:cNvCxnSpPr>
          <p:nvPr/>
        </p:nvCxnSpPr>
        <p:spPr>
          <a:xfrm>
            <a:off x="9537192" y="2898648"/>
            <a:ext cx="777240" cy="530352"/>
          </a:xfrm>
          <a:prstGeom prst="line">
            <a:avLst/>
          </a:prstGeom>
          <a:ln w="1397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366760" y="4892040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5F6E7D"/>
                </a:solidFill>
                <a:latin typeface="Arial"/>
              </a:rPr>
              <a:t>Which groups naturally form?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4E9F0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6528816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7D"/>
                </a:solidFill>
                <a:latin typeface="Arial"/>
              </a:defRPr>
            </a:pPr>
            <a:r>
              <a:t>BDA • Module 11 • Graph Analytics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  <a:latin typeface="Arial"/>
              </a:defRPr>
            </a:pPr>
            <a:r>
              <a:t>7</a:t>
            </a:r>
          </a:p>
        </p:txBody>
      </p:sp>
      <p:pic>
        <p:nvPicPr>
          <p:cNvPr id="48" name="Picture 47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F8DCDB01-B63F-F842-A695-86AE677C0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D233D"/>
                </a:solidFill>
                <a:latin typeface="Arial"/>
              </a:defRPr>
            </a:pPr>
            <a:r>
              <a:t>PageRank: Ranking Nodes by Network Importance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47548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4343400" cy="3474720"/>
          </a:xfrm>
          <a:prstGeom prst="rect">
            <a:avLst/>
          </a:prstGeom>
          <a:noFill/>
        </p:spPr>
        <p:txBody>
          <a:bodyPr wrap="square" lIns="73152" tIns="18288" rIns="36576" bIns="18288">
            <a:spAutoFit/>
          </a:bodyPr>
          <a:lstStyle/>
          <a:p>
            <a:pPr marL="342900">
              <a:lnSpc>
                <a:spcPct val="100000"/>
              </a:lnSpc>
              <a:spcAft>
                <a:spcPts val="400"/>
              </a:spcAft>
              <a:defRPr sz="1600">
                <a:solidFill>
                  <a:srgbClr val="1E232A"/>
                </a:solidFill>
                <a:latin typeface="Arial"/>
              </a:defRPr>
            </a:pPr>
            <a:r>
              <a:t>Webpages form a directed graph: pages are nodes; hyperlinks are edges.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600">
                <a:solidFill>
                  <a:srgbClr val="1E232A"/>
                </a:solidFill>
                <a:latin typeface="Arial"/>
              </a:defRPr>
            </a:pPr>
            <a:r>
              <a:t>A page is more important if important pages link to it.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600">
                <a:solidFill>
                  <a:srgbClr val="1E232A"/>
                </a:solidFill>
                <a:latin typeface="Arial"/>
              </a:defRPr>
            </a:pPr>
            <a:r>
              <a:t>The algorithm repeatedly passes “importance” through links until scores stabilise.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600">
                <a:solidFill>
                  <a:srgbClr val="1E232A"/>
                </a:solidFill>
                <a:latin typeface="Arial"/>
              </a:defRPr>
            </a:pPr>
            <a:r>
              <a:t>The same logic can rank accounts, papers, products, airports or knowledge nodes.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6858000" y="2103120"/>
            <a:ext cx="1463040" cy="914400"/>
          </a:xfrm>
          <a:prstGeom prst="line">
            <a:avLst/>
          </a:prstGeom>
          <a:ln w="1524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8321040" y="2103120"/>
            <a:ext cx="1463040" cy="914400"/>
          </a:xfrm>
          <a:prstGeom prst="line">
            <a:avLst/>
          </a:prstGeom>
          <a:ln w="1524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321040" y="2103120"/>
            <a:ext cx="0" cy="2240280"/>
          </a:xfrm>
          <a:prstGeom prst="line">
            <a:avLst/>
          </a:prstGeom>
          <a:ln w="1524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858000" y="3017520"/>
            <a:ext cx="1463040" cy="1325880"/>
          </a:xfrm>
          <a:prstGeom prst="line">
            <a:avLst/>
          </a:prstGeom>
          <a:ln w="1524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321040" y="3017520"/>
            <a:ext cx="1463040" cy="1325880"/>
          </a:xfrm>
          <a:prstGeom prst="line">
            <a:avLst/>
          </a:prstGeom>
          <a:ln w="1524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784080" y="3017520"/>
            <a:ext cx="822960" cy="1371600"/>
          </a:xfrm>
          <a:prstGeom prst="line">
            <a:avLst/>
          </a:prstGeom>
          <a:ln w="1524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8321040" y="4343400"/>
            <a:ext cx="2286000" cy="45720"/>
          </a:xfrm>
          <a:prstGeom prst="line">
            <a:avLst/>
          </a:prstGeom>
          <a:ln w="1524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046720" y="1828800"/>
            <a:ext cx="566928" cy="566928"/>
          </a:xfrm>
          <a:prstGeom prst="ellipse">
            <a:avLst/>
          </a:prstGeom>
          <a:solidFill>
            <a:srgbClr val="EA8B2A"/>
          </a:solidFill>
          <a:ln>
            <a:solidFill>
              <a:srgbClr val="EA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1975104"/>
            <a:ext cx="566928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0" y="2743200"/>
            <a:ext cx="438912" cy="438912"/>
          </a:xfrm>
          <a:prstGeom prst="ellipse">
            <a:avLst/>
          </a:prstGeom>
          <a:solidFill>
            <a:srgbClr val="2469B4"/>
          </a:solidFill>
          <a:ln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889504"/>
            <a:ext cx="4389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0" y="2743200"/>
            <a:ext cx="438912" cy="438912"/>
          </a:xfrm>
          <a:prstGeom prst="ellipse">
            <a:avLst/>
          </a:prstGeom>
          <a:solidFill>
            <a:srgbClr val="2469B4"/>
          </a:solidFill>
          <a:ln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0" y="2889504"/>
            <a:ext cx="4389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8046720" y="4069080"/>
            <a:ext cx="438912" cy="438912"/>
          </a:xfrm>
          <a:prstGeom prst="ellipse">
            <a:avLst/>
          </a:prstGeom>
          <a:solidFill>
            <a:srgbClr val="2469B4"/>
          </a:solidFill>
          <a:ln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0" y="4215384"/>
            <a:ext cx="4389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0" name="Oval 19"/>
          <p:cNvSpPr/>
          <p:nvPr/>
        </p:nvSpPr>
        <p:spPr>
          <a:xfrm>
            <a:off x="10332720" y="4114800"/>
            <a:ext cx="438912" cy="438912"/>
          </a:xfrm>
          <a:prstGeom prst="ellipse">
            <a:avLst/>
          </a:prstGeom>
          <a:solidFill>
            <a:srgbClr val="2469B4"/>
          </a:solidFill>
          <a:ln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32720" y="4261104"/>
            <a:ext cx="4389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0749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233D"/>
                </a:solidFill>
                <a:latin typeface="Arial"/>
              </a:rPr>
              <a:t>Page A receives links from multiple pages, so its rank may increase.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4E9F0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7D"/>
                </a:solidFill>
                <a:latin typeface="Arial"/>
              </a:defRPr>
            </a:pPr>
            <a:r>
              <a:t>BDA • Module 11 • Graph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  <a:latin typeface="Arial"/>
              </a:defRPr>
            </a:pPr>
            <a:r>
              <a:t>8</a:t>
            </a:r>
          </a:p>
        </p:txBody>
      </p:sp>
      <p:pic>
        <p:nvPicPr>
          <p:cNvPr id="27" name="Picture 26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5F82E3FB-40CB-6DE4-2066-687DF9F83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1097280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How PageRank Works: Passing Importance Through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768096"/>
            <a:ext cx="10789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5C6773"/>
                </a:solidFill>
                <a:latin typeface="Aptos"/>
              </a:rPr>
              <a:t>A node becomes important when other important nodes point to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70432"/>
            <a:ext cx="498348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9264" y="1399032"/>
            <a:ext cx="4764024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1" dirty="0">
                <a:solidFill>
                  <a:srgbClr val="0F233F"/>
                </a:solidFill>
                <a:latin typeface="Aptos"/>
              </a:rPr>
              <a:t>Directed-link graph</a:t>
            </a:r>
          </a:p>
        </p:txBody>
      </p:sp>
      <p:sp>
        <p:nvSpPr>
          <p:cNvPr id="6" name="Oval 5"/>
          <p:cNvSpPr/>
          <p:nvPr/>
        </p:nvSpPr>
        <p:spPr>
          <a:xfrm>
            <a:off x="1536191" y="1901952"/>
            <a:ext cx="676656" cy="676656"/>
          </a:xfrm>
          <a:prstGeom prst="ellipse">
            <a:avLst/>
          </a:prstGeom>
          <a:solidFill>
            <a:srgbClr val="2870B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36191" y="2139696"/>
            <a:ext cx="67665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4050791" y="1901952"/>
            <a:ext cx="676656" cy="676656"/>
          </a:xfrm>
          <a:prstGeom prst="ellipse">
            <a:avLst/>
          </a:prstGeom>
          <a:solidFill>
            <a:srgbClr val="F58B1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50791" y="2139696"/>
            <a:ext cx="67665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0" name="Oval 9"/>
          <p:cNvSpPr/>
          <p:nvPr/>
        </p:nvSpPr>
        <p:spPr>
          <a:xfrm>
            <a:off x="2788920" y="3639311"/>
            <a:ext cx="676656" cy="676656"/>
          </a:xfrm>
          <a:prstGeom prst="ellipse">
            <a:avLst/>
          </a:prstGeom>
          <a:solidFill>
            <a:srgbClr val="4A9A5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8920" y="3877055"/>
            <a:ext cx="67665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2" name="Oval 11"/>
          <p:cNvSpPr/>
          <p:nvPr/>
        </p:nvSpPr>
        <p:spPr>
          <a:xfrm>
            <a:off x="1170431" y="4553712"/>
            <a:ext cx="676656" cy="676656"/>
          </a:xfrm>
          <a:prstGeom prst="ellipse">
            <a:avLst/>
          </a:prstGeom>
          <a:solidFill>
            <a:srgbClr val="6A5AC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1" y="4791455"/>
            <a:ext cx="67665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14" name="Oval 13"/>
          <p:cNvSpPr/>
          <p:nvPr/>
        </p:nvSpPr>
        <p:spPr>
          <a:xfrm>
            <a:off x="4416552" y="4553712"/>
            <a:ext cx="676656" cy="676656"/>
          </a:xfrm>
          <a:prstGeom prst="ellipse">
            <a:avLst/>
          </a:prstGeom>
          <a:solidFill>
            <a:srgbClr val="C43D4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16552" y="4791455"/>
            <a:ext cx="67665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21992" y="2240280"/>
            <a:ext cx="1819656" cy="0"/>
          </a:xfrm>
          <a:prstGeom prst="line">
            <a:avLst/>
          </a:prstGeom>
          <a:ln w="20320">
            <a:solidFill>
              <a:srgbClr val="0F2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383280" y="2542032"/>
            <a:ext cx="841248" cy="1133855"/>
          </a:xfrm>
          <a:prstGeom prst="line">
            <a:avLst/>
          </a:prstGeom>
          <a:ln w="20320">
            <a:solidFill>
              <a:srgbClr val="0F2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874519" y="2578608"/>
            <a:ext cx="1005841" cy="1124712"/>
          </a:xfrm>
          <a:prstGeom prst="line">
            <a:avLst/>
          </a:prstGeom>
          <a:ln w="20320">
            <a:solidFill>
              <a:srgbClr val="0F2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783080" y="4114800"/>
            <a:ext cx="996696" cy="502920"/>
          </a:xfrm>
          <a:prstGeom prst="line">
            <a:avLst/>
          </a:prstGeom>
          <a:ln w="20320">
            <a:solidFill>
              <a:srgbClr val="0F2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3474720" y="4114800"/>
            <a:ext cx="969264" cy="502920"/>
          </a:xfrm>
          <a:prstGeom prst="line">
            <a:avLst/>
          </a:prstGeom>
          <a:ln w="20320">
            <a:solidFill>
              <a:srgbClr val="0F2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97280" y="5504688"/>
            <a:ext cx="40690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1">
                <a:solidFill>
                  <a:srgbClr val="0F233F"/>
                </a:solidFill>
                <a:latin typeface="Aptos"/>
              </a:rPr>
              <a:t>C receives links from several pages.</a:t>
            </a:r>
            <a:br/>
            <a:r>
              <a:rPr sz="1200" b="1">
                <a:solidFill>
                  <a:srgbClr val="0F233F"/>
                </a:solidFill>
                <a:latin typeface="Aptos"/>
              </a:rPr>
              <a:t>If those pages are themselves important, C gains more rank.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1170432"/>
            <a:ext cx="54406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8" y="1261872"/>
            <a:ext cx="5221224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2870BA"/>
                </a:solidFill>
                <a:latin typeface="Aptos"/>
              </a:rPr>
              <a:t>PageRank intuition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1609344"/>
            <a:ext cx="5221224" cy="9784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282D34"/>
                </a:solidFill>
                <a:latin typeface="Aptos"/>
              </a:rPr>
              <a:t>Each page starts with an equal score. At each step, a page shares its score across its outgoing links. This is repeated until scores become stable.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2926080"/>
            <a:ext cx="54406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99048" y="3017520"/>
            <a:ext cx="5221224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F58B1F"/>
                </a:solidFill>
                <a:latin typeface="Aptos"/>
              </a:rPr>
              <a:t>Damping factor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3364992"/>
            <a:ext cx="5221224" cy="9784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282D34"/>
                </a:solidFill>
                <a:latin typeface="Aptos"/>
              </a:rPr>
              <a:t>A small part of the score is redistributed to all pages. This models random browsing and avoids rank getting trapped in closed loops.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4681728"/>
            <a:ext cx="5440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99048" y="4773168"/>
            <a:ext cx="5221224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4A9A5E"/>
                </a:solidFill>
                <a:latin typeface="Aptos"/>
              </a:rPr>
              <a:t>Simplified formula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9048" y="5120640"/>
            <a:ext cx="5221224" cy="5212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282D34"/>
                </a:solidFill>
                <a:latin typeface="Aptos"/>
              </a:rPr>
              <a:t>New rank = base score + score received from incoming links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464808"/>
            <a:ext cx="11384280" cy="22860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6556248"/>
            <a:ext cx="41148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5C6773"/>
                </a:solidFill>
                <a:latin typeface="Aptos"/>
              </a:rPr>
              <a:t>BDA • Module 11 • Graph Analytics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6464808"/>
            <a:ext cx="11384280" cy="22860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6556248"/>
            <a:ext cx="41148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5C6773"/>
                </a:solidFill>
                <a:latin typeface="Aptos"/>
              </a:rPr>
              <a:t>BDA • Module 11 • Graph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528816"/>
            <a:ext cx="7315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>
                <a:solidFill>
                  <a:srgbClr val="5C6773"/>
                </a:solidFill>
                <a:latin typeface="Aptos"/>
              </a:rPr>
              <a:t>14</a:t>
            </a:r>
          </a:p>
        </p:txBody>
      </p:sp>
      <p:pic>
        <p:nvPicPr>
          <p:cNvPr id="37" name="Picture 36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54F9AAAE-7A78-213B-0B97-CBCA9A30D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109728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PageRank as an Iterative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768096"/>
            <a:ext cx="107899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0">
                <a:solidFill>
                  <a:srgbClr val="5C6773"/>
                </a:solidFill>
                <a:latin typeface="Aptos"/>
              </a:rPr>
              <a:t>The same update rule is applied repeatedly until node scores stop changing much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2112263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73352"/>
            <a:ext cx="2112263" cy="13441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0">
                <a:solidFill>
                  <a:srgbClr val="282D34"/>
                </a:solidFill>
                <a:latin typeface="Aptos"/>
              </a:rPr>
              <a:t>Give every node the same starting score.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417320"/>
            <a:ext cx="347472" cy="347472"/>
          </a:xfrm>
          <a:prstGeom prst="ellipse">
            <a:avLst/>
          </a:prstGeom>
          <a:solidFill>
            <a:srgbClr val="F58B1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347472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1417320"/>
            <a:ext cx="15087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>
                <a:solidFill>
                  <a:srgbClr val="0F233F"/>
                </a:solidFill>
                <a:latin typeface="Aptos"/>
              </a:rPr>
              <a:t>Initialise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34440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47288" y="1325880"/>
            <a:ext cx="2112263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47288" y="1673352"/>
            <a:ext cx="2112263" cy="13441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0">
                <a:solidFill>
                  <a:srgbClr val="282D34"/>
                </a:solidFill>
                <a:latin typeface="Aptos"/>
              </a:rPr>
              <a:t>Each node shares rank across its outgoing links.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0" y="1417320"/>
            <a:ext cx="347472" cy="347472"/>
          </a:xfrm>
          <a:prstGeom prst="ellipse">
            <a:avLst/>
          </a:prstGeom>
          <a:solidFill>
            <a:srgbClr val="F58B1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1481328"/>
            <a:ext cx="347472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4487" y="1417320"/>
            <a:ext cx="15087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>
                <a:solidFill>
                  <a:srgbClr val="0F233F"/>
                </a:solidFill>
                <a:latin typeface="Aptos"/>
              </a:rPr>
              <a:t>Distribute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234440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44768" y="1325880"/>
            <a:ext cx="2112263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44768" y="1673352"/>
            <a:ext cx="2112263" cy="13441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0">
                <a:solidFill>
                  <a:srgbClr val="282D34"/>
                </a:solidFill>
                <a:latin typeface="Aptos"/>
              </a:rPr>
              <a:t>Each node sums the rank received from incoming links.</a:t>
            </a:r>
          </a:p>
        </p:txBody>
      </p:sp>
      <p:sp>
        <p:nvSpPr>
          <p:cNvPr id="19" name="Oval 18"/>
          <p:cNvSpPr/>
          <p:nvPr/>
        </p:nvSpPr>
        <p:spPr>
          <a:xfrm>
            <a:off x="6172200" y="1417320"/>
            <a:ext cx="347472" cy="347472"/>
          </a:xfrm>
          <a:prstGeom prst="ellipse">
            <a:avLst/>
          </a:prstGeom>
          <a:solidFill>
            <a:srgbClr val="F58B1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1481328"/>
            <a:ext cx="347472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1417320"/>
            <a:ext cx="15087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>
                <a:solidFill>
                  <a:srgbClr val="0F233F"/>
                </a:solidFill>
                <a:latin typeface="Aptos"/>
              </a:rPr>
              <a:t>Collect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1234440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42248" y="1325880"/>
            <a:ext cx="2112263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42248" y="1673352"/>
            <a:ext cx="2112263" cy="13441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0">
                <a:solidFill>
                  <a:srgbClr val="282D34"/>
                </a:solidFill>
                <a:latin typeface="Aptos"/>
              </a:rPr>
              <a:t>Run the update again until scores stabilise.</a:t>
            </a:r>
          </a:p>
        </p:txBody>
      </p:sp>
      <p:sp>
        <p:nvSpPr>
          <p:cNvPr id="25" name="Oval 24"/>
          <p:cNvSpPr/>
          <p:nvPr/>
        </p:nvSpPr>
        <p:spPr>
          <a:xfrm>
            <a:off x="8869680" y="1417320"/>
            <a:ext cx="347472" cy="347472"/>
          </a:xfrm>
          <a:prstGeom prst="ellipse">
            <a:avLst/>
          </a:prstGeom>
          <a:solidFill>
            <a:srgbClr val="F58B1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0" y="1481328"/>
            <a:ext cx="347472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1417320"/>
            <a:ext cx="15087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>
                <a:solidFill>
                  <a:srgbClr val="0F233F"/>
                </a:solidFill>
                <a:latin typeface="Aptos"/>
              </a:rPr>
              <a:t>Repeat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6352" y="1938528"/>
            <a:ext cx="41148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2400" b="1">
                <a:solidFill>
                  <a:srgbClr val="5C6773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13832" y="1938528"/>
            <a:ext cx="41148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2400" b="1">
                <a:solidFill>
                  <a:srgbClr val="5C6773"/>
                </a:solidFill>
                <a:latin typeface="Apto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1938528"/>
            <a:ext cx="41148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2400" b="1">
                <a:solidFill>
                  <a:srgbClr val="5C6773"/>
                </a:solidFill>
                <a:latin typeface="Aptos"/>
              </a:rPr>
              <a:t>→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77240" y="3794760"/>
          <a:ext cx="47091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Node</a:t>
                      </a:r>
                    </a:p>
                  </a:txBody>
                  <a:tcPr>
                    <a:solidFill>
                      <a:srgbClr val="2870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Start</a:t>
                      </a:r>
                    </a:p>
                  </a:txBody>
                  <a:tcPr>
                    <a:solidFill>
                      <a:srgbClr val="2870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After iterations</a:t>
                      </a:r>
                    </a:p>
                  </a:txBody>
                  <a:tcPr>
                    <a:solidFill>
                      <a:srgbClr val="2870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D34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D34"/>
                          </a:solidFill>
                          <a:latin typeface="Aptos"/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D34"/>
                          </a:solidFill>
                          <a:latin typeface="Aptos"/>
                        </a:rPr>
                        <a:t>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D34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D34"/>
                          </a:solidFill>
                          <a:latin typeface="Aptos"/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D34"/>
                          </a:solidFill>
                          <a:latin typeface="Aptos"/>
                        </a:rPr>
                        <a:t>0.18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D34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D34"/>
                          </a:solidFill>
                          <a:latin typeface="Aptos"/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D34"/>
                          </a:solidFill>
                          <a:latin typeface="Aptos"/>
                        </a:rP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D34"/>
                          </a:solidFill>
                          <a:latin typeface="Aptos"/>
                        </a:rPr>
                        <a:t>D/E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D34"/>
                          </a:solidFill>
                          <a:latin typeface="Aptos"/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D34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5897880" y="3730752"/>
            <a:ext cx="512064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07608" y="3822191"/>
            <a:ext cx="4901183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1">
                <a:solidFill>
                  <a:srgbClr val="4A9A5E"/>
                </a:solidFill>
                <a:latin typeface="Aptos"/>
              </a:rPr>
              <a:t>How to interpret the final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07608" y="4169664"/>
            <a:ext cx="4901183" cy="11338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0">
                <a:solidFill>
                  <a:srgbClr val="282D34"/>
                </a:solidFill>
                <a:latin typeface="Aptos"/>
              </a:rPr>
              <a:t>The final PageRank is not a class label. It is a relative importance score. A higher-scoring node is more influential within the link structure, especially when it receives links from other influential nodes.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806440"/>
            <a:ext cx="10287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1">
                <a:solidFill>
                  <a:srgbClr val="0F233F"/>
                </a:solidFill>
                <a:latin typeface="Aptos"/>
              </a:rPr>
              <a:t>Teaching note: PageRank can rank webpages, accounts, papers, products or locations—any graph with directed influence-like links.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6464808"/>
            <a:ext cx="11384280" cy="22860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6556248"/>
            <a:ext cx="41148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800" b="0">
                <a:solidFill>
                  <a:srgbClr val="5C6773"/>
                </a:solidFill>
                <a:latin typeface="Aptos"/>
              </a:rPr>
              <a:t>BDA • Module 11 • Graph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28816"/>
            <a:ext cx="73152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>
                <a:solidFill>
                  <a:srgbClr val="5C6773"/>
                </a:solidFill>
                <a:latin typeface="Aptos"/>
              </a:rPr>
              <a:t>15</a:t>
            </a:r>
          </a:p>
        </p:txBody>
      </p:sp>
      <p:pic>
        <p:nvPicPr>
          <p:cNvPr id="40" name="Picture 39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13C28CF1-63BC-417C-717C-A79B6E22F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D233D"/>
                </a:solidFill>
                <a:latin typeface="Arial"/>
              </a:defRPr>
            </a:pPr>
            <a:r>
              <a:t>Link Prediction: Which Connection Comes Next?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4572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160520" cy="3566160"/>
          </a:xfrm>
          <a:prstGeom prst="rect">
            <a:avLst/>
          </a:prstGeom>
          <a:noFill/>
        </p:spPr>
        <p:txBody>
          <a:bodyPr wrap="square" lIns="73152" tIns="18288" rIns="36576" bIns="18288">
            <a:spAutoFit/>
          </a:bodyPr>
          <a:lstStyle/>
          <a:p>
            <a:pPr marL="342900"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1E232A"/>
                </a:solidFill>
                <a:latin typeface="Arial"/>
              </a:defRPr>
            </a:pPr>
            <a:r>
              <a:t>Used in social networks, recommendations, fraud detection and knowledge graphs.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1E232A"/>
                </a:solidFill>
                <a:latin typeface="Arial"/>
              </a:defRPr>
            </a:pPr>
            <a:r>
              <a:t>Predicts missing or future edges between nodes.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1E232A"/>
                </a:solidFill>
                <a:latin typeface="Arial"/>
              </a:defRPr>
            </a:pPr>
            <a:r>
              <a:t>Features can include common neighbours, path length, similarity and shared communities.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1E232A"/>
                </a:solidFill>
                <a:latin typeface="Arial"/>
              </a:defRPr>
            </a:pPr>
            <a:r>
              <a:t>Human interpretation is still needed: a likely link is not always a useful or ethical recommendation.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7086600" y="1828800"/>
            <a:ext cx="1645919" cy="320040"/>
          </a:xfrm>
          <a:prstGeom prst="line">
            <a:avLst/>
          </a:prstGeom>
          <a:ln w="1524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732519" y="1828800"/>
            <a:ext cx="1371600" cy="777240"/>
          </a:xfrm>
          <a:prstGeom prst="line">
            <a:avLst/>
          </a:prstGeom>
          <a:ln w="1524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086600" y="2148840"/>
            <a:ext cx="777240" cy="1325880"/>
          </a:xfrm>
          <a:prstGeom prst="line">
            <a:avLst/>
          </a:prstGeom>
          <a:ln w="1524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863840" y="3474720"/>
            <a:ext cx="1600200" cy="731520"/>
          </a:xfrm>
          <a:prstGeom prst="line">
            <a:avLst/>
          </a:prstGeom>
          <a:ln w="1524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464040" y="2606040"/>
            <a:ext cx="640079" cy="1600200"/>
          </a:xfrm>
          <a:prstGeom prst="line">
            <a:avLst/>
          </a:prstGeom>
          <a:ln w="1524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903720" y="3474720"/>
            <a:ext cx="960120" cy="1325880"/>
          </a:xfrm>
          <a:prstGeom prst="line">
            <a:avLst/>
          </a:prstGeom>
          <a:ln w="1524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863840" y="1874519"/>
            <a:ext cx="868680" cy="1600201"/>
          </a:xfrm>
          <a:prstGeom prst="line">
            <a:avLst/>
          </a:prstGeom>
          <a:ln w="27940">
            <a:solidFill>
              <a:srgbClr val="EA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02167" y="276606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EA8B2A"/>
                </a:solidFill>
                <a:latin typeface="Arial"/>
              </a:rPr>
              <a:t>predicted link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920240"/>
            <a:ext cx="713232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80" y="2029968"/>
            <a:ext cx="621792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D233D"/>
                </a:solidFill>
                <a:latin typeface="Arial"/>
              </a:rPr>
              <a:t>Ana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600200"/>
            <a:ext cx="713232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709928"/>
            <a:ext cx="621792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D233D"/>
                </a:solidFill>
                <a:latin typeface="Arial"/>
              </a:rPr>
              <a:t>Ben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2377440"/>
            <a:ext cx="713232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29800" y="2487168"/>
            <a:ext cx="621792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D233D"/>
                </a:solidFill>
                <a:latin typeface="Arial"/>
              </a:rPr>
              <a:t>Cai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3246120"/>
            <a:ext cx="713232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0" y="3355848"/>
            <a:ext cx="621792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D233D"/>
                </a:solidFill>
                <a:latin typeface="Arial"/>
              </a:rPr>
              <a:t>Dia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977639"/>
            <a:ext cx="713232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20" y="4087368"/>
            <a:ext cx="621792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D233D"/>
                </a:solidFill>
                <a:latin typeface="Arial"/>
              </a:rPr>
              <a:t>Eli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572000"/>
            <a:ext cx="713232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4681728"/>
            <a:ext cx="621792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D233D"/>
                </a:solidFill>
                <a:latin typeface="Arial"/>
              </a:rPr>
              <a:t>Fay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4924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F6E7D"/>
                </a:solidFill>
                <a:latin typeface="Arial"/>
              </a:rPr>
              <a:t>Common-neighbour idea: Ben and Dia are both connected to Ana and close in the graph.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4E9F0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528816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7D"/>
                </a:solidFill>
                <a:latin typeface="Arial"/>
              </a:defRPr>
            </a:pPr>
            <a:r>
              <a:t>BDA • Module 11 • Graph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  <a:latin typeface="Arial"/>
              </a:defRPr>
            </a:pPr>
            <a:r>
              <a:t>9</a:t>
            </a:r>
          </a:p>
        </p:txBody>
      </p:sp>
      <p:pic>
        <p:nvPicPr>
          <p:cNvPr id="30" name="Picture 29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715B5C59-6038-F296-571E-3B05AB257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D233D"/>
                </a:solidFill>
                <a:latin typeface="Arial"/>
              </a:defRPr>
            </a:pPr>
            <a:r>
              <a:t>Graph Databases: Storing Relationship-Centred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4983480" cy="3319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D233D"/>
                </a:solidFill>
                <a:latin typeface="Arial"/>
              </a:rPr>
              <a:t>Relational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4389120" cy="2880360"/>
          </a:xfrm>
          <a:prstGeom prst="rect">
            <a:avLst/>
          </a:prstGeom>
          <a:noFill/>
        </p:spPr>
        <p:txBody>
          <a:bodyPr wrap="square" lIns="73152" tIns="18288" rIns="36576" bIns="18288">
            <a:spAutoFit/>
          </a:bodyPr>
          <a:lstStyle/>
          <a:p>
            <a:pPr marL="342900">
              <a:lnSpc>
                <a:spcPct val="100000"/>
              </a:lnSpc>
              <a:spcAft>
                <a:spcPts val="400"/>
              </a:spcAft>
              <a:defRPr sz="1600">
                <a:solidFill>
                  <a:srgbClr val="1E232A"/>
                </a:solidFill>
                <a:latin typeface="Arial"/>
              </a:defRPr>
            </a:pPr>
            <a:r>
              <a:t>Tables, rows and columns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600">
                <a:solidFill>
                  <a:srgbClr val="1E232A"/>
                </a:solidFill>
                <a:latin typeface="Arial"/>
              </a:defRPr>
            </a:pPr>
            <a:r>
              <a:t>Relationships often represented through foreign keys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600">
                <a:solidFill>
                  <a:srgbClr val="1E232A"/>
                </a:solidFill>
                <a:latin typeface="Arial"/>
              </a:defRPr>
            </a:pPr>
            <a:r>
              <a:t>Great for transactions and structured reporting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600">
                <a:solidFill>
                  <a:srgbClr val="1E232A"/>
                </a:solidFill>
                <a:latin typeface="Arial"/>
              </a:defRPr>
            </a:pPr>
            <a:r>
              <a:t>Complex multi-hop joins can become expensive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25880"/>
            <a:ext cx="4983480" cy="3319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20840" y="160020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D233D"/>
                </a:solidFill>
                <a:latin typeface="Arial"/>
              </a:rPr>
              <a:t>Graph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48840"/>
            <a:ext cx="4389120" cy="2880360"/>
          </a:xfrm>
          <a:prstGeom prst="rect">
            <a:avLst/>
          </a:prstGeom>
          <a:noFill/>
        </p:spPr>
        <p:txBody>
          <a:bodyPr wrap="square" lIns="73152" tIns="18288" rIns="36576" bIns="18288">
            <a:spAutoFit/>
          </a:bodyPr>
          <a:lstStyle/>
          <a:p>
            <a:pPr marL="342900">
              <a:lnSpc>
                <a:spcPct val="100000"/>
              </a:lnSpc>
              <a:spcAft>
                <a:spcPts val="400"/>
              </a:spcAft>
              <a:defRPr sz="1600">
                <a:solidFill>
                  <a:srgbClr val="1E232A"/>
                </a:solidFill>
                <a:latin typeface="Arial"/>
              </a:defRPr>
            </a:pPr>
            <a:r>
              <a:t>Nodes, edges and properties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600">
                <a:solidFill>
                  <a:srgbClr val="1E232A"/>
                </a:solidFill>
                <a:latin typeface="Arial"/>
              </a:defRPr>
            </a:pPr>
            <a:r>
              <a:t>Relationships stored directly as part of the model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600">
                <a:solidFill>
                  <a:srgbClr val="1E232A"/>
                </a:solidFill>
                <a:latin typeface="Arial"/>
              </a:defRPr>
            </a:pPr>
            <a:r>
              <a:t>Strong for traversals, paths and relationship queries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600">
                <a:solidFill>
                  <a:srgbClr val="1E232A"/>
                </a:solidFill>
                <a:latin typeface="Arial"/>
              </a:defRPr>
            </a:pPr>
            <a:r>
              <a:t>Useful when relationships change frequently or drive insight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5833872"/>
            <a:ext cx="7955279" cy="438912"/>
          </a:xfrm>
          <a:prstGeom prst="roundRect">
            <a:avLst/>
          </a:prstGeom>
          <a:solidFill>
            <a:srgbClr val="009D96"/>
          </a:solidFill>
          <a:ln w="12700">
            <a:solidFill>
              <a:srgbClr val="009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48840" y="5870448"/>
            <a:ext cx="795527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rial"/>
              </a:rPr>
              <a:t>Key message: use graph storage when the question is mainly about connections.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4E9F0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7D"/>
                </a:solidFill>
                <a:latin typeface="Arial"/>
              </a:defRPr>
            </a:pPr>
            <a:r>
              <a:t>BDA • Module 11 • Graph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15" name="Picture 14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177375DD-6E22-1D12-92A0-1FC356943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109728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Graph Data Structures: Nodes, Edges and Adjacency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768096"/>
            <a:ext cx="107899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0">
                <a:solidFill>
                  <a:srgbClr val="5C6773"/>
                </a:solidFill>
                <a:latin typeface="Aptos"/>
              </a:rPr>
              <a:t>Different physical structures support fast traversal from one node to its neighbours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34440"/>
          <a:ext cx="35204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node_id</a:t>
                      </a:r>
                    </a:p>
                  </a:txBody>
                  <a:tcPr>
                    <a:solidFill>
                      <a:srgbClr val="2870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label</a:t>
                      </a:r>
                    </a:p>
                  </a:txBody>
                  <a:tcPr>
                    <a:solidFill>
                      <a:srgbClr val="2870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properties</a:t>
                      </a:r>
                    </a:p>
                  </a:txBody>
                  <a:tcPr>
                    <a:solidFill>
                      <a:srgbClr val="2870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C01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{name: Alice}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P10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{name: Coffee}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P11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{name: Milk}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S04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{city: Adelaide}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703320"/>
          <a:ext cx="352044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from</a:t>
                      </a:r>
                    </a:p>
                  </a:txBody>
                  <a:tcPr>
                    <a:solidFill>
                      <a:srgbClr val="F5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>
                    <a:solidFill>
                      <a:srgbClr val="F5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to</a:t>
                      </a:r>
                    </a:p>
                  </a:txBody>
                  <a:tcPr>
                    <a:solidFill>
                      <a:srgbClr val="F58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C01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BOUGHT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P10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C01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BOUGHT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P11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P10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SOLD_AT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S04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P11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SOLD_AT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82D34"/>
                          </a:solidFill>
                          <a:latin typeface="Aptos"/>
                        </a:rPr>
                        <a:t>S04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663440" y="1234440"/>
            <a:ext cx="2971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82896" y="1312164"/>
            <a:ext cx="2752344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1" dirty="0">
                <a:solidFill>
                  <a:srgbClr val="0F233F"/>
                </a:solidFill>
                <a:latin typeface="Aptos"/>
              </a:rPr>
              <a:t>Adjacency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3168" y="1673352"/>
            <a:ext cx="2752344" cy="3721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0">
                <a:solidFill>
                  <a:srgbClr val="282D34"/>
                </a:solidFill>
                <a:latin typeface="Aptos"/>
              </a:rPr>
              <a:t>A compact way to store neighbours.</a:t>
            </a:r>
            <a:br/>
            <a:br/>
            <a:r>
              <a:rPr sz="1400" b="0">
                <a:solidFill>
                  <a:srgbClr val="282D34"/>
                </a:solidFill>
                <a:latin typeface="Aptos"/>
              </a:rPr>
              <a:t>C01 → P10, P11</a:t>
            </a:r>
            <a:br/>
            <a:r>
              <a:rPr sz="1400" b="0">
                <a:solidFill>
                  <a:srgbClr val="282D34"/>
                </a:solidFill>
                <a:latin typeface="Aptos"/>
              </a:rPr>
              <a:t>P10 → S04</a:t>
            </a:r>
            <a:br/>
            <a:r>
              <a:rPr sz="1400" b="0">
                <a:solidFill>
                  <a:srgbClr val="282D34"/>
                </a:solidFill>
                <a:latin typeface="Aptos"/>
              </a:rPr>
              <a:t>P11 → S04</a:t>
            </a:r>
            <a:br/>
            <a:r>
              <a:rPr sz="1400" b="0">
                <a:solidFill>
                  <a:srgbClr val="282D34"/>
                </a:solidFill>
                <a:latin typeface="Aptos"/>
              </a:rPr>
              <a:t>S04 → C01</a:t>
            </a:r>
            <a:br/>
            <a:br/>
            <a:r>
              <a:rPr sz="1400" b="0">
                <a:solidFill>
                  <a:srgbClr val="282D34"/>
                </a:solidFill>
                <a:latin typeface="Aptos"/>
              </a:rPr>
              <a:t>Traversal starts from a node and follows its outgoing or incoming edges.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23444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53628" y="1325880"/>
            <a:ext cx="3209544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1" dirty="0">
                <a:solidFill>
                  <a:srgbClr val="6A5ACD"/>
                </a:solidFill>
                <a:latin typeface="Aptos"/>
              </a:rPr>
              <a:t>Traversal example</a:t>
            </a:r>
          </a:p>
        </p:txBody>
      </p:sp>
      <p:sp>
        <p:nvSpPr>
          <p:cNvPr id="11" name="Oval 10"/>
          <p:cNvSpPr/>
          <p:nvPr/>
        </p:nvSpPr>
        <p:spPr>
          <a:xfrm>
            <a:off x="8586216" y="2505456"/>
            <a:ext cx="658368" cy="658368"/>
          </a:xfrm>
          <a:prstGeom prst="ellipse">
            <a:avLst/>
          </a:prstGeom>
          <a:solidFill>
            <a:srgbClr val="2870B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86216" y="2743200"/>
            <a:ext cx="658368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C01</a:t>
            </a:r>
          </a:p>
        </p:txBody>
      </p:sp>
      <p:sp>
        <p:nvSpPr>
          <p:cNvPr id="13" name="Oval 12"/>
          <p:cNvSpPr/>
          <p:nvPr/>
        </p:nvSpPr>
        <p:spPr>
          <a:xfrm>
            <a:off x="9729216" y="1865376"/>
            <a:ext cx="658368" cy="658368"/>
          </a:xfrm>
          <a:prstGeom prst="ellipse">
            <a:avLst/>
          </a:prstGeom>
          <a:solidFill>
            <a:srgbClr val="F58B1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29216" y="2103120"/>
            <a:ext cx="658368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P10</a:t>
            </a:r>
          </a:p>
        </p:txBody>
      </p:sp>
      <p:sp>
        <p:nvSpPr>
          <p:cNvPr id="15" name="Oval 14"/>
          <p:cNvSpPr/>
          <p:nvPr/>
        </p:nvSpPr>
        <p:spPr>
          <a:xfrm>
            <a:off x="9729216" y="3145536"/>
            <a:ext cx="658368" cy="658368"/>
          </a:xfrm>
          <a:prstGeom prst="ellipse">
            <a:avLst/>
          </a:prstGeom>
          <a:solidFill>
            <a:srgbClr val="F58B1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29216" y="3383279"/>
            <a:ext cx="658368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P11</a:t>
            </a:r>
          </a:p>
        </p:txBody>
      </p:sp>
      <p:sp>
        <p:nvSpPr>
          <p:cNvPr id="17" name="Oval 16"/>
          <p:cNvSpPr/>
          <p:nvPr/>
        </p:nvSpPr>
        <p:spPr>
          <a:xfrm>
            <a:off x="10689336" y="2505456"/>
            <a:ext cx="658368" cy="658368"/>
          </a:xfrm>
          <a:prstGeom prst="ellipse">
            <a:avLst/>
          </a:prstGeom>
          <a:solidFill>
            <a:srgbClr val="4A9A5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89336" y="2743200"/>
            <a:ext cx="658368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S04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9253728" y="2340864"/>
            <a:ext cx="457200" cy="329184"/>
          </a:xfrm>
          <a:prstGeom prst="line">
            <a:avLst/>
          </a:prstGeom>
          <a:ln w="17780">
            <a:solidFill>
              <a:srgbClr val="0F2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253728" y="2999232"/>
            <a:ext cx="457200" cy="329184"/>
          </a:xfrm>
          <a:prstGeom prst="line">
            <a:avLst/>
          </a:prstGeom>
          <a:ln w="17780">
            <a:solidFill>
              <a:srgbClr val="0F2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396728" y="2340864"/>
            <a:ext cx="301752" cy="338328"/>
          </a:xfrm>
          <a:prstGeom prst="line">
            <a:avLst/>
          </a:prstGeom>
          <a:ln w="17780">
            <a:solidFill>
              <a:srgbClr val="0F2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396728" y="2990088"/>
            <a:ext cx="301752" cy="338328"/>
          </a:xfrm>
          <a:prstGeom prst="line">
            <a:avLst/>
          </a:prstGeom>
          <a:ln w="17780">
            <a:solidFill>
              <a:srgbClr val="0F2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76488" y="4800600"/>
            <a:ext cx="2724912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0">
                <a:solidFill>
                  <a:srgbClr val="282D34"/>
                </a:solidFill>
                <a:latin typeface="Aptos"/>
              </a:rPr>
              <a:t>Question: what did C01 buy?</a:t>
            </a:r>
            <a:br/>
            <a:r>
              <a:rPr sz="1200" b="0">
                <a:solidFill>
                  <a:srgbClr val="282D34"/>
                </a:solidFill>
                <a:latin typeface="Aptos"/>
              </a:rPr>
              <a:t>Answer: follow C01 → Product edges.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6464808"/>
            <a:ext cx="11384280" cy="22860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556248"/>
            <a:ext cx="41148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800" b="0">
                <a:solidFill>
                  <a:srgbClr val="5C6773"/>
                </a:solidFill>
                <a:latin typeface="Aptos"/>
              </a:rPr>
              <a:t>BDA • Module 11 • Graph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28816"/>
            <a:ext cx="73152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>
                <a:solidFill>
                  <a:srgbClr val="5C6773"/>
                </a:solidFill>
                <a:latin typeface="Aptos"/>
              </a:rPr>
              <a:t>12</a:t>
            </a:r>
          </a:p>
        </p:txBody>
      </p:sp>
      <p:pic>
        <p:nvPicPr>
          <p:cNvPr id="28" name="Picture 27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860B2684-B657-629F-E2F5-2D0CA82B9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D233D"/>
                </a:solidFill>
                <a:latin typeface="Arial"/>
              </a:defRPr>
            </a:pPr>
            <a:r>
              <a:t>Assessment 3: What Students Should Practise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80160"/>
            <a:ext cx="105156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1645920"/>
            <a:ext cx="9784080" cy="3383280"/>
          </a:xfrm>
          <a:prstGeom prst="rect">
            <a:avLst/>
          </a:prstGeom>
          <a:noFill/>
        </p:spPr>
        <p:txBody>
          <a:bodyPr wrap="square" lIns="73152" tIns="18288" rIns="36576" bIns="18288">
            <a:spAutoFit/>
          </a:bodyPr>
          <a:lstStyle/>
          <a:p>
            <a:pPr marL="342900"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1E232A"/>
                </a:solidFill>
                <a:latin typeface="Arial"/>
              </a:defRPr>
            </a:pPr>
            <a:r>
              <a:t>Translate a real scenario into graph form: decide what the nodes and edges represent.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1E232A"/>
                </a:solidFill>
                <a:latin typeface="Arial"/>
              </a:defRPr>
            </a:pPr>
            <a:r>
              <a:t>Use meaningful relationship labels: “purchase”, “follows”, “located in”, “links to”, “similar to”.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1E232A"/>
                </a:solidFill>
                <a:latin typeface="Arial"/>
              </a:defRPr>
            </a:pPr>
            <a:r>
              <a:t>Avoid drawing disconnected objects unless isolation itself is part of the analysis.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1E232A"/>
                </a:solidFill>
                <a:latin typeface="Arial"/>
              </a:defRPr>
            </a:pPr>
            <a:r>
              <a:t>Explain what the graph shows, not just how it looks.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1E232A"/>
                </a:solidFill>
                <a:latin typeface="Arial"/>
              </a:defRPr>
            </a:pPr>
            <a:r>
              <a:t>Link observations to business or analytical value: recommendation, risk, influence, segmentation, ranking.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166360"/>
            <a:ext cx="9784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9D96"/>
                </a:solidFill>
                <a:latin typeface="Arial"/>
              </a:rPr>
              <a:t>Practical standard: a good graph is simple to read but precise about relationships.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4E9F0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7D"/>
                </a:solidFill>
                <a:latin typeface="Arial"/>
              </a:defRPr>
            </a:pPr>
            <a:r>
              <a:t>BDA • Module 11 • Graph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  <a:latin typeface="Arial"/>
              </a:defRPr>
            </a:pPr>
            <a:r>
              <a:t>13</a:t>
            </a:r>
          </a:p>
        </p:txBody>
      </p:sp>
      <p:pic>
        <p:nvPicPr>
          <p:cNvPr id="10" name="Picture 9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EE816D0E-4C9F-2C91-0869-12E36A278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D233D"/>
                </a:solidFill>
                <a:latin typeface="Arial"/>
              </a:defRPr>
            </a:pPr>
            <a:r>
              <a:t>Module Resources: What to Take From Each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34440"/>
            <a:ext cx="10652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380744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D233D"/>
                </a:solidFill>
                <a:latin typeface="Arial"/>
              </a:rPr>
              <a:t>Using Graph Analytics for Big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80744"/>
            <a:ext cx="6583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E7D"/>
                </a:solidFill>
                <a:latin typeface="Arial"/>
              </a:rPr>
              <a:t>What problems suit graph analytics; graph questions and technical complexity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10652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432304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D233D"/>
                </a:solidFill>
                <a:latin typeface="Arial"/>
              </a:rPr>
              <a:t>Graph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432304"/>
            <a:ext cx="6583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E7D"/>
                </a:solidFill>
                <a:latin typeface="Arial"/>
              </a:rPr>
              <a:t>How graph databases store nodes, edges and properties; why relationships matter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337560"/>
            <a:ext cx="10652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483864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D233D"/>
                </a:solidFill>
                <a:latin typeface="Arial"/>
              </a:rPr>
              <a:t>Link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483864"/>
            <a:ext cx="6583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E7D"/>
                </a:solidFill>
                <a:latin typeface="Arial"/>
              </a:rPr>
              <a:t>How social-network connections can be predicted from graph 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89120"/>
            <a:ext cx="10652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535424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D233D"/>
                </a:solidFill>
                <a:latin typeface="Arial"/>
              </a:rPr>
              <a:t>PageRank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535424"/>
            <a:ext cx="6583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E7D"/>
                </a:solidFill>
                <a:latin typeface="Arial"/>
              </a:rPr>
              <a:t>How web-page ranking can be understood as graph ranking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4E9F0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7D"/>
                </a:solidFill>
                <a:latin typeface="Arial"/>
              </a:defRPr>
            </a:pPr>
            <a:r>
              <a:t>BDA • Module 11 • Graph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  <a:latin typeface="Arial"/>
              </a:defRPr>
            </a:pPr>
            <a:r>
              <a:t>14</a:t>
            </a:r>
          </a:p>
        </p:txBody>
      </p:sp>
      <p:pic>
        <p:nvPicPr>
          <p:cNvPr id="19" name="Picture 18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7159ECA0-AED7-8F8B-2899-4C11DFDFF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D233D"/>
                </a:solidFill>
                <a:latin typeface="Arial"/>
              </a:defRPr>
            </a:pPr>
            <a:r>
              <a:t>Check Your Understanding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34440"/>
            <a:ext cx="5212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D233D"/>
                </a:solidFill>
                <a:latin typeface="Arial"/>
              </a:rPr>
              <a:t>Quick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4663440" cy="3108960"/>
          </a:xfrm>
          <a:prstGeom prst="rect">
            <a:avLst/>
          </a:prstGeom>
          <a:noFill/>
        </p:spPr>
        <p:txBody>
          <a:bodyPr wrap="square" lIns="73152" tIns="18288" rIns="36576" bIns="18288">
            <a:spAutoFit/>
          </a:bodyPr>
          <a:lstStyle/>
          <a:p>
            <a:pPr marL="342900"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1E232A"/>
                </a:solidFill>
                <a:latin typeface="Arial"/>
              </a:defRPr>
            </a:pPr>
            <a:r>
              <a:t>What is the difference between a node and an edge?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1E232A"/>
                </a:solidFill>
                <a:latin typeface="Arial"/>
              </a:defRPr>
            </a:pPr>
            <a:r>
              <a:t>When should a relationship be directed?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1E232A"/>
                </a:solidFill>
                <a:latin typeface="Arial"/>
              </a:defRPr>
            </a:pPr>
            <a:r>
              <a:t>Why can graph analytics reveal insights that table summaries miss?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1E232A"/>
                </a:solidFill>
                <a:latin typeface="Arial"/>
              </a:defRPr>
            </a:pPr>
            <a:r>
              <a:t>What does centrality tell us?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1E232A"/>
                </a:solidFill>
                <a:latin typeface="Arial"/>
              </a:defRPr>
            </a:pPr>
            <a:r>
              <a:t>What is link prediction trying to estimate?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166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50876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D233D"/>
                </a:solidFill>
                <a:latin typeface="Arial"/>
              </a:rPr>
              <a:t>Mini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57400"/>
            <a:ext cx="4663440" cy="3108960"/>
          </a:xfrm>
          <a:prstGeom prst="rect">
            <a:avLst/>
          </a:prstGeom>
          <a:noFill/>
        </p:spPr>
        <p:txBody>
          <a:bodyPr wrap="square" lIns="73152" tIns="18288" rIns="36576" bIns="18288">
            <a:spAutoFit/>
          </a:bodyPr>
          <a:lstStyle/>
          <a:p>
            <a:pPr marL="342900"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1E232A"/>
                </a:solidFill>
                <a:latin typeface="Arial"/>
              </a:defRPr>
            </a:pPr>
            <a:r>
              <a:t>Choose one scenario: eCommerce, social media, transport, research, cybersecurity.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1E232A"/>
                </a:solidFill>
                <a:latin typeface="Arial"/>
              </a:defRPr>
            </a:pPr>
            <a:r>
              <a:t>Identify at least three node types.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1E232A"/>
                </a:solidFill>
                <a:latin typeface="Arial"/>
              </a:defRPr>
            </a:pPr>
            <a:r>
              <a:t>Identify at least three edge types.</a:t>
            </a:r>
          </a:p>
          <a:p>
            <a:pPr marL="342900"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1E232A"/>
                </a:solidFill>
                <a:latin typeface="Arial"/>
              </a:defRPr>
            </a:pPr>
            <a:r>
              <a:t>Write one graph analytics question you could answer.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4E9F0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7D"/>
                </a:solidFill>
                <a:latin typeface="Arial"/>
              </a:defRPr>
            </a:pPr>
            <a:r>
              <a:t>BDA • Module 11 • Graph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  <a:latin typeface="Arial"/>
              </a:defRPr>
            </a:pPr>
            <a:r>
              <a:t>15</a:t>
            </a:r>
          </a:p>
        </p:txBody>
      </p:sp>
      <p:pic>
        <p:nvPicPr>
          <p:cNvPr id="13" name="Picture 12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CE77AA1F-205B-A436-2522-1B1048B10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D233D"/>
                </a:solidFill>
                <a:latin typeface="Arial"/>
              </a:defRPr>
            </a:pPr>
            <a:r>
              <a:t>Wrap-up: Core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" y="1600200"/>
            <a:ext cx="4663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280160" y="1920240"/>
            <a:ext cx="438912" cy="438912"/>
          </a:xfrm>
          <a:prstGeom prst="ellipse">
            <a:avLst/>
          </a:prstGeom>
          <a:solidFill>
            <a:srgbClr val="2469B4"/>
          </a:solidFill>
          <a:ln>
            <a:solidFill>
              <a:srgbClr val="24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94767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233D"/>
                </a:solidFill>
                <a:latin typeface="Arial"/>
              </a:rPr>
              <a:t>Graphs model relationships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00200"/>
            <a:ext cx="4663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629400" y="1920240"/>
            <a:ext cx="438912" cy="438912"/>
          </a:xfrm>
          <a:prstGeom prst="ellipse">
            <a:avLst/>
          </a:prstGeom>
          <a:solidFill>
            <a:srgbClr val="009D96"/>
          </a:solidFill>
          <a:ln>
            <a:solidFill>
              <a:srgbClr val="009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94767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233D"/>
                </a:solidFill>
                <a:latin typeface="Arial"/>
              </a:rPr>
              <a:t>Nodes are objects; edges are connections.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291840"/>
            <a:ext cx="4663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80160" y="3611880"/>
            <a:ext cx="438912" cy="438912"/>
          </a:xfrm>
          <a:prstGeom prst="ellipse">
            <a:avLst/>
          </a:prstGeom>
          <a:solidFill>
            <a:srgbClr val="EA8B2A"/>
          </a:solidFill>
          <a:ln>
            <a:solidFill>
              <a:srgbClr val="EA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3703320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63931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233D"/>
                </a:solidFill>
                <a:latin typeface="Arial"/>
              </a:rPr>
              <a:t>Graph analytics supports ranking, communities, paths and prediction.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291840"/>
            <a:ext cx="4663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29400" y="3611880"/>
            <a:ext cx="438912" cy="438912"/>
          </a:xfrm>
          <a:prstGeom prst="ellipse">
            <a:avLst/>
          </a:prstGeom>
          <a:solidFill>
            <a:srgbClr val="7056C5"/>
          </a:solidFill>
          <a:ln>
            <a:solidFill>
              <a:srgbClr val="705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3703320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63931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233D"/>
                </a:solidFill>
                <a:latin typeface="Arial"/>
              </a:rPr>
              <a:t>Interpretation matters: explain what relationships mean.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257800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9D96"/>
                </a:solidFill>
                <a:latin typeface="Arial"/>
              </a:rPr>
              <a:t>Next step: use these ideas when preparing graph analytics for Assessment 3.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E4E9F0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7D"/>
                </a:solidFill>
                <a:latin typeface="Arial"/>
              </a:defRPr>
            </a:pPr>
            <a:r>
              <a:t>BDA • Module 11 • Graph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  <a:latin typeface="Arial"/>
              </a:defRPr>
            </a:pPr>
            <a:r>
              <a:t>16</a:t>
            </a:r>
          </a:p>
        </p:txBody>
      </p:sp>
      <p:pic>
        <p:nvPicPr>
          <p:cNvPr id="24" name="Picture 23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6338F002-7ED9-9CFC-6498-EC2D8ED96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A1057F29386142A5B9755C5531A820" ma:contentTypeVersion="7" ma:contentTypeDescription="Create a new document." ma:contentTypeScope="" ma:versionID="4fba0a4a6bc0f311a775a35ccccf5e6d">
  <xsd:schema xmlns:xsd="http://www.w3.org/2001/XMLSchema" xmlns:xs="http://www.w3.org/2001/XMLSchema" xmlns:p="http://schemas.microsoft.com/office/2006/metadata/properties" xmlns:ns2="cc5d4512-e7db-40f5-9b40-1e14bbbc82d5" targetNamespace="http://schemas.microsoft.com/office/2006/metadata/properties" ma:root="true" ma:fieldsID="b67d525fc411f0dd1bf3f93df30eccba" ns2:_="">
    <xsd:import namespace="cc5d4512-e7db-40f5-9b40-1e14bbbc82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5d4512-e7db-40f5-9b40-1e14bbbc82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A8872DE-68E3-4C42-A865-F234C3D8A58B}"/>
</file>

<file path=customXml/itemProps2.xml><?xml version="1.0" encoding="utf-8"?>
<ds:datastoreItem xmlns:ds="http://schemas.openxmlformats.org/officeDocument/2006/customXml" ds:itemID="{71FD016A-9CD7-4A42-B434-0B065D0EB72F}"/>
</file>

<file path=customXml/itemProps3.xml><?xml version="1.0" encoding="utf-8"?>
<ds:datastoreItem xmlns:ds="http://schemas.openxmlformats.org/officeDocument/2006/customXml" ds:itemID="{14C83C45-C52D-4363-A72E-1CDA19C1D014}"/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1574</Words>
  <Application>Microsoft Office PowerPoint</Application>
  <PresentationFormat>Widescreen</PresentationFormat>
  <Paragraphs>309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Zhan</dc:creator>
  <cp:lastModifiedBy>Chen Zhan</cp:lastModifiedBy>
  <cp:revision>1</cp:revision>
  <dcterms:created xsi:type="dcterms:W3CDTF">2026-08-09T09:27:58Z</dcterms:created>
  <dcterms:modified xsi:type="dcterms:W3CDTF">2026-08-10T22:27:11Z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0x01010086A1057F29386142A5B9755C5531A820</vt:lpwstr>
  </property>
</Properties>
</file>