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B5531C-C980-B942-A675-9FCABBF6E1DD}" v="1" dt="2026-07-19T08:08:48.6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65"/>
  </p:normalViewPr>
  <p:slideViewPr>
    <p:cSldViewPr snapToGrid="0">
      <p:cViewPr varScale="1">
        <p:scale>
          <a:sx n="104" d="100"/>
          <a:sy n="104" d="100"/>
        </p:scale>
        <p:origin x="232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Relationship Id="rId27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 Zhan" userId="9bf1158d-5ec6-44ed-8784-22fed4df2891" providerId="ADAL" clId="{D42B64AA-9EFF-5844-9BBE-459DF059C33B}"/>
    <pc:docChg chg="modSld">
      <pc:chgData name="Chen Zhan" userId="9bf1158d-5ec6-44ed-8784-22fed4df2891" providerId="ADAL" clId="{D42B64AA-9EFF-5844-9BBE-459DF059C33B}" dt="2026-07-19T08:08:48.673" v="1" actId="1076"/>
      <pc:docMkLst>
        <pc:docMk/>
      </pc:docMkLst>
      <pc:sldChg chg="modSp mod">
        <pc:chgData name="Chen Zhan" userId="9bf1158d-5ec6-44ed-8784-22fed4df2891" providerId="ADAL" clId="{D42B64AA-9EFF-5844-9BBE-459DF059C33B}" dt="2026-07-19T08:08:48.673" v="1" actId="1076"/>
        <pc:sldMkLst>
          <pc:docMk/>
          <pc:sldMk cId="0" sldId="264"/>
        </pc:sldMkLst>
        <pc:picChg chg="mod">
          <ac:chgData name="Chen Zhan" userId="9bf1158d-5ec6-44ed-8784-22fed4df2891" providerId="ADAL" clId="{D42B64AA-9EFF-5844-9BBE-459DF059C33B}" dt="2026-07-19T08:08:48.673" v="1" actId="1076"/>
          <ac:picMkLst>
            <pc:docMk/>
            <pc:sldMk cId="0" sldId="264"/>
            <ac:picMk id="19" creationId="{D6AC1C3A-3197-EEFF-F467-5D97C0AF1A72}"/>
          </ac:picMkLst>
        </pc:picChg>
        <pc:picChg chg="mod">
          <ac:chgData name="Chen Zhan" userId="9bf1158d-5ec6-44ed-8784-22fed4df2891" providerId="ADAL" clId="{D42B64AA-9EFF-5844-9BBE-459DF059C33B}" dt="2026-07-19T08:08:46.558" v="0" actId="1076"/>
          <ac:picMkLst>
            <pc:docMk/>
            <pc:sldMk cId="0" sldId="264"/>
            <ac:picMk id="21" creationId="{7A321A92-E60D-D5CD-836E-DED312457A0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1B630-93E0-8747-991D-1F9837635772}" type="datetimeFigureOut">
              <a:rPr lang="en-US" smtClean="0"/>
              <a:t>7/19/26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C215A1-D8EB-464D-BD89-498EB2763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616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35ADE-426B-6163-B099-35C4D3FDB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12675-645C-990B-215E-C1F21F3501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F781B-D889-68FB-126A-6E78AA96B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80DD0-C172-EB44-8003-446E3760ADE1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29A81-8C14-E42E-A77C-18AAA2E94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2F123-57D1-573B-EEBC-43F7D3E77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E1048-0B42-DC40-B470-E6F8BCEB6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26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BBAEB-C395-7621-17AE-23E6C0F19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93B61-18CC-290C-63A7-E7966F7CD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548D7-E4C3-B646-955C-3F3399A88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80DD0-C172-EB44-8003-446E3760ADE1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DF759-B374-0F2C-39C8-AA916122F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5BB06-9A5D-5C12-5D2D-84CFCD78F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E1048-0B42-DC40-B470-E6F8BCEB6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767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24B89-266D-BBA5-0880-79A796F7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1FD5D-EF58-4162-7257-F134F33B6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08441-13B8-31AF-EBA0-FE602A9E7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80DD0-C172-EB44-8003-446E3760ADE1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49668-3B0C-1102-A579-B9276CA2A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997F0-1EE5-EDBC-0390-2BA0635DF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E1048-0B42-DC40-B470-E6F8BCEB6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99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EAE09-2417-613B-0E33-C984AC31B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EEF25-2CC5-B6B2-13C6-DFC6AFD8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C8961-14A8-3AC7-6181-FEBE699D7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7B1F7-4962-F5D3-E0E6-B6EA92B64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80DD0-C172-EB44-8003-446E3760ADE1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BC89A9-69AA-629E-5BE5-E0E4F97EA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7F38E-1887-D449-D574-3B1795B1F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E1048-0B42-DC40-B470-E6F8BCEB6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230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E196B-AA4E-9466-DB7B-2C720CD36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571A4-D302-B220-E896-26A93D909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9E76E0-8489-CAF4-ABD3-2A11C5B16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7D9A47-A345-C8F9-D8CE-7097031EC7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183EF1-3E64-FC81-1596-2F575D2C3F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6254C-5BE1-612A-8F83-B7867BD21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80DD0-C172-EB44-8003-446E3760ADE1}" type="datetimeFigureOut">
              <a:rPr lang="en-US" smtClean="0"/>
              <a:t>7/19/26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D9D1A8-111F-5FAF-30E8-280A5AC0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296C2-1F0A-4D56-48AF-F8F62A79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E1048-0B42-DC40-B470-E6F8BCEB6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191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621D-7595-5516-9DC2-1DFDA0189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B84DEA-33EA-0DAA-2655-0A4FF6567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80DD0-C172-EB44-8003-446E3760ADE1}" type="datetimeFigureOut">
              <a:rPr lang="en-US" smtClean="0"/>
              <a:t>7/19/26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3A62AF-477F-A1C8-8D18-199CA078A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F8261E-FD98-6FF9-82DE-F24D3B69F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E1048-0B42-DC40-B470-E6F8BCEB6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51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0CFB23-5AC6-EAB1-3A90-CE81403F1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80DD0-C172-EB44-8003-446E3760ADE1}" type="datetimeFigureOut">
              <a:rPr lang="en-US" smtClean="0"/>
              <a:t>7/19/26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0B7563-A319-8FED-0C69-FD22D5BA9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5048C-C060-7E75-638B-8CE4E2273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E1048-0B42-DC40-B470-E6F8BCEB6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976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19495-0D76-48A4-6DBD-8209479BC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74A24-6878-0D72-EED5-E2930524B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CE4733-4C98-41A9-DA32-B9C214237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086065-5269-9A6C-267B-C82969878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80DD0-C172-EB44-8003-446E3760ADE1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C887C-D83A-8213-6161-CDC830129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8066E7-BDA7-4B25-A1DD-CD233DF1E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E1048-0B42-DC40-B470-E6F8BCEB6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19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2F489-659E-EFF3-E316-4F0F00322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C79687-A4E5-3714-9049-0054D1AF8E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367B57-4F17-9C32-5B5C-51F8DD779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A72A6-7807-2640-5A08-30F549BFB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80DD0-C172-EB44-8003-446E3760ADE1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36668-0C1D-756F-55F3-8CAEC1A8C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8DBC2-90E1-B908-9616-BC436B1E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E1048-0B42-DC40-B470-E6F8BCEB6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065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7297F-EAC1-682E-BB6F-6500FF32B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2D9078-3731-9C5F-E646-F639083CF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47D1C-6BBA-7D02-0D39-A6AE8D7D4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80DD0-C172-EB44-8003-446E3760ADE1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2121E-12AB-491F-38CA-EB4A0678F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8FF3B-F380-81B1-9D1B-CEC915449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E1048-0B42-DC40-B470-E6F8BCEB6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97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81366E-B612-5902-E39C-21C4D3AFB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E9A122-7846-942C-7DDC-F0C5683FE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E5FA2-4A40-37A7-79E2-CB738BD8B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80DD0-C172-EB44-8003-446E3760ADE1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3DD88-2228-4C94-35B3-BFC4E02B1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158B9-859D-6F34-452A-1C5E0A9B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E1048-0B42-DC40-B470-E6F8BCEB6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405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ean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"/>
            <a:ext cx="12191695" cy="0"/>
          </a:xfrm>
          <a:prstGeom prst="line">
            <a:avLst/>
          </a:prstGeom>
          <a:noFill/>
          <a:ln w="38100">
            <a:solidFill>
              <a:srgbClr val="22B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01384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• Predictive Modelling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853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388115-B48D-113E-C8F9-39C3E3AB5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C32FF-E26E-BC32-405A-D3E40893D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3981C-99AF-F77E-E1ED-EFA8895D8E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280DD0-C172-EB44-8003-446E3760ADE1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D1FE5-D213-2FD5-2255-9EEAFFDE7A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5587B-5FC0-AB32-CAE6-03A6D9396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E1048-0B42-DC40-B470-E6F8BCEB6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542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22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Modelling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3504" y="217627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historical data to estimate future outcomes with statistical and machine-learning models.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3504" y="420624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440740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linear regression and logistic regression</a:t>
            </a:r>
            <a:endParaRPr lang="en-US" sz="1200" dirty="0"/>
          </a:p>
        </p:txBody>
      </p:sp>
      <p:pic>
        <p:nvPicPr>
          <p:cNvPr id="7" name="Image 0" descr="/mnt/data/module8_assets/lin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325880"/>
            <a:ext cx="4754880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3063909-B2F3-EABA-9678-F67E4466CDE5}"/>
              </a:ext>
            </a:extLst>
          </p:cNvPr>
          <p:cNvSpPr/>
          <p:nvPr/>
        </p:nvSpPr>
        <p:spPr>
          <a:xfrm>
            <a:off x="618182" y="3268980"/>
            <a:ext cx="36190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800" dirty="0">
                <a:solidFill>
                  <a:srgbClr val="D6E8FF"/>
                </a:solidFill>
              </a:rPr>
              <a:t>Lets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wait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for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another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15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mins</a:t>
            </a:r>
            <a:br>
              <a:rPr lang="en-US" altLang="zh-CN" sz="1800" dirty="0">
                <a:solidFill>
                  <a:srgbClr val="D6E8FF"/>
                </a:solidFill>
              </a:rPr>
            </a:br>
            <a:r>
              <a:rPr lang="en-US" altLang="zh-CN" sz="1800" dirty="0">
                <a:solidFill>
                  <a:srgbClr val="D6E8FF"/>
                </a:solidFill>
              </a:rPr>
              <a:t>To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allow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more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students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join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us</a:t>
            </a:r>
            <a:br>
              <a:rPr lang="en-US" altLang="zh-CN" sz="1800" dirty="0">
                <a:solidFill>
                  <a:srgbClr val="D6E8FF"/>
                </a:solidFill>
              </a:rPr>
            </a:br>
            <a:r>
              <a:rPr lang="en-US" altLang="zh-CN" sz="1800" dirty="0">
                <a:solidFill>
                  <a:srgbClr val="D6E8FF"/>
                </a:solidFill>
              </a:rPr>
              <a:t>Q&amp;A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session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now!</a:t>
            </a:r>
            <a:endParaRPr lang="en-US" sz="1800" dirty="0"/>
          </a:p>
        </p:txBody>
      </p:sp>
      <p:pic>
        <p:nvPicPr>
          <p:cNvPr id="9" name="Picture 8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E1A5272C-B7B6-7C68-D031-E42C79E089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module fits in the subject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475488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50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predictive modelling as estimating future outcomes from historical data.</a:t>
            </a:r>
            <a:endParaRPr lang="en-US" sz="1500" dirty="0"/>
          </a:p>
          <a:p>
            <a:r>
              <a:rPr lang="en-US" sz="150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 regression tasks from classification tasks.</a:t>
            </a:r>
            <a:endParaRPr lang="en-US" sz="1500" dirty="0"/>
          </a:p>
          <a:p>
            <a:r>
              <a:rPr lang="en-US" sz="150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linear regression for numeric prediction.</a:t>
            </a:r>
            <a:endParaRPr lang="en-US" sz="1500" dirty="0"/>
          </a:p>
          <a:p>
            <a:r>
              <a:rPr lang="en-US" sz="150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logistic regression for binary classification.</a:t>
            </a:r>
            <a:endParaRPr lang="en-US" sz="1500" dirty="0"/>
          </a:p>
          <a:p>
            <a:r>
              <a:rPr lang="en-US" sz="150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submit Assessment 2.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114300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60720" y="1143000"/>
            <a:ext cx="5394960" cy="109728"/>
          </a:xfrm>
          <a:prstGeom prst="rect">
            <a:avLst/>
          </a:prstGeom>
          <a:solidFill>
            <a:srgbClr val="22B8B0"/>
          </a:solidFill>
          <a:ln w="12700">
            <a:solidFill>
              <a:srgbClr val="22B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97880" y="13441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Learning Outcome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25312" y="1709928"/>
            <a:ext cx="506577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analytical models based on given problems.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21488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60720" y="2148840"/>
            <a:ext cx="5394960" cy="10972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97880" y="235000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progression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25312" y="2678698"/>
            <a:ext cx="5065776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2 is due at the end of Module 8. Use this week to review, finalise, and submit.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32918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760720" y="3291840"/>
            <a:ext cx="5394960" cy="109728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97880" y="349300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message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25312" y="3813048"/>
            <a:ext cx="5065776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modelling is not only coding — it is problem framing, feature selection, evaluation, and communication.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17" name="Picture 16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54728FEA-DA0B-17C3-D8E0-1289E9720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predictive modelling?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modelling estimates an unknown or future outcome from known historical patterns.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2148840" cy="109728"/>
          </a:xfrm>
          <a:prstGeom prst="rect">
            <a:avLst/>
          </a:prstGeom>
          <a:solidFill>
            <a:srgbClr val="22B8B0"/>
          </a:solidFill>
          <a:ln w="12700">
            <a:solidFill>
              <a:srgbClr val="22B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7099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2075688"/>
            <a:ext cx="181965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observations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known outcomes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17520" y="1874520"/>
            <a:ext cx="320040" cy="320040"/>
          </a:xfrm>
          <a:prstGeom prst="chevron">
            <a:avLst/>
          </a:prstGeom>
          <a:solidFill>
            <a:srgbClr val="B8C4CE"/>
          </a:solidFill>
          <a:ln w="12700">
            <a:solidFill>
              <a:srgbClr val="B8C4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20440" y="150876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20440" y="1508760"/>
            <a:ext cx="2148840" cy="109728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0" y="17099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85032" y="2075688"/>
            <a:ext cx="181965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variables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may explain the outcome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06440" y="1874520"/>
            <a:ext cx="320040" cy="320040"/>
          </a:xfrm>
          <a:prstGeom prst="chevron">
            <a:avLst/>
          </a:prstGeom>
          <a:solidFill>
            <a:srgbClr val="B8C4CE"/>
          </a:solidFill>
          <a:ln w="12700">
            <a:solidFill>
              <a:srgbClr val="B8C4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0" y="150876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09360" y="1508760"/>
            <a:ext cx="2148840" cy="10972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46520" y="17099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73952" y="2075688"/>
            <a:ext cx="181965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/ ML representation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relationship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595360" y="1874520"/>
            <a:ext cx="320040" cy="320040"/>
          </a:xfrm>
          <a:prstGeom prst="chevron">
            <a:avLst/>
          </a:prstGeom>
          <a:solidFill>
            <a:srgbClr val="B8C4CE"/>
          </a:solidFill>
          <a:ln w="12700">
            <a:solidFill>
              <a:srgbClr val="B8C4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098280" y="150876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98280" y="1508760"/>
            <a:ext cx="2148840" cy="109728"/>
          </a:xfrm>
          <a:prstGeom prst="rect">
            <a:avLst/>
          </a:prstGeom>
          <a:solidFill>
            <a:srgbClr val="4CAF6C"/>
          </a:solidFill>
          <a:ln w="12700">
            <a:solidFill>
              <a:srgbClr val="4CAF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35440" y="17099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62872" y="2075688"/>
            <a:ext cx="181965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value, class,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probability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4400" y="3886200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78992" y="3995928"/>
            <a:ext cx="10003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bank may use historical customer records to predict whether a new customer is likely to subscribe to a term deposit.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6" name="Picture 25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CC98D4C5-EF49-E25F-EDFE-484786A7A0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predictive modelling matters in business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23444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063240" cy="109728"/>
          </a:xfrm>
          <a:prstGeom prst="rect">
            <a:avLst/>
          </a:prstGeom>
          <a:solidFill>
            <a:srgbClr val="D95A45"/>
          </a:solidFill>
          <a:ln w="12700">
            <a:solidFill>
              <a:srgbClr val="D95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356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" y="1801368"/>
            <a:ext cx="273405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whether a transaction is suspicious before approving it.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0" y="123444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89120" y="1234440"/>
            <a:ext cx="3063240" cy="10972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26280" y="14356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53712" y="1801368"/>
            <a:ext cx="273405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loan default, customer churn, insurance risk, or operational failure.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92440" y="123444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092440" y="1234440"/>
            <a:ext cx="3063240" cy="109728"/>
          </a:xfrm>
          <a:prstGeom prst="rect">
            <a:avLst/>
          </a:prstGeom>
          <a:solidFill>
            <a:srgbClr val="22B8B0"/>
          </a:solidFill>
          <a:ln w="12700">
            <a:solidFill>
              <a:srgbClr val="22B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0" y="14356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57032" y="1801368"/>
            <a:ext cx="273405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which customers are most likely to respond to an offer.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297180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" y="2971800"/>
            <a:ext cx="3063240" cy="109728"/>
          </a:xfrm>
          <a:prstGeom prst="rect">
            <a:avLst/>
          </a:prstGeom>
          <a:solidFill>
            <a:srgbClr val="4CAF6C"/>
          </a:solidFill>
          <a:ln w="12700">
            <a:solidFill>
              <a:srgbClr val="4CAF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317296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planning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" y="3538728"/>
            <a:ext cx="273405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demand, staffing needs, stock levels, or delivery volume.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0" y="297180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89120" y="2971800"/>
            <a:ext cx="3063240" cy="109728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26280" y="317296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/ service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53712" y="3538728"/>
            <a:ext cx="273405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future need, triage risk, or likely outcomes.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92440" y="297180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57032" y="3081528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Important: prediction supports decision-making, but it does not replace human judgement, domain knowledge, or ethical review.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6" name="Picture 25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EE4642BE-239A-1C25-C607-C418F21D1D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modelling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 workflow is more useful than a complicated model.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1783080" cy="109728"/>
          </a:xfrm>
          <a:prstGeom prst="rect">
            <a:avLst/>
          </a:prstGeom>
          <a:solidFill>
            <a:srgbClr val="22B8B0"/>
          </a:solidFill>
          <a:ln w="12700">
            <a:solidFill>
              <a:srgbClr val="22B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80136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Define problem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58952" y="2167128"/>
            <a:ext cx="14538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we want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predict?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9736" y="2029968"/>
            <a:ext cx="256032" cy="256032"/>
          </a:xfrm>
          <a:prstGeom prst="chevron">
            <a:avLst/>
          </a:prstGeom>
          <a:solidFill>
            <a:srgbClr val="B8C4CE"/>
          </a:solidFill>
          <a:ln w="12700">
            <a:solidFill>
              <a:srgbClr val="B8C4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834640" y="160020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34640" y="1600200"/>
            <a:ext cx="1783080" cy="10972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71800" y="180136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Prepare data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99232" y="2167128"/>
            <a:ext cx="14538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transform, and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features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0016" y="2029968"/>
            <a:ext cx="256032" cy="256032"/>
          </a:xfrm>
          <a:prstGeom prst="chevron">
            <a:avLst/>
          </a:prstGeom>
          <a:solidFill>
            <a:srgbClr val="B8C4CE"/>
          </a:solidFill>
          <a:ln w="12700">
            <a:solidFill>
              <a:srgbClr val="B8C4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74920" y="160020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74920" y="1600200"/>
            <a:ext cx="1783080" cy="109728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2080" y="180136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Train model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239512" y="2167128"/>
            <a:ext cx="14538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model using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data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40296" y="2029968"/>
            <a:ext cx="256032" cy="256032"/>
          </a:xfrm>
          <a:prstGeom prst="chevron">
            <a:avLst/>
          </a:prstGeom>
          <a:solidFill>
            <a:srgbClr val="B8C4CE"/>
          </a:solidFill>
          <a:ln w="12700">
            <a:solidFill>
              <a:srgbClr val="B8C4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0" y="160020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15200" y="1600200"/>
            <a:ext cx="1783080" cy="109728"/>
          </a:xfrm>
          <a:prstGeom prst="rect">
            <a:avLst/>
          </a:prstGeom>
          <a:solidFill>
            <a:srgbClr val="4CAF6C"/>
          </a:solidFill>
          <a:ln w="12700">
            <a:solidFill>
              <a:srgbClr val="4CAF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52360" y="180136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Evaluate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479792" y="2167128"/>
            <a:ext cx="14538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performance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unseen data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180576" y="2029968"/>
            <a:ext cx="256032" cy="256032"/>
          </a:xfrm>
          <a:prstGeom prst="chevron">
            <a:avLst/>
          </a:prstGeom>
          <a:solidFill>
            <a:srgbClr val="B8C4CE"/>
          </a:solidFill>
          <a:ln w="12700">
            <a:solidFill>
              <a:srgbClr val="B8C4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555480" y="160020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555480" y="1600200"/>
            <a:ext cx="1783080" cy="109728"/>
          </a:xfrm>
          <a:prstGeom prst="rect">
            <a:avLst/>
          </a:prstGeom>
          <a:solidFill>
            <a:srgbClr val="D95A45"/>
          </a:solidFill>
          <a:ln w="12700">
            <a:solidFill>
              <a:srgbClr val="D95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92640" y="180136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Communicate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720072" y="2167128"/>
            <a:ext cx="14538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findings, limits,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decisions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11680" y="3977640"/>
            <a:ext cx="8138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176272" y="4087368"/>
            <a:ext cx="7808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workflow connects Module 5 data preparation, Module 6 modelling, Module 7 evaluation, and Module 8 prediction.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31" name="Picture 30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52C34667-0392-24A5-969E-2A55A34134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problems: numeric value or category?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325880"/>
            <a:ext cx="1920240" cy="594360"/>
          </a:xfrm>
          <a:prstGeom prst="rect">
            <a:avLst/>
          </a:prstGeom>
          <a:solidFill>
            <a:srgbClr val="10233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96112" y="1490472"/>
            <a:ext cx="17739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type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0" y="1325880"/>
            <a:ext cx="1920240" cy="594360"/>
          </a:xfrm>
          <a:prstGeom prst="rect">
            <a:avLst/>
          </a:prstGeom>
          <a:solidFill>
            <a:srgbClr val="10233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816352" y="1490472"/>
            <a:ext cx="17739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variable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3108960" cy="594360"/>
          </a:xfrm>
          <a:prstGeom prst="rect">
            <a:avLst/>
          </a:prstGeom>
          <a:solidFill>
            <a:srgbClr val="10233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36592" y="1490472"/>
            <a:ext cx="29626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0" y="1325880"/>
            <a:ext cx="2926080" cy="594360"/>
          </a:xfrm>
          <a:prstGeom prst="rect">
            <a:avLst/>
          </a:prstGeom>
          <a:solidFill>
            <a:srgbClr val="10233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45552" y="1490472"/>
            <a:ext cx="2779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model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1920240"/>
            <a:ext cx="192024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6112" y="2084832"/>
            <a:ext cx="17739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0" y="1920240"/>
            <a:ext cx="192024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16352" y="2084832"/>
            <a:ext cx="17739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/ continuous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920240"/>
            <a:ext cx="310896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36592" y="2084832"/>
            <a:ext cx="29626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house price or sales volume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0" y="1920240"/>
            <a:ext cx="292608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45552" y="2084832"/>
            <a:ext cx="2779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2514600"/>
            <a:ext cx="1920240" cy="594360"/>
          </a:xfrm>
          <a:prstGeom prst="rect">
            <a:avLst/>
          </a:prstGeom>
          <a:solidFill>
            <a:srgbClr val="EEF3F7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96112" y="2679192"/>
            <a:ext cx="17739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0" y="2514600"/>
            <a:ext cx="1920240" cy="594360"/>
          </a:xfrm>
          <a:prstGeom prst="rect">
            <a:avLst/>
          </a:prstGeom>
          <a:solidFill>
            <a:srgbClr val="EEF3F7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816352" y="2679192"/>
            <a:ext cx="17739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 / class label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2514600"/>
            <a:ext cx="3108960" cy="594360"/>
          </a:xfrm>
          <a:prstGeom prst="rect">
            <a:avLst/>
          </a:prstGeom>
          <a:solidFill>
            <a:srgbClr val="EEF3F7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36592" y="2679192"/>
            <a:ext cx="29626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churn: yes/no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0" y="2514600"/>
            <a:ext cx="2926080" cy="594360"/>
          </a:xfrm>
          <a:prstGeom prst="rect">
            <a:avLst/>
          </a:prstGeom>
          <a:solidFill>
            <a:srgbClr val="EEF3F7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45552" y="2679192"/>
            <a:ext cx="2779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regression, decision tree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" y="3108960"/>
            <a:ext cx="192024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96112" y="3273552"/>
            <a:ext cx="17739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prediction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0" y="3108960"/>
            <a:ext cx="192024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816352" y="3273552"/>
            <a:ext cx="17739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of a class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3108960"/>
            <a:ext cx="310896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36592" y="3273552"/>
            <a:ext cx="29626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of default or purchase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772400" y="3108960"/>
            <a:ext cx="292608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845552" y="3273552"/>
            <a:ext cx="2779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011680" y="4160520"/>
            <a:ext cx="8138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176272" y="4270248"/>
            <a:ext cx="7808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predicts values. Logistic regression predicts probabilities that can be converted into classes.</a:t>
            </a:r>
            <a:endParaRPr lang="en-US" sz="12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38" name="Picture 37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B959FA83-3047-0087-C905-BA29FB250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regression: core idea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a line that summarises the relationship between input feature(s) and a numeric outcome.</a:t>
            </a:r>
            <a:endParaRPr lang="en-US" sz="1200" dirty="0"/>
          </a:p>
        </p:txBody>
      </p:sp>
      <p:pic>
        <p:nvPicPr>
          <p:cNvPr id="4" name="Image 0" descr="/mnt/data/module8_assets/lin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457200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460629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02920" y="4606290"/>
            <a:ext cx="5120640" cy="109728"/>
          </a:xfrm>
          <a:prstGeom prst="rect">
            <a:avLst/>
          </a:prstGeom>
          <a:solidFill>
            <a:srgbClr val="22B8B0"/>
          </a:solidFill>
          <a:ln w="12700">
            <a:solidFill>
              <a:srgbClr val="22B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480745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7512" y="5173218"/>
            <a:ext cx="479145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best-fitting line that summarises the relationship between x and y, then use it to predict new numeric values.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68442" y="5173218"/>
            <a:ext cx="4206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705602" y="531952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form:  y = b₀ + b₁x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31282" y="592302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b₀ = intercept; b₁ = slope; x = independent variable; y = predicted outcome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2" name="Picture 11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9CB2DE56-5001-8FE5-27B5-208CFD0D87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6A7320A-BFD6-0AAB-1412-AE46C14B90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1033272"/>
            <a:ext cx="5443831" cy="40851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models can increase in complexity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flexibility can improve fit, but it can also increase overfitting risk.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3200400" cy="109728"/>
          </a:xfrm>
          <a:prstGeom prst="rect">
            <a:avLst/>
          </a:prstGeom>
          <a:solidFill>
            <a:srgbClr val="22B8B0"/>
          </a:solidFill>
          <a:ln w="12700">
            <a:solidFill>
              <a:srgbClr val="22B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4356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linear regression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1801368"/>
            <a:ext cx="287121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independent variable predicts one numeric outcome.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advertising spend → sales.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480560" y="123444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80560" y="1234440"/>
            <a:ext cx="3200400" cy="10972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7720" y="14356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linear regression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45152" y="1801368"/>
            <a:ext cx="287121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independent variables predict one numeric outcome.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income, age, location → spending.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8229600" y="123444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0" y="1234440"/>
            <a:ext cx="3200400" cy="109728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66760" y="14356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Polynomial regression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94192" y="1801368"/>
            <a:ext cx="287121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Curved relationships are represented by polynomial terms.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age and risk may be non-linear.</a:t>
            </a:r>
            <a:endParaRPr lang="en-US" sz="980" dirty="0"/>
          </a:p>
        </p:txBody>
      </p:sp>
      <p:sp>
        <p:nvSpPr>
          <p:cNvPr id="17" name="Text 14"/>
          <p:cNvSpPr/>
          <p:nvPr/>
        </p:nvSpPr>
        <p:spPr>
          <a:xfrm>
            <a:off x="1920240" y="645109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complex models may capture richer patterns, but can also overfit the training data.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8" name="Picture 17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9CF57FF9-BB64-2F68-B975-26A85E44C0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6AC1C3A-3197-EEFF-F467-5D97C0AF1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93" b="3255"/>
          <a:stretch>
            <a:fillRect/>
          </a:stretch>
        </p:blipFill>
        <p:spPr bwMode="auto">
          <a:xfrm>
            <a:off x="4359941" y="2529370"/>
            <a:ext cx="3398775" cy="335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2" descr="Linear and Polynomial Regression. Regression is a method of estimating a… |  by Hrishav kumar | Medium">
            <a:extLst>
              <a:ext uri="{FF2B5EF4-FFF2-40B4-BE49-F238E27FC236}">
                <a16:creationId xmlns:a16="http://schemas.microsoft.com/office/drawing/2014/main" id="{8A129811-D2AE-B5FE-4236-74BCC854CC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7" t="18664" b="1"/>
          <a:stretch/>
        </p:blipFill>
        <p:spPr bwMode="auto">
          <a:xfrm>
            <a:off x="241343" y="2851139"/>
            <a:ext cx="3931920" cy="1782085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A321A92-E60D-D5CD-836E-DED312457A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5395" y="2673122"/>
            <a:ext cx="4160108" cy="213811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10350EE-F17B-D193-19EC-BC6F483173E0}"/>
              </a:ext>
            </a:extLst>
          </p:cNvPr>
          <p:cNvSpPr txBox="1"/>
          <p:nvPr/>
        </p:nvSpPr>
        <p:spPr>
          <a:xfrm>
            <a:off x="8031892" y="4960727"/>
            <a:ext cx="41601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</a:rPr>
              <a:t>It helps capture Non-linear relation between dependent and independent variables</a:t>
            </a:r>
            <a:r>
              <a:rPr lang="en-US" altLang="zh-CN" dirty="0">
                <a:solidFill>
                  <a:schemeClr val="tx1"/>
                </a:solidFill>
              </a:rPr>
              <a:t>.</a:t>
            </a:r>
            <a:endParaRPr lang="en-AU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regression predictions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evaluation focuses on prediction error and residual patterns.</a:t>
            </a:r>
            <a:endParaRPr lang="en-US" sz="1200" dirty="0"/>
          </a:p>
        </p:txBody>
      </p:sp>
      <p:pic>
        <p:nvPicPr>
          <p:cNvPr id="4" name="Image 0" descr="/mnt/data/module8_assets/resid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34440"/>
            <a:ext cx="530352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28016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0" y="1280160"/>
            <a:ext cx="4480560" cy="109728"/>
          </a:xfrm>
          <a:prstGeom prst="rect">
            <a:avLst/>
          </a:prstGeom>
          <a:solidFill>
            <a:srgbClr val="22B8B0"/>
          </a:solidFill>
          <a:ln w="12700">
            <a:solidFill>
              <a:srgbClr val="22B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37960" y="14813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65392" y="1847088"/>
            <a:ext cx="415137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absolute error: average size of errors.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0" y="233172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00800" y="2331720"/>
            <a:ext cx="4480560" cy="109728"/>
          </a:xfrm>
          <a:prstGeom prst="rect">
            <a:avLst/>
          </a:prstGeom>
          <a:solidFill>
            <a:srgbClr val="3B82D6"/>
          </a:solidFill>
          <a:ln w="12700">
            <a:solidFill>
              <a:srgbClr val="3B8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37960" y="25328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65392" y="2898648"/>
            <a:ext cx="415137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mean squared error: penalises larger errors more strongly.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0" y="338328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400800" y="3383280"/>
            <a:ext cx="4480560" cy="10972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37960" y="358444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565392" y="3950208"/>
            <a:ext cx="415137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 of outcome variation explained by the model.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0" y="4663440"/>
            <a:ext cx="44805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65392" y="4773168"/>
            <a:ext cx="4151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plots help reveal whether the model is missing structure in the data.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19" name="Picture 18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60F540CA-03D5-A141-2D45-DF182F2CE7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regression: predicting a probability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is commonly used for binary outcomes such as yes/no, default/no default, or malignant/benign.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400800" y="132588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0" y="1325880"/>
            <a:ext cx="4480560" cy="10972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37960" y="152704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ordinary linear regression?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65392" y="1892808"/>
            <a:ext cx="41513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can predict values below 0 or above 1. Probabilities must stay between 0 and 1.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629400" y="288036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766560" y="30266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probability of class 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92240" y="3749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sigmoid function maps any linear score into this probability range.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12" name="Picture 11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838E70AF-F1A1-2582-BBAF-89FC23E734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11264D-594F-47EA-AF2C-26552EC84D00}"/>
                  </a:ext>
                </a:extLst>
              </p:cNvPr>
              <p:cNvSpPr txBox="1"/>
              <p:nvPr/>
            </p:nvSpPr>
            <p:spPr>
              <a:xfrm>
                <a:off x="4405184" y="4579358"/>
                <a:ext cx="61104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rgbClr val="374151"/>
                    </a:solidFill>
                    <a:latin typeface="Söhne"/>
                  </a:rPr>
                  <a:t>Where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GB" sz="1800" b="0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b="0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800" b="0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180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180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800" b="0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180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sz="180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800" b="0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sz="1800" b="0" i="0" dirty="0">
                  <a:solidFill>
                    <a:srgbClr val="374151"/>
                  </a:solidFill>
                  <a:effectLst/>
                  <a:latin typeface="Söhne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11264D-594F-47EA-AF2C-26552EC84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5184" y="4579358"/>
                <a:ext cx="6110416" cy="369332"/>
              </a:xfrm>
              <a:prstGeom prst="rect">
                <a:avLst/>
              </a:prstGeom>
              <a:blipFill>
                <a:blip r:embed="rId4"/>
                <a:stretch>
                  <a:fillRect t="-6667" r="-20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2" descr="ML-Logistic regression. Sigmoid function &amp; Hypothesis… | by Jaehoon Jang |  Medium">
            <a:extLst>
              <a:ext uri="{FF2B5EF4-FFF2-40B4-BE49-F238E27FC236}">
                <a16:creationId xmlns:a16="http://schemas.microsoft.com/office/drawing/2014/main" id="{1DC46201-DAAE-387D-1324-FE42E57F3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08" y="1325880"/>
            <a:ext cx="5715000" cy="380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probability to class label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probability becomes a decision only after applying a threshold.</a:t>
            </a:r>
            <a:endParaRPr lang="en-US" sz="1200" dirty="0"/>
          </a:p>
        </p:txBody>
      </p:sp>
      <p:pic>
        <p:nvPicPr>
          <p:cNvPr id="4" name="Image 0" descr="/mnt/data/module8_assets/thresh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43000"/>
            <a:ext cx="539496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46520" y="146304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46520" y="1463040"/>
            <a:ext cx="4480560" cy="109728"/>
          </a:xfrm>
          <a:prstGeom prst="rect">
            <a:avLst/>
          </a:prstGeom>
          <a:solidFill>
            <a:srgbClr val="22B8B0"/>
          </a:solidFill>
          <a:ln w="12700">
            <a:solidFill>
              <a:srgbClr val="22B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83680" y="166420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decision rule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11112" y="2029968"/>
            <a:ext cx="415137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 ≥ 0.5 → predict class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 &lt; 0.5 → predict class 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46520" y="3063240"/>
            <a:ext cx="44805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46520" y="3063240"/>
            <a:ext cx="4480560" cy="109728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83680" y="326440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Thresholds are adjustable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11112" y="3630168"/>
            <a:ext cx="415137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different threshold may be used when false positives and false negatives have different business or ethical costs.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6294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connects predictive modelling with Module 7 evaluation.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14" name="Picture 13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79E6AA98-A7A9-457E-B441-08DA9E09E7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vs logistic regression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model based on the type of target variable and decision context.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1325880"/>
            <a:ext cx="2011680" cy="685800"/>
          </a:xfrm>
          <a:prstGeom prst="rect">
            <a:avLst/>
          </a:prstGeom>
          <a:solidFill>
            <a:srgbClr val="10233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7552" y="15087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0" y="1325880"/>
            <a:ext cx="3977640" cy="685800"/>
          </a:xfrm>
          <a:prstGeom prst="rect">
            <a:avLst/>
          </a:prstGeom>
          <a:solidFill>
            <a:srgbClr val="10233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99232" y="1508760"/>
            <a:ext cx="3831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03720" y="1325880"/>
            <a:ext cx="3977640" cy="685800"/>
          </a:xfrm>
          <a:prstGeom prst="rect">
            <a:avLst/>
          </a:prstGeom>
          <a:solidFill>
            <a:srgbClr val="10233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76872" y="1508760"/>
            <a:ext cx="3831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201168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7552" y="21945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use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26080" y="2011680"/>
            <a:ext cx="397764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99232" y="2194560"/>
            <a:ext cx="3831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numeric values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03720" y="2011680"/>
            <a:ext cx="397764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76872" y="2194560"/>
            <a:ext cx="3831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binary-class probabilities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2697480"/>
            <a:ext cx="2011680" cy="685800"/>
          </a:xfrm>
          <a:prstGeom prst="rect">
            <a:avLst/>
          </a:prstGeom>
          <a:solidFill>
            <a:srgbClr val="EEF3F7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87552" y="28803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26080" y="2697480"/>
            <a:ext cx="3977640" cy="685800"/>
          </a:xfrm>
          <a:prstGeom prst="rect">
            <a:avLst/>
          </a:prstGeom>
          <a:solidFill>
            <a:srgbClr val="EEF3F7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99232" y="2880360"/>
            <a:ext cx="3831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value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03720" y="2697480"/>
            <a:ext cx="3977640" cy="685800"/>
          </a:xfrm>
          <a:prstGeom prst="rect">
            <a:avLst/>
          </a:prstGeom>
          <a:solidFill>
            <a:srgbClr val="EEF3F7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76872" y="2880360"/>
            <a:ext cx="3831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between 0 and 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4400" y="3383280"/>
            <a:ext cx="201168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87552" y="35661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target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926080" y="3383280"/>
            <a:ext cx="397764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999232" y="3566160"/>
            <a:ext cx="3831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 price, balance, sales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03720" y="3383280"/>
            <a:ext cx="397764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76872" y="3566160"/>
            <a:ext cx="3831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Yes/no, default/not default, malignant/benign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14400" y="4069080"/>
            <a:ext cx="2011680" cy="685800"/>
          </a:xfrm>
          <a:prstGeom prst="rect">
            <a:avLst/>
          </a:prstGeom>
          <a:solidFill>
            <a:srgbClr val="EEF3F7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87552" y="42519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evaluation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26080" y="4069080"/>
            <a:ext cx="3977640" cy="685800"/>
          </a:xfrm>
          <a:prstGeom prst="rect">
            <a:avLst/>
          </a:prstGeom>
          <a:solidFill>
            <a:srgbClr val="EEF3F7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999232" y="4251960"/>
            <a:ext cx="3831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MAE, RMSE, R², residuals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03720" y="4069080"/>
            <a:ext cx="3977640" cy="685800"/>
          </a:xfrm>
          <a:prstGeom prst="rect">
            <a:avLst/>
          </a:prstGeom>
          <a:solidFill>
            <a:srgbClr val="EEF3F7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976872" y="4251960"/>
            <a:ext cx="3831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Accuracy, precision, recall, F1, ROC-AUC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011680" y="5120640"/>
            <a:ext cx="8138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176272" y="5230368"/>
            <a:ext cx="7808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should match the problem: numeric prediction versus probability/class prediction.</a:t>
            </a:r>
            <a:endParaRPr lang="en-US" sz="12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37" name="Picture 36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4DA1A66C-C0B4-EB48-494D-7DC179CAA2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reliable predictive models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is only useful if it generalises beyond the historical data.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3383280" cy="109728"/>
          </a:xfrm>
          <a:prstGeom prst="rect">
            <a:avLst/>
          </a:prstGeom>
          <a:solidFill>
            <a:srgbClr val="22B8B0"/>
          </a:solidFill>
          <a:ln w="12700">
            <a:solidFill>
              <a:srgbClr val="22B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4356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target variable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" y="1801368"/>
            <a:ext cx="305409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exactly what you want to predict and when the prediction will be used.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2344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34840" y="1234440"/>
            <a:ext cx="3383280" cy="10972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14356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features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9432" y="1801368"/>
            <a:ext cx="305409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inputs that are available at prediction time and are meaningful for the problem.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83880" y="12344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83880" y="1234440"/>
            <a:ext cx="3383280" cy="109728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21040" y="14356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Train/test evaluation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48472" y="1801368"/>
            <a:ext cx="305409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future performance using data not used to train the model.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0632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" y="3063240"/>
            <a:ext cx="3383280" cy="109728"/>
          </a:xfrm>
          <a:prstGeom prst="rect">
            <a:avLst/>
          </a:prstGeom>
          <a:solidFill>
            <a:srgbClr val="D95A45"/>
          </a:solidFill>
          <a:ln w="12700">
            <a:solidFill>
              <a:srgbClr val="D95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2644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leakage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" y="3630168"/>
            <a:ext cx="305409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include variables that indirectly reveal the answer.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34840" y="30632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34840" y="3063240"/>
            <a:ext cx="3383280" cy="109728"/>
          </a:xfrm>
          <a:prstGeom prst="rect">
            <a:avLst/>
          </a:prstGeom>
          <a:solidFill>
            <a:srgbClr val="3B82D6"/>
          </a:solidFill>
          <a:ln w="12700">
            <a:solidFill>
              <a:srgbClr val="3B8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0" y="32644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99432" y="3630168"/>
            <a:ext cx="305409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the model output means and how it supports the decision.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83880" y="30632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183880" y="3063240"/>
            <a:ext cx="3383280" cy="109728"/>
          </a:xfrm>
          <a:prstGeom prst="rect">
            <a:avLst/>
          </a:prstGeom>
          <a:solidFill>
            <a:srgbClr val="4CAF6C"/>
          </a:solidFill>
          <a:ln w="12700">
            <a:solidFill>
              <a:srgbClr val="4CAF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321040" y="32644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and context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48472" y="3630168"/>
            <a:ext cx="305409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fairness, privacy, and whether the prediction should be acted upon.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29" name="Picture 28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2570C964-9BC1-59DA-92ED-678ABF4D1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Benefits, challenges, and limitations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383280" cy="109728"/>
          </a:xfrm>
          <a:prstGeom prst="rect">
            <a:avLst/>
          </a:prstGeom>
          <a:solidFill>
            <a:srgbClr val="22B8B0"/>
          </a:solidFill>
          <a:ln w="12700">
            <a:solidFill>
              <a:srgbClr val="22B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5270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6112" y="1892808"/>
            <a:ext cx="3054096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Forecast likely outcomes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Prioritise resources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Support faster decisions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Personalise services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32588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89120" y="1325880"/>
            <a:ext cx="3383280" cy="10972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26280" y="15270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53712" y="1892808"/>
            <a:ext cx="3054096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Dirty data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Biased samples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Changing environments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 leakage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32588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046720" y="1325880"/>
            <a:ext cx="3383280" cy="109728"/>
          </a:xfrm>
          <a:prstGeom prst="rect">
            <a:avLst/>
          </a:prstGeom>
          <a:solidFill>
            <a:srgbClr val="D95A45"/>
          </a:solidFill>
          <a:ln w="12700">
            <a:solidFill>
              <a:srgbClr val="D95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83880" y="15270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11312" y="1892808"/>
            <a:ext cx="3054096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Correlation is not causation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Predictions can be uncertain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Models require monitoring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Ethical risks remain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160520"/>
            <a:ext cx="102412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40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modelling is useful only when the problem is well-defined and the data are relevant.</a:t>
            </a:r>
            <a:endParaRPr lang="en-US" sz="1400" dirty="0"/>
          </a:p>
          <a:p>
            <a:r>
              <a:rPr lang="en-US" sz="140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report should explain not only what was predicted, but how reliable and appropriate the model 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16" name="Picture 15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5D27E3C9-2D99-F804-EC33-5EA666C420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2: final review checklist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640080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50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you explored and cleaned the dataset before modelling?</a:t>
            </a:r>
            <a:endParaRPr lang="en-US" sz="1500" dirty="0"/>
          </a:p>
          <a:p>
            <a:r>
              <a:rPr lang="en-US" sz="150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you selected variables that make sense for the problem?</a:t>
            </a:r>
            <a:endParaRPr lang="en-US" sz="1500" dirty="0"/>
          </a:p>
          <a:p>
            <a:r>
              <a:rPr lang="en-US" sz="150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you trained the required model clearly and reproducibly?</a:t>
            </a:r>
            <a:endParaRPr lang="en-US" sz="1500" dirty="0"/>
          </a:p>
          <a:p>
            <a:r>
              <a:rPr lang="en-US" sz="150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you evaluated the model with appropriate metrics?</a:t>
            </a:r>
            <a:endParaRPr lang="en-US" sz="1500" dirty="0"/>
          </a:p>
          <a:p>
            <a:r>
              <a:rPr lang="en-US" sz="150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you interpreted the results in plain language for the target audience?</a:t>
            </a:r>
            <a:endParaRPr lang="en-US" sz="1500" dirty="0"/>
          </a:p>
          <a:p>
            <a:r>
              <a:rPr lang="en-US" sz="150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you checked formatting, references, screenshots/outputs, and submission requirements?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43800" y="1188720"/>
            <a:ext cx="3383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43800" y="1188720"/>
            <a:ext cx="3383280" cy="109728"/>
          </a:xfrm>
          <a:prstGeom prst="rect">
            <a:avLst/>
          </a:prstGeom>
          <a:solidFill>
            <a:srgbClr val="22B8B0"/>
          </a:solidFill>
          <a:ln w="12700">
            <a:solidFill>
              <a:srgbClr val="22B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80960" y="13898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08392" y="1755648"/>
            <a:ext cx="3054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submit Assessment 2.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43800" y="2514600"/>
            <a:ext cx="3383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543800" y="2514600"/>
            <a:ext cx="3383280" cy="10972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80960" y="27157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focus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08392" y="3081528"/>
            <a:ext cx="3054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decisions, not only code outputs. Markers need to see your reasoning.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43800" y="3840480"/>
            <a:ext cx="3383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543800" y="3840480"/>
            <a:ext cx="3383280" cy="109728"/>
          </a:xfrm>
          <a:prstGeom prst="rect">
            <a:avLst/>
          </a:prstGeom>
          <a:solidFill>
            <a:srgbClr val="D95A45"/>
          </a:solidFill>
          <a:ln w="12700">
            <a:solidFill>
              <a:srgbClr val="D95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80960" y="40416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08392" y="4407408"/>
            <a:ext cx="3054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rubric as a checklist before submission.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pic>
        <p:nvPicPr>
          <p:cNvPr id="16" name="Picture 15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633CA104-4200-C34E-6F4A-78A76F330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learning resources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14984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40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MicroStrategy: predictive modelling overview — definition, applications, benefits, challenges, and limitations.</a:t>
            </a:r>
            <a:endParaRPr lang="en-US" sz="1400" dirty="0"/>
          </a:p>
          <a:p>
            <a:r>
              <a:rPr lang="en-US" sz="140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Learning: essential elements of predictive analytics and data mining.</a:t>
            </a:r>
            <a:endParaRPr lang="en-US" sz="1400" dirty="0"/>
          </a:p>
          <a:p>
            <a:r>
              <a:rPr lang="en-US" sz="140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(2019), Chapter 6: linear regression with Python examples.</a:t>
            </a:r>
            <a:endParaRPr lang="en-US" sz="1400" dirty="0"/>
          </a:p>
          <a:p>
            <a:r>
              <a:rPr lang="en-US" sz="140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(2019), Chapter 7: logistic regression and the sigmoid function.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43000" y="4434840"/>
            <a:ext cx="9875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07592" y="4544568"/>
            <a:ext cx="9546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strategy: focus on what each model predicts, what assumptions it makes, how outputs are interpreted, and how the model should be evaluated.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6" name="Picture 5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02664627-8CCE-83E6-055B-3DE0C4E47A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28768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A1057F29386142A5B9755C5531A820" ma:contentTypeVersion="7" ma:contentTypeDescription="Create a new document." ma:contentTypeScope="" ma:versionID="4fba0a4a6bc0f311a775a35ccccf5e6d">
  <xsd:schema xmlns:xsd="http://www.w3.org/2001/XMLSchema" xmlns:xs="http://www.w3.org/2001/XMLSchema" xmlns:p="http://schemas.microsoft.com/office/2006/metadata/properties" xmlns:ns2="cc5d4512-e7db-40f5-9b40-1e14bbbc82d5" targetNamespace="http://schemas.microsoft.com/office/2006/metadata/properties" ma:root="true" ma:fieldsID="b67d525fc411f0dd1bf3f93df30eccba" ns2:_="">
    <xsd:import namespace="cc5d4512-e7db-40f5-9b40-1e14bbbc82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5d4512-e7db-40f5-9b40-1e14bbbc82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9CA89D4-C714-46CF-AFF6-02CF846A491D}"/>
</file>

<file path=customXml/itemProps2.xml><?xml version="1.0" encoding="utf-8"?>
<ds:datastoreItem xmlns:ds="http://schemas.openxmlformats.org/officeDocument/2006/customXml" ds:itemID="{959ACB0E-8310-4B61-822B-7FBF3F38F3A3}"/>
</file>

<file path=customXml/itemProps3.xml><?xml version="1.0" encoding="utf-8"?>
<ds:datastoreItem xmlns:ds="http://schemas.openxmlformats.org/officeDocument/2006/customXml" ds:itemID="{8065AA5C-7FD0-4335-AA00-F79810BBD37D}"/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1386</Words>
  <Application>Microsoft Macintosh PowerPoint</Application>
  <PresentationFormat>Widescreen</PresentationFormat>
  <Paragraphs>225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Söhne</vt:lpstr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Zhan</dc:creator>
  <cp:lastModifiedBy>Chen Zhan</cp:lastModifiedBy>
  <cp:revision>1</cp:revision>
  <dcterms:created xsi:type="dcterms:W3CDTF">2026-07-19T06:39:57Z</dcterms:created>
  <dcterms:modified xsi:type="dcterms:W3CDTF">2026-07-19T08:08:53Z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0x01010086A1057F29386142A5B9755C5531A820</vt:lpwstr>
  </property>
</Properties>
</file>