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7"/>
  </p:notesMasterIdLst>
  <p:handoutMasterIdLst>
    <p:handoutMasterId r:id="rId38"/>
  </p:handoutMasterIdLst>
  <p:sldIdLst>
    <p:sldId id="515" r:id="rId2"/>
    <p:sldId id="629" r:id="rId3"/>
    <p:sldId id="631" r:id="rId4"/>
    <p:sldId id="632" r:id="rId5"/>
    <p:sldId id="633" r:id="rId6"/>
    <p:sldId id="634" r:id="rId7"/>
    <p:sldId id="635" r:id="rId8"/>
    <p:sldId id="640" r:id="rId9"/>
    <p:sldId id="641" r:id="rId10"/>
    <p:sldId id="642" r:id="rId11"/>
    <p:sldId id="516" r:id="rId12"/>
    <p:sldId id="545" r:id="rId13"/>
    <p:sldId id="689" r:id="rId14"/>
    <p:sldId id="518" r:id="rId15"/>
    <p:sldId id="519" r:id="rId16"/>
    <p:sldId id="520" r:id="rId17"/>
    <p:sldId id="521" r:id="rId18"/>
    <p:sldId id="522" r:id="rId19"/>
    <p:sldId id="556" r:id="rId20"/>
    <p:sldId id="654" r:id="rId21"/>
    <p:sldId id="658" r:id="rId22"/>
    <p:sldId id="561" r:id="rId23"/>
    <p:sldId id="264" r:id="rId24"/>
    <p:sldId id="265" r:id="rId25"/>
    <p:sldId id="266" r:id="rId26"/>
    <p:sldId id="267" r:id="rId27"/>
    <p:sldId id="268" r:id="rId28"/>
    <p:sldId id="270" r:id="rId29"/>
    <p:sldId id="271" r:id="rId30"/>
    <p:sldId id="272" r:id="rId31"/>
    <p:sldId id="273" r:id="rId32"/>
    <p:sldId id="558" r:id="rId33"/>
    <p:sldId id="661" r:id="rId34"/>
    <p:sldId id="662" r:id="rId35"/>
    <p:sldId id="675" r:id="rId36"/>
  </p:sldIdLst>
  <p:sldSz cx="9144000" cy="6858000" type="screen4x3"/>
  <p:notesSz cx="7010400" cy="92964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charset="0"/>
        <a:ea typeface="+mn-ea"/>
        <a:cs typeface="+mn-cs"/>
      </a:defRPr>
    </a:lvl1pPr>
    <a:lvl2pPr marL="457200" algn="l" rtl="0" eaLnBrk="0" fontAlgn="base" hangingPunct="0">
      <a:spcBef>
        <a:spcPct val="0"/>
      </a:spcBef>
      <a:spcAft>
        <a:spcPct val="0"/>
      </a:spcAft>
      <a:defRPr sz="1400" b="1" kern="1200">
        <a:solidFill>
          <a:schemeClr val="tx1"/>
        </a:solidFill>
        <a:latin typeface="Arial" charset="0"/>
        <a:ea typeface="+mn-ea"/>
        <a:cs typeface="+mn-cs"/>
      </a:defRPr>
    </a:lvl2pPr>
    <a:lvl3pPr marL="914400" algn="l" rtl="0" eaLnBrk="0" fontAlgn="base" hangingPunct="0">
      <a:spcBef>
        <a:spcPct val="0"/>
      </a:spcBef>
      <a:spcAft>
        <a:spcPct val="0"/>
      </a:spcAft>
      <a:defRPr sz="1400" b="1" kern="1200">
        <a:solidFill>
          <a:schemeClr val="tx1"/>
        </a:solidFill>
        <a:latin typeface="Arial" charset="0"/>
        <a:ea typeface="+mn-ea"/>
        <a:cs typeface="+mn-cs"/>
      </a:defRPr>
    </a:lvl3pPr>
    <a:lvl4pPr marL="1371600" algn="l" rtl="0" eaLnBrk="0" fontAlgn="base" hangingPunct="0">
      <a:spcBef>
        <a:spcPct val="0"/>
      </a:spcBef>
      <a:spcAft>
        <a:spcPct val="0"/>
      </a:spcAft>
      <a:defRPr sz="1400" b="1" kern="1200">
        <a:solidFill>
          <a:schemeClr val="tx1"/>
        </a:solidFill>
        <a:latin typeface="Arial" charset="0"/>
        <a:ea typeface="+mn-ea"/>
        <a:cs typeface="+mn-cs"/>
      </a:defRPr>
    </a:lvl4pPr>
    <a:lvl5pPr marL="1828800" algn="l" rtl="0" eaLnBrk="0" fontAlgn="base" hangingPunct="0">
      <a:spcBef>
        <a:spcPct val="0"/>
      </a:spcBef>
      <a:spcAft>
        <a:spcPct val="0"/>
      </a:spcAft>
      <a:defRPr sz="1400" b="1" kern="1200">
        <a:solidFill>
          <a:schemeClr val="tx1"/>
        </a:solidFill>
        <a:latin typeface="Arial" charset="0"/>
        <a:ea typeface="+mn-ea"/>
        <a:cs typeface="+mn-cs"/>
      </a:defRPr>
    </a:lvl5pPr>
    <a:lvl6pPr marL="2286000" algn="l" defTabSz="914400" rtl="0" eaLnBrk="1" latinLnBrk="0" hangingPunct="1">
      <a:defRPr sz="1400" b="1" kern="1200">
        <a:solidFill>
          <a:schemeClr val="tx1"/>
        </a:solidFill>
        <a:latin typeface="Arial" charset="0"/>
        <a:ea typeface="+mn-ea"/>
        <a:cs typeface="+mn-cs"/>
      </a:defRPr>
    </a:lvl6pPr>
    <a:lvl7pPr marL="2743200" algn="l" defTabSz="914400" rtl="0" eaLnBrk="1" latinLnBrk="0" hangingPunct="1">
      <a:defRPr sz="1400" b="1" kern="1200">
        <a:solidFill>
          <a:schemeClr val="tx1"/>
        </a:solidFill>
        <a:latin typeface="Arial" charset="0"/>
        <a:ea typeface="+mn-ea"/>
        <a:cs typeface="+mn-cs"/>
      </a:defRPr>
    </a:lvl7pPr>
    <a:lvl8pPr marL="3200400" algn="l" defTabSz="914400" rtl="0" eaLnBrk="1" latinLnBrk="0" hangingPunct="1">
      <a:defRPr sz="1400" b="1" kern="1200">
        <a:solidFill>
          <a:schemeClr val="tx1"/>
        </a:solidFill>
        <a:latin typeface="Arial" charset="0"/>
        <a:ea typeface="+mn-ea"/>
        <a:cs typeface="+mn-cs"/>
      </a:defRPr>
    </a:lvl8pPr>
    <a:lvl9pPr marL="3657600" algn="l" defTabSz="914400" rtl="0" eaLnBrk="1" latinLnBrk="0" hangingPunct="1">
      <a:defRPr sz="1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2929"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2A8487"/>
    <a:srgbClr val="1C5A61"/>
    <a:srgbClr val="0C6D9C"/>
    <a:srgbClr val="FF0000"/>
    <a:srgbClr val="CC3300"/>
    <a:srgbClr val="F5F5F5"/>
    <a:srgbClr val="F4F4F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E0014-608B-4CC6-9E2A-287127AC43F9}" v="14" dt="2025-07-28T03:50:45.0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752" autoAdjust="0"/>
  </p:normalViewPr>
  <p:slideViewPr>
    <p:cSldViewPr>
      <p:cViewPr varScale="1">
        <p:scale>
          <a:sx n="101" d="100"/>
          <a:sy n="101" d="100"/>
        </p:scale>
        <p:origin x="784" y="104"/>
      </p:cViewPr>
      <p:guideLst>
        <p:guide orient="horz" pos="2160"/>
        <p:guide pos="2736"/>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Lst>
  </p:outlineViewPr>
  <p:notesTextViewPr>
    <p:cViewPr>
      <p:scale>
        <a:sx n="3" d="2"/>
        <a:sy n="3" d="2"/>
      </p:scale>
      <p:origin x="0" y="0"/>
    </p:cViewPr>
  </p:notesTextViewPr>
  <p:sorterViewPr>
    <p:cViewPr>
      <p:scale>
        <a:sx n="75" d="100"/>
        <a:sy n="75" d="100"/>
      </p:scale>
      <p:origin x="0" y="-8932"/>
    </p:cViewPr>
  </p:sorterViewPr>
  <p:notesViewPr>
    <p:cSldViewPr>
      <p:cViewPr varScale="1">
        <p:scale>
          <a:sx n="83" d="100"/>
          <a:sy n="83" d="100"/>
        </p:scale>
        <p:origin x="-840" y="-66"/>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_rels/viewProps.xml.rels><?xml version="1.0" encoding="UTF-8" standalone="yes"?>
<Relationships xmlns="http://schemas.openxmlformats.org/package/2006/relationships"><Relationship Id="rId8" Type="http://schemas.openxmlformats.org/officeDocument/2006/relationships/slide" Target="slides/slide9.xml"/><Relationship Id="rId13" Type="http://schemas.openxmlformats.org/officeDocument/2006/relationships/slide" Target="slides/slide16.xml"/><Relationship Id="rId18" Type="http://schemas.openxmlformats.org/officeDocument/2006/relationships/slide" Target="slides/slide21.xml"/><Relationship Id="rId3" Type="http://schemas.openxmlformats.org/officeDocument/2006/relationships/slide" Target="slides/slide4.xml"/><Relationship Id="rId21" Type="http://schemas.openxmlformats.org/officeDocument/2006/relationships/slide" Target="slides/slide33.xml"/><Relationship Id="rId7" Type="http://schemas.openxmlformats.org/officeDocument/2006/relationships/slide" Target="slides/slide8.xml"/><Relationship Id="rId12" Type="http://schemas.openxmlformats.org/officeDocument/2006/relationships/slide" Target="slides/slide15.xml"/><Relationship Id="rId17" Type="http://schemas.openxmlformats.org/officeDocument/2006/relationships/slide" Target="slides/slide20.xml"/><Relationship Id="rId2" Type="http://schemas.openxmlformats.org/officeDocument/2006/relationships/slide" Target="slides/slide3.xml"/><Relationship Id="rId16" Type="http://schemas.openxmlformats.org/officeDocument/2006/relationships/slide" Target="slides/slide19.xml"/><Relationship Id="rId20" Type="http://schemas.openxmlformats.org/officeDocument/2006/relationships/slide" Target="slides/slide32.xml"/><Relationship Id="rId1" Type="http://schemas.openxmlformats.org/officeDocument/2006/relationships/slide" Target="slides/slide2.xml"/><Relationship Id="rId6" Type="http://schemas.openxmlformats.org/officeDocument/2006/relationships/slide" Target="slides/slide7.xml"/><Relationship Id="rId11" Type="http://schemas.openxmlformats.org/officeDocument/2006/relationships/slide" Target="slides/slide14.xml"/><Relationship Id="rId5" Type="http://schemas.openxmlformats.org/officeDocument/2006/relationships/slide" Target="slides/slide6.xml"/><Relationship Id="rId15" Type="http://schemas.openxmlformats.org/officeDocument/2006/relationships/slide" Target="slides/slide18.xml"/><Relationship Id="rId23" Type="http://schemas.openxmlformats.org/officeDocument/2006/relationships/slide" Target="slides/slide35.xml"/><Relationship Id="rId10" Type="http://schemas.openxmlformats.org/officeDocument/2006/relationships/slide" Target="slides/slide11.xml"/><Relationship Id="rId19" Type="http://schemas.openxmlformats.org/officeDocument/2006/relationships/slide" Target="slides/slide22.xml"/><Relationship Id="rId4" Type="http://schemas.openxmlformats.org/officeDocument/2006/relationships/slide" Target="slides/slide5.xml"/><Relationship Id="rId9" Type="http://schemas.openxmlformats.org/officeDocument/2006/relationships/slide" Target="slides/slide10.xml"/><Relationship Id="rId14" Type="http://schemas.openxmlformats.org/officeDocument/2006/relationships/slide" Target="slides/slide17.xml"/><Relationship Id="rId22"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mran Shaukat" userId="d06ff43d-ead4-47dc-bc86-90f9c2dacd3a" providerId="ADAL" clId="{8CCE0014-608B-4CC6-9E2A-287127AC43F9}"/>
    <pc:docChg chg="modSld">
      <pc:chgData name="Kamran Shaukat" userId="d06ff43d-ead4-47dc-bc86-90f9c2dacd3a" providerId="ADAL" clId="{8CCE0014-608B-4CC6-9E2A-287127AC43F9}" dt="2025-07-28T03:50:45.096" v="13" actId="1076"/>
      <pc:docMkLst>
        <pc:docMk/>
      </pc:docMkLst>
      <pc:sldChg chg="addSp modSp">
        <pc:chgData name="Kamran Shaukat" userId="d06ff43d-ead4-47dc-bc86-90f9c2dacd3a" providerId="ADAL" clId="{8CCE0014-608B-4CC6-9E2A-287127AC43F9}" dt="2025-07-28T03:23:06.023" v="4" actId="1076"/>
        <pc:sldMkLst>
          <pc:docMk/>
          <pc:sldMk cId="0" sldId="270"/>
        </pc:sldMkLst>
        <pc:picChg chg="add mod">
          <ac:chgData name="Kamran Shaukat" userId="d06ff43d-ead4-47dc-bc86-90f9c2dacd3a" providerId="ADAL" clId="{8CCE0014-608B-4CC6-9E2A-287127AC43F9}" dt="2025-07-28T03:23:06.023" v="4" actId="1076"/>
          <ac:picMkLst>
            <pc:docMk/>
            <pc:sldMk cId="0" sldId="270"/>
            <ac:picMk id="2" creationId="{4BA74C58-382F-ABDB-5D1B-C5E6BC2F8E94}"/>
          </ac:picMkLst>
        </pc:picChg>
      </pc:sldChg>
      <pc:sldChg chg="addSp modSp">
        <pc:chgData name="Kamran Shaukat" userId="d06ff43d-ead4-47dc-bc86-90f9c2dacd3a" providerId="ADAL" clId="{8CCE0014-608B-4CC6-9E2A-287127AC43F9}" dt="2025-07-28T03:50:34.006" v="9" actId="1076"/>
        <pc:sldMkLst>
          <pc:docMk/>
          <pc:sldMk cId="0" sldId="271"/>
        </pc:sldMkLst>
        <pc:picChg chg="add mod">
          <ac:chgData name="Kamran Shaukat" userId="d06ff43d-ead4-47dc-bc86-90f9c2dacd3a" providerId="ADAL" clId="{8CCE0014-608B-4CC6-9E2A-287127AC43F9}" dt="2025-07-28T03:50:34.006" v="9" actId="1076"/>
          <ac:picMkLst>
            <pc:docMk/>
            <pc:sldMk cId="0" sldId="271"/>
            <ac:picMk id="2" creationId="{91072C2E-4624-54F8-5D21-E5581B0761A6}"/>
          </ac:picMkLst>
        </pc:picChg>
        <pc:picChg chg="add mod">
          <ac:chgData name="Kamran Shaukat" userId="d06ff43d-ead4-47dc-bc86-90f9c2dacd3a" providerId="ADAL" clId="{8CCE0014-608B-4CC6-9E2A-287127AC43F9}" dt="2025-07-28T03:44:06.342" v="8" actId="14100"/>
          <ac:picMkLst>
            <pc:docMk/>
            <pc:sldMk cId="0" sldId="271"/>
            <ac:picMk id="3" creationId="{C800DD9B-E24F-A633-2557-47D3DE1FF3AF}"/>
          </ac:picMkLst>
        </pc:picChg>
        <pc:picChg chg="add mod">
          <ac:chgData name="Kamran Shaukat" userId="d06ff43d-ead4-47dc-bc86-90f9c2dacd3a" providerId="ADAL" clId="{8CCE0014-608B-4CC6-9E2A-287127AC43F9}" dt="2025-07-28T03:44:06.342" v="8" actId="14100"/>
          <ac:picMkLst>
            <pc:docMk/>
            <pc:sldMk cId="0" sldId="271"/>
            <ac:picMk id="4" creationId="{8084175F-E557-1F28-6C3F-8DA6B0ACFBD2}"/>
          </ac:picMkLst>
        </pc:picChg>
        <pc:picChg chg="add mod">
          <ac:chgData name="Kamran Shaukat" userId="d06ff43d-ead4-47dc-bc86-90f9c2dacd3a" providerId="ADAL" clId="{8CCE0014-608B-4CC6-9E2A-287127AC43F9}" dt="2025-07-28T03:44:06.342" v="8" actId="14100"/>
          <ac:picMkLst>
            <pc:docMk/>
            <pc:sldMk cId="0" sldId="271"/>
            <ac:picMk id="5" creationId="{7AA00B94-07F9-3A6E-3A4F-0A6280A539D0}"/>
          </ac:picMkLst>
        </pc:picChg>
      </pc:sldChg>
      <pc:sldChg chg="addSp modSp">
        <pc:chgData name="Kamran Shaukat" userId="d06ff43d-ead4-47dc-bc86-90f9c2dacd3a" providerId="ADAL" clId="{8CCE0014-608B-4CC6-9E2A-287127AC43F9}" dt="2025-07-28T03:50:45.096" v="13" actId="1076"/>
        <pc:sldMkLst>
          <pc:docMk/>
          <pc:sldMk cId="0" sldId="273"/>
        </pc:sldMkLst>
        <pc:picChg chg="add mod">
          <ac:chgData name="Kamran Shaukat" userId="d06ff43d-ead4-47dc-bc86-90f9c2dacd3a" providerId="ADAL" clId="{8CCE0014-608B-4CC6-9E2A-287127AC43F9}" dt="2025-07-28T03:50:45.096" v="13" actId="1076"/>
          <ac:picMkLst>
            <pc:docMk/>
            <pc:sldMk cId="0" sldId="273"/>
            <ac:picMk id="2" creationId="{7D4A2859-34F2-DF5E-557C-AF34ABEB80B7}"/>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25406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2474" y="4416111"/>
            <a:ext cx="5143848" cy="4180819"/>
          </a:xfrm>
          <a:prstGeom prst="rect">
            <a:avLst/>
          </a:prstGeom>
          <a:noFill/>
          <a:ln w="12700">
            <a:noFill/>
            <a:miter lim="800000"/>
            <a:headEnd/>
            <a:tailEnd/>
          </a:ln>
          <a:effectLst/>
        </p:spPr>
        <p:txBody>
          <a:bodyPr vert="horz" wrap="square" lIns="96805" tIns="48406" rIns="96805" bIns="48406"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1619" name="Rectangle 3"/>
          <p:cNvSpPr>
            <a:spLocks noGrp="1" noRot="1" noChangeAspect="1" noChangeArrowheads="1" noTextEdit="1"/>
          </p:cNvSpPr>
          <p:nvPr>
            <p:ph type="sldImg" idx="2"/>
          </p:nvPr>
        </p:nvSpPr>
        <p:spPr bwMode="auto">
          <a:xfrm>
            <a:off x="1193800" y="706438"/>
            <a:ext cx="4625975" cy="34702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3327074573"/>
      </p:ext>
    </p:extLst>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Rot="1" noChangeAspect="1" noChangeArrowheads="1" noTextEdit="1"/>
          </p:cNvSpPr>
          <p:nvPr>
            <p:ph type="sldImg"/>
          </p:nvPr>
        </p:nvSpPr>
        <p:spPr>
          <a:xfrm>
            <a:off x="1185863" y="700088"/>
            <a:ext cx="4643437" cy="3482975"/>
          </a:xfrm>
          <a:solidFill>
            <a:srgbClr val="FFFFFF"/>
          </a:solidFill>
          <a:ln/>
        </p:spPr>
      </p:sp>
      <p:sp>
        <p:nvSpPr>
          <p:cNvPr id="112643" name="Rectangle 3"/>
          <p:cNvSpPr>
            <a:spLocks noGrp="1" noChangeArrowheads="1"/>
          </p:cNvSpPr>
          <p:nvPr>
            <p:ph type="body" idx="1"/>
          </p:nvPr>
        </p:nvSpPr>
        <p:spPr>
          <a:xfrm>
            <a:off x="934078" y="4416111"/>
            <a:ext cx="5142244" cy="4180819"/>
          </a:xfrm>
          <a:solidFill>
            <a:srgbClr val="FFFFFF"/>
          </a:solidFill>
          <a:ln>
            <a:solidFill>
              <a:srgbClr val="000000"/>
            </a:solidFill>
          </a:ln>
        </p:spPr>
        <p:txBody>
          <a:bodyPr lIns="91572" tIns="45782" rIns="91572" bIns="45782"/>
          <a:lstStyle/>
          <a:p>
            <a:endParaRPr lang="en-US" altLang="en-US" dirty="0"/>
          </a:p>
        </p:txBody>
      </p:sp>
    </p:spTree>
    <p:extLst>
      <p:ext uri="{BB962C8B-B14F-4D97-AF65-F5344CB8AC3E}">
        <p14:creationId xmlns:p14="http://schemas.microsoft.com/office/powerpoint/2010/main" val="398802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3028407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8337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895309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109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1128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71080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8028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46874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75692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7818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52028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7931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1486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 Third Level</a:t>
            </a:r>
          </a:p>
        </p:txBody>
      </p:sp>
      <p:grpSp>
        <p:nvGrpSpPr>
          <p:cNvPr id="1028" name="Group 16"/>
          <p:cNvGrpSpPr>
            <a:grpSpLocks/>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sp>
        <p:nvSpPr>
          <p:cNvPr id="9" name="Rectangle 8"/>
          <p:cNvSpPr/>
          <p:nvPr userDrawn="1"/>
        </p:nvSpPr>
        <p:spPr>
          <a:xfrm>
            <a:off x="8454919" y="6400800"/>
            <a:ext cx="402674" cy="307777"/>
          </a:xfrm>
          <a:prstGeom prst="rect">
            <a:avLst/>
          </a:prstGeom>
        </p:spPr>
        <p:txBody>
          <a:bodyPr wrap="none">
            <a:spAutoFit/>
          </a:bodyPr>
          <a:lstStyle/>
          <a:p>
            <a:pPr>
              <a:spcBef>
                <a:spcPct val="50000"/>
              </a:spcBef>
              <a:defRPr/>
            </a:pPr>
            <a:fld id="{20C2B3EF-A58E-4072-B0B8-DA68EAC103CC}" type="slidenum">
              <a:rPr lang="en-US" smtClean="0"/>
              <a:pPr>
                <a:spcBef>
                  <a:spcPct val="50000"/>
                </a:spcBef>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charset="0"/>
        <a:buChar char="–"/>
        <a:defRPr sz="24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itchFamily="2" charset="2"/>
        <a:buChar char="u"/>
        <a:defRPr sz="20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e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6.emf"/><Relationship Id="rId7" Type="http://schemas.openxmlformats.org/officeDocument/2006/relationships/image" Target="../media/image8.e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7.emf"/><Relationship Id="rId4" Type="http://schemas.openxmlformats.org/officeDocument/2006/relationships/oleObject" Target="../embeddings/oleObject5.bin"/><Relationship Id="rId9" Type="http://schemas.openxmlformats.org/officeDocument/2006/relationships/image" Target="../media/image9.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1.wmf"/><Relationship Id="rId7" Type="http://schemas.openxmlformats.org/officeDocument/2006/relationships/image" Target="../media/image13.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12.wmf"/><Relationship Id="rId4" Type="http://schemas.openxmlformats.org/officeDocument/2006/relationships/oleObject" Target="../embeddings/oleObject10.bin"/><Relationship Id="rId9" Type="http://schemas.openxmlformats.org/officeDocument/2006/relationships/image" Target="../media/image14.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wmf"/><Relationship Id="rId7" Type="http://schemas.openxmlformats.org/officeDocument/2006/relationships/image" Target="../media/image21.wmf"/><Relationship Id="rId2" Type="http://schemas.openxmlformats.org/officeDocument/2006/relationships/image" Target="../media/image16.wmf"/><Relationship Id="rId1" Type="http://schemas.openxmlformats.org/officeDocument/2006/relationships/slideLayout" Target="../slideLayouts/slideLayout2.xml"/><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s>
</file>

<file path=ppt/slides/_rels/slide21.xml.rels><?xml version="1.0" encoding="UTF-8" standalone="yes"?>
<Relationships xmlns="http://schemas.openxmlformats.org/package/2006/relationships"><Relationship Id="rId3" Type="http://schemas.openxmlformats.org/officeDocument/2006/relationships/image" Target="../media/image17.wmf"/><Relationship Id="rId7" Type="http://schemas.openxmlformats.org/officeDocument/2006/relationships/image" Target="../media/image21.wmf"/><Relationship Id="rId2" Type="http://schemas.openxmlformats.org/officeDocument/2006/relationships/image" Target="../media/image16.wmf"/><Relationship Id="rId1" Type="http://schemas.openxmlformats.org/officeDocument/2006/relationships/slideLayout" Target="../slideLayouts/slideLayout2.xml"/><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s>
</file>

<file path=ppt/slides/_rels/slide2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people.revoledu.com/kardi/tutorial/Similarity/index.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4.emf"/><Relationship Id="rId2" Type="http://schemas.openxmlformats.org/officeDocument/2006/relationships/image" Target="../media/image27.emf"/><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2.emf"/><Relationship Id="rId7" Type="http://schemas.openxmlformats.org/officeDocument/2006/relationships/image" Target="../media/image30.png"/><Relationship Id="rId2" Type="http://schemas.openxmlformats.org/officeDocument/2006/relationships/oleObject" Target="../embeddings/oleObject15.bin"/><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slideLayout" Target="../slideLayouts/slideLayout2.xml"/><Relationship Id="rId4" Type="http://schemas.openxmlformats.org/officeDocument/2006/relationships/image" Target="../media/image38.wmf"/></Relationships>
</file>

<file path=ppt/slides/_rels/slide33.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s>
</file>

<file path=ppt/slides/_rels/slide34.x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slideLayout" Target="../slideLayouts/slideLayout2.xml"/><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1" name="Rectangle 3"/>
          <p:cNvSpPr>
            <a:spLocks noChangeArrowheads="1"/>
          </p:cNvSpPr>
          <p:nvPr/>
        </p:nvSpPr>
        <p:spPr bwMode="auto">
          <a:xfrm>
            <a:off x="381000" y="2739603"/>
            <a:ext cx="8229600" cy="2234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gn="ctr" eaLnBrk="1" hangingPunct="1">
              <a:spcBef>
                <a:spcPct val="20000"/>
              </a:spcBef>
              <a:buClr>
                <a:schemeClr val="folHlink"/>
              </a:buClr>
              <a:buSzPct val="60000"/>
              <a:buFont typeface="Wingdings" pitchFamily="2" charset="2"/>
              <a:buNone/>
            </a:pPr>
            <a:endParaRPr lang="en-US" altLang="en-US" sz="3600" b="0" dirty="0">
              <a:latin typeface="Amasis MT Pro Black" panose="020F0502020204030204" pitchFamily="18" charset="0"/>
            </a:endParaRPr>
          </a:p>
          <a:p>
            <a:pPr algn="ctr" eaLnBrk="1" hangingPunct="1">
              <a:spcBef>
                <a:spcPct val="20000"/>
              </a:spcBef>
              <a:buClr>
                <a:schemeClr val="folHlink"/>
              </a:buClr>
              <a:buSzPct val="60000"/>
              <a:buFont typeface="Wingdings" pitchFamily="2" charset="2"/>
              <a:buNone/>
            </a:pPr>
            <a:r>
              <a:rPr lang="en-US" altLang="en-US" sz="3600" b="0" dirty="0">
                <a:latin typeface="Amasis MT Pro Black" panose="020F0502020204030204" pitchFamily="18" charset="0"/>
              </a:rPr>
              <a:t>K-Means</a:t>
            </a:r>
            <a:endParaRPr lang="en-US" altLang="en-US" sz="3200" b="0" dirty="0">
              <a:latin typeface="Amasis MT Pro Black" panose="020F0502020204030204" pitchFamily="18" charset="0"/>
            </a:endParaRPr>
          </a:p>
          <a:p>
            <a:pPr algn="ctr"/>
            <a:endParaRPr lang="en-US" altLang="en-US" sz="1800" b="0" dirty="0">
              <a:latin typeface="Amasis MT Pro Black" panose="020F0502020204030204" pitchFamily="18" charset="0"/>
            </a:endParaRPr>
          </a:p>
          <a:p>
            <a:pPr algn="ctr"/>
            <a:endParaRPr lang="en-US" altLang="en-US" sz="1800" b="0" dirty="0">
              <a:latin typeface="Amasis MT Pro Black" panose="020F0502020204030204" pitchFamily="18" charset="0"/>
            </a:endParaRPr>
          </a:p>
          <a:p>
            <a:endParaRPr lang="en-US" altLang="en-US" sz="2400" b="0" dirty="0">
              <a:latin typeface="Amasis MT Pro Black" panose="020F0502020204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t>Similarity and Dissimilarity Measures</a:t>
            </a:r>
          </a:p>
        </p:txBody>
      </p:sp>
      <p:sp>
        <p:nvSpPr>
          <p:cNvPr id="61443" name="Rectangle 3"/>
          <p:cNvSpPr>
            <a:spLocks noGrp="1" noChangeArrowheads="1"/>
          </p:cNvSpPr>
          <p:nvPr>
            <p:ph type="body" idx="1"/>
          </p:nvPr>
        </p:nvSpPr>
        <p:spPr/>
        <p:txBody>
          <a:bodyPr/>
          <a:lstStyle/>
          <a:p>
            <a:r>
              <a:rPr lang="en-US" dirty="0"/>
              <a:t>Similarity measure</a:t>
            </a:r>
          </a:p>
          <a:p>
            <a:pPr lvl="1"/>
            <a:r>
              <a:rPr lang="en-US" dirty="0"/>
              <a:t>Numerical measure of how alike two data objects are.</a:t>
            </a:r>
          </a:p>
          <a:p>
            <a:pPr lvl="1"/>
            <a:r>
              <a:rPr lang="en-US" dirty="0"/>
              <a:t>Is higher when objects are more alike.</a:t>
            </a:r>
          </a:p>
          <a:p>
            <a:pPr lvl="1"/>
            <a:r>
              <a:rPr lang="en-US" dirty="0"/>
              <a:t>Often falls in the range [0,1]</a:t>
            </a:r>
          </a:p>
          <a:p>
            <a:r>
              <a:rPr lang="en-US" dirty="0"/>
              <a:t>Dissimilarity measure</a:t>
            </a:r>
          </a:p>
          <a:p>
            <a:pPr lvl="1"/>
            <a:r>
              <a:rPr lang="en-US" dirty="0"/>
              <a:t>Numerical measure of how different two data objects are </a:t>
            </a:r>
          </a:p>
          <a:p>
            <a:pPr lvl="1"/>
            <a:r>
              <a:rPr lang="en-US" dirty="0"/>
              <a:t>Lower when objects are more alike</a:t>
            </a:r>
          </a:p>
          <a:p>
            <a:pPr lvl="1"/>
            <a:r>
              <a:rPr lang="en-US" dirty="0"/>
              <a:t>Minimum dissimilarity is often 0</a:t>
            </a:r>
          </a:p>
          <a:p>
            <a:pPr lvl="1"/>
            <a:r>
              <a:rPr lang="en-US" dirty="0"/>
              <a:t>Upper limit varies</a:t>
            </a:r>
          </a:p>
          <a:p>
            <a:r>
              <a:rPr lang="en-US" dirty="0">
                <a:solidFill>
                  <a:srgbClr val="CC6600"/>
                </a:solidFill>
              </a:rPr>
              <a:t>Proximity</a:t>
            </a:r>
            <a:r>
              <a:rPr lang="en-US" dirty="0"/>
              <a:t> refers to a similarity or dissimilarity</a:t>
            </a:r>
          </a:p>
        </p:txBody>
      </p:sp>
    </p:spTree>
    <p:extLst>
      <p:ext uri="{BB962C8B-B14F-4D97-AF65-F5344CB8AC3E}">
        <p14:creationId xmlns:p14="http://schemas.microsoft.com/office/powerpoint/2010/main" val="3823039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sz="2800" dirty="0"/>
              <a:t>Euclidean Distance</a:t>
            </a:r>
          </a:p>
        </p:txBody>
      </p:sp>
      <p:sp>
        <p:nvSpPr>
          <p:cNvPr id="63491" name="Rectangle 3"/>
          <p:cNvSpPr>
            <a:spLocks noGrp="1" noChangeArrowheads="1"/>
          </p:cNvSpPr>
          <p:nvPr>
            <p:ph type="body" sz="half" idx="1"/>
          </p:nvPr>
        </p:nvSpPr>
        <p:spPr>
          <a:xfrm>
            <a:off x="411163" y="1143000"/>
            <a:ext cx="8351837" cy="5181600"/>
          </a:xfrm>
        </p:spPr>
        <p:txBody>
          <a:bodyPr/>
          <a:lstStyle/>
          <a:p>
            <a:pPr marL="342900" indent="-342900">
              <a:lnSpc>
                <a:spcPct val="90000"/>
              </a:lnSpc>
              <a:spcBef>
                <a:spcPct val="20000"/>
              </a:spcBef>
            </a:pPr>
            <a:r>
              <a:rPr lang="en-US" sz="2400" dirty="0"/>
              <a:t>Euclidean Distance</a:t>
            </a:r>
          </a:p>
          <a:p>
            <a:pPr marL="742950" lvl="1" indent="-285750">
              <a:lnSpc>
                <a:spcPct val="90000"/>
              </a:lnSpc>
              <a:spcBef>
                <a:spcPct val="20000"/>
              </a:spcBef>
            </a:pPr>
            <a:endParaRPr lang="en-US" dirty="0"/>
          </a:p>
          <a:p>
            <a:pPr marL="342900" indent="-342900">
              <a:lnSpc>
                <a:spcPct val="90000"/>
              </a:lnSpc>
              <a:spcBef>
                <a:spcPct val="20000"/>
              </a:spcBef>
            </a:pPr>
            <a:endParaRPr lang="en-US" sz="2000" dirty="0"/>
          </a:p>
          <a:p>
            <a:pPr marL="342900" indent="-342900">
              <a:lnSpc>
                <a:spcPct val="90000"/>
              </a:lnSpc>
              <a:spcBef>
                <a:spcPct val="20000"/>
              </a:spcBef>
            </a:pPr>
            <a:endParaRPr lang="en-US" sz="2000" dirty="0"/>
          </a:p>
          <a:p>
            <a:pPr marL="742950" lvl="1" indent="-285750">
              <a:lnSpc>
                <a:spcPct val="90000"/>
              </a:lnSpc>
              <a:spcBef>
                <a:spcPct val="20000"/>
              </a:spcBef>
              <a:buFont typeface="Arial" pitchFamily="34" charset="0"/>
              <a:buNone/>
            </a:pPr>
            <a:r>
              <a:rPr lang="en-US" sz="1800" dirty="0"/>
              <a:t>   </a:t>
            </a:r>
          </a:p>
          <a:p>
            <a:pPr marL="742950" lvl="1" indent="0">
              <a:lnSpc>
                <a:spcPct val="90000"/>
              </a:lnSpc>
              <a:spcBef>
                <a:spcPct val="20000"/>
              </a:spcBef>
              <a:buFont typeface="Arial" pitchFamily="34" charset="0"/>
              <a:buNone/>
            </a:pPr>
            <a:r>
              <a:rPr lang="en-US" dirty="0"/>
              <a:t>where </a:t>
            </a:r>
            <a:r>
              <a:rPr lang="en-US" i="1" dirty="0"/>
              <a:t>n</a:t>
            </a:r>
            <a:r>
              <a:rPr lang="en-US" dirty="0"/>
              <a:t> is the number of dimensions (attributes) and </a:t>
            </a:r>
            <a:r>
              <a:rPr lang="en-US" i="1" dirty="0">
                <a:latin typeface="Times New Roman" panose="02020603050405020304" pitchFamily="18" charset="0"/>
              </a:rPr>
              <a:t>x</a:t>
            </a:r>
            <a:r>
              <a:rPr lang="en-US" i="1" baseline="-25000" dirty="0">
                <a:latin typeface="Times New Roman" panose="02020603050405020304" pitchFamily="18" charset="0"/>
              </a:rPr>
              <a:t>k</a:t>
            </a:r>
            <a:r>
              <a:rPr lang="en-US" dirty="0"/>
              <a:t> and </a:t>
            </a:r>
            <a:r>
              <a:rPr lang="en-US" i="1" dirty="0" err="1">
                <a:latin typeface="Cambria Math" panose="02040503050406030204" pitchFamily="18" charset="0"/>
                <a:ea typeface="Cambria Math" panose="02040503050406030204" pitchFamily="18" charset="0"/>
              </a:rPr>
              <a:t>y</a:t>
            </a:r>
            <a:r>
              <a:rPr lang="en-US" i="1" baseline="-25000" dirty="0" err="1">
                <a:latin typeface="Cambria Math" panose="02040503050406030204" pitchFamily="18" charset="0"/>
                <a:ea typeface="Cambria Math" panose="02040503050406030204" pitchFamily="18" charset="0"/>
              </a:rPr>
              <a:t>k</a:t>
            </a:r>
            <a:r>
              <a:rPr lang="en-US" i="1" baseline="-25000" dirty="0">
                <a:latin typeface="Times New Roman" panose="02020603050405020304" pitchFamily="18" charset="0"/>
              </a:rPr>
              <a:t> </a:t>
            </a:r>
            <a:r>
              <a:rPr lang="en-US" dirty="0"/>
              <a:t> are, respectively, the </a:t>
            </a:r>
            <a:r>
              <a:rPr lang="en-US" i="1" dirty="0" err="1">
                <a:latin typeface="Times New Roman" panose="02020603050405020304" pitchFamily="18" charset="0"/>
                <a:cs typeface="Times New Roman" panose="02020603050405020304" pitchFamily="18" charset="0"/>
              </a:rPr>
              <a:t>k</a:t>
            </a:r>
            <a:r>
              <a:rPr lang="en-US" i="1" baseline="30000" dirty="0" err="1">
                <a:latin typeface="Times New Roman" panose="02020603050405020304" pitchFamily="18" charset="0"/>
                <a:cs typeface="Times New Roman" panose="02020603050405020304" pitchFamily="18" charset="0"/>
              </a:rPr>
              <a:t>th</a:t>
            </a:r>
            <a:r>
              <a:rPr lang="en-US" dirty="0"/>
              <a:t> attributes (components) or data objects </a:t>
            </a:r>
            <a:r>
              <a:rPr lang="en-US" b="1" dirty="0">
                <a:latin typeface="Times New Roman" panose="02020603050405020304" pitchFamily="18" charset="0"/>
                <a:cs typeface="Times New Roman" panose="02020603050405020304" pitchFamily="18" charset="0"/>
              </a:rPr>
              <a:t>x</a:t>
            </a:r>
            <a:r>
              <a:rPr lang="en-US" dirty="0"/>
              <a:t> and </a:t>
            </a:r>
            <a:r>
              <a:rPr lang="en-US" b="1" dirty="0">
                <a:latin typeface="Times New Roman" panose="02020603050405020304" pitchFamily="18" charset="0"/>
                <a:cs typeface="Times New Roman" panose="02020603050405020304" pitchFamily="18" charset="0"/>
              </a:rPr>
              <a:t>y</a:t>
            </a:r>
            <a:r>
              <a:rPr lang="en-US" dirty="0"/>
              <a:t>.</a:t>
            </a:r>
          </a:p>
          <a:p>
            <a:pPr marL="742950" lvl="1" indent="-285750">
              <a:lnSpc>
                <a:spcPct val="90000"/>
              </a:lnSpc>
              <a:spcBef>
                <a:spcPct val="20000"/>
              </a:spcBef>
              <a:buFont typeface="Arial" pitchFamily="34" charset="0"/>
              <a:buNone/>
            </a:pPr>
            <a:endParaRPr lang="en-US" dirty="0"/>
          </a:p>
        </p:txBody>
      </p:sp>
      <p:pic>
        <p:nvPicPr>
          <p:cNvPr id="78895" name="Picture 4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86358" y="1600200"/>
            <a:ext cx="4007645"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85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81000" y="152400"/>
            <a:ext cx="8280400" cy="552450"/>
          </a:xfrm>
        </p:spPr>
        <p:txBody>
          <a:bodyPr/>
          <a:lstStyle/>
          <a:p>
            <a:r>
              <a:rPr lang="en-US" sz="2800"/>
              <a:t>Euclidean Distance</a:t>
            </a:r>
          </a:p>
        </p:txBody>
      </p:sp>
      <p:graphicFrame>
        <p:nvGraphicFramePr>
          <p:cNvPr id="64515" name="Object 3"/>
          <p:cNvGraphicFramePr>
            <a:graphicFrameLocks noChangeAspect="1"/>
          </p:cNvGraphicFramePr>
          <p:nvPr/>
        </p:nvGraphicFramePr>
        <p:xfrm>
          <a:off x="228600" y="1143000"/>
          <a:ext cx="4378325" cy="3197225"/>
        </p:xfrm>
        <a:graphic>
          <a:graphicData uri="http://schemas.openxmlformats.org/presentationml/2006/ole">
            <mc:AlternateContent xmlns:mc="http://schemas.openxmlformats.org/markup-compatibility/2006">
              <mc:Choice xmlns:v="urn:schemas-microsoft-com:vml" Requires="v">
                <p:oleObj name="VISIO" r:id="rId2" imgW="3631692" imgH="2656332" progId="Visio.Drawing.6">
                  <p:embed/>
                </p:oleObj>
              </mc:Choice>
              <mc:Fallback>
                <p:oleObj name="VISIO" r:id="rId2" imgW="3631692" imgH="2656332" progId="Visio.Drawing.6">
                  <p:embed/>
                  <p:pic>
                    <p:nvPicPr>
                      <p:cNvPr id="64515"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143000"/>
                        <a:ext cx="4378325" cy="319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4516" name="Object 4"/>
          <p:cNvGraphicFramePr>
            <a:graphicFrameLocks noChangeAspect="1"/>
          </p:cNvGraphicFramePr>
          <p:nvPr/>
        </p:nvGraphicFramePr>
        <p:xfrm>
          <a:off x="4862513" y="1674813"/>
          <a:ext cx="3976687" cy="1830387"/>
        </p:xfrm>
        <a:graphic>
          <a:graphicData uri="http://schemas.openxmlformats.org/presentationml/2006/ole">
            <mc:AlternateContent xmlns:mc="http://schemas.openxmlformats.org/markup-compatibility/2006">
              <mc:Choice xmlns:v="urn:schemas-microsoft-com:vml" Requires="v">
                <p:oleObj name="Worksheet" r:id="rId4" imgW="1836725" imgH="846287" progId="Excel.Sheet.8">
                  <p:embed/>
                </p:oleObj>
              </mc:Choice>
              <mc:Fallback>
                <p:oleObj name="Worksheet" r:id="rId4" imgW="1836725" imgH="846287" progId="Excel.Sheet.8">
                  <p:embed/>
                  <p:pic>
                    <p:nvPicPr>
                      <p:cNvPr id="6451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2513" y="1674813"/>
                        <a:ext cx="3976687" cy="183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4517" name="Text Box 5"/>
          <p:cNvSpPr txBox="1">
            <a:spLocks noChangeArrowheads="1"/>
          </p:cNvSpPr>
          <p:nvPr/>
        </p:nvSpPr>
        <p:spPr bwMode="auto">
          <a:xfrm>
            <a:off x="3048000" y="5973763"/>
            <a:ext cx="281940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200"/>
              <a:t>Distance Matrix</a:t>
            </a:r>
          </a:p>
        </p:txBody>
      </p:sp>
      <p:graphicFrame>
        <p:nvGraphicFramePr>
          <p:cNvPr id="64518" name="Object 6"/>
          <p:cNvGraphicFramePr>
            <a:graphicFrameLocks noChangeAspect="1"/>
          </p:cNvGraphicFramePr>
          <p:nvPr/>
        </p:nvGraphicFramePr>
        <p:xfrm>
          <a:off x="1371600" y="4114800"/>
          <a:ext cx="6599238" cy="1828800"/>
        </p:xfrm>
        <a:graphic>
          <a:graphicData uri="http://schemas.openxmlformats.org/presentationml/2006/ole">
            <mc:AlternateContent xmlns:mc="http://schemas.openxmlformats.org/markup-compatibility/2006">
              <mc:Choice xmlns:v="urn:schemas-microsoft-com:vml" Requires="v">
                <p:oleObj name="Worksheet" r:id="rId6" imgW="3055925" imgH="846287" progId="Excel.Sheet.8">
                  <p:embed/>
                </p:oleObj>
              </mc:Choice>
              <mc:Fallback>
                <p:oleObj name="Worksheet" r:id="rId6" imgW="3055925" imgH="846287" progId="Excel.Sheet.8">
                  <p:embed/>
                  <p:pic>
                    <p:nvPicPr>
                      <p:cNvPr id="6451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1600" y="4114800"/>
                        <a:ext cx="6599238"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486232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381000" y="152400"/>
            <a:ext cx="8280400" cy="552450"/>
          </a:xfrm>
        </p:spPr>
        <p:txBody>
          <a:bodyPr/>
          <a:lstStyle/>
          <a:p>
            <a:r>
              <a:rPr lang="en-US" sz="2800"/>
              <a:t>Minkowski Distance</a:t>
            </a:r>
          </a:p>
        </p:txBody>
      </p:sp>
      <p:sp>
        <p:nvSpPr>
          <p:cNvPr id="65539" name="Rectangle 3"/>
          <p:cNvSpPr>
            <a:spLocks noGrp="1" noChangeArrowheads="1"/>
          </p:cNvSpPr>
          <p:nvPr>
            <p:ph type="body" idx="1"/>
          </p:nvPr>
        </p:nvSpPr>
        <p:spPr>
          <a:xfrm>
            <a:off x="639763" y="1143000"/>
            <a:ext cx="8001000" cy="750888"/>
          </a:xfrm>
        </p:spPr>
        <p:txBody>
          <a:bodyPr/>
          <a:lstStyle/>
          <a:p>
            <a:pPr marL="342900" indent="-342900">
              <a:lnSpc>
                <a:spcPct val="90000"/>
              </a:lnSpc>
              <a:spcBef>
                <a:spcPct val="20000"/>
              </a:spcBef>
            </a:pPr>
            <a:r>
              <a:rPr lang="en-US" sz="2400" dirty="0" err="1"/>
              <a:t>Minkowski</a:t>
            </a:r>
            <a:r>
              <a:rPr lang="en-US" sz="2400" dirty="0"/>
              <a:t> Distance is a generalization of Euclidean Distance</a:t>
            </a:r>
          </a:p>
          <a:p>
            <a:pPr marL="742950" lvl="1" indent="-285750">
              <a:lnSpc>
                <a:spcPct val="90000"/>
              </a:lnSpc>
              <a:spcBef>
                <a:spcPct val="20000"/>
              </a:spcBef>
            </a:pPr>
            <a:endParaRPr lang="en-US" sz="2000" dirty="0"/>
          </a:p>
          <a:p>
            <a:pPr marL="342900" indent="-342900">
              <a:lnSpc>
                <a:spcPct val="90000"/>
              </a:lnSpc>
              <a:spcBef>
                <a:spcPct val="20000"/>
              </a:spcBef>
            </a:pPr>
            <a:endParaRPr lang="en-US" sz="2400" dirty="0"/>
          </a:p>
          <a:p>
            <a:pPr marL="342900" indent="-342900">
              <a:lnSpc>
                <a:spcPct val="90000"/>
              </a:lnSpc>
              <a:spcBef>
                <a:spcPct val="20000"/>
              </a:spcBef>
            </a:pPr>
            <a:endParaRPr lang="en-US" sz="2400" dirty="0"/>
          </a:p>
          <a:p>
            <a:pPr marL="742950" lvl="1" indent="-285750">
              <a:lnSpc>
                <a:spcPct val="90000"/>
              </a:lnSpc>
              <a:spcBef>
                <a:spcPct val="20000"/>
              </a:spcBef>
              <a:buFont typeface="Arial" pitchFamily="34" charset="0"/>
              <a:buNone/>
            </a:pPr>
            <a:r>
              <a:rPr lang="en-US" sz="2000" dirty="0"/>
              <a:t>   </a:t>
            </a:r>
          </a:p>
          <a:p>
            <a:pPr marL="742950" lvl="1" indent="-285750">
              <a:lnSpc>
                <a:spcPct val="90000"/>
              </a:lnSpc>
              <a:spcBef>
                <a:spcPct val="20000"/>
              </a:spcBef>
              <a:buFont typeface="Arial" pitchFamily="34" charset="0"/>
              <a:buNone/>
            </a:pPr>
            <a:r>
              <a:rPr lang="en-US" sz="2000" dirty="0"/>
              <a:t>   </a:t>
            </a:r>
            <a:r>
              <a:rPr lang="en-US" sz="2200" dirty="0"/>
              <a:t>Where </a:t>
            </a:r>
            <a:r>
              <a:rPr lang="en-US" sz="2200" i="1" dirty="0">
                <a:latin typeface="Times New Roman" panose="02020603050405020304" pitchFamily="18" charset="0"/>
                <a:cs typeface="Times New Roman" panose="02020603050405020304" pitchFamily="18" charset="0"/>
              </a:rPr>
              <a:t>r</a:t>
            </a:r>
            <a:r>
              <a:rPr lang="en-US" sz="2200" dirty="0"/>
              <a:t> is a parameter, </a:t>
            </a:r>
            <a:r>
              <a:rPr lang="en-US" sz="2200" i="1" dirty="0">
                <a:latin typeface="Times New Roman" panose="02020603050405020304" pitchFamily="18" charset="0"/>
                <a:ea typeface="Cambria Math" panose="02040503050406030204" pitchFamily="18" charset="0"/>
                <a:cs typeface="Times New Roman" panose="02020603050405020304" pitchFamily="18" charset="0"/>
              </a:rPr>
              <a:t>n</a:t>
            </a:r>
            <a:r>
              <a:rPr lang="en-US" sz="2200" dirty="0"/>
              <a:t> is the number of dimensions (attributes) and </a:t>
            </a:r>
            <a:r>
              <a:rPr lang="en-US" sz="2200" i="1" dirty="0">
                <a:latin typeface="Times New Roman" panose="02020603050405020304" pitchFamily="18" charset="0"/>
                <a:cs typeface="Times New Roman" panose="02020603050405020304" pitchFamily="18" charset="0"/>
              </a:rPr>
              <a:t>x</a:t>
            </a:r>
            <a:r>
              <a:rPr lang="en-US" sz="2200" i="1" baseline="-25000" dirty="0">
                <a:latin typeface="Times New Roman" panose="02020603050405020304" pitchFamily="18" charset="0"/>
                <a:cs typeface="Times New Roman" panose="02020603050405020304" pitchFamily="18" charset="0"/>
              </a:rPr>
              <a:t>k</a:t>
            </a:r>
            <a:r>
              <a:rPr lang="en-US" sz="2200" dirty="0"/>
              <a:t> and </a:t>
            </a:r>
            <a:r>
              <a:rPr lang="en-US" sz="2200" i="1" dirty="0" err="1">
                <a:latin typeface="Times New Roman" panose="02020603050405020304" pitchFamily="18" charset="0"/>
                <a:cs typeface="Times New Roman" panose="02020603050405020304" pitchFamily="18" charset="0"/>
              </a:rPr>
              <a:t>y</a:t>
            </a:r>
            <a:r>
              <a:rPr lang="en-US" sz="2200" i="1" baseline="-25000" dirty="0" err="1">
                <a:latin typeface="Times New Roman" panose="02020603050405020304" pitchFamily="18" charset="0"/>
                <a:cs typeface="Times New Roman" panose="02020603050405020304" pitchFamily="18" charset="0"/>
              </a:rPr>
              <a:t>k</a:t>
            </a:r>
            <a:r>
              <a:rPr lang="en-US" sz="2200" dirty="0"/>
              <a:t> are, respectively, the </a:t>
            </a:r>
            <a:r>
              <a:rPr lang="en-US" sz="2200" i="1" dirty="0" err="1">
                <a:latin typeface="Times New Roman" panose="02020603050405020304" pitchFamily="18" charset="0"/>
                <a:cs typeface="Times New Roman" panose="02020603050405020304" pitchFamily="18" charset="0"/>
              </a:rPr>
              <a:t>k</a:t>
            </a:r>
            <a:r>
              <a:rPr lang="en-US" sz="2200" baseline="30000" dirty="0" err="1">
                <a:latin typeface="Times New Roman" panose="02020603050405020304" pitchFamily="18" charset="0"/>
                <a:cs typeface="Times New Roman" panose="02020603050405020304" pitchFamily="18" charset="0"/>
              </a:rPr>
              <a:t>th</a:t>
            </a:r>
            <a:r>
              <a:rPr lang="en-US" sz="2200" dirty="0"/>
              <a:t> attributes (components) or data objects </a:t>
            </a:r>
            <a:r>
              <a:rPr lang="en-US" sz="2200" b="1" i="1" dirty="0">
                <a:latin typeface="Times New Roman" panose="02020603050405020304" pitchFamily="18" charset="0"/>
                <a:cs typeface="Times New Roman" panose="02020603050405020304" pitchFamily="18" charset="0"/>
              </a:rPr>
              <a:t>x</a:t>
            </a:r>
            <a:r>
              <a:rPr lang="en-US" sz="2200" dirty="0"/>
              <a:t> and </a:t>
            </a:r>
            <a:r>
              <a:rPr lang="en-US" sz="2200" b="1" i="1" dirty="0">
                <a:latin typeface="Times New Roman" panose="02020603050405020304" pitchFamily="18" charset="0"/>
                <a:cs typeface="Times New Roman" panose="02020603050405020304" pitchFamily="18" charset="0"/>
              </a:rPr>
              <a:t>y</a:t>
            </a:r>
            <a:r>
              <a:rPr lang="en-US" sz="2200" dirty="0"/>
              <a:t>.</a:t>
            </a:r>
          </a:p>
          <a:p>
            <a:pPr marL="342900" indent="-342900">
              <a:lnSpc>
                <a:spcPct val="90000"/>
              </a:lnSpc>
              <a:spcBef>
                <a:spcPct val="20000"/>
              </a:spcBef>
            </a:pPr>
            <a:endParaRPr lang="en-US" sz="2200" dirty="0"/>
          </a:p>
        </p:txBody>
      </p:sp>
      <p:pic>
        <p:nvPicPr>
          <p:cNvPr id="80944" name="Picture 4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86467" y="1981200"/>
            <a:ext cx="5109427"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4281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81000" y="152400"/>
            <a:ext cx="8280400" cy="552450"/>
          </a:xfrm>
        </p:spPr>
        <p:txBody>
          <a:bodyPr/>
          <a:lstStyle/>
          <a:p>
            <a:r>
              <a:rPr lang="en-US" sz="2800"/>
              <a:t>Minkowski Distance: Examples</a:t>
            </a:r>
          </a:p>
        </p:txBody>
      </p:sp>
      <p:sp>
        <p:nvSpPr>
          <p:cNvPr id="66563" name="Rectangle 3"/>
          <p:cNvSpPr>
            <a:spLocks noGrp="1" noChangeArrowheads="1"/>
          </p:cNvSpPr>
          <p:nvPr>
            <p:ph type="body" idx="1"/>
          </p:nvPr>
        </p:nvSpPr>
        <p:spPr>
          <a:xfrm>
            <a:off x="304800" y="1143000"/>
            <a:ext cx="8458200" cy="4876800"/>
          </a:xfrm>
        </p:spPr>
        <p:txBody>
          <a:bodyPr>
            <a:normAutofit lnSpcReduction="10000"/>
          </a:bodyPr>
          <a:lstStyle/>
          <a:p>
            <a:pPr marL="342900" indent="-342900">
              <a:lnSpc>
                <a:spcPct val="90000"/>
              </a:lnSpc>
              <a:spcBef>
                <a:spcPct val="20000"/>
              </a:spcBef>
            </a:pPr>
            <a:r>
              <a:rPr lang="en-US" sz="2400" i="1" dirty="0">
                <a:cs typeface="Times New Roman" pitchFamily="18" charset="0"/>
              </a:rPr>
              <a:t>r</a:t>
            </a:r>
            <a:r>
              <a:rPr lang="en-US" sz="2400" dirty="0">
                <a:cs typeface="Times New Roman" pitchFamily="18" charset="0"/>
              </a:rPr>
              <a:t> = 1.  City block (Manhattan, taxicab, L</a:t>
            </a:r>
            <a:r>
              <a:rPr lang="en-US" sz="2400" baseline="-30000" dirty="0">
                <a:cs typeface="Times New Roman" pitchFamily="18" charset="0"/>
              </a:rPr>
              <a:t>1</a:t>
            </a:r>
            <a:r>
              <a:rPr lang="en-US" sz="2400" dirty="0">
                <a:cs typeface="Times New Roman" pitchFamily="18" charset="0"/>
              </a:rPr>
              <a:t> norm) distance. </a:t>
            </a:r>
          </a:p>
          <a:p>
            <a:pPr marL="742950" lvl="1" indent="-285750">
              <a:lnSpc>
                <a:spcPct val="90000"/>
              </a:lnSpc>
              <a:spcBef>
                <a:spcPct val="20000"/>
              </a:spcBef>
            </a:pPr>
            <a:r>
              <a:rPr lang="en-US" sz="2200" dirty="0">
                <a:cs typeface="Times New Roman" pitchFamily="18" charset="0"/>
              </a:rPr>
              <a:t>A common example of this for binary vectors is the Hamming distance, which is just the number of bits that are different between two binary vectors</a:t>
            </a:r>
          </a:p>
          <a:p>
            <a:pPr lvl="4">
              <a:lnSpc>
                <a:spcPct val="90000"/>
              </a:lnSpc>
            </a:pPr>
            <a:endParaRPr lang="en-US" sz="2200" b="1" dirty="0">
              <a:cs typeface="Times New Roman" pitchFamily="18" charset="0"/>
            </a:endParaRPr>
          </a:p>
          <a:p>
            <a:pPr marL="342900" indent="-342900">
              <a:lnSpc>
                <a:spcPct val="90000"/>
              </a:lnSpc>
              <a:spcBef>
                <a:spcPct val="20000"/>
              </a:spcBef>
            </a:pPr>
            <a:r>
              <a:rPr lang="en-US" sz="2400" i="1" dirty="0">
                <a:cs typeface="Times New Roman" pitchFamily="18" charset="0"/>
              </a:rPr>
              <a:t>r</a:t>
            </a:r>
            <a:r>
              <a:rPr lang="en-US" sz="2400" dirty="0">
                <a:cs typeface="Times New Roman" pitchFamily="18" charset="0"/>
              </a:rPr>
              <a:t> = 2.  Euclidean distance</a:t>
            </a:r>
          </a:p>
          <a:p>
            <a:pPr lvl="4">
              <a:lnSpc>
                <a:spcPct val="90000"/>
              </a:lnSpc>
            </a:pPr>
            <a:endParaRPr lang="en-US" sz="1800" dirty="0">
              <a:cs typeface="Times New Roman" pitchFamily="18" charset="0"/>
            </a:endParaRPr>
          </a:p>
          <a:p>
            <a:pPr marL="342900" indent="-342900">
              <a:lnSpc>
                <a:spcPct val="90000"/>
              </a:lnSpc>
              <a:spcBef>
                <a:spcPct val="20000"/>
              </a:spcBef>
            </a:pPr>
            <a:r>
              <a:rPr lang="en-US" sz="2400" i="1" dirty="0">
                <a:cs typeface="Times New Roman" pitchFamily="18" charset="0"/>
              </a:rPr>
              <a:t>r</a:t>
            </a:r>
            <a:r>
              <a:rPr lang="en-US" sz="2400" dirty="0">
                <a:cs typeface="Times New Roman" pitchFamily="18" charset="0"/>
              </a:rPr>
              <a:t> </a:t>
            </a:r>
            <a:r>
              <a:rPr lang="en-US" sz="2400" dirty="0">
                <a:latin typeface="Times New Roman" pitchFamily="18" charset="0"/>
                <a:cs typeface="Times New Roman" pitchFamily="18" charset="0"/>
                <a:sym typeface="Symbol" pitchFamily="18" charset="2"/>
              </a:rPr>
              <a:t></a:t>
            </a:r>
            <a:r>
              <a:rPr lang="en-US" sz="2400" dirty="0">
                <a:cs typeface="Times New Roman" pitchFamily="18" charset="0"/>
              </a:rPr>
              <a:t> </a:t>
            </a:r>
            <a:r>
              <a:rPr lang="en-US" sz="2400" dirty="0">
                <a:latin typeface="Times New Roman" pitchFamily="18" charset="0"/>
                <a:cs typeface="Times New Roman" pitchFamily="18" charset="0"/>
                <a:sym typeface="Symbol" pitchFamily="18" charset="2"/>
              </a:rPr>
              <a:t></a:t>
            </a:r>
            <a:r>
              <a:rPr lang="en-US" sz="2400" dirty="0">
                <a:cs typeface="Times New Roman" pitchFamily="18" charset="0"/>
              </a:rPr>
              <a:t>.  “</a:t>
            </a:r>
            <a:r>
              <a:rPr lang="en-US" sz="2400" dirty="0" err="1">
                <a:cs typeface="Times New Roman" pitchFamily="18" charset="0"/>
              </a:rPr>
              <a:t>supremum</a:t>
            </a:r>
            <a:r>
              <a:rPr lang="en-US" sz="2400" dirty="0">
                <a:cs typeface="Times New Roman" pitchFamily="18" charset="0"/>
              </a:rPr>
              <a:t>” (</a:t>
            </a:r>
            <a:r>
              <a:rPr lang="en-US" sz="2400" dirty="0" err="1">
                <a:cs typeface="Times New Roman" pitchFamily="18" charset="0"/>
              </a:rPr>
              <a:t>L</a:t>
            </a:r>
            <a:r>
              <a:rPr lang="en-US" sz="2400" baseline="-30000" dirty="0" err="1">
                <a:cs typeface="Times New Roman" pitchFamily="18" charset="0"/>
              </a:rPr>
              <a:t>max</a:t>
            </a:r>
            <a:r>
              <a:rPr lang="en-US" sz="2400" baseline="-30000" dirty="0">
                <a:cs typeface="Times New Roman" pitchFamily="18" charset="0"/>
              </a:rPr>
              <a:t> </a:t>
            </a:r>
            <a:r>
              <a:rPr lang="en-US" sz="2400" dirty="0">
                <a:cs typeface="Times New Roman" pitchFamily="18" charset="0"/>
              </a:rPr>
              <a:t>norm, L</a:t>
            </a:r>
            <a:r>
              <a:rPr lang="en-US" sz="2400" baseline="-30000" dirty="0">
                <a:latin typeface="Times New Roman" pitchFamily="18" charset="0"/>
                <a:cs typeface="Times New Roman" pitchFamily="18" charset="0"/>
                <a:sym typeface="Symbol" pitchFamily="18" charset="2"/>
              </a:rPr>
              <a:t></a:t>
            </a:r>
            <a:r>
              <a:rPr lang="en-US" sz="2400" baseline="-30000" dirty="0">
                <a:cs typeface="Times New Roman" pitchFamily="18" charset="0"/>
              </a:rPr>
              <a:t> </a:t>
            </a:r>
            <a:r>
              <a:rPr lang="en-US" sz="2400" dirty="0">
                <a:cs typeface="Times New Roman" pitchFamily="18" charset="0"/>
              </a:rPr>
              <a:t>norm) distance. </a:t>
            </a:r>
          </a:p>
          <a:p>
            <a:pPr marL="742950" lvl="1" indent="-285750">
              <a:lnSpc>
                <a:spcPct val="90000"/>
              </a:lnSpc>
              <a:spcBef>
                <a:spcPct val="20000"/>
              </a:spcBef>
            </a:pPr>
            <a:r>
              <a:rPr lang="en-US" sz="2200" dirty="0">
                <a:cs typeface="Times New Roman" pitchFamily="18" charset="0"/>
              </a:rPr>
              <a:t>This is the maximum difference between any component of the vectors</a:t>
            </a:r>
          </a:p>
          <a:p>
            <a:pPr lvl="4">
              <a:lnSpc>
                <a:spcPct val="90000"/>
              </a:lnSpc>
            </a:pPr>
            <a:endParaRPr lang="en-US" sz="2200" dirty="0">
              <a:cs typeface="Times New Roman" pitchFamily="18" charset="0"/>
            </a:endParaRPr>
          </a:p>
          <a:p>
            <a:pPr marL="342900" indent="-342900">
              <a:lnSpc>
                <a:spcPct val="90000"/>
              </a:lnSpc>
              <a:spcBef>
                <a:spcPct val="20000"/>
              </a:spcBef>
            </a:pPr>
            <a:r>
              <a:rPr lang="en-US" sz="2400" dirty="0">
                <a:cs typeface="Times New Roman" pitchFamily="18" charset="0"/>
              </a:rPr>
              <a:t>Do not confuse </a:t>
            </a:r>
            <a:r>
              <a:rPr lang="en-US" sz="2400" i="1" dirty="0">
                <a:cs typeface="Times New Roman" pitchFamily="18" charset="0"/>
              </a:rPr>
              <a:t>r</a:t>
            </a:r>
            <a:r>
              <a:rPr lang="en-US" sz="2400" dirty="0">
                <a:cs typeface="Times New Roman" pitchFamily="18" charset="0"/>
              </a:rPr>
              <a:t> with </a:t>
            </a:r>
            <a:r>
              <a:rPr lang="en-US" sz="2400" i="1" dirty="0">
                <a:cs typeface="Times New Roman" pitchFamily="18" charset="0"/>
              </a:rPr>
              <a:t>n</a:t>
            </a:r>
            <a:r>
              <a:rPr lang="en-US" sz="2400" dirty="0">
                <a:cs typeface="Times New Roman" pitchFamily="18" charset="0"/>
              </a:rPr>
              <a:t>, i.e., all these distances are defined for all numbers of dimensions.</a:t>
            </a:r>
            <a:endParaRPr lang="en-US" sz="2400" i="1" dirty="0">
              <a:cs typeface="Times New Roman" pitchFamily="18" charset="0"/>
            </a:endParaRPr>
          </a:p>
          <a:p>
            <a:pPr marL="742950" lvl="1" indent="-285750">
              <a:lnSpc>
                <a:spcPct val="90000"/>
              </a:lnSpc>
              <a:spcBef>
                <a:spcPct val="20000"/>
              </a:spcBef>
            </a:pPr>
            <a:endParaRPr lang="en-US" sz="1800" dirty="0"/>
          </a:p>
        </p:txBody>
      </p:sp>
    </p:spTree>
    <p:extLst>
      <p:ext uri="{BB962C8B-B14F-4D97-AF65-F5344CB8AC3E}">
        <p14:creationId xmlns:p14="http://schemas.microsoft.com/office/powerpoint/2010/main" val="445001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381000" y="152400"/>
            <a:ext cx="8280400" cy="552450"/>
          </a:xfrm>
        </p:spPr>
        <p:txBody>
          <a:bodyPr/>
          <a:lstStyle/>
          <a:p>
            <a:r>
              <a:rPr lang="en-US" dirty="0" err="1"/>
              <a:t>Minkowski</a:t>
            </a:r>
            <a:r>
              <a:rPr lang="en-US" dirty="0"/>
              <a:t> Distance</a:t>
            </a:r>
          </a:p>
        </p:txBody>
      </p:sp>
      <p:sp>
        <p:nvSpPr>
          <p:cNvPr id="67587" name="Text Box 3"/>
          <p:cNvSpPr txBox="1">
            <a:spLocks noChangeArrowheads="1"/>
          </p:cNvSpPr>
          <p:nvPr/>
        </p:nvSpPr>
        <p:spPr bwMode="auto">
          <a:xfrm>
            <a:off x="4876800" y="5867400"/>
            <a:ext cx="2133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pitchFamily="34" charset="0"/>
              </a:defRPr>
            </a:lvl1pPr>
            <a:lvl2pPr marL="742950" indent="-285750">
              <a:defRPr sz="1400" b="1">
                <a:solidFill>
                  <a:schemeClr val="tx1"/>
                </a:solidFill>
                <a:latin typeface="Arial" pitchFamily="34" charset="0"/>
              </a:defRPr>
            </a:lvl2pPr>
            <a:lvl3pPr marL="1143000" indent="-228600">
              <a:defRPr sz="1400" b="1">
                <a:solidFill>
                  <a:schemeClr val="tx1"/>
                </a:solidFill>
                <a:latin typeface="Arial" pitchFamily="34" charset="0"/>
              </a:defRPr>
            </a:lvl3pPr>
            <a:lvl4pPr marL="1600200" indent="-228600">
              <a:defRPr sz="1400" b="1">
                <a:solidFill>
                  <a:schemeClr val="tx1"/>
                </a:solidFill>
                <a:latin typeface="Arial" pitchFamily="34" charset="0"/>
              </a:defRPr>
            </a:lvl4pPr>
            <a:lvl5pPr marL="2057400" indent="-228600">
              <a:defRPr sz="1400" b="1">
                <a:solidFill>
                  <a:schemeClr val="tx1"/>
                </a:solidFill>
                <a:latin typeface="Arial" pitchFamily="34" charset="0"/>
              </a:defRPr>
            </a:lvl5pPr>
            <a:lvl6pPr marL="2514600" indent="-228600" eaLnBrk="0" fontAlgn="base" hangingPunct="0">
              <a:spcBef>
                <a:spcPct val="0"/>
              </a:spcBef>
              <a:spcAft>
                <a:spcPct val="0"/>
              </a:spcAft>
              <a:defRPr sz="1400" b="1">
                <a:solidFill>
                  <a:schemeClr val="tx1"/>
                </a:solidFill>
                <a:latin typeface="Arial" pitchFamily="34" charset="0"/>
              </a:defRPr>
            </a:lvl6pPr>
            <a:lvl7pPr marL="2971800" indent="-228600" eaLnBrk="0" fontAlgn="base" hangingPunct="0">
              <a:spcBef>
                <a:spcPct val="0"/>
              </a:spcBef>
              <a:spcAft>
                <a:spcPct val="0"/>
              </a:spcAft>
              <a:defRPr sz="1400" b="1">
                <a:solidFill>
                  <a:schemeClr val="tx1"/>
                </a:solidFill>
                <a:latin typeface="Arial" pitchFamily="34" charset="0"/>
              </a:defRPr>
            </a:lvl7pPr>
            <a:lvl8pPr marL="3429000" indent="-228600" eaLnBrk="0" fontAlgn="base" hangingPunct="0">
              <a:spcBef>
                <a:spcPct val="0"/>
              </a:spcBef>
              <a:spcAft>
                <a:spcPct val="0"/>
              </a:spcAft>
              <a:defRPr sz="1400" b="1">
                <a:solidFill>
                  <a:schemeClr val="tx1"/>
                </a:solidFill>
                <a:latin typeface="Arial" pitchFamily="34" charset="0"/>
              </a:defRPr>
            </a:lvl8pPr>
            <a:lvl9pPr marL="3886200" indent="-228600" eaLnBrk="0" fontAlgn="base" hangingPunct="0">
              <a:spcBef>
                <a:spcPct val="0"/>
              </a:spcBef>
              <a:spcAft>
                <a:spcPct val="0"/>
              </a:spcAft>
              <a:defRPr sz="1400" b="1">
                <a:solidFill>
                  <a:schemeClr val="tx1"/>
                </a:solidFill>
                <a:latin typeface="Arial" pitchFamily="34" charset="0"/>
              </a:defRPr>
            </a:lvl9pPr>
          </a:lstStyle>
          <a:p>
            <a:pPr>
              <a:spcBef>
                <a:spcPct val="50000"/>
              </a:spcBef>
            </a:pPr>
            <a:r>
              <a:rPr lang="en-US" sz="2000"/>
              <a:t>Distance Matrix</a:t>
            </a:r>
          </a:p>
        </p:txBody>
      </p:sp>
      <p:graphicFrame>
        <p:nvGraphicFramePr>
          <p:cNvPr id="67588" name="Object 4"/>
          <p:cNvGraphicFramePr>
            <a:graphicFrameLocks noChangeAspect="1"/>
          </p:cNvGraphicFramePr>
          <p:nvPr/>
        </p:nvGraphicFramePr>
        <p:xfrm>
          <a:off x="304800" y="2587625"/>
          <a:ext cx="2962275" cy="1363663"/>
        </p:xfrm>
        <a:graphic>
          <a:graphicData uri="http://schemas.openxmlformats.org/presentationml/2006/ole">
            <mc:AlternateContent xmlns:mc="http://schemas.openxmlformats.org/markup-compatibility/2006">
              <mc:Choice xmlns:v="urn:schemas-microsoft-com:vml" Requires="v">
                <p:oleObj name="Worksheet" r:id="rId2" imgW="1836725" imgH="846287" progId="Excel.Sheet.8">
                  <p:embed/>
                </p:oleObj>
              </mc:Choice>
              <mc:Fallback>
                <p:oleObj name="Worksheet" r:id="rId2" imgW="1836725" imgH="846287" progId="Excel.Sheet.8">
                  <p:embed/>
                  <p:pic>
                    <p:nvPicPr>
                      <p:cNvPr id="67588"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587625"/>
                        <a:ext cx="2962275" cy="1363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589" name="Object 5"/>
          <p:cNvGraphicFramePr>
            <a:graphicFrameLocks noChangeAspect="1"/>
          </p:cNvGraphicFramePr>
          <p:nvPr/>
        </p:nvGraphicFramePr>
        <p:xfrm>
          <a:off x="3810000" y="1292225"/>
          <a:ext cx="4927600" cy="1365250"/>
        </p:xfrm>
        <a:graphic>
          <a:graphicData uri="http://schemas.openxmlformats.org/presentationml/2006/ole">
            <mc:AlternateContent xmlns:mc="http://schemas.openxmlformats.org/markup-compatibility/2006">
              <mc:Choice xmlns:v="urn:schemas-microsoft-com:vml" Requires="v">
                <p:oleObj name="Worksheet" r:id="rId4" imgW="3055925" imgH="846287" progId="Excel.Sheet.8">
                  <p:embed/>
                </p:oleObj>
              </mc:Choice>
              <mc:Fallback>
                <p:oleObj name="Worksheet" r:id="rId4" imgW="3055925" imgH="846287" progId="Excel.Sheet.8">
                  <p:embed/>
                  <p:pic>
                    <p:nvPicPr>
                      <p:cNvPr id="6758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1292225"/>
                        <a:ext cx="4927600"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590" name="Object 6"/>
          <p:cNvGraphicFramePr>
            <a:graphicFrameLocks noChangeAspect="1"/>
          </p:cNvGraphicFramePr>
          <p:nvPr/>
        </p:nvGraphicFramePr>
        <p:xfrm>
          <a:off x="3810000" y="2816225"/>
          <a:ext cx="4927600" cy="1365250"/>
        </p:xfrm>
        <a:graphic>
          <a:graphicData uri="http://schemas.openxmlformats.org/presentationml/2006/ole">
            <mc:AlternateContent xmlns:mc="http://schemas.openxmlformats.org/markup-compatibility/2006">
              <mc:Choice xmlns:v="urn:schemas-microsoft-com:vml" Requires="v">
                <p:oleObj name="Worksheet" r:id="rId6" imgW="3055925" imgH="846287" progId="Excel.Sheet.8">
                  <p:embed/>
                </p:oleObj>
              </mc:Choice>
              <mc:Fallback>
                <p:oleObj name="Worksheet" r:id="rId6" imgW="3055925" imgH="846287" progId="Excel.Sheet.8">
                  <p:embed/>
                  <p:pic>
                    <p:nvPicPr>
                      <p:cNvPr id="6759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0" y="2816225"/>
                        <a:ext cx="4927600" cy="136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591" name="Object 7"/>
          <p:cNvGraphicFramePr>
            <a:graphicFrameLocks noChangeAspect="1"/>
          </p:cNvGraphicFramePr>
          <p:nvPr/>
        </p:nvGraphicFramePr>
        <p:xfrm>
          <a:off x="3810000" y="4340225"/>
          <a:ext cx="4872038" cy="1374775"/>
        </p:xfrm>
        <a:graphic>
          <a:graphicData uri="http://schemas.openxmlformats.org/presentationml/2006/ole">
            <mc:AlternateContent xmlns:mc="http://schemas.openxmlformats.org/markup-compatibility/2006">
              <mc:Choice xmlns:v="urn:schemas-microsoft-com:vml" Requires="v">
                <p:oleObj name="Worksheet" r:id="rId8" imgW="3055925" imgH="861243" progId="Excel.Sheet.8">
                  <p:embed/>
                </p:oleObj>
              </mc:Choice>
              <mc:Fallback>
                <p:oleObj name="Worksheet" r:id="rId8" imgW="3055925" imgH="861243" progId="Excel.Sheet.8">
                  <p:embed/>
                  <p:pic>
                    <p:nvPicPr>
                      <p:cNvPr id="67591"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0" y="4340225"/>
                        <a:ext cx="4872038"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05967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381000" y="152400"/>
            <a:ext cx="8280400" cy="552450"/>
          </a:xfrm>
        </p:spPr>
        <p:txBody>
          <a:bodyPr/>
          <a:lstStyle/>
          <a:p>
            <a:r>
              <a:rPr lang="en-US"/>
              <a:t>Similarity Between Binary Vectors</a:t>
            </a:r>
          </a:p>
        </p:txBody>
      </p:sp>
      <p:sp>
        <p:nvSpPr>
          <p:cNvPr id="72707" name="Rectangle 3"/>
          <p:cNvSpPr>
            <a:spLocks noGrp="1" noChangeArrowheads="1"/>
          </p:cNvSpPr>
          <p:nvPr>
            <p:ph type="body" idx="1"/>
          </p:nvPr>
        </p:nvSpPr>
        <p:spPr>
          <a:xfrm>
            <a:off x="639763" y="1143000"/>
            <a:ext cx="8001000" cy="5106988"/>
          </a:xfrm>
        </p:spPr>
        <p:txBody>
          <a:bodyPr/>
          <a:lstStyle/>
          <a:p>
            <a:pPr marL="533400" indent="-533400">
              <a:lnSpc>
                <a:spcPct val="80000"/>
              </a:lnSpc>
              <a:spcBef>
                <a:spcPct val="20000"/>
              </a:spcBef>
              <a:tabLst>
                <a:tab pos="914400" algn="l"/>
                <a:tab pos="1371600" algn="l"/>
              </a:tabLst>
            </a:pPr>
            <a:r>
              <a:rPr lang="en-US" sz="2200" dirty="0"/>
              <a:t>Common situation is that objects, </a:t>
            </a:r>
            <a:r>
              <a:rPr lang="en-US" sz="2200" b="1" dirty="0">
                <a:latin typeface="Times New Roman" panose="02020603050405020304" pitchFamily="18" charset="0"/>
                <a:cs typeface="Times New Roman" panose="02020603050405020304" pitchFamily="18" charset="0"/>
              </a:rPr>
              <a:t>x</a:t>
            </a:r>
            <a:r>
              <a:rPr lang="en-US" sz="2200" dirty="0"/>
              <a:t> and </a:t>
            </a:r>
            <a:r>
              <a:rPr lang="en-US" sz="2200" b="1" dirty="0">
                <a:latin typeface="Times New Roman" panose="02020603050405020304" pitchFamily="18" charset="0"/>
                <a:cs typeface="Times New Roman" panose="02020603050405020304" pitchFamily="18" charset="0"/>
              </a:rPr>
              <a:t>y</a:t>
            </a:r>
            <a:r>
              <a:rPr lang="en-US" sz="2200" dirty="0"/>
              <a:t>, have only binary attributes</a:t>
            </a:r>
          </a:p>
          <a:p>
            <a:pPr marL="2171700" lvl="4" indent="-342900">
              <a:lnSpc>
                <a:spcPct val="80000"/>
              </a:lnSpc>
              <a:tabLst>
                <a:tab pos="914400" algn="l"/>
                <a:tab pos="1371600" algn="l"/>
              </a:tabLst>
            </a:pPr>
            <a:endParaRPr lang="en-US" sz="1200" dirty="0"/>
          </a:p>
          <a:p>
            <a:pPr marL="533400" indent="-533400">
              <a:lnSpc>
                <a:spcPct val="80000"/>
              </a:lnSpc>
              <a:spcBef>
                <a:spcPct val="20000"/>
              </a:spcBef>
              <a:tabLst>
                <a:tab pos="914400" algn="l"/>
                <a:tab pos="1371600" algn="l"/>
              </a:tabLst>
            </a:pPr>
            <a:r>
              <a:rPr lang="en-US" sz="2200" dirty="0"/>
              <a:t>Compute similarities using the following quantities</a:t>
            </a:r>
          </a:p>
          <a:p>
            <a:pPr marL="533400" indent="-533400">
              <a:lnSpc>
                <a:spcPct val="80000"/>
              </a:lnSpc>
              <a:spcBef>
                <a:spcPct val="20000"/>
              </a:spcBef>
              <a:buNone/>
              <a:tabLst>
                <a:tab pos="914400" algn="l"/>
                <a:tab pos="1371600" algn="l"/>
              </a:tabLst>
            </a:pPr>
            <a:r>
              <a:rPr lang="en-US" sz="2200" dirty="0">
                <a:latin typeface="cmmi10" pitchFamily="34" charset="0"/>
              </a:rPr>
              <a:t>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01</a:t>
            </a:r>
            <a:r>
              <a:rPr lang="en-US" sz="2000" dirty="0"/>
              <a:t> = the number of attributes where </a:t>
            </a:r>
            <a:r>
              <a:rPr lang="en-US" sz="2000" b="1" dirty="0">
                <a:latin typeface="Times New Roman" panose="02020603050405020304" pitchFamily="18" charset="0"/>
                <a:cs typeface="Times New Roman" panose="02020603050405020304" pitchFamily="18" charset="0"/>
              </a:rPr>
              <a:t>x</a:t>
            </a:r>
            <a:r>
              <a:rPr lang="en-US" sz="2000" dirty="0"/>
              <a:t> was 0 and </a:t>
            </a:r>
            <a:r>
              <a:rPr lang="en-US" sz="2000" b="1" dirty="0">
                <a:latin typeface="Times New Roman" panose="02020603050405020304" pitchFamily="18" charset="0"/>
                <a:cs typeface="Times New Roman" panose="02020603050405020304" pitchFamily="18" charset="0"/>
              </a:rPr>
              <a:t>y</a:t>
            </a:r>
            <a:r>
              <a:rPr lang="en-US" sz="2000" dirty="0"/>
              <a:t> was 1</a:t>
            </a:r>
          </a:p>
          <a:p>
            <a:pPr marL="533400" indent="-533400">
              <a:lnSpc>
                <a:spcPct val="80000"/>
              </a:lnSpc>
              <a:spcBef>
                <a:spcPct val="20000"/>
              </a:spcBef>
              <a:buNone/>
              <a:tabLst>
                <a:tab pos="914400" algn="l"/>
                <a:tab pos="1371600" algn="l"/>
              </a:tabLst>
            </a:pPr>
            <a:r>
              <a:rPr lang="en-US" sz="2000" dirty="0"/>
              <a:t>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10</a:t>
            </a:r>
            <a:r>
              <a:rPr lang="en-US" sz="2000" baseline="-25000" dirty="0"/>
              <a:t> </a:t>
            </a:r>
            <a:r>
              <a:rPr lang="en-US" sz="2000" dirty="0"/>
              <a:t>= the number of attributes where </a:t>
            </a:r>
            <a:r>
              <a:rPr lang="en-US" sz="2000" b="1" dirty="0">
                <a:latin typeface="Times New Roman" panose="02020603050405020304" pitchFamily="18" charset="0"/>
                <a:cs typeface="Times New Roman" panose="02020603050405020304" pitchFamily="18" charset="0"/>
              </a:rPr>
              <a:t>x</a:t>
            </a:r>
            <a:r>
              <a:rPr lang="en-US" sz="2000" dirty="0"/>
              <a:t> was 1 and </a:t>
            </a:r>
            <a:r>
              <a:rPr lang="en-US" sz="2000" b="1" dirty="0">
                <a:latin typeface="Times New Roman" panose="02020603050405020304" pitchFamily="18" charset="0"/>
                <a:cs typeface="Times New Roman" panose="02020603050405020304" pitchFamily="18" charset="0"/>
              </a:rPr>
              <a:t>y</a:t>
            </a:r>
            <a:r>
              <a:rPr lang="en-US" sz="2000" i="1" dirty="0"/>
              <a:t> </a:t>
            </a:r>
            <a:r>
              <a:rPr lang="en-US" sz="2000" dirty="0"/>
              <a:t>was 0</a:t>
            </a:r>
          </a:p>
          <a:p>
            <a:pPr marL="533400" indent="-533400">
              <a:lnSpc>
                <a:spcPct val="80000"/>
              </a:lnSpc>
              <a:spcBef>
                <a:spcPct val="20000"/>
              </a:spcBef>
              <a:buNone/>
              <a:tabLst>
                <a:tab pos="914400" algn="l"/>
                <a:tab pos="1371600" algn="l"/>
              </a:tabLst>
            </a:pPr>
            <a:r>
              <a:rPr lang="en-US" sz="2000" dirty="0"/>
              <a:t>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00</a:t>
            </a:r>
            <a:r>
              <a:rPr lang="en-US" sz="2000" dirty="0"/>
              <a:t> = the number of attributes where </a:t>
            </a:r>
            <a:r>
              <a:rPr lang="en-US" sz="2000" b="1" dirty="0">
                <a:latin typeface="Times New Roman" panose="02020603050405020304" pitchFamily="18" charset="0"/>
                <a:cs typeface="Times New Roman" panose="02020603050405020304" pitchFamily="18" charset="0"/>
              </a:rPr>
              <a:t>x</a:t>
            </a:r>
            <a:r>
              <a:rPr lang="en-US" sz="2000" dirty="0"/>
              <a:t> was 0 and </a:t>
            </a:r>
            <a:r>
              <a:rPr lang="en-US" sz="2000" b="1" dirty="0">
                <a:latin typeface="Times New Roman" panose="02020603050405020304" pitchFamily="18" charset="0"/>
                <a:cs typeface="Times New Roman" panose="02020603050405020304" pitchFamily="18" charset="0"/>
              </a:rPr>
              <a:t>y</a:t>
            </a:r>
            <a:r>
              <a:rPr lang="en-US" sz="2000" dirty="0"/>
              <a:t> was 0</a:t>
            </a:r>
          </a:p>
          <a:p>
            <a:pPr marL="533400" indent="-533400">
              <a:lnSpc>
                <a:spcPct val="80000"/>
              </a:lnSpc>
              <a:spcBef>
                <a:spcPct val="20000"/>
              </a:spcBef>
              <a:buNone/>
              <a:tabLst>
                <a:tab pos="914400" algn="l"/>
                <a:tab pos="1371600" algn="l"/>
              </a:tabLst>
            </a:pPr>
            <a:r>
              <a:rPr lang="en-US" sz="2000" dirty="0"/>
              <a:t>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11</a:t>
            </a:r>
            <a:r>
              <a:rPr lang="en-US" sz="2000" dirty="0"/>
              <a:t> = the number of attributes where </a:t>
            </a:r>
            <a:r>
              <a:rPr lang="en-US" sz="2000" b="1" dirty="0">
                <a:latin typeface="Times New Roman" panose="02020603050405020304" pitchFamily="18" charset="0"/>
                <a:cs typeface="Times New Roman" panose="02020603050405020304" pitchFamily="18" charset="0"/>
              </a:rPr>
              <a:t>x</a:t>
            </a:r>
            <a:r>
              <a:rPr lang="en-US" sz="2000" dirty="0"/>
              <a:t> was 1 and </a:t>
            </a:r>
            <a:r>
              <a:rPr lang="en-US" sz="2000" b="1" dirty="0">
                <a:latin typeface="Times New Roman" panose="02020603050405020304" pitchFamily="18" charset="0"/>
                <a:cs typeface="Times New Roman" panose="02020603050405020304" pitchFamily="18" charset="0"/>
              </a:rPr>
              <a:t>y</a:t>
            </a:r>
            <a:r>
              <a:rPr lang="en-US" sz="2000" dirty="0"/>
              <a:t> was 1</a:t>
            </a:r>
          </a:p>
          <a:p>
            <a:pPr marL="533400" indent="-533400">
              <a:lnSpc>
                <a:spcPct val="80000"/>
              </a:lnSpc>
              <a:spcBef>
                <a:spcPct val="20000"/>
              </a:spcBef>
              <a:buFont typeface="Monotype Sorts" charset="2"/>
              <a:buNone/>
              <a:tabLst>
                <a:tab pos="914400" algn="l"/>
                <a:tab pos="1371600" algn="l"/>
              </a:tabLst>
            </a:pPr>
            <a:endParaRPr lang="en-US" sz="2000" dirty="0"/>
          </a:p>
          <a:p>
            <a:pPr marL="533400" indent="-533400">
              <a:lnSpc>
                <a:spcPct val="80000"/>
              </a:lnSpc>
              <a:spcBef>
                <a:spcPct val="20000"/>
              </a:spcBef>
              <a:tabLst>
                <a:tab pos="914400" algn="l"/>
                <a:tab pos="1371600" algn="l"/>
              </a:tabLst>
            </a:pPr>
            <a:r>
              <a:rPr lang="en-US" sz="2000" dirty="0"/>
              <a:t>Simple Matching Coefficients and Jaccard Coefficients </a:t>
            </a:r>
          </a:p>
          <a:p>
            <a:pPr marL="533400" indent="-533400">
              <a:lnSpc>
                <a:spcPct val="80000"/>
              </a:lnSpc>
              <a:spcBef>
                <a:spcPct val="20000"/>
              </a:spcBef>
              <a:buFont typeface="Monotype Sorts" charset="2"/>
              <a:buNone/>
              <a:tabLst>
                <a:tab pos="914400" algn="l"/>
                <a:tab pos="1371600" algn="l"/>
              </a:tabLst>
            </a:pPr>
            <a:r>
              <a:rPr lang="en-US" sz="2000" dirty="0">
                <a:cs typeface="Times New Roman" pitchFamily="18" charset="0"/>
              </a:rPr>
              <a:t>	SMC 	=  number of matches / number of attributes </a:t>
            </a:r>
          </a:p>
          <a:p>
            <a:pPr marL="533400" indent="-533400">
              <a:lnSpc>
                <a:spcPct val="80000"/>
              </a:lnSpc>
              <a:spcBef>
                <a:spcPct val="20000"/>
              </a:spcBef>
              <a:buFont typeface="Monotype Sorts" charset="2"/>
              <a:buNone/>
              <a:tabLst>
                <a:tab pos="914400" algn="l"/>
                <a:tab pos="1371600" algn="l"/>
              </a:tabLst>
            </a:pPr>
            <a:r>
              <a:rPr lang="en-US" sz="2000" dirty="0">
                <a:cs typeface="Times New Roman" pitchFamily="18" charset="0"/>
              </a:rPr>
              <a:t>                 	=  </a:t>
            </a:r>
            <a:r>
              <a:rPr lang="en-US" sz="2000"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11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00</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01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10</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11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00</a:t>
            </a:r>
            <a:r>
              <a:rPr lang="en-US" sz="2000" dirty="0">
                <a:latin typeface="Times New Roman" panose="02020603050405020304" pitchFamily="18" charset="0"/>
                <a:cs typeface="Times New Roman" panose="02020603050405020304" pitchFamily="18" charset="0"/>
              </a:rPr>
              <a:t>)</a:t>
            </a:r>
          </a:p>
          <a:p>
            <a:pPr marL="533400" indent="-533400">
              <a:lnSpc>
                <a:spcPct val="80000"/>
              </a:lnSpc>
              <a:spcBef>
                <a:spcPct val="20000"/>
              </a:spcBef>
              <a:buFont typeface="Monotype Sorts" charset="2"/>
              <a:buNone/>
              <a:tabLst>
                <a:tab pos="914400" algn="l"/>
                <a:tab pos="1371600" algn="l"/>
              </a:tabLst>
            </a:pPr>
            <a:endParaRPr lang="en-US" sz="1200" dirty="0">
              <a:latin typeface="Times New Roman" panose="02020603050405020304" pitchFamily="18" charset="0"/>
              <a:cs typeface="Times New Roman" panose="02020603050405020304" pitchFamily="18" charset="0"/>
            </a:endParaRPr>
          </a:p>
          <a:p>
            <a:pPr marL="533400" indent="-533400">
              <a:lnSpc>
                <a:spcPct val="80000"/>
              </a:lnSpc>
              <a:spcBef>
                <a:spcPct val="20000"/>
              </a:spcBef>
              <a:buFont typeface="Monotype Sorts" charset="2"/>
              <a:buNone/>
              <a:tabLst>
                <a:tab pos="914400" algn="l"/>
                <a:tab pos="1371600" algn="l"/>
              </a:tabLst>
            </a:pPr>
            <a:r>
              <a:rPr lang="en-US" sz="2000" dirty="0">
                <a:cs typeface="Times New Roman" pitchFamily="18" charset="0"/>
              </a:rPr>
              <a:t>	J 	= number of 11 matches / number of non-zero attributes</a:t>
            </a:r>
          </a:p>
          <a:p>
            <a:pPr marL="533400" indent="-533400">
              <a:lnSpc>
                <a:spcPct val="80000"/>
              </a:lnSpc>
              <a:spcBef>
                <a:spcPct val="20000"/>
              </a:spcBef>
              <a:buFont typeface="Monotype Sorts" charset="2"/>
              <a:buNone/>
              <a:tabLst>
                <a:tab pos="914400" algn="l"/>
                <a:tab pos="1371600" algn="l"/>
              </a:tabLst>
            </a:pPr>
            <a:r>
              <a:rPr lang="en-US" sz="2000" dirty="0">
                <a:cs typeface="Times New Roman" pitchFamily="18" charset="0"/>
              </a:rPr>
              <a:t>   	  	= </a:t>
            </a:r>
            <a:r>
              <a:rPr lang="en-US" sz="2000" dirty="0">
                <a:latin typeface="Times New Roman" panose="02020603050405020304" pitchFamily="18" charset="0"/>
                <a:cs typeface="Times New Roman" panose="02020603050405020304" pitchFamily="18" charset="0"/>
              </a:rPr>
              <a:t>(</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11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01</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10</a:t>
            </a:r>
            <a:r>
              <a:rPr lang="en-US" sz="2000" dirty="0">
                <a:latin typeface="Times New Roman" panose="02020603050405020304" pitchFamily="18" charset="0"/>
                <a:cs typeface="Times New Roman" panose="02020603050405020304" pitchFamily="18" charset="0"/>
              </a:rPr>
              <a:t> + </a:t>
            </a:r>
            <a:r>
              <a:rPr lang="en-US" sz="2000" i="1" dirty="0">
                <a:latin typeface="Times New Roman" panose="02020603050405020304" pitchFamily="18" charset="0"/>
                <a:cs typeface="Times New Roman" panose="02020603050405020304" pitchFamily="18" charset="0"/>
              </a:rPr>
              <a:t>f</a:t>
            </a:r>
            <a:r>
              <a:rPr lang="en-US" sz="2000" baseline="-25000" dirty="0">
                <a:latin typeface="Times New Roman" panose="02020603050405020304" pitchFamily="18" charset="0"/>
                <a:cs typeface="Times New Roman" panose="02020603050405020304" pitchFamily="18" charset="0"/>
              </a:rPr>
              <a:t>11</a:t>
            </a:r>
            <a:r>
              <a:rPr lang="en-US"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14975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381000" y="152400"/>
            <a:ext cx="8280400" cy="552450"/>
          </a:xfrm>
        </p:spPr>
        <p:txBody>
          <a:bodyPr/>
          <a:lstStyle/>
          <a:p>
            <a:r>
              <a:rPr lang="en-US"/>
              <a:t>SMC versus Jaccard: Example</a:t>
            </a:r>
          </a:p>
        </p:txBody>
      </p:sp>
      <p:sp>
        <p:nvSpPr>
          <p:cNvPr id="73731" name="Rectangle 3"/>
          <p:cNvSpPr>
            <a:spLocks noGrp="1" noChangeArrowheads="1"/>
          </p:cNvSpPr>
          <p:nvPr>
            <p:ph type="body" idx="1"/>
          </p:nvPr>
        </p:nvSpPr>
        <p:spPr>
          <a:xfrm>
            <a:off x="639763" y="1143000"/>
            <a:ext cx="8275637" cy="5106988"/>
          </a:xfrm>
        </p:spPr>
        <p:txBody>
          <a:bodyPr/>
          <a:lstStyle/>
          <a:p>
            <a:pPr marL="533400" indent="-533400">
              <a:lnSpc>
                <a:spcPct val="90000"/>
              </a:lnSpc>
              <a:spcBef>
                <a:spcPct val="20000"/>
              </a:spcBef>
              <a:buFont typeface="Monotype Sorts" charset="2"/>
              <a:buNone/>
              <a:tabLst>
                <a:tab pos="685800" algn="l"/>
              </a:tabLst>
            </a:pPr>
            <a:r>
              <a:rPr lang="en-US" sz="2200" b="1" dirty="0">
                <a:latin typeface="Times New Roman" panose="02020603050405020304" pitchFamily="18" charset="0"/>
                <a:cs typeface="Times New Roman" panose="02020603050405020304" pitchFamily="18" charset="0"/>
              </a:rPr>
              <a:t>x</a:t>
            </a:r>
            <a:r>
              <a:rPr lang="en-US" sz="2200" dirty="0">
                <a:latin typeface="Times New Roman" panose="02020603050405020304" pitchFamily="18" charset="0"/>
                <a:cs typeface="Times New Roman" panose="02020603050405020304" pitchFamily="18" charset="0"/>
              </a:rPr>
              <a:t> =  1 0 0 0 0 0 0 0 0 0    	</a:t>
            </a:r>
            <a:r>
              <a:rPr lang="en-US" sz="2200" i="1"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p>
            <a:pPr marL="533400" indent="-533400">
              <a:lnSpc>
                <a:spcPct val="90000"/>
              </a:lnSpc>
              <a:spcBef>
                <a:spcPct val="20000"/>
              </a:spcBef>
              <a:buFont typeface="Monotype Sorts" charset="2"/>
              <a:buNone/>
              <a:tabLst>
                <a:tab pos="685800" algn="l"/>
              </a:tabLst>
            </a:pPr>
            <a:r>
              <a:rPr lang="en-US" sz="2200" b="1" dirty="0">
                <a:latin typeface="Times New Roman" panose="02020603050405020304" pitchFamily="18" charset="0"/>
                <a:cs typeface="Times New Roman" panose="02020603050405020304" pitchFamily="18" charset="0"/>
              </a:rPr>
              <a:t>y</a:t>
            </a:r>
            <a:r>
              <a:rPr lang="en-US" sz="2200" dirty="0">
                <a:latin typeface="Times New Roman" panose="02020603050405020304" pitchFamily="18" charset="0"/>
                <a:cs typeface="Times New Roman" panose="02020603050405020304" pitchFamily="18" charset="0"/>
              </a:rPr>
              <a:t> =  0 0 0 0 0 0 1 0 0 1</a:t>
            </a:r>
            <a:r>
              <a:rPr lang="en-US" sz="2200" i="1" dirty="0">
                <a:latin typeface="Times New Roman" panose="02020603050405020304" pitchFamily="18" charset="0"/>
                <a:cs typeface="Times New Roman" panose="02020603050405020304" pitchFamily="18" charset="0"/>
              </a:rPr>
              <a:t> </a:t>
            </a:r>
          </a:p>
          <a:p>
            <a:pPr marL="533400" indent="-533400">
              <a:lnSpc>
                <a:spcPct val="90000"/>
              </a:lnSpc>
              <a:spcBef>
                <a:spcPct val="20000"/>
              </a:spcBef>
              <a:buFont typeface="Monotype Sorts" charset="2"/>
              <a:buNone/>
              <a:tabLst>
                <a:tab pos="685800" algn="l"/>
              </a:tabLst>
            </a:pPr>
            <a:endParaRPr lang="en-US" sz="2200" i="1" dirty="0">
              <a:latin typeface="Times New Roman" panose="02020603050405020304" pitchFamily="18" charset="0"/>
              <a:cs typeface="Times New Roman" panose="02020603050405020304" pitchFamily="18" charset="0"/>
            </a:endParaRPr>
          </a:p>
          <a:p>
            <a:pPr marL="533400" indent="-533400">
              <a:lnSpc>
                <a:spcPct val="90000"/>
              </a:lnSpc>
              <a:spcBef>
                <a:spcPct val="20000"/>
              </a:spcBef>
              <a:buNone/>
              <a:tabLst>
                <a:tab pos="685800" algn="l"/>
              </a:tabLst>
            </a:pP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01</a:t>
            </a:r>
            <a:r>
              <a:rPr lang="en-US" sz="2200" dirty="0">
                <a:latin typeface="Times New Roman" panose="02020603050405020304" pitchFamily="18" charset="0"/>
                <a:cs typeface="Times New Roman" panose="02020603050405020304" pitchFamily="18" charset="0"/>
              </a:rPr>
              <a:t> = 2   (the number of attributes where </a:t>
            </a:r>
            <a:r>
              <a:rPr lang="en-US" sz="2200" b="1" dirty="0">
                <a:latin typeface="Times New Roman" panose="02020603050405020304" pitchFamily="18" charset="0"/>
                <a:cs typeface="Times New Roman" panose="02020603050405020304" pitchFamily="18" charset="0"/>
              </a:rPr>
              <a:t>x</a:t>
            </a:r>
            <a:r>
              <a:rPr lang="en-US" sz="2200" dirty="0">
                <a:latin typeface="Times New Roman" panose="02020603050405020304" pitchFamily="18" charset="0"/>
                <a:cs typeface="Times New Roman" panose="02020603050405020304" pitchFamily="18" charset="0"/>
              </a:rPr>
              <a:t> was 0 and </a:t>
            </a:r>
            <a:r>
              <a:rPr lang="en-US" sz="2200" b="1" dirty="0">
                <a:latin typeface="Times New Roman" panose="02020603050405020304" pitchFamily="18" charset="0"/>
                <a:cs typeface="Times New Roman" panose="02020603050405020304" pitchFamily="18" charset="0"/>
              </a:rPr>
              <a:t>y</a:t>
            </a:r>
            <a:r>
              <a:rPr lang="en-US" sz="2200" dirty="0">
                <a:latin typeface="Times New Roman" panose="02020603050405020304" pitchFamily="18" charset="0"/>
                <a:cs typeface="Times New Roman" panose="02020603050405020304" pitchFamily="18" charset="0"/>
              </a:rPr>
              <a:t> was 1)</a:t>
            </a:r>
          </a:p>
          <a:p>
            <a:pPr marL="533400" indent="-533400">
              <a:lnSpc>
                <a:spcPct val="90000"/>
              </a:lnSpc>
              <a:spcBef>
                <a:spcPct val="20000"/>
              </a:spcBef>
              <a:buNone/>
              <a:tabLst>
                <a:tab pos="685800" algn="l"/>
              </a:tabLst>
            </a:pP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10 </a:t>
            </a:r>
            <a:r>
              <a:rPr lang="en-US" sz="2200" dirty="0">
                <a:latin typeface="Times New Roman" panose="02020603050405020304" pitchFamily="18" charset="0"/>
                <a:cs typeface="Times New Roman" panose="02020603050405020304" pitchFamily="18" charset="0"/>
              </a:rPr>
              <a:t>= 1   (the number of attributes where </a:t>
            </a:r>
            <a:r>
              <a:rPr lang="en-US" sz="2200" b="1" dirty="0">
                <a:latin typeface="Times New Roman" panose="02020603050405020304" pitchFamily="18" charset="0"/>
                <a:cs typeface="Times New Roman" panose="02020603050405020304" pitchFamily="18" charset="0"/>
              </a:rPr>
              <a:t>x</a:t>
            </a:r>
            <a:r>
              <a:rPr lang="en-US" sz="2200" dirty="0">
                <a:latin typeface="Times New Roman" panose="02020603050405020304" pitchFamily="18" charset="0"/>
                <a:cs typeface="Times New Roman" panose="02020603050405020304" pitchFamily="18" charset="0"/>
              </a:rPr>
              <a:t> was 1 and </a:t>
            </a:r>
            <a:r>
              <a:rPr lang="en-US" sz="2200" b="1" dirty="0">
                <a:latin typeface="Times New Roman" panose="02020603050405020304" pitchFamily="18" charset="0"/>
                <a:cs typeface="Times New Roman" panose="02020603050405020304" pitchFamily="18" charset="0"/>
              </a:rPr>
              <a:t>y</a:t>
            </a:r>
            <a:r>
              <a:rPr lang="en-US" sz="2200" dirty="0">
                <a:latin typeface="Times New Roman" panose="02020603050405020304" pitchFamily="18" charset="0"/>
                <a:cs typeface="Times New Roman" panose="02020603050405020304" pitchFamily="18" charset="0"/>
              </a:rPr>
              <a:t> was 0)</a:t>
            </a:r>
          </a:p>
          <a:p>
            <a:pPr marL="533400" indent="-533400">
              <a:lnSpc>
                <a:spcPct val="90000"/>
              </a:lnSpc>
              <a:spcBef>
                <a:spcPct val="20000"/>
              </a:spcBef>
              <a:buNone/>
              <a:tabLst>
                <a:tab pos="685800" algn="l"/>
              </a:tabLst>
            </a:pP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00</a:t>
            </a:r>
            <a:r>
              <a:rPr lang="en-US" sz="2200" dirty="0">
                <a:latin typeface="Times New Roman" panose="02020603050405020304" pitchFamily="18" charset="0"/>
                <a:cs typeface="Times New Roman" panose="02020603050405020304" pitchFamily="18" charset="0"/>
              </a:rPr>
              <a:t> = 7   (the number of attributes where </a:t>
            </a:r>
            <a:r>
              <a:rPr lang="en-US" sz="2200" b="1" dirty="0">
                <a:latin typeface="Times New Roman" panose="02020603050405020304" pitchFamily="18" charset="0"/>
                <a:cs typeface="Times New Roman" panose="02020603050405020304" pitchFamily="18" charset="0"/>
              </a:rPr>
              <a:t>x</a:t>
            </a:r>
            <a:r>
              <a:rPr lang="en-US" sz="2200" dirty="0">
                <a:latin typeface="Times New Roman" panose="02020603050405020304" pitchFamily="18" charset="0"/>
                <a:cs typeface="Times New Roman" panose="02020603050405020304" pitchFamily="18" charset="0"/>
              </a:rPr>
              <a:t> was 0 and </a:t>
            </a:r>
            <a:r>
              <a:rPr lang="en-US" sz="2200" b="1" dirty="0">
                <a:latin typeface="Times New Roman" panose="02020603050405020304" pitchFamily="18" charset="0"/>
                <a:cs typeface="Times New Roman" panose="02020603050405020304" pitchFamily="18" charset="0"/>
              </a:rPr>
              <a:t>y</a:t>
            </a:r>
            <a:r>
              <a:rPr lang="en-US" sz="2200" dirty="0">
                <a:latin typeface="Times New Roman" panose="02020603050405020304" pitchFamily="18" charset="0"/>
                <a:cs typeface="Times New Roman" panose="02020603050405020304" pitchFamily="18" charset="0"/>
              </a:rPr>
              <a:t> was 0)</a:t>
            </a:r>
          </a:p>
          <a:p>
            <a:pPr marL="533400" indent="-533400">
              <a:lnSpc>
                <a:spcPct val="90000"/>
              </a:lnSpc>
              <a:spcBef>
                <a:spcPct val="20000"/>
              </a:spcBef>
              <a:buNone/>
              <a:tabLst>
                <a:tab pos="685800" algn="l"/>
              </a:tabLst>
            </a:pP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11</a:t>
            </a:r>
            <a:r>
              <a:rPr lang="en-US" sz="2200" dirty="0">
                <a:latin typeface="Times New Roman" panose="02020603050405020304" pitchFamily="18" charset="0"/>
                <a:cs typeface="Times New Roman" panose="02020603050405020304" pitchFamily="18" charset="0"/>
              </a:rPr>
              <a:t> = 0   (the number of attributes where </a:t>
            </a:r>
            <a:r>
              <a:rPr lang="en-US" sz="2200" b="1" dirty="0">
                <a:latin typeface="Times New Roman" panose="02020603050405020304" pitchFamily="18" charset="0"/>
                <a:cs typeface="Times New Roman" panose="02020603050405020304" pitchFamily="18" charset="0"/>
              </a:rPr>
              <a:t>x</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was 1 and </a:t>
            </a:r>
            <a:r>
              <a:rPr lang="en-US" sz="2200" b="1" dirty="0">
                <a:latin typeface="Times New Roman" panose="02020603050405020304" pitchFamily="18" charset="0"/>
                <a:cs typeface="Times New Roman" panose="02020603050405020304" pitchFamily="18" charset="0"/>
              </a:rPr>
              <a:t>y</a:t>
            </a:r>
            <a:r>
              <a:rPr lang="en-US" sz="2200" dirty="0">
                <a:latin typeface="Times New Roman" panose="02020603050405020304" pitchFamily="18" charset="0"/>
                <a:cs typeface="Times New Roman" panose="02020603050405020304" pitchFamily="18" charset="0"/>
              </a:rPr>
              <a:t> was 1)</a:t>
            </a:r>
          </a:p>
          <a:p>
            <a:pPr marL="533400" indent="-533400">
              <a:lnSpc>
                <a:spcPct val="90000"/>
              </a:lnSpc>
              <a:spcBef>
                <a:spcPct val="20000"/>
              </a:spcBef>
              <a:buFont typeface="Monotype Sorts" charset="2"/>
              <a:buNone/>
              <a:tabLst>
                <a:tab pos="685800" algn="l"/>
              </a:tabLst>
            </a:pPr>
            <a:r>
              <a:rPr lang="en-US" sz="2200" i="1" dirty="0">
                <a:latin typeface="Times New Roman" panose="02020603050405020304" pitchFamily="18" charset="0"/>
                <a:cs typeface="Times New Roman" panose="02020603050405020304" pitchFamily="18" charset="0"/>
              </a:rPr>
              <a:t>	</a:t>
            </a:r>
          </a:p>
          <a:p>
            <a:pPr marL="533400" indent="-533400">
              <a:lnSpc>
                <a:spcPct val="80000"/>
              </a:lnSpc>
              <a:spcBef>
                <a:spcPct val="20000"/>
              </a:spcBef>
              <a:buNone/>
              <a:tabLst>
                <a:tab pos="914400" algn="l"/>
                <a:tab pos="1371600" algn="l"/>
              </a:tabLst>
            </a:pPr>
            <a:r>
              <a:rPr lang="en-US" sz="2200" dirty="0">
                <a:latin typeface="Times New Roman" panose="02020603050405020304" pitchFamily="18" charset="0"/>
                <a:cs typeface="Times New Roman" panose="02020603050405020304" pitchFamily="18" charset="0"/>
              </a:rPr>
              <a:t>SMC 	= (</a:t>
            </a: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11</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00</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01</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10</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11</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00</a:t>
            </a:r>
            <a:r>
              <a:rPr lang="en-US" sz="2200" dirty="0">
                <a:latin typeface="Times New Roman" panose="02020603050405020304" pitchFamily="18" charset="0"/>
                <a:cs typeface="Times New Roman" panose="02020603050405020304" pitchFamily="18" charset="0"/>
              </a:rPr>
              <a:t>)</a:t>
            </a:r>
          </a:p>
          <a:p>
            <a:pPr marL="533400" indent="-533400">
              <a:lnSpc>
                <a:spcPct val="90000"/>
              </a:lnSpc>
              <a:spcBef>
                <a:spcPct val="20000"/>
              </a:spcBef>
              <a:buFont typeface="Monotype Sorts" charset="2"/>
              <a:buNone/>
              <a:tabLst>
                <a:tab pos="685800" algn="l"/>
              </a:tabLst>
            </a:pPr>
            <a:r>
              <a:rPr lang="en-US" sz="2200" dirty="0">
                <a:latin typeface="Times New Roman" panose="02020603050405020304" pitchFamily="18" charset="0"/>
                <a:cs typeface="Times New Roman" panose="02020603050405020304" pitchFamily="18" charset="0"/>
              </a:rPr>
              <a:t>			= (0+7) / (2+1+0+7) = 0.7 </a:t>
            </a:r>
          </a:p>
          <a:p>
            <a:pPr marL="533400" indent="-533400">
              <a:lnSpc>
                <a:spcPct val="90000"/>
              </a:lnSpc>
              <a:spcBef>
                <a:spcPct val="20000"/>
              </a:spcBef>
              <a:buFont typeface="Monotype Sorts" charset="2"/>
              <a:buNone/>
              <a:tabLst>
                <a:tab pos="685800" algn="l"/>
              </a:tabLst>
            </a:pPr>
            <a:endParaRPr lang="en-US" sz="2200" dirty="0">
              <a:latin typeface="Times New Roman" panose="02020603050405020304" pitchFamily="18" charset="0"/>
              <a:cs typeface="Times New Roman" panose="02020603050405020304" pitchFamily="18" charset="0"/>
            </a:endParaRPr>
          </a:p>
          <a:p>
            <a:pPr marL="533400" indent="-533400">
              <a:lnSpc>
                <a:spcPct val="90000"/>
              </a:lnSpc>
              <a:spcBef>
                <a:spcPct val="20000"/>
              </a:spcBef>
              <a:buNone/>
              <a:tabLst>
                <a:tab pos="685800" algn="l"/>
              </a:tabLst>
            </a:pPr>
            <a:r>
              <a:rPr lang="en-US" sz="2200" dirty="0">
                <a:latin typeface="Times New Roman" panose="02020603050405020304" pitchFamily="18" charset="0"/>
                <a:cs typeface="Times New Roman" panose="02020603050405020304" pitchFamily="18" charset="0"/>
              </a:rPr>
              <a:t>J = (</a:t>
            </a: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11</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01</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10</a:t>
            </a:r>
            <a:r>
              <a:rPr lang="en-US" sz="2200" dirty="0">
                <a:latin typeface="Times New Roman" panose="02020603050405020304" pitchFamily="18" charset="0"/>
                <a:cs typeface="Times New Roman" panose="02020603050405020304" pitchFamily="18" charset="0"/>
              </a:rPr>
              <a:t> + </a:t>
            </a:r>
            <a:r>
              <a:rPr lang="en-US" sz="2200" i="1" dirty="0">
                <a:latin typeface="Times New Roman" panose="02020603050405020304" pitchFamily="18" charset="0"/>
                <a:cs typeface="Times New Roman" panose="02020603050405020304" pitchFamily="18" charset="0"/>
              </a:rPr>
              <a:t>f</a:t>
            </a:r>
            <a:r>
              <a:rPr lang="en-US" sz="2200" baseline="-25000" dirty="0">
                <a:latin typeface="Times New Roman" panose="02020603050405020304" pitchFamily="18" charset="0"/>
                <a:cs typeface="Times New Roman" panose="02020603050405020304" pitchFamily="18" charset="0"/>
              </a:rPr>
              <a:t>11</a:t>
            </a:r>
            <a:r>
              <a:rPr lang="en-US" sz="2200" dirty="0">
                <a:latin typeface="Times New Roman" panose="02020603050405020304" pitchFamily="18" charset="0"/>
                <a:cs typeface="Times New Roman" panose="02020603050405020304" pitchFamily="18" charset="0"/>
              </a:rPr>
              <a:t>) = 0 / (2 + 1 + 0) = 0 </a:t>
            </a:r>
          </a:p>
          <a:p>
            <a:pPr marL="533400" indent="-533400">
              <a:lnSpc>
                <a:spcPct val="90000"/>
              </a:lnSpc>
              <a:spcBef>
                <a:spcPct val="20000"/>
              </a:spcBef>
              <a:buFont typeface="Monotype Sorts" charset="2"/>
              <a:buNone/>
              <a:tabLst>
                <a:tab pos="685800" algn="l"/>
              </a:tabLst>
            </a:pPr>
            <a:endParaRPr lang="en-US" sz="2200" i="1" dirty="0">
              <a:cs typeface="Times New Roman" pitchFamily="18" charset="0"/>
            </a:endParaRPr>
          </a:p>
        </p:txBody>
      </p:sp>
    </p:spTree>
    <p:extLst>
      <p:ext uri="{BB962C8B-B14F-4D97-AF65-F5344CB8AC3E}">
        <p14:creationId xmlns:p14="http://schemas.microsoft.com/office/powerpoint/2010/main" val="12699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381000" y="152400"/>
            <a:ext cx="8280400" cy="552450"/>
          </a:xfrm>
        </p:spPr>
        <p:txBody>
          <a:bodyPr/>
          <a:lstStyle/>
          <a:p>
            <a:r>
              <a:rPr lang="en-US"/>
              <a:t>Cosine Similarity</a:t>
            </a:r>
          </a:p>
        </p:txBody>
      </p:sp>
      <p:sp>
        <p:nvSpPr>
          <p:cNvPr id="74755" name="Rectangle 3"/>
          <p:cNvSpPr>
            <a:spLocks noGrp="1" noChangeArrowheads="1"/>
          </p:cNvSpPr>
          <p:nvPr>
            <p:ph type="body" idx="1"/>
          </p:nvPr>
        </p:nvSpPr>
        <p:spPr>
          <a:xfrm>
            <a:off x="639763" y="1143000"/>
            <a:ext cx="8001000" cy="5106988"/>
          </a:xfrm>
        </p:spPr>
        <p:txBody>
          <a:bodyPr/>
          <a:lstStyle/>
          <a:p>
            <a:pPr marL="0" indent="0" algn="just">
              <a:lnSpc>
                <a:spcPct val="90000"/>
              </a:lnSpc>
              <a:spcBef>
                <a:spcPts val="400"/>
              </a:spcBef>
            </a:pPr>
            <a:r>
              <a:rPr lang="en-US" sz="2400" dirty="0">
                <a:cs typeface="Times New Roman" pitchFamily="18" charset="0"/>
              </a:rPr>
              <a:t> If </a:t>
            </a:r>
            <a:r>
              <a:rPr lang="en-US" sz="2400" b="1" dirty="0">
                <a:latin typeface="Times New Roman" panose="02020603050405020304" pitchFamily="18" charset="0"/>
                <a:cs typeface="Times New Roman" panose="02020603050405020304" pitchFamily="18" charset="0"/>
              </a:rPr>
              <a:t>d</a:t>
            </a:r>
            <a:r>
              <a:rPr lang="en-US" sz="2400" baseline="-30000" dirty="0">
                <a:latin typeface="Times New Roman" panose="02020603050405020304" pitchFamily="18" charset="0"/>
                <a:cs typeface="Times New Roman" panose="02020603050405020304" pitchFamily="18" charset="0"/>
              </a:rPr>
              <a:t>1</a:t>
            </a:r>
            <a:r>
              <a:rPr lang="en-US" sz="2400" dirty="0">
                <a:cs typeface="Times New Roman" pitchFamily="18" charset="0"/>
              </a:rPr>
              <a:t> and </a:t>
            </a:r>
            <a:r>
              <a:rPr lang="en-US" sz="2400" b="1" dirty="0">
                <a:latin typeface="Times New Roman" panose="02020603050405020304" pitchFamily="18" charset="0"/>
                <a:cs typeface="Times New Roman" panose="02020603050405020304" pitchFamily="18" charset="0"/>
              </a:rPr>
              <a:t>d</a:t>
            </a:r>
            <a:r>
              <a:rPr lang="en-US" sz="2400" i="1" baseline="-30000" dirty="0">
                <a:latin typeface="Times New Roman" panose="02020603050405020304" pitchFamily="18" charset="0"/>
                <a:cs typeface="Times New Roman" panose="02020603050405020304" pitchFamily="18" charset="0"/>
              </a:rPr>
              <a:t>2</a:t>
            </a:r>
            <a:r>
              <a:rPr lang="en-US" sz="2400" dirty="0">
                <a:cs typeface="Times New Roman" pitchFamily="18" charset="0"/>
              </a:rPr>
              <a:t> are two document vectors, then</a:t>
            </a:r>
          </a:p>
          <a:p>
            <a:pPr marL="0" indent="0" algn="just">
              <a:lnSpc>
                <a:spcPct val="90000"/>
              </a:lnSpc>
              <a:spcBef>
                <a:spcPts val="400"/>
              </a:spcBef>
              <a:buFont typeface="Monotype Sorts" charset="2"/>
              <a:buNone/>
            </a:pPr>
            <a:r>
              <a:rPr lang="en-US" sz="2400" dirty="0">
                <a:cs typeface="Times New Roman" pitchFamily="18" charset="0"/>
              </a:rPr>
              <a:t>             </a:t>
            </a:r>
            <a:r>
              <a:rPr lang="en-US" sz="2400" dirty="0">
                <a:latin typeface="Times New Roman" panose="02020603050405020304" pitchFamily="18" charset="0"/>
                <a:cs typeface="Times New Roman" panose="02020603050405020304" pitchFamily="18" charset="0"/>
              </a:rPr>
              <a:t>cos( </a:t>
            </a:r>
            <a:r>
              <a:rPr lang="en-US" sz="2400" b="1" dirty="0">
                <a:latin typeface="Times New Roman" panose="02020603050405020304" pitchFamily="18" charset="0"/>
                <a:cs typeface="Times New Roman" panose="02020603050405020304" pitchFamily="18" charset="0"/>
              </a:rPr>
              <a:t>d</a:t>
            </a:r>
            <a:r>
              <a:rPr lang="en-US" sz="2400" b="1" baseline="-30000" dirty="0">
                <a:latin typeface="Times New Roman" panose="02020603050405020304" pitchFamily="18" charset="0"/>
                <a:cs typeface="Times New Roman" panose="02020603050405020304" pitchFamily="18" charset="0"/>
              </a:rPr>
              <a:t>1</a:t>
            </a:r>
            <a:r>
              <a:rPr lang="en-US" sz="2400" i="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a:t>
            </a:r>
            <a:r>
              <a:rPr lang="en-US" sz="2400" b="1"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 =  &lt;</a:t>
            </a:r>
            <a:r>
              <a:rPr lang="en-US" sz="2400" b="1" dirty="0">
                <a:latin typeface="Times New Roman" panose="02020603050405020304" pitchFamily="18" charset="0"/>
                <a:cs typeface="Times New Roman" panose="02020603050405020304" pitchFamily="18" charset="0"/>
              </a:rPr>
              <a:t>d</a:t>
            </a:r>
            <a:r>
              <a:rPr lang="en-US" sz="2400" b="1" baseline="-30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d</a:t>
            </a:r>
            <a:r>
              <a:rPr lang="en-US" sz="2400" b="1"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&gt; / ||</a:t>
            </a:r>
            <a:r>
              <a:rPr lang="en-US" sz="2400" b="1" dirty="0">
                <a:latin typeface="Times New Roman" panose="02020603050405020304" pitchFamily="18" charset="0"/>
                <a:cs typeface="Times New Roman" panose="02020603050405020304" pitchFamily="18" charset="0"/>
              </a:rPr>
              <a:t>d</a:t>
            </a:r>
            <a:r>
              <a:rPr lang="en-US" sz="2400" baseline="-30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a:t>
            </a:r>
            <a:r>
              <a:rPr lang="en-US" sz="2400"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 </a:t>
            </a:r>
            <a:r>
              <a:rPr lang="en-US" sz="2400" dirty="0">
                <a:cs typeface="Times New Roman" pitchFamily="18" charset="0"/>
              </a:rPr>
              <a:t>, </a:t>
            </a:r>
          </a:p>
          <a:p>
            <a:pPr marL="0" indent="0" algn="just">
              <a:lnSpc>
                <a:spcPct val="90000"/>
              </a:lnSpc>
              <a:spcBef>
                <a:spcPts val="400"/>
              </a:spcBef>
              <a:buNone/>
            </a:pPr>
            <a:r>
              <a:rPr lang="en-US" sz="2400" dirty="0">
                <a:cs typeface="Times New Roman" pitchFamily="18" charset="0"/>
              </a:rPr>
              <a:t>where </a:t>
            </a:r>
            <a:r>
              <a:rPr lang="en-US" sz="2400" dirty="0">
                <a:latin typeface="Times New Roman" panose="02020603050405020304" pitchFamily="18" charset="0"/>
                <a:cs typeface="Times New Roman" panose="02020603050405020304" pitchFamily="18" charset="0"/>
              </a:rPr>
              <a:t>&lt;</a:t>
            </a:r>
            <a:r>
              <a:rPr lang="en-US" sz="2400" b="1" dirty="0">
                <a:latin typeface="Times New Roman" panose="02020603050405020304" pitchFamily="18" charset="0"/>
                <a:cs typeface="Times New Roman" panose="02020603050405020304" pitchFamily="18" charset="0"/>
              </a:rPr>
              <a:t>d</a:t>
            </a:r>
            <a:r>
              <a:rPr lang="en-US" sz="2400" b="1" baseline="-30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d</a:t>
            </a:r>
            <a:r>
              <a:rPr lang="en-US" sz="2400" b="1" baseline="-30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&gt;</a:t>
            </a:r>
            <a:r>
              <a:rPr lang="en-US" sz="2400" dirty="0">
                <a:cs typeface="Times New Roman" pitchFamily="18" charset="0"/>
              </a:rPr>
              <a:t> indicates inner product or vector dot product of vectors, </a:t>
            </a:r>
            <a:r>
              <a:rPr lang="en-US" sz="2400" b="1" dirty="0">
                <a:latin typeface="Times New Roman" panose="02020603050405020304" pitchFamily="18" charset="0"/>
                <a:cs typeface="Times New Roman" panose="02020603050405020304" pitchFamily="18" charset="0"/>
              </a:rPr>
              <a:t>d</a:t>
            </a:r>
            <a:r>
              <a:rPr lang="en-US" sz="2400" b="1" baseline="-30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a:t>
            </a:r>
            <a:r>
              <a:rPr lang="en-US" sz="2400" dirty="0">
                <a:latin typeface="+mj-lt"/>
                <a:cs typeface="Times New Roman" panose="02020603050405020304" pitchFamily="18" charset="0"/>
              </a:rPr>
              <a:t>and</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d</a:t>
            </a:r>
            <a:r>
              <a:rPr lang="en-US" sz="2400" b="1" baseline="-30000" dirty="0">
                <a:latin typeface="Times New Roman" panose="02020603050405020304" pitchFamily="18" charset="0"/>
                <a:cs typeface="Times New Roman" panose="02020603050405020304" pitchFamily="18" charset="0"/>
              </a:rPr>
              <a:t>2,</a:t>
            </a:r>
            <a:r>
              <a:rPr lang="en-US" sz="2400" dirty="0">
                <a:cs typeface="Times New Roman" pitchFamily="18" charset="0"/>
              </a:rPr>
              <a:t>  and </a:t>
            </a:r>
            <a:r>
              <a:rPr lang="en-US" sz="2400" b="1" dirty="0">
                <a:latin typeface="Times New Roman" panose="02020603050405020304" pitchFamily="18" charset="0"/>
                <a:cs typeface="Times New Roman" panose="02020603050405020304" pitchFamily="18" charset="0"/>
              </a:rPr>
              <a:t>|| d ||</a:t>
            </a:r>
            <a:r>
              <a:rPr lang="en-US" sz="2400" dirty="0">
                <a:cs typeface="Times New Roman" pitchFamily="18" charset="0"/>
              </a:rPr>
              <a:t> is the   length of vector </a:t>
            </a:r>
            <a:r>
              <a:rPr lang="en-US" sz="2400" b="1" dirty="0">
                <a:latin typeface="Times New Roman" panose="02020603050405020304" pitchFamily="18" charset="0"/>
                <a:cs typeface="Times New Roman" panose="02020603050405020304" pitchFamily="18" charset="0"/>
              </a:rPr>
              <a:t>d</a:t>
            </a:r>
            <a:r>
              <a:rPr lang="en-US" sz="2400" dirty="0">
                <a:cs typeface="Times New Roman" pitchFamily="18" charset="0"/>
              </a:rPr>
              <a:t>.  </a:t>
            </a:r>
          </a:p>
          <a:p>
            <a:pPr marL="0" indent="0" algn="just">
              <a:spcBef>
                <a:spcPct val="20000"/>
              </a:spcBef>
            </a:pPr>
            <a:r>
              <a:rPr lang="en-US" sz="3200" dirty="0">
                <a:cs typeface="Times New Roman" pitchFamily="18" charset="0"/>
              </a:rPr>
              <a:t> </a:t>
            </a:r>
            <a:r>
              <a:rPr lang="en-US" sz="2400" dirty="0">
                <a:cs typeface="Times New Roman" pitchFamily="18" charset="0"/>
              </a:rPr>
              <a:t>Example: </a:t>
            </a:r>
          </a:p>
          <a:p>
            <a:pPr marL="0" indent="0" algn="just">
              <a:spcBef>
                <a:spcPct val="20000"/>
              </a:spcBef>
              <a:buNone/>
            </a:pPr>
            <a:r>
              <a:rPr lang="en-US" sz="2400" i="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d</a:t>
            </a:r>
            <a:r>
              <a:rPr lang="en-US" sz="2400" b="1" baseline="-30000" dirty="0">
                <a:latin typeface="Times New Roman" panose="02020603050405020304" pitchFamily="18" charset="0"/>
                <a:cs typeface="Times New Roman" panose="02020603050405020304" pitchFamily="18" charset="0"/>
              </a:rPr>
              <a:t>1</a:t>
            </a:r>
            <a:r>
              <a:rPr lang="en-US" sz="2400" i="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3 2 0 5 0 0 0 2 0 0 	</a:t>
            </a:r>
            <a:endParaRPr lang="en-US" sz="2400" dirty="0">
              <a:latin typeface="Times New Roman" panose="02020603050405020304" pitchFamily="18" charset="0"/>
              <a:cs typeface="Times New Roman" panose="02020603050405020304" pitchFamily="18" charset="0"/>
            </a:endParaRPr>
          </a:p>
          <a:p>
            <a:pPr marL="0" indent="0">
              <a:spcBef>
                <a:spcPct val="20000"/>
              </a:spcBef>
              <a:buNone/>
            </a:pPr>
            <a:r>
              <a:rPr lang="en-US" sz="2400" i="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 d</a:t>
            </a:r>
            <a:r>
              <a:rPr lang="en-US" sz="2400" b="1" baseline="-30000" dirty="0">
                <a:latin typeface="Times New Roman" panose="02020603050405020304" pitchFamily="18" charset="0"/>
                <a:cs typeface="Times New Roman" panose="02020603050405020304" pitchFamily="18" charset="0"/>
              </a:rPr>
              <a:t>2</a:t>
            </a:r>
            <a:r>
              <a:rPr lang="en-US" sz="2400" b="1" dirty="0">
                <a:latin typeface="Times New Roman" panose="02020603050405020304" pitchFamily="18" charset="0"/>
                <a:cs typeface="Times New Roman" panose="02020603050405020304" pitchFamily="18" charset="0"/>
              </a:rPr>
              <a:t> =  1 0 0 0 0 0 0 1 0 2</a:t>
            </a:r>
            <a:r>
              <a:rPr lang="en-US" sz="2400" dirty="0">
                <a:latin typeface="Times New Roman" panose="02020603050405020304" pitchFamily="18" charset="0"/>
                <a:cs typeface="Times New Roman" panose="02020603050405020304" pitchFamily="18" charset="0"/>
              </a:rPr>
              <a:t> </a:t>
            </a:r>
          </a:p>
          <a:p>
            <a:pPr marL="0" indent="0">
              <a:spcBef>
                <a:spcPct val="20000"/>
              </a:spcBef>
              <a:buNone/>
            </a:pPr>
            <a:r>
              <a:rPr lang="en-US" sz="1800" b="1" dirty="0">
                <a:latin typeface="Times New Roman" panose="02020603050405020304" pitchFamily="18" charset="0"/>
                <a:cs typeface="Times New Roman" panose="02020603050405020304" pitchFamily="18" charset="0"/>
              </a:rPr>
              <a:t>&lt;d</a:t>
            </a:r>
            <a:r>
              <a:rPr lang="en-US" sz="1800" b="1" baseline="-30000" dirty="0">
                <a:latin typeface="Times New Roman" panose="02020603050405020304" pitchFamily="18" charset="0"/>
                <a:cs typeface="Times New Roman" panose="02020603050405020304" pitchFamily="18" charset="0"/>
              </a:rPr>
              <a:t>1</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d2&gt;</a:t>
            </a:r>
            <a:r>
              <a:rPr lang="en-US" sz="1800" b="1" baseline="-30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3*1 + 2*0 + 0*0 + 5*0 + 0*0 + 0*0 + 0*0 + 2*1 + 0*0 + 0*2 = 5</a:t>
            </a:r>
          </a:p>
          <a:p>
            <a:pPr marL="0" indent="0">
              <a:spcBef>
                <a:spcPct val="20000"/>
              </a:spcBef>
              <a:buNone/>
            </a:pPr>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d</a:t>
            </a:r>
            <a:r>
              <a:rPr lang="en-US" sz="1800" b="1" baseline="-30000" dirty="0">
                <a:latin typeface="Times New Roman" panose="02020603050405020304" pitchFamily="18" charset="0"/>
                <a:cs typeface="Times New Roman" panose="02020603050405020304" pitchFamily="18" charset="0"/>
              </a:rPr>
              <a:t>1 </a:t>
            </a:r>
            <a:r>
              <a:rPr lang="en-US" sz="1800" dirty="0">
                <a:latin typeface="Times New Roman" panose="02020603050405020304" pitchFamily="18" charset="0"/>
                <a:cs typeface="Times New Roman" panose="02020603050405020304" pitchFamily="18" charset="0"/>
              </a:rPr>
              <a:t>|| = (3*3+2*2+0*0+5*5+0*0+0*0+0*0+2*2+0*0+0*0)</a:t>
            </a:r>
            <a:r>
              <a:rPr lang="en-US" sz="1800" b="1" baseline="30000" dirty="0">
                <a:latin typeface="Times New Roman" panose="02020603050405020304" pitchFamily="18" charset="0"/>
                <a:cs typeface="Times New Roman" panose="02020603050405020304" pitchFamily="18" charset="0"/>
              </a:rPr>
              <a:t>0.5</a:t>
            </a:r>
            <a:r>
              <a:rPr lang="en-US" sz="1800" dirty="0">
                <a:latin typeface="Times New Roman" panose="02020603050405020304" pitchFamily="18" charset="0"/>
                <a:cs typeface="Times New Roman" panose="02020603050405020304" pitchFamily="18" charset="0"/>
              </a:rPr>
              <a:t> =  (42) </a:t>
            </a:r>
            <a:r>
              <a:rPr lang="en-US" sz="1800" b="1" baseline="30000" dirty="0">
                <a:latin typeface="Times New Roman" panose="02020603050405020304" pitchFamily="18" charset="0"/>
                <a:cs typeface="Times New Roman" panose="02020603050405020304" pitchFamily="18" charset="0"/>
              </a:rPr>
              <a:t>0.5</a:t>
            </a:r>
            <a:r>
              <a:rPr lang="en-US" sz="1800" dirty="0">
                <a:latin typeface="Times New Roman" panose="02020603050405020304" pitchFamily="18" charset="0"/>
                <a:cs typeface="Times New Roman" panose="02020603050405020304" pitchFamily="18" charset="0"/>
              </a:rPr>
              <a:t> = 6.481</a:t>
            </a:r>
          </a:p>
          <a:p>
            <a:pPr marL="0" indent="0">
              <a:spcBef>
                <a:spcPct val="20000"/>
              </a:spcBef>
              <a:buNone/>
            </a:pPr>
            <a:r>
              <a:rPr lang="en-US" sz="1800" dirty="0">
                <a:latin typeface="Times New Roman" panose="02020603050405020304" pitchFamily="18" charset="0"/>
                <a:cs typeface="Times New Roman" panose="02020603050405020304" pitchFamily="18" charset="0"/>
              </a:rPr>
              <a:t>||</a:t>
            </a:r>
            <a:r>
              <a:rPr lang="en-US" sz="1800" b="1" dirty="0">
                <a:latin typeface="Times New Roman" panose="02020603050405020304" pitchFamily="18" charset="0"/>
                <a:cs typeface="Times New Roman" panose="02020603050405020304" pitchFamily="18" charset="0"/>
              </a:rPr>
              <a:t> d</a:t>
            </a:r>
            <a:r>
              <a:rPr lang="en-US" sz="1800" b="1" baseline="-30000" dirty="0">
                <a:latin typeface="Times New Roman" panose="02020603050405020304" pitchFamily="18" charset="0"/>
                <a:cs typeface="Times New Roman" panose="02020603050405020304" pitchFamily="18" charset="0"/>
              </a:rPr>
              <a:t>2 </a:t>
            </a:r>
            <a:r>
              <a:rPr lang="en-US" sz="1800" dirty="0">
                <a:latin typeface="Times New Roman" panose="02020603050405020304" pitchFamily="18" charset="0"/>
                <a:cs typeface="Times New Roman" panose="02020603050405020304" pitchFamily="18" charset="0"/>
              </a:rPr>
              <a:t>|| = (1*1+0*0+0*0+0*0+0*0+0*0+0*0+1*1+0*0+2*2)</a:t>
            </a:r>
            <a:r>
              <a:rPr lang="en-US" sz="1800" baseline="30000" dirty="0">
                <a:latin typeface="Times New Roman" panose="02020603050405020304" pitchFamily="18" charset="0"/>
                <a:cs typeface="Times New Roman" panose="02020603050405020304" pitchFamily="18" charset="0"/>
              </a:rPr>
              <a:t> </a:t>
            </a:r>
            <a:r>
              <a:rPr lang="en-US" sz="1800" b="1" baseline="30000" dirty="0">
                <a:latin typeface="Times New Roman" panose="02020603050405020304" pitchFamily="18" charset="0"/>
                <a:cs typeface="Times New Roman" panose="02020603050405020304" pitchFamily="18" charset="0"/>
              </a:rPr>
              <a:t>0.5</a:t>
            </a:r>
            <a:r>
              <a:rPr lang="en-US" sz="1800" baseline="300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 (6) </a:t>
            </a:r>
            <a:r>
              <a:rPr lang="en-US" sz="1800" b="1" baseline="30000" dirty="0">
                <a:latin typeface="Times New Roman" panose="02020603050405020304" pitchFamily="18" charset="0"/>
                <a:cs typeface="Times New Roman" panose="02020603050405020304" pitchFamily="18" charset="0"/>
              </a:rPr>
              <a:t>0.5</a:t>
            </a:r>
            <a:r>
              <a:rPr lang="en-US" sz="1800" dirty="0">
                <a:latin typeface="Times New Roman" panose="02020603050405020304" pitchFamily="18" charset="0"/>
                <a:cs typeface="Times New Roman" panose="02020603050405020304" pitchFamily="18" charset="0"/>
              </a:rPr>
              <a:t> = 2.449</a:t>
            </a:r>
          </a:p>
          <a:p>
            <a:pPr marL="0" indent="0">
              <a:spcBef>
                <a:spcPct val="20000"/>
              </a:spcBef>
              <a:buNone/>
            </a:pPr>
            <a:r>
              <a:rPr lang="en-US" sz="1800" dirty="0">
                <a:latin typeface="Times New Roman" panose="02020603050405020304" pitchFamily="18" charset="0"/>
                <a:cs typeface="Times New Roman" panose="02020603050405020304" pitchFamily="18" charset="0"/>
              </a:rPr>
              <a:t>cos(</a:t>
            </a:r>
            <a:r>
              <a:rPr lang="en-US" sz="1800" b="1" dirty="0">
                <a:latin typeface="Times New Roman" panose="02020603050405020304" pitchFamily="18" charset="0"/>
                <a:cs typeface="Times New Roman" panose="02020603050405020304" pitchFamily="18" charset="0"/>
              </a:rPr>
              <a:t>d</a:t>
            </a:r>
            <a:r>
              <a:rPr lang="en-US" sz="1800" b="1" baseline="-30000" dirty="0">
                <a:latin typeface="Times New Roman" panose="02020603050405020304" pitchFamily="18" charset="0"/>
                <a:cs typeface="Times New Roman" panose="02020603050405020304" pitchFamily="18" charset="0"/>
              </a:rPr>
              <a:t>1</a:t>
            </a:r>
            <a:r>
              <a:rPr lang="en-US" sz="1800" i="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d</a:t>
            </a:r>
            <a:r>
              <a:rPr lang="en-US" sz="1800" b="1" baseline="-30000" dirty="0">
                <a:latin typeface="Times New Roman" panose="02020603050405020304" pitchFamily="18" charset="0"/>
                <a:cs typeface="Times New Roman" panose="02020603050405020304" pitchFamily="18" charset="0"/>
              </a:rPr>
              <a:t>2</a:t>
            </a:r>
            <a:r>
              <a:rPr lang="en-US" sz="1800" dirty="0">
                <a:latin typeface="Times New Roman" panose="02020603050405020304" pitchFamily="18" charset="0"/>
                <a:cs typeface="Times New Roman" panose="02020603050405020304" pitchFamily="18" charset="0"/>
              </a:rPr>
              <a:t> ) = 0.3150</a:t>
            </a:r>
          </a:p>
          <a:p>
            <a:pPr marL="0" indent="0">
              <a:spcBef>
                <a:spcPct val="20000"/>
              </a:spcBef>
              <a:buFont typeface="Monotype Sorts" charset="2"/>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0643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4"/>
          <p:cNvSpPr>
            <a:spLocks noGrp="1" noChangeArrowheads="1"/>
          </p:cNvSpPr>
          <p:nvPr>
            <p:ph type="title"/>
          </p:nvPr>
        </p:nvSpPr>
        <p:spPr/>
        <p:txBody>
          <a:bodyPr/>
          <a:lstStyle/>
          <a:p>
            <a:r>
              <a:rPr lang="en-US" altLang="en-US"/>
              <a:t>What is Cluster Analysis?</a:t>
            </a:r>
          </a:p>
        </p:txBody>
      </p:sp>
      <p:sp>
        <p:nvSpPr>
          <p:cNvPr id="3075" name="Rectangle 5"/>
          <p:cNvSpPr>
            <a:spLocks noGrp="1" noChangeArrowheads="1"/>
          </p:cNvSpPr>
          <p:nvPr>
            <p:ph type="body" idx="1"/>
          </p:nvPr>
        </p:nvSpPr>
        <p:spPr>
          <a:xfrm>
            <a:off x="182563" y="1151466"/>
            <a:ext cx="8732837" cy="1286933"/>
          </a:xfrm>
        </p:spPr>
        <p:txBody>
          <a:bodyPr/>
          <a:lstStyle/>
          <a:p>
            <a:r>
              <a:rPr lang="en-US" altLang="en-US" sz="2400" dirty="0"/>
              <a:t>Given a set of objects, place them in groups such that the objects in a group are similar (or related) to one another and different from (or unrelated to) the objects in other groups</a:t>
            </a:r>
          </a:p>
        </p:txBody>
      </p:sp>
      <p:grpSp>
        <p:nvGrpSpPr>
          <p:cNvPr id="3076" name="Group 6"/>
          <p:cNvGrpSpPr>
            <a:grpSpLocks/>
          </p:cNvGrpSpPr>
          <p:nvPr/>
        </p:nvGrpSpPr>
        <p:grpSpPr bwMode="auto">
          <a:xfrm>
            <a:off x="3276600" y="3570288"/>
            <a:ext cx="3048000" cy="2678112"/>
            <a:chOff x="2160" y="2544"/>
            <a:chExt cx="1920" cy="1687"/>
          </a:xfrm>
        </p:grpSpPr>
        <p:sp>
          <p:nvSpPr>
            <p:cNvPr id="3087" name="Line 7"/>
            <p:cNvSpPr>
              <a:spLocks noChangeShapeType="1"/>
            </p:cNvSpPr>
            <p:nvPr/>
          </p:nvSpPr>
          <p:spPr bwMode="auto">
            <a:xfrm>
              <a:off x="2736" y="2544"/>
              <a:ext cx="0" cy="1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88" name="Line 8"/>
            <p:cNvSpPr>
              <a:spLocks noChangeShapeType="1"/>
            </p:cNvSpPr>
            <p:nvPr/>
          </p:nvSpPr>
          <p:spPr bwMode="auto">
            <a:xfrm>
              <a:off x="2736" y="3696"/>
              <a:ext cx="13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89" name="Freeform 9"/>
            <p:cNvSpPr>
              <a:spLocks/>
            </p:cNvSpPr>
            <p:nvPr/>
          </p:nvSpPr>
          <p:spPr bwMode="auto">
            <a:xfrm>
              <a:off x="2226" y="3696"/>
              <a:ext cx="510" cy="535"/>
            </a:xfrm>
            <a:custGeom>
              <a:avLst/>
              <a:gdLst>
                <a:gd name="T0" fmla="*/ 510 w 510"/>
                <a:gd name="T1" fmla="*/ 0 h 535"/>
                <a:gd name="T2" fmla="*/ 0 w 510"/>
                <a:gd name="T3" fmla="*/ 535 h 535"/>
                <a:gd name="T4" fmla="*/ 0 60000 65536"/>
                <a:gd name="T5" fmla="*/ 0 60000 65536"/>
                <a:gd name="T6" fmla="*/ 0 w 510"/>
                <a:gd name="T7" fmla="*/ 0 h 535"/>
                <a:gd name="T8" fmla="*/ 510 w 510"/>
                <a:gd name="T9" fmla="*/ 535 h 535"/>
              </a:gdLst>
              <a:ahLst/>
              <a:cxnLst>
                <a:cxn ang="T4">
                  <a:pos x="T0" y="T1"/>
                </a:cxn>
                <a:cxn ang="T5">
                  <a:pos x="T2" y="T3"/>
                </a:cxn>
              </a:cxnLst>
              <a:rect l="T6" t="T7" r="T8" b="T9"/>
              <a:pathLst>
                <a:path w="510" h="535">
                  <a:moveTo>
                    <a:pt x="510" y="0"/>
                  </a:moveTo>
                  <a:lnTo>
                    <a:pt x="0" y="535"/>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090" name="AutoShape 10"/>
            <p:cNvSpPr>
              <a:spLocks noChangeArrowheads="1"/>
            </p:cNvSpPr>
            <p:nvPr/>
          </p:nvSpPr>
          <p:spPr bwMode="auto">
            <a:xfrm>
              <a:off x="3264" y="2880"/>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91" name="AutoShape 11"/>
            <p:cNvSpPr>
              <a:spLocks noChangeArrowheads="1"/>
            </p:cNvSpPr>
            <p:nvPr/>
          </p:nvSpPr>
          <p:spPr bwMode="auto">
            <a:xfrm>
              <a:off x="3408" y="2880"/>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92" name="AutoShape 12"/>
            <p:cNvSpPr>
              <a:spLocks noChangeArrowheads="1"/>
            </p:cNvSpPr>
            <p:nvPr/>
          </p:nvSpPr>
          <p:spPr bwMode="auto">
            <a:xfrm>
              <a:off x="3360" y="273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93" name="AutoShape 13"/>
            <p:cNvSpPr>
              <a:spLocks noChangeArrowheads="1"/>
            </p:cNvSpPr>
            <p:nvPr/>
          </p:nvSpPr>
          <p:spPr bwMode="auto">
            <a:xfrm>
              <a:off x="3360" y="3024"/>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94" name="AutoShape 14"/>
            <p:cNvSpPr>
              <a:spLocks noChangeArrowheads="1"/>
            </p:cNvSpPr>
            <p:nvPr/>
          </p:nvSpPr>
          <p:spPr bwMode="auto">
            <a:xfrm>
              <a:off x="3600" y="2880"/>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95" name="AutoShape 15"/>
            <p:cNvSpPr>
              <a:spLocks noChangeArrowheads="1"/>
            </p:cNvSpPr>
            <p:nvPr/>
          </p:nvSpPr>
          <p:spPr bwMode="auto">
            <a:xfrm>
              <a:off x="3504" y="2784"/>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96" name="AutoShape 16"/>
            <p:cNvSpPr>
              <a:spLocks noChangeArrowheads="1"/>
            </p:cNvSpPr>
            <p:nvPr/>
          </p:nvSpPr>
          <p:spPr bwMode="auto">
            <a:xfrm>
              <a:off x="3168" y="273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97" name="AutoShape 17"/>
            <p:cNvSpPr>
              <a:spLocks noChangeArrowheads="1"/>
            </p:cNvSpPr>
            <p:nvPr/>
          </p:nvSpPr>
          <p:spPr bwMode="auto">
            <a:xfrm>
              <a:off x="3504" y="297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98" name="AutoShape 18"/>
            <p:cNvSpPr>
              <a:spLocks noChangeArrowheads="1"/>
            </p:cNvSpPr>
            <p:nvPr/>
          </p:nvSpPr>
          <p:spPr bwMode="auto">
            <a:xfrm>
              <a:off x="3168" y="297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99" name="AutoShape 19"/>
            <p:cNvSpPr>
              <a:spLocks noChangeArrowheads="1"/>
            </p:cNvSpPr>
            <p:nvPr/>
          </p:nvSpPr>
          <p:spPr bwMode="auto">
            <a:xfrm>
              <a:off x="2160" y="3264"/>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00" name="AutoShape 20"/>
            <p:cNvSpPr>
              <a:spLocks noChangeArrowheads="1"/>
            </p:cNvSpPr>
            <p:nvPr/>
          </p:nvSpPr>
          <p:spPr bwMode="auto">
            <a:xfrm>
              <a:off x="2304" y="3312"/>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01" name="AutoShape 21"/>
            <p:cNvSpPr>
              <a:spLocks noChangeArrowheads="1"/>
            </p:cNvSpPr>
            <p:nvPr/>
          </p:nvSpPr>
          <p:spPr bwMode="auto">
            <a:xfrm>
              <a:off x="2304" y="3456"/>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02" name="AutoShape 22"/>
            <p:cNvSpPr>
              <a:spLocks noChangeArrowheads="1"/>
            </p:cNvSpPr>
            <p:nvPr/>
          </p:nvSpPr>
          <p:spPr bwMode="auto">
            <a:xfrm>
              <a:off x="2448" y="3312"/>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03" name="AutoShape 23"/>
            <p:cNvSpPr>
              <a:spLocks noChangeArrowheads="1"/>
            </p:cNvSpPr>
            <p:nvPr/>
          </p:nvSpPr>
          <p:spPr bwMode="auto">
            <a:xfrm>
              <a:off x="2352" y="3168"/>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04" name="AutoShape 24"/>
            <p:cNvSpPr>
              <a:spLocks noChangeArrowheads="1"/>
            </p:cNvSpPr>
            <p:nvPr/>
          </p:nvSpPr>
          <p:spPr bwMode="auto">
            <a:xfrm>
              <a:off x="2448" y="3456"/>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05" name="AutoShape 25"/>
            <p:cNvSpPr>
              <a:spLocks noChangeArrowheads="1"/>
            </p:cNvSpPr>
            <p:nvPr/>
          </p:nvSpPr>
          <p:spPr bwMode="auto">
            <a:xfrm>
              <a:off x="2160" y="3408"/>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06" name="AutoShape 26"/>
            <p:cNvSpPr>
              <a:spLocks noChangeArrowheads="1"/>
            </p:cNvSpPr>
            <p:nvPr/>
          </p:nvSpPr>
          <p:spPr bwMode="auto">
            <a:xfrm>
              <a:off x="3504" y="3552"/>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07" name="AutoShape 27"/>
            <p:cNvSpPr>
              <a:spLocks noChangeArrowheads="1"/>
            </p:cNvSpPr>
            <p:nvPr/>
          </p:nvSpPr>
          <p:spPr bwMode="auto">
            <a:xfrm>
              <a:off x="3792" y="3600"/>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08" name="AutoShape 28"/>
            <p:cNvSpPr>
              <a:spLocks noChangeArrowheads="1"/>
            </p:cNvSpPr>
            <p:nvPr/>
          </p:nvSpPr>
          <p:spPr bwMode="auto">
            <a:xfrm>
              <a:off x="3648" y="3696"/>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09" name="AutoShape 29"/>
            <p:cNvSpPr>
              <a:spLocks noChangeArrowheads="1"/>
            </p:cNvSpPr>
            <p:nvPr/>
          </p:nvSpPr>
          <p:spPr bwMode="auto">
            <a:xfrm>
              <a:off x="3504" y="3792"/>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10" name="AutoShape 30"/>
            <p:cNvSpPr>
              <a:spLocks noChangeArrowheads="1"/>
            </p:cNvSpPr>
            <p:nvPr/>
          </p:nvSpPr>
          <p:spPr bwMode="auto">
            <a:xfrm>
              <a:off x="3696" y="3792"/>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11" name="AutoShape 31"/>
            <p:cNvSpPr>
              <a:spLocks noChangeArrowheads="1"/>
            </p:cNvSpPr>
            <p:nvPr/>
          </p:nvSpPr>
          <p:spPr bwMode="auto">
            <a:xfrm flipV="1">
              <a:off x="3504" y="3648"/>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112" name="AutoShape 32"/>
            <p:cNvSpPr>
              <a:spLocks noChangeArrowheads="1"/>
            </p:cNvSpPr>
            <p:nvPr/>
          </p:nvSpPr>
          <p:spPr bwMode="auto">
            <a:xfrm>
              <a:off x="3696" y="3504"/>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grpSp>
        <p:nvGrpSpPr>
          <p:cNvPr id="3" name="Group 33"/>
          <p:cNvGrpSpPr>
            <a:grpSpLocks/>
          </p:cNvGrpSpPr>
          <p:nvPr/>
        </p:nvGrpSpPr>
        <p:grpSpPr bwMode="auto">
          <a:xfrm>
            <a:off x="5257800" y="2667000"/>
            <a:ext cx="3048000" cy="2514600"/>
            <a:chOff x="3312" y="1584"/>
            <a:chExt cx="1920" cy="1584"/>
          </a:xfrm>
        </p:grpSpPr>
        <p:sp>
          <p:nvSpPr>
            <p:cNvPr id="3085" name="Line 34"/>
            <p:cNvSpPr>
              <a:spLocks noChangeShapeType="1"/>
            </p:cNvSpPr>
            <p:nvPr/>
          </p:nvSpPr>
          <p:spPr bwMode="auto">
            <a:xfrm flipH="1" flipV="1">
              <a:off x="3312" y="2736"/>
              <a:ext cx="144" cy="432"/>
            </a:xfrm>
            <a:prstGeom prst="line">
              <a:avLst/>
            </a:prstGeom>
            <a:noFill/>
            <a:ln w="25400">
              <a:solidFill>
                <a:srgbClr val="CC66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86" name="AutoShape 35"/>
            <p:cNvSpPr>
              <a:spLocks noChangeArrowheads="1"/>
            </p:cNvSpPr>
            <p:nvPr/>
          </p:nvSpPr>
          <p:spPr bwMode="auto">
            <a:xfrm>
              <a:off x="3984" y="1584"/>
              <a:ext cx="1248" cy="672"/>
            </a:xfrm>
            <a:prstGeom prst="wedgeRectCallout">
              <a:avLst>
                <a:gd name="adj1" fmla="val -93509"/>
                <a:gd name="adj2" fmla="val 150894"/>
              </a:avLst>
            </a:prstGeom>
            <a:solidFill>
              <a:srgbClr val="00FFFF"/>
            </a:solidFill>
            <a:ln w="25400">
              <a:solidFill>
                <a:schemeClr val="tx1"/>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gn="ctr" eaLnBrk="1" hangingPunct="1">
                <a:spcBef>
                  <a:spcPct val="50000"/>
                </a:spcBef>
              </a:pPr>
              <a:r>
                <a:rPr lang="en-US" altLang="en-US" sz="2000" b="0">
                  <a:latin typeface="Tahoma" pitchFamily="34" charset="0"/>
                </a:rPr>
                <a:t>Inter-cluster distances are maximized</a:t>
              </a:r>
            </a:p>
          </p:txBody>
        </p:sp>
      </p:grpSp>
      <p:grpSp>
        <p:nvGrpSpPr>
          <p:cNvPr id="4" name="Group 36"/>
          <p:cNvGrpSpPr>
            <a:grpSpLocks/>
          </p:cNvGrpSpPr>
          <p:nvPr/>
        </p:nvGrpSpPr>
        <p:grpSpPr bwMode="auto">
          <a:xfrm>
            <a:off x="2895600" y="3657600"/>
            <a:ext cx="3276600" cy="2286000"/>
            <a:chOff x="1824" y="2208"/>
            <a:chExt cx="2064" cy="1440"/>
          </a:xfrm>
        </p:grpSpPr>
        <p:sp>
          <p:nvSpPr>
            <p:cNvPr id="3082" name="Oval 37"/>
            <p:cNvSpPr>
              <a:spLocks noChangeArrowheads="1"/>
            </p:cNvSpPr>
            <p:nvPr/>
          </p:nvSpPr>
          <p:spPr bwMode="auto">
            <a:xfrm>
              <a:off x="1824" y="2592"/>
              <a:ext cx="816" cy="720"/>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83" name="Oval 38"/>
            <p:cNvSpPr>
              <a:spLocks noChangeArrowheads="1"/>
            </p:cNvSpPr>
            <p:nvPr/>
          </p:nvSpPr>
          <p:spPr bwMode="auto">
            <a:xfrm>
              <a:off x="2928" y="2208"/>
              <a:ext cx="720" cy="624"/>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3084" name="Oval 39"/>
            <p:cNvSpPr>
              <a:spLocks noChangeArrowheads="1"/>
            </p:cNvSpPr>
            <p:nvPr/>
          </p:nvSpPr>
          <p:spPr bwMode="auto">
            <a:xfrm>
              <a:off x="3216" y="3024"/>
              <a:ext cx="672" cy="624"/>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grpSp>
        <p:nvGrpSpPr>
          <p:cNvPr id="5" name="Group 40"/>
          <p:cNvGrpSpPr>
            <a:grpSpLocks/>
          </p:cNvGrpSpPr>
          <p:nvPr/>
        </p:nvGrpSpPr>
        <p:grpSpPr bwMode="auto">
          <a:xfrm>
            <a:off x="1295400" y="2971800"/>
            <a:ext cx="2286000" cy="1676400"/>
            <a:chOff x="816" y="1776"/>
            <a:chExt cx="1440" cy="1056"/>
          </a:xfrm>
        </p:grpSpPr>
        <p:sp>
          <p:nvSpPr>
            <p:cNvPr id="3080" name="Line 41"/>
            <p:cNvSpPr>
              <a:spLocks noChangeShapeType="1"/>
            </p:cNvSpPr>
            <p:nvPr/>
          </p:nvSpPr>
          <p:spPr bwMode="auto">
            <a:xfrm flipV="1">
              <a:off x="2064" y="2736"/>
              <a:ext cx="192" cy="96"/>
            </a:xfrm>
            <a:prstGeom prst="line">
              <a:avLst/>
            </a:prstGeom>
            <a:noFill/>
            <a:ln w="25400">
              <a:solidFill>
                <a:srgbClr val="CC66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081" name="AutoShape 42"/>
            <p:cNvSpPr>
              <a:spLocks noChangeArrowheads="1"/>
            </p:cNvSpPr>
            <p:nvPr/>
          </p:nvSpPr>
          <p:spPr bwMode="auto">
            <a:xfrm>
              <a:off x="816" y="1776"/>
              <a:ext cx="1248" cy="672"/>
            </a:xfrm>
            <a:prstGeom prst="wedgeRectCallout">
              <a:avLst>
                <a:gd name="adj1" fmla="val 56250"/>
                <a:gd name="adj2" fmla="val 92856"/>
              </a:avLst>
            </a:prstGeom>
            <a:solidFill>
              <a:srgbClr val="00FFFF"/>
            </a:solidFill>
            <a:ln w="25400">
              <a:solidFill>
                <a:schemeClr val="tx1"/>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lgn="ctr" eaLnBrk="1" hangingPunct="1">
                <a:spcBef>
                  <a:spcPct val="50000"/>
                </a:spcBef>
              </a:pPr>
              <a:r>
                <a:rPr lang="en-US" altLang="en-US" sz="2000" b="0">
                  <a:latin typeface="Tahoma" pitchFamily="34" charset="0"/>
                </a:rPr>
                <a:t>Intra-cluster distances are minimized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p:cNvSpPr>
            <a:spLocks noGrp="1" noChangeArrowheads="1"/>
          </p:cNvSpPr>
          <p:nvPr>
            <p:ph type="title"/>
          </p:nvPr>
        </p:nvSpPr>
        <p:spPr/>
        <p:txBody>
          <a:bodyPr/>
          <a:lstStyle/>
          <a:p>
            <a:r>
              <a:rPr lang="en-US" altLang="en-US"/>
              <a:t>Applications of Cluster Analysis</a:t>
            </a:r>
          </a:p>
        </p:txBody>
      </p:sp>
      <p:sp>
        <p:nvSpPr>
          <p:cNvPr id="4099" name="Rectangle 1027"/>
          <p:cNvSpPr>
            <a:spLocks noGrp="1" noChangeArrowheads="1"/>
          </p:cNvSpPr>
          <p:nvPr>
            <p:ph type="body" sz="half" idx="1"/>
          </p:nvPr>
        </p:nvSpPr>
        <p:spPr>
          <a:xfrm>
            <a:off x="411162" y="1143000"/>
            <a:ext cx="8656637" cy="5181600"/>
          </a:xfrm>
        </p:spPr>
        <p:txBody>
          <a:bodyPr/>
          <a:lstStyle/>
          <a:p>
            <a:pPr>
              <a:spcBef>
                <a:spcPct val="20000"/>
              </a:spcBef>
            </a:pPr>
            <a:r>
              <a:rPr lang="en-US" altLang="en-US" sz="2400" b="1" dirty="0"/>
              <a:t>Understanding</a:t>
            </a:r>
          </a:p>
          <a:p>
            <a:pPr lvl="1">
              <a:spcBef>
                <a:spcPct val="20000"/>
              </a:spcBef>
            </a:pPr>
            <a:r>
              <a:rPr lang="en-US" altLang="en-US" sz="2000" dirty="0"/>
              <a:t>Group related documents for browsing, group genes and proteins that have similar functionality, or group stocks with similar price fluctuations</a:t>
            </a:r>
            <a:endParaRPr lang="en-US" altLang="en-US" sz="2000" b="1" dirty="0"/>
          </a:p>
          <a:p>
            <a:pPr>
              <a:spcBef>
                <a:spcPct val="20000"/>
              </a:spcBef>
            </a:pPr>
            <a:endParaRPr lang="en-US" altLang="en-US" sz="2400" b="1" dirty="0"/>
          </a:p>
          <a:p>
            <a:pPr>
              <a:spcBef>
                <a:spcPct val="20000"/>
              </a:spcBef>
            </a:pPr>
            <a:r>
              <a:rPr lang="en-US" altLang="en-US" sz="2400" b="1" dirty="0"/>
              <a:t>Summarization</a:t>
            </a:r>
          </a:p>
          <a:p>
            <a:pPr lvl="1">
              <a:spcBef>
                <a:spcPct val="20000"/>
              </a:spcBef>
            </a:pPr>
            <a:r>
              <a:rPr lang="en-US" altLang="en-US" sz="2000" dirty="0"/>
              <a:t>Reduce the size of large data sets</a:t>
            </a:r>
          </a:p>
          <a:p>
            <a:endParaRPr lang="en-US" alt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688CB-F42A-8636-BC4F-C052EFAA567C}"/>
            </a:ext>
          </a:extLst>
        </p:cNvPr>
        <p:cNvGrpSpPr/>
        <p:nvPr/>
      </p:nvGrpSpPr>
      <p:grpSpPr>
        <a:xfrm>
          <a:off x="0" y="0"/>
          <a:ext cx="0" cy="0"/>
          <a:chOff x="0" y="0"/>
          <a:chExt cx="0" cy="0"/>
        </a:xfrm>
      </p:grpSpPr>
      <p:sp>
        <p:nvSpPr>
          <p:cNvPr id="4098" name="Rectangle 1026">
            <a:extLst>
              <a:ext uri="{FF2B5EF4-FFF2-40B4-BE49-F238E27FC236}">
                <a16:creationId xmlns:a16="http://schemas.microsoft.com/office/drawing/2014/main" id="{443B0EB6-24B9-5E0E-B0BC-BD7F58AD9127}"/>
              </a:ext>
            </a:extLst>
          </p:cNvPr>
          <p:cNvSpPr>
            <a:spLocks noGrp="1" noChangeArrowheads="1"/>
          </p:cNvSpPr>
          <p:nvPr>
            <p:ph type="title"/>
          </p:nvPr>
        </p:nvSpPr>
        <p:spPr/>
        <p:txBody>
          <a:bodyPr/>
          <a:lstStyle/>
          <a:p>
            <a:r>
              <a:rPr lang="en-US" altLang="en-US"/>
              <a:t>Applications of Cluster Analysis</a:t>
            </a:r>
          </a:p>
        </p:txBody>
      </p:sp>
      <p:sp>
        <p:nvSpPr>
          <p:cNvPr id="4099" name="Rectangle 1027">
            <a:extLst>
              <a:ext uri="{FF2B5EF4-FFF2-40B4-BE49-F238E27FC236}">
                <a16:creationId xmlns:a16="http://schemas.microsoft.com/office/drawing/2014/main" id="{72E06184-8463-CA79-440B-3C50113652B9}"/>
              </a:ext>
            </a:extLst>
          </p:cNvPr>
          <p:cNvSpPr>
            <a:spLocks noGrp="1" noChangeArrowheads="1"/>
          </p:cNvSpPr>
          <p:nvPr>
            <p:ph type="body" sz="half" idx="1"/>
          </p:nvPr>
        </p:nvSpPr>
        <p:spPr>
          <a:xfrm>
            <a:off x="411162" y="1143000"/>
            <a:ext cx="8656637" cy="5181600"/>
          </a:xfrm>
        </p:spPr>
        <p:txBody>
          <a:bodyPr/>
          <a:lstStyle/>
          <a:p>
            <a:pPr>
              <a:spcBef>
                <a:spcPct val="20000"/>
              </a:spcBef>
            </a:pPr>
            <a:endParaRPr lang="en-US" altLang="en-US" sz="2400" b="1" dirty="0"/>
          </a:p>
          <a:p>
            <a:endParaRPr lang="en-US" altLang="en-US" sz="2400" dirty="0"/>
          </a:p>
        </p:txBody>
      </p:sp>
      <p:sp>
        <p:nvSpPr>
          <p:cNvPr id="2" name="Rectangle 1">
            <a:extLst>
              <a:ext uri="{FF2B5EF4-FFF2-40B4-BE49-F238E27FC236}">
                <a16:creationId xmlns:a16="http://schemas.microsoft.com/office/drawing/2014/main" id="{7E2D3F1B-FFB2-EE99-2ED0-A741372A3400}"/>
              </a:ext>
            </a:extLst>
          </p:cNvPr>
          <p:cNvSpPr>
            <a:spLocks noChangeArrowheads="1"/>
          </p:cNvSpPr>
          <p:nvPr/>
        </p:nvSpPr>
        <p:spPr bwMode="auto">
          <a:xfrm>
            <a:off x="482600" y="-3774330"/>
            <a:ext cx="8432800" cy="10064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 Segmentation</a:t>
            </a:r>
            <a:r>
              <a:rPr kumimoji="0" lang="en-US" altLang="en-US" sz="1800" b="0" i="0" u="none" strike="noStrike" cap="none" normalizeH="0" baseline="0" dirty="0">
                <a:ln>
                  <a:noFill/>
                </a:ln>
                <a:solidFill>
                  <a:schemeClr val="tx1"/>
                </a:solidFill>
                <a:effectLst/>
                <a:latin typeface="Arial" panose="020B0604020202020204" pitchFamily="34" charset="0"/>
              </a:rPr>
              <a:t>: Grouping customers with similar behaviors for targeted marketing strategies.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Image Segmentation</a:t>
            </a:r>
            <a:r>
              <a:rPr kumimoji="0" lang="en-US" altLang="en-US" sz="1800" b="0" i="0" u="none" strike="noStrike" cap="none" normalizeH="0" baseline="0" dirty="0">
                <a:ln>
                  <a:noFill/>
                </a:ln>
                <a:solidFill>
                  <a:schemeClr val="tx1"/>
                </a:solidFill>
                <a:effectLst/>
                <a:latin typeface="Arial" panose="020B0604020202020204" pitchFamily="34" charset="0"/>
              </a:rPr>
              <a:t>: Dividing images into regions for object detection, medical imaging, and visual processing.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Document and Text Analysis</a:t>
            </a:r>
            <a:r>
              <a:rPr kumimoji="0" lang="en-US" altLang="en-US" sz="1800" b="0" i="0" u="none" strike="noStrike" cap="none" normalizeH="0" baseline="0" dirty="0">
                <a:ln>
                  <a:noFill/>
                </a:ln>
                <a:solidFill>
                  <a:schemeClr val="tx1"/>
                </a:solidFill>
                <a:effectLst/>
                <a:latin typeface="Arial" panose="020B0604020202020204" pitchFamily="34" charset="0"/>
              </a:rPr>
              <a:t>: Organizing documents or topics based on similarity for content recommendation, news categorization, or sentiment analysis.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Anomaly Detection</a:t>
            </a:r>
            <a:r>
              <a:rPr kumimoji="0" lang="en-US" altLang="en-US" sz="1800" b="0" i="0" u="none" strike="noStrike" cap="none" normalizeH="0" baseline="0" dirty="0">
                <a:ln>
                  <a:noFill/>
                </a:ln>
                <a:solidFill>
                  <a:schemeClr val="tx1"/>
                </a:solidFill>
                <a:effectLst/>
                <a:latin typeface="Arial" panose="020B0604020202020204" pitchFamily="34" charset="0"/>
              </a:rPr>
              <a:t>: Identifying unusual patterns in data, such as fraud detection or fault detection in systems.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Genomics and Bioinformatics</a:t>
            </a:r>
            <a:r>
              <a:rPr kumimoji="0" lang="en-US" altLang="en-US" sz="1800" b="0" i="0" u="none" strike="noStrike" cap="none" normalizeH="0" baseline="0" dirty="0">
                <a:ln>
                  <a:noFill/>
                </a:ln>
                <a:solidFill>
                  <a:schemeClr val="tx1"/>
                </a:solidFill>
                <a:effectLst/>
                <a:latin typeface="Arial" panose="020B0604020202020204" pitchFamily="34" charset="0"/>
              </a:rPr>
              <a:t>: Classifying genes, proteins, or diseases based on biological data for insights into genetic relationships.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Recommender Systems</a:t>
            </a:r>
            <a:r>
              <a:rPr kumimoji="0" lang="en-US" altLang="en-US" sz="1800" b="0" i="0" u="none" strike="noStrike" cap="none" normalizeH="0" baseline="0" dirty="0">
                <a:ln>
                  <a:noFill/>
                </a:ln>
                <a:solidFill>
                  <a:schemeClr val="tx1"/>
                </a:solidFill>
                <a:effectLst/>
                <a:latin typeface="Arial" panose="020B0604020202020204" pitchFamily="34" charset="0"/>
              </a:rPr>
              <a:t>: Clustering users or items to provide personalized recommendations.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Social Network Analysis</a:t>
            </a:r>
            <a:r>
              <a:rPr kumimoji="0" lang="en-US" altLang="en-US" sz="1800" b="0" i="0" u="none" strike="noStrike" cap="none" normalizeH="0" baseline="0" dirty="0">
                <a:ln>
                  <a:noFill/>
                </a:ln>
                <a:solidFill>
                  <a:schemeClr val="tx1"/>
                </a:solidFill>
                <a:effectLst/>
                <a:latin typeface="Arial" panose="020B0604020202020204" pitchFamily="34" charset="0"/>
              </a:rPr>
              <a:t>: Discovering communities and patterns of interaction within social networks.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Market Basket Analysis</a:t>
            </a:r>
            <a:r>
              <a:rPr kumimoji="0" lang="en-US" altLang="en-US" sz="1800" b="0" i="0" u="none" strike="noStrike" cap="none" normalizeH="0" baseline="0" dirty="0">
                <a:ln>
                  <a:noFill/>
                </a:ln>
                <a:solidFill>
                  <a:schemeClr val="tx1"/>
                </a:solidFill>
                <a:effectLst/>
                <a:latin typeface="Arial" panose="020B0604020202020204" pitchFamily="34" charset="0"/>
              </a:rPr>
              <a:t>: Grouping similar products to understand purchasing patterns and optimize inventory. </a:t>
            </a:r>
          </a:p>
        </p:txBody>
      </p:sp>
    </p:spTree>
    <p:extLst>
      <p:ext uri="{BB962C8B-B14F-4D97-AF65-F5344CB8AC3E}">
        <p14:creationId xmlns:p14="http://schemas.microsoft.com/office/powerpoint/2010/main" val="2081396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81000" y="152400"/>
            <a:ext cx="8280400" cy="552450"/>
          </a:xfrm>
        </p:spPr>
        <p:txBody>
          <a:bodyPr/>
          <a:lstStyle/>
          <a:p>
            <a:r>
              <a:rPr lang="en-US" altLang="en-US"/>
              <a:t>Notion of a Cluster can be Ambiguous</a:t>
            </a:r>
          </a:p>
        </p:txBody>
      </p:sp>
      <p:grpSp>
        <p:nvGrpSpPr>
          <p:cNvPr id="6147" name="Group 91"/>
          <p:cNvGrpSpPr>
            <a:grpSpLocks/>
          </p:cNvGrpSpPr>
          <p:nvPr/>
        </p:nvGrpSpPr>
        <p:grpSpPr bwMode="auto">
          <a:xfrm>
            <a:off x="685800" y="1905000"/>
            <a:ext cx="3344863" cy="1509713"/>
            <a:chOff x="432" y="1200"/>
            <a:chExt cx="2107" cy="951"/>
          </a:xfrm>
        </p:grpSpPr>
        <p:grpSp>
          <p:nvGrpSpPr>
            <p:cNvPr id="6217" name="Group 3"/>
            <p:cNvGrpSpPr>
              <a:grpSpLocks noChangeAspect="1"/>
            </p:cNvGrpSpPr>
            <p:nvPr/>
          </p:nvGrpSpPr>
          <p:grpSpPr bwMode="auto">
            <a:xfrm>
              <a:off x="432" y="1200"/>
              <a:ext cx="2107" cy="516"/>
              <a:chOff x="2464" y="2296"/>
              <a:chExt cx="2634" cy="646"/>
            </a:xfrm>
          </p:grpSpPr>
          <p:sp>
            <p:nvSpPr>
              <p:cNvPr id="6219" name="Oval 4"/>
              <p:cNvSpPr>
                <a:spLocks noChangeAspect="1" noChangeArrowheads="1"/>
              </p:cNvSpPr>
              <p:nvPr/>
            </p:nvSpPr>
            <p:spPr bwMode="auto">
              <a:xfrm>
                <a:off x="4564" y="2730"/>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20" name="Oval 5"/>
              <p:cNvSpPr>
                <a:spLocks noChangeAspect="1" noChangeArrowheads="1"/>
              </p:cNvSpPr>
              <p:nvPr/>
            </p:nvSpPr>
            <p:spPr bwMode="auto">
              <a:xfrm>
                <a:off x="4312" y="2842"/>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21" name="Oval 6"/>
              <p:cNvSpPr>
                <a:spLocks noChangeAspect="1" noChangeArrowheads="1"/>
              </p:cNvSpPr>
              <p:nvPr/>
            </p:nvSpPr>
            <p:spPr bwMode="auto">
              <a:xfrm>
                <a:off x="4466" y="2856"/>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22" name="Oval 7"/>
              <p:cNvSpPr>
                <a:spLocks noChangeAspect="1" noChangeArrowheads="1"/>
              </p:cNvSpPr>
              <p:nvPr/>
            </p:nvSpPr>
            <p:spPr bwMode="auto">
              <a:xfrm>
                <a:off x="4410" y="2744"/>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23" name="Oval 8"/>
              <p:cNvSpPr>
                <a:spLocks noChangeAspect="1" noChangeArrowheads="1"/>
              </p:cNvSpPr>
              <p:nvPr/>
            </p:nvSpPr>
            <p:spPr bwMode="auto">
              <a:xfrm>
                <a:off x="4326" y="2478"/>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24" name="Oval 9"/>
              <p:cNvSpPr>
                <a:spLocks noChangeAspect="1" noChangeArrowheads="1"/>
              </p:cNvSpPr>
              <p:nvPr/>
            </p:nvSpPr>
            <p:spPr bwMode="auto">
              <a:xfrm>
                <a:off x="4158" y="2422"/>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25" name="Oval 10"/>
              <p:cNvSpPr>
                <a:spLocks noChangeAspect="1" noChangeArrowheads="1"/>
              </p:cNvSpPr>
              <p:nvPr/>
            </p:nvSpPr>
            <p:spPr bwMode="auto">
              <a:xfrm>
                <a:off x="4242" y="2296"/>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26" name="Oval 11"/>
              <p:cNvSpPr>
                <a:spLocks noChangeAspect="1" noChangeArrowheads="1"/>
              </p:cNvSpPr>
              <p:nvPr/>
            </p:nvSpPr>
            <p:spPr bwMode="auto">
              <a:xfrm>
                <a:off x="4788" y="2716"/>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27" name="Oval 12"/>
              <p:cNvSpPr>
                <a:spLocks noChangeAspect="1" noChangeArrowheads="1"/>
              </p:cNvSpPr>
              <p:nvPr/>
            </p:nvSpPr>
            <p:spPr bwMode="auto">
              <a:xfrm>
                <a:off x="5012" y="2618"/>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28" name="Oval 13"/>
              <p:cNvSpPr>
                <a:spLocks noChangeAspect="1" noChangeArrowheads="1"/>
              </p:cNvSpPr>
              <p:nvPr/>
            </p:nvSpPr>
            <p:spPr bwMode="auto">
              <a:xfrm>
                <a:off x="4788" y="2534"/>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29" name="Oval 14"/>
              <p:cNvSpPr>
                <a:spLocks noChangeAspect="1" noChangeArrowheads="1"/>
              </p:cNvSpPr>
              <p:nvPr/>
            </p:nvSpPr>
            <p:spPr bwMode="auto">
              <a:xfrm flipV="1">
                <a:off x="2870" y="2422"/>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30" name="Oval 15"/>
              <p:cNvSpPr>
                <a:spLocks noChangeAspect="1" noChangeArrowheads="1"/>
              </p:cNvSpPr>
              <p:nvPr/>
            </p:nvSpPr>
            <p:spPr bwMode="auto">
              <a:xfrm flipV="1">
                <a:off x="2618" y="2310"/>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31" name="Oval 16"/>
              <p:cNvSpPr>
                <a:spLocks noChangeAspect="1" noChangeArrowheads="1"/>
              </p:cNvSpPr>
              <p:nvPr/>
            </p:nvSpPr>
            <p:spPr bwMode="auto">
              <a:xfrm flipV="1">
                <a:off x="2772" y="2296"/>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32" name="Oval 17"/>
              <p:cNvSpPr>
                <a:spLocks noChangeAspect="1" noChangeArrowheads="1"/>
              </p:cNvSpPr>
              <p:nvPr/>
            </p:nvSpPr>
            <p:spPr bwMode="auto">
              <a:xfrm flipV="1">
                <a:off x="2716" y="2408"/>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33" name="Oval 18"/>
              <p:cNvSpPr>
                <a:spLocks noChangeAspect="1" noChangeArrowheads="1"/>
              </p:cNvSpPr>
              <p:nvPr/>
            </p:nvSpPr>
            <p:spPr bwMode="auto">
              <a:xfrm flipV="1">
                <a:off x="2632" y="2674"/>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34" name="Oval 19"/>
              <p:cNvSpPr>
                <a:spLocks noChangeAspect="1" noChangeArrowheads="1"/>
              </p:cNvSpPr>
              <p:nvPr/>
            </p:nvSpPr>
            <p:spPr bwMode="auto">
              <a:xfrm flipV="1">
                <a:off x="2464" y="2730"/>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35" name="Oval 20"/>
              <p:cNvSpPr>
                <a:spLocks noChangeAspect="1" noChangeArrowheads="1"/>
              </p:cNvSpPr>
              <p:nvPr/>
            </p:nvSpPr>
            <p:spPr bwMode="auto">
              <a:xfrm flipV="1">
                <a:off x="2548" y="2856"/>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36" name="Oval 21"/>
              <p:cNvSpPr>
                <a:spLocks noChangeAspect="1" noChangeArrowheads="1"/>
              </p:cNvSpPr>
              <p:nvPr/>
            </p:nvSpPr>
            <p:spPr bwMode="auto">
              <a:xfrm flipV="1">
                <a:off x="3094" y="2436"/>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37" name="Oval 22"/>
              <p:cNvSpPr>
                <a:spLocks noChangeAspect="1" noChangeArrowheads="1"/>
              </p:cNvSpPr>
              <p:nvPr/>
            </p:nvSpPr>
            <p:spPr bwMode="auto">
              <a:xfrm flipV="1">
                <a:off x="3318" y="2534"/>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38" name="Oval 23"/>
              <p:cNvSpPr>
                <a:spLocks noChangeAspect="1" noChangeArrowheads="1"/>
              </p:cNvSpPr>
              <p:nvPr/>
            </p:nvSpPr>
            <p:spPr bwMode="auto">
              <a:xfrm flipV="1">
                <a:off x="3094" y="2618"/>
                <a:ext cx="86" cy="86"/>
              </a:xfrm>
              <a:prstGeom prst="ellipse">
                <a:avLst/>
              </a:prstGeom>
              <a:solidFill>
                <a:srgbClr val="000000"/>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sp>
          <p:nvSpPr>
            <p:cNvPr id="6218" name="Rectangle 87"/>
            <p:cNvSpPr>
              <a:spLocks noChangeArrowheads="1"/>
            </p:cNvSpPr>
            <p:nvPr/>
          </p:nvSpPr>
          <p:spPr bwMode="auto">
            <a:xfrm>
              <a:off x="624" y="1920"/>
              <a:ext cx="14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r>
                <a:rPr lang="en-US" altLang="en-US" sz="1800" b="0">
                  <a:cs typeface="Times New Roman" pitchFamily="18" charset="0"/>
                </a:rPr>
                <a:t>How many clusters?</a:t>
              </a:r>
              <a:endParaRPr lang="en-US" altLang="en-US" sz="1800" b="0"/>
            </a:p>
          </p:txBody>
        </p:sp>
      </p:grpSp>
      <p:grpSp>
        <p:nvGrpSpPr>
          <p:cNvPr id="4" name="Group 94"/>
          <p:cNvGrpSpPr>
            <a:grpSpLocks/>
          </p:cNvGrpSpPr>
          <p:nvPr/>
        </p:nvGrpSpPr>
        <p:grpSpPr bwMode="auto">
          <a:xfrm>
            <a:off x="4960938" y="4114800"/>
            <a:ext cx="3344862" cy="1401763"/>
            <a:chOff x="3125" y="2592"/>
            <a:chExt cx="2107" cy="883"/>
          </a:xfrm>
        </p:grpSpPr>
        <p:grpSp>
          <p:nvGrpSpPr>
            <p:cNvPr id="6195" name="Group 66"/>
            <p:cNvGrpSpPr>
              <a:grpSpLocks/>
            </p:cNvGrpSpPr>
            <p:nvPr/>
          </p:nvGrpSpPr>
          <p:grpSpPr bwMode="auto">
            <a:xfrm>
              <a:off x="3125" y="2592"/>
              <a:ext cx="2107" cy="518"/>
              <a:chOff x="3125" y="2592"/>
              <a:chExt cx="2107" cy="518"/>
            </a:xfrm>
          </p:grpSpPr>
          <p:sp>
            <p:nvSpPr>
              <p:cNvPr id="6197" name="AutoShape 67"/>
              <p:cNvSpPr>
                <a:spLocks noChangeAspect="1" noChangeArrowheads="1"/>
              </p:cNvSpPr>
              <p:nvPr/>
            </p:nvSpPr>
            <p:spPr bwMode="auto">
              <a:xfrm>
                <a:off x="4805" y="2940"/>
                <a:ext cx="69" cy="69"/>
              </a:xfrm>
              <a:prstGeom prst="diamond">
                <a:avLst/>
              </a:prstGeom>
              <a:solidFill>
                <a:srgbClr val="FFCC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98" name="AutoShape 68"/>
              <p:cNvSpPr>
                <a:spLocks noChangeAspect="1" noChangeArrowheads="1"/>
              </p:cNvSpPr>
              <p:nvPr/>
            </p:nvSpPr>
            <p:spPr bwMode="auto">
              <a:xfrm>
                <a:off x="4603" y="3030"/>
                <a:ext cx="69" cy="69"/>
              </a:xfrm>
              <a:prstGeom prst="diamond">
                <a:avLst/>
              </a:prstGeom>
              <a:solidFill>
                <a:srgbClr val="FFCC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99" name="AutoShape 69"/>
              <p:cNvSpPr>
                <a:spLocks noChangeAspect="1" noChangeArrowheads="1"/>
              </p:cNvSpPr>
              <p:nvPr/>
            </p:nvSpPr>
            <p:spPr bwMode="auto">
              <a:xfrm>
                <a:off x="4726" y="3041"/>
                <a:ext cx="69" cy="69"/>
              </a:xfrm>
              <a:prstGeom prst="diamond">
                <a:avLst/>
              </a:prstGeom>
              <a:solidFill>
                <a:srgbClr val="FFCC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00" name="AutoShape 70"/>
              <p:cNvSpPr>
                <a:spLocks noChangeAspect="1" noChangeArrowheads="1"/>
              </p:cNvSpPr>
              <p:nvPr/>
            </p:nvSpPr>
            <p:spPr bwMode="auto">
              <a:xfrm>
                <a:off x="4682" y="2951"/>
                <a:ext cx="68" cy="69"/>
              </a:xfrm>
              <a:prstGeom prst="diamond">
                <a:avLst/>
              </a:prstGeom>
              <a:solidFill>
                <a:srgbClr val="FFCC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1537095" name="AutoShape 71"/>
              <p:cNvSpPr>
                <a:spLocks noChangeAspect="1" noChangeArrowheads="1"/>
              </p:cNvSpPr>
              <p:nvPr/>
            </p:nvSpPr>
            <p:spPr bwMode="auto">
              <a:xfrm>
                <a:off x="4614" y="2738"/>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1537096" name="AutoShape 72"/>
              <p:cNvSpPr>
                <a:spLocks noChangeAspect="1" noChangeArrowheads="1"/>
              </p:cNvSpPr>
              <p:nvPr/>
            </p:nvSpPr>
            <p:spPr bwMode="auto">
              <a:xfrm>
                <a:off x="4480" y="2693"/>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1537097" name="AutoShape 73"/>
              <p:cNvSpPr>
                <a:spLocks noChangeAspect="1" noChangeArrowheads="1"/>
              </p:cNvSpPr>
              <p:nvPr/>
            </p:nvSpPr>
            <p:spPr bwMode="auto">
              <a:xfrm>
                <a:off x="4547" y="2592"/>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6204" name="AutoShape 74"/>
              <p:cNvSpPr>
                <a:spLocks noChangeAspect="1" noChangeArrowheads="1"/>
              </p:cNvSpPr>
              <p:nvPr/>
            </p:nvSpPr>
            <p:spPr bwMode="auto">
              <a:xfrm>
                <a:off x="4984" y="2929"/>
                <a:ext cx="69" cy="69"/>
              </a:xfrm>
              <a:prstGeom prst="diamond">
                <a:avLst/>
              </a:prstGeom>
              <a:solidFill>
                <a:srgbClr val="FFCC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05" name="AutoShape 75"/>
              <p:cNvSpPr>
                <a:spLocks noChangeAspect="1" noChangeArrowheads="1"/>
              </p:cNvSpPr>
              <p:nvPr/>
            </p:nvSpPr>
            <p:spPr bwMode="auto">
              <a:xfrm>
                <a:off x="5163" y="2850"/>
                <a:ext cx="69" cy="69"/>
              </a:xfrm>
              <a:prstGeom prst="diamond">
                <a:avLst/>
              </a:prstGeom>
              <a:solidFill>
                <a:srgbClr val="FFCC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06" name="AutoShape 76"/>
              <p:cNvSpPr>
                <a:spLocks noChangeAspect="1" noChangeArrowheads="1"/>
              </p:cNvSpPr>
              <p:nvPr/>
            </p:nvSpPr>
            <p:spPr bwMode="auto">
              <a:xfrm>
                <a:off x="4984" y="2783"/>
                <a:ext cx="69" cy="69"/>
              </a:xfrm>
              <a:prstGeom prst="diamond">
                <a:avLst/>
              </a:prstGeom>
              <a:solidFill>
                <a:srgbClr val="FFCC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07" name="AutoShape 77"/>
              <p:cNvSpPr>
                <a:spLocks noChangeAspect="1" noChangeArrowheads="1"/>
              </p:cNvSpPr>
              <p:nvPr/>
            </p:nvSpPr>
            <p:spPr bwMode="auto">
              <a:xfrm flipV="1">
                <a:off x="3450" y="2693"/>
                <a:ext cx="69"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08" name="AutoShape 78"/>
              <p:cNvSpPr>
                <a:spLocks noChangeAspect="1" noChangeArrowheads="1"/>
              </p:cNvSpPr>
              <p:nvPr/>
            </p:nvSpPr>
            <p:spPr bwMode="auto">
              <a:xfrm flipV="1">
                <a:off x="3248" y="2603"/>
                <a:ext cx="69"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09" name="AutoShape 79"/>
              <p:cNvSpPr>
                <a:spLocks noChangeAspect="1" noChangeArrowheads="1"/>
              </p:cNvSpPr>
              <p:nvPr/>
            </p:nvSpPr>
            <p:spPr bwMode="auto">
              <a:xfrm flipV="1">
                <a:off x="3371" y="2592"/>
                <a:ext cx="69"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10" name="AutoShape 80"/>
              <p:cNvSpPr>
                <a:spLocks noChangeAspect="1" noChangeArrowheads="1"/>
              </p:cNvSpPr>
              <p:nvPr/>
            </p:nvSpPr>
            <p:spPr bwMode="auto">
              <a:xfrm flipV="1">
                <a:off x="3327" y="2682"/>
                <a:ext cx="68"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11" name="AutoShape 81"/>
              <p:cNvSpPr>
                <a:spLocks noChangeAspect="1" noChangeArrowheads="1"/>
              </p:cNvSpPr>
              <p:nvPr/>
            </p:nvSpPr>
            <p:spPr bwMode="auto">
              <a:xfrm flipV="1">
                <a:off x="3259" y="2895"/>
                <a:ext cx="69" cy="69"/>
              </a:xfrm>
              <a:prstGeom prst="flowChartExtract">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12" name="AutoShape 82"/>
              <p:cNvSpPr>
                <a:spLocks noChangeAspect="1" noChangeArrowheads="1"/>
              </p:cNvSpPr>
              <p:nvPr/>
            </p:nvSpPr>
            <p:spPr bwMode="auto">
              <a:xfrm flipV="1">
                <a:off x="3125" y="2940"/>
                <a:ext cx="69" cy="69"/>
              </a:xfrm>
              <a:prstGeom prst="flowChartExtract">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13" name="AutoShape 83"/>
              <p:cNvSpPr>
                <a:spLocks noChangeAspect="1" noChangeArrowheads="1"/>
              </p:cNvSpPr>
              <p:nvPr/>
            </p:nvSpPr>
            <p:spPr bwMode="auto">
              <a:xfrm flipV="1">
                <a:off x="3192" y="3041"/>
                <a:ext cx="69" cy="69"/>
              </a:xfrm>
              <a:prstGeom prst="flowChartExtract">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14" name="AutoShape 84"/>
              <p:cNvSpPr>
                <a:spLocks noChangeAspect="1" noChangeArrowheads="1"/>
              </p:cNvSpPr>
              <p:nvPr/>
            </p:nvSpPr>
            <p:spPr bwMode="auto">
              <a:xfrm flipV="1">
                <a:off x="3629" y="2704"/>
                <a:ext cx="69"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15" name="AutoShape 85"/>
              <p:cNvSpPr>
                <a:spLocks noChangeAspect="1" noChangeArrowheads="1"/>
              </p:cNvSpPr>
              <p:nvPr/>
            </p:nvSpPr>
            <p:spPr bwMode="auto">
              <a:xfrm flipV="1">
                <a:off x="3808" y="2783"/>
                <a:ext cx="69"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216" name="AutoShape 86"/>
              <p:cNvSpPr>
                <a:spLocks noChangeAspect="1" noChangeArrowheads="1"/>
              </p:cNvSpPr>
              <p:nvPr/>
            </p:nvSpPr>
            <p:spPr bwMode="auto">
              <a:xfrm flipV="1">
                <a:off x="3629" y="2850"/>
                <a:ext cx="69"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sp>
          <p:nvSpPr>
            <p:cNvPr id="6196" name="Rectangle 88"/>
            <p:cNvSpPr>
              <a:spLocks noChangeArrowheads="1"/>
            </p:cNvSpPr>
            <p:nvPr/>
          </p:nvSpPr>
          <p:spPr bwMode="auto">
            <a:xfrm>
              <a:off x="3413" y="3244"/>
              <a:ext cx="14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r>
                <a:rPr lang="en-US" altLang="en-US" sz="1800" b="0">
                  <a:cs typeface="Times New Roman" pitchFamily="18" charset="0"/>
                </a:rPr>
                <a:t>Four Clusters</a:t>
              </a:r>
              <a:r>
                <a:rPr lang="en-US" altLang="en-US" sz="1800" b="0"/>
                <a:t> </a:t>
              </a:r>
            </a:p>
          </p:txBody>
        </p:sp>
      </p:grpSp>
      <p:grpSp>
        <p:nvGrpSpPr>
          <p:cNvPr id="6" name="Group 93"/>
          <p:cNvGrpSpPr>
            <a:grpSpLocks/>
          </p:cNvGrpSpPr>
          <p:nvPr/>
        </p:nvGrpSpPr>
        <p:grpSpPr bwMode="auto">
          <a:xfrm>
            <a:off x="685800" y="4114800"/>
            <a:ext cx="3344863" cy="1401763"/>
            <a:chOff x="432" y="2592"/>
            <a:chExt cx="2107" cy="883"/>
          </a:xfrm>
        </p:grpSpPr>
        <p:grpSp>
          <p:nvGrpSpPr>
            <p:cNvPr id="6173" name="Group 45"/>
            <p:cNvGrpSpPr>
              <a:grpSpLocks/>
            </p:cNvGrpSpPr>
            <p:nvPr/>
          </p:nvGrpSpPr>
          <p:grpSpPr bwMode="auto">
            <a:xfrm>
              <a:off x="432" y="2592"/>
              <a:ext cx="2107" cy="516"/>
              <a:chOff x="432" y="2592"/>
              <a:chExt cx="2107" cy="516"/>
            </a:xfrm>
          </p:grpSpPr>
          <p:sp>
            <p:nvSpPr>
              <p:cNvPr id="6175" name="AutoShape 46"/>
              <p:cNvSpPr>
                <a:spLocks noChangeAspect="1" noChangeArrowheads="1"/>
              </p:cNvSpPr>
              <p:nvPr/>
            </p:nvSpPr>
            <p:spPr bwMode="auto">
              <a:xfrm>
                <a:off x="2112" y="2939"/>
                <a:ext cx="69" cy="68"/>
              </a:xfrm>
              <a:prstGeom prst="triangle">
                <a:avLst>
                  <a:gd name="adj" fmla="val 50000"/>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76" name="AutoShape 47"/>
              <p:cNvSpPr>
                <a:spLocks noChangeAspect="1" noChangeArrowheads="1"/>
              </p:cNvSpPr>
              <p:nvPr/>
            </p:nvSpPr>
            <p:spPr bwMode="auto">
              <a:xfrm>
                <a:off x="1910" y="3028"/>
                <a:ext cx="69" cy="69"/>
              </a:xfrm>
              <a:prstGeom prst="triangle">
                <a:avLst>
                  <a:gd name="adj" fmla="val 50000"/>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77" name="AutoShape 48"/>
              <p:cNvSpPr>
                <a:spLocks noChangeAspect="1" noChangeArrowheads="1"/>
              </p:cNvSpPr>
              <p:nvPr/>
            </p:nvSpPr>
            <p:spPr bwMode="auto">
              <a:xfrm>
                <a:off x="2033" y="3039"/>
                <a:ext cx="69" cy="69"/>
              </a:xfrm>
              <a:prstGeom prst="triangle">
                <a:avLst>
                  <a:gd name="adj" fmla="val 50000"/>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78" name="AutoShape 49"/>
              <p:cNvSpPr>
                <a:spLocks noChangeAspect="1" noChangeArrowheads="1"/>
              </p:cNvSpPr>
              <p:nvPr/>
            </p:nvSpPr>
            <p:spPr bwMode="auto">
              <a:xfrm>
                <a:off x="1989" y="2950"/>
                <a:ext cx="68" cy="69"/>
              </a:xfrm>
              <a:prstGeom prst="triangle">
                <a:avLst>
                  <a:gd name="adj" fmla="val 50000"/>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79" name="AutoShape 50"/>
              <p:cNvSpPr>
                <a:spLocks noChangeAspect="1" noChangeArrowheads="1"/>
              </p:cNvSpPr>
              <p:nvPr/>
            </p:nvSpPr>
            <p:spPr bwMode="auto">
              <a:xfrm>
                <a:off x="1921" y="2737"/>
                <a:ext cx="69" cy="69"/>
              </a:xfrm>
              <a:prstGeom prst="triangle">
                <a:avLst>
                  <a:gd name="adj" fmla="val 50000"/>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80" name="AutoShape 51"/>
              <p:cNvSpPr>
                <a:spLocks noChangeAspect="1" noChangeArrowheads="1"/>
              </p:cNvSpPr>
              <p:nvPr/>
            </p:nvSpPr>
            <p:spPr bwMode="auto">
              <a:xfrm>
                <a:off x="1787" y="2693"/>
                <a:ext cx="69" cy="68"/>
              </a:xfrm>
              <a:prstGeom prst="triangle">
                <a:avLst>
                  <a:gd name="adj" fmla="val 50000"/>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81" name="AutoShape 52"/>
              <p:cNvSpPr>
                <a:spLocks noChangeAspect="1" noChangeArrowheads="1"/>
              </p:cNvSpPr>
              <p:nvPr/>
            </p:nvSpPr>
            <p:spPr bwMode="auto">
              <a:xfrm>
                <a:off x="1854" y="2592"/>
                <a:ext cx="69" cy="69"/>
              </a:xfrm>
              <a:prstGeom prst="triangle">
                <a:avLst>
                  <a:gd name="adj" fmla="val 50000"/>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82" name="AutoShape 53"/>
              <p:cNvSpPr>
                <a:spLocks noChangeAspect="1" noChangeArrowheads="1"/>
              </p:cNvSpPr>
              <p:nvPr/>
            </p:nvSpPr>
            <p:spPr bwMode="auto">
              <a:xfrm>
                <a:off x="2291" y="2927"/>
                <a:ext cx="69" cy="69"/>
              </a:xfrm>
              <a:prstGeom prst="triangle">
                <a:avLst>
                  <a:gd name="adj" fmla="val 50000"/>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83" name="AutoShape 54"/>
              <p:cNvSpPr>
                <a:spLocks noChangeAspect="1" noChangeArrowheads="1"/>
              </p:cNvSpPr>
              <p:nvPr/>
            </p:nvSpPr>
            <p:spPr bwMode="auto">
              <a:xfrm>
                <a:off x="2470" y="2849"/>
                <a:ext cx="69" cy="69"/>
              </a:xfrm>
              <a:prstGeom prst="triangle">
                <a:avLst>
                  <a:gd name="adj" fmla="val 50000"/>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84" name="AutoShape 55"/>
              <p:cNvSpPr>
                <a:spLocks noChangeAspect="1" noChangeArrowheads="1"/>
              </p:cNvSpPr>
              <p:nvPr/>
            </p:nvSpPr>
            <p:spPr bwMode="auto">
              <a:xfrm>
                <a:off x="2291" y="2782"/>
                <a:ext cx="69" cy="69"/>
              </a:xfrm>
              <a:prstGeom prst="triangle">
                <a:avLst>
                  <a:gd name="adj" fmla="val 50000"/>
                </a:avLst>
              </a:prstGeom>
              <a:solidFill>
                <a:srgbClr val="3366FF"/>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85" name="Rectangle 56"/>
              <p:cNvSpPr>
                <a:spLocks noChangeAspect="1" noChangeArrowheads="1"/>
              </p:cNvSpPr>
              <p:nvPr/>
            </p:nvSpPr>
            <p:spPr bwMode="auto">
              <a:xfrm flipV="1">
                <a:off x="757" y="2693"/>
                <a:ext cx="69" cy="68"/>
              </a:xfrm>
              <a:prstGeom prst="rect">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86" name="Rectangle 57"/>
              <p:cNvSpPr>
                <a:spLocks noChangeAspect="1" noChangeArrowheads="1"/>
              </p:cNvSpPr>
              <p:nvPr/>
            </p:nvSpPr>
            <p:spPr bwMode="auto">
              <a:xfrm flipV="1">
                <a:off x="555" y="2603"/>
                <a:ext cx="69" cy="69"/>
              </a:xfrm>
              <a:prstGeom prst="rect">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87" name="Rectangle 58"/>
              <p:cNvSpPr>
                <a:spLocks noChangeAspect="1" noChangeArrowheads="1"/>
              </p:cNvSpPr>
              <p:nvPr/>
            </p:nvSpPr>
            <p:spPr bwMode="auto">
              <a:xfrm flipV="1">
                <a:off x="678" y="2592"/>
                <a:ext cx="69" cy="69"/>
              </a:xfrm>
              <a:prstGeom prst="rect">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88" name="Rectangle 59"/>
              <p:cNvSpPr>
                <a:spLocks noChangeAspect="1" noChangeArrowheads="1"/>
              </p:cNvSpPr>
              <p:nvPr/>
            </p:nvSpPr>
            <p:spPr bwMode="auto">
              <a:xfrm flipV="1">
                <a:off x="634" y="2681"/>
                <a:ext cx="68" cy="69"/>
              </a:xfrm>
              <a:prstGeom prst="rect">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89" name="Rectangle 60"/>
              <p:cNvSpPr>
                <a:spLocks noChangeAspect="1" noChangeArrowheads="1"/>
              </p:cNvSpPr>
              <p:nvPr/>
            </p:nvSpPr>
            <p:spPr bwMode="auto">
              <a:xfrm flipV="1">
                <a:off x="566" y="2894"/>
                <a:ext cx="69" cy="69"/>
              </a:xfrm>
              <a:prstGeom prst="rect">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90" name="Rectangle 61"/>
              <p:cNvSpPr>
                <a:spLocks noChangeAspect="1" noChangeArrowheads="1"/>
              </p:cNvSpPr>
              <p:nvPr/>
            </p:nvSpPr>
            <p:spPr bwMode="auto">
              <a:xfrm flipV="1">
                <a:off x="432" y="2939"/>
                <a:ext cx="69" cy="68"/>
              </a:xfrm>
              <a:prstGeom prst="rect">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91" name="Rectangle 62"/>
              <p:cNvSpPr>
                <a:spLocks noChangeAspect="1" noChangeArrowheads="1"/>
              </p:cNvSpPr>
              <p:nvPr/>
            </p:nvSpPr>
            <p:spPr bwMode="auto">
              <a:xfrm flipV="1">
                <a:off x="499" y="3039"/>
                <a:ext cx="69" cy="69"/>
              </a:xfrm>
              <a:prstGeom prst="rect">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92" name="Rectangle 63"/>
              <p:cNvSpPr>
                <a:spLocks noChangeAspect="1" noChangeArrowheads="1"/>
              </p:cNvSpPr>
              <p:nvPr/>
            </p:nvSpPr>
            <p:spPr bwMode="auto">
              <a:xfrm flipV="1">
                <a:off x="936" y="2704"/>
                <a:ext cx="69" cy="69"/>
              </a:xfrm>
              <a:prstGeom prst="rect">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93" name="Rectangle 64"/>
              <p:cNvSpPr>
                <a:spLocks noChangeAspect="1" noChangeArrowheads="1"/>
              </p:cNvSpPr>
              <p:nvPr/>
            </p:nvSpPr>
            <p:spPr bwMode="auto">
              <a:xfrm flipV="1">
                <a:off x="1115" y="2782"/>
                <a:ext cx="69" cy="69"/>
              </a:xfrm>
              <a:prstGeom prst="rect">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94" name="Rectangle 65"/>
              <p:cNvSpPr>
                <a:spLocks noChangeAspect="1" noChangeArrowheads="1"/>
              </p:cNvSpPr>
              <p:nvPr/>
            </p:nvSpPr>
            <p:spPr bwMode="auto">
              <a:xfrm flipV="1">
                <a:off x="936" y="2849"/>
                <a:ext cx="69" cy="69"/>
              </a:xfrm>
              <a:prstGeom prst="rect">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sp>
          <p:nvSpPr>
            <p:cNvPr id="6174" name="Rectangle 89"/>
            <p:cNvSpPr>
              <a:spLocks noChangeArrowheads="1"/>
            </p:cNvSpPr>
            <p:nvPr/>
          </p:nvSpPr>
          <p:spPr bwMode="auto">
            <a:xfrm>
              <a:off x="624" y="3244"/>
              <a:ext cx="14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r>
                <a:rPr lang="en-US" altLang="en-US" sz="1800" b="0">
                  <a:cs typeface="Times New Roman" pitchFamily="18" charset="0"/>
                </a:rPr>
                <a:t>Two Clusters</a:t>
              </a:r>
              <a:r>
                <a:rPr lang="en-US" altLang="en-US" sz="1800" b="0"/>
                <a:t> </a:t>
              </a:r>
            </a:p>
          </p:txBody>
        </p:sp>
      </p:grpSp>
      <p:grpSp>
        <p:nvGrpSpPr>
          <p:cNvPr id="8" name="Group 92"/>
          <p:cNvGrpSpPr>
            <a:grpSpLocks/>
          </p:cNvGrpSpPr>
          <p:nvPr/>
        </p:nvGrpSpPr>
        <p:grpSpPr bwMode="auto">
          <a:xfrm>
            <a:off x="4960938" y="1905000"/>
            <a:ext cx="3344862" cy="1509713"/>
            <a:chOff x="3125" y="1200"/>
            <a:chExt cx="2107" cy="951"/>
          </a:xfrm>
        </p:grpSpPr>
        <p:grpSp>
          <p:nvGrpSpPr>
            <p:cNvPr id="6151" name="Group 24"/>
            <p:cNvGrpSpPr>
              <a:grpSpLocks/>
            </p:cNvGrpSpPr>
            <p:nvPr/>
          </p:nvGrpSpPr>
          <p:grpSpPr bwMode="auto">
            <a:xfrm>
              <a:off x="3125" y="1200"/>
              <a:ext cx="2107" cy="518"/>
              <a:chOff x="3125" y="1200"/>
              <a:chExt cx="2107" cy="518"/>
            </a:xfrm>
          </p:grpSpPr>
          <p:sp>
            <p:nvSpPr>
              <p:cNvPr id="6153" name="AutoShape 25"/>
              <p:cNvSpPr>
                <a:spLocks noChangeAspect="1" noChangeArrowheads="1"/>
              </p:cNvSpPr>
              <p:nvPr/>
            </p:nvSpPr>
            <p:spPr bwMode="auto">
              <a:xfrm>
                <a:off x="4805" y="1548"/>
                <a:ext cx="69" cy="69"/>
              </a:xfrm>
              <a:prstGeom prst="diamond">
                <a:avLst/>
              </a:prstGeom>
              <a:solidFill>
                <a:srgbClr val="FF99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54" name="AutoShape 26"/>
              <p:cNvSpPr>
                <a:spLocks noChangeAspect="1" noChangeArrowheads="1"/>
              </p:cNvSpPr>
              <p:nvPr/>
            </p:nvSpPr>
            <p:spPr bwMode="auto">
              <a:xfrm>
                <a:off x="4603" y="1638"/>
                <a:ext cx="69" cy="69"/>
              </a:xfrm>
              <a:prstGeom prst="diamond">
                <a:avLst/>
              </a:prstGeom>
              <a:solidFill>
                <a:srgbClr val="FF99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55" name="AutoShape 27"/>
              <p:cNvSpPr>
                <a:spLocks noChangeAspect="1" noChangeArrowheads="1"/>
              </p:cNvSpPr>
              <p:nvPr/>
            </p:nvSpPr>
            <p:spPr bwMode="auto">
              <a:xfrm>
                <a:off x="4726" y="1649"/>
                <a:ext cx="69" cy="69"/>
              </a:xfrm>
              <a:prstGeom prst="diamond">
                <a:avLst/>
              </a:prstGeom>
              <a:solidFill>
                <a:srgbClr val="FF99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56" name="AutoShape 28"/>
              <p:cNvSpPr>
                <a:spLocks noChangeAspect="1" noChangeArrowheads="1"/>
              </p:cNvSpPr>
              <p:nvPr/>
            </p:nvSpPr>
            <p:spPr bwMode="auto">
              <a:xfrm>
                <a:off x="4682" y="1559"/>
                <a:ext cx="68" cy="69"/>
              </a:xfrm>
              <a:prstGeom prst="diamond">
                <a:avLst/>
              </a:prstGeom>
              <a:solidFill>
                <a:srgbClr val="FF99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1537053" name="AutoShape 29"/>
              <p:cNvSpPr>
                <a:spLocks noChangeAspect="1" noChangeArrowheads="1"/>
              </p:cNvSpPr>
              <p:nvPr/>
            </p:nvSpPr>
            <p:spPr bwMode="auto">
              <a:xfrm>
                <a:off x="4614" y="1346"/>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1537054" name="AutoShape 30"/>
              <p:cNvSpPr>
                <a:spLocks noChangeAspect="1" noChangeArrowheads="1"/>
              </p:cNvSpPr>
              <p:nvPr/>
            </p:nvSpPr>
            <p:spPr bwMode="auto">
              <a:xfrm>
                <a:off x="4480" y="1301"/>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1537055" name="AutoShape 31"/>
              <p:cNvSpPr>
                <a:spLocks noChangeAspect="1" noChangeArrowheads="1"/>
              </p:cNvSpPr>
              <p:nvPr/>
            </p:nvSpPr>
            <p:spPr bwMode="auto">
              <a:xfrm>
                <a:off x="4547" y="1200"/>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6160" name="Rectangle 32"/>
              <p:cNvSpPr>
                <a:spLocks noChangeAspect="1" noChangeArrowheads="1"/>
              </p:cNvSpPr>
              <p:nvPr/>
            </p:nvSpPr>
            <p:spPr bwMode="auto">
              <a:xfrm>
                <a:off x="4984" y="1537"/>
                <a:ext cx="69" cy="69"/>
              </a:xfrm>
              <a:prstGeom prst="rect">
                <a:avLst/>
              </a:prstGeom>
              <a:solidFill>
                <a:srgbClr val="FFFF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61" name="Rectangle 33"/>
              <p:cNvSpPr>
                <a:spLocks noChangeAspect="1" noChangeArrowheads="1"/>
              </p:cNvSpPr>
              <p:nvPr/>
            </p:nvSpPr>
            <p:spPr bwMode="auto">
              <a:xfrm>
                <a:off x="5163" y="1458"/>
                <a:ext cx="69" cy="69"/>
              </a:xfrm>
              <a:prstGeom prst="rect">
                <a:avLst/>
              </a:prstGeom>
              <a:solidFill>
                <a:srgbClr val="FFFF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62" name="Rectangle 34"/>
              <p:cNvSpPr>
                <a:spLocks noChangeAspect="1" noChangeArrowheads="1"/>
              </p:cNvSpPr>
              <p:nvPr/>
            </p:nvSpPr>
            <p:spPr bwMode="auto">
              <a:xfrm>
                <a:off x="4984" y="1391"/>
                <a:ext cx="69" cy="69"/>
              </a:xfrm>
              <a:prstGeom prst="rect">
                <a:avLst/>
              </a:prstGeom>
              <a:solidFill>
                <a:srgbClr val="FFFF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63" name="AutoShape 35"/>
              <p:cNvSpPr>
                <a:spLocks noChangeAspect="1" noChangeArrowheads="1"/>
              </p:cNvSpPr>
              <p:nvPr/>
            </p:nvSpPr>
            <p:spPr bwMode="auto">
              <a:xfrm flipV="1">
                <a:off x="3450" y="1301"/>
                <a:ext cx="69"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64" name="AutoShape 36"/>
              <p:cNvSpPr>
                <a:spLocks noChangeAspect="1" noChangeArrowheads="1"/>
              </p:cNvSpPr>
              <p:nvPr/>
            </p:nvSpPr>
            <p:spPr bwMode="auto">
              <a:xfrm flipV="1">
                <a:off x="3248" y="1211"/>
                <a:ext cx="69"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65" name="AutoShape 37"/>
              <p:cNvSpPr>
                <a:spLocks noChangeAspect="1" noChangeArrowheads="1"/>
              </p:cNvSpPr>
              <p:nvPr/>
            </p:nvSpPr>
            <p:spPr bwMode="auto">
              <a:xfrm flipV="1">
                <a:off x="3371" y="1200"/>
                <a:ext cx="69"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66" name="AutoShape 38"/>
              <p:cNvSpPr>
                <a:spLocks noChangeAspect="1" noChangeArrowheads="1"/>
              </p:cNvSpPr>
              <p:nvPr/>
            </p:nvSpPr>
            <p:spPr bwMode="auto">
              <a:xfrm flipV="1">
                <a:off x="3327" y="1290"/>
                <a:ext cx="68" cy="69"/>
              </a:xfrm>
              <a:prstGeom prst="star4">
                <a:avLst>
                  <a:gd name="adj" fmla="val 12500"/>
                </a:avLst>
              </a:prstGeom>
              <a:solidFill>
                <a:srgbClr val="FF00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67" name="AutoShape 39"/>
              <p:cNvSpPr>
                <a:spLocks noChangeAspect="1" noChangeArrowheads="1"/>
              </p:cNvSpPr>
              <p:nvPr/>
            </p:nvSpPr>
            <p:spPr bwMode="auto">
              <a:xfrm flipV="1">
                <a:off x="3259" y="1503"/>
                <a:ext cx="69" cy="69"/>
              </a:xfrm>
              <a:prstGeom prst="triangle">
                <a:avLst>
                  <a:gd name="adj" fmla="val 50000"/>
                </a:avLst>
              </a:prstGeom>
              <a:solidFill>
                <a:srgbClr val="00FF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68" name="AutoShape 40"/>
              <p:cNvSpPr>
                <a:spLocks noChangeAspect="1" noChangeArrowheads="1"/>
              </p:cNvSpPr>
              <p:nvPr/>
            </p:nvSpPr>
            <p:spPr bwMode="auto">
              <a:xfrm flipV="1">
                <a:off x="3125" y="1548"/>
                <a:ext cx="69" cy="69"/>
              </a:xfrm>
              <a:prstGeom prst="triangle">
                <a:avLst>
                  <a:gd name="adj" fmla="val 50000"/>
                </a:avLst>
              </a:prstGeom>
              <a:solidFill>
                <a:srgbClr val="00FF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69" name="AutoShape 41"/>
              <p:cNvSpPr>
                <a:spLocks noChangeAspect="1" noChangeArrowheads="1"/>
              </p:cNvSpPr>
              <p:nvPr/>
            </p:nvSpPr>
            <p:spPr bwMode="auto">
              <a:xfrm flipV="1">
                <a:off x="3192" y="1649"/>
                <a:ext cx="69" cy="69"/>
              </a:xfrm>
              <a:prstGeom prst="triangle">
                <a:avLst>
                  <a:gd name="adj" fmla="val 50000"/>
                </a:avLst>
              </a:prstGeom>
              <a:solidFill>
                <a:srgbClr val="00FF00"/>
              </a:solidFill>
              <a:ln w="9525">
                <a:solidFill>
                  <a:srgbClr val="000000"/>
                </a:solidFill>
                <a:miter lim="800000"/>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70" name="Oval 42"/>
              <p:cNvSpPr>
                <a:spLocks noChangeAspect="1" noChangeArrowheads="1"/>
              </p:cNvSpPr>
              <p:nvPr/>
            </p:nvSpPr>
            <p:spPr bwMode="auto">
              <a:xfrm flipV="1">
                <a:off x="3629" y="1312"/>
                <a:ext cx="69" cy="69"/>
              </a:xfrm>
              <a:prstGeom prst="ellipse">
                <a:avLst/>
              </a:prstGeom>
              <a:solidFill>
                <a:srgbClr val="00FFFF"/>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71" name="Oval 43"/>
              <p:cNvSpPr>
                <a:spLocks noChangeAspect="1" noChangeArrowheads="1"/>
              </p:cNvSpPr>
              <p:nvPr/>
            </p:nvSpPr>
            <p:spPr bwMode="auto">
              <a:xfrm flipV="1">
                <a:off x="3808" y="1391"/>
                <a:ext cx="69" cy="69"/>
              </a:xfrm>
              <a:prstGeom prst="ellipse">
                <a:avLst/>
              </a:prstGeom>
              <a:solidFill>
                <a:srgbClr val="00FFFF"/>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sp>
            <p:nvSpPr>
              <p:cNvPr id="6172" name="Oval 44"/>
              <p:cNvSpPr>
                <a:spLocks noChangeAspect="1" noChangeArrowheads="1"/>
              </p:cNvSpPr>
              <p:nvPr/>
            </p:nvSpPr>
            <p:spPr bwMode="auto">
              <a:xfrm flipV="1">
                <a:off x="3629" y="1458"/>
                <a:ext cx="69" cy="69"/>
              </a:xfrm>
              <a:prstGeom prst="ellipse">
                <a:avLst/>
              </a:prstGeom>
              <a:solidFill>
                <a:srgbClr val="00FFFF"/>
              </a:solidFill>
              <a:ln w="9525">
                <a:solidFill>
                  <a:srgbClr val="000000"/>
                </a:solidFill>
                <a:round/>
                <a:headEnd/>
                <a:tailEnd/>
              </a:ln>
            </p:spPr>
            <p:txBody>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endParaRPr lang="en-US" altLang="en-US"/>
              </a:p>
            </p:txBody>
          </p:sp>
        </p:grpSp>
        <p:sp>
          <p:nvSpPr>
            <p:cNvPr id="6152" name="Rectangle 90"/>
            <p:cNvSpPr>
              <a:spLocks noChangeArrowheads="1"/>
            </p:cNvSpPr>
            <p:nvPr/>
          </p:nvSpPr>
          <p:spPr bwMode="auto">
            <a:xfrm>
              <a:off x="3413" y="1920"/>
              <a:ext cx="14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r>
                <a:rPr lang="en-US" altLang="en-US" sz="1800" b="0">
                  <a:cs typeface="Times New Roman" pitchFamily="18" charset="0"/>
                </a:rPr>
                <a:t>Six Clusters</a:t>
              </a:r>
              <a:r>
                <a:rPr lang="en-US" altLang="en-US" sz="1600" b="0">
                  <a:latin typeface="Times New Roman" pitchFamily="18" charset="0"/>
                </a:rPr>
                <a:t>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81000" y="152400"/>
            <a:ext cx="8280400" cy="552450"/>
          </a:xfrm>
        </p:spPr>
        <p:txBody>
          <a:bodyPr/>
          <a:lstStyle/>
          <a:p>
            <a:r>
              <a:rPr lang="en-US" altLang="en-US"/>
              <a:t>Types of Clusterings</a:t>
            </a:r>
          </a:p>
        </p:txBody>
      </p:sp>
      <p:sp>
        <p:nvSpPr>
          <p:cNvPr id="7171" name="Rectangle 3"/>
          <p:cNvSpPr>
            <a:spLocks noGrp="1" noChangeArrowheads="1"/>
          </p:cNvSpPr>
          <p:nvPr>
            <p:ph type="body" idx="1"/>
          </p:nvPr>
        </p:nvSpPr>
        <p:spPr>
          <a:xfrm>
            <a:off x="639763" y="1143000"/>
            <a:ext cx="8001000" cy="5106988"/>
          </a:xfrm>
        </p:spPr>
        <p:txBody>
          <a:bodyPr/>
          <a:lstStyle/>
          <a:p>
            <a:pPr marL="342900" indent="-342900">
              <a:lnSpc>
                <a:spcPct val="90000"/>
              </a:lnSpc>
              <a:spcBef>
                <a:spcPct val="20000"/>
              </a:spcBef>
            </a:pPr>
            <a:r>
              <a:rPr lang="en-US" altLang="en-US" dirty="0"/>
              <a:t>A </a:t>
            </a:r>
            <a:r>
              <a:rPr lang="en-US" altLang="en-US" dirty="0">
                <a:solidFill>
                  <a:srgbClr val="FF0000"/>
                </a:solidFill>
              </a:rPr>
              <a:t>clustering</a:t>
            </a:r>
            <a:r>
              <a:rPr lang="en-US" altLang="en-US" dirty="0"/>
              <a:t> is a set of clusters</a:t>
            </a:r>
          </a:p>
          <a:p>
            <a:pPr marL="342900" indent="-342900">
              <a:lnSpc>
                <a:spcPct val="90000"/>
              </a:lnSpc>
              <a:spcBef>
                <a:spcPct val="20000"/>
              </a:spcBef>
            </a:pPr>
            <a:endParaRPr lang="en-US" altLang="en-US" sz="1200" dirty="0"/>
          </a:p>
          <a:p>
            <a:pPr marL="342900" indent="-342900">
              <a:lnSpc>
                <a:spcPct val="90000"/>
              </a:lnSpc>
              <a:spcBef>
                <a:spcPct val="20000"/>
              </a:spcBef>
            </a:pPr>
            <a:r>
              <a:rPr lang="en-US" altLang="en-US" dirty="0"/>
              <a:t>Important distinction between </a:t>
            </a:r>
            <a:r>
              <a:rPr lang="en-US" altLang="en-US" dirty="0">
                <a:solidFill>
                  <a:srgbClr val="FF0000"/>
                </a:solidFill>
              </a:rPr>
              <a:t>hierarchical</a:t>
            </a:r>
            <a:r>
              <a:rPr lang="en-US" altLang="en-US" dirty="0"/>
              <a:t> and </a:t>
            </a:r>
            <a:r>
              <a:rPr lang="en-US" altLang="en-US" dirty="0" err="1">
                <a:solidFill>
                  <a:srgbClr val="FF0000"/>
                </a:solidFill>
              </a:rPr>
              <a:t>partitional</a:t>
            </a:r>
            <a:r>
              <a:rPr lang="en-US" altLang="en-US" dirty="0">
                <a:solidFill>
                  <a:srgbClr val="FFCC00"/>
                </a:solidFill>
              </a:rPr>
              <a:t> </a:t>
            </a:r>
            <a:r>
              <a:rPr lang="en-US" altLang="en-US" dirty="0"/>
              <a:t>sets of clusters </a:t>
            </a:r>
            <a:endParaRPr lang="en-US" altLang="en-US" dirty="0">
              <a:solidFill>
                <a:srgbClr val="FFCC00"/>
              </a:solidFill>
            </a:endParaRPr>
          </a:p>
          <a:p>
            <a:pPr marL="342900" indent="-342900">
              <a:lnSpc>
                <a:spcPct val="90000"/>
              </a:lnSpc>
              <a:spcBef>
                <a:spcPct val="20000"/>
              </a:spcBef>
            </a:pPr>
            <a:endParaRPr lang="en-US" altLang="en-US" sz="1200" dirty="0">
              <a:solidFill>
                <a:srgbClr val="FFCC00"/>
              </a:solidFill>
            </a:endParaRPr>
          </a:p>
          <a:p>
            <a:pPr marL="850900" lvl="1">
              <a:lnSpc>
                <a:spcPct val="90000"/>
              </a:lnSpc>
              <a:spcBef>
                <a:spcPct val="20000"/>
              </a:spcBef>
            </a:pPr>
            <a:r>
              <a:rPr lang="en-US" altLang="en-US" dirty="0" err="1"/>
              <a:t>Partitional</a:t>
            </a:r>
            <a:r>
              <a:rPr lang="en-US" altLang="en-US" dirty="0"/>
              <a:t> Clustering</a:t>
            </a:r>
          </a:p>
          <a:p>
            <a:pPr marL="857250" lvl="2" indent="-285750">
              <a:lnSpc>
                <a:spcPct val="90000"/>
              </a:lnSpc>
              <a:spcBef>
                <a:spcPct val="20000"/>
              </a:spcBef>
            </a:pPr>
            <a:r>
              <a:rPr lang="en-US" altLang="en-US" sz="1600" dirty="0"/>
              <a:t>A division of data objects into non-overlapping subsets (clusters)</a:t>
            </a:r>
          </a:p>
          <a:p>
            <a:pPr marL="857250" lvl="2" indent="-285750">
              <a:lnSpc>
                <a:spcPct val="90000"/>
              </a:lnSpc>
              <a:spcBef>
                <a:spcPct val="20000"/>
              </a:spcBef>
            </a:pPr>
            <a:endParaRPr lang="en-US" altLang="en-US" sz="600" dirty="0">
              <a:solidFill>
                <a:srgbClr val="FFCC00"/>
              </a:solidFill>
            </a:endParaRPr>
          </a:p>
          <a:p>
            <a:pPr marL="850900" lvl="1">
              <a:lnSpc>
                <a:spcPct val="90000"/>
              </a:lnSpc>
              <a:spcBef>
                <a:spcPct val="20000"/>
              </a:spcBef>
            </a:pPr>
            <a:r>
              <a:rPr lang="en-US" altLang="en-US" dirty="0"/>
              <a:t>Hierarchical clustering</a:t>
            </a:r>
          </a:p>
          <a:p>
            <a:pPr marL="857250" lvl="2" indent="-285750">
              <a:lnSpc>
                <a:spcPct val="90000"/>
              </a:lnSpc>
              <a:spcBef>
                <a:spcPct val="20000"/>
              </a:spcBef>
            </a:pPr>
            <a:r>
              <a:rPr lang="en-US" altLang="en-US" sz="1600" dirty="0"/>
              <a:t>A set of nested clusters organized as a hierarchical tree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381000" y="152400"/>
            <a:ext cx="8280400" cy="552450"/>
          </a:xfrm>
        </p:spPr>
        <p:txBody>
          <a:bodyPr/>
          <a:lstStyle/>
          <a:p>
            <a:r>
              <a:rPr lang="en-US" altLang="en-US"/>
              <a:t>Partitional Clustering</a:t>
            </a:r>
          </a:p>
        </p:txBody>
      </p:sp>
      <p:sp>
        <p:nvSpPr>
          <p:cNvPr id="8195" name="Freeform 4"/>
          <p:cNvSpPr>
            <a:spLocks/>
          </p:cNvSpPr>
          <p:nvPr/>
        </p:nvSpPr>
        <p:spPr bwMode="auto">
          <a:xfrm>
            <a:off x="1254125" y="2517775"/>
            <a:ext cx="96838" cy="101600"/>
          </a:xfrm>
          <a:custGeom>
            <a:avLst/>
            <a:gdLst>
              <a:gd name="T0" fmla="*/ 2147483647 w 61"/>
              <a:gd name="T1" fmla="*/ 2147483647 h 64"/>
              <a:gd name="T2" fmla="*/ 2147483647 w 61"/>
              <a:gd name="T3" fmla="*/ 2147483647 h 64"/>
              <a:gd name="T4" fmla="*/ 2147483647 w 61"/>
              <a:gd name="T5" fmla="*/ 2147483647 h 64"/>
              <a:gd name="T6" fmla="*/ 2147483647 w 61"/>
              <a:gd name="T7" fmla="*/ 2147483647 h 64"/>
              <a:gd name="T8" fmla="*/ 2147483647 w 61"/>
              <a:gd name="T9" fmla="*/ 2147483647 h 64"/>
              <a:gd name="T10" fmla="*/ 0 w 61"/>
              <a:gd name="T11" fmla="*/ 2147483647 h 64"/>
              <a:gd name="T12" fmla="*/ 0 w 61"/>
              <a:gd name="T13" fmla="*/ 2147483647 h 64"/>
              <a:gd name="T14" fmla="*/ 2147483647 w 61"/>
              <a:gd name="T15" fmla="*/ 2147483647 h 64"/>
              <a:gd name="T16" fmla="*/ 2147483647 w 61"/>
              <a:gd name="T17" fmla="*/ 0 h 64"/>
              <a:gd name="T18" fmla="*/ 2147483647 w 61"/>
              <a:gd name="T19" fmla="*/ 2147483647 h 64"/>
              <a:gd name="T20" fmla="*/ 2147483647 w 61"/>
              <a:gd name="T21" fmla="*/ 2147483647 h 64"/>
              <a:gd name="T22" fmla="*/ 2147483647 w 61"/>
              <a:gd name="T23" fmla="*/ 2147483647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4"/>
              <a:gd name="T38" fmla="*/ 61 w 61"/>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4">
                <a:moveTo>
                  <a:pt x="61" y="30"/>
                </a:moveTo>
                <a:lnTo>
                  <a:pt x="55" y="49"/>
                </a:lnTo>
                <a:lnTo>
                  <a:pt x="43" y="61"/>
                </a:lnTo>
                <a:lnTo>
                  <a:pt x="24" y="64"/>
                </a:lnTo>
                <a:lnTo>
                  <a:pt x="9" y="55"/>
                </a:lnTo>
                <a:lnTo>
                  <a:pt x="0" y="39"/>
                </a:lnTo>
                <a:lnTo>
                  <a:pt x="0" y="24"/>
                </a:lnTo>
                <a:lnTo>
                  <a:pt x="9" y="9"/>
                </a:lnTo>
                <a:lnTo>
                  <a:pt x="24" y="0"/>
                </a:lnTo>
                <a:lnTo>
                  <a:pt x="43" y="3"/>
                </a:lnTo>
                <a:lnTo>
                  <a:pt x="55" y="15"/>
                </a:lnTo>
                <a:lnTo>
                  <a:pt x="61" y="30"/>
                </a:lnTo>
                <a:close/>
              </a:path>
            </a:pathLst>
          </a:custGeom>
          <a:solidFill>
            <a:srgbClr val="000000"/>
          </a:solidFill>
          <a:ln w="4763">
            <a:solidFill>
              <a:srgbClr val="000000"/>
            </a:solidFill>
            <a:round/>
            <a:headEnd/>
            <a:tailEnd/>
          </a:ln>
        </p:spPr>
        <p:txBody>
          <a:bodyPr/>
          <a:lstStyle/>
          <a:p>
            <a:endParaRPr lang="en-US"/>
          </a:p>
        </p:txBody>
      </p:sp>
      <p:sp>
        <p:nvSpPr>
          <p:cNvPr id="8196" name="Freeform 5"/>
          <p:cNvSpPr>
            <a:spLocks/>
          </p:cNvSpPr>
          <p:nvPr/>
        </p:nvSpPr>
        <p:spPr bwMode="auto">
          <a:xfrm>
            <a:off x="1254125" y="2716213"/>
            <a:ext cx="96838" cy="98425"/>
          </a:xfrm>
          <a:custGeom>
            <a:avLst/>
            <a:gdLst>
              <a:gd name="T0" fmla="*/ 2147483647 w 61"/>
              <a:gd name="T1" fmla="*/ 2147483647 h 62"/>
              <a:gd name="T2" fmla="*/ 2147483647 w 61"/>
              <a:gd name="T3" fmla="*/ 2147483647 h 62"/>
              <a:gd name="T4" fmla="*/ 2147483647 w 61"/>
              <a:gd name="T5" fmla="*/ 2147483647 h 62"/>
              <a:gd name="T6" fmla="*/ 2147483647 w 61"/>
              <a:gd name="T7" fmla="*/ 2147483647 h 62"/>
              <a:gd name="T8" fmla="*/ 2147483647 w 61"/>
              <a:gd name="T9" fmla="*/ 2147483647 h 62"/>
              <a:gd name="T10" fmla="*/ 0 w 61"/>
              <a:gd name="T11" fmla="*/ 2147483647 h 62"/>
              <a:gd name="T12" fmla="*/ 0 w 61"/>
              <a:gd name="T13" fmla="*/ 2147483647 h 62"/>
              <a:gd name="T14" fmla="*/ 2147483647 w 61"/>
              <a:gd name="T15" fmla="*/ 2147483647 h 62"/>
              <a:gd name="T16" fmla="*/ 2147483647 w 61"/>
              <a:gd name="T17" fmla="*/ 0 h 62"/>
              <a:gd name="T18" fmla="*/ 2147483647 w 61"/>
              <a:gd name="T19" fmla="*/ 2147483647 h 62"/>
              <a:gd name="T20" fmla="*/ 2147483647 w 61"/>
              <a:gd name="T21" fmla="*/ 2147483647 h 62"/>
              <a:gd name="T22" fmla="*/ 2147483647 w 61"/>
              <a:gd name="T23" fmla="*/ 2147483647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2"/>
              <a:gd name="T38" fmla="*/ 61 w 61"/>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2">
                <a:moveTo>
                  <a:pt x="61" y="31"/>
                </a:moveTo>
                <a:lnTo>
                  <a:pt x="55" y="49"/>
                </a:lnTo>
                <a:lnTo>
                  <a:pt x="43" y="62"/>
                </a:lnTo>
                <a:lnTo>
                  <a:pt x="24" y="62"/>
                </a:lnTo>
                <a:lnTo>
                  <a:pt x="9" y="55"/>
                </a:lnTo>
                <a:lnTo>
                  <a:pt x="0" y="40"/>
                </a:lnTo>
                <a:lnTo>
                  <a:pt x="0" y="22"/>
                </a:lnTo>
                <a:lnTo>
                  <a:pt x="9" y="9"/>
                </a:lnTo>
                <a:lnTo>
                  <a:pt x="24" y="0"/>
                </a:lnTo>
                <a:lnTo>
                  <a:pt x="43" y="3"/>
                </a:lnTo>
                <a:lnTo>
                  <a:pt x="55" y="16"/>
                </a:lnTo>
                <a:lnTo>
                  <a:pt x="61" y="31"/>
                </a:lnTo>
                <a:close/>
              </a:path>
            </a:pathLst>
          </a:custGeom>
          <a:solidFill>
            <a:srgbClr val="000000"/>
          </a:solidFill>
          <a:ln w="4763">
            <a:solidFill>
              <a:srgbClr val="000000"/>
            </a:solidFill>
            <a:round/>
            <a:headEnd/>
            <a:tailEnd/>
          </a:ln>
        </p:spPr>
        <p:txBody>
          <a:bodyPr/>
          <a:lstStyle/>
          <a:p>
            <a:endParaRPr lang="en-US"/>
          </a:p>
        </p:txBody>
      </p:sp>
      <p:sp>
        <p:nvSpPr>
          <p:cNvPr id="8197" name="Freeform 6"/>
          <p:cNvSpPr>
            <a:spLocks/>
          </p:cNvSpPr>
          <p:nvPr/>
        </p:nvSpPr>
        <p:spPr bwMode="auto">
          <a:xfrm>
            <a:off x="1951038" y="4711700"/>
            <a:ext cx="96837" cy="98425"/>
          </a:xfrm>
          <a:custGeom>
            <a:avLst/>
            <a:gdLst>
              <a:gd name="T0" fmla="*/ 2147483647 w 61"/>
              <a:gd name="T1" fmla="*/ 2147483647 h 62"/>
              <a:gd name="T2" fmla="*/ 2147483647 w 61"/>
              <a:gd name="T3" fmla="*/ 2147483647 h 62"/>
              <a:gd name="T4" fmla="*/ 2147483647 w 61"/>
              <a:gd name="T5" fmla="*/ 2147483647 h 62"/>
              <a:gd name="T6" fmla="*/ 2147483647 w 61"/>
              <a:gd name="T7" fmla="*/ 2147483647 h 62"/>
              <a:gd name="T8" fmla="*/ 2147483647 w 61"/>
              <a:gd name="T9" fmla="*/ 2147483647 h 62"/>
              <a:gd name="T10" fmla="*/ 0 w 61"/>
              <a:gd name="T11" fmla="*/ 2147483647 h 62"/>
              <a:gd name="T12" fmla="*/ 0 w 61"/>
              <a:gd name="T13" fmla="*/ 2147483647 h 62"/>
              <a:gd name="T14" fmla="*/ 2147483647 w 61"/>
              <a:gd name="T15" fmla="*/ 2147483647 h 62"/>
              <a:gd name="T16" fmla="*/ 2147483647 w 61"/>
              <a:gd name="T17" fmla="*/ 0 h 62"/>
              <a:gd name="T18" fmla="*/ 2147483647 w 61"/>
              <a:gd name="T19" fmla="*/ 0 h 62"/>
              <a:gd name="T20" fmla="*/ 2147483647 w 61"/>
              <a:gd name="T21" fmla="*/ 2147483647 h 62"/>
              <a:gd name="T22" fmla="*/ 2147483647 w 61"/>
              <a:gd name="T23" fmla="*/ 2147483647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2"/>
              <a:gd name="T38" fmla="*/ 61 w 61"/>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2">
                <a:moveTo>
                  <a:pt x="61" y="31"/>
                </a:moveTo>
                <a:lnTo>
                  <a:pt x="55" y="46"/>
                </a:lnTo>
                <a:lnTo>
                  <a:pt x="43" y="59"/>
                </a:lnTo>
                <a:lnTo>
                  <a:pt x="24" y="62"/>
                </a:lnTo>
                <a:lnTo>
                  <a:pt x="9" y="53"/>
                </a:lnTo>
                <a:lnTo>
                  <a:pt x="0" y="40"/>
                </a:lnTo>
                <a:lnTo>
                  <a:pt x="0" y="22"/>
                </a:lnTo>
                <a:lnTo>
                  <a:pt x="9" y="7"/>
                </a:lnTo>
                <a:lnTo>
                  <a:pt x="24" y="0"/>
                </a:lnTo>
                <a:lnTo>
                  <a:pt x="43" y="0"/>
                </a:lnTo>
                <a:lnTo>
                  <a:pt x="55" y="13"/>
                </a:lnTo>
                <a:lnTo>
                  <a:pt x="61" y="31"/>
                </a:lnTo>
                <a:close/>
              </a:path>
            </a:pathLst>
          </a:custGeom>
          <a:solidFill>
            <a:srgbClr val="000000"/>
          </a:solidFill>
          <a:ln w="4763">
            <a:solidFill>
              <a:srgbClr val="000000"/>
            </a:solidFill>
            <a:round/>
            <a:headEnd/>
            <a:tailEnd/>
          </a:ln>
        </p:spPr>
        <p:txBody>
          <a:bodyPr/>
          <a:lstStyle/>
          <a:p>
            <a:endParaRPr lang="en-US"/>
          </a:p>
        </p:txBody>
      </p:sp>
      <p:sp>
        <p:nvSpPr>
          <p:cNvPr id="8198" name="Freeform 7"/>
          <p:cNvSpPr>
            <a:spLocks/>
          </p:cNvSpPr>
          <p:nvPr/>
        </p:nvSpPr>
        <p:spPr bwMode="auto">
          <a:xfrm>
            <a:off x="1550988" y="2619375"/>
            <a:ext cx="96837" cy="96838"/>
          </a:xfrm>
          <a:custGeom>
            <a:avLst/>
            <a:gdLst>
              <a:gd name="T0" fmla="*/ 2147483647 w 61"/>
              <a:gd name="T1" fmla="*/ 2147483647 h 61"/>
              <a:gd name="T2" fmla="*/ 2147483647 w 61"/>
              <a:gd name="T3" fmla="*/ 2147483647 h 61"/>
              <a:gd name="T4" fmla="*/ 2147483647 w 61"/>
              <a:gd name="T5" fmla="*/ 2147483647 h 61"/>
              <a:gd name="T6" fmla="*/ 2147483647 w 61"/>
              <a:gd name="T7" fmla="*/ 2147483647 h 61"/>
              <a:gd name="T8" fmla="*/ 2147483647 w 61"/>
              <a:gd name="T9" fmla="*/ 2147483647 h 61"/>
              <a:gd name="T10" fmla="*/ 0 w 61"/>
              <a:gd name="T11" fmla="*/ 2147483647 h 61"/>
              <a:gd name="T12" fmla="*/ 0 w 61"/>
              <a:gd name="T13" fmla="*/ 2147483647 h 61"/>
              <a:gd name="T14" fmla="*/ 2147483647 w 61"/>
              <a:gd name="T15" fmla="*/ 2147483647 h 61"/>
              <a:gd name="T16" fmla="*/ 2147483647 w 61"/>
              <a:gd name="T17" fmla="*/ 0 h 61"/>
              <a:gd name="T18" fmla="*/ 2147483647 w 61"/>
              <a:gd name="T19" fmla="*/ 2147483647 h 61"/>
              <a:gd name="T20" fmla="*/ 2147483647 w 61"/>
              <a:gd name="T21" fmla="*/ 2147483647 h 61"/>
              <a:gd name="T22" fmla="*/ 2147483647 w 61"/>
              <a:gd name="T23" fmla="*/ 2147483647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1"/>
              <a:gd name="T38" fmla="*/ 61 w 61"/>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1">
                <a:moveTo>
                  <a:pt x="61" y="31"/>
                </a:moveTo>
                <a:lnTo>
                  <a:pt x="58" y="46"/>
                </a:lnTo>
                <a:lnTo>
                  <a:pt x="43" y="58"/>
                </a:lnTo>
                <a:lnTo>
                  <a:pt x="25" y="61"/>
                </a:lnTo>
                <a:lnTo>
                  <a:pt x="9" y="55"/>
                </a:lnTo>
                <a:lnTo>
                  <a:pt x="0" y="40"/>
                </a:lnTo>
                <a:lnTo>
                  <a:pt x="0" y="21"/>
                </a:lnTo>
                <a:lnTo>
                  <a:pt x="9" y="6"/>
                </a:lnTo>
                <a:lnTo>
                  <a:pt x="25" y="0"/>
                </a:lnTo>
                <a:lnTo>
                  <a:pt x="43" y="3"/>
                </a:lnTo>
                <a:lnTo>
                  <a:pt x="58" y="12"/>
                </a:lnTo>
                <a:lnTo>
                  <a:pt x="61" y="31"/>
                </a:lnTo>
                <a:close/>
              </a:path>
            </a:pathLst>
          </a:custGeom>
          <a:solidFill>
            <a:srgbClr val="000000"/>
          </a:solidFill>
          <a:ln w="4763">
            <a:solidFill>
              <a:srgbClr val="000000"/>
            </a:solidFill>
            <a:round/>
            <a:headEnd/>
            <a:tailEnd/>
          </a:ln>
        </p:spPr>
        <p:txBody>
          <a:bodyPr/>
          <a:lstStyle/>
          <a:p>
            <a:endParaRPr lang="en-US"/>
          </a:p>
        </p:txBody>
      </p:sp>
      <p:sp>
        <p:nvSpPr>
          <p:cNvPr id="8199" name="Freeform 8"/>
          <p:cNvSpPr>
            <a:spLocks/>
          </p:cNvSpPr>
          <p:nvPr/>
        </p:nvSpPr>
        <p:spPr bwMode="auto">
          <a:xfrm>
            <a:off x="1951038" y="3914775"/>
            <a:ext cx="96837" cy="96838"/>
          </a:xfrm>
          <a:custGeom>
            <a:avLst/>
            <a:gdLst>
              <a:gd name="T0" fmla="*/ 2147483647 w 61"/>
              <a:gd name="T1" fmla="*/ 2147483647 h 61"/>
              <a:gd name="T2" fmla="*/ 2147483647 w 61"/>
              <a:gd name="T3" fmla="*/ 2147483647 h 61"/>
              <a:gd name="T4" fmla="*/ 2147483647 w 61"/>
              <a:gd name="T5" fmla="*/ 2147483647 h 61"/>
              <a:gd name="T6" fmla="*/ 2147483647 w 61"/>
              <a:gd name="T7" fmla="*/ 2147483647 h 61"/>
              <a:gd name="T8" fmla="*/ 2147483647 w 61"/>
              <a:gd name="T9" fmla="*/ 2147483647 h 61"/>
              <a:gd name="T10" fmla="*/ 0 w 61"/>
              <a:gd name="T11" fmla="*/ 2147483647 h 61"/>
              <a:gd name="T12" fmla="*/ 0 w 61"/>
              <a:gd name="T13" fmla="*/ 2147483647 h 61"/>
              <a:gd name="T14" fmla="*/ 2147483647 w 61"/>
              <a:gd name="T15" fmla="*/ 2147483647 h 61"/>
              <a:gd name="T16" fmla="*/ 2147483647 w 61"/>
              <a:gd name="T17" fmla="*/ 0 h 61"/>
              <a:gd name="T18" fmla="*/ 2147483647 w 61"/>
              <a:gd name="T19" fmla="*/ 2147483647 h 61"/>
              <a:gd name="T20" fmla="*/ 2147483647 w 61"/>
              <a:gd name="T21" fmla="*/ 2147483647 h 61"/>
              <a:gd name="T22" fmla="*/ 2147483647 w 61"/>
              <a:gd name="T23" fmla="*/ 2147483647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1"/>
              <a:gd name="T38" fmla="*/ 61 w 61"/>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1">
                <a:moveTo>
                  <a:pt x="61" y="30"/>
                </a:moveTo>
                <a:lnTo>
                  <a:pt x="55" y="46"/>
                </a:lnTo>
                <a:lnTo>
                  <a:pt x="43" y="58"/>
                </a:lnTo>
                <a:lnTo>
                  <a:pt x="24" y="61"/>
                </a:lnTo>
                <a:lnTo>
                  <a:pt x="9" y="55"/>
                </a:lnTo>
                <a:lnTo>
                  <a:pt x="0" y="39"/>
                </a:lnTo>
                <a:lnTo>
                  <a:pt x="0" y="21"/>
                </a:lnTo>
                <a:lnTo>
                  <a:pt x="9" y="6"/>
                </a:lnTo>
                <a:lnTo>
                  <a:pt x="24" y="0"/>
                </a:lnTo>
                <a:lnTo>
                  <a:pt x="43" y="3"/>
                </a:lnTo>
                <a:lnTo>
                  <a:pt x="55" y="12"/>
                </a:lnTo>
                <a:lnTo>
                  <a:pt x="61" y="30"/>
                </a:lnTo>
                <a:close/>
              </a:path>
            </a:pathLst>
          </a:custGeom>
          <a:solidFill>
            <a:srgbClr val="000000"/>
          </a:solidFill>
          <a:ln w="4763">
            <a:solidFill>
              <a:srgbClr val="000000"/>
            </a:solidFill>
            <a:round/>
            <a:headEnd/>
            <a:tailEnd/>
          </a:ln>
        </p:spPr>
        <p:txBody>
          <a:bodyPr/>
          <a:lstStyle/>
          <a:p>
            <a:endParaRPr lang="en-US"/>
          </a:p>
        </p:txBody>
      </p:sp>
      <p:sp>
        <p:nvSpPr>
          <p:cNvPr id="8200" name="Freeform 9"/>
          <p:cNvSpPr>
            <a:spLocks/>
          </p:cNvSpPr>
          <p:nvPr/>
        </p:nvSpPr>
        <p:spPr bwMode="auto">
          <a:xfrm>
            <a:off x="2120900" y="1825625"/>
            <a:ext cx="98425" cy="98425"/>
          </a:xfrm>
          <a:custGeom>
            <a:avLst/>
            <a:gdLst>
              <a:gd name="T0" fmla="*/ 2147483647 w 62"/>
              <a:gd name="T1" fmla="*/ 2147483647 h 62"/>
              <a:gd name="T2" fmla="*/ 2147483647 w 62"/>
              <a:gd name="T3" fmla="*/ 2147483647 h 62"/>
              <a:gd name="T4" fmla="*/ 2147483647 w 62"/>
              <a:gd name="T5" fmla="*/ 2147483647 h 62"/>
              <a:gd name="T6" fmla="*/ 2147483647 w 62"/>
              <a:gd name="T7" fmla="*/ 2147483647 h 62"/>
              <a:gd name="T8" fmla="*/ 2147483647 w 62"/>
              <a:gd name="T9" fmla="*/ 2147483647 h 62"/>
              <a:gd name="T10" fmla="*/ 0 w 62"/>
              <a:gd name="T11" fmla="*/ 2147483647 h 62"/>
              <a:gd name="T12" fmla="*/ 0 w 62"/>
              <a:gd name="T13" fmla="*/ 2147483647 h 62"/>
              <a:gd name="T14" fmla="*/ 2147483647 w 62"/>
              <a:gd name="T15" fmla="*/ 2147483647 h 62"/>
              <a:gd name="T16" fmla="*/ 2147483647 w 62"/>
              <a:gd name="T17" fmla="*/ 0 h 62"/>
              <a:gd name="T18" fmla="*/ 2147483647 w 62"/>
              <a:gd name="T19" fmla="*/ 2147483647 h 62"/>
              <a:gd name="T20" fmla="*/ 2147483647 w 62"/>
              <a:gd name="T21" fmla="*/ 2147483647 h 62"/>
              <a:gd name="T22" fmla="*/ 2147483647 w 62"/>
              <a:gd name="T23" fmla="*/ 2147483647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62"/>
              <a:gd name="T38" fmla="*/ 62 w 6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62">
                <a:moveTo>
                  <a:pt x="62" y="31"/>
                </a:moveTo>
                <a:lnTo>
                  <a:pt x="56" y="46"/>
                </a:lnTo>
                <a:lnTo>
                  <a:pt x="43" y="58"/>
                </a:lnTo>
                <a:lnTo>
                  <a:pt x="25" y="62"/>
                </a:lnTo>
                <a:lnTo>
                  <a:pt x="9" y="55"/>
                </a:lnTo>
                <a:lnTo>
                  <a:pt x="0" y="40"/>
                </a:lnTo>
                <a:lnTo>
                  <a:pt x="0" y="22"/>
                </a:lnTo>
                <a:lnTo>
                  <a:pt x="9" y="6"/>
                </a:lnTo>
                <a:lnTo>
                  <a:pt x="25" y="0"/>
                </a:lnTo>
                <a:lnTo>
                  <a:pt x="43" y="3"/>
                </a:lnTo>
                <a:lnTo>
                  <a:pt x="56" y="12"/>
                </a:lnTo>
                <a:lnTo>
                  <a:pt x="62" y="31"/>
                </a:lnTo>
                <a:close/>
              </a:path>
            </a:pathLst>
          </a:custGeom>
          <a:solidFill>
            <a:srgbClr val="000000"/>
          </a:solidFill>
          <a:ln w="4763">
            <a:solidFill>
              <a:srgbClr val="000000"/>
            </a:solidFill>
            <a:round/>
            <a:headEnd/>
            <a:tailEnd/>
          </a:ln>
        </p:spPr>
        <p:txBody>
          <a:bodyPr/>
          <a:lstStyle/>
          <a:p>
            <a:endParaRPr lang="en-US"/>
          </a:p>
        </p:txBody>
      </p:sp>
      <p:sp>
        <p:nvSpPr>
          <p:cNvPr id="8201" name="Freeform 10"/>
          <p:cNvSpPr>
            <a:spLocks/>
          </p:cNvSpPr>
          <p:nvPr/>
        </p:nvSpPr>
        <p:spPr bwMode="auto">
          <a:xfrm>
            <a:off x="2351088" y="2020888"/>
            <a:ext cx="96837" cy="96837"/>
          </a:xfrm>
          <a:custGeom>
            <a:avLst/>
            <a:gdLst>
              <a:gd name="T0" fmla="*/ 2147483647 w 61"/>
              <a:gd name="T1" fmla="*/ 2147483647 h 61"/>
              <a:gd name="T2" fmla="*/ 2147483647 w 61"/>
              <a:gd name="T3" fmla="*/ 2147483647 h 61"/>
              <a:gd name="T4" fmla="*/ 2147483647 w 61"/>
              <a:gd name="T5" fmla="*/ 2147483647 h 61"/>
              <a:gd name="T6" fmla="*/ 2147483647 w 61"/>
              <a:gd name="T7" fmla="*/ 2147483647 h 61"/>
              <a:gd name="T8" fmla="*/ 2147483647 w 61"/>
              <a:gd name="T9" fmla="*/ 2147483647 h 61"/>
              <a:gd name="T10" fmla="*/ 0 w 61"/>
              <a:gd name="T11" fmla="*/ 2147483647 h 61"/>
              <a:gd name="T12" fmla="*/ 0 w 61"/>
              <a:gd name="T13" fmla="*/ 2147483647 h 61"/>
              <a:gd name="T14" fmla="*/ 2147483647 w 61"/>
              <a:gd name="T15" fmla="*/ 2147483647 h 61"/>
              <a:gd name="T16" fmla="*/ 2147483647 w 61"/>
              <a:gd name="T17" fmla="*/ 0 h 61"/>
              <a:gd name="T18" fmla="*/ 2147483647 w 61"/>
              <a:gd name="T19" fmla="*/ 2147483647 h 61"/>
              <a:gd name="T20" fmla="*/ 2147483647 w 61"/>
              <a:gd name="T21" fmla="*/ 2147483647 h 61"/>
              <a:gd name="T22" fmla="*/ 2147483647 w 61"/>
              <a:gd name="T23" fmla="*/ 2147483647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1"/>
              <a:gd name="T38" fmla="*/ 61 w 61"/>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1">
                <a:moveTo>
                  <a:pt x="61" y="31"/>
                </a:moveTo>
                <a:lnTo>
                  <a:pt x="55" y="49"/>
                </a:lnTo>
                <a:lnTo>
                  <a:pt x="43" y="58"/>
                </a:lnTo>
                <a:lnTo>
                  <a:pt x="24" y="61"/>
                </a:lnTo>
                <a:lnTo>
                  <a:pt x="9" y="55"/>
                </a:lnTo>
                <a:lnTo>
                  <a:pt x="0" y="40"/>
                </a:lnTo>
                <a:lnTo>
                  <a:pt x="0" y="21"/>
                </a:lnTo>
                <a:lnTo>
                  <a:pt x="9" y="6"/>
                </a:lnTo>
                <a:lnTo>
                  <a:pt x="24" y="0"/>
                </a:lnTo>
                <a:lnTo>
                  <a:pt x="43" y="3"/>
                </a:lnTo>
                <a:lnTo>
                  <a:pt x="55" y="15"/>
                </a:lnTo>
                <a:lnTo>
                  <a:pt x="61" y="31"/>
                </a:lnTo>
                <a:close/>
              </a:path>
            </a:pathLst>
          </a:custGeom>
          <a:solidFill>
            <a:srgbClr val="000000"/>
          </a:solidFill>
          <a:ln w="4763">
            <a:solidFill>
              <a:srgbClr val="000000"/>
            </a:solidFill>
            <a:round/>
            <a:headEnd/>
            <a:tailEnd/>
          </a:ln>
        </p:spPr>
        <p:txBody>
          <a:bodyPr/>
          <a:lstStyle/>
          <a:p>
            <a:endParaRPr lang="en-US"/>
          </a:p>
        </p:txBody>
      </p:sp>
      <p:sp>
        <p:nvSpPr>
          <p:cNvPr id="8202" name="Freeform 11"/>
          <p:cNvSpPr>
            <a:spLocks/>
          </p:cNvSpPr>
          <p:nvPr/>
        </p:nvSpPr>
        <p:spPr bwMode="auto">
          <a:xfrm>
            <a:off x="2447925" y="2317750"/>
            <a:ext cx="96838" cy="101600"/>
          </a:xfrm>
          <a:custGeom>
            <a:avLst/>
            <a:gdLst>
              <a:gd name="T0" fmla="*/ 2147483647 w 61"/>
              <a:gd name="T1" fmla="*/ 2147483647 h 64"/>
              <a:gd name="T2" fmla="*/ 2147483647 w 61"/>
              <a:gd name="T3" fmla="*/ 2147483647 h 64"/>
              <a:gd name="T4" fmla="*/ 2147483647 w 61"/>
              <a:gd name="T5" fmla="*/ 2147483647 h 64"/>
              <a:gd name="T6" fmla="*/ 2147483647 w 61"/>
              <a:gd name="T7" fmla="*/ 2147483647 h 64"/>
              <a:gd name="T8" fmla="*/ 2147483647 w 61"/>
              <a:gd name="T9" fmla="*/ 2147483647 h 64"/>
              <a:gd name="T10" fmla="*/ 0 w 61"/>
              <a:gd name="T11" fmla="*/ 2147483647 h 64"/>
              <a:gd name="T12" fmla="*/ 0 w 61"/>
              <a:gd name="T13" fmla="*/ 2147483647 h 64"/>
              <a:gd name="T14" fmla="*/ 2147483647 w 61"/>
              <a:gd name="T15" fmla="*/ 2147483647 h 64"/>
              <a:gd name="T16" fmla="*/ 2147483647 w 61"/>
              <a:gd name="T17" fmla="*/ 0 h 64"/>
              <a:gd name="T18" fmla="*/ 2147483647 w 61"/>
              <a:gd name="T19" fmla="*/ 2147483647 h 64"/>
              <a:gd name="T20" fmla="*/ 2147483647 w 61"/>
              <a:gd name="T21" fmla="*/ 2147483647 h 64"/>
              <a:gd name="T22" fmla="*/ 2147483647 w 61"/>
              <a:gd name="T23" fmla="*/ 2147483647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4"/>
              <a:gd name="T38" fmla="*/ 61 w 61"/>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4">
                <a:moveTo>
                  <a:pt x="61" y="31"/>
                </a:moveTo>
                <a:lnTo>
                  <a:pt x="58" y="49"/>
                </a:lnTo>
                <a:lnTo>
                  <a:pt x="43" y="61"/>
                </a:lnTo>
                <a:lnTo>
                  <a:pt x="28" y="64"/>
                </a:lnTo>
                <a:lnTo>
                  <a:pt x="9" y="55"/>
                </a:lnTo>
                <a:lnTo>
                  <a:pt x="0" y="40"/>
                </a:lnTo>
                <a:lnTo>
                  <a:pt x="0" y="24"/>
                </a:lnTo>
                <a:lnTo>
                  <a:pt x="9" y="9"/>
                </a:lnTo>
                <a:lnTo>
                  <a:pt x="28" y="0"/>
                </a:lnTo>
                <a:lnTo>
                  <a:pt x="43" y="3"/>
                </a:lnTo>
                <a:lnTo>
                  <a:pt x="58" y="15"/>
                </a:lnTo>
                <a:lnTo>
                  <a:pt x="61" y="31"/>
                </a:lnTo>
                <a:close/>
              </a:path>
            </a:pathLst>
          </a:custGeom>
          <a:solidFill>
            <a:srgbClr val="000000"/>
          </a:solidFill>
          <a:ln w="4763">
            <a:solidFill>
              <a:srgbClr val="000000"/>
            </a:solidFill>
            <a:round/>
            <a:headEnd/>
            <a:tailEnd/>
          </a:ln>
        </p:spPr>
        <p:txBody>
          <a:bodyPr/>
          <a:lstStyle/>
          <a:p>
            <a:endParaRPr lang="en-US"/>
          </a:p>
        </p:txBody>
      </p:sp>
      <p:sp>
        <p:nvSpPr>
          <p:cNvPr id="8203" name="Freeform 12"/>
          <p:cNvSpPr>
            <a:spLocks/>
          </p:cNvSpPr>
          <p:nvPr/>
        </p:nvSpPr>
        <p:spPr bwMode="auto">
          <a:xfrm>
            <a:off x="2847975" y="2317750"/>
            <a:ext cx="96838" cy="101600"/>
          </a:xfrm>
          <a:custGeom>
            <a:avLst/>
            <a:gdLst>
              <a:gd name="T0" fmla="*/ 2147483647 w 61"/>
              <a:gd name="T1" fmla="*/ 2147483647 h 64"/>
              <a:gd name="T2" fmla="*/ 2147483647 w 61"/>
              <a:gd name="T3" fmla="*/ 2147483647 h 64"/>
              <a:gd name="T4" fmla="*/ 2147483647 w 61"/>
              <a:gd name="T5" fmla="*/ 2147483647 h 64"/>
              <a:gd name="T6" fmla="*/ 2147483647 w 61"/>
              <a:gd name="T7" fmla="*/ 2147483647 h 64"/>
              <a:gd name="T8" fmla="*/ 2147483647 w 61"/>
              <a:gd name="T9" fmla="*/ 2147483647 h 64"/>
              <a:gd name="T10" fmla="*/ 0 w 61"/>
              <a:gd name="T11" fmla="*/ 2147483647 h 64"/>
              <a:gd name="T12" fmla="*/ 0 w 61"/>
              <a:gd name="T13" fmla="*/ 2147483647 h 64"/>
              <a:gd name="T14" fmla="*/ 2147483647 w 61"/>
              <a:gd name="T15" fmla="*/ 2147483647 h 64"/>
              <a:gd name="T16" fmla="*/ 2147483647 w 61"/>
              <a:gd name="T17" fmla="*/ 0 h 64"/>
              <a:gd name="T18" fmla="*/ 2147483647 w 61"/>
              <a:gd name="T19" fmla="*/ 2147483647 h 64"/>
              <a:gd name="T20" fmla="*/ 2147483647 w 61"/>
              <a:gd name="T21" fmla="*/ 2147483647 h 64"/>
              <a:gd name="T22" fmla="*/ 2147483647 w 61"/>
              <a:gd name="T23" fmla="*/ 2147483647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4"/>
              <a:gd name="T38" fmla="*/ 61 w 61"/>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4">
                <a:moveTo>
                  <a:pt x="61" y="31"/>
                </a:moveTo>
                <a:lnTo>
                  <a:pt x="58" y="49"/>
                </a:lnTo>
                <a:lnTo>
                  <a:pt x="43" y="61"/>
                </a:lnTo>
                <a:lnTo>
                  <a:pt x="27" y="64"/>
                </a:lnTo>
                <a:lnTo>
                  <a:pt x="9" y="55"/>
                </a:lnTo>
                <a:lnTo>
                  <a:pt x="0" y="40"/>
                </a:lnTo>
                <a:lnTo>
                  <a:pt x="0" y="24"/>
                </a:lnTo>
                <a:lnTo>
                  <a:pt x="9" y="9"/>
                </a:lnTo>
                <a:lnTo>
                  <a:pt x="27" y="0"/>
                </a:lnTo>
                <a:lnTo>
                  <a:pt x="43" y="3"/>
                </a:lnTo>
                <a:lnTo>
                  <a:pt x="58" y="15"/>
                </a:lnTo>
                <a:lnTo>
                  <a:pt x="61" y="31"/>
                </a:lnTo>
                <a:close/>
              </a:path>
            </a:pathLst>
          </a:custGeom>
          <a:solidFill>
            <a:srgbClr val="000000"/>
          </a:solidFill>
          <a:ln w="4763">
            <a:solidFill>
              <a:srgbClr val="000000"/>
            </a:solidFill>
            <a:round/>
            <a:headEnd/>
            <a:tailEnd/>
          </a:ln>
        </p:spPr>
        <p:txBody>
          <a:bodyPr/>
          <a:lstStyle/>
          <a:p>
            <a:endParaRPr lang="en-US"/>
          </a:p>
        </p:txBody>
      </p:sp>
      <p:sp>
        <p:nvSpPr>
          <p:cNvPr id="8204" name="Freeform 13"/>
          <p:cNvSpPr>
            <a:spLocks/>
          </p:cNvSpPr>
          <p:nvPr/>
        </p:nvSpPr>
        <p:spPr bwMode="auto">
          <a:xfrm>
            <a:off x="2647950" y="2117725"/>
            <a:ext cx="96838" cy="103188"/>
          </a:xfrm>
          <a:custGeom>
            <a:avLst/>
            <a:gdLst>
              <a:gd name="T0" fmla="*/ 2147483647 w 61"/>
              <a:gd name="T1" fmla="*/ 2147483647 h 65"/>
              <a:gd name="T2" fmla="*/ 2147483647 w 61"/>
              <a:gd name="T3" fmla="*/ 2147483647 h 65"/>
              <a:gd name="T4" fmla="*/ 2147483647 w 61"/>
              <a:gd name="T5" fmla="*/ 2147483647 h 65"/>
              <a:gd name="T6" fmla="*/ 2147483647 w 61"/>
              <a:gd name="T7" fmla="*/ 2147483647 h 65"/>
              <a:gd name="T8" fmla="*/ 2147483647 w 61"/>
              <a:gd name="T9" fmla="*/ 2147483647 h 65"/>
              <a:gd name="T10" fmla="*/ 0 w 61"/>
              <a:gd name="T11" fmla="*/ 2147483647 h 65"/>
              <a:gd name="T12" fmla="*/ 0 w 61"/>
              <a:gd name="T13" fmla="*/ 2147483647 h 65"/>
              <a:gd name="T14" fmla="*/ 2147483647 w 61"/>
              <a:gd name="T15" fmla="*/ 2147483647 h 65"/>
              <a:gd name="T16" fmla="*/ 2147483647 w 61"/>
              <a:gd name="T17" fmla="*/ 0 h 65"/>
              <a:gd name="T18" fmla="*/ 2147483647 w 61"/>
              <a:gd name="T19" fmla="*/ 2147483647 h 65"/>
              <a:gd name="T20" fmla="*/ 2147483647 w 61"/>
              <a:gd name="T21" fmla="*/ 2147483647 h 65"/>
              <a:gd name="T22" fmla="*/ 2147483647 w 61"/>
              <a:gd name="T23" fmla="*/ 2147483647 h 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5"/>
              <a:gd name="T38" fmla="*/ 61 w 61"/>
              <a:gd name="T39" fmla="*/ 65 h 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5">
                <a:moveTo>
                  <a:pt x="61" y="34"/>
                </a:moveTo>
                <a:lnTo>
                  <a:pt x="58" y="49"/>
                </a:lnTo>
                <a:lnTo>
                  <a:pt x="43" y="61"/>
                </a:lnTo>
                <a:lnTo>
                  <a:pt x="28" y="65"/>
                </a:lnTo>
                <a:lnTo>
                  <a:pt x="9" y="55"/>
                </a:lnTo>
                <a:lnTo>
                  <a:pt x="0" y="40"/>
                </a:lnTo>
                <a:lnTo>
                  <a:pt x="0" y="25"/>
                </a:lnTo>
                <a:lnTo>
                  <a:pt x="9" y="9"/>
                </a:lnTo>
                <a:lnTo>
                  <a:pt x="28" y="0"/>
                </a:lnTo>
                <a:lnTo>
                  <a:pt x="43" y="3"/>
                </a:lnTo>
                <a:lnTo>
                  <a:pt x="58" y="16"/>
                </a:lnTo>
                <a:lnTo>
                  <a:pt x="61" y="34"/>
                </a:lnTo>
                <a:close/>
              </a:path>
            </a:pathLst>
          </a:custGeom>
          <a:solidFill>
            <a:srgbClr val="000000"/>
          </a:solidFill>
          <a:ln w="4763">
            <a:solidFill>
              <a:srgbClr val="000000"/>
            </a:solidFill>
            <a:round/>
            <a:headEnd/>
            <a:tailEnd/>
          </a:ln>
        </p:spPr>
        <p:txBody>
          <a:bodyPr/>
          <a:lstStyle/>
          <a:p>
            <a:endParaRPr lang="en-US"/>
          </a:p>
        </p:txBody>
      </p:sp>
      <p:sp>
        <p:nvSpPr>
          <p:cNvPr id="8205" name="Freeform 14"/>
          <p:cNvSpPr>
            <a:spLocks/>
          </p:cNvSpPr>
          <p:nvPr/>
        </p:nvSpPr>
        <p:spPr bwMode="auto">
          <a:xfrm>
            <a:off x="2647950" y="1724025"/>
            <a:ext cx="96838" cy="96838"/>
          </a:xfrm>
          <a:custGeom>
            <a:avLst/>
            <a:gdLst>
              <a:gd name="T0" fmla="*/ 2147483647 w 61"/>
              <a:gd name="T1" fmla="*/ 2147483647 h 61"/>
              <a:gd name="T2" fmla="*/ 2147483647 w 61"/>
              <a:gd name="T3" fmla="*/ 2147483647 h 61"/>
              <a:gd name="T4" fmla="*/ 2147483647 w 61"/>
              <a:gd name="T5" fmla="*/ 2147483647 h 61"/>
              <a:gd name="T6" fmla="*/ 2147483647 w 61"/>
              <a:gd name="T7" fmla="*/ 2147483647 h 61"/>
              <a:gd name="T8" fmla="*/ 2147483647 w 61"/>
              <a:gd name="T9" fmla="*/ 2147483647 h 61"/>
              <a:gd name="T10" fmla="*/ 0 w 61"/>
              <a:gd name="T11" fmla="*/ 2147483647 h 61"/>
              <a:gd name="T12" fmla="*/ 0 w 61"/>
              <a:gd name="T13" fmla="*/ 2147483647 h 61"/>
              <a:gd name="T14" fmla="*/ 2147483647 w 61"/>
              <a:gd name="T15" fmla="*/ 2147483647 h 61"/>
              <a:gd name="T16" fmla="*/ 2147483647 w 61"/>
              <a:gd name="T17" fmla="*/ 0 h 61"/>
              <a:gd name="T18" fmla="*/ 2147483647 w 61"/>
              <a:gd name="T19" fmla="*/ 2147483647 h 61"/>
              <a:gd name="T20" fmla="*/ 2147483647 w 61"/>
              <a:gd name="T21" fmla="*/ 2147483647 h 61"/>
              <a:gd name="T22" fmla="*/ 2147483647 w 61"/>
              <a:gd name="T23" fmla="*/ 2147483647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1"/>
              <a:gd name="T38" fmla="*/ 61 w 61"/>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1">
                <a:moveTo>
                  <a:pt x="61" y="30"/>
                </a:moveTo>
                <a:lnTo>
                  <a:pt x="58" y="49"/>
                </a:lnTo>
                <a:lnTo>
                  <a:pt x="43" y="61"/>
                </a:lnTo>
                <a:lnTo>
                  <a:pt x="28" y="61"/>
                </a:lnTo>
                <a:lnTo>
                  <a:pt x="9" y="55"/>
                </a:lnTo>
                <a:lnTo>
                  <a:pt x="0" y="40"/>
                </a:lnTo>
                <a:lnTo>
                  <a:pt x="0" y="21"/>
                </a:lnTo>
                <a:lnTo>
                  <a:pt x="9" y="9"/>
                </a:lnTo>
                <a:lnTo>
                  <a:pt x="28" y="0"/>
                </a:lnTo>
                <a:lnTo>
                  <a:pt x="43" y="3"/>
                </a:lnTo>
                <a:lnTo>
                  <a:pt x="58" y="15"/>
                </a:lnTo>
                <a:lnTo>
                  <a:pt x="61" y="30"/>
                </a:lnTo>
                <a:close/>
              </a:path>
            </a:pathLst>
          </a:custGeom>
          <a:solidFill>
            <a:srgbClr val="000000"/>
          </a:solidFill>
          <a:ln w="4763">
            <a:solidFill>
              <a:srgbClr val="000000"/>
            </a:solidFill>
            <a:round/>
            <a:headEnd/>
            <a:tailEnd/>
          </a:ln>
        </p:spPr>
        <p:txBody>
          <a:bodyPr/>
          <a:lstStyle/>
          <a:p>
            <a:endParaRPr lang="en-US"/>
          </a:p>
        </p:txBody>
      </p:sp>
      <p:sp>
        <p:nvSpPr>
          <p:cNvPr id="8206" name="Freeform 15"/>
          <p:cNvSpPr>
            <a:spLocks/>
          </p:cNvSpPr>
          <p:nvPr/>
        </p:nvSpPr>
        <p:spPr bwMode="auto">
          <a:xfrm>
            <a:off x="3344863" y="4711700"/>
            <a:ext cx="103187" cy="98425"/>
          </a:xfrm>
          <a:custGeom>
            <a:avLst/>
            <a:gdLst>
              <a:gd name="T0" fmla="*/ 2147483647 w 65"/>
              <a:gd name="T1" fmla="*/ 2147483647 h 62"/>
              <a:gd name="T2" fmla="*/ 2147483647 w 65"/>
              <a:gd name="T3" fmla="*/ 2147483647 h 62"/>
              <a:gd name="T4" fmla="*/ 2147483647 w 65"/>
              <a:gd name="T5" fmla="*/ 2147483647 h 62"/>
              <a:gd name="T6" fmla="*/ 2147483647 w 65"/>
              <a:gd name="T7" fmla="*/ 2147483647 h 62"/>
              <a:gd name="T8" fmla="*/ 2147483647 w 65"/>
              <a:gd name="T9" fmla="*/ 2147483647 h 62"/>
              <a:gd name="T10" fmla="*/ 0 w 65"/>
              <a:gd name="T11" fmla="*/ 2147483647 h 62"/>
              <a:gd name="T12" fmla="*/ 0 w 65"/>
              <a:gd name="T13" fmla="*/ 2147483647 h 62"/>
              <a:gd name="T14" fmla="*/ 2147483647 w 65"/>
              <a:gd name="T15" fmla="*/ 2147483647 h 62"/>
              <a:gd name="T16" fmla="*/ 2147483647 w 65"/>
              <a:gd name="T17" fmla="*/ 0 h 62"/>
              <a:gd name="T18" fmla="*/ 2147483647 w 65"/>
              <a:gd name="T19" fmla="*/ 0 h 62"/>
              <a:gd name="T20" fmla="*/ 2147483647 w 65"/>
              <a:gd name="T21" fmla="*/ 2147483647 h 62"/>
              <a:gd name="T22" fmla="*/ 2147483647 w 65"/>
              <a:gd name="T23" fmla="*/ 2147483647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5"/>
              <a:gd name="T37" fmla="*/ 0 h 62"/>
              <a:gd name="T38" fmla="*/ 65 w 65"/>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5" h="62">
                <a:moveTo>
                  <a:pt x="65" y="31"/>
                </a:moveTo>
                <a:lnTo>
                  <a:pt x="58" y="46"/>
                </a:lnTo>
                <a:lnTo>
                  <a:pt x="46" y="59"/>
                </a:lnTo>
                <a:lnTo>
                  <a:pt x="28" y="62"/>
                </a:lnTo>
                <a:lnTo>
                  <a:pt x="12" y="53"/>
                </a:lnTo>
                <a:lnTo>
                  <a:pt x="0" y="40"/>
                </a:lnTo>
                <a:lnTo>
                  <a:pt x="0" y="22"/>
                </a:lnTo>
                <a:lnTo>
                  <a:pt x="12" y="7"/>
                </a:lnTo>
                <a:lnTo>
                  <a:pt x="28" y="0"/>
                </a:lnTo>
                <a:lnTo>
                  <a:pt x="46" y="0"/>
                </a:lnTo>
                <a:lnTo>
                  <a:pt x="58" y="13"/>
                </a:lnTo>
                <a:lnTo>
                  <a:pt x="65" y="31"/>
                </a:lnTo>
                <a:close/>
              </a:path>
            </a:pathLst>
          </a:custGeom>
          <a:solidFill>
            <a:srgbClr val="000000"/>
          </a:solidFill>
          <a:ln w="4763">
            <a:solidFill>
              <a:srgbClr val="000000"/>
            </a:solidFill>
            <a:round/>
            <a:headEnd/>
            <a:tailEnd/>
          </a:ln>
        </p:spPr>
        <p:txBody>
          <a:bodyPr/>
          <a:lstStyle/>
          <a:p>
            <a:endParaRPr lang="en-US"/>
          </a:p>
        </p:txBody>
      </p:sp>
      <p:sp>
        <p:nvSpPr>
          <p:cNvPr id="8207" name="Freeform 16"/>
          <p:cNvSpPr>
            <a:spLocks/>
          </p:cNvSpPr>
          <p:nvPr/>
        </p:nvSpPr>
        <p:spPr bwMode="auto">
          <a:xfrm>
            <a:off x="1550988" y="2220913"/>
            <a:ext cx="96837" cy="96837"/>
          </a:xfrm>
          <a:custGeom>
            <a:avLst/>
            <a:gdLst>
              <a:gd name="T0" fmla="*/ 2147483647 w 61"/>
              <a:gd name="T1" fmla="*/ 2147483647 h 61"/>
              <a:gd name="T2" fmla="*/ 2147483647 w 61"/>
              <a:gd name="T3" fmla="*/ 2147483647 h 61"/>
              <a:gd name="T4" fmla="*/ 2147483647 w 61"/>
              <a:gd name="T5" fmla="*/ 2147483647 h 61"/>
              <a:gd name="T6" fmla="*/ 2147483647 w 61"/>
              <a:gd name="T7" fmla="*/ 2147483647 h 61"/>
              <a:gd name="T8" fmla="*/ 2147483647 w 61"/>
              <a:gd name="T9" fmla="*/ 2147483647 h 61"/>
              <a:gd name="T10" fmla="*/ 0 w 61"/>
              <a:gd name="T11" fmla="*/ 2147483647 h 61"/>
              <a:gd name="T12" fmla="*/ 0 w 61"/>
              <a:gd name="T13" fmla="*/ 2147483647 h 61"/>
              <a:gd name="T14" fmla="*/ 2147483647 w 61"/>
              <a:gd name="T15" fmla="*/ 2147483647 h 61"/>
              <a:gd name="T16" fmla="*/ 2147483647 w 61"/>
              <a:gd name="T17" fmla="*/ 0 h 61"/>
              <a:gd name="T18" fmla="*/ 2147483647 w 61"/>
              <a:gd name="T19" fmla="*/ 2147483647 h 61"/>
              <a:gd name="T20" fmla="*/ 2147483647 w 61"/>
              <a:gd name="T21" fmla="*/ 2147483647 h 61"/>
              <a:gd name="T22" fmla="*/ 2147483647 w 61"/>
              <a:gd name="T23" fmla="*/ 2147483647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1"/>
              <a:gd name="T38" fmla="*/ 61 w 61"/>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1">
                <a:moveTo>
                  <a:pt x="61" y="30"/>
                </a:moveTo>
                <a:lnTo>
                  <a:pt x="58" y="49"/>
                </a:lnTo>
                <a:lnTo>
                  <a:pt x="43" y="58"/>
                </a:lnTo>
                <a:lnTo>
                  <a:pt x="25" y="61"/>
                </a:lnTo>
                <a:lnTo>
                  <a:pt x="9" y="55"/>
                </a:lnTo>
                <a:lnTo>
                  <a:pt x="0" y="39"/>
                </a:lnTo>
                <a:lnTo>
                  <a:pt x="0" y="21"/>
                </a:lnTo>
                <a:lnTo>
                  <a:pt x="9" y="6"/>
                </a:lnTo>
                <a:lnTo>
                  <a:pt x="25" y="0"/>
                </a:lnTo>
                <a:lnTo>
                  <a:pt x="43" y="3"/>
                </a:lnTo>
                <a:lnTo>
                  <a:pt x="58" y="12"/>
                </a:lnTo>
                <a:lnTo>
                  <a:pt x="61" y="30"/>
                </a:lnTo>
                <a:close/>
              </a:path>
            </a:pathLst>
          </a:custGeom>
          <a:solidFill>
            <a:srgbClr val="000000"/>
          </a:solidFill>
          <a:ln w="4763">
            <a:solidFill>
              <a:srgbClr val="000000"/>
            </a:solidFill>
            <a:round/>
            <a:headEnd/>
            <a:tailEnd/>
          </a:ln>
        </p:spPr>
        <p:txBody>
          <a:bodyPr/>
          <a:lstStyle/>
          <a:p>
            <a:endParaRPr lang="en-US"/>
          </a:p>
        </p:txBody>
      </p:sp>
      <p:sp>
        <p:nvSpPr>
          <p:cNvPr id="8208" name="Freeform 17"/>
          <p:cNvSpPr>
            <a:spLocks/>
          </p:cNvSpPr>
          <p:nvPr/>
        </p:nvSpPr>
        <p:spPr bwMode="auto">
          <a:xfrm>
            <a:off x="1223963" y="4410075"/>
            <a:ext cx="98425" cy="98425"/>
          </a:xfrm>
          <a:custGeom>
            <a:avLst/>
            <a:gdLst>
              <a:gd name="T0" fmla="*/ 2147483647 w 62"/>
              <a:gd name="T1" fmla="*/ 2147483647 h 62"/>
              <a:gd name="T2" fmla="*/ 2147483647 w 62"/>
              <a:gd name="T3" fmla="*/ 2147483647 h 62"/>
              <a:gd name="T4" fmla="*/ 2147483647 w 62"/>
              <a:gd name="T5" fmla="*/ 2147483647 h 62"/>
              <a:gd name="T6" fmla="*/ 2147483647 w 62"/>
              <a:gd name="T7" fmla="*/ 2147483647 h 62"/>
              <a:gd name="T8" fmla="*/ 2147483647 w 62"/>
              <a:gd name="T9" fmla="*/ 2147483647 h 62"/>
              <a:gd name="T10" fmla="*/ 0 w 62"/>
              <a:gd name="T11" fmla="*/ 2147483647 h 62"/>
              <a:gd name="T12" fmla="*/ 0 w 62"/>
              <a:gd name="T13" fmla="*/ 2147483647 h 62"/>
              <a:gd name="T14" fmla="*/ 2147483647 w 62"/>
              <a:gd name="T15" fmla="*/ 2147483647 h 62"/>
              <a:gd name="T16" fmla="*/ 2147483647 w 62"/>
              <a:gd name="T17" fmla="*/ 0 h 62"/>
              <a:gd name="T18" fmla="*/ 2147483647 w 62"/>
              <a:gd name="T19" fmla="*/ 2147483647 h 62"/>
              <a:gd name="T20" fmla="*/ 2147483647 w 62"/>
              <a:gd name="T21" fmla="*/ 2147483647 h 62"/>
              <a:gd name="T22" fmla="*/ 2147483647 w 62"/>
              <a:gd name="T23" fmla="*/ 2147483647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62"/>
              <a:gd name="T38" fmla="*/ 62 w 6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62">
                <a:moveTo>
                  <a:pt x="62" y="31"/>
                </a:moveTo>
                <a:lnTo>
                  <a:pt x="56" y="49"/>
                </a:lnTo>
                <a:lnTo>
                  <a:pt x="43" y="62"/>
                </a:lnTo>
                <a:lnTo>
                  <a:pt x="25" y="62"/>
                </a:lnTo>
                <a:lnTo>
                  <a:pt x="9" y="55"/>
                </a:lnTo>
                <a:lnTo>
                  <a:pt x="0" y="40"/>
                </a:lnTo>
                <a:lnTo>
                  <a:pt x="0" y="22"/>
                </a:lnTo>
                <a:lnTo>
                  <a:pt x="9" y="10"/>
                </a:lnTo>
                <a:lnTo>
                  <a:pt x="25" y="0"/>
                </a:lnTo>
                <a:lnTo>
                  <a:pt x="43" y="3"/>
                </a:lnTo>
                <a:lnTo>
                  <a:pt x="56" y="16"/>
                </a:lnTo>
                <a:lnTo>
                  <a:pt x="62" y="31"/>
                </a:lnTo>
                <a:close/>
              </a:path>
            </a:pathLst>
          </a:custGeom>
          <a:solidFill>
            <a:srgbClr val="000000"/>
          </a:solidFill>
          <a:ln w="4763">
            <a:solidFill>
              <a:srgbClr val="000000"/>
            </a:solidFill>
            <a:round/>
            <a:headEnd/>
            <a:tailEnd/>
          </a:ln>
        </p:spPr>
        <p:txBody>
          <a:bodyPr/>
          <a:lstStyle/>
          <a:p>
            <a:endParaRPr lang="en-US"/>
          </a:p>
        </p:txBody>
      </p:sp>
      <p:sp>
        <p:nvSpPr>
          <p:cNvPr id="8209" name="Freeform 18"/>
          <p:cNvSpPr>
            <a:spLocks/>
          </p:cNvSpPr>
          <p:nvPr/>
        </p:nvSpPr>
        <p:spPr bwMode="auto">
          <a:xfrm>
            <a:off x="1254125" y="5008563"/>
            <a:ext cx="96838" cy="98425"/>
          </a:xfrm>
          <a:custGeom>
            <a:avLst/>
            <a:gdLst>
              <a:gd name="T0" fmla="*/ 2147483647 w 61"/>
              <a:gd name="T1" fmla="*/ 2147483647 h 62"/>
              <a:gd name="T2" fmla="*/ 2147483647 w 61"/>
              <a:gd name="T3" fmla="*/ 2147483647 h 62"/>
              <a:gd name="T4" fmla="*/ 2147483647 w 61"/>
              <a:gd name="T5" fmla="*/ 2147483647 h 62"/>
              <a:gd name="T6" fmla="*/ 2147483647 w 61"/>
              <a:gd name="T7" fmla="*/ 2147483647 h 62"/>
              <a:gd name="T8" fmla="*/ 2147483647 w 61"/>
              <a:gd name="T9" fmla="*/ 2147483647 h 62"/>
              <a:gd name="T10" fmla="*/ 0 w 61"/>
              <a:gd name="T11" fmla="*/ 2147483647 h 62"/>
              <a:gd name="T12" fmla="*/ 0 w 61"/>
              <a:gd name="T13" fmla="*/ 2147483647 h 62"/>
              <a:gd name="T14" fmla="*/ 2147483647 w 61"/>
              <a:gd name="T15" fmla="*/ 2147483647 h 62"/>
              <a:gd name="T16" fmla="*/ 2147483647 w 61"/>
              <a:gd name="T17" fmla="*/ 0 h 62"/>
              <a:gd name="T18" fmla="*/ 2147483647 w 61"/>
              <a:gd name="T19" fmla="*/ 2147483647 h 62"/>
              <a:gd name="T20" fmla="*/ 2147483647 w 61"/>
              <a:gd name="T21" fmla="*/ 2147483647 h 62"/>
              <a:gd name="T22" fmla="*/ 2147483647 w 61"/>
              <a:gd name="T23" fmla="*/ 2147483647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2"/>
              <a:gd name="T38" fmla="*/ 61 w 61"/>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2">
                <a:moveTo>
                  <a:pt x="61" y="31"/>
                </a:moveTo>
                <a:lnTo>
                  <a:pt x="55" y="49"/>
                </a:lnTo>
                <a:lnTo>
                  <a:pt x="43" y="59"/>
                </a:lnTo>
                <a:lnTo>
                  <a:pt x="24" y="62"/>
                </a:lnTo>
                <a:lnTo>
                  <a:pt x="9" y="56"/>
                </a:lnTo>
                <a:lnTo>
                  <a:pt x="0" y="40"/>
                </a:lnTo>
                <a:lnTo>
                  <a:pt x="0" y="22"/>
                </a:lnTo>
                <a:lnTo>
                  <a:pt x="9" y="7"/>
                </a:lnTo>
                <a:lnTo>
                  <a:pt x="24" y="0"/>
                </a:lnTo>
                <a:lnTo>
                  <a:pt x="43" y="3"/>
                </a:lnTo>
                <a:lnTo>
                  <a:pt x="55" y="16"/>
                </a:lnTo>
                <a:lnTo>
                  <a:pt x="61" y="31"/>
                </a:lnTo>
                <a:close/>
              </a:path>
            </a:pathLst>
          </a:custGeom>
          <a:solidFill>
            <a:srgbClr val="000000"/>
          </a:solidFill>
          <a:ln w="4763">
            <a:solidFill>
              <a:srgbClr val="000000"/>
            </a:solidFill>
            <a:round/>
            <a:headEnd/>
            <a:tailEnd/>
          </a:ln>
        </p:spPr>
        <p:txBody>
          <a:bodyPr/>
          <a:lstStyle/>
          <a:p>
            <a:endParaRPr lang="en-US"/>
          </a:p>
        </p:txBody>
      </p:sp>
      <p:sp>
        <p:nvSpPr>
          <p:cNvPr id="8210" name="Freeform 19"/>
          <p:cNvSpPr>
            <a:spLocks/>
          </p:cNvSpPr>
          <p:nvPr/>
        </p:nvSpPr>
        <p:spPr bwMode="auto">
          <a:xfrm>
            <a:off x="1720850" y="1990725"/>
            <a:ext cx="98425" cy="98425"/>
          </a:xfrm>
          <a:custGeom>
            <a:avLst/>
            <a:gdLst>
              <a:gd name="T0" fmla="*/ 2147483647 w 62"/>
              <a:gd name="T1" fmla="*/ 2147483647 h 62"/>
              <a:gd name="T2" fmla="*/ 2147483647 w 62"/>
              <a:gd name="T3" fmla="*/ 2147483647 h 62"/>
              <a:gd name="T4" fmla="*/ 2147483647 w 62"/>
              <a:gd name="T5" fmla="*/ 2147483647 h 62"/>
              <a:gd name="T6" fmla="*/ 2147483647 w 62"/>
              <a:gd name="T7" fmla="*/ 2147483647 h 62"/>
              <a:gd name="T8" fmla="*/ 2147483647 w 62"/>
              <a:gd name="T9" fmla="*/ 2147483647 h 62"/>
              <a:gd name="T10" fmla="*/ 0 w 62"/>
              <a:gd name="T11" fmla="*/ 2147483647 h 62"/>
              <a:gd name="T12" fmla="*/ 0 w 62"/>
              <a:gd name="T13" fmla="*/ 2147483647 h 62"/>
              <a:gd name="T14" fmla="*/ 2147483647 w 62"/>
              <a:gd name="T15" fmla="*/ 2147483647 h 62"/>
              <a:gd name="T16" fmla="*/ 2147483647 w 62"/>
              <a:gd name="T17" fmla="*/ 0 h 62"/>
              <a:gd name="T18" fmla="*/ 2147483647 w 62"/>
              <a:gd name="T19" fmla="*/ 2147483647 h 62"/>
              <a:gd name="T20" fmla="*/ 2147483647 w 62"/>
              <a:gd name="T21" fmla="*/ 2147483647 h 62"/>
              <a:gd name="T22" fmla="*/ 2147483647 w 62"/>
              <a:gd name="T23" fmla="*/ 2147483647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62"/>
              <a:gd name="T38" fmla="*/ 62 w 6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62">
                <a:moveTo>
                  <a:pt x="62" y="31"/>
                </a:moveTo>
                <a:lnTo>
                  <a:pt x="56" y="46"/>
                </a:lnTo>
                <a:lnTo>
                  <a:pt x="43" y="59"/>
                </a:lnTo>
                <a:lnTo>
                  <a:pt x="25" y="62"/>
                </a:lnTo>
                <a:lnTo>
                  <a:pt x="10" y="56"/>
                </a:lnTo>
                <a:lnTo>
                  <a:pt x="0" y="40"/>
                </a:lnTo>
                <a:lnTo>
                  <a:pt x="0" y="22"/>
                </a:lnTo>
                <a:lnTo>
                  <a:pt x="10" y="7"/>
                </a:lnTo>
                <a:lnTo>
                  <a:pt x="25" y="0"/>
                </a:lnTo>
                <a:lnTo>
                  <a:pt x="43" y="4"/>
                </a:lnTo>
                <a:lnTo>
                  <a:pt x="56" y="13"/>
                </a:lnTo>
                <a:lnTo>
                  <a:pt x="62" y="31"/>
                </a:lnTo>
                <a:close/>
              </a:path>
            </a:pathLst>
          </a:custGeom>
          <a:solidFill>
            <a:srgbClr val="000000"/>
          </a:solidFill>
          <a:ln w="4763">
            <a:solidFill>
              <a:srgbClr val="000000"/>
            </a:solidFill>
            <a:round/>
            <a:headEnd/>
            <a:tailEnd/>
          </a:ln>
        </p:spPr>
        <p:txBody>
          <a:bodyPr/>
          <a:lstStyle/>
          <a:p>
            <a:endParaRPr lang="en-US"/>
          </a:p>
        </p:txBody>
      </p:sp>
      <p:sp>
        <p:nvSpPr>
          <p:cNvPr id="8211" name="Text Box 20"/>
          <p:cNvSpPr txBox="1">
            <a:spLocks noChangeArrowheads="1"/>
          </p:cNvSpPr>
          <p:nvPr/>
        </p:nvSpPr>
        <p:spPr bwMode="auto">
          <a:xfrm>
            <a:off x="990600" y="5562600"/>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Original Points</a:t>
            </a:r>
          </a:p>
        </p:txBody>
      </p:sp>
      <p:grpSp>
        <p:nvGrpSpPr>
          <p:cNvPr id="2" name="Group 22"/>
          <p:cNvGrpSpPr>
            <a:grpSpLocks/>
          </p:cNvGrpSpPr>
          <p:nvPr/>
        </p:nvGrpSpPr>
        <p:grpSpPr bwMode="auto">
          <a:xfrm>
            <a:off x="4724400" y="1295400"/>
            <a:ext cx="3581400" cy="4633913"/>
            <a:chOff x="2976" y="816"/>
            <a:chExt cx="2256" cy="2919"/>
          </a:xfrm>
        </p:grpSpPr>
        <p:graphicFrame>
          <p:nvGraphicFramePr>
            <p:cNvPr id="8213" name="Object 1024"/>
            <p:cNvGraphicFramePr>
              <a:graphicFrameLocks noChangeAspect="1"/>
            </p:cNvGraphicFramePr>
            <p:nvPr/>
          </p:nvGraphicFramePr>
          <p:xfrm>
            <a:off x="2976" y="816"/>
            <a:ext cx="2125" cy="2876"/>
          </p:xfrm>
          <a:graphic>
            <a:graphicData uri="http://schemas.openxmlformats.org/presentationml/2006/ole">
              <mc:AlternateContent xmlns:mc="http://schemas.openxmlformats.org/markup-compatibility/2006">
                <mc:Choice xmlns:v="urn:schemas-microsoft-com:vml" Requires="v">
                  <p:oleObj name="VISIO" r:id="rId2" imgW="1547102" imgH="2097084" progId="Visio.Drawing.6">
                    <p:embed/>
                  </p:oleObj>
                </mc:Choice>
                <mc:Fallback>
                  <p:oleObj name="VISIO" r:id="rId2" imgW="1547102" imgH="2097084" progId="Visio.Drawing.6">
                    <p:embed/>
                    <p:pic>
                      <p:nvPicPr>
                        <p:cNvPr id="8213"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6" y="816"/>
                          <a:ext cx="2125" cy="2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214" name="Text Box 21"/>
            <p:cNvSpPr txBox="1">
              <a:spLocks noChangeArrowheads="1"/>
            </p:cNvSpPr>
            <p:nvPr/>
          </p:nvSpPr>
          <p:spPr bwMode="auto">
            <a:xfrm>
              <a:off x="3456" y="3504"/>
              <a:ext cx="17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A Partitional  Clustering</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81000" y="152400"/>
            <a:ext cx="8280400" cy="552450"/>
          </a:xfrm>
        </p:spPr>
        <p:txBody>
          <a:bodyPr/>
          <a:lstStyle/>
          <a:p>
            <a:r>
              <a:rPr lang="en-US" altLang="en-US"/>
              <a:t>Hierarchical Clustering</a:t>
            </a:r>
          </a:p>
        </p:txBody>
      </p:sp>
      <p:graphicFrame>
        <p:nvGraphicFramePr>
          <p:cNvPr id="9219" name="Object 1024"/>
          <p:cNvGraphicFramePr>
            <a:graphicFrameLocks noChangeAspect="1"/>
          </p:cNvGraphicFramePr>
          <p:nvPr/>
        </p:nvGraphicFramePr>
        <p:xfrm>
          <a:off x="990600" y="3962400"/>
          <a:ext cx="2752725" cy="1960563"/>
        </p:xfrm>
        <a:graphic>
          <a:graphicData uri="http://schemas.openxmlformats.org/presentationml/2006/ole">
            <mc:AlternateContent xmlns:mc="http://schemas.openxmlformats.org/markup-compatibility/2006">
              <mc:Choice xmlns:v="urn:schemas-microsoft-com:vml" Requires="v">
                <p:oleObj name="VISIO" r:id="rId2" imgW="2747671" imgH="1960706" progId="Visio.Drawing.6">
                  <p:embed/>
                </p:oleObj>
              </mc:Choice>
              <mc:Fallback>
                <p:oleObj name="VISIO" r:id="rId2" imgW="2747671" imgH="1960706" progId="Visio.Drawing.6">
                  <p:embed/>
                  <p:pic>
                    <p:nvPicPr>
                      <p:cNvPr id="9219" name="Object 1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962400"/>
                        <a:ext cx="2752725" cy="196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0" name="Object 1025"/>
          <p:cNvGraphicFramePr>
            <a:graphicFrameLocks noChangeAspect="1"/>
          </p:cNvGraphicFramePr>
          <p:nvPr/>
        </p:nvGraphicFramePr>
        <p:xfrm>
          <a:off x="914400" y="1447800"/>
          <a:ext cx="2760663" cy="1793875"/>
        </p:xfrm>
        <a:graphic>
          <a:graphicData uri="http://schemas.openxmlformats.org/presentationml/2006/ole">
            <mc:AlternateContent xmlns:mc="http://schemas.openxmlformats.org/markup-compatibility/2006">
              <mc:Choice xmlns:v="urn:schemas-microsoft-com:vml" Requires="v">
                <p:oleObj name="VISIO" r:id="rId4" imgW="2756614" imgH="1795265" progId="Visio.Drawing.6">
                  <p:embed/>
                </p:oleObj>
              </mc:Choice>
              <mc:Fallback>
                <p:oleObj name="VISIO" r:id="rId4" imgW="2756614" imgH="1795265" progId="Visio.Drawing.6">
                  <p:embed/>
                  <p:pic>
                    <p:nvPicPr>
                      <p:cNvPr id="9220" name="Object 10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1447800"/>
                        <a:ext cx="2760663" cy="179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1" name="Object 1026"/>
          <p:cNvGraphicFramePr>
            <a:graphicFrameLocks noChangeAspect="1"/>
          </p:cNvGraphicFramePr>
          <p:nvPr/>
        </p:nvGraphicFramePr>
        <p:xfrm>
          <a:off x="5400675" y="1066800"/>
          <a:ext cx="1773238" cy="2284413"/>
        </p:xfrm>
        <a:graphic>
          <a:graphicData uri="http://schemas.openxmlformats.org/presentationml/2006/ole">
            <mc:AlternateContent xmlns:mc="http://schemas.openxmlformats.org/markup-compatibility/2006">
              <mc:Choice xmlns:v="urn:schemas-microsoft-com:vml" Requires="v">
                <p:oleObj name="VISIO" r:id="rId6" imgW="1379425" imgH="1779615" progId="Visio.Drawing.6">
                  <p:embed/>
                </p:oleObj>
              </mc:Choice>
              <mc:Fallback>
                <p:oleObj name="VISIO" r:id="rId6" imgW="1379425" imgH="1779615" progId="Visio.Drawing.6">
                  <p:embed/>
                  <p:pic>
                    <p:nvPicPr>
                      <p:cNvPr id="9221" name="Object 102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00675" y="1066800"/>
                        <a:ext cx="1773238" cy="228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2" name="Object 1027"/>
          <p:cNvGraphicFramePr>
            <a:graphicFrameLocks noChangeAspect="1"/>
          </p:cNvGraphicFramePr>
          <p:nvPr/>
        </p:nvGraphicFramePr>
        <p:xfrm>
          <a:off x="5400675" y="3657600"/>
          <a:ext cx="1909763" cy="2282825"/>
        </p:xfrm>
        <a:graphic>
          <a:graphicData uri="http://schemas.openxmlformats.org/presentationml/2006/ole">
            <mc:AlternateContent xmlns:mc="http://schemas.openxmlformats.org/markup-compatibility/2006">
              <mc:Choice xmlns:v="urn:schemas-microsoft-com:vml" Requires="v">
                <p:oleObj name="VISIO" r:id="rId8" imgW="1471089" imgH="1761729" progId="Visio.Drawing.6">
                  <p:embed/>
                </p:oleObj>
              </mc:Choice>
              <mc:Fallback>
                <p:oleObj name="VISIO" r:id="rId8" imgW="1471089" imgH="1761729" progId="Visio.Drawing.6">
                  <p:embed/>
                  <p:pic>
                    <p:nvPicPr>
                      <p:cNvPr id="9222" name="Object 10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00675" y="3657600"/>
                        <a:ext cx="190976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3" name="Text Box 7"/>
          <p:cNvSpPr txBox="1">
            <a:spLocks noChangeArrowheads="1"/>
          </p:cNvSpPr>
          <p:nvPr/>
        </p:nvSpPr>
        <p:spPr bwMode="auto">
          <a:xfrm>
            <a:off x="381000" y="3200400"/>
            <a:ext cx="3962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Traditional Hierarchical Clustering</a:t>
            </a:r>
          </a:p>
        </p:txBody>
      </p:sp>
      <p:sp>
        <p:nvSpPr>
          <p:cNvPr id="9224" name="Text Box 8"/>
          <p:cNvSpPr txBox="1">
            <a:spLocks noChangeArrowheads="1"/>
          </p:cNvSpPr>
          <p:nvPr/>
        </p:nvSpPr>
        <p:spPr bwMode="auto">
          <a:xfrm>
            <a:off x="228600" y="5791200"/>
            <a:ext cx="441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Non-traditional Hierarchical Clustering</a:t>
            </a:r>
          </a:p>
        </p:txBody>
      </p:sp>
      <p:sp>
        <p:nvSpPr>
          <p:cNvPr id="9225" name="Text Box 9"/>
          <p:cNvSpPr txBox="1">
            <a:spLocks noChangeArrowheads="1"/>
          </p:cNvSpPr>
          <p:nvPr/>
        </p:nvSpPr>
        <p:spPr bwMode="auto">
          <a:xfrm>
            <a:off x="4800600" y="57912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Non-traditional Dendrogram</a:t>
            </a:r>
          </a:p>
        </p:txBody>
      </p:sp>
      <p:sp>
        <p:nvSpPr>
          <p:cNvPr id="9226" name="Text Box 10"/>
          <p:cNvSpPr txBox="1">
            <a:spLocks noChangeArrowheads="1"/>
          </p:cNvSpPr>
          <p:nvPr/>
        </p:nvSpPr>
        <p:spPr bwMode="auto">
          <a:xfrm>
            <a:off x="4800600" y="3200400"/>
            <a:ext cx="335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Traditional Dendrogram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81000" y="152400"/>
            <a:ext cx="8280400" cy="552450"/>
          </a:xfrm>
        </p:spPr>
        <p:txBody>
          <a:bodyPr/>
          <a:lstStyle/>
          <a:p>
            <a:r>
              <a:rPr lang="en-US" altLang="en-US" sz="2800"/>
              <a:t>Other Distinctions Between Sets of Clusters</a:t>
            </a:r>
          </a:p>
        </p:txBody>
      </p:sp>
      <p:sp>
        <p:nvSpPr>
          <p:cNvPr id="10243" name="Rectangle 3"/>
          <p:cNvSpPr>
            <a:spLocks noGrp="1" noChangeArrowheads="1"/>
          </p:cNvSpPr>
          <p:nvPr>
            <p:ph type="body" idx="1"/>
          </p:nvPr>
        </p:nvSpPr>
        <p:spPr>
          <a:xfrm>
            <a:off x="639763" y="1143000"/>
            <a:ext cx="8001000" cy="5106988"/>
          </a:xfrm>
        </p:spPr>
        <p:txBody>
          <a:bodyPr/>
          <a:lstStyle/>
          <a:p>
            <a:pPr marL="342900" indent="-342900">
              <a:lnSpc>
                <a:spcPct val="80000"/>
              </a:lnSpc>
              <a:spcBef>
                <a:spcPct val="20000"/>
              </a:spcBef>
            </a:pPr>
            <a:r>
              <a:rPr lang="en-US" altLang="en-US" dirty="0"/>
              <a:t>Exclusive versus non-exclusive</a:t>
            </a:r>
          </a:p>
          <a:p>
            <a:pPr marL="742950" lvl="1" indent="-285750">
              <a:lnSpc>
                <a:spcPct val="80000"/>
              </a:lnSpc>
              <a:spcBef>
                <a:spcPct val="20000"/>
              </a:spcBef>
            </a:pPr>
            <a:r>
              <a:rPr lang="en-US" altLang="en-US" sz="2000" dirty="0"/>
              <a:t>In non-exclusive clustering, points may belong to multiple clusters.</a:t>
            </a:r>
          </a:p>
          <a:p>
            <a:pPr marL="857250" lvl="2" indent="-285750">
              <a:lnSpc>
                <a:spcPct val="80000"/>
              </a:lnSpc>
              <a:spcBef>
                <a:spcPct val="20000"/>
              </a:spcBef>
            </a:pPr>
            <a:r>
              <a:rPr lang="en-US" altLang="en-US" sz="1600" dirty="0"/>
              <a:t>Can belong to multiple classes or could be ‘border’ points</a:t>
            </a:r>
          </a:p>
          <a:p>
            <a:pPr marL="342900" indent="-342900">
              <a:lnSpc>
                <a:spcPct val="80000"/>
              </a:lnSpc>
              <a:spcBef>
                <a:spcPct val="20000"/>
              </a:spcBef>
            </a:pPr>
            <a:r>
              <a:rPr lang="en-US" altLang="en-US" dirty="0"/>
              <a:t>Partial versus complete</a:t>
            </a:r>
          </a:p>
          <a:p>
            <a:pPr marL="742950" lvl="1" indent="-285750">
              <a:lnSpc>
                <a:spcPct val="80000"/>
              </a:lnSpc>
              <a:spcBef>
                <a:spcPct val="20000"/>
              </a:spcBef>
            </a:pPr>
            <a:r>
              <a:rPr lang="en-US" altLang="en-US" sz="2000" dirty="0"/>
              <a:t>In some cases, we only want to cluster some of the data</a:t>
            </a:r>
          </a:p>
          <a:p>
            <a:pPr marL="742950" lvl="1" indent="-285750">
              <a:lnSpc>
                <a:spcPct val="80000"/>
              </a:lnSpc>
              <a:spcBef>
                <a:spcPct val="20000"/>
              </a:spcBef>
            </a:pPr>
            <a:endParaRPr lang="en-US" alt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81000" y="152400"/>
            <a:ext cx="8280400" cy="552450"/>
          </a:xfrm>
        </p:spPr>
        <p:txBody>
          <a:bodyPr/>
          <a:lstStyle/>
          <a:p>
            <a:r>
              <a:rPr lang="en-US" altLang="en-US" sz="2800"/>
              <a:t>K-means Clustering</a:t>
            </a:r>
          </a:p>
        </p:txBody>
      </p:sp>
      <p:sp>
        <p:nvSpPr>
          <p:cNvPr id="21507" name="Rectangle 3"/>
          <p:cNvSpPr>
            <a:spLocks noGrp="1" noChangeArrowheads="1"/>
          </p:cNvSpPr>
          <p:nvPr>
            <p:ph type="body" idx="1"/>
          </p:nvPr>
        </p:nvSpPr>
        <p:spPr>
          <a:xfrm>
            <a:off x="639763" y="1143000"/>
            <a:ext cx="8001000" cy="2514600"/>
          </a:xfrm>
        </p:spPr>
        <p:txBody>
          <a:bodyPr/>
          <a:lstStyle/>
          <a:p>
            <a:pPr marL="533400" indent="-533400">
              <a:lnSpc>
                <a:spcPct val="90000"/>
              </a:lnSpc>
              <a:spcBef>
                <a:spcPct val="20000"/>
              </a:spcBef>
            </a:pPr>
            <a:r>
              <a:rPr lang="en-US" altLang="en-US" sz="2200" dirty="0" err="1"/>
              <a:t>Partitional</a:t>
            </a:r>
            <a:r>
              <a:rPr lang="en-US" altLang="en-US" sz="2200" dirty="0"/>
              <a:t> clustering approach </a:t>
            </a:r>
          </a:p>
          <a:p>
            <a:pPr marL="533400" indent="-533400">
              <a:lnSpc>
                <a:spcPct val="90000"/>
              </a:lnSpc>
              <a:spcBef>
                <a:spcPct val="20000"/>
              </a:spcBef>
            </a:pPr>
            <a:r>
              <a:rPr lang="en-US" altLang="en-US" sz="2200" dirty="0"/>
              <a:t>Number of clusters, K, must be specified</a:t>
            </a:r>
          </a:p>
          <a:p>
            <a:pPr marL="533400" indent="-533400">
              <a:lnSpc>
                <a:spcPct val="90000"/>
              </a:lnSpc>
              <a:spcBef>
                <a:spcPct val="20000"/>
              </a:spcBef>
            </a:pPr>
            <a:r>
              <a:rPr lang="en-US" altLang="en-US" sz="2200" dirty="0"/>
              <a:t>Each cluster is associated with a </a:t>
            </a:r>
            <a:r>
              <a:rPr lang="en-US" altLang="en-US" sz="2200" dirty="0">
                <a:solidFill>
                  <a:srgbClr val="FFCC00"/>
                </a:solidFill>
              </a:rPr>
              <a:t>centroid</a:t>
            </a:r>
            <a:r>
              <a:rPr lang="en-US" altLang="en-US" sz="2200" dirty="0"/>
              <a:t> (center point) </a:t>
            </a:r>
          </a:p>
          <a:p>
            <a:pPr marL="533400" indent="-533400">
              <a:lnSpc>
                <a:spcPct val="90000"/>
              </a:lnSpc>
              <a:spcBef>
                <a:spcPct val="20000"/>
              </a:spcBef>
            </a:pPr>
            <a:r>
              <a:rPr lang="en-US" altLang="en-US" sz="2200" dirty="0"/>
              <a:t>Each point is assigned to the cluster with the closest centroid</a:t>
            </a:r>
          </a:p>
          <a:p>
            <a:pPr marL="533400" indent="-533400">
              <a:lnSpc>
                <a:spcPct val="90000"/>
              </a:lnSpc>
              <a:spcBef>
                <a:spcPct val="20000"/>
              </a:spcBef>
            </a:pPr>
            <a:r>
              <a:rPr lang="en-US" altLang="en-US" sz="2200" dirty="0"/>
              <a:t>The basic algorithm is very simple</a:t>
            </a:r>
          </a:p>
        </p:txBody>
      </p:sp>
      <p:graphicFrame>
        <p:nvGraphicFramePr>
          <p:cNvPr id="21508" name="Object 1024"/>
          <p:cNvGraphicFramePr>
            <a:graphicFrameLocks noChangeAspect="1"/>
          </p:cNvGraphicFramePr>
          <p:nvPr/>
        </p:nvGraphicFramePr>
        <p:xfrm>
          <a:off x="457200" y="4133850"/>
          <a:ext cx="8153400" cy="2114550"/>
        </p:xfrm>
        <a:graphic>
          <a:graphicData uri="http://schemas.openxmlformats.org/presentationml/2006/ole">
            <mc:AlternateContent xmlns:mc="http://schemas.openxmlformats.org/markup-compatibility/2006">
              <mc:Choice xmlns:v="urn:schemas-microsoft-com:vml" Requires="v">
                <p:oleObj name="Bitmap Image" r:id="rId2" imgW="9784928" imgH="3177815" progId="Paint.Picture">
                  <p:embed/>
                </p:oleObj>
              </mc:Choice>
              <mc:Fallback>
                <p:oleObj name="Bitmap Image" r:id="rId2" imgW="9784928" imgH="3177815" progId="Paint.Picture">
                  <p:embed/>
                  <p:pic>
                    <p:nvPicPr>
                      <p:cNvPr id="21508" name="Object 1024"/>
                      <p:cNvPicPr>
                        <a:picLocks noChangeAspect="1" noChangeArrowheads="1"/>
                      </p:cNvPicPr>
                      <p:nvPr/>
                    </p:nvPicPr>
                    <p:blipFill>
                      <a:blip r:embed="rId3">
                        <a:extLst>
                          <a:ext uri="{28A0092B-C50C-407E-A947-70E740481C1C}">
                            <a14:useLocalDpi xmlns:a14="http://schemas.microsoft.com/office/drawing/2010/main" val="0"/>
                          </a:ext>
                        </a:extLst>
                      </a:blip>
                      <a:srcRect t="20143"/>
                      <a:stretch>
                        <a:fillRect/>
                      </a:stretch>
                    </p:blipFill>
                    <p:spPr bwMode="auto">
                      <a:xfrm>
                        <a:off x="457200" y="4133850"/>
                        <a:ext cx="8153400" cy="211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81000" y="152400"/>
            <a:ext cx="8280400" cy="552450"/>
          </a:xfrm>
        </p:spPr>
        <p:txBody>
          <a:bodyPr/>
          <a:lstStyle/>
          <a:p>
            <a:r>
              <a:rPr lang="en-US" altLang="en-US"/>
              <a:t>Example of K-means Clustering</a:t>
            </a:r>
          </a:p>
        </p:txBody>
      </p:sp>
      <p:pic>
        <p:nvPicPr>
          <p:cNvPr id="2253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38200"/>
            <a:ext cx="7916863" cy="59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6967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838200"/>
            <a:ext cx="7916863" cy="59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6967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838200"/>
            <a:ext cx="7916863" cy="59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69677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838200"/>
            <a:ext cx="7916863" cy="59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69677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838200"/>
            <a:ext cx="7916863" cy="59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696776"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838200"/>
            <a:ext cx="7916863" cy="593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69677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69677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69677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69677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16967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381000" y="152400"/>
            <a:ext cx="8280400" cy="552450"/>
          </a:xfrm>
        </p:spPr>
        <p:txBody>
          <a:bodyPr/>
          <a:lstStyle/>
          <a:p>
            <a:r>
              <a:rPr lang="en-US" altLang="en-US"/>
              <a:t>Example of K-means Clustering</a:t>
            </a:r>
          </a:p>
        </p:txBody>
      </p:sp>
      <p:sp>
        <p:nvSpPr>
          <p:cNvPr id="23555" name="Text Box 3"/>
          <p:cNvSpPr txBox="1">
            <a:spLocks noChangeArrowheads="1"/>
          </p:cNvSpPr>
          <p:nvPr/>
        </p:nvSpPr>
        <p:spPr bwMode="auto">
          <a:xfrm>
            <a:off x="609600" y="4419600"/>
            <a:ext cx="800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endParaRPr lang="en-US" altLang="en-US"/>
          </a:p>
        </p:txBody>
      </p:sp>
      <p:pic>
        <p:nvPicPr>
          <p:cNvPr id="2355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355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143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355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8800" y="1143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355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8862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356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3200" y="38862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23561"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38800" y="38862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dirty="0"/>
              <a:t> K-means Objective Function</a:t>
            </a:r>
          </a:p>
        </p:txBody>
      </p:sp>
      <p:sp>
        <p:nvSpPr>
          <p:cNvPr id="25603" name="Rectangle 3"/>
          <p:cNvSpPr>
            <a:spLocks noGrp="1" noChangeArrowheads="1"/>
          </p:cNvSpPr>
          <p:nvPr>
            <p:ph type="body" idx="1"/>
          </p:nvPr>
        </p:nvSpPr>
        <p:spPr/>
        <p:txBody>
          <a:bodyPr/>
          <a:lstStyle/>
          <a:p>
            <a:pPr>
              <a:lnSpc>
                <a:spcPct val="90000"/>
              </a:lnSpc>
            </a:pPr>
            <a:r>
              <a:rPr lang="en-US" altLang="en-US" sz="2400" dirty="0"/>
              <a:t>A common objective function (used with Euclidean distance measure) is Sum of Squared Error (SSE)</a:t>
            </a:r>
          </a:p>
          <a:p>
            <a:pPr lvl="1">
              <a:lnSpc>
                <a:spcPct val="90000"/>
              </a:lnSpc>
            </a:pPr>
            <a:r>
              <a:rPr lang="en-US" altLang="en-US" sz="2000" dirty="0"/>
              <a:t>For each point, the error is the distance to the nearest cluster center</a:t>
            </a:r>
          </a:p>
          <a:p>
            <a:pPr lvl="1">
              <a:lnSpc>
                <a:spcPct val="90000"/>
              </a:lnSpc>
            </a:pPr>
            <a:r>
              <a:rPr lang="en-US" altLang="en-US" sz="2000" dirty="0"/>
              <a:t>To get SSE, we square these errors and sum them.</a:t>
            </a:r>
          </a:p>
          <a:p>
            <a:pPr lvl="1">
              <a:lnSpc>
                <a:spcPct val="90000"/>
              </a:lnSpc>
            </a:pPr>
            <a:endParaRPr lang="en-US" altLang="en-US" sz="2000" dirty="0"/>
          </a:p>
          <a:p>
            <a:pPr lvl="1">
              <a:lnSpc>
                <a:spcPct val="90000"/>
              </a:lnSpc>
              <a:buFont typeface="Arial" charset="0"/>
              <a:buNone/>
            </a:pPr>
            <a:endParaRPr lang="en-US" altLang="en-US" sz="2000" dirty="0"/>
          </a:p>
          <a:p>
            <a:pPr lvl="1">
              <a:lnSpc>
                <a:spcPct val="90000"/>
              </a:lnSpc>
            </a:pPr>
            <a:endParaRPr lang="en-US" altLang="en-US" sz="2000" dirty="0"/>
          </a:p>
          <a:p>
            <a:pPr lvl="1">
              <a:lnSpc>
                <a:spcPct val="90000"/>
              </a:lnSpc>
            </a:pPr>
            <a:r>
              <a:rPr lang="en-US" altLang="en-US" sz="2000" i="1" dirty="0"/>
              <a:t>x </a:t>
            </a:r>
            <a:r>
              <a:rPr lang="en-US" altLang="en-US" sz="2000" dirty="0"/>
              <a:t>is a data point in cluster </a:t>
            </a:r>
            <a:r>
              <a:rPr lang="en-US" altLang="en-US" sz="2000" i="1" dirty="0"/>
              <a:t>C</a:t>
            </a:r>
            <a:r>
              <a:rPr lang="en-US" altLang="en-US" sz="2000" baseline="-25000" dirty="0"/>
              <a:t>i </a:t>
            </a:r>
            <a:r>
              <a:rPr lang="en-US" altLang="en-US" sz="2000" dirty="0"/>
              <a:t>and </a:t>
            </a:r>
            <a:r>
              <a:rPr lang="en-US" altLang="en-US" sz="2000" i="1" dirty="0"/>
              <a:t>m</a:t>
            </a:r>
            <a:r>
              <a:rPr lang="en-US" altLang="en-US" sz="2000" i="1" baseline="-25000" dirty="0"/>
              <a:t>i</a:t>
            </a:r>
            <a:r>
              <a:rPr lang="en-US" altLang="en-US" sz="2000" dirty="0"/>
              <a:t> is the centroid (mean) for cluster </a:t>
            </a:r>
            <a:r>
              <a:rPr lang="en-US" altLang="en-US" sz="2000" i="1" dirty="0"/>
              <a:t>C</a:t>
            </a:r>
            <a:r>
              <a:rPr lang="en-US" altLang="en-US" sz="2000" baseline="-25000" dirty="0"/>
              <a:t>i</a:t>
            </a:r>
            <a:r>
              <a:rPr lang="en-US" altLang="en-US" sz="2000" dirty="0"/>
              <a:t> </a:t>
            </a:r>
            <a:endParaRPr lang="en-US" altLang="en-US" sz="1800" dirty="0"/>
          </a:p>
          <a:p>
            <a:pPr lvl="1">
              <a:lnSpc>
                <a:spcPct val="90000"/>
              </a:lnSpc>
            </a:pPr>
            <a:r>
              <a:rPr lang="en-US" altLang="en-US" sz="2000" dirty="0"/>
              <a:t>SSE improves in each iteration of K-means until it reaches a local or global minima. </a:t>
            </a:r>
          </a:p>
        </p:txBody>
      </p:sp>
      <p:graphicFrame>
        <p:nvGraphicFramePr>
          <p:cNvPr id="25604" name="Object 4"/>
          <p:cNvGraphicFramePr>
            <a:graphicFrameLocks noGrp="1" noChangeAspect="1"/>
          </p:cNvGraphicFramePr>
          <p:nvPr>
            <p:ph sz="half" idx="4294967295"/>
            <p:extLst>
              <p:ext uri="{D42A27DB-BD31-4B8C-83A1-F6EECF244321}">
                <p14:modId xmlns:p14="http://schemas.microsoft.com/office/powerpoint/2010/main" val="1216988643"/>
              </p:ext>
            </p:extLst>
          </p:nvPr>
        </p:nvGraphicFramePr>
        <p:xfrm>
          <a:off x="2298700" y="2873415"/>
          <a:ext cx="3175000" cy="936585"/>
        </p:xfrm>
        <a:graphic>
          <a:graphicData uri="http://schemas.openxmlformats.org/presentationml/2006/ole">
            <mc:AlternateContent xmlns:mc="http://schemas.openxmlformats.org/markup-compatibility/2006">
              <mc:Choice xmlns:v="urn:schemas-microsoft-com:vml" Requires="v">
                <p:oleObj name="Equation" r:id="rId2" imgW="1511300" imgH="457200" progId="Equation.3">
                  <p:embed/>
                </p:oleObj>
              </mc:Choice>
              <mc:Fallback>
                <p:oleObj name="Equation" r:id="rId2" imgW="1511300" imgH="457200" progId="Equation.3">
                  <p:embed/>
                  <p:pic>
                    <p:nvPicPr>
                      <p:cNvPr id="2560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8700" y="2873415"/>
                        <a:ext cx="3175000" cy="936585"/>
                      </a:xfrm>
                      <a:prstGeom prst="rect">
                        <a:avLst/>
                      </a:prstGeom>
                      <a:noFill/>
                      <a:ln>
                        <a:noFill/>
                      </a:ln>
                      <a:effec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FAAE35A5-C3B4-CAC0-1708-D245814EAB38}"/>
              </a:ext>
            </a:extLst>
          </p:cNvPr>
          <p:cNvSpPr>
            <a:spLocks noGrp="1" noChangeArrowheads="1"/>
          </p:cNvSpPr>
          <p:nvPr>
            <p:ph type="title"/>
          </p:nvPr>
        </p:nvSpPr>
        <p:spPr>
          <a:xfrm>
            <a:off x="304800" y="533400"/>
            <a:ext cx="8280400" cy="533400"/>
          </a:xfrm>
        </p:spPr>
        <p:txBody>
          <a:bodyPr/>
          <a:lstStyle/>
          <a:p>
            <a:pPr eaLnBrk="1" hangingPunct="1"/>
            <a:r>
              <a:rPr lang="en-US" altLang="en-US" u="sng" dirty="0"/>
              <a:t>How the K-Mean Clustering algorithm works?</a:t>
            </a:r>
          </a:p>
        </p:txBody>
      </p:sp>
      <p:pic>
        <p:nvPicPr>
          <p:cNvPr id="12291" name="Picture 5" descr="K means clustering algorithm">
            <a:extLst>
              <a:ext uri="{FF2B5EF4-FFF2-40B4-BE49-F238E27FC236}">
                <a16:creationId xmlns:a16="http://schemas.microsoft.com/office/drawing/2014/main" id="{F3075B7C-B077-50A0-72FC-E6A4B77FC1D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90800" y="1163782"/>
            <a:ext cx="5029200" cy="5181600"/>
          </a:xfr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90C5EB71-F782-6EF2-9276-ECDF05692699}"/>
              </a:ext>
            </a:extLst>
          </p:cNvPr>
          <p:cNvSpPr>
            <a:spLocks noChangeArrowheads="1"/>
          </p:cNvSpPr>
          <p:nvPr/>
        </p:nvSpPr>
        <p:spPr bwMode="auto">
          <a:xfrm>
            <a:off x="152400" y="3438525"/>
            <a:ext cx="899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endParaRPr lang="en-US" altLang="en-US" sz="2400"/>
          </a:p>
        </p:txBody>
      </p:sp>
      <p:sp>
        <p:nvSpPr>
          <p:cNvPr id="13316" name="Rectangle 10">
            <a:extLst>
              <a:ext uri="{FF2B5EF4-FFF2-40B4-BE49-F238E27FC236}">
                <a16:creationId xmlns:a16="http://schemas.microsoft.com/office/drawing/2014/main" id="{FEF0CF94-D6AF-3551-D5DB-0DFEB925B1B5}"/>
              </a:ext>
            </a:extLst>
          </p:cNvPr>
          <p:cNvSpPr>
            <a:spLocks noGrp="1" noChangeArrowheads="1"/>
          </p:cNvSpPr>
          <p:nvPr>
            <p:ph type="body" idx="1"/>
          </p:nvPr>
        </p:nvSpPr>
        <p:spPr/>
        <p:txBody>
          <a:bodyPr/>
          <a:lstStyle/>
          <a:p>
            <a:pPr eaLnBrk="1" hangingPunct="1">
              <a:lnSpc>
                <a:spcPct val="80000"/>
              </a:lnSpc>
            </a:pPr>
            <a:r>
              <a:rPr lang="en-US" altLang="en-US" sz="2600" b="1" u="sng"/>
              <a:t>Step 1:</a:t>
            </a:r>
            <a:r>
              <a:rPr lang="en-US" altLang="en-US" sz="2600"/>
              <a:t> Begin with a decision on the value of k = 	       number of clusters .</a:t>
            </a:r>
          </a:p>
          <a:p>
            <a:pPr eaLnBrk="1" hangingPunct="1">
              <a:lnSpc>
                <a:spcPct val="80000"/>
              </a:lnSpc>
            </a:pPr>
            <a:r>
              <a:rPr lang="en-US" altLang="en-US" sz="2600" b="1" u="sng"/>
              <a:t>Step 2</a:t>
            </a:r>
            <a:r>
              <a:rPr lang="en-US" altLang="en-US" sz="2600"/>
              <a:t>: Put any initial partition that classifies the 	       data into k  clusters. You may  assign the 	       training samples randomly,or systematically 	       as the following: </a:t>
            </a:r>
          </a:p>
          <a:p>
            <a:pPr eaLnBrk="1" hangingPunct="1">
              <a:lnSpc>
                <a:spcPct val="80000"/>
              </a:lnSpc>
              <a:buFont typeface="Wingdings" panose="05000000000000000000" pitchFamily="2" charset="2"/>
              <a:buNone/>
            </a:pPr>
            <a:r>
              <a:rPr lang="en-US" altLang="en-US" sz="2600"/>
              <a:t>       1.Take the first k training sample as single-	element clusters      </a:t>
            </a:r>
          </a:p>
          <a:p>
            <a:pPr eaLnBrk="1" hangingPunct="1">
              <a:lnSpc>
                <a:spcPct val="80000"/>
              </a:lnSpc>
              <a:buFont typeface="Wingdings" panose="05000000000000000000" pitchFamily="2" charset="2"/>
              <a:buNone/>
            </a:pPr>
            <a:r>
              <a:rPr lang="en-US" altLang="en-US" sz="2600"/>
              <a:t>       2. Assign each of the remaining (N-k) training 	sample to 	the 	cluster with the nearest 	centroid. After each  assignment, recompute 	the centroid of the gaining  cluster. </a:t>
            </a:r>
          </a:p>
          <a:p>
            <a:pPr eaLnBrk="1" hangingPunct="1">
              <a:lnSpc>
                <a:spcPct val="80000"/>
              </a:lnSpc>
              <a:buFont typeface="Wingdings" panose="05000000000000000000" pitchFamily="2" charset="2"/>
              <a:buNone/>
            </a:pPr>
            <a:endParaRPr lang="en-US" altLang="en-US" sz="2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a:extLst>
              <a:ext uri="{FF2B5EF4-FFF2-40B4-BE49-F238E27FC236}">
                <a16:creationId xmlns:a16="http://schemas.microsoft.com/office/drawing/2014/main" id="{0760617B-D974-DB18-35DC-5792D9F9C555}"/>
              </a:ext>
            </a:extLst>
          </p:cNvPr>
          <p:cNvSpPr>
            <a:spLocks noGrp="1" noChangeArrowheads="1"/>
          </p:cNvSpPr>
          <p:nvPr>
            <p:ph type="body" idx="1"/>
          </p:nvPr>
        </p:nvSpPr>
        <p:spPr>
          <a:xfrm>
            <a:off x="457200" y="1295400"/>
            <a:ext cx="8686800" cy="4835525"/>
          </a:xfrm>
        </p:spPr>
        <p:txBody>
          <a:bodyPr/>
          <a:lstStyle/>
          <a:p>
            <a:pPr eaLnBrk="1" hangingPunct="1"/>
            <a:r>
              <a:rPr lang="en-US" altLang="en-US" sz="2600" b="1" u="sng"/>
              <a:t>Step 3:</a:t>
            </a:r>
            <a:r>
              <a:rPr lang="en-US" altLang="en-US" sz="2600"/>
              <a:t> Take each sample in sequence and 		        	       compute its </a:t>
            </a:r>
            <a:r>
              <a:rPr lang="en-US" altLang="en-US" sz="2600">
                <a:hlinkClick r:id="rId2"/>
              </a:rPr>
              <a:t>distance</a:t>
            </a:r>
            <a:r>
              <a:rPr lang="en-US" altLang="en-US" sz="2600"/>
              <a:t> from the centroid of   	        	       each of the clusters. If a sample is not 	              	       currently in the cluster with the closest 	        	 	       centroid, switch this sample to that cluster 	        	       and update the centroid of the cluster 		        	       gaining the new sample and the cluster 	        	       losing the sample. </a:t>
            </a:r>
          </a:p>
          <a:p>
            <a:pPr eaLnBrk="1" hangingPunct="1"/>
            <a:r>
              <a:rPr lang="en-US" altLang="en-US" sz="2600" b="1" u="sng"/>
              <a:t>Step 4 .</a:t>
            </a:r>
            <a:r>
              <a:rPr lang="en-US" altLang="en-US" sz="2600"/>
              <a:t> Repeat step 3 until convergence is 	  	        	        achieved, that is until a pass through the 	        	        training sample causes no new assignments. </a:t>
            </a:r>
          </a:p>
          <a:p>
            <a:pPr eaLnBrk="1" hangingPunct="1"/>
            <a:endParaRPr lang="en-US" altLang="en-US" sz="2600"/>
          </a:p>
          <a:p>
            <a:pPr eaLnBrk="1" hangingPunct="1">
              <a:buFont typeface="Wingdings" panose="05000000000000000000" pitchFamily="2" charset="2"/>
              <a:buNone/>
            </a:pPr>
            <a:endParaRPr lang="en-US" altLang="en-US" sz="2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EE7A452-FB23-4BD8-51D1-3D3230C59EAD}"/>
              </a:ext>
            </a:extLst>
          </p:cNvPr>
          <p:cNvSpPr>
            <a:spLocks noGrp="1" noChangeArrowheads="1"/>
          </p:cNvSpPr>
          <p:nvPr>
            <p:ph type="title"/>
          </p:nvPr>
        </p:nvSpPr>
        <p:spPr>
          <a:xfrm>
            <a:off x="200891" y="289719"/>
            <a:ext cx="8943109" cy="1477962"/>
          </a:xfrm>
        </p:spPr>
        <p:txBody>
          <a:bodyPr/>
          <a:lstStyle/>
          <a:p>
            <a:pPr eaLnBrk="1" hangingPunct="1"/>
            <a:br>
              <a:rPr lang="en-US" altLang="en-US" sz="2400" u="sng" dirty="0"/>
            </a:br>
            <a:r>
              <a:rPr lang="en-US" altLang="en-US" sz="2400" u="sng" dirty="0"/>
              <a:t>A Simple example showing the implementation of k-means algorithm </a:t>
            </a:r>
            <a:r>
              <a:rPr lang="en-US" altLang="en-US" sz="2400" dirty="0"/>
              <a:t>(using K=2)</a:t>
            </a:r>
          </a:p>
        </p:txBody>
      </p:sp>
      <p:sp>
        <p:nvSpPr>
          <p:cNvPr id="15364" name="Rectangle 6">
            <a:extLst>
              <a:ext uri="{FF2B5EF4-FFF2-40B4-BE49-F238E27FC236}">
                <a16:creationId xmlns:a16="http://schemas.microsoft.com/office/drawing/2014/main" id="{58A7D95D-9B81-B5EF-F381-A27D9584AE0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SG" altLang="en-US"/>
          </a:p>
        </p:txBody>
      </p:sp>
      <p:pic>
        <p:nvPicPr>
          <p:cNvPr id="15365" name="Picture 5">
            <a:extLst>
              <a:ext uri="{FF2B5EF4-FFF2-40B4-BE49-F238E27FC236}">
                <a16:creationId xmlns:a16="http://schemas.microsoft.com/office/drawing/2014/main" id="{3742A80C-E067-BB3C-AEC1-036C3273D7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057400"/>
            <a:ext cx="82296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0B1E74E7-D992-F707-4CC1-E3ED2FDF0673}"/>
              </a:ext>
            </a:extLst>
          </p:cNvPr>
          <p:cNvSpPr>
            <a:spLocks noChangeArrowheads="1"/>
          </p:cNvSpPr>
          <p:nvPr/>
        </p:nvSpPr>
        <p:spPr bwMode="auto">
          <a:xfrm>
            <a:off x="114300" y="-455879"/>
            <a:ext cx="91440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b="1" u="sng" dirty="0"/>
          </a:p>
          <a:p>
            <a:pPr eaLnBrk="1" hangingPunct="1"/>
            <a:r>
              <a:rPr lang="en-US" altLang="en-US" sz="2400" b="1" u="sng" dirty="0"/>
              <a:t>Step 1</a:t>
            </a:r>
            <a:r>
              <a:rPr lang="en-US" altLang="en-US" sz="2400" u="sng" dirty="0"/>
              <a:t>:</a:t>
            </a:r>
          </a:p>
          <a:p>
            <a:pPr eaLnBrk="1" hangingPunct="1"/>
            <a:endParaRPr lang="en-US" altLang="en-US" sz="2400" u="sng" dirty="0"/>
          </a:p>
          <a:p>
            <a:pPr eaLnBrk="1" hangingPunct="1"/>
            <a:endParaRPr lang="en-US" altLang="en-US" sz="2400" dirty="0"/>
          </a:p>
          <a:p>
            <a:pPr eaLnBrk="1" hangingPunct="1"/>
            <a:r>
              <a:rPr lang="en-US" altLang="en-US" sz="2400" u="sng" dirty="0"/>
              <a:t>Initialization</a:t>
            </a:r>
            <a:r>
              <a:rPr lang="en-US" altLang="en-US" sz="2400" dirty="0"/>
              <a:t>: Randomly we choose following two centroids (k=2) for two clusters.</a:t>
            </a:r>
          </a:p>
          <a:p>
            <a:pPr eaLnBrk="1" hangingPunct="1"/>
            <a:r>
              <a:rPr lang="en-US" altLang="en-US" sz="2400" dirty="0"/>
              <a:t>In this case the 2 centroid are: m1=(1.0,1.0) and m2=(5.0,7.0).</a:t>
            </a:r>
          </a:p>
        </p:txBody>
      </p:sp>
      <p:pic>
        <p:nvPicPr>
          <p:cNvPr id="16387" name="Picture 7">
            <a:extLst>
              <a:ext uri="{FF2B5EF4-FFF2-40B4-BE49-F238E27FC236}">
                <a16:creationId xmlns:a16="http://schemas.microsoft.com/office/drawing/2014/main" id="{2C3630A1-7B15-D600-08DB-93B9817814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133600"/>
            <a:ext cx="57150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8">
            <a:extLst>
              <a:ext uri="{FF2B5EF4-FFF2-40B4-BE49-F238E27FC236}">
                <a16:creationId xmlns:a16="http://schemas.microsoft.com/office/drawing/2014/main" id="{1A7EC5DC-334C-4BED-A9AB-E06E213D68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946046"/>
            <a:ext cx="5867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71FA1246-96F9-C039-1F5D-33A5B556906B}"/>
              </a:ext>
            </a:extLst>
          </p:cNvPr>
          <p:cNvSpPr>
            <a:spLocks noGrp="1" noChangeArrowheads="1"/>
          </p:cNvSpPr>
          <p:nvPr>
            <p:ph type="body" sz="half" idx="1"/>
          </p:nvPr>
        </p:nvSpPr>
        <p:spPr>
          <a:xfrm>
            <a:off x="48490" y="-169863"/>
            <a:ext cx="4800600" cy="6130925"/>
          </a:xfrm>
        </p:spPr>
        <p:txBody>
          <a:bodyPr/>
          <a:lstStyle/>
          <a:p>
            <a:pPr eaLnBrk="1" hangingPunct="1">
              <a:buFont typeface="Wingdings" panose="05000000000000000000" pitchFamily="2" charset="2"/>
              <a:buNone/>
            </a:pPr>
            <a:endParaRPr lang="en-US" altLang="en-US" sz="2600" dirty="0"/>
          </a:p>
          <a:p>
            <a:pPr eaLnBrk="1" hangingPunct="1">
              <a:buFont typeface="Wingdings" panose="05000000000000000000" pitchFamily="2" charset="2"/>
              <a:buNone/>
            </a:pPr>
            <a:r>
              <a:rPr lang="en-US" altLang="en-US" sz="2600" b="1" u="sng" dirty="0"/>
              <a:t>Step 2:</a:t>
            </a:r>
          </a:p>
          <a:p>
            <a:pPr eaLnBrk="1" hangingPunct="1">
              <a:buFont typeface="Wingdings" panose="05000000000000000000" pitchFamily="2" charset="2"/>
              <a:buNone/>
            </a:pPr>
            <a:endParaRPr lang="en-US" altLang="en-US" sz="2600" b="1" u="sng" dirty="0"/>
          </a:p>
          <a:p>
            <a:pPr eaLnBrk="1" hangingPunct="1"/>
            <a:r>
              <a:rPr lang="en-US" altLang="en-US" sz="2600" dirty="0"/>
              <a:t>Thus, we obtain two clusters containing:</a:t>
            </a:r>
          </a:p>
          <a:p>
            <a:pPr eaLnBrk="1" hangingPunct="1">
              <a:buFont typeface="Wingdings" panose="05000000000000000000" pitchFamily="2" charset="2"/>
              <a:buNone/>
            </a:pPr>
            <a:r>
              <a:rPr lang="en-US" altLang="en-US" sz="2600" dirty="0"/>
              <a:t>	{1,2,3} and {4,5,6,7}.</a:t>
            </a:r>
          </a:p>
          <a:p>
            <a:pPr eaLnBrk="1" hangingPunct="1"/>
            <a:r>
              <a:rPr lang="en-US" altLang="en-US" sz="2600" dirty="0"/>
              <a:t>Their new centroids are:</a:t>
            </a:r>
          </a:p>
          <a:p>
            <a:pPr eaLnBrk="1" hangingPunct="1">
              <a:buFont typeface="Wingdings" panose="05000000000000000000" pitchFamily="2" charset="2"/>
              <a:buNone/>
            </a:pPr>
            <a:r>
              <a:rPr lang="en-US" altLang="en-US" sz="2600" dirty="0"/>
              <a:t>                                                         </a:t>
            </a:r>
          </a:p>
        </p:txBody>
      </p:sp>
      <p:pic>
        <p:nvPicPr>
          <p:cNvPr id="17411" name="Picture 11">
            <a:extLst>
              <a:ext uri="{FF2B5EF4-FFF2-40B4-BE49-F238E27FC236}">
                <a16:creationId xmlns:a16="http://schemas.microsoft.com/office/drawing/2014/main" id="{06F16369-3D23-95D0-6BE7-6402536C272D}"/>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4862945" y="500062"/>
            <a:ext cx="4267200" cy="4495800"/>
          </a:xfrm>
          <a:noFill/>
        </p:spPr>
      </p:pic>
      <p:pic>
        <p:nvPicPr>
          <p:cNvPr id="17412" name="Picture 12">
            <a:extLst>
              <a:ext uri="{FF2B5EF4-FFF2-40B4-BE49-F238E27FC236}">
                <a16:creationId xmlns:a16="http://schemas.microsoft.com/office/drawing/2014/main" id="{A4DC0B9F-7D4B-BB31-9E00-B6E8AF93048B}"/>
              </a:ext>
            </a:extLst>
          </p:cNvPr>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800600" y="4800600"/>
            <a:ext cx="4343400" cy="1295400"/>
          </a:xfrm>
          <a:noFill/>
        </p:spPr>
      </p:pic>
      <p:pic>
        <p:nvPicPr>
          <p:cNvPr id="17413" name="Picture 13">
            <a:extLst>
              <a:ext uri="{FF2B5EF4-FFF2-40B4-BE49-F238E27FC236}">
                <a16:creationId xmlns:a16="http://schemas.microsoft.com/office/drawing/2014/main" id="{9A1E86FD-AE22-2DAA-3633-1EC92FA399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3200400"/>
            <a:ext cx="5029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14">
            <a:extLst>
              <a:ext uri="{FF2B5EF4-FFF2-40B4-BE49-F238E27FC236}">
                <a16:creationId xmlns:a16="http://schemas.microsoft.com/office/drawing/2014/main" id="{89256BDF-66A8-83D1-81EF-0A38624A52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962400"/>
            <a:ext cx="50292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15">
            <a:extLst>
              <a:ext uri="{FF2B5EF4-FFF2-40B4-BE49-F238E27FC236}">
                <a16:creationId xmlns:a16="http://schemas.microsoft.com/office/drawing/2014/main" id="{9D3F4FEE-9116-443A-2B28-82F2DECB77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4724400"/>
            <a:ext cx="13716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5">
            <a:extLst>
              <a:ext uri="{FF2B5EF4-FFF2-40B4-BE49-F238E27FC236}">
                <a16:creationId xmlns:a16="http://schemas.microsoft.com/office/drawing/2014/main" id="{4BA74C58-382F-ABDB-5D1B-C5E6BC2F8E9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4346" y="152400"/>
            <a:ext cx="4038599" cy="213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5">
            <a:extLst>
              <a:ext uri="{FF2B5EF4-FFF2-40B4-BE49-F238E27FC236}">
                <a16:creationId xmlns:a16="http://schemas.microsoft.com/office/drawing/2014/main" id="{BBADC819-012A-CE72-D29A-E88B73182565}"/>
              </a:ext>
            </a:extLst>
          </p:cNvPr>
          <p:cNvSpPr>
            <a:spLocks noGrp="1" noChangeArrowheads="1"/>
          </p:cNvSpPr>
          <p:nvPr>
            <p:ph type="body" sz="half" idx="1"/>
          </p:nvPr>
        </p:nvSpPr>
        <p:spPr>
          <a:xfrm>
            <a:off x="0" y="609600"/>
            <a:ext cx="4495800" cy="5978525"/>
          </a:xfrm>
        </p:spPr>
        <p:txBody>
          <a:bodyPr/>
          <a:lstStyle/>
          <a:p>
            <a:pPr eaLnBrk="1" hangingPunct="1">
              <a:lnSpc>
                <a:spcPct val="90000"/>
              </a:lnSpc>
              <a:buFont typeface="Wingdings" panose="05000000000000000000" pitchFamily="2" charset="2"/>
              <a:buNone/>
            </a:pPr>
            <a:endParaRPr lang="en-US" altLang="en-US" sz="2600" b="1" u="sng" dirty="0"/>
          </a:p>
          <a:p>
            <a:pPr eaLnBrk="1" hangingPunct="1">
              <a:lnSpc>
                <a:spcPct val="90000"/>
              </a:lnSpc>
              <a:buFont typeface="Wingdings" panose="05000000000000000000" pitchFamily="2" charset="2"/>
              <a:buNone/>
            </a:pPr>
            <a:r>
              <a:rPr lang="en-US" altLang="en-US" sz="2600" b="1" u="sng" dirty="0"/>
              <a:t>Step 3:</a:t>
            </a:r>
          </a:p>
          <a:p>
            <a:pPr eaLnBrk="1" hangingPunct="1">
              <a:lnSpc>
                <a:spcPct val="90000"/>
              </a:lnSpc>
            </a:pPr>
            <a:r>
              <a:rPr lang="en-US" altLang="en-US" sz="2600" dirty="0"/>
              <a:t>Now using these centroids we compute the Euclidean distance of each object, as shown in table.</a:t>
            </a:r>
          </a:p>
          <a:p>
            <a:pPr eaLnBrk="1" hangingPunct="1">
              <a:lnSpc>
                <a:spcPct val="90000"/>
              </a:lnSpc>
            </a:pPr>
            <a:endParaRPr lang="en-US" altLang="en-US" sz="2600" dirty="0"/>
          </a:p>
          <a:p>
            <a:pPr eaLnBrk="1" hangingPunct="1">
              <a:lnSpc>
                <a:spcPct val="90000"/>
              </a:lnSpc>
            </a:pPr>
            <a:r>
              <a:rPr lang="en-US" altLang="en-US" sz="2600" dirty="0"/>
              <a:t>Therefore, the new clusters are:</a:t>
            </a:r>
          </a:p>
          <a:p>
            <a:pPr eaLnBrk="1" hangingPunct="1">
              <a:lnSpc>
                <a:spcPct val="90000"/>
              </a:lnSpc>
              <a:buFont typeface="Wingdings" panose="05000000000000000000" pitchFamily="2" charset="2"/>
              <a:buNone/>
            </a:pPr>
            <a:r>
              <a:rPr lang="en-US" altLang="en-US" sz="2600" dirty="0"/>
              <a:t>	{1,2} and {</a:t>
            </a:r>
            <a:r>
              <a:rPr lang="en-US" altLang="en-US" sz="2600" b="1" dirty="0"/>
              <a:t>3</a:t>
            </a:r>
            <a:r>
              <a:rPr lang="en-US" altLang="en-US" sz="2600" dirty="0"/>
              <a:t>,4,5,6,7} </a:t>
            </a:r>
          </a:p>
          <a:p>
            <a:pPr eaLnBrk="1" hangingPunct="1">
              <a:lnSpc>
                <a:spcPct val="90000"/>
              </a:lnSpc>
            </a:pPr>
            <a:endParaRPr lang="en-US" altLang="en-US" sz="2600" dirty="0"/>
          </a:p>
          <a:p>
            <a:pPr eaLnBrk="1" hangingPunct="1">
              <a:lnSpc>
                <a:spcPct val="90000"/>
              </a:lnSpc>
            </a:pPr>
            <a:r>
              <a:rPr lang="en-US" altLang="en-US" sz="2600" dirty="0"/>
              <a:t>Next centroids are: m1=(1.25,1.5) and m2 = (3.9,5.1)</a:t>
            </a:r>
          </a:p>
        </p:txBody>
      </p:sp>
      <p:graphicFrame>
        <p:nvGraphicFramePr>
          <p:cNvPr id="1026" name="Object 6">
            <a:extLst>
              <a:ext uri="{FF2B5EF4-FFF2-40B4-BE49-F238E27FC236}">
                <a16:creationId xmlns:a16="http://schemas.microsoft.com/office/drawing/2014/main" id="{58A0C7F8-5299-8337-5620-80AE5079446F}"/>
              </a:ext>
            </a:extLst>
          </p:cNvPr>
          <p:cNvGraphicFramePr>
            <a:graphicFrameLocks noGrp="1" noChangeAspect="1"/>
          </p:cNvGraphicFramePr>
          <p:nvPr>
            <p:ph sz="half" idx="2"/>
          </p:nvPr>
        </p:nvGraphicFramePr>
        <p:xfrm>
          <a:off x="4648200" y="1719263"/>
          <a:ext cx="4038600" cy="4410075"/>
        </p:xfrm>
        <a:graphic>
          <a:graphicData uri="http://schemas.openxmlformats.org/presentationml/2006/ole">
            <mc:AlternateContent xmlns:mc="http://schemas.openxmlformats.org/markup-compatibility/2006">
              <mc:Choice xmlns:v="urn:schemas-microsoft-com:vml" Requires="v">
                <p:oleObj name="Chart" r:id="rId2" imgW="4038509" imgH="4410262" progId="MSGraph.Chart.8">
                  <p:embed followColorScheme="full"/>
                </p:oleObj>
              </mc:Choice>
              <mc:Fallback>
                <p:oleObj name="Chart" r:id="rId2" imgW="4038509" imgH="4410262" progId="MSGraph.Chart.8">
                  <p:embed followColorScheme="full"/>
                  <p:pic>
                    <p:nvPicPr>
                      <p:cNvPr id="1026" name="Object 6">
                        <a:extLst>
                          <a:ext uri="{FF2B5EF4-FFF2-40B4-BE49-F238E27FC236}">
                            <a16:creationId xmlns:a16="http://schemas.microsoft.com/office/drawing/2014/main" id="{58A0C7F8-5299-8337-5620-80AE5079446F}"/>
                          </a:ext>
                        </a:extLst>
                      </p:cNvPr>
                      <p:cNvPicPr>
                        <a:picLocks noChangeAspect="1" noChangeArrowheads="1"/>
                      </p:cNvPicPr>
                      <p:nvPr/>
                    </p:nvPicPr>
                    <p:blipFill>
                      <a:blip r:embed="rId3"/>
                      <a:srcRect/>
                      <a:stretch>
                        <a:fillRect/>
                      </a:stretch>
                    </p:blipFill>
                    <p:spPr bwMode="auto">
                      <a:xfrm>
                        <a:off x="4648200" y="1719263"/>
                        <a:ext cx="4038600" cy="4410075"/>
                      </a:xfrm>
                      <a:prstGeom prst="rect">
                        <a:avLst/>
                      </a:prstGeom>
                    </p:spPr>
                  </p:pic>
                </p:oleObj>
              </mc:Fallback>
            </mc:AlternateContent>
          </a:graphicData>
        </a:graphic>
      </p:graphicFrame>
      <p:pic>
        <p:nvPicPr>
          <p:cNvPr id="1028" name="Picture 7">
            <a:extLst>
              <a:ext uri="{FF2B5EF4-FFF2-40B4-BE49-F238E27FC236}">
                <a16:creationId xmlns:a16="http://schemas.microsoft.com/office/drawing/2014/main" id="{4C317630-F41A-6512-7B16-F2512267DA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6557"/>
          <a:stretch>
            <a:fillRect/>
          </a:stretch>
        </p:blipFill>
        <p:spPr bwMode="auto">
          <a:xfrm>
            <a:off x="4530436" y="1367149"/>
            <a:ext cx="4428000" cy="4762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5">
            <a:extLst>
              <a:ext uri="{FF2B5EF4-FFF2-40B4-BE49-F238E27FC236}">
                <a16:creationId xmlns:a16="http://schemas.microsoft.com/office/drawing/2014/main" id="{91072C2E-4624-54F8-5D21-E5581B0761A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914400"/>
            <a:ext cx="4038599" cy="2131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3">
            <a:extLst>
              <a:ext uri="{FF2B5EF4-FFF2-40B4-BE49-F238E27FC236}">
                <a16:creationId xmlns:a16="http://schemas.microsoft.com/office/drawing/2014/main" id="{C800DD9B-E24F-A633-2557-47D3DE1FF3A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3200400"/>
            <a:ext cx="46482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4">
            <a:extLst>
              <a:ext uri="{FF2B5EF4-FFF2-40B4-BE49-F238E27FC236}">
                <a16:creationId xmlns:a16="http://schemas.microsoft.com/office/drawing/2014/main" id="{8084175F-E557-1F28-6C3F-8DA6B0ACFB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962400"/>
            <a:ext cx="46482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5">
            <a:extLst>
              <a:ext uri="{FF2B5EF4-FFF2-40B4-BE49-F238E27FC236}">
                <a16:creationId xmlns:a16="http://schemas.microsoft.com/office/drawing/2014/main" id="{7AA00B94-07F9-3A6E-3A4F-0A6280A539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600" y="4724400"/>
            <a:ext cx="1267691"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5">
            <a:extLst>
              <a:ext uri="{FF2B5EF4-FFF2-40B4-BE49-F238E27FC236}">
                <a16:creationId xmlns:a16="http://schemas.microsoft.com/office/drawing/2014/main" id="{2E0CBF5F-041E-5CF8-3AA5-BB8FCB91B807}"/>
              </a:ext>
            </a:extLst>
          </p:cNvPr>
          <p:cNvSpPr>
            <a:spLocks noGrp="1" noChangeArrowheads="1"/>
          </p:cNvSpPr>
          <p:nvPr>
            <p:ph type="body" sz="half" idx="1"/>
          </p:nvPr>
        </p:nvSpPr>
        <p:spPr>
          <a:xfrm>
            <a:off x="304800" y="1026246"/>
            <a:ext cx="4495800" cy="5859463"/>
          </a:xfrm>
        </p:spPr>
        <p:txBody>
          <a:bodyPr/>
          <a:lstStyle/>
          <a:p>
            <a:pPr eaLnBrk="1" hangingPunct="1"/>
            <a:r>
              <a:rPr lang="en-US" altLang="en-US" sz="2600" u="sng" dirty="0"/>
              <a:t>Step 4 </a:t>
            </a:r>
            <a:r>
              <a:rPr lang="en-US" altLang="en-US" sz="2600" dirty="0"/>
              <a:t>:</a:t>
            </a:r>
          </a:p>
          <a:p>
            <a:pPr eaLnBrk="1" hangingPunct="1">
              <a:buFont typeface="Wingdings" panose="05000000000000000000" pitchFamily="2" charset="2"/>
              <a:buNone/>
            </a:pPr>
            <a:r>
              <a:rPr lang="en-US" altLang="en-US" sz="2600" dirty="0"/>
              <a:t>	The clusters obtained are:</a:t>
            </a:r>
          </a:p>
          <a:p>
            <a:pPr eaLnBrk="1" hangingPunct="1">
              <a:buFont typeface="Wingdings" panose="05000000000000000000" pitchFamily="2" charset="2"/>
              <a:buNone/>
            </a:pPr>
            <a:r>
              <a:rPr lang="en-US" altLang="en-US" sz="2600" dirty="0"/>
              <a:t>	{1,2} and {3,4,5,6,7}</a:t>
            </a:r>
          </a:p>
          <a:p>
            <a:pPr eaLnBrk="1" hangingPunct="1">
              <a:buFont typeface="Wingdings" panose="05000000000000000000" pitchFamily="2" charset="2"/>
              <a:buNone/>
            </a:pPr>
            <a:endParaRPr lang="en-US" altLang="en-US" sz="2600" dirty="0"/>
          </a:p>
          <a:p>
            <a:pPr eaLnBrk="1" hangingPunct="1"/>
            <a:r>
              <a:rPr lang="en-US" altLang="en-US" sz="2600" dirty="0"/>
              <a:t>Therefore, there is no change in the cluster. </a:t>
            </a:r>
          </a:p>
          <a:p>
            <a:pPr eaLnBrk="1" hangingPunct="1"/>
            <a:r>
              <a:rPr lang="en-US" altLang="en-US" sz="2600" dirty="0"/>
              <a:t>Thus, the algorithm comes to a halt here and final result consist of 2 clusters {1,2} and {3,4,5,6,7}. </a:t>
            </a:r>
          </a:p>
        </p:txBody>
      </p:sp>
      <p:pic>
        <p:nvPicPr>
          <p:cNvPr id="18435" name="Picture 7">
            <a:extLst>
              <a:ext uri="{FF2B5EF4-FFF2-40B4-BE49-F238E27FC236}">
                <a16:creationId xmlns:a16="http://schemas.microsoft.com/office/drawing/2014/main" id="{FEE11496-DD38-8E40-9355-1B2B3B836FD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l="5357" t="4225" r="3572" b="8450"/>
          <a:stretch>
            <a:fillRect/>
          </a:stretch>
        </p:blipFill>
        <p:spPr>
          <a:xfrm>
            <a:off x="4582391" y="1135058"/>
            <a:ext cx="4248000" cy="5164238"/>
          </a:xfr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a:extLst>
              <a:ext uri="{FF2B5EF4-FFF2-40B4-BE49-F238E27FC236}">
                <a16:creationId xmlns:a16="http://schemas.microsoft.com/office/drawing/2014/main" id="{A1E8C52F-4C2E-C026-F138-90B669D1A34F}"/>
              </a:ext>
            </a:extLst>
          </p:cNvPr>
          <p:cNvSpPr>
            <a:spLocks noGrp="1" noChangeArrowheads="1"/>
          </p:cNvSpPr>
          <p:nvPr>
            <p:ph type="title"/>
          </p:nvPr>
        </p:nvSpPr>
        <p:spPr/>
        <p:txBody>
          <a:bodyPr/>
          <a:lstStyle/>
          <a:p>
            <a:pPr eaLnBrk="1" hangingPunct="1"/>
            <a:r>
              <a:rPr lang="en-US" altLang="en-US" u="sng"/>
              <a:t>PLOT</a:t>
            </a:r>
          </a:p>
        </p:txBody>
      </p:sp>
      <p:pic>
        <p:nvPicPr>
          <p:cNvPr id="19459" name="Picture 6">
            <a:extLst>
              <a:ext uri="{FF2B5EF4-FFF2-40B4-BE49-F238E27FC236}">
                <a16:creationId xmlns:a16="http://schemas.microsoft.com/office/drawing/2014/main" id="{54838156-5CAC-D2B8-0C46-5D14782854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4672" t="1755" r="20561" b="5263"/>
          <a:stretch>
            <a:fillRect/>
          </a:stretch>
        </p:blipFill>
        <p:spPr bwMode="auto">
          <a:xfrm>
            <a:off x="1752600" y="1828800"/>
            <a:ext cx="60960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5">
            <a:extLst>
              <a:ext uri="{FF2B5EF4-FFF2-40B4-BE49-F238E27FC236}">
                <a16:creationId xmlns:a16="http://schemas.microsoft.com/office/drawing/2014/main" id="{7D4A2859-34F2-DF5E-557C-AF34ABEB80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26483"/>
            <a:ext cx="2895599" cy="1528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381000" y="152400"/>
            <a:ext cx="8280400" cy="552450"/>
          </a:xfrm>
        </p:spPr>
        <p:txBody>
          <a:bodyPr/>
          <a:lstStyle/>
          <a:p>
            <a:r>
              <a:rPr lang="en-US" altLang="en-US" sz="2800"/>
              <a:t>Two different K-means Clusterings</a:t>
            </a:r>
          </a:p>
        </p:txBody>
      </p:sp>
      <p:pic>
        <p:nvPicPr>
          <p:cNvPr id="266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7963" y="990600"/>
            <a:ext cx="3043237"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6628" name="Text Box 4"/>
          <p:cNvSpPr txBox="1">
            <a:spLocks noChangeArrowheads="1"/>
          </p:cNvSpPr>
          <p:nvPr/>
        </p:nvSpPr>
        <p:spPr bwMode="auto">
          <a:xfrm>
            <a:off x="609600" y="4419600"/>
            <a:ext cx="800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endParaRPr lang="en-US" altLang="en-US"/>
          </a:p>
        </p:txBody>
      </p:sp>
      <p:pic>
        <p:nvPicPr>
          <p:cNvPr id="2662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200400"/>
            <a:ext cx="36560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6630" name="Text Box 7"/>
          <p:cNvSpPr txBox="1">
            <a:spLocks noChangeArrowheads="1"/>
          </p:cNvSpPr>
          <p:nvPr/>
        </p:nvSpPr>
        <p:spPr bwMode="auto">
          <a:xfrm>
            <a:off x="5410200" y="5881688"/>
            <a:ext cx="2743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Sub-optimal Clustering</a:t>
            </a:r>
          </a:p>
        </p:txBody>
      </p:sp>
      <p:pic>
        <p:nvPicPr>
          <p:cNvPr id="26631"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200400"/>
            <a:ext cx="3656013"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6632" name="Text Box 10"/>
          <p:cNvSpPr txBox="1">
            <a:spLocks noChangeArrowheads="1"/>
          </p:cNvSpPr>
          <p:nvPr/>
        </p:nvSpPr>
        <p:spPr bwMode="auto">
          <a:xfrm>
            <a:off x="1447800" y="5881688"/>
            <a:ext cx="2286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Optimal Clustering</a:t>
            </a:r>
          </a:p>
        </p:txBody>
      </p:sp>
      <p:sp>
        <p:nvSpPr>
          <p:cNvPr id="26633" name="Text Box 11"/>
          <p:cNvSpPr txBox="1">
            <a:spLocks noChangeArrowheads="1"/>
          </p:cNvSpPr>
          <p:nvPr/>
        </p:nvSpPr>
        <p:spPr bwMode="auto">
          <a:xfrm>
            <a:off x="5257800" y="1524000"/>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r>
              <a:rPr lang="en-US" altLang="en-US" sz="1800"/>
              <a:t>Original Points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381000" y="152400"/>
            <a:ext cx="8280400" cy="552450"/>
          </a:xfrm>
        </p:spPr>
        <p:txBody>
          <a:bodyPr/>
          <a:lstStyle/>
          <a:p>
            <a:r>
              <a:rPr lang="en-US" altLang="en-US" sz="2800"/>
              <a:t>Importance of Choosing Initial Centroids …</a:t>
            </a:r>
          </a:p>
        </p:txBody>
      </p:sp>
      <p:pic>
        <p:nvPicPr>
          <p:cNvPr id="368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914400"/>
            <a:ext cx="7916863"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7070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914400"/>
            <a:ext cx="7916863"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70701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914400"/>
            <a:ext cx="7916863"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70701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914400"/>
            <a:ext cx="7916863"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170701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914400"/>
            <a:ext cx="7916863"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7070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7070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70701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7070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81000" y="152400"/>
            <a:ext cx="8280400" cy="552450"/>
          </a:xfrm>
        </p:spPr>
        <p:txBody>
          <a:bodyPr/>
          <a:lstStyle/>
          <a:p>
            <a:r>
              <a:rPr lang="en-US" altLang="en-US" sz="2800"/>
              <a:t>Importance of Choosing Initial Centroids …</a:t>
            </a:r>
          </a:p>
        </p:txBody>
      </p:sp>
      <p:sp>
        <p:nvSpPr>
          <p:cNvPr id="37891" name="Text Box 3"/>
          <p:cNvSpPr txBox="1">
            <a:spLocks noChangeArrowheads="1"/>
          </p:cNvSpPr>
          <p:nvPr/>
        </p:nvSpPr>
        <p:spPr bwMode="auto">
          <a:xfrm>
            <a:off x="609600" y="4419600"/>
            <a:ext cx="800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pPr>
            <a:endParaRPr lang="en-US" altLang="en-US"/>
          </a:p>
        </p:txBody>
      </p:sp>
      <p:pic>
        <p:nvPicPr>
          <p:cNvPr id="3789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2192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78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12192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789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3810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789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3810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7896"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1200" y="3810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a:t>Limitations of K-means</a:t>
            </a:r>
          </a:p>
        </p:txBody>
      </p:sp>
      <p:sp>
        <p:nvSpPr>
          <p:cNvPr id="27651" name="Rectangle 3"/>
          <p:cNvSpPr>
            <a:spLocks noGrp="1" noChangeArrowheads="1"/>
          </p:cNvSpPr>
          <p:nvPr>
            <p:ph type="body" idx="1"/>
          </p:nvPr>
        </p:nvSpPr>
        <p:spPr/>
        <p:txBody>
          <a:bodyPr/>
          <a:lstStyle/>
          <a:p>
            <a:r>
              <a:rPr lang="en-US" altLang="en-US" dirty="0"/>
              <a:t>K-means has problems when clusters are of differing </a:t>
            </a:r>
          </a:p>
          <a:p>
            <a:pPr lvl="1"/>
            <a:r>
              <a:rPr lang="en-US" altLang="en-US" dirty="0"/>
              <a:t>Sizes</a:t>
            </a:r>
          </a:p>
          <a:p>
            <a:pPr lvl="1"/>
            <a:r>
              <a:rPr lang="en-US" altLang="en-US" dirty="0"/>
              <a:t>Densities</a:t>
            </a:r>
          </a:p>
          <a:p>
            <a:pPr lvl="1"/>
            <a:r>
              <a:rPr lang="en-US" altLang="en-US" dirty="0"/>
              <a:t>Non-globular shapes</a:t>
            </a:r>
          </a:p>
          <a:p>
            <a:endParaRPr lang="en-US" altLang="en-US" dirty="0"/>
          </a:p>
          <a:p>
            <a:r>
              <a:rPr lang="en-US" altLang="en-US" dirty="0"/>
              <a:t>K-means has problems when the data contains outliers.</a:t>
            </a:r>
          </a:p>
          <a:p>
            <a:pPr lvl="1"/>
            <a:r>
              <a:rPr lang="en-US" altLang="en-US" dirty="0"/>
              <a:t>One possible solution is to remove outliers before clustering</a:t>
            </a:r>
          </a:p>
        </p:txBody>
      </p:sp>
    </p:spTree>
    <p:extLst>
      <p:ext uri="{BB962C8B-B14F-4D97-AF65-F5344CB8AC3E}">
        <p14:creationId xmlns:p14="http://schemas.microsoft.com/office/powerpoint/2010/main" val="2324461400"/>
      </p:ext>
    </p:extLst>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146492467</TotalTime>
  <Pages>3</Pages>
  <Words>1687</Words>
  <Application>Microsoft Office PowerPoint</Application>
  <PresentationFormat>On-screen Show (4:3)</PresentationFormat>
  <Paragraphs>214</Paragraphs>
  <Slides>35</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5</vt:i4>
      </vt:variant>
      <vt:variant>
        <vt:lpstr>Slide Titles</vt:lpstr>
      </vt:variant>
      <vt:variant>
        <vt:i4>35</vt:i4>
      </vt:variant>
    </vt:vector>
  </HeadingPairs>
  <TitlesOfParts>
    <vt:vector size="49" baseType="lpstr">
      <vt:lpstr>cmmi10</vt:lpstr>
      <vt:lpstr>Monotype Sorts</vt:lpstr>
      <vt:lpstr>Amasis MT Pro Black</vt:lpstr>
      <vt:lpstr>Arial</vt:lpstr>
      <vt:lpstr>Cambria Math</vt:lpstr>
      <vt:lpstr>Tahoma</vt:lpstr>
      <vt:lpstr>Times New Roman</vt:lpstr>
      <vt:lpstr>Wingdings</vt:lpstr>
      <vt:lpstr>LC.BRev.FY97</vt:lpstr>
      <vt:lpstr>VISIO</vt:lpstr>
      <vt:lpstr>Worksheet</vt:lpstr>
      <vt:lpstr>Bitmap Image</vt:lpstr>
      <vt:lpstr>Equation</vt:lpstr>
      <vt:lpstr>Chart</vt:lpstr>
      <vt:lpstr>PowerPoint Presentation</vt:lpstr>
      <vt:lpstr>Similarity and Dissimilarity Measures</vt:lpstr>
      <vt:lpstr>Euclidean Distance</vt:lpstr>
      <vt:lpstr>Euclidean Distance</vt:lpstr>
      <vt:lpstr>Minkowski Distance</vt:lpstr>
      <vt:lpstr>Minkowski Distance: Examples</vt:lpstr>
      <vt:lpstr>Minkowski Distance</vt:lpstr>
      <vt:lpstr>Similarity Between Binary Vectors</vt:lpstr>
      <vt:lpstr>SMC versus Jaccard: Example</vt:lpstr>
      <vt:lpstr>Cosine Similarity</vt:lpstr>
      <vt:lpstr>What is Cluster Analysis?</vt:lpstr>
      <vt:lpstr>Applications of Cluster Analysis</vt:lpstr>
      <vt:lpstr>Applications of Cluster Analysis</vt:lpstr>
      <vt:lpstr>Notion of a Cluster can be Ambiguous</vt:lpstr>
      <vt:lpstr>Types of Clusterings</vt:lpstr>
      <vt:lpstr>Partitional Clustering</vt:lpstr>
      <vt:lpstr>Hierarchical Clustering</vt:lpstr>
      <vt:lpstr>Other Distinctions Between Sets of Clusters</vt:lpstr>
      <vt:lpstr>K-means Clustering</vt:lpstr>
      <vt:lpstr>Example of K-means Clustering</vt:lpstr>
      <vt:lpstr>Example of K-means Clustering</vt:lpstr>
      <vt:lpstr> K-means Objective Function</vt:lpstr>
      <vt:lpstr>How the K-Mean Clustering algorithm works?</vt:lpstr>
      <vt:lpstr>PowerPoint Presentation</vt:lpstr>
      <vt:lpstr>PowerPoint Presentation</vt:lpstr>
      <vt:lpstr> A Simple example showing the implementation of k-means algorithm (using K=2)</vt:lpstr>
      <vt:lpstr>PowerPoint Presentation</vt:lpstr>
      <vt:lpstr>PowerPoint Presentation</vt:lpstr>
      <vt:lpstr>PowerPoint Presentation</vt:lpstr>
      <vt:lpstr>PowerPoint Presentation</vt:lpstr>
      <vt:lpstr>PLOT</vt:lpstr>
      <vt:lpstr>Two different K-means Clusterings</vt:lpstr>
      <vt:lpstr>Importance of Choosing Initial Centroids …</vt:lpstr>
      <vt:lpstr>Importance of Choosing Initial Centroids …</vt:lpstr>
      <vt:lpstr>Limitations of K-means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Steven F. Ashby Center for Applied Scientific Computing  Month DD, 1997</dc:title>
  <dc:creator>Computations</dc:creator>
  <cp:lastModifiedBy>Kamran Shaukat</cp:lastModifiedBy>
  <cp:revision>682</cp:revision>
  <cp:lastPrinted>2017-03-24T21:43:53Z</cp:lastPrinted>
  <dcterms:created xsi:type="dcterms:W3CDTF">1998-03-18T13:44:31Z</dcterms:created>
  <dcterms:modified xsi:type="dcterms:W3CDTF">2025-07-28T03:50:52Z</dcterms:modified>
</cp:coreProperties>
</file>