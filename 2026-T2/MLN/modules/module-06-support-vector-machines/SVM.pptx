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notesMasterIdLst>
    <p:notesMasterId r:id="rId44"/>
  </p:notesMasterIdLst>
  <p:handoutMasterIdLst>
    <p:handoutMasterId r:id="rId45"/>
  </p:handoutMasterIdLst>
  <p:sldIdLst>
    <p:sldId id="257" r:id="rId2"/>
    <p:sldId id="256" r:id="rId3"/>
    <p:sldId id="267" r:id="rId4"/>
    <p:sldId id="268" r:id="rId5"/>
    <p:sldId id="1706" r:id="rId6"/>
    <p:sldId id="258" r:id="rId7"/>
    <p:sldId id="1707" r:id="rId8"/>
    <p:sldId id="260" r:id="rId9"/>
    <p:sldId id="261" r:id="rId10"/>
    <p:sldId id="262" r:id="rId11"/>
    <p:sldId id="298" r:id="rId12"/>
    <p:sldId id="299" r:id="rId13"/>
    <p:sldId id="300" r:id="rId14"/>
    <p:sldId id="1727" r:id="rId15"/>
    <p:sldId id="1709" r:id="rId16"/>
    <p:sldId id="1710" r:id="rId17"/>
    <p:sldId id="1728" r:id="rId18"/>
    <p:sldId id="301" r:id="rId19"/>
    <p:sldId id="1729" r:id="rId20"/>
    <p:sldId id="1730" r:id="rId21"/>
    <p:sldId id="302" r:id="rId22"/>
    <p:sldId id="303" r:id="rId23"/>
    <p:sldId id="304" r:id="rId24"/>
    <p:sldId id="305" r:id="rId25"/>
    <p:sldId id="306" r:id="rId26"/>
    <p:sldId id="1712" r:id="rId27"/>
    <p:sldId id="1715" r:id="rId28"/>
    <p:sldId id="283" r:id="rId29"/>
    <p:sldId id="284" r:id="rId30"/>
    <p:sldId id="289" r:id="rId31"/>
    <p:sldId id="291" r:id="rId32"/>
    <p:sldId id="297" r:id="rId33"/>
    <p:sldId id="1718" r:id="rId34"/>
    <p:sldId id="1719" r:id="rId35"/>
    <p:sldId id="398" r:id="rId36"/>
    <p:sldId id="1721" r:id="rId37"/>
    <p:sldId id="1722" r:id="rId38"/>
    <p:sldId id="1723" r:id="rId39"/>
    <p:sldId id="1725" r:id="rId40"/>
    <p:sldId id="400" r:id="rId41"/>
    <p:sldId id="1705" r:id="rId42"/>
    <p:sldId id="259"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25" autoAdjust="0"/>
    <p:restoredTop sz="85802"/>
  </p:normalViewPr>
  <p:slideViewPr>
    <p:cSldViewPr snapToGrid="0">
      <p:cViewPr varScale="1">
        <p:scale>
          <a:sx n="59" d="100"/>
          <a:sy n="59" d="100"/>
        </p:scale>
        <p:origin x="111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BF7164-BD4E-47A9-866D-4E8AC2B9FB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AU"/>
              <a:t>ISY503 Intelligent Systems</a:t>
            </a:r>
          </a:p>
        </p:txBody>
      </p:sp>
      <p:sp>
        <p:nvSpPr>
          <p:cNvPr id="3" name="Date Placeholder 2">
            <a:extLst>
              <a:ext uri="{FF2B5EF4-FFF2-40B4-BE49-F238E27FC236}">
                <a16:creationId xmlns:a16="http://schemas.microsoft.com/office/drawing/2014/main" id="{061DD975-F6A3-42C8-9391-682BEBF5B9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F71FA5-567C-41D2-B207-D8D003DB84CF}" type="datetimeFigureOut">
              <a:rPr lang="en-AU" smtClean="0"/>
              <a:t>11/04/2024</a:t>
            </a:fld>
            <a:endParaRPr lang="en-AU"/>
          </a:p>
        </p:txBody>
      </p:sp>
      <p:sp>
        <p:nvSpPr>
          <p:cNvPr id="4" name="Footer Placeholder 3">
            <a:extLst>
              <a:ext uri="{FF2B5EF4-FFF2-40B4-BE49-F238E27FC236}">
                <a16:creationId xmlns:a16="http://schemas.microsoft.com/office/drawing/2014/main" id="{E1BB0516-EA71-4387-8E22-64D2AE16A45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0E49DD0D-3ACB-4C8B-AB0E-7554358031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5AB5A63-5D42-4E0B-8C7D-5397ED7B6FB4}" type="slidenum">
              <a:rPr lang="en-AU" smtClean="0"/>
              <a:t>‹#›</a:t>
            </a:fld>
            <a:endParaRPr lang="en-AU"/>
          </a:p>
        </p:txBody>
      </p:sp>
    </p:spTree>
    <p:extLst>
      <p:ext uri="{BB962C8B-B14F-4D97-AF65-F5344CB8AC3E}">
        <p14:creationId xmlns:p14="http://schemas.microsoft.com/office/powerpoint/2010/main" val="3365333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AU"/>
              <a:t>ISY503 Intelligent Systems</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7CC2E7-36C7-4086-BFF0-D38F59C0E642}" type="datetimeFigureOut">
              <a:rPr lang="en-AU" smtClean="0"/>
              <a:t>11/04/2024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A084AC-35BC-4CB6-A030-8A49229F1A96}" type="slidenum">
              <a:rPr lang="en-AU" smtClean="0"/>
              <a:t>‹#›</a:t>
            </a:fld>
            <a:endParaRPr lang="en-AU"/>
          </a:p>
        </p:txBody>
      </p:sp>
    </p:spTree>
    <p:extLst>
      <p:ext uri="{BB962C8B-B14F-4D97-AF65-F5344CB8AC3E}">
        <p14:creationId xmlns:p14="http://schemas.microsoft.com/office/powerpoint/2010/main" val="595606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37ABDD6-D95C-3BBB-C421-76AE452773DE}"/>
              </a:ext>
            </a:extLst>
          </p:cNvPr>
          <p:cNvSpPr>
            <a:spLocks noGrp="1" noChangeArrowheads="1"/>
          </p:cNvSpPr>
          <p:nvPr>
            <p:ph type="sldNum" sz="quarter" idx="5"/>
          </p:nvPr>
        </p:nvSpPr>
        <p:spPr>
          <a:ln/>
        </p:spPr>
        <p:txBody>
          <a:bodyPr/>
          <a:lstStyle/>
          <a:p>
            <a:fld id="{34ED306D-22BC-014E-8605-8C6F67F02AD5}" type="slidenum">
              <a:rPr lang="en-US" altLang="en-US"/>
              <a:pPr/>
              <a:t>14</a:t>
            </a:fld>
            <a:endParaRPr lang="en-US" altLang="en-US"/>
          </a:p>
        </p:txBody>
      </p:sp>
      <p:sp>
        <p:nvSpPr>
          <p:cNvPr id="172034" name="Rectangle 2">
            <a:extLst>
              <a:ext uri="{FF2B5EF4-FFF2-40B4-BE49-F238E27FC236}">
                <a16:creationId xmlns:a16="http://schemas.microsoft.com/office/drawing/2014/main" id="{C9D54D9F-7A54-33BA-660E-11891A73954F}"/>
              </a:ext>
            </a:extLst>
          </p:cNvPr>
          <p:cNvSpPr>
            <a:spLocks noGrp="1" noRot="1" noChangeAspect="1" noChangeArrowheads="1" noTextEdit="1"/>
          </p:cNvSpPr>
          <p:nvPr>
            <p:ph type="sldImg"/>
          </p:nvPr>
        </p:nvSpPr>
        <p:spPr>
          <a:ln/>
        </p:spPr>
      </p:sp>
      <p:sp>
        <p:nvSpPr>
          <p:cNvPr id="172035" name="Rectangle 3">
            <a:extLst>
              <a:ext uri="{FF2B5EF4-FFF2-40B4-BE49-F238E27FC236}">
                <a16:creationId xmlns:a16="http://schemas.microsoft.com/office/drawing/2014/main" id="{3A7B315A-8FD3-B1A3-2E05-79BEC33B6459}"/>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909815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38F6195-86F3-1CC0-67C0-81A24B7FE230}"/>
              </a:ext>
            </a:extLst>
          </p:cNvPr>
          <p:cNvSpPr>
            <a:spLocks noGrp="1" noChangeArrowheads="1"/>
          </p:cNvSpPr>
          <p:nvPr>
            <p:ph type="sldNum" sz="quarter" idx="5"/>
          </p:nvPr>
        </p:nvSpPr>
        <p:spPr>
          <a:ln/>
        </p:spPr>
        <p:txBody>
          <a:bodyPr/>
          <a:lstStyle/>
          <a:p>
            <a:fld id="{967D619D-77DB-CB44-9FF5-C2F1859AB755}" type="slidenum">
              <a:rPr lang="en-US" altLang="en-US"/>
              <a:pPr/>
              <a:t>17</a:t>
            </a:fld>
            <a:endParaRPr lang="en-US" altLang="en-US"/>
          </a:p>
        </p:txBody>
      </p:sp>
      <p:sp>
        <p:nvSpPr>
          <p:cNvPr id="206850" name="Rectangle 2">
            <a:extLst>
              <a:ext uri="{FF2B5EF4-FFF2-40B4-BE49-F238E27FC236}">
                <a16:creationId xmlns:a16="http://schemas.microsoft.com/office/drawing/2014/main" id="{DCF4BD68-3C3A-A22F-5125-9A7339402266}"/>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ED56DC6A-99E9-8713-2A54-AF9067217DF8}"/>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19830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38FEED0-3AE8-8AA0-E4AD-CCACF35606EE}"/>
              </a:ext>
            </a:extLst>
          </p:cNvPr>
          <p:cNvSpPr>
            <a:spLocks noGrp="1" noChangeArrowheads="1"/>
          </p:cNvSpPr>
          <p:nvPr>
            <p:ph type="sldNum" sz="quarter" idx="5"/>
          </p:nvPr>
        </p:nvSpPr>
        <p:spPr>
          <a:ln/>
        </p:spPr>
        <p:txBody>
          <a:bodyPr/>
          <a:lstStyle/>
          <a:p>
            <a:fld id="{025ADF05-2385-954C-96CB-3C06C96A0A6D}" type="slidenum">
              <a:rPr lang="en-US" altLang="en-US"/>
              <a:pPr/>
              <a:t>19</a:t>
            </a:fld>
            <a:endParaRPr lang="en-US" altLang="en-US"/>
          </a:p>
        </p:txBody>
      </p:sp>
      <p:sp>
        <p:nvSpPr>
          <p:cNvPr id="208898" name="Rectangle 2">
            <a:extLst>
              <a:ext uri="{FF2B5EF4-FFF2-40B4-BE49-F238E27FC236}">
                <a16:creationId xmlns:a16="http://schemas.microsoft.com/office/drawing/2014/main" id="{68D889AB-5F8E-847C-36A7-4BBE6B1A2F57}"/>
              </a:ext>
            </a:extLst>
          </p:cNvPr>
          <p:cNvSpPr>
            <a:spLocks noGrp="1" noRot="1" noChangeAspect="1" noChangeArrowheads="1" noTextEdit="1"/>
          </p:cNvSpPr>
          <p:nvPr>
            <p:ph type="sldImg"/>
          </p:nvPr>
        </p:nvSpPr>
        <p:spPr>
          <a:ln/>
        </p:spPr>
      </p:sp>
      <p:sp>
        <p:nvSpPr>
          <p:cNvPr id="208899" name="Rectangle 3">
            <a:extLst>
              <a:ext uri="{FF2B5EF4-FFF2-40B4-BE49-F238E27FC236}">
                <a16:creationId xmlns:a16="http://schemas.microsoft.com/office/drawing/2014/main" id="{08349784-056A-AF33-DDDB-B69DF7EF9DF3}"/>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8402678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12192000" cy="6858000"/>
            <a:chOff x="0" y="0"/>
            <a:chExt cx="12192000" cy="6858000"/>
          </a:xfrm>
        </p:grpSpPr>
        <p:sp>
          <p:nvSpPr>
            <p:cNvPr id="8" name="Rectangle 7"/>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Oval 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Oval 10"/>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76279" y="1792223"/>
            <a:ext cx="990599" cy="304799"/>
          </a:xfrm>
        </p:spPr>
        <p:txBody>
          <a:bodyPr anchor="t"/>
          <a:lstStyle>
            <a:lvl1pPr algn="l">
              <a:defRPr b="0" i="0">
                <a:solidFill>
                  <a:schemeClr val="bg1"/>
                </a:solidFill>
              </a:defRPr>
            </a:lvl1pPr>
          </a:lstStyle>
          <a:p>
            <a:fld id="{5EDD6BFC-B273-BC42-A2C8-F5C8F4480D96}" type="datetime1">
              <a:rPr lang="en-AU" smtClean="0"/>
              <a:t>11/04/2024</a:t>
            </a:fld>
            <a:endParaRPr lang="en-AU"/>
          </a:p>
        </p:txBody>
      </p:sp>
      <p:sp>
        <p:nvSpPr>
          <p:cNvPr id="5" name="Footer Placeholder 4"/>
          <p:cNvSpPr>
            <a:spLocks noGrp="1"/>
          </p:cNvSpPr>
          <p:nvPr>
            <p:ph type="ftr" sz="quarter" idx="11"/>
          </p:nvPr>
        </p:nvSpPr>
        <p:spPr bwMode="gray">
          <a:xfrm rot="5400000">
            <a:off x="8963575" y="3226820"/>
            <a:ext cx="3859795" cy="304801"/>
          </a:xfrm>
        </p:spPr>
        <p:txBody>
          <a:bodyPr anchor="b"/>
          <a:lstStyle>
            <a:lvl1pPr>
              <a:defRPr b="0" i="0">
                <a:solidFill>
                  <a:schemeClr val="bg1"/>
                </a:solidFill>
              </a:defRPr>
            </a:lvl1pPr>
          </a:lstStyle>
          <a:p>
            <a:r>
              <a:rPr lang="en-AU"/>
              <a:t>CCF501</a:t>
            </a:r>
          </a:p>
        </p:txBody>
      </p:sp>
      <p:sp>
        <p:nvSpPr>
          <p:cNvPr id="17" name="Rectangle 16"/>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vl1pPr>
          </a:lstStyle>
          <a:p>
            <a:fld id="{AA9B4DDF-D983-43F6-9690-D9255D65AFD2}" type="slidenum">
              <a:rPr lang="en-AU" smtClean="0"/>
              <a:t>‹#›</a:t>
            </a:fld>
            <a:endParaRPr lang="en-AU"/>
          </a:p>
        </p:txBody>
      </p:sp>
    </p:spTree>
    <p:extLst>
      <p:ext uri="{BB962C8B-B14F-4D97-AF65-F5344CB8AC3E}">
        <p14:creationId xmlns:p14="http://schemas.microsoft.com/office/powerpoint/2010/main" val="2710055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61110" y="1718127"/>
            <a:ext cx="11167064" cy="48441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435DC1-F062-2B44-85CD-72C68BD9C142}" type="datetime1">
              <a:rPr lang="en-AU" smtClean="0"/>
              <a:t>11/04/2024</a:t>
            </a:fld>
            <a:endParaRPr lang="en-AU"/>
          </a:p>
        </p:txBody>
      </p:sp>
      <p:sp>
        <p:nvSpPr>
          <p:cNvPr id="5" name="Footer Placeholder 4"/>
          <p:cNvSpPr>
            <a:spLocks noGrp="1"/>
          </p:cNvSpPr>
          <p:nvPr>
            <p:ph type="ftr" sz="quarter" idx="11"/>
          </p:nvPr>
        </p:nvSpPr>
        <p:spPr/>
        <p:txBody>
          <a:bodyPr/>
          <a:lstStyle/>
          <a:p>
            <a:r>
              <a:rPr lang="en-US" dirty="0"/>
              <a:t>CCF501</a:t>
            </a:r>
            <a:endParaRPr lang="en-AU" dirty="0"/>
          </a:p>
        </p:txBody>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
        <p:nvSpPr>
          <p:cNvPr id="8" name="Title Placeholder 1">
            <a:extLst>
              <a:ext uri="{FF2B5EF4-FFF2-40B4-BE49-F238E27FC236}">
                <a16:creationId xmlns:a16="http://schemas.microsoft.com/office/drawing/2014/main" id="{C0FEFC4D-B9AD-7203-0D48-CEF481F1BA67}"/>
              </a:ext>
            </a:extLst>
          </p:cNvPr>
          <p:cNvSpPr>
            <a:spLocks noGrp="1"/>
          </p:cNvSpPr>
          <p:nvPr>
            <p:ph type="title"/>
          </p:nvPr>
        </p:nvSpPr>
        <p:spPr bwMode="gray">
          <a:xfrm>
            <a:off x="1239123" y="422424"/>
            <a:ext cx="8761413" cy="728480"/>
          </a:xfrm>
          <a:prstGeom prst="rect">
            <a:avLst/>
          </a:prstGeom>
        </p:spPr>
        <p:txBody>
          <a:bodyPr vert="horz" lIns="91440" tIns="45720" rIns="91440" bIns="45720" rtlCol="0" anchor="ctr">
            <a:noAutofit/>
          </a:bodyPr>
          <a:lstStyle/>
          <a:p>
            <a:r>
              <a:rPr lang="en-US" dirty="0"/>
              <a:t>Click to edit Master title style</a:t>
            </a:r>
          </a:p>
        </p:txBody>
      </p:sp>
    </p:spTree>
    <p:extLst>
      <p:ext uri="{BB962C8B-B14F-4D97-AF65-F5344CB8AC3E}">
        <p14:creationId xmlns:p14="http://schemas.microsoft.com/office/powerpoint/2010/main" val="1068739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4"/>
            <a:ext cx="4351023" cy="2283823"/>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BFC6280-1266-ED4C-A86C-C550DD6E6CC1}" type="datetime1">
              <a:rPr lang="en-AU" smtClean="0"/>
              <a:t>11/04/2024</a:t>
            </a:fld>
            <a:endParaRPr lang="en-AU"/>
          </a:p>
        </p:txBody>
      </p:sp>
      <p:sp>
        <p:nvSpPr>
          <p:cNvPr id="5" name="Footer Placeholder 4"/>
          <p:cNvSpPr>
            <a:spLocks noGrp="1"/>
          </p:cNvSpPr>
          <p:nvPr>
            <p:ph type="ftr" sz="quarter" idx="11"/>
          </p:nvPr>
        </p:nvSpPr>
        <p:spPr/>
        <p:txBody>
          <a:bodyPr/>
          <a:lstStyle/>
          <a:p>
            <a:r>
              <a:rPr lang="en-AU"/>
              <a:t>CCF501</a:t>
            </a:r>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435026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1368" y="2603500"/>
            <a:ext cx="4828744"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1" y="2603500"/>
            <a:ext cx="4825159" cy="3377705"/>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E44E53-DB10-DE43-8074-586085BD1CEB}" type="datetime1">
              <a:rPr lang="en-AU" smtClean="0"/>
              <a:t>11/04/2024</a:t>
            </a:fld>
            <a:endParaRPr lang="en-AU"/>
          </a:p>
        </p:txBody>
      </p:sp>
      <p:sp>
        <p:nvSpPr>
          <p:cNvPr id="6" name="Footer Placeholder 5"/>
          <p:cNvSpPr>
            <a:spLocks noGrp="1"/>
          </p:cNvSpPr>
          <p:nvPr>
            <p:ph type="ftr" sz="quarter" idx="11"/>
          </p:nvPr>
        </p:nvSpPr>
        <p:spPr/>
        <p:txBody>
          <a:bodyPr/>
          <a:lstStyle/>
          <a:p>
            <a:r>
              <a:rPr lang="en-AU"/>
              <a:t>CCF501</a:t>
            </a:r>
          </a:p>
        </p:txBody>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1024964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36063"/>
            <a:ext cx="482515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212326"/>
            <a:ext cx="4825158" cy="280747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1" y="2603499"/>
            <a:ext cx="4825160" cy="608825"/>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212327"/>
            <a:ext cx="4825159" cy="280747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518386-51A0-BA48-9D28-6BC573C27CA0}" type="datetime1">
              <a:rPr lang="en-AU" smtClean="0"/>
              <a:t>11/04/2024</a:t>
            </a:fld>
            <a:endParaRPr lang="en-AU"/>
          </a:p>
        </p:txBody>
      </p:sp>
      <p:sp>
        <p:nvSpPr>
          <p:cNvPr id="8" name="Footer Placeholder 7"/>
          <p:cNvSpPr>
            <a:spLocks noGrp="1"/>
          </p:cNvSpPr>
          <p:nvPr>
            <p:ph type="ftr" sz="quarter" idx="11"/>
          </p:nvPr>
        </p:nvSpPr>
        <p:spPr/>
        <p:txBody>
          <a:bodyPr/>
          <a:lstStyle/>
          <a:p>
            <a:r>
              <a:rPr lang="en-AU"/>
              <a:t>CCF501</a:t>
            </a:r>
          </a:p>
        </p:txBody>
      </p:sp>
      <p:sp>
        <p:nvSpPr>
          <p:cNvPr id="9" name="Slide Number Placeholder 8"/>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3077596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62877E9-CC43-2848-A8F8-1E3563E76A1A}" type="datetime1">
              <a:rPr lang="en-AU" smtClean="0"/>
              <a:t>11/04/2024</a:t>
            </a:fld>
            <a:endParaRPr lang="en-AU"/>
          </a:p>
        </p:txBody>
      </p:sp>
      <p:sp>
        <p:nvSpPr>
          <p:cNvPr id="4" name="Footer Placeholder 3"/>
          <p:cNvSpPr>
            <a:spLocks noGrp="1"/>
          </p:cNvSpPr>
          <p:nvPr>
            <p:ph type="ftr" sz="quarter" idx="11"/>
          </p:nvPr>
        </p:nvSpPr>
        <p:spPr/>
        <p:txBody>
          <a:bodyPr/>
          <a:lstStyle/>
          <a:p>
            <a:r>
              <a:rPr lang="en-AU"/>
              <a:t>CCF501</a:t>
            </a:r>
          </a:p>
        </p:txBody>
      </p:sp>
      <p:sp>
        <p:nvSpPr>
          <p:cNvPr id="5" name="Slide Number Placeholder 4"/>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387294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675B15-A387-F245-93F4-92E0262DBF67}" type="datetime1">
              <a:rPr lang="en-AU" smtClean="0"/>
              <a:t>11/04/2024</a:t>
            </a:fld>
            <a:endParaRPr lang="en-AU"/>
          </a:p>
        </p:txBody>
      </p:sp>
      <p:sp>
        <p:nvSpPr>
          <p:cNvPr id="3" name="Footer Placeholder 2"/>
          <p:cNvSpPr>
            <a:spLocks noGrp="1"/>
          </p:cNvSpPr>
          <p:nvPr>
            <p:ph type="ftr" sz="quarter" idx="11"/>
          </p:nvPr>
        </p:nvSpPr>
        <p:spPr/>
        <p:txBody>
          <a:bodyPr/>
          <a:lstStyle/>
          <a:p>
            <a:r>
              <a:rPr lang="en-AU"/>
              <a:t>CCF501</a:t>
            </a:r>
          </a:p>
        </p:txBody>
      </p:sp>
      <p:sp>
        <p:nvSpPr>
          <p:cNvPr id="6" name="Rectangle 5"/>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1229603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1" name="Group 10"/>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3129280"/>
            <a:ext cx="2793158" cy="289559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1C2A69D-5331-804B-BB2D-478A66E1495D}" type="datetime1">
              <a:rPr lang="en-AU" smtClean="0"/>
              <a:t>11/04/2024</a:t>
            </a:fld>
            <a:endParaRPr lang="en-AU"/>
          </a:p>
        </p:txBody>
      </p:sp>
      <p:sp>
        <p:nvSpPr>
          <p:cNvPr id="6" name="Footer Placeholder 5"/>
          <p:cNvSpPr>
            <a:spLocks noGrp="1"/>
          </p:cNvSpPr>
          <p:nvPr>
            <p:ph type="ftr" sz="quarter" idx="11"/>
          </p:nvPr>
        </p:nvSpPr>
        <p:spPr/>
        <p:txBody>
          <a:bodyPr/>
          <a:lstStyle/>
          <a:p>
            <a:r>
              <a:rPr lang="en-AU"/>
              <a:t>CCF501</a:t>
            </a:r>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521227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8" name="Rectangle 7"/>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2" y="1143000"/>
            <a:ext cx="3227192"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7509580-983A-874E-A06C-8B75F775CF11}" type="datetime1">
              <a:rPr lang="en-AU" smtClean="0"/>
              <a:t>11/04/2024</a:t>
            </a:fld>
            <a:endParaRPr lang="en-AU"/>
          </a:p>
        </p:txBody>
      </p:sp>
      <p:sp>
        <p:nvSpPr>
          <p:cNvPr id="6" name="Footer Placeholder 5"/>
          <p:cNvSpPr>
            <a:spLocks noGrp="1"/>
          </p:cNvSpPr>
          <p:nvPr>
            <p:ph type="ftr" sz="quarter" idx="11"/>
          </p:nvPr>
        </p:nvSpPr>
        <p:spPr/>
        <p:txBody>
          <a:bodyPr/>
          <a:lstStyle/>
          <a:p>
            <a:r>
              <a:rPr lang="en-AU"/>
              <a:t>CCF501</a:t>
            </a:r>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2721459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5945"/>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2683"/>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D495B66-9191-4B40-A9C8-01173F1DE0A3}" type="datetime1">
              <a:rPr lang="en-AU" smtClean="0"/>
              <a:t>11/04/2024</a:t>
            </a:fld>
            <a:endParaRPr lang="en-AU"/>
          </a:p>
        </p:txBody>
      </p:sp>
      <p:sp>
        <p:nvSpPr>
          <p:cNvPr id="6" name="Footer Placeholder 5"/>
          <p:cNvSpPr>
            <a:spLocks noGrp="1"/>
          </p:cNvSpPr>
          <p:nvPr>
            <p:ph type="ftr" sz="quarter" idx="11"/>
          </p:nvPr>
        </p:nvSpPr>
        <p:spPr/>
        <p:txBody>
          <a:bodyPr/>
          <a:lstStyle/>
          <a:p>
            <a:r>
              <a:rPr lang="en-AU"/>
              <a:t>CCF501</a:t>
            </a:r>
          </a:p>
        </p:txBody>
      </p:sp>
      <p:sp>
        <p:nvSpPr>
          <p:cNvPr id="13" name="Rectangle 12"/>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2181118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0" name="Rectangle 9"/>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nchor="ct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93436E2-FE6E-B343-B2BC-A212806D9894}" type="datetime1">
              <a:rPr lang="en-AU" smtClean="0"/>
              <a:t>11/04/2024</a:t>
            </a:fld>
            <a:endParaRPr lang="en-AU"/>
          </a:p>
        </p:txBody>
      </p:sp>
      <p:sp>
        <p:nvSpPr>
          <p:cNvPr id="5" name="Footer Placeholder 4"/>
          <p:cNvSpPr>
            <a:spLocks noGrp="1"/>
          </p:cNvSpPr>
          <p:nvPr>
            <p:ph type="ftr" sz="quarter" idx="11"/>
          </p:nvPr>
        </p:nvSpPr>
        <p:spPr/>
        <p:txBody>
          <a:bodyPr/>
          <a:lstStyle/>
          <a:p>
            <a:r>
              <a:rPr lang="en-AU"/>
              <a:t>CCF501</a:t>
            </a:r>
          </a:p>
        </p:txBody>
      </p:sp>
      <p:sp>
        <p:nvSpPr>
          <p:cNvPr id="13" name="Rectangle 12"/>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40371642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6" name="Rectangle 15"/>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1" name="TextBox 10"/>
          <p:cNvSpPr txBox="1"/>
          <p:nvPr/>
        </p:nvSpPr>
        <p:spPr bwMode="gray">
          <a:xfrm>
            <a:off x="898295" y="603589"/>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13" name="TextBox 12"/>
          <p:cNvSpPr txBox="1"/>
          <p:nvPr/>
        </p:nvSpPr>
        <p:spPr bwMode="gray">
          <a:xfrm>
            <a:off x="9705137" y="2613787"/>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74801" y="980517"/>
            <a:ext cx="8460983" cy="2705034"/>
          </a:xfrm>
        </p:spPr>
        <p:txBody>
          <a:bodyPr anchor="ct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86515"/>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14393"/>
            <a:ext cx="8825659" cy="1012664"/>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D569D3E-D70A-EA4E-80C6-644ED8795B1F}" type="datetime1">
              <a:rPr lang="en-AU" smtClean="0"/>
              <a:t>11/04/2024</a:t>
            </a:fld>
            <a:endParaRPr lang="en-AU"/>
          </a:p>
        </p:txBody>
      </p:sp>
      <p:sp>
        <p:nvSpPr>
          <p:cNvPr id="5" name="Footer Placeholder 4"/>
          <p:cNvSpPr>
            <a:spLocks noGrp="1"/>
          </p:cNvSpPr>
          <p:nvPr>
            <p:ph type="ftr" sz="quarter" idx="11"/>
          </p:nvPr>
        </p:nvSpPr>
        <p:spPr/>
        <p:txBody>
          <a:bodyPr/>
          <a:lstStyle/>
          <a:p>
            <a:r>
              <a:rPr lang="en-AU"/>
              <a:t>CCF501</a:t>
            </a:r>
          </a:p>
        </p:txBody>
      </p:sp>
      <p:sp>
        <p:nvSpPr>
          <p:cNvPr id="24" name="Rectangle 23"/>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27409953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0" name="Rectangle 9"/>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2404477"/>
            <a:ext cx="8825659" cy="178870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38587" y="5024967"/>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9ADF28E-AE6A-3D47-A261-53C78A265D6E}" type="datetime1">
              <a:rPr lang="en-AU" smtClean="0"/>
              <a:t>11/04/2024</a:t>
            </a:fld>
            <a:endParaRPr lang="en-AU"/>
          </a:p>
        </p:txBody>
      </p:sp>
      <p:sp>
        <p:nvSpPr>
          <p:cNvPr id="5" name="Footer Placeholder 4"/>
          <p:cNvSpPr>
            <a:spLocks noGrp="1"/>
          </p:cNvSpPr>
          <p:nvPr>
            <p:ph type="ftr" sz="quarter" idx="11"/>
          </p:nvPr>
        </p:nvSpPr>
        <p:spPr/>
        <p:txBody>
          <a:bodyPr/>
          <a:lstStyle/>
          <a:p>
            <a:r>
              <a:rPr lang="en-AU"/>
              <a:t>CCF501</a:t>
            </a:r>
          </a:p>
        </p:txBody>
      </p:sp>
      <p:sp>
        <p:nvSpPr>
          <p:cNvPr id="12" name="Rectangle 11"/>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476034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7"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109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4" y="3187261"/>
            <a:ext cx="3129168" cy="28397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10999"/>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87261"/>
            <a:ext cx="3145380" cy="28397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6701" y="2603500"/>
            <a:ext cx="315744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6700" y="3187261"/>
            <a:ext cx="3161029" cy="283979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42AFAD6-1455-5B4B-B7BA-7167BE3DCBC9}" type="datetime1">
              <a:rPr lang="en-AU" smtClean="0"/>
              <a:t>11/04/2024</a:t>
            </a:fld>
            <a:endParaRPr lang="en-AU"/>
          </a:p>
        </p:txBody>
      </p:sp>
      <p:sp>
        <p:nvSpPr>
          <p:cNvPr id="8" name="Footer Placeholder 7"/>
          <p:cNvSpPr>
            <a:spLocks noGrp="1"/>
          </p:cNvSpPr>
          <p:nvPr>
            <p:ph type="ftr" sz="quarter" idx="11"/>
          </p:nvPr>
        </p:nvSpPr>
        <p:spPr/>
        <p:txBody>
          <a:bodyPr/>
          <a:lstStyle/>
          <a:p>
            <a:r>
              <a:rPr lang="en-AU"/>
              <a:t>CCF501</a:t>
            </a:r>
          </a:p>
        </p:txBody>
      </p:sp>
      <p:sp>
        <p:nvSpPr>
          <p:cNvPr id="9" name="Slide Number Placeholder 8"/>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40626793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20744" cy="576263"/>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1334552" y="2611246"/>
            <a:ext cx="2691242" cy="158376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20745"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5"/>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4748463" y="2642840"/>
            <a:ext cx="2691242" cy="155217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7"/>
            <a:ext cx="3050438" cy="92140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3434" y="4532845"/>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8163031" y="2618992"/>
            <a:ext cx="2691242" cy="1576018"/>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09107"/>
            <a:ext cx="3054127" cy="89634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1" name="Straight Connector 20"/>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5D5DA85-0CD2-DE4D-9772-8F9688DAE08B}" type="datetime1">
              <a:rPr lang="en-AU" smtClean="0"/>
              <a:t>11/04/2024</a:t>
            </a:fld>
            <a:endParaRPr lang="en-AU"/>
          </a:p>
        </p:txBody>
      </p:sp>
      <p:sp>
        <p:nvSpPr>
          <p:cNvPr id="8" name="Footer Placeholder 7"/>
          <p:cNvSpPr>
            <a:spLocks noGrp="1"/>
          </p:cNvSpPr>
          <p:nvPr>
            <p:ph type="ftr" sz="quarter" idx="11"/>
          </p:nvPr>
        </p:nvSpPr>
        <p:spPr/>
        <p:txBody>
          <a:bodyPr/>
          <a:lstStyle/>
          <a:p>
            <a:r>
              <a:rPr lang="en-AU"/>
              <a:t>CCF501</a:t>
            </a:r>
          </a:p>
        </p:txBody>
      </p:sp>
      <p:sp>
        <p:nvSpPr>
          <p:cNvPr id="9" name="Slide Number Placeholder 8"/>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2709566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9C8C85-4D06-084A-878C-5E8B557DE10C}" type="datetime1">
              <a:rPr lang="en-AU" smtClean="0"/>
              <a:t>11/04/2024</a:t>
            </a:fld>
            <a:endParaRPr lang="en-AU"/>
          </a:p>
        </p:txBody>
      </p:sp>
      <p:sp>
        <p:nvSpPr>
          <p:cNvPr id="5" name="Footer Placeholder 4"/>
          <p:cNvSpPr>
            <a:spLocks noGrp="1"/>
          </p:cNvSpPr>
          <p:nvPr>
            <p:ph type="ftr" sz="quarter" idx="11"/>
          </p:nvPr>
        </p:nvSpPr>
        <p:spPr/>
        <p:txBody>
          <a:bodyPr/>
          <a:lstStyle/>
          <a:p>
            <a:r>
              <a:rPr lang="en-AU"/>
              <a:t>CCF501</a:t>
            </a:r>
          </a:p>
        </p:txBody>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
        <p:nvSpPr>
          <p:cNvPr id="7" name="Title Placeholder 1">
            <a:extLst>
              <a:ext uri="{FF2B5EF4-FFF2-40B4-BE49-F238E27FC236}">
                <a16:creationId xmlns:a16="http://schemas.microsoft.com/office/drawing/2014/main" id="{D900B0C7-51BF-70FF-63EB-517952424885}"/>
              </a:ext>
            </a:extLst>
          </p:cNvPr>
          <p:cNvSpPr>
            <a:spLocks noGrp="1"/>
          </p:cNvSpPr>
          <p:nvPr>
            <p:ph type="title"/>
          </p:nvPr>
        </p:nvSpPr>
        <p:spPr bwMode="gray">
          <a:xfrm>
            <a:off x="1239123" y="422424"/>
            <a:ext cx="8761413" cy="728480"/>
          </a:xfrm>
          <a:prstGeom prst="rect">
            <a:avLst/>
          </a:prstGeom>
        </p:spPr>
        <p:txBody>
          <a:bodyPr vert="horz" lIns="91440" tIns="45720" rIns="91440" bIns="45720" rtlCol="0" anchor="ctr">
            <a:noAutofit/>
          </a:bodyPr>
          <a:lstStyle/>
          <a:p>
            <a:r>
              <a:rPr lang="en-US" dirty="0"/>
              <a:t>Click to edit Master title style</a:t>
            </a:r>
          </a:p>
        </p:txBody>
      </p:sp>
    </p:spTree>
    <p:extLst>
      <p:ext uri="{BB962C8B-B14F-4D97-AF65-F5344CB8AC3E}">
        <p14:creationId xmlns:p14="http://schemas.microsoft.com/office/powerpoint/2010/main" val="4252427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97430"/>
            <a:ext cx="1409965" cy="4729626"/>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97429"/>
            <a:ext cx="6247546" cy="472962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30BDCF-D5D2-CF4E-8B82-58A100D4E735}" type="datetime1">
              <a:rPr lang="en-AU" smtClean="0"/>
              <a:t>11/04/2024</a:t>
            </a:fld>
            <a:endParaRPr lang="en-AU"/>
          </a:p>
        </p:txBody>
      </p:sp>
      <p:sp>
        <p:nvSpPr>
          <p:cNvPr id="5" name="Footer Placeholder 4"/>
          <p:cNvSpPr>
            <a:spLocks noGrp="1"/>
          </p:cNvSpPr>
          <p:nvPr>
            <p:ph type="ftr" sz="quarter" idx="11"/>
          </p:nvPr>
        </p:nvSpPr>
        <p:spPr/>
        <p:txBody>
          <a:bodyPr/>
          <a:lstStyle/>
          <a:p>
            <a:r>
              <a:rPr lang="en-AU"/>
              <a:t>CCF501</a:t>
            </a:r>
          </a:p>
        </p:txBody>
      </p:sp>
      <p:sp>
        <p:nvSpPr>
          <p:cNvPr id="18" name="Rectangle 17"/>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757806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7904"/>
            <a:ext cx="12192000" cy="4393096"/>
            <a:chOff x="0" y="0"/>
            <a:chExt cx="12192000" cy="6858000"/>
          </a:xfrm>
        </p:grpSpPr>
        <p:sp>
          <p:nvSpPr>
            <p:cNvPr id="15" name="Rectangle 14"/>
            <p:cNvSpPr/>
            <p:nvPr/>
          </p:nvSpPr>
          <p:spPr>
            <a:xfrm>
              <a:off x="0" y="0"/>
              <a:ext cx="12192000" cy="6858000"/>
            </a:xfrm>
            <a:prstGeom prst="rect">
              <a:avLst/>
            </a:prstGeom>
            <a:blipFill>
              <a:blip r:embed="rId19">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Oval 4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9" name="Oval 3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8" name="Oval 3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9" name="Oval 48"/>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239123" y="422424"/>
            <a:ext cx="8761413" cy="72848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665922" y="1725057"/>
            <a:ext cx="11006925" cy="48372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561110" y="6391839"/>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AU"/>
              <a:t>CCF501</a:t>
            </a:r>
          </a:p>
        </p:txBody>
      </p:sp>
      <p:sp>
        <p:nvSpPr>
          <p:cNvPr id="4" name="Date Placeholder 3"/>
          <p:cNvSpPr>
            <a:spLocks noGrp="1"/>
          </p:cNvSpPr>
          <p:nvPr>
            <p:ph type="dt" sz="half" idx="2"/>
          </p:nvPr>
        </p:nvSpPr>
        <p:spPr>
          <a:xfrm>
            <a:off x="10650938" y="6394407"/>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C4672445-3C95-F648-8E06-2401D9C9FD59}" type="datetime1">
              <a:rPr lang="en-AU" smtClean="0"/>
              <a:t>11/04/2024</a:t>
            </a:fld>
            <a:endParaRPr lang="en-AU"/>
          </a:p>
        </p:txBody>
      </p:sp>
      <p:sp>
        <p:nvSpPr>
          <p:cNvPr id="20" name="Rectangle 19"/>
          <p:cNvSpPr/>
          <p:nvPr/>
        </p:nvSpPr>
        <p:spPr>
          <a:xfrm>
            <a:off x="10442415" y="7904"/>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F8F7ADD-8279-744C-8EA4-A50D80F98995}" type="slidenum">
              <a:rPr lang="en-AU" smtClean="0"/>
              <a:pPr/>
              <a:t>‹#›</a:t>
            </a:fld>
            <a:endParaRPr lang="en-AU" dirty="0"/>
          </a:p>
        </p:txBody>
      </p:sp>
    </p:spTree>
    <p:extLst>
      <p:ext uri="{BB962C8B-B14F-4D97-AF65-F5344CB8AC3E}">
        <p14:creationId xmlns:p14="http://schemas.microsoft.com/office/powerpoint/2010/main" val="3503548824"/>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oleObject" Target="../embeddings/oleObject6.bin"/></Relationships>
</file>

<file path=ppt/slides/_rels/slide3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hyperlink" Target="https://eight2late.wordpress.com/2017/02/07/a-gentle-introduction-to-support-vector-machines-using-r/" TargetMode="External"/><Relationship Id="rId3" Type="http://schemas.openxmlformats.org/officeDocument/2006/relationships/hyperlink" Target="http://www.svms.org/tutorials/Berwick2003.pdf" TargetMode="External"/><Relationship Id="rId7" Type="http://schemas.openxmlformats.org/officeDocument/2006/relationships/hyperlink" Target="https://www.quantstart.com/articles/Support-Vector-Machines-A-Guide-for-Beginners" TargetMode="External"/><Relationship Id="rId2" Type="http://schemas.openxmlformats.org/officeDocument/2006/relationships/hyperlink" Target="https://www.digitalocean.com/community/tutorials/k-nearest-neighbors-knn-in-python" TargetMode="External"/><Relationship Id="rId1" Type="http://schemas.openxmlformats.org/officeDocument/2006/relationships/slideLayout" Target="../slideLayouts/slideLayout2.xml"/><Relationship Id="rId6" Type="http://schemas.openxmlformats.org/officeDocument/2006/relationships/hyperlink" Target="https://data-flair.training/blogs/svm-support-vector-machine-tutorial/" TargetMode="External"/><Relationship Id="rId5" Type="http://schemas.openxmlformats.org/officeDocument/2006/relationships/hyperlink" Target="https://www.svm-tutorial.com/2014/11/svm-understanding-math-part-1/" TargetMode="External"/><Relationship Id="rId4" Type="http://schemas.openxmlformats.org/officeDocument/2006/relationships/hyperlink" Target="http://blog.aylien.com/support-vector-machines-for-dummies-a-simple/" TargetMode="Externa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637A-EE0E-4528-B43D-C009E97B04FB}"/>
              </a:ext>
            </a:extLst>
          </p:cNvPr>
          <p:cNvSpPr>
            <a:spLocks noGrp="1"/>
          </p:cNvSpPr>
          <p:nvPr>
            <p:ph type="title"/>
          </p:nvPr>
        </p:nvSpPr>
        <p:spPr>
          <a:xfrm>
            <a:off x="1172817" y="2546172"/>
            <a:ext cx="9720470" cy="2820958"/>
          </a:xfrm>
        </p:spPr>
        <p:txBody>
          <a:bodyPr/>
          <a:lstStyle/>
          <a:p>
            <a:pPr algn="ctr"/>
            <a:r>
              <a:rPr lang="en-US" b="1" dirty="0">
                <a:solidFill>
                  <a:schemeClr val="tx1"/>
                </a:solidFill>
              </a:rPr>
              <a:t>Module 8 Notes</a:t>
            </a:r>
            <a:br>
              <a:rPr lang="en-US" b="1" dirty="0">
                <a:solidFill>
                  <a:schemeClr val="tx1"/>
                </a:solidFill>
              </a:rPr>
            </a:br>
            <a:endParaRPr lang="en-AU" sz="2400" dirty="0">
              <a:solidFill>
                <a:schemeClr val="tx1"/>
              </a:solidFill>
            </a:endParaRPr>
          </a:p>
        </p:txBody>
      </p:sp>
      <p:sp>
        <p:nvSpPr>
          <p:cNvPr id="3" name="Slide Number Placeholder 2">
            <a:extLst>
              <a:ext uri="{FF2B5EF4-FFF2-40B4-BE49-F238E27FC236}">
                <a16:creationId xmlns:a16="http://schemas.microsoft.com/office/drawing/2014/main" id="{F7002C4D-6B37-9FCE-D4B9-012AC821AEE6}"/>
              </a:ext>
            </a:extLst>
          </p:cNvPr>
          <p:cNvSpPr>
            <a:spLocks noGrp="1"/>
          </p:cNvSpPr>
          <p:nvPr>
            <p:ph type="sldNum" sz="quarter" idx="12"/>
          </p:nvPr>
        </p:nvSpPr>
        <p:spPr/>
        <p:txBody>
          <a:bodyPr/>
          <a:lstStyle/>
          <a:p>
            <a:fld id="{AA9B4DDF-D983-43F6-9690-D9255D65AFD2}" type="slidenum">
              <a:rPr lang="en-AU" smtClean="0"/>
              <a:t>1</a:t>
            </a:fld>
            <a:endParaRPr lang="en-AU" dirty="0"/>
          </a:p>
        </p:txBody>
      </p:sp>
    </p:spTree>
    <p:extLst>
      <p:ext uri="{BB962C8B-B14F-4D97-AF65-F5344CB8AC3E}">
        <p14:creationId xmlns:p14="http://schemas.microsoft.com/office/powerpoint/2010/main" val="1518456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BC15BCFF-357F-F5E8-5477-3E7CB0AF30CF}"/>
              </a:ext>
            </a:extLst>
          </p:cNvPr>
          <p:cNvSpPr>
            <a:spLocks noGrp="1"/>
          </p:cNvSpPr>
          <p:nvPr>
            <p:ph type="ctrTitle"/>
          </p:nvPr>
        </p:nvSpPr>
        <p:spPr>
          <a:xfrm>
            <a:off x="1587500" y="771525"/>
            <a:ext cx="9144000" cy="2387600"/>
          </a:xfrm>
        </p:spPr>
        <p:txBody>
          <a:bodyPr/>
          <a:lstStyle/>
          <a:p>
            <a:pPr eaLnBrk="1" hangingPunct="1"/>
            <a:r>
              <a:rPr lang="en-US" altLang="en-US" dirty="0"/>
              <a:t>Support Vector Machines (SVM)</a:t>
            </a:r>
          </a:p>
        </p:txBody>
      </p:sp>
      <p:sp>
        <p:nvSpPr>
          <p:cNvPr id="2" name="Slide Number Placeholder 1">
            <a:extLst>
              <a:ext uri="{FF2B5EF4-FFF2-40B4-BE49-F238E27FC236}">
                <a16:creationId xmlns:a16="http://schemas.microsoft.com/office/drawing/2014/main" id="{BD9DFD90-B04A-4898-F306-695C4F8C6E0F}"/>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24D32DD-9902-F043-A0F7-716735F77862}" type="slidenum">
              <a:rPr lang="en-US" altLang="en-US">
                <a:solidFill>
                  <a:srgbClr val="898989"/>
                </a:solidFill>
              </a:rPr>
              <a:pPr/>
              <a:t>2</a:t>
            </a:fld>
            <a:endParaRPr lang="en-US" altLang="en-US">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AE21C5CF-D978-B27A-F958-704CF2F6A0B4}"/>
              </a:ext>
            </a:extLst>
          </p:cNvPr>
          <p:cNvSpPr>
            <a:spLocks noGrp="1"/>
          </p:cNvSpPr>
          <p:nvPr>
            <p:ph type="title"/>
          </p:nvPr>
        </p:nvSpPr>
        <p:spPr/>
        <p:txBody>
          <a:bodyPr/>
          <a:lstStyle/>
          <a:p>
            <a:pPr eaLnBrk="1" hangingPunct="1"/>
            <a:r>
              <a:rPr lang="en-US" altLang="en-US"/>
              <a:t>Motivation for Support Vector Machines</a:t>
            </a:r>
          </a:p>
        </p:txBody>
      </p:sp>
      <p:sp>
        <p:nvSpPr>
          <p:cNvPr id="7171" name="Content Placeholder 2">
            <a:extLst>
              <a:ext uri="{FF2B5EF4-FFF2-40B4-BE49-F238E27FC236}">
                <a16:creationId xmlns:a16="http://schemas.microsoft.com/office/drawing/2014/main" id="{B087CB53-4ECE-0179-5140-02A831608CB7}"/>
              </a:ext>
            </a:extLst>
          </p:cNvPr>
          <p:cNvSpPr>
            <a:spLocks noGrp="1"/>
          </p:cNvSpPr>
          <p:nvPr>
            <p:ph idx="1"/>
          </p:nvPr>
        </p:nvSpPr>
        <p:spPr>
          <a:xfrm>
            <a:off x="838200" y="1825625"/>
            <a:ext cx="10923588" cy="4351338"/>
          </a:xfrm>
        </p:spPr>
        <p:txBody>
          <a:bodyPr/>
          <a:lstStyle/>
          <a:p>
            <a:pPr eaLnBrk="1" hangingPunct="1"/>
            <a:r>
              <a:rPr lang="en-US" altLang="en-US"/>
              <a:t>The problem to be solved is one of the </a:t>
            </a:r>
            <a:r>
              <a:rPr lang="en-US" altLang="en-US" b="1"/>
              <a:t>supervised binary classification</a:t>
            </a:r>
            <a:r>
              <a:rPr lang="en-US" altLang="en-US"/>
              <a:t>. That is, we wish to categorize new unseen objects into two separate groups based on their properties and a set of known examples, which are already categorized. </a:t>
            </a:r>
          </a:p>
          <a:p>
            <a:pPr eaLnBrk="1" hangingPunct="1"/>
            <a:r>
              <a:rPr lang="en-US" altLang="en-US"/>
              <a:t>A good example of such a system is classifying a set of new </a:t>
            </a:r>
            <a:r>
              <a:rPr lang="en-US" altLang="en-US" i="1"/>
              <a:t>documents</a:t>
            </a:r>
            <a:r>
              <a:rPr lang="en-US" altLang="en-US"/>
              <a:t> into positive or negative sentiment groups, based on other documents which have already been classified as positive or negative. </a:t>
            </a:r>
          </a:p>
          <a:p>
            <a:pPr eaLnBrk="1" hangingPunct="1"/>
            <a:r>
              <a:rPr lang="en-US" altLang="en-US"/>
              <a:t>Similarly, we could classify new emails into spam or non-spam, based on a large corpus of documents that have already been marked as spam or non-spam by humans. SVMs are highly applicable to such situations.</a:t>
            </a:r>
          </a:p>
        </p:txBody>
      </p:sp>
      <p:sp>
        <p:nvSpPr>
          <p:cNvPr id="2" name="Slide Number Placeholder 1">
            <a:extLst>
              <a:ext uri="{FF2B5EF4-FFF2-40B4-BE49-F238E27FC236}">
                <a16:creationId xmlns:a16="http://schemas.microsoft.com/office/drawing/2014/main" id="{6660FC13-D0FE-86D1-4C53-E3B1E5A216EB}"/>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CEDD9A2-4226-D643-8DC0-A93FB6B40B6E}" type="slidenum">
              <a:rPr lang="en-US" altLang="en-US">
                <a:solidFill>
                  <a:srgbClr val="898989"/>
                </a:solidFill>
              </a:rPr>
              <a:pPr/>
              <a:t>3</a:t>
            </a:fld>
            <a:endParaRPr lang="en-US" altLang="en-US">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2D8A08F4-309B-D792-8851-26A453484297}"/>
              </a:ext>
            </a:extLst>
          </p:cNvPr>
          <p:cNvSpPr>
            <a:spLocks noGrp="1"/>
          </p:cNvSpPr>
          <p:nvPr>
            <p:ph type="title"/>
          </p:nvPr>
        </p:nvSpPr>
        <p:spPr/>
        <p:txBody>
          <a:bodyPr/>
          <a:lstStyle/>
          <a:p>
            <a:pPr eaLnBrk="1" hangingPunct="1"/>
            <a:r>
              <a:rPr lang="en-US" altLang="en-US"/>
              <a:t>Motivation for Support Vector Machines</a:t>
            </a:r>
          </a:p>
        </p:txBody>
      </p:sp>
      <p:sp>
        <p:nvSpPr>
          <p:cNvPr id="3" name="Content Placeholder 2">
            <a:extLst>
              <a:ext uri="{FF2B5EF4-FFF2-40B4-BE49-F238E27FC236}">
                <a16:creationId xmlns:a16="http://schemas.microsoft.com/office/drawing/2014/main" id="{5BE723A8-2C37-0331-9598-739B0FF6E334}"/>
              </a:ext>
            </a:extLst>
          </p:cNvPr>
          <p:cNvSpPr>
            <a:spLocks noGrp="1"/>
          </p:cNvSpPr>
          <p:nvPr>
            <p:ph idx="1"/>
          </p:nvPr>
        </p:nvSpPr>
        <p:spPr>
          <a:xfrm>
            <a:off x="838200" y="1825625"/>
            <a:ext cx="10717213" cy="4683125"/>
          </a:xfrm>
        </p:spPr>
        <p:txBody>
          <a:bodyPr rtlCol="0">
            <a:normAutofit/>
          </a:bodyPr>
          <a:lstStyle/>
          <a:p>
            <a:pPr eaLnBrk="1" fontAlgn="auto" hangingPunct="1">
              <a:spcAft>
                <a:spcPts val="0"/>
              </a:spcAft>
              <a:defRPr/>
            </a:pPr>
            <a:r>
              <a:rPr lang="en-US" dirty="0"/>
              <a:t>A Support Vector Machine models the situation by creating a </a:t>
            </a:r>
            <a:r>
              <a:rPr lang="en-US" i="1" dirty="0"/>
              <a:t>feature space</a:t>
            </a:r>
            <a:r>
              <a:rPr lang="en-US" dirty="0"/>
              <a:t>, which is a finite-dimensional vector space, each dimension of which represents a "feature" of a particular object. In the context of spam or document classification, each "feature" is the prevalence or importance of a particular word.</a:t>
            </a:r>
          </a:p>
          <a:p>
            <a:pPr eaLnBrk="1" fontAlgn="auto" hangingPunct="1">
              <a:spcAft>
                <a:spcPts val="0"/>
              </a:spcAft>
              <a:defRPr/>
            </a:pPr>
            <a:r>
              <a:rPr lang="en-US" dirty="0"/>
              <a:t>The </a:t>
            </a:r>
            <a:r>
              <a:rPr lang="en-US" b="1" dirty="0"/>
              <a:t>goal of the SVM </a:t>
            </a:r>
            <a:r>
              <a:rPr lang="en-US" dirty="0"/>
              <a:t>is to train a model that assigns new unseen objects into a particular category. </a:t>
            </a:r>
          </a:p>
          <a:p>
            <a:pPr eaLnBrk="1" fontAlgn="auto" hangingPunct="1">
              <a:spcAft>
                <a:spcPts val="0"/>
              </a:spcAft>
              <a:defRPr/>
            </a:pPr>
            <a:r>
              <a:rPr lang="en-US" dirty="0"/>
              <a:t>It achieves this by creating a linear partition of the feature space into two categories. </a:t>
            </a:r>
          </a:p>
          <a:p>
            <a:pPr eaLnBrk="1" fontAlgn="auto" hangingPunct="1">
              <a:spcAft>
                <a:spcPts val="0"/>
              </a:spcAft>
              <a:defRPr/>
            </a:pPr>
            <a:r>
              <a:rPr lang="en-US" dirty="0"/>
              <a:t>Based on the features in the new unseen objects (e.g. documents/emails), it places an object "above" or "below" the separation plane, leading to a categorization (e.g. spam or non-spam). This makes it an example of a non-probabilistic linear classifier. It is non-probabilistic, because the features in the new objects fully determine its location in feature space and there is no stochastic element involved.</a:t>
            </a:r>
          </a:p>
        </p:txBody>
      </p:sp>
      <p:sp>
        <p:nvSpPr>
          <p:cNvPr id="2" name="Slide Number Placeholder 1">
            <a:extLst>
              <a:ext uri="{FF2B5EF4-FFF2-40B4-BE49-F238E27FC236}">
                <a16:creationId xmlns:a16="http://schemas.microsoft.com/office/drawing/2014/main" id="{805939F4-D372-1594-DF4D-0897B7F1BC95}"/>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F9D5280-DF78-B543-85A4-EE551DA5043F}" type="slidenum">
              <a:rPr lang="en-US" altLang="en-US">
                <a:solidFill>
                  <a:srgbClr val="898989"/>
                </a:solidFill>
              </a:rPr>
              <a:pPr/>
              <a:t>4</a:t>
            </a:fld>
            <a:endParaRPr lang="en-US" altLang="en-US">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E0DA58DB-129E-4397-675D-1A7D9EC03BEE}"/>
              </a:ext>
            </a:extLst>
          </p:cNvPr>
          <p:cNvSpPr>
            <a:spLocks noGrp="1"/>
          </p:cNvSpPr>
          <p:nvPr>
            <p:ph type="title"/>
          </p:nvPr>
        </p:nvSpPr>
        <p:spPr/>
        <p:txBody>
          <a:bodyPr/>
          <a:lstStyle/>
          <a:p>
            <a:pPr eaLnBrk="1" hangingPunct="1"/>
            <a:r>
              <a:rPr lang="en-US" altLang="en-US"/>
              <a:t>OBJECTIVES</a:t>
            </a:r>
          </a:p>
        </p:txBody>
      </p:sp>
      <p:sp>
        <p:nvSpPr>
          <p:cNvPr id="9219" name="Content Placeholder 2">
            <a:extLst>
              <a:ext uri="{FF2B5EF4-FFF2-40B4-BE49-F238E27FC236}">
                <a16:creationId xmlns:a16="http://schemas.microsoft.com/office/drawing/2014/main" id="{3D0F54EE-D919-FABD-E201-220516E50E03}"/>
              </a:ext>
            </a:extLst>
          </p:cNvPr>
          <p:cNvSpPr>
            <a:spLocks noGrp="1"/>
          </p:cNvSpPr>
          <p:nvPr>
            <p:ph idx="1"/>
          </p:nvPr>
        </p:nvSpPr>
        <p:spPr>
          <a:xfrm>
            <a:off x="838200" y="1576778"/>
            <a:ext cx="10515600" cy="2377389"/>
          </a:xfrm>
        </p:spPr>
        <p:txBody>
          <a:bodyPr/>
          <a:lstStyle/>
          <a:p>
            <a:pPr eaLnBrk="1" hangingPunct="1"/>
            <a:r>
              <a:rPr lang="en-US" altLang="en-US" b="1" dirty="0"/>
              <a:t>Support vector machines</a:t>
            </a:r>
            <a:r>
              <a:rPr lang="en-US" altLang="en-US" dirty="0"/>
              <a:t> </a:t>
            </a:r>
            <a:r>
              <a:rPr lang="en-US" altLang="en-US" b="1" dirty="0"/>
              <a:t>(SVM) </a:t>
            </a:r>
            <a:r>
              <a:rPr lang="en-US" altLang="en-US" dirty="0"/>
              <a:t>are supervised learning models with associated learning algorithms that analyze data used for classification and regression analysis.</a:t>
            </a:r>
          </a:p>
          <a:p>
            <a:pPr eaLnBrk="1" hangingPunct="1"/>
            <a:r>
              <a:rPr lang="en-US" altLang="en-US" dirty="0"/>
              <a:t>It is a </a:t>
            </a:r>
            <a:r>
              <a:rPr lang="en-US" altLang="en-US" b="1" dirty="0"/>
              <a:t>machine learning</a:t>
            </a:r>
            <a:r>
              <a:rPr lang="en-US" altLang="en-US" dirty="0"/>
              <a:t> approach.</a:t>
            </a:r>
          </a:p>
          <a:p>
            <a:pPr eaLnBrk="1" hangingPunct="1"/>
            <a:r>
              <a:rPr lang="en-US" altLang="en-US" dirty="0"/>
              <a:t>They analyze the large amount of data to identify patterns from them.</a:t>
            </a:r>
          </a:p>
          <a:p>
            <a:pPr eaLnBrk="1" hangingPunct="1"/>
            <a:r>
              <a:rPr lang="en-US" altLang="en-US" dirty="0"/>
              <a:t>SVMs are based on the idea of finding a hyperplane that best divides a dataset into two classes, as shown in the image below.</a:t>
            </a:r>
          </a:p>
          <a:p>
            <a:pPr eaLnBrk="1" hangingPunct="1"/>
            <a:endParaRPr lang="en-US" altLang="en-US" dirty="0"/>
          </a:p>
        </p:txBody>
      </p:sp>
      <p:pic>
        <p:nvPicPr>
          <p:cNvPr id="9220" name="Picture 2" descr="tumblr_inline_o9aa8dYRkB1u37g00_540">
            <a:extLst>
              <a:ext uri="{FF2B5EF4-FFF2-40B4-BE49-F238E27FC236}">
                <a16:creationId xmlns:a16="http://schemas.microsoft.com/office/drawing/2014/main" id="{90FA89A1-4C7B-F400-D95F-C14B571BF4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8422" y="3718092"/>
            <a:ext cx="6252518" cy="3126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61F9A40B-0831-6694-DBD1-466CEA777153}"/>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AAD26AB2-6406-5644-953B-BE12D4EAF0B4}" type="slidenum">
              <a:rPr lang="en-US" altLang="en-US">
                <a:solidFill>
                  <a:srgbClr val="898989"/>
                </a:solidFill>
              </a:rPr>
              <a:pPr/>
              <a:t>5</a:t>
            </a:fld>
            <a:endParaRPr lang="en-US" altLang="en-US">
              <a:solidFill>
                <a:srgbClr val="89898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7B642091-AC8C-BE00-709E-44D33B7B690D}"/>
              </a:ext>
            </a:extLst>
          </p:cNvPr>
          <p:cNvSpPr>
            <a:spLocks noGrp="1"/>
          </p:cNvSpPr>
          <p:nvPr>
            <p:ph type="title"/>
          </p:nvPr>
        </p:nvSpPr>
        <p:spPr/>
        <p:txBody>
          <a:bodyPr/>
          <a:lstStyle/>
          <a:p>
            <a:pPr eaLnBrk="1" hangingPunct="1"/>
            <a:r>
              <a:rPr lang="en-US" altLang="en-US"/>
              <a:t>Support Vectors</a:t>
            </a:r>
          </a:p>
        </p:txBody>
      </p:sp>
      <p:sp>
        <p:nvSpPr>
          <p:cNvPr id="3" name="Content Placeholder 2">
            <a:extLst>
              <a:ext uri="{FF2B5EF4-FFF2-40B4-BE49-F238E27FC236}">
                <a16:creationId xmlns:a16="http://schemas.microsoft.com/office/drawing/2014/main" id="{24D86C29-3A95-5D81-359B-F9B407F6A0F2}"/>
              </a:ext>
            </a:extLst>
          </p:cNvPr>
          <p:cNvSpPr>
            <a:spLocks noGrp="1"/>
          </p:cNvSpPr>
          <p:nvPr>
            <p:ph idx="1"/>
          </p:nvPr>
        </p:nvSpPr>
        <p:spPr>
          <a:xfrm>
            <a:off x="838200" y="1481138"/>
            <a:ext cx="10515600" cy="5075237"/>
          </a:xfrm>
        </p:spPr>
        <p:txBody>
          <a:bodyPr rtlCol="0">
            <a:normAutofit/>
          </a:bodyPr>
          <a:lstStyle/>
          <a:p>
            <a:pPr eaLnBrk="1" fontAlgn="auto" hangingPunct="1">
              <a:spcAft>
                <a:spcPts val="0"/>
              </a:spcAft>
              <a:defRPr/>
            </a:pPr>
            <a:r>
              <a:rPr lang="en-US" dirty="0"/>
              <a:t>Support Vectors are simply the co-ordinates of individual observation. Support Vector Machine is a frontier which best segregates the two classes (hyper-plane/ line).</a:t>
            </a:r>
          </a:p>
          <a:p>
            <a:pPr eaLnBrk="1" fontAlgn="auto" hangingPunct="1">
              <a:spcAft>
                <a:spcPts val="0"/>
              </a:spcAft>
              <a:defRPr/>
            </a:pPr>
            <a:r>
              <a:rPr lang="en-US" dirty="0"/>
              <a:t>Support vectors are the data points that lie closest to the decision surface (or hyperplane) </a:t>
            </a:r>
          </a:p>
          <a:p>
            <a:pPr eaLnBrk="1" fontAlgn="auto" hangingPunct="1">
              <a:spcAft>
                <a:spcPts val="0"/>
              </a:spcAft>
              <a:defRPr/>
            </a:pPr>
            <a:r>
              <a:rPr lang="en-US" dirty="0"/>
              <a:t>They are the data points most difficult to classify </a:t>
            </a:r>
          </a:p>
          <a:p>
            <a:pPr eaLnBrk="1" fontAlgn="auto" hangingPunct="1">
              <a:spcAft>
                <a:spcPts val="0"/>
              </a:spcAft>
              <a:defRPr/>
            </a:pPr>
            <a:r>
              <a:rPr lang="en-US" dirty="0"/>
              <a:t>They have a direct bearing on the optimum location of the decision surface</a:t>
            </a:r>
          </a:p>
          <a:p>
            <a:pPr eaLnBrk="1" fontAlgn="auto" hangingPunct="1">
              <a:spcAft>
                <a:spcPts val="0"/>
              </a:spcAft>
              <a:defRPr/>
            </a:pPr>
            <a:r>
              <a:rPr lang="en-US" dirty="0"/>
              <a:t>Support vectors are the data points nearest to the hyperplane, the points of a data set that, if removed, would alter the position of the dividing hyperplane. Because of this, they can be considered the critical elements of a dataset.</a:t>
            </a:r>
          </a:p>
        </p:txBody>
      </p:sp>
      <p:sp>
        <p:nvSpPr>
          <p:cNvPr id="2" name="Slide Number Placeholder 1">
            <a:extLst>
              <a:ext uri="{FF2B5EF4-FFF2-40B4-BE49-F238E27FC236}">
                <a16:creationId xmlns:a16="http://schemas.microsoft.com/office/drawing/2014/main" id="{4A121302-071A-34EC-35EB-F8259560A8D7}"/>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3116BD5-63F5-FB4A-B554-EAC7A2963200}" type="slidenum">
              <a:rPr lang="en-US" altLang="en-US">
                <a:solidFill>
                  <a:srgbClr val="898989"/>
                </a:solidFill>
              </a:rPr>
              <a:pPr/>
              <a:t>6</a:t>
            </a:fld>
            <a:endParaRPr lang="en-US" altLang="en-US">
              <a:solidFill>
                <a:srgbClr val="89898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E7E95E5B-DDC5-4E9F-00E0-87B7B4B58BBE}"/>
              </a:ext>
            </a:extLst>
          </p:cNvPr>
          <p:cNvSpPr>
            <a:spLocks noGrp="1"/>
          </p:cNvSpPr>
          <p:nvPr>
            <p:ph type="title"/>
          </p:nvPr>
        </p:nvSpPr>
        <p:spPr/>
        <p:txBody>
          <a:bodyPr/>
          <a:lstStyle/>
          <a:p>
            <a:pPr eaLnBrk="1" hangingPunct="1"/>
            <a:r>
              <a:rPr lang="en-US" altLang="en-US"/>
              <a:t>What is a hyperplane?</a:t>
            </a:r>
          </a:p>
        </p:txBody>
      </p:sp>
      <p:sp>
        <p:nvSpPr>
          <p:cNvPr id="11267" name="Content Placeholder 2">
            <a:extLst>
              <a:ext uri="{FF2B5EF4-FFF2-40B4-BE49-F238E27FC236}">
                <a16:creationId xmlns:a16="http://schemas.microsoft.com/office/drawing/2014/main" id="{C4EC82D8-FF05-857A-2C6C-2854856F7D29}"/>
              </a:ext>
            </a:extLst>
          </p:cNvPr>
          <p:cNvSpPr>
            <a:spLocks noGrp="1"/>
          </p:cNvSpPr>
          <p:nvPr>
            <p:ph idx="1"/>
          </p:nvPr>
        </p:nvSpPr>
        <p:spPr/>
        <p:txBody>
          <a:bodyPr/>
          <a:lstStyle/>
          <a:p>
            <a:pPr eaLnBrk="1" hangingPunct="1"/>
            <a:r>
              <a:rPr lang="en-US" altLang="en-US"/>
              <a:t>As a simple example, for a classification task with only two features, you can think of a hyperplane as a line that linearly separates and classifies a set of data.</a:t>
            </a:r>
          </a:p>
          <a:p>
            <a:pPr eaLnBrk="1" hangingPunct="1"/>
            <a:r>
              <a:rPr lang="en-US" altLang="en-US"/>
              <a:t>Intuitively, the further from the hyperplane our data points lie, the more confident we are that they have been correctly classified. We therefore want our data points to be as far away from the hyperplane as possible, while still being on the correct side of it.</a:t>
            </a:r>
          </a:p>
          <a:p>
            <a:pPr eaLnBrk="1" hangingPunct="1"/>
            <a:r>
              <a:rPr lang="en-US" altLang="en-US"/>
              <a:t>So when new testing data are added, whatever side of the hyperplane it lands will decide the class that we assign to it.</a:t>
            </a:r>
          </a:p>
          <a:p>
            <a:pPr eaLnBrk="1" hangingPunct="1"/>
            <a:endParaRPr lang="en-US" altLang="en-US"/>
          </a:p>
        </p:txBody>
      </p:sp>
      <p:sp>
        <p:nvSpPr>
          <p:cNvPr id="2" name="Slide Number Placeholder 1">
            <a:extLst>
              <a:ext uri="{FF2B5EF4-FFF2-40B4-BE49-F238E27FC236}">
                <a16:creationId xmlns:a16="http://schemas.microsoft.com/office/drawing/2014/main" id="{FF32FF9B-F224-62AF-4FC6-98961BAD1E3B}"/>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844011E0-1B53-B64F-AA35-607E6993B68F}" type="slidenum">
              <a:rPr lang="en-US" altLang="en-US">
                <a:solidFill>
                  <a:srgbClr val="898989"/>
                </a:solidFill>
              </a:rPr>
              <a:pPr/>
              <a:t>7</a:t>
            </a:fld>
            <a:endParaRPr lang="en-US" altLang="en-US">
              <a:solidFill>
                <a:srgbClr val="89898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12F58F65-DDB7-DD15-D6C2-E70C22D9447C}"/>
              </a:ext>
            </a:extLst>
          </p:cNvPr>
          <p:cNvSpPr>
            <a:spLocks noGrp="1"/>
          </p:cNvSpPr>
          <p:nvPr>
            <p:ph type="title"/>
          </p:nvPr>
        </p:nvSpPr>
        <p:spPr/>
        <p:txBody>
          <a:bodyPr/>
          <a:lstStyle/>
          <a:p>
            <a:pPr eaLnBrk="1" hangingPunct="1"/>
            <a:r>
              <a:rPr lang="en-US" altLang="en-US"/>
              <a:t>How do we find the right hyperplane?</a:t>
            </a:r>
          </a:p>
        </p:txBody>
      </p:sp>
      <p:sp>
        <p:nvSpPr>
          <p:cNvPr id="12291" name="Content Placeholder 2">
            <a:extLst>
              <a:ext uri="{FF2B5EF4-FFF2-40B4-BE49-F238E27FC236}">
                <a16:creationId xmlns:a16="http://schemas.microsoft.com/office/drawing/2014/main" id="{6C898D5B-AB04-E77C-9F41-78F26B6542E6}"/>
              </a:ext>
            </a:extLst>
          </p:cNvPr>
          <p:cNvSpPr>
            <a:spLocks noGrp="1"/>
          </p:cNvSpPr>
          <p:nvPr>
            <p:ph idx="1"/>
          </p:nvPr>
        </p:nvSpPr>
        <p:spPr>
          <a:xfrm>
            <a:off x="838200" y="1430338"/>
            <a:ext cx="10515600" cy="4746625"/>
          </a:xfrm>
        </p:spPr>
        <p:txBody>
          <a:bodyPr/>
          <a:lstStyle/>
          <a:p>
            <a:pPr eaLnBrk="1" hangingPunct="1"/>
            <a:r>
              <a:rPr lang="en-US" altLang="en-US"/>
              <a:t>How do we best segregate the two classes within the data?</a:t>
            </a:r>
          </a:p>
          <a:p>
            <a:pPr eaLnBrk="1" hangingPunct="1"/>
            <a:r>
              <a:rPr lang="en-US" altLang="en-US"/>
              <a:t>The distance between the hyperplane and the nearest data point from either set is known as the </a:t>
            </a:r>
            <a:r>
              <a:rPr lang="en-US" altLang="en-US" b="1">
                <a:solidFill>
                  <a:srgbClr val="0070C0"/>
                </a:solidFill>
              </a:rPr>
              <a:t>margin</a:t>
            </a:r>
            <a:r>
              <a:rPr lang="en-US" altLang="en-US"/>
              <a:t>. The goal is to choose a hyperplane with the greatest possible margin between the hyperplane and any point within the training set, giving a greater chance of new data being classified correctly. </a:t>
            </a:r>
            <a:r>
              <a:rPr lang="en-US" altLang="en-US" b="1"/>
              <a:t>There will never be any data point inside the margin.</a:t>
            </a:r>
            <a:endParaRPr lang="en-US" altLang="en-US"/>
          </a:p>
          <a:p>
            <a:pPr eaLnBrk="1" hangingPunct="1"/>
            <a:endParaRPr lang="en-US" altLang="en-US"/>
          </a:p>
        </p:txBody>
      </p:sp>
      <p:pic>
        <p:nvPicPr>
          <p:cNvPr id="12292" name="Picture 2" descr="tumblr_inline_o9aa9nH3WQ1u37g00_540">
            <a:extLst>
              <a:ext uri="{FF2B5EF4-FFF2-40B4-BE49-F238E27FC236}">
                <a16:creationId xmlns:a16="http://schemas.microsoft.com/office/drawing/2014/main" id="{6BD7E670-0CF9-24CD-33A8-263A322321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4013" y="4768850"/>
            <a:ext cx="3863975"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351B788B-1BAE-D393-B6D4-1348AD2ECDB9}"/>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E04BD59-2410-5143-ABF1-B59ED8E8F521}" type="slidenum">
              <a:rPr lang="en-US" altLang="en-US">
                <a:solidFill>
                  <a:srgbClr val="898989"/>
                </a:solidFill>
              </a:rPr>
              <a:pPr/>
              <a:t>8</a:t>
            </a:fld>
            <a:endParaRPr lang="en-US" altLang="en-US">
              <a:solidFill>
                <a:srgbClr val="89898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D24E38D5-7AFF-0DD3-188F-830CEA87BED5}"/>
              </a:ext>
            </a:extLst>
          </p:cNvPr>
          <p:cNvSpPr>
            <a:spLocks noGrp="1"/>
          </p:cNvSpPr>
          <p:nvPr>
            <p:ph type="title"/>
          </p:nvPr>
        </p:nvSpPr>
        <p:spPr/>
        <p:txBody>
          <a:bodyPr/>
          <a:lstStyle/>
          <a:p>
            <a:pPr eaLnBrk="1" hangingPunct="1"/>
            <a:r>
              <a:rPr lang="en-US" altLang="en-US"/>
              <a:t>But what happens when there is no clear hyperplane?</a:t>
            </a:r>
          </a:p>
        </p:txBody>
      </p:sp>
      <p:sp>
        <p:nvSpPr>
          <p:cNvPr id="13315" name="Content Placeholder 2">
            <a:extLst>
              <a:ext uri="{FF2B5EF4-FFF2-40B4-BE49-F238E27FC236}">
                <a16:creationId xmlns:a16="http://schemas.microsoft.com/office/drawing/2014/main" id="{ACFF10C3-71EF-3741-EECB-BD6F3FB61D6D}"/>
              </a:ext>
            </a:extLst>
          </p:cNvPr>
          <p:cNvSpPr>
            <a:spLocks noGrp="1"/>
          </p:cNvSpPr>
          <p:nvPr>
            <p:ph idx="1"/>
          </p:nvPr>
        </p:nvSpPr>
        <p:spPr>
          <a:xfrm>
            <a:off x="838200" y="1538288"/>
            <a:ext cx="10799763" cy="5178425"/>
          </a:xfrm>
        </p:spPr>
        <p:txBody>
          <a:bodyPr/>
          <a:lstStyle/>
          <a:p>
            <a:pPr eaLnBrk="1" hangingPunct="1"/>
            <a:r>
              <a:rPr lang="en-US" altLang="en-US" dirty="0"/>
              <a:t>Data are rarely ever as clean as our simple example above. A dataset will often look more like the jumbled balls below which represent a linearly non separable dataset.</a:t>
            </a:r>
          </a:p>
          <a:p>
            <a:pPr marL="0" indent="0" eaLnBrk="1" hangingPunct="1">
              <a:buNone/>
            </a:pPr>
            <a:endParaRPr lang="en-US" altLang="en-US" dirty="0"/>
          </a:p>
          <a:p>
            <a:pPr eaLnBrk="1" hangingPunct="1"/>
            <a:r>
              <a:rPr lang="en-US" altLang="en-US" dirty="0"/>
              <a:t>In order to classify a dataset like the one above it’s necessary to move away from a 2d view of the data to a 3d view. Explaining this is easiest with another simplified example. Imagine that our two sets of colored balls above are sitting on a sheet and this sheet is lifted suddenly, launching the balls into the air. While the balls are up in the air, you use the sheet to separate them. This ‘lifting’ of the balls represents the mapping of data into a higher dimension. This is known as </a:t>
            </a:r>
            <a:r>
              <a:rPr lang="en-US" altLang="en-US" b="1" dirty="0">
                <a:solidFill>
                  <a:srgbClr val="FF0000"/>
                </a:solidFill>
              </a:rPr>
              <a:t>kernelling</a:t>
            </a:r>
            <a:r>
              <a:rPr lang="en-US" altLang="en-US" dirty="0"/>
              <a:t>.</a:t>
            </a:r>
          </a:p>
        </p:txBody>
      </p:sp>
      <p:pic>
        <p:nvPicPr>
          <p:cNvPr id="13316" name="Picture 2" descr="tumblr_inline_o9aaafOy3F1u37g00_540">
            <a:extLst>
              <a:ext uri="{FF2B5EF4-FFF2-40B4-BE49-F238E27FC236}">
                <a16:creationId xmlns:a16="http://schemas.microsoft.com/office/drawing/2014/main" id="{5A0FBDA8-782B-B75C-6961-6AD9462DBD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4532" y="4531861"/>
            <a:ext cx="4369704" cy="2184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C670EC83-7D33-AA36-C49D-53E4E24B4239}"/>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C891A6A8-B1FB-B84C-B7DB-C1C64560BF98}" type="slidenum">
              <a:rPr lang="en-US" altLang="en-US">
                <a:solidFill>
                  <a:srgbClr val="898989"/>
                </a:solidFill>
              </a:rPr>
              <a:pPr/>
              <a:t>9</a:t>
            </a:fld>
            <a:endParaRPr lang="en-US" altLang="en-US">
              <a:solidFill>
                <a:srgbClr val="89898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C0A2BF29-0795-A297-86F5-760986E9A8F1}"/>
              </a:ext>
            </a:extLst>
          </p:cNvPr>
          <p:cNvSpPr>
            <a:spLocks noGrp="1"/>
          </p:cNvSpPr>
          <p:nvPr>
            <p:ph type="title"/>
          </p:nvPr>
        </p:nvSpPr>
        <p:spPr>
          <a:xfrm>
            <a:off x="2068513" y="336550"/>
            <a:ext cx="10515600" cy="1325563"/>
          </a:xfrm>
        </p:spPr>
        <p:txBody>
          <a:bodyPr/>
          <a:lstStyle/>
          <a:p>
            <a:pPr eaLnBrk="1" hangingPunct="1"/>
            <a:r>
              <a:rPr lang="en-US" altLang="en-US"/>
              <a:t> </a:t>
            </a:r>
          </a:p>
        </p:txBody>
      </p:sp>
      <p:sp>
        <p:nvSpPr>
          <p:cNvPr id="14339" name="Content Placeholder 2">
            <a:extLst>
              <a:ext uri="{FF2B5EF4-FFF2-40B4-BE49-F238E27FC236}">
                <a16:creationId xmlns:a16="http://schemas.microsoft.com/office/drawing/2014/main" id="{CE0021DD-2B9E-43BA-E0F9-8319BAEAAEEE}"/>
              </a:ext>
            </a:extLst>
          </p:cNvPr>
          <p:cNvSpPr>
            <a:spLocks noGrp="1"/>
          </p:cNvSpPr>
          <p:nvPr>
            <p:ph idx="1"/>
          </p:nvPr>
        </p:nvSpPr>
        <p:spPr>
          <a:xfrm>
            <a:off x="681038" y="5287533"/>
            <a:ext cx="10515600" cy="1191826"/>
          </a:xfrm>
        </p:spPr>
        <p:txBody>
          <a:bodyPr/>
          <a:lstStyle/>
          <a:p>
            <a:pPr marL="0" indent="0" eaLnBrk="1" hangingPunct="1">
              <a:buFont typeface="Arial" panose="020B0604020202020204" pitchFamily="34" charset="0"/>
              <a:buNone/>
            </a:pPr>
            <a:r>
              <a:rPr lang="en-US" altLang="en-US" dirty="0"/>
              <a:t> Because we are now in three dimensions, our hyperplane can no longer be a line. It must now be a plane as shown in the example above. The idea is that the data will continue to be mapped into higher and higher dimensions until a hyperplane can be formed to segregate it.</a:t>
            </a:r>
          </a:p>
        </p:txBody>
      </p:sp>
      <p:pic>
        <p:nvPicPr>
          <p:cNvPr id="14340" name="Picture 2" descr="tumblr_inline_o9aabehtqP1u37g00_540">
            <a:extLst>
              <a:ext uri="{FF2B5EF4-FFF2-40B4-BE49-F238E27FC236}">
                <a16:creationId xmlns:a16="http://schemas.microsoft.com/office/drawing/2014/main" id="{C62FC4B9-1F69-DD1B-CADA-19753AF5BD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1305" y="1410430"/>
            <a:ext cx="7300913" cy="364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6F3DBE58-7B2C-CAB7-A66F-7542A0217B74}"/>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10DCDCF-7CE0-F840-9B9B-154EDABD6C89}" type="slidenum">
              <a:rPr lang="en-US" altLang="en-US">
                <a:solidFill>
                  <a:srgbClr val="898989"/>
                </a:solidFill>
              </a:rPr>
              <a:pPr/>
              <a:t>10</a:t>
            </a:fld>
            <a:endParaRPr lang="en-US" altLang="en-US">
              <a:solidFill>
                <a:srgbClr val="89898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FBB791F0-1710-CF68-402A-30070D5B6ABB}"/>
              </a:ext>
            </a:extLst>
          </p:cNvPr>
          <p:cNvSpPr>
            <a:spLocks noGrp="1"/>
          </p:cNvSpPr>
          <p:nvPr>
            <p:ph type="title"/>
          </p:nvPr>
        </p:nvSpPr>
        <p:spPr/>
        <p:txBody>
          <a:bodyPr/>
          <a:lstStyle/>
          <a:p>
            <a:pPr eaLnBrk="1" hangingPunct="1"/>
            <a:r>
              <a:rPr lang="en-US" altLang="en-US"/>
              <a:t>How does it work? How can we identify the right hyper-plane?</a:t>
            </a:r>
          </a:p>
        </p:txBody>
      </p:sp>
      <p:sp>
        <p:nvSpPr>
          <p:cNvPr id="3" name="Content Placeholder 2">
            <a:extLst>
              <a:ext uri="{FF2B5EF4-FFF2-40B4-BE49-F238E27FC236}">
                <a16:creationId xmlns:a16="http://schemas.microsoft.com/office/drawing/2014/main" id="{E480A801-3F91-715A-086E-F2D955C58B99}"/>
              </a:ext>
            </a:extLst>
          </p:cNvPr>
          <p:cNvSpPr>
            <a:spLocks noGrp="1"/>
          </p:cNvSpPr>
          <p:nvPr>
            <p:ph idx="1"/>
          </p:nvPr>
        </p:nvSpPr>
        <p:spPr>
          <a:xfrm>
            <a:off x="746125" y="2432050"/>
            <a:ext cx="10515600" cy="3013075"/>
          </a:xfrm>
        </p:spPr>
        <p:txBody>
          <a:bodyPr rtlCol="0">
            <a:normAutofit/>
          </a:bodyPr>
          <a:lstStyle/>
          <a:p>
            <a:pPr eaLnBrk="1" fontAlgn="auto" hangingPunct="1">
              <a:spcAft>
                <a:spcPts val="0"/>
              </a:spcAft>
              <a:defRPr/>
            </a:pPr>
            <a:r>
              <a:rPr lang="en-US" sz="3200" dirty="0"/>
              <a:t>You need to remember a thumb rule to identify the right hyper-plane: </a:t>
            </a:r>
          </a:p>
          <a:p>
            <a:pPr marL="0" indent="0" algn="ctr" eaLnBrk="1" fontAlgn="auto" hangingPunct="1">
              <a:spcAft>
                <a:spcPts val="0"/>
              </a:spcAft>
              <a:buFont typeface="Arial" panose="020B0604020202020204" pitchFamily="34" charset="0"/>
              <a:buNone/>
              <a:defRPr/>
            </a:pPr>
            <a:r>
              <a:rPr lang="en-US" sz="3600" dirty="0">
                <a:solidFill>
                  <a:srgbClr val="FF0000"/>
                </a:solidFill>
              </a:rPr>
              <a:t>“Select the hyper-plane which segregates the two classes better”. </a:t>
            </a:r>
          </a:p>
        </p:txBody>
      </p:sp>
      <p:sp>
        <p:nvSpPr>
          <p:cNvPr id="2" name="Slide Number Placeholder 1">
            <a:extLst>
              <a:ext uri="{FF2B5EF4-FFF2-40B4-BE49-F238E27FC236}">
                <a16:creationId xmlns:a16="http://schemas.microsoft.com/office/drawing/2014/main" id="{745C630F-A915-2441-1D03-996BC247F77A}"/>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05F5D7D1-2CF7-1041-B2CD-26F7D360E4A7}" type="slidenum">
              <a:rPr lang="en-US" altLang="en-US">
                <a:solidFill>
                  <a:srgbClr val="898989"/>
                </a:solidFill>
              </a:rPr>
              <a:pPr/>
              <a:t>11</a:t>
            </a:fld>
            <a:endParaRPr lang="en-US" altLang="en-US">
              <a:solidFill>
                <a:srgbClr val="89898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4D4E76E1-3234-DC3F-2359-6F78E7B2039B}"/>
              </a:ext>
            </a:extLst>
          </p:cNvPr>
          <p:cNvSpPr>
            <a:spLocks noGrp="1"/>
          </p:cNvSpPr>
          <p:nvPr>
            <p:ph type="title"/>
          </p:nvPr>
        </p:nvSpPr>
        <p:spPr/>
        <p:txBody>
          <a:bodyPr/>
          <a:lstStyle/>
          <a:p>
            <a:pPr eaLnBrk="1" hangingPunct="1"/>
            <a:r>
              <a:rPr lang="en-US" altLang="en-US" b="1"/>
              <a:t>Identify the right hyperplane (Scenario-1): </a:t>
            </a:r>
            <a:endParaRPr lang="en-US" altLang="en-US"/>
          </a:p>
        </p:txBody>
      </p:sp>
      <p:sp>
        <p:nvSpPr>
          <p:cNvPr id="3" name="Content Placeholder 2">
            <a:extLst>
              <a:ext uri="{FF2B5EF4-FFF2-40B4-BE49-F238E27FC236}">
                <a16:creationId xmlns:a16="http://schemas.microsoft.com/office/drawing/2014/main" id="{D85D8192-93EA-524F-90EF-1EC79E631725}"/>
              </a:ext>
            </a:extLst>
          </p:cNvPr>
          <p:cNvSpPr>
            <a:spLocks noGrp="1"/>
          </p:cNvSpPr>
          <p:nvPr>
            <p:ph idx="1"/>
          </p:nvPr>
        </p:nvSpPr>
        <p:spPr>
          <a:xfrm>
            <a:off x="838200" y="1825625"/>
            <a:ext cx="10774363" cy="4538663"/>
          </a:xfrm>
        </p:spPr>
        <p:txBody>
          <a:bodyPr rtlCol="0">
            <a:normAutofit/>
          </a:bodyPr>
          <a:lstStyle/>
          <a:p>
            <a:pPr eaLnBrk="1" fontAlgn="auto" hangingPunct="1">
              <a:spcAft>
                <a:spcPts val="0"/>
              </a:spcAft>
              <a:defRPr/>
            </a:pPr>
            <a:r>
              <a:rPr lang="en-US" dirty="0"/>
              <a:t>Here, we have three hyperplanes (A, B and C). Now, identify the right hyperplane to classify star and circle.</a:t>
            </a:r>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r>
              <a:rPr lang="en-US" dirty="0"/>
              <a:t>Hyperplane “B” has excellently performed this job.</a:t>
            </a:r>
          </a:p>
          <a:p>
            <a:pPr marL="0" indent="0" eaLnBrk="1" fontAlgn="auto" hangingPunct="1">
              <a:spcAft>
                <a:spcPts val="0"/>
              </a:spcAft>
              <a:buFont typeface="Arial" panose="020B0604020202020204" pitchFamily="34" charset="0"/>
              <a:buNone/>
              <a:defRPr/>
            </a:pPr>
            <a:endParaRPr lang="en-US" dirty="0"/>
          </a:p>
          <a:p>
            <a:pPr eaLnBrk="1" fontAlgn="auto" hangingPunct="1">
              <a:spcAft>
                <a:spcPts val="0"/>
              </a:spcAft>
              <a:defRPr/>
            </a:pPr>
            <a:endParaRPr lang="en-US" dirty="0"/>
          </a:p>
        </p:txBody>
      </p:sp>
      <p:pic>
        <p:nvPicPr>
          <p:cNvPr id="16388" name="Picture 2" descr="SVM_2">
            <a:extLst>
              <a:ext uri="{FF2B5EF4-FFF2-40B4-BE49-F238E27FC236}">
                <a16:creationId xmlns:a16="http://schemas.microsoft.com/office/drawing/2014/main" id="{B3E663E5-B1CD-6488-DD3A-65E635579F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9827" y="2183156"/>
            <a:ext cx="5016285" cy="3545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CC6564AB-EFDE-D861-2111-08561FB213FA}"/>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CBA2C465-1A67-5D4C-A92E-EF4163863C24}" type="slidenum">
              <a:rPr lang="en-US" altLang="en-US">
                <a:solidFill>
                  <a:srgbClr val="898989"/>
                </a:solidFill>
              </a:rPr>
              <a:pPr/>
              <a:t>12</a:t>
            </a:fld>
            <a:endParaRPr lang="en-US" altLang="en-US">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B6DBD480-9CA3-66DF-374F-6FB54501F753}"/>
              </a:ext>
            </a:extLst>
          </p:cNvPr>
          <p:cNvSpPr>
            <a:spLocks noGrp="1"/>
          </p:cNvSpPr>
          <p:nvPr>
            <p:ph type="title"/>
          </p:nvPr>
        </p:nvSpPr>
        <p:spPr/>
        <p:txBody>
          <a:bodyPr/>
          <a:lstStyle/>
          <a:p>
            <a:pPr eaLnBrk="1" hangingPunct="1"/>
            <a:r>
              <a:rPr lang="en-US" altLang="en-US" b="1"/>
              <a:t>Identify the right hyperplane (Scenario-2):</a:t>
            </a:r>
            <a:endParaRPr lang="en-US" altLang="en-US"/>
          </a:p>
        </p:txBody>
      </p:sp>
      <p:sp>
        <p:nvSpPr>
          <p:cNvPr id="17411" name="Content Placeholder 2">
            <a:extLst>
              <a:ext uri="{FF2B5EF4-FFF2-40B4-BE49-F238E27FC236}">
                <a16:creationId xmlns:a16="http://schemas.microsoft.com/office/drawing/2014/main" id="{3E78CFE1-CA2F-F674-B55A-113DBDB2B5AB}"/>
              </a:ext>
            </a:extLst>
          </p:cNvPr>
          <p:cNvSpPr>
            <a:spLocks noGrp="1"/>
          </p:cNvSpPr>
          <p:nvPr>
            <p:ph idx="1"/>
          </p:nvPr>
        </p:nvSpPr>
        <p:spPr/>
        <p:txBody>
          <a:bodyPr/>
          <a:lstStyle/>
          <a:p>
            <a:pPr eaLnBrk="1" hangingPunct="1"/>
            <a:r>
              <a:rPr lang="en-US" altLang="en-US"/>
              <a:t>Here, we have three hyperplanes (A, B and C) and all are segregating the classes well. Now, how can we identify the right hyperplane?</a:t>
            </a:r>
          </a:p>
        </p:txBody>
      </p:sp>
      <p:pic>
        <p:nvPicPr>
          <p:cNvPr id="17412" name="Picture 2" descr="SVM_3">
            <a:extLst>
              <a:ext uri="{FF2B5EF4-FFF2-40B4-BE49-F238E27FC236}">
                <a16:creationId xmlns:a16="http://schemas.microsoft.com/office/drawing/2014/main" id="{F4AB8BAC-BE80-4897-1B88-F081B911B6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363" y="2789238"/>
            <a:ext cx="4533900"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TextBox 3">
            <a:extLst>
              <a:ext uri="{FF2B5EF4-FFF2-40B4-BE49-F238E27FC236}">
                <a16:creationId xmlns:a16="http://schemas.microsoft.com/office/drawing/2014/main" id="{51026631-12FB-02A4-17B9-72DE310B1E66}"/>
              </a:ext>
            </a:extLst>
          </p:cNvPr>
          <p:cNvSpPr txBox="1">
            <a:spLocks noChangeArrowheads="1"/>
          </p:cNvSpPr>
          <p:nvPr/>
        </p:nvSpPr>
        <p:spPr bwMode="auto">
          <a:xfrm>
            <a:off x="5659438" y="2908300"/>
            <a:ext cx="5551487"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a:t>Here, maximizing the distances between nearest data point (either class) and hyperplane will help us to decide the right hyperplane. </a:t>
            </a:r>
          </a:p>
        </p:txBody>
      </p:sp>
      <p:sp>
        <p:nvSpPr>
          <p:cNvPr id="2" name="Slide Number Placeholder 1">
            <a:extLst>
              <a:ext uri="{FF2B5EF4-FFF2-40B4-BE49-F238E27FC236}">
                <a16:creationId xmlns:a16="http://schemas.microsoft.com/office/drawing/2014/main" id="{7E9F8546-7FD5-98A1-7FB1-351EFF5F14E7}"/>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950F226-42E9-DF4A-9008-49FBCDA514F3}" type="slidenum">
              <a:rPr lang="en-US" altLang="en-US">
                <a:solidFill>
                  <a:srgbClr val="898989"/>
                </a:solidFill>
              </a:rPr>
              <a:pPr/>
              <a:t>13</a:t>
            </a:fld>
            <a:endParaRPr lang="en-US" altLang="en-US">
              <a:solidFill>
                <a:srgbClr val="89898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92923939-B55E-500A-9562-9C4B36ABCA72}"/>
              </a:ext>
            </a:extLst>
          </p:cNvPr>
          <p:cNvSpPr>
            <a:spLocks noGrp="1" noChangeArrowheads="1"/>
          </p:cNvSpPr>
          <p:nvPr>
            <p:ph type="title"/>
          </p:nvPr>
        </p:nvSpPr>
        <p:spPr/>
        <p:txBody>
          <a:bodyPr/>
          <a:lstStyle/>
          <a:p>
            <a:r>
              <a:rPr lang="en-US" altLang="en-US" dirty="0"/>
              <a:t>Linear Separators </a:t>
            </a:r>
          </a:p>
        </p:txBody>
      </p:sp>
      <p:sp>
        <p:nvSpPr>
          <p:cNvPr id="165891" name="Rectangle 3">
            <a:extLst>
              <a:ext uri="{FF2B5EF4-FFF2-40B4-BE49-F238E27FC236}">
                <a16:creationId xmlns:a16="http://schemas.microsoft.com/office/drawing/2014/main" id="{B636B94B-6D72-9368-3D94-B6F3990834AB}"/>
              </a:ext>
            </a:extLst>
          </p:cNvPr>
          <p:cNvSpPr>
            <a:spLocks noGrp="1" noChangeArrowheads="1"/>
          </p:cNvSpPr>
          <p:nvPr>
            <p:ph type="body" idx="1"/>
          </p:nvPr>
        </p:nvSpPr>
        <p:spPr>
          <a:xfrm>
            <a:off x="2133600" y="1504950"/>
            <a:ext cx="8229600" cy="5029200"/>
          </a:xfrm>
        </p:spPr>
        <p:txBody>
          <a:bodyPr/>
          <a:lstStyle/>
          <a:p>
            <a:r>
              <a:rPr lang="en-US" altLang="en-US" sz="2800"/>
              <a:t>Binary classification can be viewed as the task of separating classes in feature space:</a:t>
            </a:r>
          </a:p>
        </p:txBody>
      </p:sp>
      <p:sp>
        <p:nvSpPr>
          <p:cNvPr id="165892" name="Line 4">
            <a:extLst>
              <a:ext uri="{FF2B5EF4-FFF2-40B4-BE49-F238E27FC236}">
                <a16:creationId xmlns:a16="http://schemas.microsoft.com/office/drawing/2014/main" id="{623126F6-4425-38F9-BFF2-E198B5C4AD62}"/>
              </a:ext>
            </a:extLst>
          </p:cNvPr>
          <p:cNvSpPr>
            <a:spLocks noChangeShapeType="1"/>
          </p:cNvSpPr>
          <p:nvPr/>
        </p:nvSpPr>
        <p:spPr bwMode="auto">
          <a:xfrm flipV="1">
            <a:off x="2420938" y="3054350"/>
            <a:ext cx="0" cy="30416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65893" name="Line 5">
            <a:extLst>
              <a:ext uri="{FF2B5EF4-FFF2-40B4-BE49-F238E27FC236}">
                <a16:creationId xmlns:a16="http://schemas.microsoft.com/office/drawing/2014/main" id="{FC80350A-4538-92E1-ADEC-A8722D778BBD}"/>
              </a:ext>
            </a:extLst>
          </p:cNvPr>
          <p:cNvSpPr>
            <a:spLocks noChangeShapeType="1"/>
          </p:cNvSpPr>
          <p:nvPr/>
        </p:nvSpPr>
        <p:spPr bwMode="auto">
          <a:xfrm flipV="1">
            <a:off x="2286001" y="5980113"/>
            <a:ext cx="40814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65894" name="AutoShape 6">
            <a:extLst>
              <a:ext uri="{FF2B5EF4-FFF2-40B4-BE49-F238E27FC236}">
                <a16:creationId xmlns:a16="http://schemas.microsoft.com/office/drawing/2014/main" id="{800E096B-3C1B-1F9A-D23B-27CB199473A4}"/>
              </a:ext>
            </a:extLst>
          </p:cNvPr>
          <p:cNvSpPr>
            <a:spLocks noChangeArrowheads="1"/>
          </p:cNvSpPr>
          <p:nvPr/>
        </p:nvSpPr>
        <p:spPr bwMode="auto">
          <a:xfrm>
            <a:off x="3460750" y="381000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895" name="AutoShape 7">
            <a:extLst>
              <a:ext uri="{FF2B5EF4-FFF2-40B4-BE49-F238E27FC236}">
                <a16:creationId xmlns:a16="http://schemas.microsoft.com/office/drawing/2014/main" id="{83962EFE-A863-3153-0739-AE173EC77F5A}"/>
              </a:ext>
            </a:extLst>
          </p:cNvPr>
          <p:cNvSpPr>
            <a:spLocks noChangeArrowheads="1"/>
          </p:cNvSpPr>
          <p:nvPr/>
        </p:nvSpPr>
        <p:spPr bwMode="auto">
          <a:xfrm>
            <a:off x="2886075" y="41671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896" name="AutoShape 8">
            <a:extLst>
              <a:ext uri="{FF2B5EF4-FFF2-40B4-BE49-F238E27FC236}">
                <a16:creationId xmlns:a16="http://schemas.microsoft.com/office/drawing/2014/main" id="{45A84C21-E758-4BF6-4755-581157C1CF85}"/>
              </a:ext>
            </a:extLst>
          </p:cNvPr>
          <p:cNvSpPr>
            <a:spLocks noChangeArrowheads="1"/>
          </p:cNvSpPr>
          <p:nvPr/>
        </p:nvSpPr>
        <p:spPr bwMode="auto">
          <a:xfrm>
            <a:off x="3038475" y="47132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897" name="AutoShape 9">
            <a:extLst>
              <a:ext uri="{FF2B5EF4-FFF2-40B4-BE49-F238E27FC236}">
                <a16:creationId xmlns:a16="http://schemas.microsoft.com/office/drawing/2014/main" id="{B56E359D-9C96-EF46-4086-B225D4E2D2C8}"/>
              </a:ext>
            </a:extLst>
          </p:cNvPr>
          <p:cNvSpPr>
            <a:spLocks noChangeArrowheads="1"/>
          </p:cNvSpPr>
          <p:nvPr/>
        </p:nvSpPr>
        <p:spPr bwMode="auto">
          <a:xfrm>
            <a:off x="2657475" y="51704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898" name="AutoShape 10">
            <a:extLst>
              <a:ext uri="{FF2B5EF4-FFF2-40B4-BE49-F238E27FC236}">
                <a16:creationId xmlns:a16="http://schemas.microsoft.com/office/drawing/2014/main" id="{E4FDCACB-7118-EEA8-BEBE-BA396302953D}"/>
              </a:ext>
            </a:extLst>
          </p:cNvPr>
          <p:cNvSpPr>
            <a:spLocks noChangeArrowheads="1"/>
          </p:cNvSpPr>
          <p:nvPr/>
        </p:nvSpPr>
        <p:spPr bwMode="auto">
          <a:xfrm>
            <a:off x="3190875" y="35702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899" name="AutoShape 11">
            <a:extLst>
              <a:ext uri="{FF2B5EF4-FFF2-40B4-BE49-F238E27FC236}">
                <a16:creationId xmlns:a16="http://schemas.microsoft.com/office/drawing/2014/main" id="{4B0D9018-D825-805D-64B3-1D9E805E6942}"/>
              </a:ext>
            </a:extLst>
          </p:cNvPr>
          <p:cNvSpPr>
            <a:spLocks noChangeArrowheads="1"/>
          </p:cNvSpPr>
          <p:nvPr/>
        </p:nvSpPr>
        <p:spPr bwMode="auto">
          <a:xfrm>
            <a:off x="2657475" y="44846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900" name="AutoShape 12">
            <a:extLst>
              <a:ext uri="{FF2B5EF4-FFF2-40B4-BE49-F238E27FC236}">
                <a16:creationId xmlns:a16="http://schemas.microsoft.com/office/drawing/2014/main" id="{7B93B14E-2F11-9830-5EE1-137148EB32C4}"/>
              </a:ext>
            </a:extLst>
          </p:cNvPr>
          <p:cNvSpPr>
            <a:spLocks noChangeArrowheads="1"/>
          </p:cNvSpPr>
          <p:nvPr/>
        </p:nvSpPr>
        <p:spPr bwMode="auto">
          <a:xfrm>
            <a:off x="2809875" y="46370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901" name="AutoShape 13">
            <a:extLst>
              <a:ext uri="{FF2B5EF4-FFF2-40B4-BE49-F238E27FC236}">
                <a16:creationId xmlns:a16="http://schemas.microsoft.com/office/drawing/2014/main" id="{2C750363-01C9-ADF1-ED94-C91B3A2B44B0}"/>
              </a:ext>
            </a:extLst>
          </p:cNvPr>
          <p:cNvSpPr>
            <a:spLocks noChangeArrowheads="1"/>
          </p:cNvSpPr>
          <p:nvPr/>
        </p:nvSpPr>
        <p:spPr bwMode="auto">
          <a:xfrm>
            <a:off x="3571875" y="42560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902" name="AutoShape 14">
            <a:extLst>
              <a:ext uri="{FF2B5EF4-FFF2-40B4-BE49-F238E27FC236}">
                <a16:creationId xmlns:a16="http://schemas.microsoft.com/office/drawing/2014/main" id="{A82EE285-71FD-7927-0ABE-6FB61FE8045D}"/>
              </a:ext>
            </a:extLst>
          </p:cNvPr>
          <p:cNvSpPr>
            <a:spLocks noChangeArrowheads="1"/>
          </p:cNvSpPr>
          <p:nvPr/>
        </p:nvSpPr>
        <p:spPr bwMode="auto">
          <a:xfrm>
            <a:off x="4473575" y="42433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903" name="AutoShape 15">
            <a:extLst>
              <a:ext uri="{FF2B5EF4-FFF2-40B4-BE49-F238E27FC236}">
                <a16:creationId xmlns:a16="http://schemas.microsoft.com/office/drawing/2014/main" id="{62C22450-418F-682C-4A93-C8267F4A2503}"/>
              </a:ext>
            </a:extLst>
          </p:cNvPr>
          <p:cNvSpPr>
            <a:spLocks noChangeArrowheads="1"/>
          </p:cNvSpPr>
          <p:nvPr/>
        </p:nvSpPr>
        <p:spPr bwMode="auto">
          <a:xfrm>
            <a:off x="4105275" y="51704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904" name="AutoShape 16">
            <a:extLst>
              <a:ext uri="{FF2B5EF4-FFF2-40B4-BE49-F238E27FC236}">
                <a16:creationId xmlns:a16="http://schemas.microsoft.com/office/drawing/2014/main" id="{63B1965E-6EC9-FA1C-E716-A83B12B26F68}"/>
              </a:ext>
            </a:extLst>
          </p:cNvPr>
          <p:cNvSpPr>
            <a:spLocks noChangeArrowheads="1"/>
          </p:cNvSpPr>
          <p:nvPr/>
        </p:nvSpPr>
        <p:spPr bwMode="auto">
          <a:xfrm>
            <a:off x="5095875" y="51704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905" name="AutoShape 17">
            <a:extLst>
              <a:ext uri="{FF2B5EF4-FFF2-40B4-BE49-F238E27FC236}">
                <a16:creationId xmlns:a16="http://schemas.microsoft.com/office/drawing/2014/main" id="{824BC10A-2C02-474C-0BFB-E3D28C88A4AE}"/>
              </a:ext>
            </a:extLst>
          </p:cNvPr>
          <p:cNvSpPr>
            <a:spLocks noChangeArrowheads="1"/>
          </p:cNvSpPr>
          <p:nvPr/>
        </p:nvSpPr>
        <p:spPr bwMode="auto">
          <a:xfrm>
            <a:off x="3787775" y="56911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906" name="AutoShape 18">
            <a:extLst>
              <a:ext uri="{FF2B5EF4-FFF2-40B4-BE49-F238E27FC236}">
                <a16:creationId xmlns:a16="http://schemas.microsoft.com/office/drawing/2014/main" id="{CA6F806B-8E5F-3DA4-17E9-CD04ED1F4632}"/>
              </a:ext>
            </a:extLst>
          </p:cNvPr>
          <p:cNvSpPr>
            <a:spLocks noChangeArrowheads="1"/>
          </p:cNvSpPr>
          <p:nvPr/>
        </p:nvSpPr>
        <p:spPr bwMode="auto">
          <a:xfrm>
            <a:off x="4410075" y="45608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907" name="AutoShape 19">
            <a:extLst>
              <a:ext uri="{FF2B5EF4-FFF2-40B4-BE49-F238E27FC236}">
                <a16:creationId xmlns:a16="http://schemas.microsoft.com/office/drawing/2014/main" id="{67CCC167-8C3F-4D87-363F-EF86E6B6D582}"/>
              </a:ext>
            </a:extLst>
          </p:cNvPr>
          <p:cNvSpPr>
            <a:spLocks noChangeArrowheads="1"/>
          </p:cNvSpPr>
          <p:nvPr/>
        </p:nvSpPr>
        <p:spPr bwMode="auto">
          <a:xfrm>
            <a:off x="3787775" y="50053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908" name="AutoShape 20">
            <a:extLst>
              <a:ext uri="{FF2B5EF4-FFF2-40B4-BE49-F238E27FC236}">
                <a16:creationId xmlns:a16="http://schemas.microsoft.com/office/drawing/2014/main" id="{EF21232F-28AD-7AF6-3803-5EC987EA71D0}"/>
              </a:ext>
            </a:extLst>
          </p:cNvPr>
          <p:cNvSpPr>
            <a:spLocks noChangeArrowheads="1"/>
          </p:cNvSpPr>
          <p:nvPr/>
        </p:nvSpPr>
        <p:spPr bwMode="auto">
          <a:xfrm>
            <a:off x="4486275" y="53990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909" name="AutoShape 21">
            <a:extLst>
              <a:ext uri="{FF2B5EF4-FFF2-40B4-BE49-F238E27FC236}">
                <a16:creationId xmlns:a16="http://schemas.microsoft.com/office/drawing/2014/main" id="{42A64509-2C4D-9CAF-A658-F39A6800AA72}"/>
              </a:ext>
            </a:extLst>
          </p:cNvPr>
          <p:cNvSpPr>
            <a:spLocks noChangeArrowheads="1"/>
          </p:cNvSpPr>
          <p:nvPr/>
        </p:nvSpPr>
        <p:spPr bwMode="auto">
          <a:xfrm>
            <a:off x="5172075" y="44846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910" name="Line 22">
            <a:extLst>
              <a:ext uri="{FF2B5EF4-FFF2-40B4-BE49-F238E27FC236}">
                <a16:creationId xmlns:a16="http://schemas.microsoft.com/office/drawing/2014/main" id="{1097A5FE-C056-805A-BBA4-31ADE77D1E4E}"/>
              </a:ext>
            </a:extLst>
          </p:cNvPr>
          <p:cNvSpPr>
            <a:spLocks noChangeShapeType="1"/>
          </p:cNvSpPr>
          <p:nvPr/>
        </p:nvSpPr>
        <p:spPr bwMode="auto">
          <a:xfrm flipV="1">
            <a:off x="2733675" y="3036888"/>
            <a:ext cx="2438400" cy="266700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65911" name="AutoShape 23">
            <a:extLst>
              <a:ext uri="{FF2B5EF4-FFF2-40B4-BE49-F238E27FC236}">
                <a16:creationId xmlns:a16="http://schemas.microsoft.com/office/drawing/2014/main" id="{5B15BEC3-8E3A-EFD3-2EEA-30AA72EA630F}"/>
              </a:ext>
            </a:extLst>
          </p:cNvPr>
          <p:cNvSpPr>
            <a:spLocks noChangeArrowheads="1"/>
          </p:cNvSpPr>
          <p:nvPr/>
        </p:nvSpPr>
        <p:spPr bwMode="auto">
          <a:xfrm>
            <a:off x="3657600" y="297180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912" name="AutoShape 24">
            <a:extLst>
              <a:ext uri="{FF2B5EF4-FFF2-40B4-BE49-F238E27FC236}">
                <a16:creationId xmlns:a16="http://schemas.microsoft.com/office/drawing/2014/main" id="{4036683F-7B97-67BC-8982-C58C8AECB9E2}"/>
              </a:ext>
            </a:extLst>
          </p:cNvPr>
          <p:cNvSpPr>
            <a:spLocks noChangeArrowheads="1"/>
          </p:cNvSpPr>
          <p:nvPr/>
        </p:nvSpPr>
        <p:spPr bwMode="auto">
          <a:xfrm>
            <a:off x="4267200" y="304800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913" name="AutoShape 25">
            <a:extLst>
              <a:ext uri="{FF2B5EF4-FFF2-40B4-BE49-F238E27FC236}">
                <a16:creationId xmlns:a16="http://schemas.microsoft.com/office/drawing/2014/main" id="{7B0A9A1F-5316-C048-2460-4A7E25F71345}"/>
              </a:ext>
            </a:extLst>
          </p:cNvPr>
          <p:cNvSpPr>
            <a:spLocks noChangeArrowheads="1"/>
          </p:cNvSpPr>
          <p:nvPr/>
        </p:nvSpPr>
        <p:spPr bwMode="auto">
          <a:xfrm>
            <a:off x="5334000" y="3810000"/>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5914" name="Text Box 26">
            <a:extLst>
              <a:ext uri="{FF2B5EF4-FFF2-40B4-BE49-F238E27FC236}">
                <a16:creationId xmlns:a16="http://schemas.microsoft.com/office/drawing/2014/main" id="{08C25293-119D-168C-3D5A-5D4F57689C6B}"/>
              </a:ext>
            </a:extLst>
          </p:cNvPr>
          <p:cNvSpPr txBox="1">
            <a:spLocks noChangeArrowheads="1"/>
          </p:cNvSpPr>
          <p:nvPr/>
        </p:nvSpPr>
        <p:spPr bwMode="auto">
          <a:xfrm>
            <a:off x="5143500" y="2695575"/>
            <a:ext cx="2667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w</a:t>
            </a:r>
            <a:r>
              <a:rPr lang="en-US" altLang="en-US" b="1" baseline="30000"/>
              <a:t>T</a:t>
            </a:r>
            <a:r>
              <a:rPr lang="en-US" altLang="en-US" b="1"/>
              <a:t>x </a:t>
            </a:r>
            <a:r>
              <a:rPr lang="en-US" altLang="en-US"/>
              <a:t>+ </a:t>
            </a:r>
            <a:r>
              <a:rPr lang="en-US" altLang="en-US" i="1"/>
              <a:t>b</a:t>
            </a:r>
            <a:r>
              <a:rPr lang="en-US" altLang="en-US" b="1"/>
              <a:t> = 0</a:t>
            </a:r>
          </a:p>
        </p:txBody>
      </p:sp>
      <p:sp>
        <p:nvSpPr>
          <p:cNvPr id="165915" name="Text Box 27">
            <a:extLst>
              <a:ext uri="{FF2B5EF4-FFF2-40B4-BE49-F238E27FC236}">
                <a16:creationId xmlns:a16="http://schemas.microsoft.com/office/drawing/2014/main" id="{0A767BEF-20D0-6138-E9D6-4285A6B27015}"/>
              </a:ext>
            </a:extLst>
          </p:cNvPr>
          <p:cNvSpPr txBox="1">
            <a:spLocks noChangeArrowheads="1"/>
          </p:cNvSpPr>
          <p:nvPr/>
        </p:nvSpPr>
        <p:spPr bwMode="auto">
          <a:xfrm>
            <a:off x="5143500" y="3257550"/>
            <a:ext cx="2667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w</a:t>
            </a:r>
            <a:r>
              <a:rPr lang="en-US" altLang="en-US" b="1" baseline="30000"/>
              <a:t>T</a:t>
            </a:r>
            <a:r>
              <a:rPr lang="en-US" altLang="en-US" b="1"/>
              <a:t>x </a:t>
            </a:r>
            <a:r>
              <a:rPr lang="en-US" altLang="en-US"/>
              <a:t>+ </a:t>
            </a:r>
            <a:r>
              <a:rPr lang="en-US" altLang="en-US" i="1"/>
              <a:t>b</a:t>
            </a:r>
            <a:r>
              <a:rPr lang="en-US" altLang="en-US" b="1"/>
              <a:t> &lt; 0</a:t>
            </a:r>
          </a:p>
        </p:txBody>
      </p:sp>
      <p:sp>
        <p:nvSpPr>
          <p:cNvPr id="165916" name="Text Box 28">
            <a:extLst>
              <a:ext uri="{FF2B5EF4-FFF2-40B4-BE49-F238E27FC236}">
                <a16:creationId xmlns:a16="http://schemas.microsoft.com/office/drawing/2014/main" id="{EE4F5775-3E64-98DB-8BCA-C907CBD0F502}"/>
              </a:ext>
            </a:extLst>
          </p:cNvPr>
          <p:cNvSpPr txBox="1">
            <a:spLocks noChangeArrowheads="1"/>
          </p:cNvSpPr>
          <p:nvPr/>
        </p:nvSpPr>
        <p:spPr bwMode="auto">
          <a:xfrm>
            <a:off x="2714625" y="3038475"/>
            <a:ext cx="2667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w</a:t>
            </a:r>
            <a:r>
              <a:rPr lang="en-US" altLang="en-US" b="1" baseline="30000"/>
              <a:t>T</a:t>
            </a:r>
            <a:r>
              <a:rPr lang="en-US" altLang="en-US" b="1"/>
              <a:t>x </a:t>
            </a:r>
            <a:r>
              <a:rPr lang="en-US" altLang="en-US"/>
              <a:t>+ </a:t>
            </a:r>
            <a:r>
              <a:rPr lang="en-US" altLang="en-US" i="1"/>
              <a:t>b</a:t>
            </a:r>
            <a:r>
              <a:rPr lang="en-US" altLang="en-US" b="1"/>
              <a:t> &gt; 0</a:t>
            </a:r>
          </a:p>
        </p:txBody>
      </p:sp>
      <p:sp>
        <p:nvSpPr>
          <p:cNvPr id="165917" name="Text Box 29">
            <a:extLst>
              <a:ext uri="{FF2B5EF4-FFF2-40B4-BE49-F238E27FC236}">
                <a16:creationId xmlns:a16="http://schemas.microsoft.com/office/drawing/2014/main" id="{EF32D954-29AF-9870-BA9C-2FE31E8DD27E}"/>
              </a:ext>
            </a:extLst>
          </p:cNvPr>
          <p:cNvSpPr txBox="1">
            <a:spLocks noChangeArrowheads="1"/>
          </p:cNvSpPr>
          <p:nvPr/>
        </p:nvSpPr>
        <p:spPr bwMode="auto">
          <a:xfrm>
            <a:off x="6810375" y="4381500"/>
            <a:ext cx="29337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i="1"/>
              <a:t>f</a:t>
            </a:r>
            <a:r>
              <a:rPr lang="en-US" altLang="en-US"/>
              <a:t>(</a:t>
            </a:r>
            <a:r>
              <a:rPr lang="en-US" altLang="en-US" b="1"/>
              <a:t>x</a:t>
            </a:r>
            <a:r>
              <a:rPr lang="en-US" altLang="en-US"/>
              <a:t>)</a:t>
            </a:r>
            <a:r>
              <a:rPr lang="en-US" altLang="en-US" i="1"/>
              <a:t> = </a:t>
            </a:r>
            <a:r>
              <a:rPr lang="en-US" altLang="en-US"/>
              <a:t>sign(</a:t>
            </a:r>
            <a:r>
              <a:rPr lang="en-US" altLang="en-US" b="1"/>
              <a:t>w</a:t>
            </a:r>
            <a:r>
              <a:rPr lang="en-US" altLang="en-US" b="1" baseline="30000"/>
              <a:t>T</a:t>
            </a:r>
            <a:r>
              <a:rPr lang="en-US" altLang="en-US" b="1"/>
              <a:t>x </a:t>
            </a:r>
            <a:r>
              <a:rPr lang="en-US" altLang="en-US"/>
              <a:t>+ </a:t>
            </a:r>
            <a:r>
              <a:rPr lang="en-US" altLang="en-US" i="1"/>
              <a:t>b</a:t>
            </a:r>
            <a:r>
              <a:rPr lang="en-US" altLang="en-US"/>
              <a:t>)</a:t>
            </a:r>
            <a:endParaRPr lang="en-US" altLang="en-US" b="1"/>
          </a:p>
        </p:txBody>
      </p:sp>
    </p:spTree>
    <p:extLst>
      <p:ext uri="{BB962C8B-B14F-4D97-AF65-F5344CB8AC3E}">
        <p14:creationId xmlns:p14="http://schemas.microsoft.com/office/powerpoint/2010/main" val="3535944082"/>
      </p:ext>
    </p:extLst>
  </p:cSld>
  <p:clrMapOvr>
    <a:masterClrMapping/>
  </p:clrMapOvr>
  <p:transition advTm="34928"/>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59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591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659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59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5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14" grpId="0"/>
      <p:bldP spid="165915" grpId="0"/>
      <p:bldP spid="165916" grpId="0"/>
      <p:bldP spid="1659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a:extLst>
              <a:ext uri="{FF2B5EF4-FFF2-40B4-BE49-F238E27FC236}">
                <a16:creationId xmlns:a16="http://schemas.microsoft.com/office/drawing/2014/main" id="{22CB296F-F4A5-DFCD-154D-367798E399D3}"/>
              </a:ext>
            </a:extLst>
          </p:cNvPr>
          <p:cNvSpPr>
            <a:spLocks noGrp="1" noChangeArrowheads="1"/>
          </p:cNvSpPr>
          <p:nvPr>
            <p:ph type="title"/>
          </p:nvPr>
        </p:nvSpPr>
        <p:spPr>
          <a:xfrm>
            <a:off x="1289221" y="264949"/>
            <a:ext cx="8229600" cy="1143001"/>
          </a:xfrm>
        </p:spPr>
        <p:txBody>
          <a:bodyPr/>
          <a:lstStyle/>
          <a:p>
            <a:r>
              <a:rPr lang="en-US" altLang="en-US" dirty="0"/>
              <a:t>Training a linear SVM</a:t>
            </a:r>
          </a:p>
        </p:txBody>
      </p:sp>
      <p:sp>
        <p:nvSpPr>
          <p:cNvPr id="317443" name="Rectangle 3">
            <a:extLst>
              <a:ext uri="{FF2B5EF4-FFF2-40B4-BE49-F238E27FC236}">
                <a16:creationId xmlns:a16="http://schemas.microsoft.com/office/drawing/2014/main" id="{076839C2-B5A3-6CDC-0045-6881804BA467}"/>
              </a:ext>
            </a:extLst>
          </p:cNvPr>
          <p:cNvSpPr>
            <a:spLocks noGrp="1" noChangeArrowheads="1"/>
          </p:cNvSpPr>
          <p:nvPr>
            <p:ph type="body" idx="1"/>
          </p:nvPr>
        </p:nvSpPr>
        <p:spPr>
          <a:xfrm>
            <a:off x="716692" y="944564"/>
            <a:ext cx="10478530" cy="5940425"/>
          </a:xfrm>
        </p:spPr>
        <p:txBody>
          <a:bodyPr>
            <a:normAutofit/>
          </a:bodyPr>
          <a:lstStyle/>
          <a:p>
            <a:endParaRPr lang="en-US" altLang="en-US" sz="2000" dirty="0"/>
          </a:p>
          <a:p>
            <a:r>
              <a:rPr lang="en-US" altLang="en-US" sz="2000" dirty="0"/>
              <a:t>To find the maximum margin separator, we have to solve the following optimization problem:</a:t>
            </a:r>
          </a:p>
          <a:p>
            <a:endParaRPr lang="en-US" altLang="en-US" sz="2000" dirty="0"/>
          </a:p>
          <a:p>
            <a:endParaRPr lang="en-US" altLang="en-US" sz="2000" dirty="0"/>
          </a:p>
          <a:p>
            <a:endParaRPr lang="en-US" altLang="en-US" sz="2000" dirty="0"/>
          </a:p>
          <a:p>
            <a:endParaRPr lang="en-US" altLang="en-US" sz="2000" dirty="0"/>
          </a:p>
          <a:p>
            <a:r>
              <a:rPr lang="en-US" altLang="en-US" sz="2000" dirty="0"/>
              <a:t> This is tricky but it’s a convex problem. There is only one optimum and we can find it without fiddling with learning rates or weight decay or early stopping.</a:t>
            </a:r>
          </a:p>
          <a:p>
            <a:pPr lvl="1"/>
            <a:r>
              <a:rPr lang="en-US" altLang="en-US" sz="2000" dirty="0"/>
              <a:t>Don’t worry about the optimization problem. It has been solved. Its called quadratic programming.</a:t>
            </a:r>
          </a:p>
          <a:p>
            <a:pPr lvl="1"/>
            <a:r>
              <a:rPr lang="en-US" altLang="en-US" sz="2000" dirty="0"/>
              <a:t>It takes time proportional to N^2 which is really bad for very big datasets</a:t>
            </a:r>
          </a:p>
          <a:p>
            <a:pPr lvl="2"/>
            <a:r>
              <a:rPr lang="en-US" altLang="en-US" sz="2000" dirty="0"/>
              <a:t>so for big datasets we end up doing approximate optimization!</a:t>
            </a:r>
          </a:p>
          <a:p>
            <a:pPr>
              <a:buFontTx/>
              <a:buNone/>
            </a:pPr>
            <a:endParaRPr lang="en-US" altLang="en-US" sz="2000" dirty="0"/>
          </a:p>
        </p:txBody>
      </p:sp>
      <p:graphicFrame>
        <p:nvGraphicFramePr>
          <p:cNvPr id="317447" name="Object 7">
            <a:extLst>
              <a:ext uri="{FF2B5EF4-FFF2-40B4-BE49-F238E27FC236}">
                <a16:creationId xmlns:a16="http://schemas.microsoft.com/office/drawing/2014/main" id="{F70A42B1-DE90-0F44-9E96-5EB4CCE45844}"/>
              </a:ext>
            </a:extLst>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2" imgW="2628900" imgH="4978400" progId="Equation.3">
                  <p:embed/>
                </p:oleObj>
              </mc:Choice>
              <mc:Fallback>
                <p:oleObj name="Equation" r:id="rId2" imgW="2628900" imgH="4978400" progId="Equation.3">
                  <p:embed/>
                  <p:pic>
                    <p:nvPicPr>
                      <p:cNvPr id="317447" name="Object 7">
                        <a:extLst>
                          <a:ext uri="{FF2B5EF4-FFF2-40B4-BE49-F238E27FC236}">
                            <a16:creationId xmlns:a16="http://schemas.microsoft.com/office/drawing/2014/main" id="{F70A42B1-DE90-0F44-9E96-5EB4CCE458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448" name="Object 8">
            <a:extLst>
              <a:ext uri="{FF2B5EF4-FFF2-40B4-BE49-F238E27FC236}">
                <a16:creationId xmlns:a16="http://schemas.microsoft.com/office/drawing/2014/main" id="{F842FDA1-4613-BCB6-E349-FF830D61A4D7}"/>
              </a:ext>
            </a:extLst>
          </p:cNvPr>
          <p:cNvGraphicFramePr>
            <a:graphicFrameLocks noChangeAspect="1"/>
          </p:cNvGraphicFramePr>
          <p:nvPr>
            <p:extLst>
              <p:ext uri="{D42A27DB-BD31-4B8C-83A1-F6EECF244321}">
                <p14:modId xmlns:p14="http://schemas.microsoft.com/office/powerpoint/2010/main" val="1160896536"/>
              </p:ext>
            </p:extLst>
          </p:nvPr>
        </p:nvGraphicFramePr>
        <p:xfrm>
          <a:off x="3279775" y="2045650"/>
          <a:ext cx="4846638" cy="1719263"/>
        </p:xfrm>
        <a:graphic>
          <a:graphicData uri="http://schemas.openxmlformats.org/presentationml/2006/ole">
            <mc:AlternateContent xmlns:mc="http://schemas.openxmlformats.org/markup-compatibility/2006">
              <mc:Choice xmlns:v="urn:schemas-microsoft-com:vml" Requires="v">
                <p:oleObj name="Equation" r:id="rId4" imgW="51206400" imgH="18135600" progId="Equation.3">
                  <p:embed/>
                </p:oleObj>
              </mc:Choice>
              <mc:Fallback>
                <p:oleObj name="Equation" r:id="rId4" imgW="51206400" imgH="18135600" progId="Equation.3">
                  <p:embed/>
                  <p:pic>
                    <p:nvPicPr>
                      <p:cNvPr id="317448" name="Object 8">
                        <a:extLst>
                          <a:ext uri="{FF2B5EF4-FFF2-40B4-BE49-F238E27FC236}">
                            <a16:creationId xmlns:a16="http://schemas.microsoft.com/office/drawing/2014/main" id="{F842FDA1-4613-BCB6-E349-FF830D61A4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9775" y="2045650"/>
                        <a:ext cx="4846638" cy="1719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74636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a:extLst>
              <a:ext uri="{FF2B5EF4-FFF2-40B4-BE49-F238E27FC236}">
                <a16:creationId xmlns:a16="http://schemas.microsoft.com/office/drawing/2014/main" id="{D30619C4-7C11-720C-EFDB-638ACC9224C4}"/>
              </a:ext>
            </a:extLst>
          </p:cNvPr>
          <p:cNvSpPr>
            <a:spLocks noGrp="1" noChangeArrowheads="1"/>
          </p:cNvSpPr>
          <p:nvPr>
            <p:ph type="title"/>
          </p:nvPr>
        </p:nvSpPr>
        <p:spPr>
          <a:xfrm>
            <a:off x="1981200" y="115888"/>
            <a:ext cx="8229600" cy="1143000"/>
          </a:xfrm>
        </p:spPr>
        <p:txBody>
          <a:bodyPr/>
          <a:lstStyle/>
          <a:p>
            <a:r>
              <a:rPr lang="en-US" altLang="en-US"/>
              <a:t>Testing a linear SVM</a:t>
            </a:r>
          </a:p>
        </p:txBody>
      </p:sp>
      <p:sp>
        <p:nvSpPr>
          <p:cNvPr id="337923" name="Rectangle 3">
            <a:extLst>
              <a:ext uri="{FF2B5EF4-FFF2-40B4-BE49-F238E27FC236}">
                <a16:creationId xmlns:a16="http://schemas.microsoft.com/office/drawing/2014/main" id="{E36CD6F7-C9CB-2757-3DC3-5F32A538CF0F}"/>
              </a:ext>
            </a:extLst>
          </p:cNvPr>
          <p:cNvSpPr>
            <a:spLocks noGrp="1" noChangeArrowheads="1"/>
          </p:cNvSpPr>
          <p:nvPr>
            <p:ph type="body" idx="1"/>
          </p:nvPr>
        </p:nvSpPr>
        <p:spPr>
          <a:xfrm>
            <a:off x="1774826" y="1439864"/>
            <a:ext cx="8677275" cy="5661025"/>
          </a:xfrm>
        </p:spPr>
        <p:txBody>
          <a:bodyPr/>
          <a:lstStyle/>
          <a:p>
            <a:r>
              <a:rPr lang="en-US" altLang="en-US"/>
              <a:t>The separator is defined as the set of points for which:</a:t>
            </a:r>
          </a:p>
          <a:p>
            <a:endParaRPr lang="en-US" altLang="en-US"/>
          </a:p>
          <a:p>
            <a:endParaRPr lang="en-US" altLang="en-US"/>
          </a:p>
          <a:p>
            <a:endParaRPr lang="en-US" altLang="en-US"/>
          </a:p>
          <a:p>
            <a:pPr>
              <a:buFontTx/>
              <a:buNone/>
            </a:pPr>
            <a:r>
              <a:rPr lang="en-US" altLang="en-US"/>
              <a:t> </a:t>
            </a:r>
          </a:p>
        </p:txBody>
      </p:sp>
      <p:graphicFrame>
        <p:nvGraphicFramePr>
          <p:cNvPr id="337924" name="Object 4">
            <a:extLst>
              <a:ext uri="{FF2B5EF4-FFF2-40B4-BE49-F238E27FC236}">
                <a16:creationId xmlns:a16="http://schemas.microsoft.com/office/drawing/2014/main" id="{5BE6F2F3-EF21-534D-48B8-D97E97297304}"/>
              </a:ext>
            </a:extLst>
          </p:cNvPr>
          <p:cNvGraphicFramePr>
            <a:graphicFrameLocks noChangeAspect="1"/>
          </p:cNvGraphicFramePr>
          <p:nvPr/>
        </p:nvGraphicFramePr>
        <p:xfrm>
          <a:off x="2286000" y="1916114"/>
          <a:ext cx="6535738" cy="1749425"/>
        </p:xfrm>
        <a:graphic>
          <a:graphicData uri="http://schemas.openxmlformats.org/presentationml/2006/ole">
            <mc:AlternateContent xmlns:mc="http://schemas.openxmlformats.org/markup-compatibility/2006">
              <mc:Choice xmlns:v="urn:schemas-microsoft-com:vml" Requires="v">
                <p:oleObj name="Equation" r:id="rId2" imgW="63487300" imgH="16967200" progId="Equation.3">
                  <p:embed/>
                </p:oleObj>
              </mc:Choice>
              <mc:Fallback>
                <p:oleObj name="Equation" r:id="rId2" imgW="63487300" imgH="16967200" progId="Equation.3">
                  <p:embed/>
                  <p:pic>
                    <p:nvPicPr>
                      <p:cNvPr id="337924" name="Object 4">
                        <a:extLst>
                          <a:ext uri="{FF2B5EF4-FFF2-40B4-BE49-F238E27FC236}">
                            <a16:creationId xmlns:a16="http://schemas.microsoft.com/office/drawing/2014/main" id="{5BE6F2F3-EF21-534D-48B8-D97E972973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916114"/>
                        <a:ext cx="6535738" cy="174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77563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a:extLst>
              <a:ext uri="{FF2B5EF4-FFF2-40B4-BE49-F238E27FC236}">
                <a16:creationId xmlns:a16="http://schemas.microsoft.com/office/drawing/2014/main" id="{73BA06B3-B2D4-C91C-62B6-46A0D79218A3}"/>
              </a:ext>
            </a:extLst>
          </p:cNvPr>
          <p:cNvSpPr>
            <a:spLocks noGrp="1" noChangeArrowheads="1"/>
          </p:cNvSpPr>
          <p:nvPr>
            <p:ph type="title"/>
          </p:nvPr>
        </p:nvSpPr>
        <p:spPr/>
        <p:txBody>
          <a:bodyPr/>
          <a:lstStyle/>
          <a:p>
            <a:r>
              <a:rPr lang="en-US" altLang="en-US"/>
              <a:t>Linear Separators</a:t>
            </a:r>
          </a:p>
        </p:txBody>
      </p:sp>
      <p:sp>
        <p:nvSpPr>
          <p:cNvPr id="205827" name="Rectangle 3">
            <a:extLst>
              <a:ext uri="{FF2B5EF4-FFF2-40B4-BE49-F238E27FC236}">
                <a16:creationId xmlns:a16="http://schemas.microsoft.com/office/drawing/2014/main" id="{D82BFCE1-1F64-EDA5-45A4-927DAF19DA03}"/>
              </a:ext>
            </a:extLst>
          </p:cNvPr>
          <p:cNvSpPr>
            <a:spLocks noGrp="1" noChangeArrowheads="1"/>
          </p:cNvSpPr>
          <p:nvPr>
            <p:ph type="body" idx="1"/>
          </p:nvPr>
        </p:nvSpPr>
        <p:spPr>
          <a:xfrm>
            <a:off x="2133600" y="1504950"/>
            <a:ext cx="8229600" cy="5029200"/>
          </a:xfrm>
        </p:spPr>
        <p:txBody>
          <a:bodyPr/>
          <a:lstStyle/>
          <a:p>
            <a:r>
              <a:rPr lang="en-US" altLang="en-US" sz="2800"/>
              <a:t>Which of the linear separators is optimal? </a:t>
            </a:r>
          </a:p>
        </p:txBody>
      </p:sp>
      <p:sp>
        <p:nvSpPr>
          <p:cNvPr id="205828" name="Line 4">
            <a:extLst>
              <a:ext uri="{FF2B5EF4-FFF2-40B4-BE49-F238E27FC236}">
                <a16:creationId xmlns:a16="http://schemas.microsoft.com/office/drawing/2014/main" id="{91AE6B7A-EBF2-EB4D-E3EC-9DDEE27208C6}"/>
              </a:ext>
            </a:extLst>
          </p:cNvPr>
          <p:cNvSpPr>
            <a:spLocks noChangeShapeType="1"/>
          </p:cNvSpPr>
          <p:nvPr/>
        </p:nvSpPr>
        <p:spPr bwMode="auto">
          <a:xfrm flipV="1">
            <a:off x="4130675" y="2825750"/>
            <a:ext cx="0" cy="30416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829" name="Line 5">
            <a:extLst>
              <a:ext uri="{FF2B5EF4-FFF2-40B4-BE49-F238E27FC236}">
                <a16:creationId xmlns:a16="http://schemas.microsoft.com/office/drawing/2014/main" id="{1238342D-D8F1-5733-F49D-6E65F9BFA64C}"/>
              </a:ext>
            </a:extLst>
          </p:cNvPr>
          <p:cNvSpPr>
            <a:spLocks noChangeShapeType="1"/>
          </p:cNvSpPr>
          <p:nvPr/>
        </p:nvSpPr>
        <p:spPr bwMode="auto">
          <a:xfrm flipV="1">
            <a:off x="3995738" y="5751513"/>
            <a:ext cx="4081462"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830" name="AutoShape 6">
            <a:extLst>
              <a:ext uri="{FF2B5EF4-FFF2-40B4-BE49-F238E27FC236}">
                <a16:creationId xmlns:a16="http://schemas.microsoft.com/office/drawing/2014/main" id="{CF90644B-BAFA-76A7-FB63-B042E7345308}"/>
              </a:ext>
            </a:extLst>
          </p:cNvPr>
          <p:cNvSpPr>
            <a:spLocks noChangeArrowheads="1"/>
          </p:cNvSpPr>
          <p:nvPr/>
        </p:nvSpPr>
        <p:spPr bwMode="auto">
          <a:xfrm>
            <a:off x="5170488" y="358140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31" name="AutoShape 7">
            <a:extLst>
              <a:ext uri="{FF2B5EF4-FFF2-40B4-BE49-F238E27FC236}">
                <a16:creationId xmlns:a16="http://schemas.microsoft.com/office/drawing/2014/main" id="{28E98DE4-94E2-F034-1827-216F4BD859DA}"/>
              </a:ext>
            </a:extLst>
          </p:cNvPr>
          <p:cNvSpPr>
            <a:spLocks noChangeArrowheads="1"/>
          </p:cNvSpPr>
          <p:nvPr/>
        </p:nvSpPr>
        <p:spPr bwMode="auto">
          <a:xfrm>
            <a:off x="4595813" y="39385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32" name="AutoShape 8">
            <a:extLst>
              <a:ext uri="{FF2B5EF4-FFF2-40B4-BE49-F238E27FC236}">
                <a16:creationId xmlns:a16="http://schemas.microsoft.com/office/drawing/2014/main" id="{85E62E58-DCBE-629C-D8B7-B5BD3B8D35BE}"/>
              </a:ext>
            </a:extLst>
          </p:cNvPr>
          <p:cNvSpPr>
            <a:spLocks noChangeArrowheads="1"/>
          </p:cNvSpPr>
          <p:nvPr/>
        </p:nvSpPr>
        <p:spPr bwMode="auto">
          <a:xfrm>
            <a:off x="4748213" y="44846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33" name="AutoShape 9">
            <a:extLst>
              <a:ext uri="{FF2B5EF4-FFF2-40B4-BE49-F238E27FC236}">
                <a16:creationId xmlns:a16="http://schemas.microsoft.com/office/drawing/2014/main" id="{B0788A62-6BE4-ABEF-2D6B-4C5FD9416F03}"/>
              </a:ext>
            </a:extLst>
          </p:cNvPr>
          <p:cNvSpPr>
            <a:spLocks noChangeArrowheads="1"/>
          </p:cNvSpPr>
          <p:nvPr/>
        </p:nvSpPr>
        <p:spPr bwMode="auto">
          <a:xfrm>
            <a:off x="4367213" y="49418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34" name="AutoShape 10">
            <a:extLst>
              <a:ext uri="{FF2B5EF4-FFF2-40B4-BE49-F238E27FC236}">
                <a16:creationId xmlns:a16="http://schemas.microsoft.com/office/drawing/2014/main" id="{9D672C94-2720-B4E8-D149-B04B2D0592B6}"/>
              </a:ext>
            </a:extLst>
          </p:cNvPr>
          <p:cNvSpPr>
            <a:spLocks noChangeArrowheads="1"/>
          </p:cNvSpPr>
          <p:nvPr/>
        </p:nvSpPr>
        <p:spPr bwMode="auto">
          <a:xfrm>
            <a:off x="4900613" y="33416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35" name="AutoShape 11">
            <a:extLst>
              <a:ext uri="{FF2B5EF4-FFF2-40B4-BE49-F238E27FC236}">
                <a16:creationId xmlns:a16="http://schemas.microsoft.com/office/drawing/2014/main" id="{8858A36A-502E-F0C0-E5AE-286E8826FDE8}"/>
              </a:ext>
            </a:extLst>
          </p:cNvPr>
          <p:cNvSpPr>
            <a:spLocks noChangeArrowheads="1"/>
          </p:cNvSpPr>
          <p:nvPr/>
        </p:nvSpPr>
        <p:spPr bwMode="auto">
          <a:xfrm>
            <a:off x="4367213" y="42560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36" name="AutoShape 12">
            <a:extLst>
              <a:ext uri="{FF2B5EF4-FFF2-40B4-BE49-F238E27FC236}">
                <a16:creationId xmlns:a16="http://schemas.microsoft.com/office/drawing/2014/main" id="{36587AD1-2400-3476-F2D3-9C1DD765D9BD}"/>
              </a:ext>
            </a:extLst>
          </p:cNvPr>
          <p:cNvSpPr>
            <a:spLocks noChangeArrowheads="1"/>
          </p:cNvSpPr>
          <p:nvPr/>
        </p:nvSpPr>
        <p:spPr bwMode="auto">
          <a:xfrm>
            <a:off x="4519613" y="44084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37" name="AutoShape 13">
            <a:extLst>
              <a:ext uri="{FF2B5EF4-FFF2-40B4-BE49-F238E27FC236}">
                <a16:creationId xmlns:a16="http://schemas.microsoft.com/office/drawing/2014/main" id="{6B49CD70-E8EE-F4A4-206E-3BC45B8751AD}"/>
              </a:ext>
            </a:extLst>
          </p:cNvPr>
          <p:cNvSpPr>
            <a:spLocks noChangeArrowheads="1"/>
          </p:cNvSpPr>
          <p:nvPr/>
        </p:nvSpPr>
        <p:spPr bwMode="auto">
          <a:xfrm>
            <a:off x="5281613" y="40274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38" name="AutoShape 14">
            <a:extLst>
              <a:ext uri="{FF2B5EF4-FFF2-40B4-BE49-F238E27FC236}">
                <a16:creationId xmlns:a16="http://schemas.microsoft.com/office/drawing/2014/main" id="{6BC2F788-4232-406A-29F4-3A7009D28DE8}"/>
              </a:ext>
            </a:extLst>
          </p:cNvPr>
          <p:cNvSpPr>
            <a:spLocks noChangeArrowheads="1"/>
          </p:cNvSpPr>
          <p:nvPr/>
        </p:nvSpPr>
        <p:spPr bwMode="auto">
          <a:xfrm>
            <a:off x="6183313" y="40147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39" name="AutoShape 15">
            <a:extLst>
              <a:ext uri="{FF2B5EF4-FFF2-40B4-BE49-F238E27FC236}">
                <a16:creationId xmlns:a16="http://schemas.microsoft.com/office/drawing/2014/main" id="{6114F7D5-54EA-4D2B-AB29-3F13144E9131}"/>
              </a:ext>
            </a:extLst>
          </p:cNvPr>
          <p:cNvSpPr>
            <a:spLocks noChangeArrowheads="1"/>
          </p:cNvSpPr>
          <p:nvPr/>
        </p:nvSpPr>
        <p:spPr bwMode="auto">
          <a:xfrm>
            <a:off x="5815013" y="49418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40" name="AutoShape 16">
            <a:extLst>
              <a:ext uri="{FF2B5EF4-FFF2-40B4-BE49-F238E27FC236}">
                <a16:creationId xmlns:a16="http://schemas.microsoft.com/office/drawing/2014/main" id="{6D7B2F0E-05ED-0240-E56F-7F13B1EF3958}"/>
              </a:ext>
            </a:extLst>
          </p:cNvPr>
          <p:cNvSpPr>
            <a:spLocks noChangeArrowheads="1"/>
          </p:cNvSpPr>
          <p:nvPr/>
        </p:nvSpPr>
        <p:spPr bwMode="auto">
          <a:xfrm>
            <a:off x="6805613" y="49418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41" name="AutoShape 17">
            <a:extLst>
              <a:ext uri="{FF2B5EF4-FFF2-40B4-BE49-F238E27FC236}">
                <a16:creationId xmlns:a16="http://schemas.microsoft.com/office/drawing/2014/main" id="{5699A156-2680-7D30-FADD-6724C1C30E3E}"/>
              </a:ext>
            </a:extLst>
          </p:cNvPr>
          <p:cNvSpPr>
            <a:spLocks noChangeArrowheads="1"/>
          </p:cNvSpPr>
          <p:nvPr/>
        </p:nvSpPr>
        <p:spPr bwMode="auto">
          <a:xfrm>
            <a:off x="5497513" y="54625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42" name="AutoShape 18">
            <a:extLst>
              <a:ext uri="{FF2B5EF4-FFF2-40B4-BE49-F238E27FC236}">
                <a16:creationId xmlns:a16="http://schemas.microsoft.com/office/drawing/2014/main" id="{187ADC57-2A3C-87BE-5276-20A69F1919F6}"/>
              </a:ext>
            </a:extLst>
          </p:cNvPr>
          <p:cNvSpPr>
            <a:spLocks noChangeArrowheads="1"/>
          </p:cNvSpPr>
          <p:nvPr/>
        </p:nvSpPr>
        <p:spPr bwMode="auto">
          <a:xfrm>
            <a:off x="6119813" y="43322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43" name="AutoShape 19">
            <a:extLst>
              <a:ext uri="{FF2B5EF4-FFF2-40B4-BE49-F238E27FC236}">
                <a16:creationId xmlns:a16="http://schemas.microsoft.com/office/drawing/2014/main" id="{CA0D38D4-7807-6B77-0447-9A078BA52BEB}"/>
              </a:ext>
            </a:extLst>
          </p:cNvPr>
          <p:cNvSpPr>
            <a:spLocks noChangeArrowheads="1"/>
          </p:cNvSpPr>
          <p:nvPr/>
        </p:nvSpPr>
        <p:spPr bwMode="auto">
          <a:xfrm>
            <a:off x="5497513" y="47767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44" name="AutoShape 20">
            <a:extLst>
              <a:ext uri="{FF2B5EF4-FFF2-40B4-BE49-F238E27FC236}">
                <a16:creationId xmlns:a16="http://schemas.microsoft.com/office/drawing/2014/main" id="{DF584BF5-EF46-EF89-24EB-3892DCDFC1C6}"/>
              </a:ext>
            </a:extLst>
          </p:cNvPr>
          <p:cNvSpPr>
            <a:spLocks noChangeArrowheads="1"/>
          </p:cNvSpPr>
          <p:nvPr/>
        </p:nvSpPr>
        <p:spPr bwMode="auto">
          <a:xfrm>
            <a:off x="6196013" y="51704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45" name="AutoShape 21">
            <a:extLst>
              <a:ext uri="{FF2B5EF4-FFF2-40B4-BE49-F238E27FC236}">
                <a16:creationId xmlns:a16="http://schemas.microsoft.com/office/drawing/2014/main" id="{8EF2D81B-A34C-008B-9E34-CCDD9CA278E4}"/>
              </a:ext>
            </a:extLst>
          </p:cNvPr>
          <p:cNvSpPr>
            <a:spLocks noChangeArrowheads="1"/>
          </p:cNvSpPr>
          <p:nvPr/>
        </p:nvSpPr>
        <p:spPr bwMode="auto">
          <a:xfrm>
            <a:off x="6881813" y="42560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46" name="Line 22">
            <a:extLst>
              <a:ext uri="{FF2B5EF4-FFF2-40B4-BE49-F238E27FC236}">
                <a16:creationId xmlns:a16="http://schemas.microsoft.com/office/drawing/2014/main" id="{E15F4580-3E81-6145-EFA9-EEBCBC242B13}"/>
              </a:ext>
            </a:extLst>
          </p:cNvPr>
          <p:cNvSpPr>
            <a:spLocks noChangeShapeType="1"/>
          </p:cNvSpPr>
          <p:nvPr/>
        </p:nvSpPr>
        <p:spPr bwMode="auto">
          <a:xfrm flipV="1">
            <a:off x="4443414" y="3048000"/>
            <a:ext cx="2676525" cy="242728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847" name="AutoShape 23">
            <a:extLst>
              <a:ext uri="{FF2B5EF4-FFF2-40B4-BE49-F238E27FC236}">
                <a16:creationId xmlns:a16="http://schemas.microsoft.com/office/drawing/2014/main" id="{D7438967-23AC-6448-EE4B-5B6D04BDF861}"/>
              </a:ext>
            </a:extLst>
          </p:cNvPr>
          <p:cNvSpPr>
            <a:spLocks noChangeArrowheads="1"/>
          </p:cNvSpPr>
          <p:nvPr/>
        </p:nvSpPr>
        <p:spPr bwMode="auto">
          <a:xfrm>
            <a:off x="5367338" y="274320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48" name="AutoShape 24">
            <a:extLst>
              <a:ext uri="{FF2B5EF4-FFF2-40B4-BE49-F238E27FC236}">
                <a16:creationId xmlns:a16="http://schemas.microsoft.com/office/drawing/2014/main" id="{1A910641-B8ED-DA2B-FDD9-E57268F24226}"/>
              </a:ext>
            </a:extLst>
          </p:cNvPr>
          <p:cNvSpPr>
            <a:spLocks noChangeArrowheads="1"/>
          </p:cNvSpPr>
          <p:nvPr/>
        </p:nvSpPr>
        <p:spPr bwMode="auto">
          <a:xfrm>
            <a:off x="5976938" y="281940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49" name="AutoShape 25">
            <a:extLst>
              <a:ext uri="{FF2B5EF4-FFF2-40B4-BE49-F238E27FC236}">
                <a16:creationId xmlns:a16="http://schemas.microsoft.com/office/drawing/2014/main" id="{7C5D7897-EF3B-DE0B-D205-343580D9CBCB}"/>
              </a:ext>
            </a:extLst>
          </p:cNvPr>
          <p:cNvSpPr>
            <a:spLocks noChangeArrowheads="1"/>
          </p:cNvSpPr>
          <p:nvPr/>
        </p:nvSpPr>
        <p:spPr bwMode="auto">
          <a:xfrm>
            <a:off x="7043738" y="3581400"/>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51" name="Line 27">
            <a:extLst>
              <a:ext uri="{FF2B5EF4-FFF2-40B4-BE49-F238E27FC236}">
                <a16:creationId xmlns:a16="http://schemas.microsoft.com/office/drawing/2014/main" id="{3E84BC19-6614-C6B0-8FE1-1499CD7A8014}"/>
              </a:ext>
            </a:extLst>
          </p:cNvPr>
          <p:cNvSpPr>
            <a:spLocks noChangeShapeType="1"/>
          </p:cNvSpPr>
          <p:nvPr/>
        </p:nvSpPr>
        <p:spPr bwMode="auto">
          <a:xfrm flipV="1">
            <a:off x="4595814" y="2743200"/>
            <a:ext cx="2143125" cy="288448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852" name="Line 28">
            <a:extLst>
              <a:ext uri="{FF2B5EF4-FFF2-40B4-BE49-F238E27FC236}">
                <a16:creationId xmlns:a16="http://schemas.microsoft.com/office/drawing/2014/main" id="{0A2BE1A6-50D3-40BE-22F2-5F9ACBD1C8D6}"/>
              </a:ext>
            </a:extLst>
          </p:cNvPr>
          <p:cNvSpPr>
            <a:spLocks noChangeShapeType="1"/>
          </p:cNvSpPr>
          <p:nvPr/>
        </p:nvSpPr>
        <p:spPr bwMode="auto">
          <a:xfrm flipV="1">
            <a:off x="4224338" y="3048000"/>
            <a:ext cx="2971800" cy="228600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853" name="Line 29">
            <a:extLst>
              <a:ext uri="{FF2B5EF4-FFF2-40B4-BE49-F238E27FC236}">
                <a16:creationId xmlns:a16="http://schemas.microsoft.com/office/drawing/2014/main" id="{AD5B13AC-888D-021C-873A-15E2B6C87EE7}"/>
              </a:ext>
            </a:extLst>
          </p:cNvPr>
          <p:cNvSpPr>
            <a:spLocks noChangeShapeType="1"/>
          </p:cNvSpPr>
          <p:nvPr/>
        </p:nvSpPr>
        <p:spPr bwMode="auto">
          <a:xfrm flipV="1">
            <a:off x="4757738" y="2819400"/>
            <a:ext cx="1828800" cy="289560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854" name="Line 30">
            <a:extLst>
              <a:ext uri="{FF2B5EF4-FFF2-40B4-BE49-F238E27FC236}">
                <a16:creationId xmlns:a16="http://schemas.microsoft.com/office/drawing/2014/main" id="{B3E249AE-7F3F-88E3-2F94-C218190ED571}"/>
              </a:ext>
            </a:extLst>
          </p:cNvPr>
          <p:cNvSpPr>
            <a:spLocks noChangeShapeType="1"/>
          </p:cNvSpPr>
          <p:nvPr/>
        </p:nvSpPr>
        <p:spPr bwMode="auto">
          <a:xfrm flipV="1">
            <a:off x="4529138" y="2743200"/>
            <a:ext cx="1828800" cy="289560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855" name="Line 31">
            <a:extLst>
              <a:ext uri="{FF2B5EF4-FFF2-40B4-BE49-F238E27FC236}">
                <a16:creationId xmlns:a16="http://schemas.microsoft.com/office/drawing/2014/main" id="{84C8AE7F-28E7-84E0-48FC-AFCBF616F36F}"/>
              </a:ext>
            </a:extLst>
          </p:cNvPr>
          <p:cNvSpPr>
            <a:spLocks noChangeShapeType="1"/>
          </p:cNvSpPr>
          <p:nvPr/>
        </p:nvSpPr>
        <p:spPr bwMode="auto">
          <a:xfrm flipV="1">
            <a:off x="4376738" y="2895600"/>
            <a:ext cx="2667000" cy="259080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Tree>
    <p:extLst>
      <p:ext uri="{BB962C8B-B14F-4D97-AF65-F5344CB8AC3E}">
        <p14:creationId xmlns:p14="http://schemas.microsoft.com/office/powerpoint/2010/main" val="3056793147"/>
      </p:ext>
    </p:extLst>
  </p:cSld>
  <p:clrMapOvr>
    <a:masterClrMapping/>
  </p:clrMapOvr>
  <p:transition advTm="34928"/>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58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585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585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85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0585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58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94EAFDDD-86EA-0825-DFCE-C0C5A992DDFF}"/>
              </a:ext>
            </a:extLst>
          </p:cNvPr>
          <p:cNvSpPr>
            <a:spLocks noGrp="1"/>
          </p:cNvSpPr>
          <p:nvPr>
            <p:ph type="title"/>
          </p:nvPr>
        </p:nvSpPr>
        <p:spPr/>
        <p:txBody>
          <a:bodyPr/>
          <a:lstStyle/>
          <a:p>
            <a:pPr eaLnBrk="1" hangingPunct="1"/>
            <a:r>
              <a:rPr lang="en-US" altLang="en-US" b="1"/>
              <a:t>Scenario-2</a:t>
            </a:r>
            <a:endParaRPr lang="en-US" altLang="en-US"/>
          </a:p>
        </p:txBody>
      </p:sp>
      <p:pic>
        <p:nvPicPr>
          <p:cNvPr id="18435" name="Picture 2" descr="SVM_4">
            <a:extLst>
              <a:ext uri="{FF2B5EF4-FFF2-40B4-BE49-F238E27FC236}">
                <a16:creationId xmlns:a16="http://schemas.microsoft.com/office/drawing/2014/main" id="{2DE8E2D0-9C2A-99EF-1C1B-E6C516EDE0C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69963" y="2076450"/>
            <a:ext cx="4600575" cy="3352800"/>
          </a:xfrm>
          <a:noFill/>
        </p:spPr>
      </p:pic>
      <p:sp>
        <p:nvSpPr>
          <p:cNvPr id="18436" name="TextBox 3">
            <a:extLst>
              <a:ext uri="{FF2B5EF4-FFF2-40B4-BE49-F238E27FC236}">
                <a16:creationId xmlns:a16="http://schemas.microsoft.com/office/drawing/2014/main" id="{0AF43938-311D-29B6-033F-9059BA043681}"/>
              </a:ext>
            </a:extLst>
          </p:cNvPr>
          <p:cNvSpPr txBox="1">
            <a:spLocks noChangeArrowheads="1"/>
          </p:cNvSpPr>
          <p:nvPr/>
        </p:nvSpPr>
        <p:spPr bwMode="auto">
          <a:xfrm>
            <a:off x="969963" y="1600200"/>
            <a:ext cx="1009491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a:t>This distance is called as </a:t>
            </a:r>
            <a:r>
              <a:rPr lang="en-US" altLang="en-US" b="1"/>
              <a:t>Margin</a:t>
            </a:r>
            <a:r>
              <a:rPr lang="en-US" altLang="en-US"/>
              <a:t>. Let’s look at the below snapshot:</a:t>
            </a:r>
          </a:p>
          <a:p>
            <a:pPr eaLnBrk="1" hangingPunct="1">
              <a:lnSpc>
                <a:spcPct val="100000"/>
              </a:lnSpc>
              <a:spcBef>
                <a:spcPct val="0"/>
              </a:spcBef>
              <a:buFontTx/>
              <a:buNone/>
            </a:pPr>
            <a:endParaRPr lang="en-US" altLang="en-US"/>
          </a:p>
        </p:txBody>
      </p:sp>
      <p:sp>
        <p:nvSpPr>
          <p:cNvPr id="18437" name="TextBox 4">
            <a:extLst>
              <a:ext uri="{FF2B5EF4-FFF2-40B4-BE49-F238E27FC236}">
                <a16:creationId xmlns:a16="http://schemas.microsoft.com/office/drawing/2014/main" id="{2A98A5D2-E2FD-5CB7-6AA1-FF41795869CC}"/>
              </a:ext>
            </a:extLst>
          </p:cNvPr>
          <p:cNvSpPr txBox="1">
            <a:spLocks noChangeArrowheads="1"/>
          </p:cNvSpPr>
          <p:nvPr/>
        </p:nvSpPr>
        <p:spPr bwMode="auto">
          <a:xfrm>
            <a:off x="5700713" y="2268538"/>
            <a:ext cx="5930900"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a:t>We can see that the margin for hyperplane C is high as compared to both A and B. Hence, we name the right hyperplane as C. Another lightning reason for selecting the hyperplane with higher margin is robustness. If we select a hyperplane having low margin then there is high chance of missclassification.</a:t>
            </a:r>
          </a:p>
        </p:txBody>
      </p:sp>
      <p:sp>
        <p:nvSpPr>
          <p:cNvPr id="2" name="Slide Number Placeholder 1">
            <a:extLst>
              <a:ext uri="{FF2B5EF4-FFF2-40B4-BE49-F238E27FC236}">
                <a16:creationId xmlns:a16="http://schemas.microsoft.com/office/drawing/2014/main" id="{2759D4E5-E867-5F40-CE2A-6ADADF6354E5}"/>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844DA33-207B-6C4F-A2B8-99015928545A}" type="slidenum">
              <a:rPr lang="en-US" altLang="en-US">
                <a:solidFill>
                  <a:srgbClr val="898989"/>
                </a:solidFill>
              </a:rPr>
              <a:pPr/>
              <a:t>18</a:t>
            </a:fld>
            <a:endParaRPr lang="en-US" altLang="en-US">
              <a:solidFill>
                <a:srgbClr val="89898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a:extLst>
              <a:ext uri="{FF2B5EF4-FFF2-40B4-BE49-F238E27FC236}">
                <a16:creationId xmlns:a16="http://schemas.microsoft.com/office/drawing/2014/main" id="{8A1C5945-214F-3AB7-8E10-74FC5350774F}"/>
              </a:ext>
            </a:extLst>
          </p:cNvPr>
          <p:cNvSpPr>
            <a:spLocks noGrp="1" noChangeArrowheads="1"/>
          </p:cNvSpPr>
          <p:nvPr>
            <p:ph type="title"/>
          </p:nvPr>
        </p:nvSpPr>
        <p:spPr/>
        <p:txBody>
          <a:bodyPr/>
          <a:lstStyle/>
          <a:p>
            <a:r>
              <a:rPr lang="en-US" altLang="en-US"/>
              <a:t>Classification Margin</a:t>
            </a:r>
          </a:p>
        </p:txBody>
      </p:sp>
      <p:sp>
        <p:nvSpPr>
          <p:cNvPr id="207875" name="Rectangle 3">
            <a:extLst>
              <a:ext uri="{FF2B5EF4-FFF2-40B4-BE49-F238E27FC236}">
                <a16:creationId xmlns:a16="http://schemas.microsoft.com/office/drawing/2014/main" id="{7C1625CE-7F3A-0271-6888-8DD3DBAD1CF6}"/>
              </a:ext>
            </a:extLst>
          </p:cNvPr>
          <p:cNvSpPr>
            <a:spLocks noGrp="1" noChangeArrowheads="1"/>
          </p:cNvSpPr>
          <p:nvPr>
            <p:ph type="body" idx="1"/>
          </p:nvPr>
        </p:nvSpPr>
        <p:spPr>
          <a:xfrm>
            <a:off x="1847850" y="1485900"/>
            <a:ext cx="8648700" cy="5029200"/>
          </a:xfrm>
        </p:spPr>
        <p:txBody>
          <a:bodyPr/>
          <a:lstStyle/>
          <a:p>
            <a:r>
              <a:rPr lang="en-US" altLang="en-US" sz="2000" dirty="0"/>
              <a:t>Distance from example </a:t>
            </a:r>
            <a:r>
              <a:rPr lang="en-US" altLang="en-US" sz="2000" b="1" dirty="0"/>
              <a:t>x</a:t>
            </a:r>
            <a:r>
              <a:rPr lang="en-US" altLang="en-US" sz="2000" i="1" baseline="-25000" dirty="0"/>
              <a:t>i</a:t>
            </a:r>
            <a:r>
              <a:rPr lang="en-US" altLang="en-US" sz="2000" dirty="0"/>
              <a:t> to the separator is </a:t>
            </a:r>
          </a:p>
          <a:p>
            <a:r>
              <a:rPr lang="en-US" altLang="en-US" sz="2000" dirty="0"/>
              <a:t>Examples closest to the hyperplane are </a:t>
            </a:r>
            <a:r>
              <a:rPr lang="en-US" altLang="en-US" sz="2000" b="1" i="1" dirty="0"/>
              <a:t>support vectors</a:t>
            </a:r>
            <a:r>
              <a:rPr lang="en-US" altLang="en-US" sz="2000" dirty="0"/>
              <a:t>. </a:t>
            </a:r>
          </a:p>
          <a:p>
            <a:r>
              <a:rPr lang="en-US" altLang="en-US" sz="2000" b="1" i="1" dirty="0"/>
              <a:t>Margin</a:t>
            </a:r>
            <a:r>
              <a:rPr lang="en-US" altLang="en-US" sz="2000" dirty="0"/>
              <a:t> </a:t>
            </a:r>
            <a:r>
              <a:rPr lang="el-GR" altLang="en-US" sz="2000" i="1" dirty="0">
                <a:cs typeface="Times New Roman" panose="02020603050405020304" pitchFamily="18" charset="0"/>
              </a:rPr>
              <a:t>ρ</a:t>
            </a:r>
            <a:r>
              <a:rPr lang="en-US" altLang="en-US" sz="2000" dirty="0">
                <a:cs typeface="Times New Roman" panose="02020603050405020304" pitchFamily="18" charset="0"/>
              </a:rPr>
              <a:t> </a:t>
            </a:r>
            <a:r>
              <a:rPr lang="en-US" altLang="en-US" sz="2000" dirty="0"/>
              <a:t>of the separator is the distance between support vectors.</a:t>
            </a:r>
          </a:p>
          <a:p>
            <a:endParaRPr lang="en-US" altLang="en-US" sz="2800" dirty="0"/>
          </a:p>
        </p:txBody>
      </p:sp>
      <p:sp>
        <p:nvSpPr>
          <p:cNvPr id="207876" name="Line 4">
            <a:extLst>
              <a:ext uri="{FF2B5EF4-FFF2-40B4-BE49-F238E27FC236}">
                <a16:creationId xmlns:a16="http://schemas.microsoft.com/office/drawing/2014/main" id="{F41C3ADE-53E8-9A65-8FD1-3C8AF7F2D804}"/>
              </a:ext>
            </a:extLst>
          </p:cNvPr>
          <p:cNvSpPr>
            <a:spLocks noChangeShapeType="1"/>
          </p:cNvSpPr>
          <p:nvPr/>
        </p:nvSpPr>
        <p:spPr bwMode="auto">
          <a:xfrm flipV="1">
            <a:off x="4187825" y="3340100"/>
            <a:ext cx="0" cy="30416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877" name="Line 5">
            <a:extLst>
              <a:ext uri="{FF2B5EF4-FFF2-40B4-BE49-F238E27FC236}">
                <a16:creationId xmlns:a16="http://schemas.microsoft.com/office/drawing/2014/main" id="{C0A3BB5E-731B-BC71-29DA-4ED29C977C50}"/>
              </a:ext>
            </a:extLst>
          </p:cNvPr>
          <p:cNvSpPr>
            <a:spLocks noChangeShapeType="1"/>
          </p:cNvSpPr>
          <p:nvPr/>
        </p:nvSpPr>
        <p:spPr bwMode="auto">
          <a:xfrm flipV="1">
            <a:off x="4052888" y="6265863"/>
            <a:ext cx="4081462"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878" name="AutoShape 6">
            <a:extLst>
              <a:ext uri="{FF2B5EF4-FFF2-40B4-BE49-F238E27FC236}">
                <a16:creationId xmlns:a16="http://schemas.microsoft.com/office/drawing/2014/main" id="{803E282D-19ED-09BC-7582-6F7342834F4D}"/>
              </a:ext>
            </a:extLst>
          </p:cNvPr>
          <p:cNvSpPr>
            <a:spLocks noChangeArrowheads="1"/>
          </p:cNvSpPr>
          <p:nvPr/>
        </p:nvSpPr>
        <p:spPr bwMode="auto">
          <a:xfrm>
            <a:off x="5227638" y="409575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79" name="AutoShape 7">
            <a:extLst>
              <a:ext uri="{FF2B5EF4-FFF2-40B4-BE49-F238E27FC236}">
                <a16:creationId xmlns:a16="http://schemas.microsoft.com/office/drawing/2014/main" id="{83B47CDC-539E-D997-A94D-EB99CE6CD3FF}"/>
              </a:ext>
            </a:extLst>
          </p:cNvPr>
          <p:cNvSpPr>
            <a:spLocks noChangeArrowheads="1"/>
          </p:cNvSpPr>
          <p:nvPr/>
        </p:nvSpPr>
        <p:spPr bwMode="auto">
          <a:xfrm>
            <a:off x="4652963" y="44529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80" name="AutoShape 8">
            <a:extLst>
              <a:ext uri="{FF2B5EF4-FFF2-40B4-BE49-F238E27FC236}">
                <a16:creationId xmlns:a16="http://schemas.microsoft.com/office/drawing/2014/main" id="{46485184-8E77-C317-5E68-58111C2BFFC2}"/>
              </a:ext>
            </a:extLst>
          </p:cNvPr>
          <p:cNvSpPr>
            <a:spLocks noChangeArrowheads="1"/>
          </p:cNvSpPr>
          <p:nvPr/>
        </p:nvSpPr>
        <p:spPr bwMode="auto">
          <a:xfrm>
            <a:off x="4805363" y="49990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81" name="AutoShape 9">
            <a:extLst>
              <a:ext uri="{FF2B5EF4-FFF2-40B4-BE49-F238E27FC236}">
                <a16:creationId xmlns:a16="http://schemas.microsoft.com/office/drawing/2014/main" id="{9B9B2D29-A085-0F1F-8202-E4AA36EFA82C}"/>
              </a:ext>
            </a:extLst>
          </p:cNvPr>
          <p:cNvSpPr>
            <a:spLocks noChangeArrowheads="1"/>
          </p:cNvSpPr>
          <p:nvPr/>
        </p:nvSpPr>
        <p:spPr bwMode="auto">
          <a:xfrm>
            <a:off x="4424363" y="54562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82" name="AutoShape 10">
            <a:extLst>
              <a:ext uri="{FF2B5EF4-FFF2-40B4-BE49-F238E27FC236}">
                <a16:creationId xmlns:a16="http://schemas.microsoft.com/office/drawing/2014/main" id="{E3A6F65F-9929-DA5D-DB0E-67A5A5E78D97}"/>
              </a:ext>
            </a:extLst>
          </p:cNvPr>
          <p:cNvSpPr>
            <a:spLocks noChangeArrowheads="1"/>
          </p:cNvSpPr>
          <p:nvPr/>
        </p:nvSpPr>
        <p:spPr bwMode="auto">
          <a:xfrm>
            <a:off x="4957763" y="38560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83" name="AutoShape 11">
            <a:extLst>
              <a:ext uri="{FF2B5EF4-FFF2-40B4-BE49-F238E27FC236}">
                <a16:creationId xmlns:a16="http://schemas.microsoft.com/office/drawing/2014/main" id="{DB04ECF6-90EB-ADF8-85C2-30DA0A7A9535}"/>
              </a:ext>
            </a:extLst>
          </p:cNvPr>
          <p:cNvSpPr>
            <a:spLocks noChangeArrowheads="1"/>
          </p:cNvSpPr>
          <p:nvPr/>
        </p:nvSpPr>
        <p:spPr bwMode="auto">
          <a:xfrm>
            <a:off x="4424363" y="47704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84" name="AutoShape 12">
            <a:extLst>
              <a:ext uri="{FF2B5EF4-FFF2-40B4-BE49-F238E27FC236}">
                <a16:creationId xmlns:a16="http://schemas.microsoft.com/office/drawing/2014/main" id="{D4971918-0FAA-C989-A41F-66E8D4FBC953}"/>
              </a:ext>
            </a:extLst>
          </p:cNvPr>
          <p:cNvSpPr>
            <a:spLocks noChangeArrowheads="1"/>
          </p:cNvSpPr>
          <p:nvPr/>
        </p:nvSpPr>
        <p:spPr bwMode="auto">
          <a:xfrm>
            <a:off x="4576763" y="49228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85" name="AutoShape 13">
            <a:extLst>
              <a:ext uri="{FF2B5EF4-FFF2-40B4-BE49-F238E27FC236}">
                <a16:creationId xmlns:a16="http://schemas.microsoft.com/office/drawing/2014/main" id="{598E918F-CB1E-00C1-6F9B-2A8F18A7096C}"/>
              </a:ext>
            </a:extLst>
          </p:cNvPr>
          <p:cNvSpPr>
            <a:spLocks noChangeArrowheads="1"/>
          </p:cNvSpPr>
          <p:nvPr/>
        </p:nvSpPr>
        <p:spPr bwMode="auto">
          <a:xfrm>
            <a:off x="5338763" y="45418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86" name="AutoShape 14">
            <a:extLst>
              <a:ext uri="{FF2B5EF4-FFF2-40B4-BE49-F238E27FC236}">
                <a16:creationId xmlns:a16="http://schemas.microsoft.com/office/drawing/2014/main" id="{3CA07107-65D8-714B-B027-09BC7AC7F21F}"/>
              </a:ext>
            </a:extLst>
          </p:cNvPr>
          <p:cNvSpPr>
            <a:spLocks noChangeArrowheads="1"/>
          </p:cNvSpPr>
          <p:nvPr/>
        </p:nvSpPr>
        <p:spPr bwMode="auto">
          <a:xfrm>
            <a:off x="6240463" y="45291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87" name="AutoShape 15">
            <a:extLst>
              <a:ext uri="{FF2B5EF4-FFF2-40B4-BE49-F238E27FC236}">
                <a16:creationId xmlns:a16="http://schemas.microsoft.com/office/drawing/2014/main" id="{DA1B4E5E-6A6F-E494-20D0-28F01DC85F07}"/>
              </a:ext>
            </a:extLst>
          </p:cNvPr>
          <p:cNvSpPr>
            <a:spLocks noChangeArrowheads="1"/>
          </p:cNvSpPr>
          <p:nvPr/>
        </p:nvSpPr>
        <p:spPr bwMode="auto">
          <a:xfrm>
            <a:off x="5872163" y="54562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88" name="AutoShape 16">
            <a:extLst>
              <a:ext uri="{FF2B5EF4-FFF2-40B4-BE49-F238E27FC236}">
                <a16:creationId xmlns:a16="http://schemas.microsoft.com/office/drawing/2014/main" id="{5D8A72DF-8C67-123E-7C7A-3745D1302013}"/>
              </a:ext>
            </a:extLst>
          </p:cNvPr>
          <p:cNvSpPr>
            <a:spLocks noChangeArrowheads="1"/>
          </p:cNvSpPr>
          <p:nvPr/>
        </p:nvSpPr>
        <p:spPr bwMode="auto">
          <a:xfrm>
            <a:off x="6862763" y="54562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89" name="AutoShape 17">
            <a:extLst>
              <a:ext uri="{FF2B5EF4-FFF2-40B4-BE49-F238E27FC236}">
                <a16:creationId xmlns:a16="http://schemas.microsoft.com/office/drawing/2014/main" id="{D98735E4-970C-DD4E-11F2-886F0BF1AFFD}"/>
              </a:ext>
            </a:extLst>
          </p:cNvPr>
          <p:cNvSpPr>
            <a:spLocks noChangeArrowheads="1"/>
          </p:cNvSpPr>
          <p:nvPr/>
        </p:nvSpPr>
        <p:spPr bwMode="auto">
          <a:xfrm>
            <a:off x="5554663" y="59769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90" name="AutoShape 18">
            <a:extLst>
              <a:ext uri="{FF2B5EF4-FFF2-40B4-BE49-F238E27FC236}">
                <a16:creationId xmlns:a16="http://schemas.microsoft.com/office/drawing/2014/main" id="{7E3623BB-98A2-704C-7978-96230A0B2D18}"/>
              </a:ext>
            </a:extLst>
          </p:cNvPr>
          <p:cNvSpPr>
            <a:spLocks noChangeArrowheads="1"/>
          </p:cNvSpPr>
          <p:nvPr/>
        </p:nvSpPr>
        <p:spPr bwMode="auto">
          <a:xfrm>
            <a:off x="6176963" y="48466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91" name="AutoShape 19">
            <a:extLst>
              <a:ext uri="{FF2B5EF4-FFF2-40B4-BE49-F238E27FC236}">
                <a16:creationId xmlns:a16="http://schemas.microsoft.com/office/drawing/2014/main" id="{85615174-652B-71DC-4DBA-FA1A17C1175F}"/>
              </a:ext>
            </a:extLst>
          </p:cNvPr>
          <p:cNvSpPr>
            <a:spLocks noChangeArrowheads="1"/>
          </p:cNvSpPr>
          <p:nvPr/>
        </p:nvSpPr>
        <p:spPr bwMode="auto">
          <a:xfrm>
            <a:off x="5608638" y="5340350"/>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92" name="AutoShape 20">
            <a:extLst>
              <a:ext uri="{FF2B5EF4-FFF2-40B4-BE49-F238E27FC236}">
                <a16:creationId xmlns:a16="http://schemas.microsoft.com/office/drawing/2014/main" id="{87B080B3-1DA0-B15F-5822-208EDB2E7EE7}"/>
              </a:ext>
            </a:extLst>
          </p:cNvPr>
          <p:cNvSpPr>
            <a:spLocks noChangeArrowheads="1"/>
          </p:cNvSpPr>
          <p:nvPr/>
        </p:nvSpPr>
        <p:spPr bwMode="auto">
          <a:xfrm>
            <a:off x="6253163" y="56848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93" name="AutoShape 21">
            <a:extLst>
              <a:ext uri="{FF2B5EF4-FFF2-40B4-BE49-F238E27FC236}">
                <a16:creationId xmlns:a16="http://schemas.microsoft.com/office/drawing/2014/main" id="{1AD1415F-BF13-97E9-66C2-F8906829D39F}"/>
              </a:ext>
            </a:extLst>
          </p:cNvPr>
          <p:cNvSpPr>
            <a:spLocks noChangeArrowheads="1"/>
          </p:cNvSpPr>
          <p:nvPr/>
        </p:nvSpPr>
        <p:spPr bwMode="auto">
          <a:xfrm>
            <a:off x="6938963" y="47704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95" name="AutoShape 23">
            <a:extLst>
              <a:ext uri="{FF2B5EF4-FFF2-40B4-BE49-F238E27FC236}">
                <a16:creationId xmlns:a16="http://schemas.microsoft.com/office/drawing/2014/main" id="{FC15EF6C-14B9-9FCD-9419-1DFDEB23E48D}"/>
              </a:ext>
            </a:extLst>
          </p:cNvPr>
          <p:cNvSpPr>
            <a:spLocks noChangeArrowheads="1"/>
          </p:cNvSpPr>
          <p:nvPr/>
        </p:nvSpPr>
        <p:spPr bwMode="auto">
          <a:xfrm>
            <a:off x="5424488" y="325755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96" name="AutoShape 24">
            <a:extLst>
              <a:ext uri="{FF2B5EF4-FFF2-40B4-BE49-F238E27FC236}">
                <a16:creationId xmlns:a16="http://schemas.microsoft.com/office/drawing/2014/main" id="{17B75ED3-3D54-3469-7A84-8D217BEDFBD0}"/>
              </a:ext>
            </a:extLst>
          </p:cNvPr>
          <p:cNvSpPr>
            <a:spLocks noChangeArrowheads="1"/>
          </p:cNvSpPr>
          <p:nvPr/>
        </p:nvSpPr>
        <p:spPr bwMode="auto">
          <a:xfrm>
            <a:off x="6034088" y="333375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97" name="AutoShape 25">
            <a:extLst>
              <a:ext uri="{FF2B5EF4-FFF2-40B4-BE49-F238E27FC236}">
                <a16:creationId xmlns:a16="http://schemas.microsoft.com/office/drawing/2014/main" id="{FB448F6C-7E09-6F0F-5CA7-53D3F44C09CC}"/>
              </a:ext>
            </a:extLst>
          </p:cNvPr>
          <p:cNvSpPr>
            <a:spLocks noChangeArrowheads="1"/>
          </p:cNvSpPr>
          <p:nvPr/>
        </p:nvSpPr>
        <p:spPr bwMode="auto">
          <a:xfrm>
            <a:off x="7100888" y="4095750"/>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98" name="Line 26">
            <a:extLst>
              <a:ext uri="{FF2B5EF4-FFF2-40B4-BE49-F238E27FC236}">
                <a16:creationId xmlns:a16="http://schemas.microsoft.com/office/drawing/2014/main" id="{EF500CD9-6283-39FC-192B-8E59BB94C04B}"/>
              </a:ext>
            </a:extLst>
          </p:cNvPr>
          <p:cNvSpPr>
            <a:spLocks noChangeShapeType="1"/>
          </p:cNvSpPr>
          <p:nvPr/>
        </p:nvSpPr>
        <p:spPr bwMode="auto">
          <a:xfrm flipV="1">
            <a:off x="4652964" y="3257550"/>
            <a:ext cx="2143125" cy="288448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905" name="Line 33">
            <a:extLst>
              <a:ext uri="{FF2B5EF4-FFF2-40B4-BE49-F238E27FC236}">
                <a16:creationId xmlns:a16="http://schemas.microsoft.com/office/drawing/2014/main" id="{20542212-C0B6-0635-1704-B50FABD27F95}"/>
              </a:ext>
            </a:extLst>
          </p:cNvPr>
          <p:cNvSpPr>
            <a:spLocks noChangeShapeType="1"/>
          </p:cNvSpPr>
          <p:nvPr/>
        </p:nvSpPr>
        <p:spPr bwMode="auto">
          <a:xfrm>
            <a:off x="5505450" y="3340100"/>
            <a:ext cx="762000" cy="6159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906" name="Line 34">
            <a:extLst>
              <a:ext uri="{FF2B5EF4-FFF2-40B4-BE49-F238E27FC236}">
                <a16:creationId xmlns:a16="http://schemas.microsoft.com/office/drawing/2014/main" id="{0E0D3D17-7BEE-6B22-2BAA-4C0503DA29D6}"/>
              </a:ext>
            </a:extLst>
          </p:cNvPr>
          <p:cNvSpPr>
            <a:spLocks noChangeShapeType="1"/>
          </p:cNvSpPr>
          <p:nvPr/>
        </p:nvSpPr>
        <p:spPr bwMode="auto">
          <a:xfrm flipH="1" flipV="1">
            <a:off x="5988050" y="4362450"/>
            <a:ext cx="254000" cy="1841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aphicFrame>
        <p:nvGraphicFramePr>
          <p:cNvPr id="207908" name="Object 36">
            <a:extLst>
              <a:ext uri="{FF2B5EF4-FFF2-40B4-BE49-F238E27FC236}">
                <a16:creationId xmlns:a16="http://schemas.microsoft.com/office/drawing/2014/main" id="{ED16181D-9F4E-4C9C-9F7F-7E0A315D9384}"/>
              </a:ext>
            </a:extLst>
          </p:cNvPr>
          <p:cNvGraphicFramePr>
            <a:graphicFrameLocks noChangeAspect="1"/>
          </p:cNvGraphicFramePr>
          <p:nvPr>
            <p:extLst>
              <p:ext uri="{D42A27DB-BD31-4B8C-83A1-F6EECF244321}">
                <p14:modId xmlns:p14="http://schemas.microsoft.com/office/powerpoint/2010/main" val="1433348465"/>
              </p:ext>
            </p:extLst>
          </p:nvPr>
        </p:nvGraphicFramePr>
        <p:xfrm>
          <a:off x="7685087" y="3302000"/>
          <a:ext cx="1260475" cy="730250"/>
        </p:xfrm>
        <a:graphic>
          <a:graphicData uri="http://schemas.openxmlformats.org/presentationml/2006/ole">
            <mc:AlternateContent xmlns:mc="http://schemas.openxmlformats.org/markup-compatibility/2006">
              <mc:Choice xmlns:v="urn:schemas-microsoft-com:vml" Requires="v">
                <p:oleObj name="Equation" r:id="rId3" imgW="18719800" imgH="10820400" progId="Equation.3">
                  <p:embed/>
                </p:oleObj>
              </mc:Choice>
              <mc:Fallback>
                <p:oleObj name="Equation" r:id="rId3" imgW="18719800" imgH="10820400" progId="Equation.3">
                  <p:embed/>
                  <p:pic>
                    <p:nvPicPr>
                      <p:cNvPr id="207908" name="Object 36">
                        <a:extLst>
                          <a:ext uri="{FF2B5EF4-FFF2-40B4-BE49-F238E27FC236}">
                            <a16:creationId xmlns:a16="http://schemas.microsoft.com/office/drawing/2014/main" id="{ED16181D-9F4E-4C9C-9F7F-7E0A315D93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5087" y="3302000"/>
                        <a:ext cx="1260475"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909" name="Text Box 37">
            <a:extLst>
              <a:ext uri="{FF2B5EF4-FFF2-40B4-BE49-F238E27FC236}">
                <a16:creationId xmlns:a16="http://schemas.microsoft.com/office/drawing/2014/main" id="{49A3B164-8A26-585C-343E-445C3D27298C}"/>
              </a:ext>
            </a:extLst>
          </p:cNvPr>
          <p:cNvSpPr txBox="1">
            <a:spLocks noChangeArrowheads="1"/>
          </p:cNvSpPr>
          <p:nvPr/>
        </p:nvSpPr>
        <p:spPr bwMode="auto">
          <a:xfrm>
            <a:off x="5610225" y="3476625"/>
            <a:ext cx="4953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i="1"/>
              <a:t>r</a:t>
            </a:r>
          </a:p>
        </p:txBody>
      </p:sp>
      <p:sp>
        <p:nvSpPr>
          <p:cNvPr id="207910" name="Oval 38">
            <a:extLst>
              <a:ext uri="{FF2B5EF4-FFF2-40B4-BE49-F238E27FC236}">
                <a16:creationId xmlns:a16="http://schemas.microsoft.com/office/drawing/2014/main" id="{ED4D04A6-7285-E2F7-B0FE-7F2CE7B41666}"/>
              </a:ext>
            </a:extLst>
          </p:cNvPr>
          <p:cNvSpPr>
            <a:spLocks noChangeArrowheads="1"/>
          </p:cNvSpPr>
          <p:nvPr/>
        </p:nvSpPr>
        <p:spPr bwMode="auto">
          <a:xfrm>
            <a:off x="5264150" y="4476751"/>
            <a:ext cx="228600" cy="219075"/>
          </a:xfrm>
          <a:prstGeom prst="ellipse">
            <a:avLst/>
          </a:prstGeom>
          <a:noFill/>
          <a:ln w="1905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911" name="Oval 39">
            <a:extLst>
              <a:ext uri="{FF2B5EF4-FFF2-40B4-BE49-F238E27FC236}">
                <a16:creationId xmlns:a16="http://schemas.microsoft.com/office/drawing/2014/main" id="{90E93EDB-F390-E44A-067B-DFE9A006A27F}"/>
              </a:ext>
            </a:extLst>
          </p:cNvPr>
          <p:cNvSpPr>
            <a:spLocks noChangeArrowheads="1"/>
          </p:cNvSpPr>
          <p:nvPr/>
        </p:nvSpPr>
        <p:spPr bwMode="auto">
          <a:xfrm>
            <a:off x="5537200" y="5272089"/>
            <a:ext cx="228600" cy="219075"/>
          </a:xfrm>
          <a:prstGeom prst="ellipse">
            <a:avLst/>
          </a:prstGeom>
          <a:noFill/>
          <a:ln w="19050" algn="ctr">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912" name="Oval 40">
            <a:extLst>
              <a:ext uri="{FF2B5EF4-FFF2-40B4-BE49-F238E27FC236}">
                <a16:creationId xmlns:a16="http://schemas.microsoft.com/office/drawing/2014/main" id="{0C615FC6-4126-264F-7790-CC95F8CBCFE5}"/>
              </a:ext>
            </a:extLst>
          </p:cNvPr>
          <p:cNvSpPr>
            <a:spLocks noChangeArrowheads="1"/>
          </p:cNvSpPr>
          <p:nvPr/>
        </p:nvSpPr>
        <p:spPr bwMode="auto">
          <a:xfrm>
            <a:off x="6170613" y="4459289"/>
            <a:ext cx="228600" cy="219075"/>
          </a:xfrm>
          <a:prstGeom prst="ellipse">
            <a:avLst/>
          </a:prstGeom>
          <a:noFill/>
          <a:ln w="19050" algn="ctr">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913" name="Line 41">
            <a:extLst>
              <a:ext uri="{FF2B5EF4-FFF2-40B4-BE49-F238E27FC236}">
                <a16:creationId xmlns:a16="http://schemas.microsoft.com/office/drawing/2014/main" id="{A85CD5FF-1F38-AFF4-36C0-169D9A9CED68}"/>
              </a:ext>
            </a:extLst>
          </p:cNvPr>
          <p:cNvSpPr>
            <a:spLocks noChangeShapeType="1"/>
          </p:cNvSpPr>
          <p:nvPr/>
        </p:nvSpPr>
        <p:spPr bwMode="auto">
          <a:xfrm flipH="1" flipV="1">
            <a:off x="5364164" y="5176839"/>
            <a:ext cx="244475" cy="1746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914" name="Line 42">
            <a:extLst>
              <a:ext uri="{FF2B5EF4-FFF2-40B4-BE49-F238E27FC236}">
                <a16:creationId xmlns:a16="http://schemas.microsoft.com/office/drawing/2014/main" id="{7FEEDAD1-1F7F-2C28-8321-1E4036F2055C}"/>
              </a:ext>
            </a:extLst>
          </p:cNvPr>
          <p:cNvSpPr>
            <a:spLocks noChangeShapeType="1"/>
          </p:cNvSpPr>
          <p:nvPr/>
        </p:nvSpPr>
        <p:spPr bwMode="auto">
          <a:xfrm flipH="1" flipV="1">
            <a:off x="5416550" y="4614864"/>
            <a:ext cx="234950" cy="17938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915" name="Line 43">
            <a:extLst>
              <a:ext uri="{FF2B5EF4-FFF2-40B4-BE49-F238E27FC236}">
                <a16:creationId xmlns:a16="http://schemas.microsoft.com/office/drawing/2014/main" id="{C299FB7C-59EA-D67B-D3C4-F3EB51633EFA}"/>
              </a:ext>
            </a:extLst>
          </p:cNvPr>
          <p:cNvSpPr>
            <a:spLocks noChangeShapeType="1"/>
          </p:cNvSpPr>
          <p:nvPr/>
        </p:nvSpPr>
        <p:spPr bwMode="auto">
          <a:xfrm flipV="1">
            <a:off x="5091114" y="3438525"/>
            <a:ext cx="2009775" cy="2693988"/>
          </a:xfrm>
          <a:prstGeom prst="line">
            <a:avLst/>
          </a:prstGeom>
          <a:noFill/>
          <a:ln w="9525"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916" name="Line 44">
            <a:extLst>
              <a:ext uri="{FF2B5EF4-FFF2-40B4-BE49-F238E27FC236}">
                <a16:creationId xmlns:a16="http://schemas.microsoft.com/office/drawing/2014/main" id="{DBF3B672-D4FD-C60C-9BF5-668B329EFB25}"/>
              </a:ext>
            </a:extLst>
          </p:cNvPr>
          <p:cNvSpPr>
            <a:spLocks noChangeShapeType="1"/>
          </p:cNvSpPr>
          <p:nvPr/>
        </p:nvSpPr>
        <p:spPr bwMode="auto">
          <a:xfrm flipV="1">
            <a:off x="4443414" y="3076575"/>
            <a:ext cx="2066925" cy="2770188"/>
          </a:xfrm>
          <a:prstGeom prst="line">
            <a:avLst/>
          </a:prstGeom>
          <a:noFill/>
          <a:ln w="9525"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917" name="Line 45">
            <a:extLst>
              <a:ext uri="{FF2B5EF4-FFF2-40B4-BE49-F238E27FC236}">
                <a16:creationId xmlns:a16="http://schemas.microsoft.com/office/drawing/2014/main" id="{E60ECD75-D1F5-B04D-5AB1-A2F6B99D0CD8}"/>
              </a:ext>
            </a:extLst>
          </p:cNvPr>
          <p:cNvSpPr>
            <a:spLocks noChangeShapeType="1"/>
          </p:cNvSpPr>
          <p:nvPr/>
        </p:nvSpPr>
        <p:spPr bwMode="auto">
          <a:xfrm>
            <a:off x="6457950" y="3143250"/>
            <a:ext cx="552450" cy="419100"/>
          </a:xfrm>
          <a:prstGeom prst="line">
            <a:avLst/>
          </a:prstGeom>
          <a:noFill/>
          <a:ln w="9525">
            <a:solidFill>
              <a:srgbClr val="3399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918" name="Text Box 46">
            <a:extLst>
              <a:ext uri="{FF2B5EF4-FFF2-40B4-BE49-F238E27FC236}">
                <a16:creationId xmlns:a16="http://schemas.microsoft.com/office/drawing/2014/main" id="{1E04C940-F908-0F5B-9BB3-C91097D62469}"/>
              </a:ext>
            </a:extLst>
          </p:cNvPr>
          <p:cNvSpPr txBox="1">
            <a:spLocks noChangeArrowheads="1"/>
          </p:cNvSpPr>
          <p:nvPr/>
        </p:nvSpPr>
        <p:spPr bwMode="auto">
          <a:xfrm>
            <a:off x="6534150" y="2819400"/>
            <a:ext cx="1143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l-GR" altLang="en-US" i="1"/>
              <a:t>ρ</a:t>
            </a:r>
            <a:endParaRPr lang="en-US" altLang="en-US" i="1"/>
          </a:p>
        </p:txBody>
      </p:sp>
    </p:spTree>
    <p:extLst>
      <p:ext uri="{BB962C8B-B14F-4D97-AF65-F5344CB8AC3E}">
        <p14:creationId xmlns:p14="http://schemas.microsoft.com/office/powerpoint/2010/main" val="1528639923"/>
      </p:ext>
    </p:extLst>
  </p:cSld>
  <p:clrMapOvr>
    <a:masterClrMapping/>
  </p:clrMapOvr>
  <p:transition advTm="34928"/>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79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79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79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79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791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7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a:extLst>
              <a:ext uri="{FF2B5EF4-FFF2-40B4-BE49-F238E27FC236}">
                <a16:creationId xmlns:a16="http://schemas.microsoft.com/office/drawing/2014/main" id="{D728D2D8-4F60-3C58-F534-3EFEB127119B}"/>
              </a:ext>
            </a:extLst>
          </p:cNvPr>
          <p:cNvSpPr>
            <a:spLocks noGrp="1" noChangeArrowheads="1"/>
          </p:cNvSpPr>
          <p:nvPr>
            <p:ph type="title"/>
          </p:nvPr>
        </p:nvSpPr>
        <p:spPr/>
        <p:txBody>
          <a:bodyPr/>
          <a:lstStyle/>
          <a:p>
            <a:r>
              <a:rPr lang="en-US" altLang="en-US"/>
              <a:t>Maximum Margin Classification</a:t>
            </a:r>
          </a:p>
        </p:txBody>
      </p:sp>
      <p:sp>
        <p:nvSpPr>
          <p:cNvPr id="209923" name="Rectangle 3">
            <a:extLst>
              <a:ext uri="{FF2B5EF4-FFF2-40B4-BE49-F238E27FC236}">
                <a16:creationId xmlns:a16="http://schemas.microsoft.com/office/drawing/2014/main" id="{E6BB295A-4104-7DF6-30B4-5677D6A24CE0}"/>
              </a:ext>
            </a:extLst>
          </p:cNvPr>
          <p:cNvSpPr>
            <a:spLocks noGrp="1" noChangeArrowheads="1"/>
          </p:cNvSpPr>
          <p:nvPr>
            <p:ph type="body" idx="1"/>
          </p:nvPr>
        </p:nvSpPr>
        <p:spPr>
          <a:xfrm>
            <a:off x="1981200" y="1419225"/>
            <a:ext cx="8229600" cy="5029200"/>
          </a:xfrm>
        </p:spPr>
        <p:txBody>
          <a:bodyPr/>
          <a:lstStyle/>
          <a:p>
            <a:r>
              <a:rPr lang="en-US" altLang="en-US" sz="2400" dirty="0"/>
              <a:t>Maximizing the margin is good according to intuition and </a:t>
            </a:r>
            <a:r>
              <a:rPr lang="en-AU" sz="2400" dirty="0"/>
              <a:t>probably approximately correct learning (</a:t>
            </a:r>
            <a:r>
              <a:rPr lang="en-US" altLang="en-US" sz="2400" dirty="0"/>
              <a:t>PAC) theory.</a:t>
            </a:r>
          </a:p>
          <a:p>
            <a:r>
              <a:rPr lang="en-US" altLang="en-US" sz="2400" dirty="0"/>
              <a:t>Implies that only support vectors matter; other training examples are ignorable. </a:t>
            </a:r>
          </a:p>
        </p:txBody>
      </p:sp>
      <p:sp>
        <p:nvSpPr>
          <p:cNvPr id="209950" name="Line 30">
            <a:extLst>
              <a:ext uri="{FF2B5EF4-FFF2-40B4-BE49-F238E27FC236}">
                <a16:creationId xmlns:a16="http://schemas.microsoft.com/office/drawing/2014/main" id="{61EE852B-B521-D4A0-F37D-D392A7F07C9D}"/>
              </a:ext>
            </a:extLst>
          </p:cNvPr>
          <p:cNvSpPr>
            <a:spLocks noChangeShapeType="1"/>
          </p:cNvSpPr>
          <p:nvPr/>
        </p:nvSpPr>
        <p:spPr bwMode="auto">
          <a:xfrm flipV="1">
            <a:off x="4187825" y="3340100"/>
            <a:ext cx="0" cy="30416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9951" name="Line 31">
            <a:extLst>
              <a:ext uri="{FF2B5EF4-FFF2-40B4-BE49-F238E27FC236}">
                <a16:creationId xmlns:a16="http://schemas.microsoft.com/office/drawing/2014/main" id="{BFD61E59-3A84-DDD6-8116-663A7CBC4205}"/>
              </a:ext>
            </a:extLst>
          </p:cNvPr>
          <p:cNvSpPr>
            <a:spLocks noChangeShapeType="1"/>
          </p:cNvSpPr>
          <p:nvPr/>
        </p:nvSpPr>
        <p:spPr bwMode="auto">
          <a:xfrm flipV="1">
            <a:off x="4052888" y="6265863"/>
            <a:ext cx="4081462"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9952" name="AutoShape 32">
            <a:extLst>
              <a:ext uri="{FF2B5EF4-FFF2-40B4-BE49-F238E27FC236}">
                <a16:creationId xmlns:a16="http://schemas.microsoft.com/office/drawing/2014/main" id="{CB91981B-1230-5258-33D9-28CCD7694C48}"/>
              </a:ext>
            </a:extLst>
          </p:cNvPr>
          <p:cNvSpPr>
            <a:spLocks noChangeArrowheads="1"/>
          </p:cNvSpPr>
          <p:nvPr/>
        </p:nvSpPr>
        <p:spPr bwMode="auto">
          <a:xfrm>
            <a:off x="5227638" y="409575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53" name="AutoShape 33">
            <a:extLst>
              <a:ext uri="{FF2B5EF4-FFF2-40B4-BE49-F238E27FC236}">
                <a16:creationId xmlns:a16="http://schemas.microsoft.com/office/drawing/2014/main" id="{E09BA773-4B00-5AC1-CC28-A5DCE3D7ED0B}"/>
              </a:ext>
            </a:extLst>
          </p:cNvPr>
          <p:cNvSpPr>
            <a:spLocks noChangeArrowheads="1"/>
          </p:cNvSpPr>
          <p:nvPr/>
        </p:nvSpPr>
        <p:spPr bwMode="auto">
          <a:xfrm>
            <a:off x="4652963" y="44529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54" name="AutoShape 34">
            <a:extLst>
              <a:ext uri="{FF2B5EF4-FFF2-40B4-BE49-F238E27FC236}">
                <a16:creationId xmlns:a16="http://schemas.microsoft.com/office/drawing/2014/main" id="{46590251-3CF7-A5ED-89C6-4ED5310618D4}"/>
              </a:ext>
            </a:extLst>
          </p:cNvPr>
          <p:cNvSpPr>
            <a:spLocks noChangeArrowheads="1"/>
          </p:cNvSpPr>
          <p:nvPr/>
        </p:nvSpPr>
        <p:spPr bwMode="auto">
          <a:xfrm>
            <a:off x="4805363" y="49990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55" name="AutoShape 35">
            <a:extLst>
              <a:ext uri="{FF2B5EF4-FFF2-40B4-BE49-F238E27FC236}">
                <a16:creationId xmlns:a16="http://schemas.microsoft.com/office/drawing/2014/main" id="{854DEEAB-B846-6117-6780-3E0F8958D185}"/>
              </a:ext>
            </a:extLst>
          </p:cNvPr>
          <p:cNvSpPr>
            <a:spLocks noChangeArrowheads="1"/>
          </p:cNvSpPr>
          <p:nvPr/>
        </p:nvSpPr>
        <p:spPr bwMode="auto">
          <a:xfrm>
            <a:off x="4424363" y="54562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56" name="AutoShape 36">
            <a:extLst>
              <a:ext uri="{FF2B5EF4-FFF2-40B4-BE49-F238E27FC236}">
                <a16:creationId xmlns:a16="http://schemas.microsoft.com/office/drawing/2014/main" id="{84483320-C004-06A1-8E6B-084972553DBD}"/>
              </a:ext>
            </a:extLst>
          </p:cNvPr>
          <p:cNvSpPr>
            <a:spLocks noChangeArrowheads="1"/>
          </p:cNvSpPr>
          <p:nvPr/>
        </p:nvSpPr>
        <p:spPr bwMode="auto">
          <a:xfrm>
            <a:off x="4957763" y="38560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57" name="AutoShape 37">
            <a:extLst>
              <a:ext uri="{FF2B5EF4-FFF2-40B4-BE49-F238E27FC236}">
                <a16:creationId xmlns:a16="http://schemas.microsoft.com/office/drawing/2014/main" id="{BC0422BF-7338-82E0-399B-DA7A17E55E35}"/>
              </a:ext>
            </a:extLst>
          </p:cNvPr>
          <p:cNvSpPr>
            <a:spLocks noChangeArrowheads="1"/>
          </p:cNvSpPr>
          <p:nvPr/>
        </p:nvSpPr>
        <p:spPr bwMode="auto">
          <a:xfrm>
            <a:off x="4424363" y="47704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58" name="AutoShape 38">
            <a:extLst>
              <a:ext uri="{FF2B5EF4-FFF2-40B4-BE49-F238E27FC236}">
                <a16:creationId xmlns:a16="http://schemas.microsoft.com/office/drawing/2014/main" id="{49FB655E-0D26-25F6-42A7-D0B95796134A}"/>
              </a:ext>
            </a:extLst>
          </p:cNvPr>
          <p:cNvSpPr>
            <a:spLocks noChangeArrowheads="1"/>
          </p:cNvSpPr>
          <p:nvPr/>
        </p:nvSpPr>
        <p:spPr bwMode="auto">
          <a:xfrm>
            <a:off x="4576763" y="49228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59" name="AutoShape 39">
            <a:extLst>
              <a:ext uri="{FF2B5EF4-FFF2-40B4-BE49-F238E27FC236}">
                <a16:creationId xmlns:a16="http://schemas.microsoft.com/office/drawing/2014/main" id="{87CC0763-C0B4-4FCA-2250-DF40AFACE1A2}"/>
              </a:ext>
            </a:extLst>
          </p:cNvPr>
          <p:cNvSpPr>
            <a:spLocks noChangeArrowheads="1"/>
          </p:cNvSpPr>
          <p:nvPr/>
        </p:nvSpPr>
        <p:spPr bwMode="auto">
          <a:xfrm>
            <a:off x="5338763" y="45418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60" name="AutoShape 40">
            <a:extLst>
              <a:ext uri="{FF2B5EF4-FFF2-40B4-BE49-F238E27FC236}">
                <a16:creationId xmlns:a16="http://schemas.microsoft.com/office/drawing/2014/main" id="{468D7E5C-A875-726C-D2AD-DE3885CB7DB1}"/>
              </a:ext>
            </a:extLst>
          </p:cNvPr>
          <p:cNvSpPr>
            <a:spLocks noChangeArrowheads="1"/>
          </p:cNvSpPr>
          <p:nvPr/>
        </p:nvSpPr>
        <p:spPr bwMode="auto">
          <a:xfrm>
            <a:off x="6240463" y="45291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61" name="AutoShape 41">
            <a:extLst>
              <a:ext uri="{FF2B5EF4-FFF2-40B4-BE49-F238E27FC236}">
                <a16:creationId xmlns:a16="http://schemas.microsoft.com/office/drawing/2014/main" id="{77D04A29-FD87-8DB7-25C5-6169AAF4510D}"/>
              </a:ext>
            </a:extLst>
          </p:cNvPr>
          <p:cNvSpPr>
            <a:spLocks noChangeArrowheads="1"/>
          </p:cNvSpPr>
          <p:nvPr/>
        </p:nvSpPr>
        <p:spPr bwMode="auto">
          <a:xfrm>
            <a:off x="5872163" y="54562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62" name="AutoShape 42">
            <a:extLst>
              <a:ext uri="{FF2B5EF4-FFF2-40B4-BE49-F238E27FC236}">
                <a16:creationId xmlns:a16="http://schemas.microsoft.com/office/drawing/2014/main" id="{B347CD5A-740F-D784-5DE5-49B7DE36D00B}"/>
              </a:ext>
            </a:extLst>
          </p:cNvPr>
          <p:cNvSpPr>
            <a:spLocks noChangeArrowheads="1"/>
          </p:cNvSpPr>
          <p:nvPr/>
        </p:nvSpPr>
        <p:spPr bwMode="auto">
          <a:xfrm>
            <a:off x="6862763" y="54562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63" name="AutoShape 43">
            <a:extLst>
              <a:ext uri="{FF2B5EF4-FFF2-40B4-BE49-F238E27FC236}">
                <a16:creationId xmlns:a16="http://schemas.microsoft.com/office/drawing/2014/main" id="{8D96E842-2FE2-31D6-33BE-CFEBF23BD39B}"/>
              </a:ext>
            </a:extLst>
          </p:cNvPr>
          <p:cNvSpPr>
            <a:spLocks noChangeArrowheads="1"/>
          </p:cNvSpPr>
          <p:nvPr/>
        </p:nvSpPr>
        <p:spPr bwMode="auto">
          <a:xfrm>
            <a:off x="5554663" y="59769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64" name="AutoShape 44">
            <a:extLst>
              <a:ext uri="{FF2B5EF4-FFF2-40B4-BE49-F238E27FC236}">
                <a16:creationId xmlns:a16="http://schemas.microsoft.com/office/drawing/2014/main" id="{C04B6782-AED1-29E2-F8CF-5D30EA6CB25E}"/>
              </a:ext>
            </a:extLst>
          </p:cNvPr>
          <p:cNvSpPr>
            <a:spLocks noChangeArrowheads="1"/>
          </p:cNvSpPr>
          <p:nvPr/>
        </p:nvSpPr>
        <p:spPr bwMode="auto">
          <a:xfrm>
            <a:off x="6176963" y="48466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65" name="AutoShape 45">
            <a:extLst>
              <a:ext uri="{FF2B5EF4-FFF2-40B4-BE49-F238E27FC236}">
                <a16:creationId xmlns:a16="http://schemas.microsoft.com/office/drawing/2014/main" id="{CBE2D9A1-DE35-0262-D4C9-0206C7806E94}"/>
              </a:ext>
            </a:extLst>
          </p:cNvPr>
          <p:cNvSpPr>
            <a:spLocks noChangeArrowheads="1"/>
          </p:cNvSpPr>
          <p:nvPr/>
        </p:nvSpPr>
        <p:spPr bwMode="auto">
          <a:xfrm>
            <a:off x="5608638" y="5340350"/>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66" name="AutoShape 46">
            <a:extLst>
              <a:ext uri="{FF2B5EF4-FFF2-40B4-BE49-F238E27FC236}">
                <a16:creationId xmlns:a16="http://schemas.microsoft.com/office/drawing/2014/main" id="{5E46E92F-84D0-AE86-924C-520730DA0BBD}"/>
              </a:ext>
            </a:extLst>
          </p:cNvPr>
          <p:cNvSpPr>
            <a:spLocks noChangeArrowheads="1"/>
          </p:cNvSpPr>
          <p:nvPr/>
        </p:nvSpPr>
        <p:spPr bwMode="auto">
          <a:xfrm>
            <a:off x="6253163" y="56848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67" name="AutoShape 47">
            <a:extLst>
              <a:ext uri="{FF2B5EF4-FFF2-40B4-BE49-F238E27FC236}">
                <a16:creationId xmlns:a16="http://schemas.microsoft.com/office/drawing/2014/main" id="{AEBD6164-DDB5-13C5-EE1C-82EC8FFDED49}"/>
              </a:ext>
            </a:extLst>
          </p:cNvPr>
          <p:cNvSpPr>
            <a:spLocks noChangeArrowheads="1"/>
          </p:cNvSpPr>
          <p:nvPr/>
        </p:nvSpPr>
        <p:spPr bwMode="auto">
          <a:xfrm>
            <a:off x="6938963" y="47704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68" name="AutoShape 48">
            <a:extLst>
              <a:ext uri="{FF2B5EF4-FFF2-40B4-BE49-F238E27FC236}">
                <a16:creationId xmlns:a16="http://schemas.microsoft.com/office/drawing/2014/main" id="{846036D1-8DFA-8014-0C72-173C35859A05}"/>
              </a:ext>
            </a:extLst>
          </p:cNvPr>
          <p:cNvSpPr>
            <a:spLocks noChangeArrowheads="1"/>
          </p:cNvSpPr>
          <p:nvPr/>
        </p:nvSpPr>
        <p:spPr bwMode="auto">
          <a:xfrm>
            <a:off x="5424488" y="325755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69" name="AutoShape 49">
            <a:extLst>
              <a:ext uri="{FF2B5EF4-FFF2-40B4-BE49-F238E27FC236}">
                <a16:creationId xmlns:a16="http://schemas.microsoft.com/office/drawing/2014/main" id="{5083303C-F8F4-C266-41D7-23F887D6A7B4}"/>
              </a:ext>
            </a:extLst>
          </p:cNvPr>
          <p:cNvSpPr>
            <a:spLocks noChangeArrowheads="1"/>
          </p:cNvSpPr>
          <p:nvPr/>
        </p:nvSpPr>
        <p:spPr bwMode="auto">
          <a:xfrm>
            <a:off x="6034088" y="333375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70" name="AutoShape 50">
            <a:extLst>
              <a:ext uri="{FF2B5EF4-FFF2-40B4-BE49-F238E27FC236}">
                <a16:creationId xmlns:a16="http://schemas.microsoft.com/office/drawing/2014/main" id="{BF31827B-218D-92D6-D0D8-8FEF4AE3BB73}"/>
              </a:ext>
            </a:extLst>
          </p:cNvPr>
          <p:cNvSpPr>
            <a:spLocks noChangeArrowheads="1"/>
          </p:cNvSpPr>
          <p:nvPr/>
        </p:nvSpPr>
        <p:spPr bwMode="auto">
          <a:xfrm>
            <a:off x="7100888" y="4095750"/>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71" name="Line 51">
            <a:extLst>
              <a:ext uri="{FF2B5EF4-FFF2-40B4-BE49-F238E27FC236}">
                <a16:creationId xmlns:a16="http://schemas.microsoft.com/office/drawing/2014/main" id="{014E160D-35ED-93E7-F925-17A25F90B47D}"/>
              </a:ext>
            </a:extLst>
          </p:cNvPr>
          <p:cNvSpPr>
            <a:spLocks noChangeShapeType="1"/>
          </p:cNvSpPr>
          <p:nvPr/>
        </p:nvSpPr>
        <p:spPr bwMode="auto">
          <a:xfrm flipV="1">
            <a:off x="4652964" y="3257550"/>
            <a:ext cx="2143125" cy="288448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9973" name="Line 53">
            <a:extLst>
              <a:ext uri="{FF2B5EF4-FFF2-40B4-BE49-F238E27FC236}">
                <a16:creationId xmlns:a16="http://schemas.microsoft.com/office/drawing/2014/main" id="{1FBB0AFA-7BB7-8225-BA54-C741C71B3F00}"/>
              </a:ext>
            </a:extLst>
          </p:cNvPr>
          <p:cNvSpPr>
            <a:spLocks noChangeShapeType="1"/>
          </p:cNvSpPr>
          <p:nvPr/>
        </p:nvSpPr>
        <p:spPr bwMode="auto">
          <a:xfrm flipH="1" flipV="1">
            <a:off x="5988050" y="4362450"/>
            <a:ext cx="254000" cy="1841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9975" name="Oval 55">
            <a:extLst>
              <a:ext uri="{FF2B5EF4-FFF2-40B4-BE49-F238E27FC236}">
                <a16:creationId xmlns:a16="http://schemas.microsoft.com/office/drawing/2014/main" id="{60F19C8A-2D1D-73E8-D43F-51297CA40347}"/>
              </a:ext>
            </a:extLst>
          </p:cNvPr>
          <p:cNvSpPr>
            <a:spLocks noChangeArrowheads="1"/>
          </p:cNvSpPr>
          <p:nvPr/>
        </p:nvSpPr>
        <p:spPr bwMode="auto">
          <a:xfrm>
            <a:off x="5264150" y="4476751"/>
            <a:ext cx="228600" cy="219075"/>
          </a:xfrm>
          <a:prstGeom prst="ellipse">
            <a:avLst/>
          </a:prstGeom>
          <a:noFill/>
          <a:ln w="1905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76" name="Oval 56">
            <a:extLst>
              <a:ext uri="{FF2B5EF4-FFF2-40B4-BE49-F238E27FC236}">
                <a16:creationId xmlns:a16="http://schemas.microsoft.com/office/drawing/2014/main" id="{6593F3AF-57E8-1DAE-CA77-6F0FAC30044C}"/>
              </a:ext>
            </a:extLst>
          </p:cNvPr>
          <p:cNvSpPr>
            <a:spLocks noChangeArrowheads="1"/>
          </p:cNvSpPr>
          <p:nvPr/>
        </p:nvSpPr>
        <p:spPr bwMode="auto">
          <a:xfrm>
            <a:off x="5537200" y="5272089"/>
            <a:ext cx="228600" cy="219075"/>
          </a:xfrm>
          <a:prstGeom prst="ellipse">
            <a:avLst/>
          </a:prstGeom>
          <a:noFill/>
          <a:ln w="19050" algn="ctr">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77" name="Oval 57">
            <a:extLst>
              <a:ext uri="{FF2B5EF4-FFF2-40B4-BE49-F238E27FC236}">
                <a16:creationId xmlns:a16="http://schemas.microsoft.com/office/drawing/2014/main" id="{A06067DB-A088-6274-C7C2-91AD32046A25}"/>
              </a:ext>
            </a:extLst>
          </p:cNvPr>
          <p:cNvSpPr>
            <a:spLocks noChangeArrowheads="1"/>
          </p:cNvSpPr>
          <p:nvPr/>
        </p:nvSpPr>
        <p:spPr bwMode="auto">
          <a:xfrm>
            <a:off x="6170613" y="4459289"/>
            <a:ext cx="228600" cy="219075"/>
          </a:xfrm>
          <a:prstGeom prst="ellipse">
            <a:avLst/>
          </a:prstGeom>
          <a:noFill/>
          <a:ln w="19050" algn="ctr">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978" name="Line 58">
            <a:extLst>
              <a:ext uri="{FF2B5EF4-FFF2-40B4-BE49-F238E27FC236}">
                <a16:creationId xmlns:a16="http://schemas.microsoft.com/office/drawing/2014/main" id="{2C53E901-57ED-97B1-335C-C1ABC2B968E5}"/>
              </a:ext>
            </a:extLst>
          </p:cNvPr>
          <p:cNvSpPr>
            <a:spLocks noChangeShapeType="1"/>
          </p:cNvSpPr>
          <p:nvPr/>
        </p:nvSpPr>
        <p:spPr bwMode="auto">
          <a:xfrm flipH="1" flipV="1">
            <a:off x="5364164" y="5176839"/>
            <a:ext cx="244475" cy="1746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9979" name="Line 59">
            <a:extLst>
              <a:ext uri="{FF2B5EF4-FFF2-40B4-BE49-F238E27FC236}">
                <a16:creationId xmlns:a16="http://schemas.microsoft.com/office/drawing/2014/main" id="{58C05637-ADBC-ACD0-F623-0B4DB9E23963}"/>
              </a:ext>
            </a:extLst>
          </p:cNvPr>
          <p:cNvSpPr>
            <a:spLocks noChangeShapeType="1"/>
          </p:cNvSpPr>
          <p:nvPr/>
        </p:nvSpPr>
        <p:spPr bwMode="auto">
          <a:xfrm flipH="1" flipV="1">
            <a:off x="5416550" y="4614864"/>
            <a:ext cx="234950" cy="17938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9980" name="Line 60">
            <a:extLst>
              <a:ext uri="{FF2B5EF4-FFF2-40B4-BE49-F238E27FC236}">
                <a16:creationId xmlns:a16="http://schemas.microsoft.com/office/drawing/2014/main" id="{20A10AFD-FED7-B3C5-A81E-2A7C6C3FE30E}"/>
              </a:ext>
            </a:extLst>
          </p:cNvPr>
          <p:cNvSpPr>
            <a:spLocks noChangeShapeType="1"/>
          </p:cNvSpPr>
          <p:nvPr/>
        </p:nvSpPr>
        <p:spPr bwMode="auto">
          <a:xfrm flipV="1">
            <a:off x="5091114" y="3438525"/>
            <a:ext cx="2009775" cy="2693988"/>
          </a:xfrm>
          <a:prstGeom prst="line">
            <a:avLst/>
          </a:prstGeom>
          <a:noFill/>
          <a:ln w="9525"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9981" name="Line 61">
            <a:extLst>
              <a:ext uri="{FF2B5EF4-FFF2-40B4-BE49-F238E27FC236}">
                <a16:creationId xmlns:a16="http://schemas.microsoft.com/office/drawing/2014/main" id="{48D06575-5B05-4C58-B0E3-C8F0632124B0}"/>
              </a:ext>
            </a:extLst>
          </p:cNvPr>
          <p:cNvSpPr>
            <a:spLocks noChangeShapeType="1"/>
          </p:cNvSpPr>
          <p:nvPr/>
        </p:nvSpPr>
        <p:spPr bwMode="auto">
          <a:xfrm flipV="1">
            <a:off x="4443414" y="3076575"/>
            <a:ext cx="2066925" cy="2770188"/>
          </a:xfrm>
          <a:prstGeom prst="line">
            <a:avLst/>
          </a:prstGeom>
          <a:noFill/>
          <a:ln w="9525"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Tree>
    <p:extLst>
      <p:ext uri="{BB962C8B-B14F-4D97-AF65-F5344CB8AC3E}">
        <p14:creationId xmlns:p14="http://schemas.microsoft.com/office/powerpoint/2010/main" val="15540767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997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997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997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998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99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96718C41-D694-757B-8BC7-62E2586A4351}"/>
              </a:ext>
            </a:extLst>
          </p:cNvPr>
          <p:cNvSpPr>
            <a:spLocks noGrp="1"/>
          </p:cNvSpPr>
          <p:nvPr>
            <p:ph type="title"/>
          </p:nvPr>
        </p:nvSpPr>
        <p:spPr/>
        <p:txBody>
          <a:bodyPr/>
          <a:lstStyle/>
          <a:p>
            <a:pPr eaLnBrk="1" hangingPunct="1"/>
            <a:r>
              <a:rPr lang="en-US" altLang="en-US" b="1"/>
              <a:t>Identify the right hyperplane (Scenario-3)</a:t>
            </a:r>
            <a:endParaRPr lang="en-US" altLang="en-US"/>
          </a:p>
        </p:txBody>
      </p:sp>
      <p:sp>
        <p:nvSpPr>
          <p:cNvPr id="19459" name="Content Placeholder 2">
            <a:extLst>
              <a:ext uri="{FF2B5EF4-FFF2-40B4-BE49-F238E27FC236}">
                <a16:creationId xmlns:a16="http://schemas.microsoft.com/office/drawing/2014/main" id="{6C19A1C7-FA88-935F-263F-336FB7CC24AB}"/>
              </a:ext>
            </a:extLst>
          </p:cNvPr>
          <p:cNvSpPr>
            <a:spLocks noGrp="1"/>
          </p:cNvSpPr>
          <p:nvPr>
            <p:ph idx="1"/>
          </p:nvPr>
        </p:nvSpPr>
        <p:spPr>
          <a:xfrm>
            <a:off x="838200" y="1825625"/>
            <a:ext cx="10764838" cy="4776788"/>
          </a:xfrm>
        </p:spPr>
        <p:txBody>
          <a:bodyPr>
            <a:normAutofit/>
          </a:bodyPr>
          <a:lstStyle/>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marL="0" indent="0" eaLnBrk="1" hangingPunct="1">
              <a:buNone/>
            </a:pPr>
            <a:endParaRPr lang="en-US" altLang="en-US" dirty="0"/>
          </a:p>
          <a:p>
            <a:pPr eaLnBrk="1" hangingPunct="1"/>
            <a:r>
              <a:rPr lang="en-US" altLang="en-US" dirty="0"/>
              <a:t>Some of you may have selected the hyper-plane </a:t>
            </a:r>
            <a:r>
              <a:rPr lang="en-US" altLang="en-US" b="1" dirty="0"/>
              <a:t>B </a:t>
            </a:r>
            <a:r>
              <a:rPr lang="en-US" altLang="en-US" dirty="0"/>
              <a:t>as it has higher margin compared to </a:t>
            </a:r>
            <a:r>
              <a:rPr lang="en-US" altLang="en-US" b="1" dirty="0"/>
              <a:t>A. </a:t>
            </a:r>
            <a:r>
              <a:rPr lang="en-US" altLang="en-US" dirty="0"/>
              <a:t>But, here is the catch, SVM selects the hyperplane which classifies the classes accurately prior to maximizing margin. Here, hyperplane B has a classification error and A has classified all correctly. Therefore, the right hyperplane is </a:t>
            </a:r>
            <a:r>
              <a:rPr lang="en-US" altLang="en-US" b="1" dirty="0"/>
              <a:t>A.</a:t>
            </a:r>
            <a:endParaRPr lang="en-US" altLang="en-US" dirty="0"/>
          </a:p>
        </p:txBody>
      </p:sp>
      <p:pic>
        <p:nvPicPr>
          <p:cNvPr id="19460" name="Picture 2" descr="SVM_5">
            <a:extLst>
              <a:ext uri="{FF2B5EF4-FFF2-40B4-BE49-F238E27FC236}">
                <a16:creationId xmlns:a16="http://schemas.microsoft.com/office/drawing/2014/main" id="{B4B37E0B-F6F2-19A6-751F-69728398CA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7342" y="1507396"/>
            <a:ext cx="5076954" cy="3612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C78F1371-DB8C-10E5-4FA8-45C27DFBA43F}"/>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35230BB-437D-A041-A4BE-E682311CBDC7}" type="slidenum">
              <a:rPr lang="en-US" altLang="en-US">
                <a:solidFill>
                  <a:srgbClr val="898989"/>
                </a:solidFill>
              </a:rPr>
              <a:pPr/>
              <a:t>21</a:t>
            </a:fld>
            <a:endParaRPr lang="en-US" altLang="en-US">
              <a:solidFill>
                <a:srgbClr val="89898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62E78C93-5488-C836-6279-3774F711C47E}"/>
              </a:ext>
            </a:extLst>
          </p:cNvPr>
          <p:cNvSpPr>
            <a:spLocks noGrp="1"/>
          </p:cNvSpPr>
          <p:nvPr>
            <p:ph type="title"/>
          </p:nvPr>
        </p:nvSpPr>
        <p:spPr/>
        <p:txBody>
          <a:bodyPr/>
          <a:lstStyle/>
          <a:p>
            <a:pPr eaLnBrk="1" hangingPunct="1"/>
            <a:r>
              <a:rPr lang="en-US" altLang="en-US" b="1"/>
              <a:t>Can we classify two classes (Scenario-4)?</a:t>
            </a:r>
            <a:endParaRPr lang="en-US" altLang="en-US"/>
          </a:p>
        </p:txBody>
      </p:sp>
      <p:sp>
        <p:nvSpPr>
          <p:cNvPr id="3" name="Content Placeholder 2">
            <a:extLst>
              <a:ext uri="{FF2B5EF4-FFF2-40B4-BE49-F238E27FC236}">
                <a16:creationId xmlns:a16="http://schemas.microsoft.com/office/drawing/2014/main" id="{29809512-1FB2-54BE-12C0-8550077E30B4}"/>
              </a:ext>
            </a:extLst>
          </p:cNvPr>
          <p:cNvSpPr>
            <a:spLocks noGrp="1"/>
          </p:cNvSpPr>
          <p:nvPr>
            <p:ph idx="1"/>
          </p:nvPr>
        </p:nvSpPr>
        <p:spPr/>
        <p:txBody>
          <a:bodyPr rtlCol="0">
            <a:normAutofit/>
          </a:bodyPr>
          <a:lstStyle/>
          <a:p>
            <a:pPr marL="0" indent="0" eaLnBrk="1" fontAlgn="auto" hangingPunct="1">
              <a:spcAft>
                <a:spcPts val="0"/>
              </a:spcAft>
              <a:buFont typeface="Arial" panose="020B0604020202020204" pitchFamily="34" charset="0"/>
              <a:buNone/>
              <a:defRPr/>
            </a:pPr>
            <a:endParaRPr lang="en-US" dirty="0"/>
          </a:p>
          <a:p>
            <a:pPr marL="0" indent="0" eaLnBrk="1" fontAlgn="auto" hangingPunct="1">
              <a:spcAft>
                <a:spcPts val="0"/>
              </a:spcAft>
              <a:buFont typeface="Arial" panose="020B0604020202020204" pitchFamily="34" charset="0"/>
              <a:buNone/>
              <a:defRPr/>
            </a:pPr>
            <a:endParaRPr lang="en-US" dirty="0"/>
          </a:p>
          <a:p>
            <a:pPr marL="0" indent="0" eaLnBrk="1" fontAlgn="auto" hangingPunct="1">
              <a:spcAft>
                <a:spcPts val="0"/>
              </a:spcAft>
              <a:buFont typeface="Arial" panose="020B0604020202020204" pitchFamily="34" charset="0"/>
              <a:buNone/>
              <a:defRPr/>
            </a:pPr>
            <a:endParaRPr lang="en-US" dirty="0"/>
          </a:p>
          <a:p>
            <a:pPr marL="0" indent="0" eaLnBrk="1" fontAlgn="auto" hangingPunct="1">
              <a:spcAft>
                <a:spcPts val="0"/>
              </a:spcAft>
              <a:buFont typeface="Arial" panose="020B0604020202020204" pitchFamily="34" charset="0"/>
              <a:buNone/>
              <a:defRPr/>
            </a:pPr>
            <a:endParaRPr lang="en-US" dirty="0"/>
          </a:p>
          <a:p>
            <a:pPr marL="0" indent="0" eaLnBrk="1" fontAlgn="auto" hangingPunct="1">
              <a:spcAft>
                <a:spcPts val="0"/>
              </a:spcAft>
              <a:buFont typeface="Arial" panose="020B0604020202020204" pitchFamily="34" charset="0"/>
              <a:buNone/>
              <a:defRPr/>
            </a:pPr>
            <a:endParaRPr lang="en-US" dirty="0"/>
          </a:p>
          <a:p>
            <a:pPr marL="0" indent="0" eaLnBrk="1" fontAlgn="auto" hangingPunct="1">
              <a:spcAft>
                <a:spcPts val="0"/>
              </a:spcAft>
              <a:buFont typeface="Arial" panose="020B0604020202020204" pitchFamily="34" charset="0"/>
              <a:buNone/>
              <a:defRPr/>
            </a:pPr>
            <a:endParaRPr lang="en-US" dirty="0"/>
          </a:p>
          <a:p>
            <a:pPr marL="0" indent="0" eaLnBrk="1" fontAlgn="auto" hangingPunct="1">
              <a:spcAft>
                <a:spcPts val="0"/>
              </a:spcAft>
              <a:buFont typeface="Arial" panose="020B0604020202020204" pitchFamily="34" charset="0"/>
              <a:buNone/>
              <a:defRPr/>
            </a:pPr>
            <a:endParaRPr lang="en-US" dirty="0"/>
          </a:p>
          <a:p>
            <a:pPr marL="0" indent="0" eaLnBrk="1" fontAlgn="auto" hangingPunct="1">
              <a:spcAft>
                <a:spcPts val="0"/>
              </a:spcAft>
              <a:buFont typeface="Arial" panose="020B0604020202020204" pitchFamily="34" charset="0"/>
              <a:buNone/>
              <a:defRPr/>
            </a:pPr>
            <a:endParaRPr lang="en-US" dirty="0"/>
          </a:p>
          <a:p>
            <a:pPr eaLnBrk="1" fontAlgn="auto" hangingPunct="1">
              <a:spcAft>
                <a:spcPts val="0"/>
              </a:spcAft>
              <a:defRPr/>
            </a:pPr>
            <a:r>
              <a:rPr lang="en-US" dirty="0"/>
              <a:t>We are unable to segregate the two classes using a straight line, as one of star lies in the territory of other (circle) class as an outlier. </a:t>
            </a:r>
          </a:p>
          <a:p>
            <a:pPr eaLnBrk="1" fontAlgn="auto" hangingPunct="1">
              <a:spcAft>
                <a:spcPts val="0"/>
              </a:spcAft>
              <a:defRPr/>
            </a:pPr>
            <a:r>
              <a:rPr lang="en-US" dirty="0"/>
              <a:t>One star at other end is like an outlier for star class. SVM has a feature to ignore outliers and find the hyperplane that has maximum margin. Hence, we can say, SVM is robust to outliers.</a:t>
            </a:r>
          </a:p>
        </p:txBody>
      </p:sp>
      <p:pic>
        <p:nvPicPr>
          <p:cNvPr id="20484" name="Picture 2" descr="SVM_6">
            <a:extLst>
              <a:ext uri="{FF2B5EF4-FFF2-40B4-BE49-F238E27FC236}">
                <a16:creationId xmlns:a16="http://schemas.microsoft.com/office/drawing/2014/main" id="{39479E6B-8B14-20C3-95AB-86384BE51A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211" y="1546970"/>
            <a:ext cx="4654477" cy="3012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Picture 4" descr="SVM_7">
            <a:extLst>
              <a:ext uri="{FF2B5EF4-FFF2-40B4-BE49-F238E27FC236}">
                <a16:creationId xmlns:a16="http://schemas.microsoft.com/office/drawing/2014/main" id="{E643C92E-CD0C-56C1-757E-4AA265F6F1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0358" y="1495239"/>
            <a:ext cx="4414228" cy="2970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32ECF06D-8800-A966-FC13-342EE257C15F}"/>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CE4E473C-B8F1-AE46-9CD1-B29E2CC32ADC}" type="slidenum">
              <a:rPr lang="en-US" altLang="en-US">
                <a:solidFill>
                  <a:srgbClr val="898989"/>
                </a:solidFill>
              </a:rPr>
              <a:pPr/>
              <a:t>22</a:t>
            </a:fld>
            <a:endParaRPr lang="en-US" altLang="en-US">
              <a:solidFill>
                <a:srgbClr val="898989"/>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375A9180-C825-DF7B-06F6-C35E88C414CE}"/>
              </a:ext>
            </a:extLst>
          </p:cNvPr>
          <p:cNvSpPr>
            <a:spLocks noGrp="1"/>
          </p:cNvSpPr>
          <p:nvPr>
            <p:ph type="title"/>
          </p:nvPr>
        </p:nvSpPr>
        <p:spPr/>
        <p:txBody>
          <a:bodyPr/>
          <a:lstStyle/>
          <a:p>
            <a:pPr eaLnBrk="1" hangingPunct="1"/>
            <a:r>
              <a:rPr lang="en-US" altLang="en-US" b="1"/>
              <a:t>Find the hyperplane to segregate to classes (Scenario-5)</a:t>
            </a:r>
            <a:endParaRPr lang="en-US" altLang="en-US"/>
          </a:p>
        </p:txBody>
      </p:sp>
      <p:sp>
        <p:nvSpPr>
          <p:cNvPr id="21507" name="Content Placeholder 2">
            <a:extLst>
              <a:ext uri="{FF2B5EF4-FFF2-40B4-BE49-F238E27FC236}">
                <a16:creationId xmlns:a16="http://schemas.microsoft.com/office/drawing/2014/main" id="{3CEBA503-662D-0C14-10AC-7872392490F3}"/>
              </a:ext>
            </a:extLst>
          </p:cNvPr>
          <p:cNvSpPr>
            <a:spLocks noGrp="1"/>
          </p:cNvSpPr>
          <p:nvPr>
            <p:ph idx="1"/>
          </p:nvPr>
        </p:nvSpPr>
        <p:spPr/>
        <p:txBody>
          <a:bodyPr/>
          <a:lstStyle/>
          <a:p>
            <a:pPr eaLnBrk="1" hangingPunct="1"/>
            <a:r>
              <a:rPr lang="en-US" altLang="en-US"/>
              <a:t>In the scenario below, we can’t have linear hyperplane between the two classes, so how does SVM classify these two classes? Till now, we have only looked at the linear hyperplane.</a:t>
            </a:r>
          </a:p>
        </p:txBody>
      </p:sp>
      <p:pic>
        <p:nvPicPr>
          <p:cNvPr id="21508" name="Picture 2" descr="SVM_8">
            <a:extLst>
              <a:ext uri="{FF2B5EF4-FFF2-40B4-BE49-F238E27FC236}">
                <a16:creationId xmlns:a16="http://schemas.microsoft.com/office/drawing/2014/main" id="{75432157-BE97-FA63-E961-7CD327A0D9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110" y="2410083"/>
            <a:ext cx="4379913"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TextBox 3">
            <a:extLst>
              <a:ext uri="{FF2B5EF4-FFF2-40B4-BE49-F238E27FC236}">
                <a16:creationId xmlns:a16="http://schemas.microsoft.com/office/drawing/2014/main" id="{2228748D-5682-3C6A-5830-D763AE2A6FEB}"/>
              </a:ext>
            </a:extLst>
          </p:cNvPr>
          <p:cNvSpPr txBox="1">
            <a:spLocks noChangeArrowheads="1"/>
          </p:cNvSpPr>
          <p:nvPr/>
        </p:nvSpPr>
        <p:spPr bwMode="auto">
          <a:xfrm>
            <a:off x="5980113" y="3282950"/>
            <a:ext cx="48006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a:t>SVM can solve this problem. It solves this problem by introducing additional feature. Here, we will add a new feature z=x</a:t>
            </a:r>
            <a:r>
              <a:rPr lang="en-US" altLang="en-US" baseline="30000"/>
              <a:t>2</a:t>
            </a:r>
            <a:r>
              <a:rPr lang="en-US" altLang="en-US"/>
              <a:t>+y</a:t>
            </a:r>
            <a:r>
              <a:rPr lang="en-US" altLang="en-US" baseline="30000"/>
              <a:t>2</a:t>
            </a:r>
            <a:r>
              <a:rPr lang="en-US" altLang="en-US"/>
              <a:t>. </a:t>
            </a:r>
          </a:p>
        </p:txBody>
      </p:sp>
      <p:sp>
        <p:nvSpPr>
          <p:cNvPr id="2" name="Slide Number Placeholder 1">
            <a:extLst>
              <a:ext uri="{FF2B5EF4-FFF2-40B4-BE49-F238E27FC236}">
                <a16:creationId xmlns:a16="http://schemas.microsoft.com/office/drawing/2014/main" id="{DD63A323-A0F5-D260-BAE4-71D3E02D7A4D}"/>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FC792D9-56E3-7447-8CF5-1921C874B7F5}" type="slidenum">
              <a:rPr lang="en-US" altLang="en-US">
                <a:solidFill>
                  <a:srgbClr val="898989"/>
                </a:solidFill>
              </a:rPr>
              <a:pPr/>
              <a:t>23</a:t>
            </a:fld>
            <a:endParaRPr lang="en-US" altLang="en-US">
              <a:solidFill>
                <a:srgbClr val="898989"/>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998F3BA0-5CEC-7455-767E-4CE062605DF3}"/>
              </a:ext>
            </a:extLst>
          </p:cNvPr>
          <p:cNvSpPr>
            <a:spLocks noGrp="1"/>
          </p:cNvSpPr>
          <p:nvPr>
            <p:ph type="title"/>
          </p:nvPr>
        </p:nvSpPr>
        <p:spPr/>
        <p:txBody>
          <a:bodyPr/>
          <a:lstStyle/>
          <a:p>
            <a:pPr eaLnBrk="1" hangingPunct="1"/>
            <a:r>
              <a:rPr lang="en-US" altLang="en-US" b="1"/>
              <a:t>Scenario-5</a:t>
            </a:r>
            <a:endParaRPr lang="en-US" altLang="en-US"/>
          </a:p>
        </p:txBody>
      </p:sp>
      <p:sp>
        <p:nvSpPr>
          <p:cNvPr id="3" name="Content Placeholder 2">
            <a:extLst>
              <a:ext uri="{FF2B5EF4-FFF2-40B4-BE49-F238E27FC236}">
                <a16:creationId xmlns:a16="http://schemas.microsoft.com/office/drawing/2014/main" id="{952473F0-706B-5222-B371-E077339B78DE}"/>
              </a:ext>
            </a:extLst>
          </p:cNvPr>
          <p:cNvSpPr>
            <a:spLocks noGrp="1"/>
          </p:cNvSpPr>
          <p:nvPr>
            <p:ph idx="1"/>
          </p:nvPr>
        </p:nvSpPr>
        <p:spPr>
          <a:xfrm>
            <a:off x="838200" y="1381125"/>
            <a:ext cx="10956925" cy="5156200"/>
          </a:xfrm>
        </p:spPr>
        <p:txBody>
          <a:bodyPr rtlCol="0">
            <a:normAutofit/>
          </a:bodyPr>
          <a:lstStyle/>
          <a:p>
            <a:pPr eaLnBrk="1" fontAlgn="auto" hangingPunct="1">
              <a:spcAft>
                <a:spcPts val="0"/>
              </a:spcAft>
              <a:defRPr/>
            </a:pPr>
            <a:r>
              <a:rPr lang="en-US" dirty="0"/>
              <a:t>Now, let’s plot the data points on axis x and z:</a:t>
            </a:r>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r>
              <a:rPr lang="en-US" dirty="0"/>
              <a:t>In above plot, points to consider are:</a:t>
            </a:r>
          </a:p>
          <a:p>
            <a:pPr lvl="1" eaLnBrk="1" fontAlgn="auto" hangingPunct="1">
              <a:spcAft>
                <a:spcPts val="0"/>
              </a:spcAft>
              <a:defRPr/>
            </a:pPr>
            <a:r>
              <a:rPr lang="en-US" dirty="0"/>
              <a:t>All values for z would be positive always because z is the squared sum of both x and y</a:t>
            </a:r>
          </a:p>
          <a:p>
            <a:pPr lvl="1" eaLnBrk="1" fontAlgn="auto" hangingPunct="1">
              <a:spcAft>
                <a:spcPts val="0"/>
              </a:spcAft>
              <a:defRPr/>
            </a:pPr>
            <a:r>
              <a:rPr lang="en-US" dirty="0"/>
              <a:t>In the original plot, red circles appear close to the origin of x and y axes, leading to lower value of z and star relatively away from the origin result to higher value of z.</a:t>
            </a:r>
          </a:p>
          <a:p>
            <a:pPr eaLnBrk="1" fontAlgn="auto" hangingPunct="1">
              <a:spcAft>
                <a:spcPts val="0"/>
              </a:spcAft>
              <a:defRPr/>
            </a:pPr>
            <a:endParaRPr lang="en-US" dirty="0"/>
          </a:p>
        </p:txBody>
      </p:sp>
      <p:pic>
        <p:nvPicPr>
          <p:cNvPr id="22532" name="Picture 2" descr="SVM_9">
            <a:extLst>
              <a:ext uri="{FF2B5EF4-FFF2-40B4-BE49-F238E27FC236}">
                <a16:creationId xmlns:a16="http://schemas.microsoft.com/office/drawing/2014/main" id="{7576ECDD-7CEB-924C-4A0E-FAC649FC1B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9319" y="1804988"/>
            <a:ext cx="3321694" cy="283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5A52B868-A8C6-E98C-C3B9-975C521EF8F0}"/>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C552945-E78B-C741-802F-E72DCCE3E7C4}" type="slidenum">
              <a:rPr lang="en-US" altLang="en-US">
                <a:solidFill>
                  <a:srgbClr val="898989"/>
                </a:solidFill>
              </a:rPr>
              <a:pPr/>
              <a:t>24</a:t>
            </a:fld>
            <a:endParaRPr lang="en-US" altLang="en-US">
              <a:solidFill>
                <a:srgbClr val="898989"/>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A971F100-F95C-7F70-256A-687B6A0440B1}"/>
              </a:ext>
            </a:extLst>
          </p:cNvPr>
          <p:cNvSpPr>
            <a:spLocks noGrp="1"/>
          </p:cNvSpPr>
          <p:nvPr>
            <p:ph type="title"/>
          </p:nvPr>
        </p:nvSpPr>
        <p:spPr/>
        <p:txBody>
          <a:bodyPr/>
          <a:lstStyle/>
          <a:p>
            <a:pPr eaLnBrk="1" hangingPunct="1"/>
            <a:r>
              <a:rPr lang="en-US" altLang="en-US"/>
              <a:t> </a:t>
            </a:r>
          </a:p>
        </p:txBody>
      </p:sp>
      <p:sp>
        <p:nvSpPr>
          <p:cNvPr id="3" name="Content Placeholder 2">
            <a:extLst>
              <a:ext uri="{FF2B5EF4-FFF2-40B4-BE49-F238E27FC236}">
                <a16:creationId xmlns:a16="http://schemas.microsoft.com/office/drawing/2014/main" id="{2180B3D0-D77C-BE9E-9798-31EC862ED3DE}"/>
              </a:ext>
            </a:extLst>
          </p:cNvPr>
          <p:cNvSpPr>
            <a:spLocks noGrp="1"/>
          </p:cNvSpPr>
          <p:nvPr>
            <p:ph idx="1"/>
          </p:nvPr>
        </p:nvSpPr>
        <p:spPr>
          <a:xfrm>
            <a:off x="838201" y="365125"/>
            <a:ext cx="7264486" cy="6245225"/>
          </a:xfrm>
        </p:spPr>
        <p:txBody>
          <a:bodyPr rtlCol="0">
            <a:normAutofit/>
          </a:bodyPr>
          <a:lstStyle/>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algn="just" eaLnBrk="1" fontAlgn="auto" hangingPunct="1">
              <a:spcAft>
                <a:spcPts val="0"/>
              </a:spcAft>
              <a:defRPr/>
            </a:pPr>
            <a:r>
              <a:rPr lang="en-US" dirty="0"/>
              <a:t>In SVM, it is easy to have a linear hyperplane between these two classes. But, another burning question which arises is, should we need to add this feature manually to have a hyperplane. No, SVM has a technique called the </a:t>
            </a:r>
            <a:r>
              <a:rPr lang="en-US" b="1" dirty="0">
                <a:solidFill>
                  <a:srgbClr val="FF0000"/>
                </a:solidFill>
              </a:rPr>
              <a:t>kernel trick</a:t>
            </a:r>
            <a:r>
              <a:rPr lang="en-US" dirty="0"/>
              <a:t>. These are functions which takes low dimensional input space and transform it to a higher dimensional space i.e. it converts not separable problem to separable problem, these functions are called </a:t>
            </a:r>
            <a:r>
              <a:rPr lang="en-US" b="1" dirty="0">
                <a:solidFill>
                  <a:srgbClr val="FF0000"/>
                </a:solidFill>
              </a:rPr>
              <a:t>kernels</a:t>
            </a:r>
            <a:r>
              <a:rPr lang="en-US" dirty="0"/>
              <a:t>. It is mostly useful in non-linear separation problem. Simply put, it does some extremely complex data transformations, then find out the process to separate the data based on the labels or outputs you’ve defined.</a:t>
            </a:r>
          </a:p>
          <a:p>
            <a:pPr eaLnBrk="1" fontAlgn="auto" hangingPunct="1">
              <a:spcAft>
                <a:spcPts val="0"/>
              </a:spcAft>
              <a:defRPr/>
            </a:pPr>
            <a:r>
              <a:rPr lang="en-US" dirty="0"/>
              <a:t>When we look at the hyperplane in original input space it looks like a circle:</a:t>
            </a:r>
          </a:p>
          <a:p>
            <a:pPr marL="0" indent="0" eaLnBrk="1" fontAlgn="auto" hangingPunct="1">
              <a:spcAft>
                <a:spcPts val="0"/>
              </a:spcAft>
              <a:buFont typeface="Arial" panose="020B0604020202020204" pitchFamily="34" charset="0"/>
              <a:buNone/>
              <a:defRPr/>
            </a:pPr>
            <a:endParaRPr lang="en-US" dirty="0"/>
          </a:p>
        </p:txBody>
      </p:sp>
      <p:pic>
        <p:nvPicPr>
          <p:cNvPr id="23556" name="Picture 2" descr="SVM_10">
            <a:extLst>
              <a:ext uri="{FF2B5EF4-FFF2-40B4-BE49-F238E27FC236}">
                <a16:creationId xmlns:a16="http://schemas.microsoft.com/office/drawing/2014/main" id="{00E0A317-4126-AA30-22F2-7313448F8A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2686" y="2145142"/>
            <a:ext cx="3338513" cy="296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32B1D032-9BD0-1BD0-2F69-25E8707924E0}"/>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94664996-DE14-FB40-BA8F-BD448BC4C89E}" type="slidenum">
              <a:rPr lang="en-US" altLang="en-US">
                <a:solidFill>
                  <a:srgbClr val="898989"/>
                </a:solidFill>
              </a:rPr>
              <a:pPr/>
              <a:t>25</a:t>
            </a:fld>
            <a:endParaRPr lang="en-US" altLang="en-US">
              <a:solidFill>
                <a:srgbClr val="898989"/>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a:extLst>
              <a:ext uri="{FF2B5EF4-FFF2-40B4-BE49-F238E27FC236}">
                <a16:creationId xmlns:a16="http://schemas.microsoft.com/office/drawing/2014/main" id="{70FE7753-B72F-8C6F-4C1D-99CABF02D11E}"/>
              </a:ext>
            </a:extLst>
          </p:cNvPr>
          <p:cNvSpPr>
            <a:spLocks noGrp="1" noChangeArrowheads="1"/>
          </p:cNvSpPr>
          <p:nvPr>
            <p:ph type="title"/>
          </p:nvPr>
        </p:nvSpPr>
        <p:spPr/>
        <p:txBody>
          <a:bodyPr/>
          <a:lstStyle/>
          <a:p>
            <a:r>
              <a:rPr lang="en-US" altLang="en-US" sz="3200"/>
              <a:t>What to do if there is no separating plane</a:t>
            </a:r>
          </a:p>
        </p:txBody>
      </p:sp>
      <p:sp>
        <p:nvSpPr>
          <p:cNvPr id="335875" name="Rectangle 3">
            <a:extLst>
              <a:ext uri="{FF2B5EF4-FFF2-40B4-BE49-F238E27FC236}">
                <a16:creationId xmlns:a16="http://schemas.microsoft.com/office/drawing/2014/main" id="{57477AAA-A286-356F-19EC-60A514B66424}"/>
              </a:ext>
            </a:extLst>
          </p:cNvPr>
          <p:cNvSpPr>
            <a:spLocks noGrp="1" noChangeArrowheads="1"/>
          </p:cNvSpPr>
          <p:nvPr>
            <p:ph type="body" idx="1"/>
          </p:nvPr>
        </p:nvSpPr>
        <p:spPr/>
        <p:txBody>
          <a:bodyPr/>
          <a:lstStyle/>
          <a:p>
            <a:r>
              <a:rPr lang="en-US" altLang="en-US"/>
              <a:t>Use a much bigger set of features.</a:t>
            </a:r>
          </a:p>
          <a:p>
            <a:pPr lvl="1"/>
            <a:r>
              <a:rPr lang="en-US" altLang="en-US"/>
              <a:t>This looks as if it would make the computation hopelessly slow, but in the next part of the lecture we will see how to use the “kernel” trick to make the computation fast even with huge numbers of features.</a:t>
            </a:r>
          </a:p>
          <a:p>
            <a:r>
              <a:rPr lang="en-US" altLang="en-US"/>
              <a:t>Extend the definition of maximum margin to allow non-separating planes.</a:t>
            </a:r>
          </a:p>
          <a:p>
            <a:pPr lvl="1"/>
            <a:r>
              <a:rPr lang="en-US" altLang="en-US"/>
              <a:t>This can be done by using “slack” variables</a:t>
            </a:r>
          </a:p>
        </p:txBody>
      </p:sp>
    </p:spTree>
    <p:extLst>
      <p:ext uri="{BB962C8B-B14F-4D97-AF65-F5344CB8AC3E}">
        <p14:creationId xmlns:p14="http://schemas.microsoft.com/office/powerpoint/2010/main" val="764876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a:extLst>
              <a:ext uri="{FF2B5EF4-FFF2-40B4-BE49-F238E27FC236}">
                <a16:creationId xmlns:a16="http://schemas.microsoft.com/office/drawing/2014/main" id="{10354A1C-903F-17BA-168B-A13E29FB2A05}"/>
              </a:ext>
            </a:extLst>
          </p:cNvPr>
          <p:cNvSpPr>
            <a:spLocks noGrp="1" noChangeArrowheads="1"/>
          </p:cNvSpPr>
          <p:nvPr>
            <p:ph type="title"/>
          </p:nvPr>
        </p:nvSpPr>
        <p:spPr>
          <a:xfrm>
            <a:off x="1981200" y="198438"/>
            <a:ext cx="8229600" cy="1143000"/>
          </a:xfrm>
        </p:spPr>
        <p:txBody>
          <a:bodyPr/>
          <a:lstStyle/>
          <a:p>
            <a:r>
              <a:rPr lang="en-US" altLang="en-US" sz="3200"/>
              <a:t>The story so far</a:t>
            </a:r>
          </a:p>
        </p:txBody>
      </p:sp>
      <p:sp>
        <p:nvSpPr>
          <p:cNvPr id="344067" name="Rectangle 3">
            <a:extLst>
              <a:ext uri="{FF2B5EF4-FFF2-40B4-BE49-F238E27FC236}">
                <a16:creationId xmlns:a16="http://schemas.microsoft.com/office/drawing/2014/main" id="{FC3035F1-546E-6C38-EEE4-C418A1A93B9D}"/>
              </a:ext>
            </a:extLst>
          </p:cNvPr>
          <p:cNvSpPr>
            <a:spLocks noGrp="1" noChangeArrowheads="1"/>
          </p:cNvSpPr>
          <p:nvPr>
            <p:ph type="body" idx="1"/>
          </p:nvPr>
        </p:nvSpPr>
        <p:spPr>
          <a:xfrm>
            <a:off x="531341" y="1343025"/>
            <a:ext cx="9679459" cy="5181600"/>
          </a:xfrm>
        </p:spPr>
        <p:txBody>
          <a:bodyPr>
            <a:normAutofit/>
          </a:bodyPr>
          <a:lstStyle/>
          <a:p>
            <a:pPr>
              <a:lnSpc>
                <a:spcPct val="80000"/>
              </a:lnSpc>
            </a:pPr>
            <a:r>
              <a:rPr lang="en-US" altLang="en-US" sz="2000" dirty="0"/>
              <a:t>If we use a large set of non-adaptive features, we can often make the two classes linearly separable.</a:t>
            </a:r>
          </a:p>
          <a:p>
            <a:pPr lvl="1">
              <a:lnSpc>
                <a:spcPct val="80000"/>
              </a:lnSpc>
            </a:pPr>
            <a:r>
              <a:rPr lang="en-US" altLang="en-US" sz="2000" dirty="0"/>
              <a:t>But if we just fit any old separating plane, it will not generalize well to new cases.</a:t>
            </a:r>
          </a:p>
          <a:p>
            <a:pPr>
              <a:lnSpc>
                <a:spcPct val="80000"/>
              </a:lnSpc>
            </a:pPr>
            <a:r>
              <a:rPr lang="en-US" altLang="en-US" sz="2000" dirty="0"/>
              <a:t>If we fit the separating plane that maximizes the margin (the minimum distance to any of the data points), we will get much better generalization.</a:t>
            </a:r>
          </a:p>
          <a:p>
            <a:pPr lvl="1">
              <a:lnSpc>
                <a:spcPct val="80000"/>
              </a:lnSpc>
            </a:pPr>
            <a:r>
              <a:rPr lang="en-US" altLang="en-US" sz="2000" dirty="0"/>
              <a:t>Intuitively, by maximizing the margin we are squeezing out all the surplus capacity that came from using a high-dimensional feature space.</a:t>
            </a:r>
          </a:p>
          <a:p>
            <a:pPr>
              <a:lnSpc>
                <a:spcPct val="80000"/>
              </a:lnSpc>
            </a:pPr>
            <a:r>
              <a:rPr lang="en-US" altLang="en-US" sz="2000" dirty="0"/>
              <a:t>This can be justified by a whole lot of clever mathematics which shows that</a:t>
            </a:r>
          </a:p>
          <a:p>
            <a:pPr lvl="1">
              <a:lnSpc>
                <a:spcPct val="80000"/>
              </a:lnSpc>
            </a:pPr>
            <a:r>
              <a:rPr lang="en-US" altLang="en-US" sz="2000" dirty="0"/>
              <a:t>large margin separators have lower VC dimension.</a:t>
            </a:r>
          </a:p>
          <a:p>
            <a:pPr lvl="1">
              <a:lnSpc>
                <a:spcPct val="80000"/>
              </a:lnSpc>
            </a:pPr>
            <a:r>
              <a:rPr lang="en-US" altLang="en-US" sz="2000" dirty="0"/>
              <a:t>models with lower VC dimension have a smaller gap between the training and test error rates. </a:t>
            </a:r>
          </a:p>
        </p:txBody>
      </p:sp>
    </p:spTree>
    <p:extLst>
      <p:ext uri="{BB962C8B-B14F-4D97-AF65-F5344CB8AC3E}">
        <p14:creationId xmlns:p14="http://schemas.microsoft.com/office/powerpoint/2010/main" val="4170146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78B13B2A-6BE8-5E04-4EB8-53659CDDDC5A}"/>
              </a:ext>
            </a:extLst>
          </p:cNvPr>
          <p:cNvSpPr>
            <a:spLocks noGrp="1"/>
          </p:cNvSpPr>
          <p:nvPr>
            <p:ph type="title"/>
          </p:nvPr>
        </p:nvSpPr>
        <p:spPr/>
        <p:txBody>
          <a:bodyPr/>
          <a:lstStyle/>
          <a:p>
            <a:pPr eaLnBrk="1" hangingPunct="1"/>
            <a:r>
              <a:rPr lang="en-US" altLang="en-US"/>
              <a:t>Support Vector Classifiers</a:t>
            </a:r>
          </a:p>
        </p:txBody>
      </p:sp>
      <p:sp>
        <p:nvSpPr>
          <p:cNvPr id="39939" name="Content Placeholder 2">
            <a:extLst>
              <a:ext uri="{FF2B5EF4-FFF2-40B4-BE49-F238E27FC236}">
                <a16:creationId xmlns:a16="http://schemas.microsoft.com/office/drawing/2014/main" id="{93383F53-175E-BD4F-D101-1DEADEBC8D55}"/>
              </a:ext>
            </a:extLst>
          </p:cNvPr>
          <p:cNvSpPr>
            <a:spLocks noGrp="1"/>
          </p:cNvSpPr>
          <p:nvPr>
            <p:ph idx="1"/>
          </p:nvPr>
        </p:nvSpPr>
        <p:spPr>
          <a:xfrm>
            <a:off x="838200" y="1338263"/>
            <a:ext cx="10515600" cy="4838700"/>
          </a:xfrm>
        </p:spPr>
        <p:txBody>
          <a:bodyPr/>
          <a:lstStyle/>
          <a:p>
            <a:pPr eaLnBrk="1" hangingPunct="1"/>
            <a:r>
              <a:rPr lang="en-US" altLang="en-US"/>
              <a:t>Essentially we have to relax the requirement that a separating hyperplane will perfectly separate every training observation on the correct side of the line (i.e. guarantee that it is associated with its true class label), using what is called a </a:t>
            </a:r>
            <a:r>
              <a:rPr lang="en-US" altLang="en-US" b="1"/>
              <a:t>soft margin</a:t>
            </a:r>
            <a:r>
              <a:rPr lang="en-US" altLang="en-US"/>
              <a:t>. This motivates the concept of a </a:t>
            </a:r>
            <a:r>
              <a:rPr lang="en-US" altLang="en-US" b="1"/>
              <a:t>support vector classifier</a:t>
            </a:r>
            <a:r>
              <a:rPr lang="en-US" altLang="en-US"/>
              <a:t>(SVC).</a:t>
            </a:r>
          </a:p>
          <a:p>
            <a:pPr eaLnBrk="1" hangingPunct="1"/>
            <a:r>
              <a:rPr lang="en-US" altLang="en-US"/>
              <a:t> MMCs can be extremely sensitive to the addition of new training observations.</a:t>
            </a:r>
          </a:p>
        </p:txBody>
      </p:sp>
      <p:pic>
        <p:nvPicPr>
          <p:cNvPr id="39940" name="Picture 2" descr="Addition of a single point dramatically changes the MMH line">
            <a:extLst>
              <a:ext uri="{FF2B5EF4-FFF2-40B4-BE49-F238E27FC236}">
                <a16:creationId xmlns:a16="http://schemas.microsoft.com/office/drawing/2014/main" id="{B88EFF8B-9AC1-6B35-50AE-FE9139E903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8788" y="4143375"/>
            <a:ext cx="59055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TextBox 5">
            <a:extLst>
              <a:ext uri="{FF2B5EF4-FFF2-40B4-BE49-F238E27FC236}">
                <a16:creationId xmlns:a16="http://schemas.microsoft.com/office/drawing/2014/main" id="{80DE6F00-28AB-E9F3-51B5-044ECC2AC75E}"/>
              </a:ext>
            </a:extLst>
          </p:cNvPr>
          <p:cNvSpPr txBox="1">
            <a:spLocks noChangeArrowheads="1"/>
          </p:cNvSpPr>
          <p:nvPr/>
        </p:nvSpPr>
        <p:spPr bwMode="auto">
          <a:xfrm>
            <a:off x="1030288" y="4697413"/>
            <a:ext cx="1654175" cy="922337"/>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t>MMH perfectly separating the two classes</a:t>
            </a:r>
          </a:p>
        </p:txBody>
      </p:sp>
      <p:cxnSp>
        <p:nvCxnSpPr>
          <p:cNvPr id="8" name="Straight Arrow Connector 7">
            <a:extLst>
              <a:ext uri="{FF2B5EF4-FFF2-40B4-BE49-F238E27FC236}">
                <a16:creationId xmlns:a16="http://schemas.microsoft.com/office/drawing/2014/main" id="{D635DEC9-D9A6-668C-474E-2F4079FD1E66}"/>
              </a:ext>
            </a:extLst>
          </p:cNvPr>
          <p:cNvCxnSpPr/>
          <p:nvPr/>
        </p:nvCxnSpPr>
        <p:spPr>
          <a:xfrm flipH="1">
            <a:off x="2684463" y="4738688"/>
            <a:ext cx="590550" cy="133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943" name="TextBox 10">
            <a:extLst>
              <a:ext uri="{FF2B5EF4-FFF2-40B4-BE49-F238E27FC236}">
                <a16:creationId xmlns:a16="http://schemas.microsoft.com/office/drawing/2014/main" id="{2061E167-F321-E4B9-C4A3-2CFC40D68297}"/>
              </a:ext>
            </a:extLst>
          </p:cNvPr>
          <p:cNvSpPr txBox="1">
            <a:spLocks noChangeArrowheads="1"/>
          </p:cNvSpPr>
          <p:nvPr/>
        </p:nvSpPr>
        <p:spPr bwMode="auto">
          <a:xfrm>
            <a:off x="9277350" y="4322763"/>
            <a:ext cx="2693988" cy="203041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t>If we add one point to the +1 class, we see that the location of the MMH changes substantially. Hence in this situation the MMH has clearly been over-fit.</a:t>
            </a:r>
          </a:p>
        </p:txBody>
      </p:sp>
      <p:cxnSp>
        <p:nvCxnSpPr>
          <p:cNvPr id="13" name="Straight Arrow Connector 12">
            <a:extLst>
              <a:ext uri="{FF2B5EF4-FFF2-40B4-BE49-F238E27FC236}">
                <a16:creationId xmlns:a16="http://schemas.microsoft.com/office/drawing/2014/main" id="{E2AC0D89-EE23-DF7D-9CA0-F3BAC6FF0470}"/>
              </a:ext>
            </a:extLst>
          </p:cNvPr>
          <p:cNvCxnSpPr/>
          <p:nvPr/>
        </p:nvCxnSpPr>
        <p:spPr>
          <a:xfrm>
            <a:off x="8904288" y="4872038"/>
            <a:ext cx="373062" cy="115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B512B3F3-9855-9ADE-DC18-DE1794FC72E3}"/>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59C3B829-0330-7C4B-AF0F-ECC38E318168}" type="slidenum">
              <a:rPr lang="en-US" altLang="en-US">
                <a:solidFill>
                  <a:srgbClr val="898989"/>
                </a:solidFill>
              </a:rPr>
              <a:pPr/>
              <a:t>28</a:t>
            </a:fld>
            <a:endParaRPr lang="en-US" altLang="en-US">
              <a:solidFill>
                <a:srgbClr val="898989"/>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283E77A6-06DA-34C5-F1F9-A6458C9C13BF}"/>
              </a:ext>
            </a:extLst>
          </p:cNvPr>
          <p:cNvSpPr>
            <a:spLocks noGrp="1"/>
          </p:cNvSpPr>
          <p:nvPr>
            <p:ph type="title"/>
          </p:nvPr>
        </p:nvSpPr>
        <p:spPr/>
        <p:txBody>
          <a:bodyPr/>
          <a:lstStyle/>
          <a:p>
            <a:pPr eaLnBrk="1" hangingPunct="1"/>
            <a:r>
              <a:rPr lang="en-US" altLang="en-US"/>
              <a:t> </a:t>
            </a:r>
          </a:p>
        </p:txBody>
      </p:sp>
      <p:sp>
        <p:nvSpPr>
          <p:cNvPr id="40963" name="Content Placeholder 2">
            <a:extLst>
              <a:ext uri="{FF2B5EF4-FFF2-40B4-BE49-F238E27FC236}">
                <a16:creationId xmlns:a16="http://schemas.microsoft.com/office/drawing/2014/main" id="{293AE0E6-6B22-F29B-6E22-CF858E85E68C}"/>
              </a:ext>
            </a:extLst>
          </p:cNvPr>
          <p:cNvSpPr>
            <a:spLocks noGrp="1"/>
          </p:cNvSpPr>
          <p:nvPr>
            <p:ph idx="1"/>
          </p:nvPr>
        </p:nvSpPr>
        <p:spPr>
          <a:xfrm>
            <a:off x="838200" y="465138"/>
            <a:ext cx="10515600" cy="5295900"/>
          </a:xfrm>
        </p:spPr>
        <p:txBody>
          <a:bodyPr>
            <a:normAutofit/>
          </a:bodyPr>
          <a:lstStyle/>
          <a:p>
            <a:pPr eaLnBrk="1" hangingPunct="1"/>
            <a:endParaRPr lang="en-US" altLang="en-US" dirty="0"/>
          </a:p>
          <a:p>
            <a:pPr eaLnBrk="1" hangingPunct="1"/>
            <a:endParaRPr lang="en-US" altLang="en-US" dirty="0"/>
          </a:p>
          <a:p>
            <a:pPr eaLnBrk="1" hangingPunct="1"/>
            <a:endParaRPr lang="en-US" altLang="en-US" dirty="0"/>
          </a:p>
          <a:p>
            <a:pPr eaLnBrk="1" hangingPunct="1"/>
            <a:r>
              <a:rPr lang="en-US" altLang="en-US" dirty="0"/>
              <a:t>We could consider a classifier based on a separating hyperplane that </a:t>
            </a:r>
            <a:r>
              <a:rPr lang="en-US" altLang="en-US" b="1" dirty="0"/>
              <a:t>doesn't perfectly separate</a:t>
            </a:r>
            <a:r>
              <a:rPr lang="en-US" altLang="en-US" dirty="0"/>
              <a:t> the two classes, but does have a </a:t>
            </a:r>
            <a:r>
              <a:rPr lang="en-US" altLang="en-US" b="1" dirty="0"/>
              <a:t>greater robustness </a:t>
            </a:r>
            <a:r>
              <a:rPr lang="en-US" altLang="en-US" dirty="0"/>
              <a:t>to the addition of new individual observations and has a better classification on most of the training observations. This comes at the expense of some misclassification of a few training observations.</a:t>
            </a:r>
          </a:p>
          <a:p>
            <a:pPr eaLnBrk="1" hangingPunct="1"/>
            <a:r>
              <a:rPr lang="en-US" altLang="en-US" dirty="0"/>
              <a:t>This is how a support vector classifier or soft margin classifier works. A SVC allows some observations to be on the incorrect side of the margin (or hyperplane), hence it provides a "soft" separation. The following figures demonstrate observations being on the wrong side of the margin and the wrong side of the hyperplane respectively:</a:t>
            </a:r>
          </a:p>
        </p:txBody>
      </p:sp>
      <p:pic>
        <p:nvPicPr>
          <p:cNvPr id="40964" name="Picture 2" descr="Observations on the wrong side of the margin and hyperplane">
            <a:extLst>
              <a:ext uri="{FF2B5EF4-FFF2-40B4-BE49-F238E27FC236}">
                <a16:creationId xmlns:a16="http://schemas.microsoft.com/office/drawing/2014/main" id="{F63EA59E-7157-4FF7-9B89-D3E9A91F85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1363" y="4149470"/>
            <a:ext cx="59055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C94F7C88-5AD7-4690-4BD5-892E698917A3}"/>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CA12E701-9558-B141-AFA6-A29286BB4BE1}" type="slidenum">
              <a:rPr lang="en-US" altLang="en-US">
                <a:solidFill>
                  <a:srgbClr val="898989"/>
                </a:solidFill>
              </a:rPr>
              <a:pPr/>
              <a:t>29</a:t>
            </a:fld>
            <a:endParaRPr lang="en-US" altLang="en-US">
              <a:solidFill>
                <a:srgbClr val="898989"/>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77995E17-010F-6BD4-83CD-019479DC26A8}"/>
              </a:ext>
            </a:extLst>
          </p:cNvPr>
          <p:cNvSpPr>
            <a:spLocks noGrp="1"/>
          </p:cNvSpPr>
          <p:nvPr>
            <p:ph type="title"/>
          </p:nvPr>
        </p:nvSpPr>
        <p:spPr/>
        <p:txBody>
          <a:bodyPr/>
          <a:lstStyle/>
          <a:p>
            <a:pPr eaLnBrk="1" hangingPunct="1"/>
            <a:r>
              <a:rPr lang="en-US" altLang="en-US"/>
              <a:t>Support Vector Machines</a:t>
            </a:r>
          </a:p>
        </p:txBody>
      </p:sp>
      <p:sp>
        <p:nvSpPr>
          <p:cNvPr id="46083" name="Content Placeholder 2">
            <a:extLst>
              <a:ext uri="{FF2B5EF4-FFF2-40B4-BE49-F238E27FC236}">
                <a16:creationId xmlns:a16="http://schemas.microsoft.com/office/drawing/2014/main" id="{8F39D8E1-B0EB-FF15-FC3E-1ABF5275029F}"/>
              </a:ext>
            </a:extLst>
          </p:cNvPr>
          <p:cNvSpPr>
            <a:spLocks noGrp="1"/>
          </p:cNvSpPr>
          <p:nvPr>
            <p:ph idx="1"/>
          </p:nvPr>
        </p:nvSpPr>
        <p:spPr/>
        <p:txBody>
          <a:bodyPr/>
          <a:lstStyle/>
          <a:p>
            <a:pPr eaLnBrk="1" hangingPunct="1"/>
            <a:r>
              <a:rPr lang="en-US" altLang="en-US"/>
              <a:t>The motivation behind the extension of a SVC is to allow non-linear decision boundaries. This is the domain of the Support Vector Machine (SVM). Consider the following figures. In such a situation a purely linear SVC will have extremely poor performance, simply because the data has no clear linear separation:</a:t>
            </a:r>
          </a:p>
        </p:txBody>
      </p:sp>
      <p:pic>
        <p:nvPicPr>
          <p:cNvPr id="46084" name="Picture 2" descr="No clear linear separation between classes and thus poor SVC performance">
            <a:extLst>
              <a:ext uri="{FF2B5EF4-FFF2-40B4-BE49-F238E27FC236}">
                <a16:creationId xmlns:a16="http://schemas.microsoft.com/office/drawing/2014/main" id="{854DDA28-A260-6297-5EE1-A3C0E8C1B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2275" y="3883025"/>
            <a:ext cx="6311900" cy="272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8BC215C5-E602-43EA-E74A-521B33E29DD7}"/>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EF6F4D0-8CD6-3A48-8F28-3BC0200E6E78}" type="slidenum">
              <a:rPr lang="en-US" altLang="en-US">
                <a:solidFill>
                  <a:srgbClr val="898989"/>
                </a:solidFill>
              </a:rPr>
              <a:pPr/>
              <a:t>30</a:t>
            </a:fld>
            <a:endParaRPr lang="en-US" altLang="en-US">
              <a:solidFill>
                <a:srgbClr val="898989"/>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B93AFCBA-2347-9FE3-642F-D604863D27BD}"/>
              </a:ext>
            </a:extLst>
          </p:cNvPr>
          <p:cNvSpPr>
            <a:spLocks noGrp="1"/>
          </p:cNvSpPr>
          <p:nvPr>
            <p:ph type="title"/>
          </p:nvPr>
        </p:nvSpPr>
        <p:spPr/>
        <p:txBody>
          <a:bodyPr/>
          <a:lstStyle/>
          <a:p>
            <a:pPr eaLnBrk="1" hangingPunct="1"/>
            <a:r>
              <a:rPr lang="en-US" altLang="en-US"/>
              <a:t> </a:t>
            </a:r>
          </a:p>
        </p:txBody>
      </p:sp>
      <p:sp>
        <p:nvSpPr>
          <p:cNvPr id="3" name="Content Placeholder 2">
            <a:extLst>
              <a:ext uri="{FF2B5EF4-FFF2-40B4-BE49-F238E27FC236}">
                <a16:creationId xmlns:a16="http://schemas.microsoft.com/office/drawing/2014/main" id="{0F970DD6-7841-DC95-2769-5339A42FCD63}"/>
              </a:ext>
            </a:extLst>
          </p:cNvPr>
          <p:cNvSpPr>
            <a:spLocks noGrp="1"/>
          </p:cNvSpPr>
          <p:nvPr>
            <p:ph idx="1"/>
          </p:nvPr>
        </p:nvSpPr>
        <p:spPr>
          <a:xfrm>
            <a:off x="675139" y="1539017"/>
            <a:ext cx="10515600" cy="4305729"/>
          </a:xfrm>
        </p:spPr>
        <p:txBody>
          <a:bodyPr rtlCol="0">
            <a:normAutofit/>
          </a:bodyPr>
          <a:lstStyle/>
          <a:p>
            <a:pPr eaLnBrk="1" fontAlgn="auto" hangingPunct="1">
              <a:spcAft>
                <a:spcPts val="0"/>
              </a:spcAft>
              <a:defRPr/>
            </a:pPr>
            <a:r>
              <a:rPr lang="en-US" dirty="0"/>
              <a:t>This is clearly not restricted to quadratic polynomials. Higher dimensional polynomials, interaction terms and other functional forms, could all be considered. Although the drawback is that it dramatically increases the dimension of the feature space to the point that some algorithms can become </a:t>
            </a:r>
            <a:r>
              <a:rPr lang="en-US" dirty="0" err="1"/>
              <a:t>untractable</a:t>
            </a:r>
            <a:r>
              <a:rPr lang="en-US" dirty="0"/>
              <a:t>.</a:t>
            </a:r>
          </a:p>
          <a:p>
            <a:pPr eaLnBrk="1" fontAlgn="auto" hangingPunct="1">
              <a:spcAft>
                <a:spcPts val="0"/>
              </a:spcAft>
              <a:defRPr/>
            </a:pPr>
            <a:endParaRPr lang="en-US" dirty="0"/>
          </a:p>
          <a:p>
            <a:pPr eaLnBrk="1" fontAlgn="auto" hangingPunct="1">
              <a:spcAft>
                <a:spcPts val="0"/>
              </a:spcAft>
              <a:defRPr/>
            </a:pPr>
            <a:r>
              <a:rPr lang="en-US" dirty="0"/>
              <a:t>The major advantage of SVMs is that they allow a non-linear </a:t>
            </a:r>
            <a:r>
              <a:rPr lang="en-US" dirty="0" err="1"/>
              <a:t>enlargening</a:t>
            </a:r>
            <a:r>
              <a:rPr lang="en-US" dirty="0"/>
              <a:t> of the feature space, while still retaining a significant computational efficiency, using a process known as the "</a:t>
            </a:r>
            <a:r>
              <a:rPr lang="en-US" b="1" dirty="0">
                <a:solidFill>
                  <a:srgbClr val="FF0000"/>
                </a:solidFill>
              </a:rPr>
              <a:t>kernel trick</a:t>
            </a:r>
            <a:r>
              <a:rPr lang="en-US" dirty="0"/>
              <a:t>.</a:t>
            </a:r>
          </a:p>
          <a:p>
            <a:pPr eaLnBrk="1" fontAlgn="auto" hangingPunct="1">
              <a:spcAft>
                <a:spcPts val="0"/>
              </a:spcAft>
              <a:defRPr/>
            </a:pPr>
            <a:endParaRPr lang="en-US" dirty="0"/>
          </a:p>
          <a:p>
            <a:pPr eaLnBrk="1" fontAlgn="auto" hangingPunct="1">
              <a:spcAft>
                <a:spcPts val="0"/>
              </a:spcAft>
              <a:defRPr/>
            </a:pPr>
            <a:r>
              <a:rPr lang="en-US" dirty="0"/>
              <a:t>So what are SVMs? In essence they are an extension of SVCs that results from </a:t>
            </a:r>
            <a:r>
              <a:rPr lang="en-US" dirty="0" err="1"/>
              <a:t>enlargening</a:t>
            </a:r>
            <a:r>
              <a:rPr lang="en-US" dirty="0"/>
              <a:t> the feature space through the use of functions known as kernels. In order to understand kernels, we need to briefly discuss some aspects of the solution to the SVC optimization problem outlined above.</a:t>
            </a:r>
          </a:p>
        </p:txBody>
      </p:sp>
      <p:sp>
        <p:nvSpPr>
          <p:cNvPr id="2" name="Slide Number Placeholder 1">
            <a:extLst>
              <a:ext uri="{FF2B5EF4-FFF2-40B4-BE49-F238E27FC236}">
                <a16:creationId xmlns:a16="http://schemas.microsoft.com/office/drawing/2014/main" id="{97EDA23D-3C37-DA1F-4A55-9EB117C0C624}"/>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36B4E36-D5DE-F441-B8BC-3DDB4660AFC1}" type="slidenum">
              <a:rPr lang="en-US" altLang="en-US">
                <a:solidFill>
                  <a:srgbClr val="898989"/>
                </a:solidFill>
              </a:rPr>
              <a:pPr/>
              <a:t>31</a:t>
            </a:fld>
            <a:endParaRPr lang="en-US" altLang="en-US">
              <a:solidFill>
                <a:srgbClr val="898989"/>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07DBBF28-599F-A58F-2F26-CFF5E6C73D66}"/>
              </a:ext>
            </a:extLst>
          </p:cNvPr>
          <p:cNvSpPr>
            <a:spLocks noGrp="1"/>
          </p:cNvSpPr>
          <p:nvPr>
            <p:ph type="title"/>
          </p:nvPr>
        </p:nvSpPr>
        <p:spPr/>
        <p:txBody>
          <a:bodyPr/>
          <a:lstStyle/>
          <a:p>
            <a:pPr eaLnBrk="1" hangingPunct="1"/>
            <a:r>
              <a:rPr lang="en-US" altLang="en-US"/>
              <a:t>SVM Kernel Functions</a:t>
            </a:r>
          </a:p>
        </p:txBody>
      </p:sp>
      <p:sp>
        <p:nvSpPr>
          <p:cNvPr id="3" name="Content Placeholder 2">
            <a:extLst>
              <a:ext uri="{FF2B5EF4-FFF2-40B4-BE49-F238E27FC236}">
                <a16:creationId xmlns:a16="http://schemas.microsoft.com/office/drawing/2014/main" id="{917C7189-DC59-FCC7-D06D-E9CDD09E6F71}"/>
              </a:ext>
            </a:extLst>
          </p:cNvPr>
          <p:cNvSpPr>
            <a:spLocks noGrp="1"/>
          </p:cNvSpPr>
          <p:nvPr>
            <p:ph idx="1"/>
          </p:nvPr>
        </p:nvSpPr>
        <p:spPr/>
        <p:txBody>
          <a:bodyPr rtlCol="0">
            <a:normAutofit/>
          </a:bodyPr>
          <a:lstStyle/>
          <a:p>
            <a:pPr eaLnBrk="1" fontAlgn="auto" hangingPunct="1">
              <a:spcAft>
                <a:spcPts val="0"/>
              </a:spcAft>
              <a:defRPr/>
            </a:pPr>
            <a:r>
              <a:rPr lang="en-US" dirty="0"/>
              <a:t>SVM algorithms use a set of mathematical functions that are defined as the kernel. The function of kernel is to take data as input and transform it into the required form. Different SVM algorithms use different types of kernel functions. These functions can be different types. For example</a:t>
            </a:r>
            <a:r>
              <a:rPr lang="en-US" b="1" i="1" dirty="0"/>
              <a:t> linear, nonlinear, polynomial, radial basis function (RBF), and sigmoid.</a:t>
            </a:r>
            <a:endParaRPr lang="en-US" dirty="0"/>
          </a:p>
          <a:p>
            <a:pPr eaLnBrk="1" fontAlgn="auto" hangingPunct="1">
              <a:spcAft>
                <a:spcPts val="0"/>
              </a:spcAft>
              <a:defRPr/>
            </a:pPr>
            <a:r>
              <a:rPr lang="en-US" dirty="0"/>
              <a:t>Introduce Kernel functions for sequence data, graphs, text, images, as well as vectors. The most used type of kernel function is </a:t>
            </a:r>
            <a:r>
              <a:rPr lang="en-US" b="1" dirty="0"/>
              <a:t>RBF.</a:t>
            </a:r>
            <a:r>
              <a:rPr lang="en-US" dirty="0"/>
              <a:t> Because it has localized and finite response along the entire x-axis.</a:t>
            </a:r>
          </a:p>
          <a:p>
            <a:pPr eaLnBrk="1" fontAlgn="auto" hangingPunct="1">
              <a:spcAft>
                <a:spcPts val="0"/>
              </a:spcAft>
              <a:defRPr/>
            </a:pPr>
            <a:r>
              <a:rPr lang="en-US" dirty="0"/>
              <a:t>The kernel functions return the inner product between two points in a suitable feature space. Thus by defining a notion of similarity, with little computational cost even in very high-dimensional spaces.</a:t>
            </a:r>
          </a:p>
          <a:p>
            <a:pPr eaLnBrk="1" fontAlgn="auto" hangingPunct="1">
              <a:spcAft>
                <a:spcPts val="0"/>
              </a:spcAft>
              <a:defRPr/>
            </a:pPr>
            <a:endParaRPr lang="en-US" dirty="0"/>
          </a:p>
        </p:txBody>
      </p:sp>
      <p:sp>
        <p:nvSpPr>
          <p:cNvPr id="2" name="Slide Number Placeholder 1">
            <a:extLst>
              <a:ext uri="{FF2B5EF4-FFF2-40B4-BE49-F238E27FC236}">
                <a16:creationId xmlns:a16="http://schemas.microsoft.com/office/drawing/2014/main" id="{F56E97FB-DBD0-3632-D5E9-7B3E2AD14C8E}"/>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8C9F6543-A75E-3A4A-A9BC-37E374FA0D2A}" type="slidenum">
              <a:rPr lang="en-US" altLang="en-US">
                <a:solidFill>
                  <a:srgbClr val="898989"/>
                </a:solidFill>
              </a:rPr>
              <a:pPr/>
              <a:t>32</a:t>
            </a:fld>
            <a:endParaRPr lang="en-US" altLang="en-US">
              <a:solidFill>
                <a:srgbClr val="898989"/>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a:extLst>
              <a:ext uri="{FF2B5EF4-FFF2-40B4-BE49-F238E27FC236}">
                <a16:creationId xmlns:a16="http://schemas.microsoft.com/office/drawing/2014/main" id="{32879F09-CCED-BF44-D20F-9C47CCC10E60}"/>
              </a:ext>
            </a:extLst>
          </p:cNvPr>
          <p:cNvSpPr>
            <a:spLocks noGrp="1" noChangeArrowheads="1"/>
          </p:cNvSpPr>
          <p:nvPr>
            <p:ph type="title"/>
          </p:nvPr>
        </p:nvSpPr>
        <p:spPr>
          <a:xfrm>
            <a:off x="1470454" y="80963"/>
            <a:ext cx="8740346" cy="1143000"/>
          </a:xfrm>
        </p:spPr>
        <p:txBody>
          <a:bodyPr/>
          <a:lstStyle/>
          <a:p>
            <a:r>
              <a:rPr lang="en-US" altLang="en-US" sz="3200" dirty="0"/>
              <a:t>A potential problem and a magic solution</a:t>
            </a:r>
          </a:p>
        </p:txBody>
      </p:sp>
      <p:sp>
        <p:nvSpPr>
          <p:cNvPr id="347139" name="Rectangle 3">
            <a:extLst>
              <a:ext uri="{FF2B5EF4-FFF2-40B4-BE49-F238E27FC236}">
                <a16:creationId xmlns:a16="http://schemas.microsoft.com/office/drawing/2014/main" id="{F0EE064D-5F80-D629-9356-527F9AE54F8C}"/>
              </a:ext>
            </a:extLst>
          </p:cNvPr>
          <p:cNvSpPr>
            <a:spLocks noGrp="1" noChangeArrowheads="1"/>
          </p:cNvSpPr>
          <p:nvPr>
            <p:ph type="body" idx="1"/>
          </p:nvPr>
        </p:nvSpPr>
        <p:spPr>
          <a:xfrm>
            <a:off x="877330" y="1567122"/>
            <a:ext cx="9061622" cy="4892675"/>
          </a:xfrm>
        </p:spPr>
        <p:txBody>
          <a:bodyPr>
            <a:normAutofit/>
          </a:bodyPr>
          <a:lstStyle/>
          <a:p>
            <a:pPr>
              <a:lnSpc>
                <a:spcPct val="90000"/>
              </a:lnSpc>
            </a:pPr>
            <a:r>
              <a:rPr lang="en-US" altLang="en-US" sz="2000" dirty="0"/>
              <a:t>If we map the input vectors into a </a:t>
            </a:r>
            <a:r>
              <a:rPr lang="en-US" altLang="en-US" sz="2000" dirty="0">
                <a:solidFill>
                  <a:srgbClr val="FF0000"/>
                </a:solidFill>
              </a:rPr>
              <a:t>very</a:t>
            </a:r>
            <a:r>
              <a:rPr lang="en-US" altLang="en-US" sz="2000" dirty="0"/>
              <a:t> high-dimensional feature space, surely the task of finding the maximum-margin separator becomes computationally intractable?</a:t>
            </a:r>
          </a:p>
          <a:p>
            <a:pPr lvl="1">
              <a:lnSpc>
                <a:spcPct val="90000"/>
              </a:lnSpc>
            </a:pPr>
            <a:r>
              <a:rPr lang="en-US" altLang="en-US" sz="2000" dirty="0"/>
              <a:t>The mathematics is all linear, which is good, but the vectors have a huge number of components.</a:t>
            </a:r>
          </a:p>
          <a:p>
            <a:pPr lvl="1">
              <a:lnSpc>
                <a:spcPct val="90000"/>
              </a:lnSpc>
            </a:pPr>
            <a:r>
              <a:rPr lang="en-US" altLang="en-US" sz="2000" dirty="0"/>
              <a:t>So taking the scalar product of two vectors is very expensive. </a:t>
            </a:r>
          </a:p>
          <a:p>
            <a:pPr>
              <a:lnSpc>
                <a:spcPct val="90000"/>
              </a:lnSpc>
            </a:pPr>
            <a:r>
              <a:rPr lang="en-US" altLang="en-US" sz="2000" dirty="0"/>
              <a:t>The way to keep things tractable is to use </a:t>
            </a:r>
            <a:r>
              <a:rPr lang="en-US" altLang="en-US" sz="2000" dirty="0">
                <a:solidFill>
                  <a:srgbClr val="FF0000"/>
                </a:solidFill>
              </a:rPr>
              <a:t>“the kernel trick”</a:t>
            </a:r>
          </a:p>
          <a:p>
            <a:pPr>
              <a:lnSpc>
                <a:spcPct val="90000"/>
              </a:lnSpc>
            </a:pPr>
            <a:endParaRPr lang="en-US" altLang="en-US" sz="2000" dirty="0">
              <a:solidFill>
                <a:srgbClr val="FF0000"/>
              </a:solidFill>
            </a:endParaRPr>
          </a:p>
          <a:p>
            <a:pPr>
              <a:lnSpc>
                <a:spcPct val="90000"/>
              </a:lnSpc>
            </a:pPr>
            <a:r>
              <a:rPr lang="en-US" altLang="en-US" sz="2000" dirty="0"/>
              <a:t>The kernel trick makes your brain hurt when you first learn about it, but its actually very simple.</a:t>
            </a:r>
          </a:p>
          <a:p>
            <a:pPr>
              <a:lnSpc>
                <a:spcPct val="90000"/>
              </a:lnSpc>
            </a:pPr>
            <a:endParaRPr lang="en-US" alt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a:extLst>
              <a:ext uri="{FF2B5EF4-FFF2-40B4-BE49-F238E27FC236}">
                <a16:creationId xmlns:a16="http://schemas.microsoft.com/office/drawing/2014/main" id="{A3F1BA0E-F4D9-8905-5352-DBC7137D54F3}"/>
              </a:ext>
            </a:extLst>
          </p:cNvPr>
          <p:cNvSpPr>
            <a:spLocks noGrp="1" noChangeArrowheads="1"/>
          </p:cNvSpPr>
          <p:nvPr>
            <p:ph type="title"/>
          </p:nvPr>
        </p:nvSpPr>
        <p:spPr/>
        <p:txBody>
          <a:bodyPr/>
          <a:lstStyle/>
          <a:p>
            <a:r>
              <a:rPr lang="en-US" altLang="en-US"/>
              <a:t>What the kernel trick achieves</a:t>
            </a:r>
          </a:p>
        </p:txBody>
      </p:sp>
      <p:sp>
        <p:nvSpPr>
          <p:cNvPr id="348163" name="Rectangle 3">
            <a:extLst>
              <a:ext uri="{FF2B5EF4-FFF2-40B4-BE49-F238E27FC236}">
                <a16:creationId xmlns:a16="http://schemas.microsoft.com/office/drawing/2014/main" id="{8548C1C7-9438-A7FE-13E8-1EE7A12A7272}"/>
              </a:ext>
            </a:extLst>
          </p:cNvPr>
          <p:cNvSpPr>
            <a:spLocks noGrp="1" noChangeArrowheads="1"/>
          </p:cNvSpPr>
          <p:nvPr>
            <p:ph type="body" idx="1"/>
          </p:nvPr>
        </p:nvSpPr>
        <p:spPr>
          <a:xfrm>
            <a:off x="1811338" y="1449388"/>
            <a:ext cx="8686800" cy="5408612"/>
          </a:xfrm>
        </p:spPr>
        <p:txBody>
          <a:bodyPr>
            <a:normAutofit/>
          </a:bodyPr>
          <a:lstStyle/>
          <a:p>
            <a:pPr>
              <a:lnSpc>
                <a:spcPct val="90000"/>
              </a:lnSpc>
            </a:pPr>
            <a:r>
              <a:rPr lang="en-US" altLang="en-US" sz="2000" dirty="0"/>
              <a:t>All of the computations that we need to do to find the maximum-margin separator can be expressed in terms of scalar products between pairs of datapoints (in the high-dimensional feature space).</a:t>
            </a:r>
          </a:p>
          <a:p>
            <a:pPr>
              <a:lnSpc>
                <a:spcPct val="90000"/>
              </a:lnSpc>
            </a:pPr>
            <a:r>
              <a:rPr lang="en-US" altLang="en-US" sz="2000" dirty="0"/>
              <a:t>These scalar products are the only part of the computation that depends on the dimensionality of the high-dimensional space.</a:t>
            </a:r>
          </a:p>
          <a:p>
            <a:pPr lvl="1">
              <a:lnSpc>
                <a:spcPct val="90000"/>
              </a:lnSpc>
            </a:pPr>
            <a:r>
              <a:rPr lang="en-US" altLang="en-US" sz="2000" dirty="0"/>
              <a:t>So if we had a fast way to do the scalar products we would not have to pay a price for solving the learning problem in the high-D space.</a:t>
            </a:r>
          </a:p>
          <a:p>
            <a:pPr>
              <a:lnSpc>
                <a:spcPct val="90000"/>
              </a:lnSpc>
            </a:pPr>
            <a:r>
              <a:rPr lang="en-US" altLang="en-US" sz="2000" dirty="0"/>
              <a:t>The kernel trick is just a magic way of doing scalar products a whole lot faster than is usually possible.</a:t>
            </a:r>
          </a:p>
          <a:p>
            <a:pPr lvl="1">
              <a:lnSpc>
                <a:spcPct val="90000"/>
              </a:lnSpc>
            </a:pPr>
            <a:r>
              <a:rPr lang="en-US" altLang="en-US" sz="2000" dirty="0"/>
              <a:t>It relies on choosing a way of mapping to the high-dimensional feature space that allows fast scalar products.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7EF9718A-D44D-56F7-E88F-193E55B4D298}"/>
              </a:ext>
            </a:extLst>
          </p:cNvPr>
          <p:cNvSpPr>
            <a:spLocks noGrp="1" noChangeArrowheads="1"/>
          </p:cNvSpPr>
          <p:nvPr>
            <p:ph type="title"/>
          </p:nvPr>
        </p:nvSpPr>
        <p:spPr/>
        <p:txBody>
          <a:bodyPr/>
          <a:lstStyle/>
          <a:p>
            <a:r>
              <a:rPr lang="en-US" altLang="en-US"/>
              <a:t>Examples of Kernel Functions</a:t>
            </a:r>
          </a:p>
        </p:txBody>
      </p:sp>
      <p:sp>
        <p:nvSpPr>
          <p:cNvPr id="227331" name="Rectangle 3">
            <a:extLst>
              <a:ext uri="{FF2B5EF4-FFF2-40B4-BE49-F238E27FC236}">
                <a16:creationId xmlns:a16="http://schemas.microsoft.com/office/drawing/2014/main" id="{7F595C1B-DAEF-D7B6-B3B3-7C5E45723693}"/>
              </a:ext>
            </a:extLst>
          </p:cNvPr>
          <p:cNvSpPr>
            <a:spLocks noGrp="1" noChangeArrowheads="1"/>
          </p:cNvSpPr>
          <p:nvPr>
            <p:ph type="body" idx="1"/>
          </p:nvPr>
        </p:nvSpPr>
        <p:spPr/>
        <p:txBody>
          <a:bodyPr/>
          <a:lstStyle/>
          <a:p>
            <a:pPr>
              <a:lnSpc>
                <a:spcPct val="90000"/>
              </a:lnSpc>
            </a:pPr>
            <a:r>
              <a:rPr lang="en-US" altLang="en-US" dirty="0"/>
              <a:t>Linear: </a:t>
            </a:r>
            <a:r>
              <a:rPr lang="en-US" altLang="en-US" i="1" dirty="0"/>
              <a:t>K</a:t>
            </a:r>
            <a:r>
              <a:rPr lang="en-US" altLang="en-US" dirty="0"/>
              <a:t>(</a:t>
            </a:r>
            <a:r>
              <a:rPr lang="en-US" altLang="en-US" b="1" dirty="0" err="1"/>
              <a:t>x</a:t>
            </a:r>
            <a:r>
              <a:rPr lang="en-US" altLang="en-US" i="1" baseline="-25000" dirty="0" err="1"/>
              <a:t>i</a:t>
            </a:r>
            <a:r>
              <a:rPr lang="en-US" altLang="en-US" dirty="0" err="1"/>
              <a:t>,</a:t>
            </a:r>
            <a:r>
              <a:rPr lang="en-US" altLang="en-US" b="1" dirty="0" err="1"/>
              <a:t>x</a:t>
            </a:r>
            <a:r>
              <a:rPr lang="en-US" altLang="en-US" i="1" baseline="-25000" dirty="0" err="1"/>
              <a:t>j</a:t>
            </a:r>
            <a:r>
              <a:rPr lang="en-US" altLang="en-US" dirty="0"/>
              <a:t>)= </a:t>
            </a:r>
            <a:r>
              <a:rPr lang="en-US" altLang="en-US" b="1" dirty="0" err="1"/>
              <a:t>x</a:t>
            </a:r>
            <a:r>
              <a:rPr lang="en-US" altLang="en-US" i="1" baseline="-25000" dirty="0" err="1"/>
              <a:t>i</a:t>
            </a:r>
            <a:r>
              <a:rPr lang="en-US" altLang="en-US" b="1" baseline="30000" dirty="0" err="1"/>
              <a:t>T</a:t>
            </a:r>
            <a:r>
              <a:rPr lang="en-US" altLang="en-US" b="1" dirty="0" err="1"/>
              <a:t>x</a:t>
            </a:r>
            <a:r>
              <a:rPr lang="en-US" altLang="en-US" i="1" baseline="-25000" dirty="0" err="1"/>
              <a:t>j</a:t>
            </a:r>
            <a:r>
              <a:rPr lang="en-US" altLang="en-US" b="1" baseline="-25000" dirty="0"/>
              <a:t>  </a:t>
            </a:r>
          </a:p>
          <a:p>
            <a:pPr lvl="1">
              <a:lnSpc>
                <a:spcPct val="90000"/>
              </a:lnSpc>
            </a:pPr>
            <a:r>
              <a:rPr lang="en-US" altLang="en-US" dirty="0"/>
              <a:t>Mapping </a:t>
            </a:r>
            <a:r>
              <a:rPr lang="el-GR" altLang="en-US" dirty="0">
                <a:cs typeface="Times New Roman" panose="02020603050405020304" pitchFamily="18" charset="0"/>
              </a:rPr>
              <a:t>Φ</a:t>
            </a:r>
            <a:r>
              <a:rPr lang="en-US" altLang="en-US" dirty="0">
                <a:cs typeface="Times New Roman" panose="02020603050405020304" pitchFamily="18" charset="0"/>
              </a:rPr>
              <a:t>:    </a:t>
            </a:r>
            <a:r>
              <a:rPr lang="en-US" altLang="en-US" b="1" dirty="0">
                <a:cs typeface="Times New Roman" panose="02020603050405020304" pitchFamily="18" charset="0"/>
              </a:rPr>
              <a:t>x</a:t>
            </a:r>
            <a:r>
              <a:rPr lang="en-US" altLang="en-US" b="1" baseline="-25000" dirty="0">
                <a:cs typeface="Times New Roman" panose="02020603050405020304" pitchFamily="18" charset="0"/>
              </a:rPr>
              <a:t>  </a:t>
            </a:r>
            <a:r>
              <a:rPr lang="en-US" altLang="en-US" b="1" dirty="0">
                <a:cs typeface="Times New Roman" panose="02020603050405020304" pitchFamily="18" charset="0"/>
              </a:rPr>
              <a:t>→ </a:t>
            </a:r>
            <a:r>
              <a:rPr lang="en-US" altLang="en-US" dirty="0">
                <a:cs typeface="Times New Roman" panose="02020603050405020304" pitchFamily="18" charset="0"/>
              </a:rPr>
              <a:t> </a:t>
            </a:r>
            <a:r>
              <a:rPr lang="el-GR" altLang="en-US" b="1" dirty="0">
                <a:cs typeface="Times New Roman" panose="02020603050405020304" pitchFamily="18" charset="0"/>
              </a:rPr>
              <a:t>φ</a:t>
            </a:r>
            <a:r>
              <a:rPr lang="en-US" altLang="en-US" dirty="0">
                <a:cs typeface="Times New Roman" panose="02020603050405020304" pitchFamily="18" charset="0"/>
              </a:rPr>
              <a:t>(</a:t>
            </a:r>
            <a:r>
              <a:rPr lang="en-US" altLang="en-US" b="1" dirty="0">
                <a:cs typeface="Times New Roman" panose="02020603050405020304" pitchFamily="18" charset="0"/>
              </a:rPr>
              <a:t>x</a:t>
            </a:r>
            <a:r>
              <a:rPr lang="en-US" altLang="en-US" dirty="0">
                <a:cs typeface="Times New Roman" panose="02020603050405020304" pitchFamily="18" charset="0"/>
              </a:rPr>
              <a:t>), where </a:t>
            </a:r>
            <a:r>
              <a:rPr lang="el-GR" altLang="en-US" b="1" dirty="0">
                <a:cs typeface="Times New Roman" panose="02020603050405020304" pitchFamily="18" charset="0"/>
              </a:rPr>
              <a:t>φ</a:t>
            </a:r>
            <a:r>
              <a:rPr lang="en-US" altLang="en-US" dirty="0">
                <a:cs typeface="Times New Roman" panose="02020603050405020304" pitchFamily="18" charset="0"/>
              </a:rPr>
              <a:t>(</a:t>
            </a:r>
            <a:r>
              <a:rPr lang="en-US" altLang="en-US" b="1" dirty="0">
                <a:cs typeface="Times New Roman" panose="02020603050405020304" pitchFamily="18" charset="0"/>
              </a:rPr>
              <a:t>x</a:t>
            </a:r>
            <a:r>
              <a:rPr lang="en-US" altLang="en-US" dirty="0">
                <a:cs typeface="Times New Roman" panose="02020603050405020304" pitchFamily="18" charset="0"/>
              </a:rPr>
              <a:t>) is </a:t>
            </a:r>
            <a:r>
              <a:rPr lang="en-US" altLang="en-US" b="1" dirty="0">
                <a:cs typeface="Times New Roman" panose="02020603050405020304" pitchFamily="18" charset="0"/>
              </a:rPr>
              <a:t>x</a:t>
            </a:r>
            <a:r>
              <a:rPr lang="en-US" altLang="en-US" dirty="0">
                <a:cs typeface="Times New Roman" panose="02020603050405020304" pitchFamily="18" charset="0"/>
              </a:rPr>
              <a:t> itself</a:t>
            </a:r>
            <a:endParaRPr lang="en-US" altLang="en-US" b="1" baseline="-25000" dirty="0"/>
          </a:p>
          <a:p>
            <a:pPr lvl="1">
              <a:lnSpc>
                <a:spcPct val="90000"/>
              </a:lnSpc>
            </a:pPr>
            <a:endParaRPr lang="en-US" altLang="en-US" dirty="0"/>
          </a:p>
          <a:p>
            <a:pPr lvl="1">
              <a:lnSpc>
                <a:spcPct val="90000"/>
              </a:lnSpc>
            </a:pPr>
            <a:endParaRPr lang="en-US" altLang="en-US" dirty="0"/>
          </a:p>
          <a:p>
            <a:pPr>
              <a:lnSpc>
                <a:spcPct val="90000"/>
              </a:lnSpc>
            </a:pPr>
            <a:r>
              <a:rPr lang="en-US" altLang="en-US" dirty="0"/>
              <a:t>Polynomial of power </a:t>
            </a:r>
            <a:r>
              <a:rPr lang="en-US" altLang="en-US" i="1" dirty="0"/>
              <a:t>p</a:t>
            </a:r>
            <a:r>
              <a:rPr lang="en-US" altLang="en-US" dirty="0"/>
              <a:t>: </a:t>
            </a:r>
            <a:r>
              <a:rPr lang="en-US" altLang="en-US" i="1" dirty="0"/>
              <a:t>K</a:t>
            </a:r>
            <a:r>
              <a:rPr lang="en-US" altLang="en-US" dirty="0"/>
              <a:t>(</a:t>
            </a:r>
            <a:r>
              <a:rPr lang="en-US" altLang="en-US" b="1" dirty="0" err="1"/>
              <a:t>x</a:t>
            </a:r>
            <a:r>
              <a:rPr lang="en-US" altLang="en-US" i="1" baseline="-25000" dirty="0" err="1"/>
              <a:t>i</a:t>
            </a:r>
            <a:r>
              <a:rPr lang="en-US" altLang="en-US" dirty="0" err="1"/>
              <a:t>,</a:t>
            </a:r>
            <a:r>
              <a:rPr lang="en-US" altLang="en-US" b="1" dirty="0" err="1"/>
              <a:t>x</a:t>
            </a:r>
            <a:r>
              <a:rPr lang="en-US" altLang="en-US" i="1" baseline="-25000" dirty="0" err="1"/>
              <a:t>j</a:t>
            </a:r>
            <a:r>
              <a:rPr lang="en-US" altLang="en-US" dirty="0"/>
              <a:t>)= (1+</a:t>
            </a:r>
            <a:r>
              <a:rPr lang="en-US" altLang="en-US" dirty="0">
                <a:cs typeface="Times New Roman" panose="02020603050405020304" pitchFamily="18" charset="0"/>
              </a:rPr>
              <a:t> </a:t>
            </a:r>
            <a:r>
              <a:rPr lang="en-US" altLang="en-US" b="1" dirty="0" err="1"/>
              <a:t>x</a:t>
            </a:r>
            <a:r>
              <a:rPr lang="en-US" altLang="en-US" i="1" baseline="-25000" dirty="0" err="1"/>
              <a:t>i</a:t>
            </a:r>
            <a:r>
              <a:rPr lang="en-US" altLang="en-US" b="1" baseline="30000" dirty="0" err="1"/>
              <a:t>T</a:t>
            </a:r>
            <a:r>
              <a:rPr lang="en-US" altLang="en-US" b="1" dirty="0" err="1"/>
              <a:t>x</a:t>
            </a:r>
            <a:r>
              <a:rPr lang="en-US" altLang="en-US" i="1" baseline="-25000" dirty="0" err="1"/>
              <a:t>j</a:t>
            </a:r>
            <a:r>
              <a:rPr lang="en-US" altLang="en-US" dirty="0"/>
              <a:t>)</a:t>
            </a:r>
            <a:r>
              <a:rPr lang="en-US" altLang="en-US" i="1" baseline="30000" dirty="0"/>
              <a:t>p</a:t>
            </a:r>
          </a:p>
          <a:p>
            <a:pPr lvl="1">
              <a:lnSpc>
                <a:spcPct val="90000"/>
              </a:lnSpc>
            </a:pPr>
            <a:r>
              <a:rPr lang="en-US" altLang="en-US" dirty="0"/>
              <a:t>Mapping </a:t>
            </a:r>
            <a:r>
              <a:rPr lang="el-GR" altLang="en-US" dirty="0">
                <a:cs typeface="Times New Roman" panose="02020603050405020304" pitchFamily="18" charset="0"/>
              </a:rPr>
              <a:t>Φ</a:t>
            </a:r>
            <a:r>
              <a:rPr lang="en-US" altLang="en-US" dirty="0">
                <a:cs typeface="Times New Roman" panose="02020603050405020304" pitchFamily="18" charset="0"/>
              </a:rPr>
              <a:t>:    </a:t>
            </a:r>
            <a:r>
              <a:rPr lang="en-US" altLang="en-US" b="1" dirty="0">
                <a:cs typeface="Times New Roman" panose="02020603050405020304" pitchFamily="18" charset="0"/>
              </a:rPr>
              <a:t>x</a:t>
            </a:r>
            <a:r>
              <a:rPr lang="en-US" altLang="en-US" b="1" baseline="-25000" dirty="0">
                <a:cs typeface="Times New Roman" panose="02020603050405020304" pitchFamily="18" charset="0"/>
              </a:rPr>
              <a:t>  </a:t>
            </a:r>
            <a:r>
              <a:rPr lang="en-US" altLang="en-US" b="1" dirty="0">
                <a:cs typeface="Times New Roman" panose="02020603050405020304" pitchFamily="18" charset="0"/>
              </a:rPr>
              <a:t>→ </a:t>
            </a:r>
            <a:r>
              <a:rPr lang="en-US" altLang="en-US" dirty="0">
                <a:cs typeface="Times New Roman" panose="02020603050405020304" pitchFamily="18" charset="0"/>
              </a:rPr>
              <a:t> </a:t>
            </a:r>
            <a:r>
              <a:rPr lang="el-GR" altLang="en-US" b="1" dirty="0">
                <a:cs typeface="Times New Roman" panose="02020603050405020304" pitchFamily="18" charset="0"/>
              </a:rPr>
              <a:t>φ</a:t>
            </a:r>
            <a:r>
              <a:rPr lang="en-US" altLang="en-US" dirty="0">
                <a:cs typeface="Times New Roman" panose="02020603050405020304" pitchFamily="18" charset="0"/>
              </a:rPr>
              <a:t>(</a:t>
            </a:r>
            <a:r>
              <a:rPr lang="en-US" altLang="en-US" b="1" dirty="0">
                <a:cs typeface="Times New Roman" panose="02020603050405020304" pitchFamily="18" charset="0"/>
              </a:rPr>
              <a:t>x</a:t>
            </a:r>
            <a:r>
              <a:rPr lang="en-US" altLang="en-US" dirty="0">
                <a:cs typeface="Times New Roman" panose="02020603050405020304" pitchFamily="18" charset="0"/>
              </a:rPr>
              <a:t>), where </a:t>
            </a:r>
            <a:r>
              <a:rPr lang="el-GR" altLang="en-US" b="1" dirty="0">
                <a:cs typeface="Times New Roman" panose="02020603050405020304" pitchFamily="18" charset="0"/>
              </a:rPr>
              <a:t>φ</a:t>
            </a:r>
            <a:r>
              <a:rPr lang="en-US" altLang="en-US" dirty="0">
                <a:cs typeface="Times New Roman" panose="02020603050405020304" pitchFamily="18" charset="0"/>
              </a:rPr>
              <a:t>(</a:t>
            </a:r>
            <a:r>
              <a:rPr lang="en-US" altLang="en-US" b="1" dirty="0">
                <a:cs typeface="Times New Roman" panose="02020603050405020304" pitchFamily="18" charset="0"/>
              </a:rPr>
              <a:t>x</a:t>
            </a:r>
            <a:r>
              <a:rPr lang="en-US" altLang="en-US" dirty="0">
                <a:cs typeface="Times New Roman" panose="02020603050405020304" pitchFamily="18" charset="0"/>
              </a:rPr>
              <a:t>) has           dimensions </a:t>
            </a:r>
          </a:p>
          <a:p>
            <a:pPr lvl="1">
              <a:lnSpc>
                <a:spcPct val="90000"/>
              </a:lnSpc>
            </a:pPr>
            <a:endParaRPr lang="en-US" altLang="en-US" dirty="0"/>
          </a:p>
          <a:p>
            <a:pPr>
              <a:lnSpc>
                <a:spcPct val="90000"/>
              </a:lnSpc>
            </a:pPr>
            <a:endParaRPr lang="en-US" altLang="en-US" dirty="0"/>
          </a:p>
          <a:p>
            <a:pPr>
              <a:lnSpc>
                <a:spcPct val="90000"/>
              </a:lnSpc>
            </a:pPr>
            <a:r>
              <a:rPr lang="en-US" altLang="en-US" dirty="0"/>
              <a:t>Gaussian (radial-basis function): </a:t>
            </a:r>
            <a:r>
              <a:rPr lang="en-US" altLang="en-US" i="1" dirty="0"/>
              <a:t>K</a:t>
            </a:r>
            <a:r>
              <a:rPr lang="en-US" altLang="en-US" dirty="0"/>
              <a:t>(</a:t>
            </a:r>
            <a:r>
              <a:rPr lang="en-US" altLang="en-US" b="1" dirty="0" err="1"/>
              <a:t>x</a:t>
            </a:r>
            <a:r>
              <a:rPr lang="en-US" altLang="en-US" i="1" baseline="-25000" dirty="0" err="1"/>
              <a:t>i</a:t>
            </a:r>
            <a:r>
              <a:rPr lang="en-US" altLang="en-US" dirty="0" err="1"/>
              <a:t>,</a:t>
            </a:r>
            <a:r>
              <a:rPr lang="en-US" altLang="en-US" b="1" dirty="0" err="1"/>
              <a:t>x</a:t>
            </a:r>
            <a:r>
              <a:rPr lang="en-US" altLang="en-US" i="1" baseline="-25000" dirty="0" err="1"/>
              <a:t>j</a:t>
            </a:r>
            <a:r>
              <a:rPr lang="en-US" altLang="en-US" dirty="0"/>
              <a:t>) =</a:t>
            </a:r>
          </a:p>
          <a:p>
            <a:pPr lvl="1">
              <a:lnSpc>
                <a:spcPct val="90000"/>
              </a:lnSpc>
            </a:pPr>
            <a:r>
              <a:rPr lang="en-US" altLang="en-US" dirty="0"/>
              <a:t>Mapping </a:t>
            </a:r>
            <a:r>
              <a:rPr lang="el-GR" altLang="en-US" dirty="0">
                <a:cs typeface="Times New Roman" panose="02020603050405020304" pitchFamily="18" charset="0"/>
              </a:rPr>
              <a:t>Φ</a:t>
            </a:r>
            <a:r>
              <a:rPr lang="en-US" altLang="en-US" dirty="0">
                <a:cs typeface="Times New Roman" panose="02020603050405020304" pitchFamily="18" charset="0"/>
              </a:rPr>
              <a:t>:  </a:t>
            </a:r>
            <a:r>
              <a:rPr lang="en-US" altLang="en-US" b="1" dirty="0">
                <a:cs typeface="Times New Roman" panose="02020603050405020304" pitchFamily="18" charset="0"/>
              </a:rPr>
              <a:t>x</a:t>
            </a:r>
            <a:r>
              <a:rPr lang="en-US" altLang="en-US" b="1" baseline="-25000" dirty="0">
                <a:cs typeface="Times New Roman" panose="02020603050405020304" pitchFamily="18" charset="0"/>
              </a:rPr>
              <a:t> </a:t>
            </a:r>
            <a:r>
              <a:rPr lang="en-US" altLang="en-US" b="1" dirty="0">
                <a:cs typeface="Times New Roman" panose="02020603050405020304" pitchFamily="18" charset="0"/>
              </a:rPr>
              <a:t>→  </a:t>
            </a:r>
            <a:r>
              <a:rPr lang="el-GR" altLang="en-US" b="1" dirty="0">
                <a:cs typeface="Times New Roman" panose="02020603050405020304" pitchFamily="18" charset="0"/>
              </a:rPr>
              <a:t>φ</a:t>
            </a:r>
            <a:r>
              <a:rPr lang="en-US" altLang="en-US" dirty="0">
                <a:cs typeface="Times New Roman" panose="02020603050405020304" pitchFamily="18" charset="0"/>
              </a:rPr>
              <a:t>(</a:t>
            </a:r>
            <a:r>
              <a:rPr lang="en-US" altLang="en-US" b="1" dirty="0">
                <a:cs typeface="Times New Roman" panose="02020603050405020304" pitchFamily="18" charset="0"/>
              </a:rPr>
              <a:t>x</a:t>
            </a:r>
            <a:r>
              <a:rPr lang="en-US" altLang="en-US" dirty="0">
                <a:cs typeface="Times New Roman" panose="02020603050405020304" pitchFamily="18" charset="0"/>
              </a:rPr>
              <a:t>), where </a:t>
            </a:r>
            <a:r>
              <a:rPr lang="el-GR" altLang="en-US" b="1" dirty="0">
                <a:cs typeface="Times New Roman" panose="02020603050405020304" pitchFamily="18" charset="0"/>
              </a:rPr>
              <a:t>φ</a:t>
            </a:r>
            <a:r>
              <a:rPr lang="en-US" altLang="en-US" dirty="0">
                <a:cs typeface="Times New Roman" panose="02020603050405020304" pitchFamily="18" charset="0"/>
              </a:rPr>
              <a:t>(</a:t>
            </a:r>
            <a:r>
              <a:rPr lang="en-US" altLang="en-US" b="1" dirty="0">
                <a:cs typeface="Times New Roman" panose="02020603050405020304" pitchFamily="18" charset="0"/>
              </a:rPr>
              <a:t>x</a:t>
            </a:r>
            <a:r>
              <a:rPr lang="en-US" altLang="en-US" dirty="0">
                <a:cs typeface="Times New Roman" panose="02020603050405020304" pitchFamily="18" charset="0"/>
              </a:rPr>
              <a:t>) is </a:t>
            </a:r>
            <a:r>
              <a:rPr lang="en-US" altLang="en-US" i="1" dirty="0">
                <a:cs typeface="Times New Roman" panose="02020603050405020304" pitchFamily="18" charset="0"/>
              </a:rPr>
              <a:t>infinite-dimensional</a:t>
            </a:r>
            <a:r>
              <a:rPr lang="en-US" altLang="en-US" dirty="0">
                <a:cs typeface="Times New Roman" panose="02020603050405020304" pitchFamily="18" charset="0"/>
              </a:rPr>
              <a:t>: every point is mapped to </a:t>
            </a:r>
            <a:r>
              <a:rPr lang="en-US" altLang="en-US" i="1" dirty="0">
                <a:cs typeface="Times New Roman" panose="02020603050405020304" pitchFamily="18" charset="0"/>
              </a:rPr>
              <a:t>a function </a:t>
            </a:r>
            <a:r>
              <a:rPr lang="en-US" altLang="en-US" dirty="0">
                <a:cs typeface="Times New Roman" panose="02020603050405020304" pitchFamily="18" charset="0"/>
              </a:rPr>
              <a:t>(a Gaussian); combination of functions for support vectors is the separator.</a:t>
            </a:r>
            <a:endParaRPr lang="en-US" altLang="en-US" dirty="0"/>
          </a:p>
          <a:p>
            <a:pPr>
              <a:lnSpc>
                <a:spcPct val="90000"/>
              </a:lnSpc>
            </a:pPr>
            <a:endParaRPr lang="en-US" altLang="en-US" dirty="0"/>
          </a:p>
          <a:p>
            <a:pPr>
              <a:lnSpc>
                <a:spcPct val="90000"/>
              </a:lnSpc>
            </a:pPr>
            <a:r>
              <a:rPr lang="en-US" altLang="en-US" dirty="0">
                <a:cs typeface="Times New Roman" panose="02020603050405020304" pitchFamily="18" charset="0"/>
              </a:rPr>
              <a:t>Higher-dimensional space still has </a:t>
            </a:r>
            <a:r>
              <a:rPr lang="en-US" altLang="en-US" i="1" dirty="0">
                <a:cs typeface="Times New Roman" panose="02020603050405020304" pitchFamily="18" charset="0"/>
              </a:rPr>
              <a:t>intrinsic </a:t>
            </a:r>
            <a:r>
              <a:rPr lang="en-US" altLang="en-US" dirty="0">
                <a:cs typeface="Times New Roman" panose="02020603050405020304" pitchFamily="18" charset="0"/>
              </a:rPr>
              <a:t>dimensionality </a:t>
            </a:r>
            <a:r>
              <a:rPr lang="en-US" altLang="en-US" i="1" dirty="0">
                <a:cs typeface="Times New Roman" panose="02020603050405020304" pitchFamily="18" charset="0"/>
              </a:rPr>
              <a:t>d </a:t>
            </a:r>
            <a:r>
              <a:rPr lang="en-US" altLang="en-US" dirty="0">
                <a:cs typeface="Times New Roman" panose="02020603050405020304" pitchFamily="18" charset="0"/>
              </a:rPr>
              <a:t>(the mapping is not </a:t>
            </a:r>
            <a:r>
              <a:rPr lang="en-US" altLang="en-US" i="1" dirty="0">
                <a:cs typeface="Times New Roman" panose="02020603050405020304" pitchFamily="18" charset="0"/>
              </a:rPr>
              <a:t>onto</a:t>
            </a:r>
            <a:r>
              <a:rPr lang="en-US" altLang="en-US" dirty="0">
                <a:cs typeface="Times New Roman" panose="02020603050405020304" pitchFamily="18" charset="0"/>
              </a:rPr>
              <a:t>), but linear separators in it correspond to </a:t>
            </a:r>
            <a:r>
              <a:rPr lang="en-US" altLang="en-US" i="1" dirty="0">
                <a:cs typeface="Times New Roman" panose="02020603050405020304" pitchFamily="18" charset="0"/>
              </a:rPr>
              <a:t>non-linear </a:t>
            </a:r>
            <a:r>
              <a:rPr lang="en-US" altLang="en-US" dirty="0">
                <a:cs typeface="Times New Roman" panose="02020603050405020304" pitchFamily="18" charset="0"/>
              </a:rPr>
              <a:t>separators in original space.</a:t>
            </a:r>
          </a:p>
        </p:txBody>
      </p:sp>
      <p:graphicFrame>
        <p:nvGraphicFramePr>
          <p:cNvPr id="227332" name="Object 4">
            <a:extLst>
              <a:ext uri="{FF2B5EF4-FFF2-40B4-BE49-F238E27FC236}">
                <a16:creationId xmlns:a16="http://schemas.microsoft.com/office/drawing/2014/main" id="{9D589471-52F3-4BB2-0104-F0F21296D484}"/>
              </a:ext>
            </a:extLst>
          </p:cNvPr>
          <p:cNvGraphicFramePr>
            <a:graphicFrameLocks noChangeAspect="1"/>
          </p:cNvGraphicFramePr>
          <p:nvPr>
            <p:extLst>
              <p:ext uri="{D42A27DB-BD31-4B8C-83A1-F6EECF244321}">
                <p14:modId xmlns:p14="http://schemas.microsoft.com/office/powerpoint/2010/main" val="3717525633"/>
              </p:ext>
            </p:extLst>
          </p:nvPr>
        </p:nvGraphicFramePr>
        <p:xfrm>
          <a:off x="7120324" y="3081337"/>
          <a:ext cx="950913" cy="695325"/>
        </p:xfrm>
        <a:graphic>
          <a:graphicData uri="http://schemas.openxmlformats.org/presentationml/2006/ole">
            <mc:AlternateContent xmlns:mc="http://schemas.openxmlformats.org/markup-compatibility/2006">
              <mc:Choice xmlns:v="urn:schemas-microsoft-com:vml" Requires="v">
                <p:oleObj name="Equation" r:id="rId2" imgW="12001500" imgH="8775700" progId="Equation.3">
                  <p:embed/>
                </p:oleObj>
              </mc:Choice>
              <mc:Fallback>
                <p:oleObj name="Equation" r:id="rId2" imgW="12001500" imgH="8775700" progId="Equation.3">
                  <p:embed/>
                  <p:pic>
                    <p:nvPicPr>
                      <p:cNvPr id="227332" name="Object 4">
                        <a:extLst>
                          <a:ext uri="{FF2B5EF4-FFF2-40B4-BE49-F238E27FC236}">
                            <a16:creationId xmlns:a16="http://schemas.microsoft.com/office/drawing/2014/main" id="{9D589471-52F3-4BB2-0104-F0F21296D4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0324" y="3081337"/>
                        <a:ext cx="950913" cy="695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7333" name="Object 5">
            <a:extLst>
              <a:ext uri="{FF2B5EF4-FFF2-40B4-BE49-F238E27FC236}">
                <a16:creationId xmlns:a16="http://schemas.microsoft.com/office/drawing/2014/main" id="{CD73C350-3C06-B2D2-C27A-0FE05777E198}"/>
              </a:ext>
            </a:extLst>
          </p:cNvPr>
          <p:cNvGraphicFramePr>
            <a:graphicFrameLocks noChangeAspect="1"/>
          </p:cNvGraphicFramePr>
          <p:nvPr>
            <p:extLst>
              <p:ext uri="{D42A27DB-BD31-4B8C-83A1-F6EECF244321}">
                <p14:modId xmlns:p14="http://schemas.microsoft.com/office/powerpoint/2010/main" val="2765673143"/>
              </p:ext>
            </p:extLst>
          </p:nvPr>
        </p:nvGraphicFramePr>
        <p:xfrm>
          <a:off x="5343525" y="3347264"/>
          <a:ext cx="566737" cy="506412"/>
        </p:xfrm>
        <a:graphic>
          <a:graphicData uri="http://schemas.openxmlformats.org/presentationml/2006/ole">
            <mc:AlternateContent xmlns:mc="http://schemas.openxmlformats.org/markup-compatibility/2006">
              <mc:Choice xmlns:v="urn:schemas-microsoft-com:vml" Requires="v">
                <p:oleObj name="Equation" r:id="rId4" imgW="12001500" imgH="10528300" progId="Equation.3">
                  <p:embed/>
                </p:oleObj>
              </mc:Choice>
              <mc:Fallback>
                <p:oleObj name="Equation" r:id="rId4" imgW="12001500" imgH="10528300" progId="Equation.3">
                  <p:embed/>
                  <p:pic>
                    <p:nvPicPr>
                      <p:cNvPr id="227333" name="Object 5">
                        <a:extLst>
                          <a:ext uri="{FF2B5EF4-FFF2-40B4-BE49-F238E27FC236}">
                            <a16:creationId xmlns:a16="http://schemas.microsoft.com/office/drawing/2014/main" id="{CD73C350-3C06-B2D2-C27A-0FE05777E1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3525" y="3347264"/>
                        <a:ext cx="566737"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1051516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0210" name="Rectangle 2">
            <a:extLst>
              <a:ext uri="{FF2B5EF4-FFF2-40B4-BE49-F238E27FC236}">
                <a16:creationId xmlns:a16="http://schemas.microsoft.com/office/drawing/2014/main" id="{75ED1C28-8175-281A-705F-BAED4114A90D}"/>
              </a:ext>
            </a:extLst>
          </p:cNvPr>
          <p:cNvSpPr>
            <a:spLocks noGrp="1" noChangeArrowheads="1"/>
          </p:cNvSpPr>
          <p:nvPr>
            <p:ph type="title"/>
          </p:nvPr>
        </p:nvSpPr>
        <p:spPr/>
        <p:txBody>
          <a:bodyPr/>
          <a:lstStyle/>
          <a:p>
            <a:r>
              <a:rPr lang="en-US" altLang="en-US"/>
              <a:t>Dealing with the test data</a:t>
            </a:r>
          </a:p>
        </p:txBody>
      </p:sp>
      <p:sp>
        <p:nvSpPr>
          <p:cNvPr id="350211" name="Rectangle 3">
            <a:extLst>
              <a:ext uri="{FF2B5EF4-FFF2-40B4-BE49-F238E27FC236}">
                <a16:creationId xmlns:a16="http://schemas.microsoft.com/office/drawing/2014/main" id="{765BECE6-0A97-9A01-1918-CC4ED53A605D}"/>
              </a:ext>
            </a:extLst>
          </p:cNvPr>
          <p:cNvSpPr>
            <a:spLocks noGrp="1" noChangeArrowheads="1"/>
          </p:cNvSpPr>
          <p:nvPr>
            <p:ph type="body" idx="1"/>
          </p:nvPr>
        </p:nvSpPr>
        <p:spPr>
          <a:xfrm>
            <a:off x="1882775" y="1412875"/>
            <a:ext cx="8470900" cy="5257800"/>
          </a:xfrm>
        </p:spPr>
        <p:txBody>
          <a:bodyPr/>
          <a:lstStyle/>
          <a:p>
            <a:r>
              <a:rPr lang="en-US" altLang="en-US"/>
              <a:t>If we choose a mapping to a high-D space for which the kernel trick works, we do not have to pay a computational price for the high-dimensionality when we find the best hyper-plane.</a:t>
            </a:r>
          </a:p>
          <a:p>
            <a:pPr lvl="1"/>
            <a:r>
              <a:rPr lang="en-US" altLang="en-US" sz="2400"/>
              <a:t>We cannot express the hyperplane by using its normal vector in the high-dimensional space because this vector would have a huge number of components.</a:t>
            </a:r>
          </a:p>
          <a:p>
            <a:pPr lvl="1"/>
            <a:r>
              <a:rPr lang="en-US" altLang="en-US" sz="2400"/>
              <a:t>Luckily, we can express it in terms of the support vectors.</a:t>
            </a:r>
          </a:p>
          <a:p>
            <a:r>
              <a:rPr lang="en-US" altLang="en-US"/>
              <a:t>But what about the test data. We cannot compute the scalar product                because its in the high-D space.</a:t>
            </a:r>
            <a:endParaRPr lang="en-US" altLang="en-US">
              <a:solidFill>
                <a:srgbClr val="3333CC"/>
              </a:solidFill>
            </a:endParaRPr>
          </a:p>
        </p:txBody>
      </p:sp>
      <p:graphicFrame>
        <p:nvGraphicFramePr>
          <p:cNvPr id="350212" name="Object 4">
            <a:extLst>
              <a:ext uri="{FF2B5EF4-FFF2-40B4-BE49-F238E27FC236}">
                <a16:creationId xmlns:a16="http://schemas.microsoft.com/office/drawing/2014/main" id="{34FEFFB5-55EE-9680-614C-881C32926FD7}"/>
              </a:ext>
            </a:extLst>
          </p:cNvPr>
          <p:cNvGraphicFramePr>
            <a:graphicFrameLocks noChangeAspect="1"/>
          </p:cNvGraphicFramePr>
          <p:nvPr/>
        </p:nvGraphicFramePr>
        <p:xfrm>
          <a:off x="5303839" y="5624514"/>
          <a:ext cx="1304925" cy="509587"/>
        </p:xfrm>
        <a:graphic>
          <a:graphicData uri="http://schemas.openxmlformats.org/presentationml/2006/ole">
            <mc:AlternateContent xmlns:mc="http://schemas.openxmlformats.org/markup-compatibility/2006">
              <mc:Choice xmlns:v="urn:schemas-microsoft-com:vml" Requires="v">
                <p:oleObj name="Equation" r:id="rId2" imgW="12001500" imgH="4686300" progId="Equation.3">
                  <p:embed/>
                </p:oleObj>
              </mc:Choice>
              <mc:Fallback>
                <p:oleObj name="Equation" r:id="rId2" imgW="12001500" imgH="4686300" progId="Equation.3">
                  <p:embed/>
                  <p:pic>
                    <p:nvPicPr>
                      <p:cNvPr id="350212" name="Object 4">
                        <a:extLst>
                          <a:ext uri="{FF2B5EF4-FFF2-40B4-BE49-F238E27FC236}">
                            <a16:creationId xmlns:a16="http://schemas.microsoft.com/office/drawing/2014/main" id="{34FEFFB5-55EE-9680-614C-881C32926F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3839" y="5624514"/>
                        <a:ext cx="1304925"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1234" name="Rectangle 2">
            <a:extLst>
              <a:ext uri="{FF2B5EF4-FFF2-40B4-BE49-F238E27FC236}">
                <a16:creationId xmlns:a16="http://schemas.microsoft.com/office/drawing/2014/main" id="{18160517-DC65-6EED-3145-56084AC126DE}"/>
              </a:ext>
            </a:extLst>
          </p:cNvPr>
          <p:cNvSpPr>
            <a:spLocks noGrp="1" noChangeArrowheads="1"/>
          </p:cNvSpPr>
          <p:nvPr>
            <p:ph type="title"/>
          </p:nvPr>
        </p:nvSpPr>
        <p:spPr/>
        <p:txBody>
          <a:bodyPr/>
          <a:lstStyle/>
          <a:p>
            <a:r>
              <a:rPr lang="en-US" altLang="en-US"/>
              <a:t>Dealing with the test data</a:t>
            </a:r>
          </a:p>
        </p:txBody>
      </p:sp>
      <p:sp>
        <p:nvSpPr>
          <p:cNvPr id="351235" name="Rectangle 3">
            <a:extLst>
              <a:ext uri="{FF2B5EF4-FFF2-40B4-BE49-F238E27FC236}">
                <a16:creationId xmlns:a16="http://schemas.microsoft.com/office/drawing/2014/main" id="{92427E27-2976-72E1-FFDF-C2DE72AA50E7}"/>
              </a:ext>
            </a:extLst>
          </p:cNvPr>
          <p:cNvSpPr>
            <a:spLocks noGrp="1" noChangeArrowheads="1"/>
          </p:cNvSpPr>
          <p:nvPr>
            <p:ph type="body" idx="1"/>
          </p:nvPr>
        </p:nvSpPr>
        <p:spPr>
          <a:xfrm>
            <a:off x="1981200" y="1592264"/>
            <a:ext cx="8229600" cy="4105275"/>
          </a:xfrm>
        </p:spPr>
        <p:txBody>
          <a:bodyPr/>
          <a:lstStyle/>
          <a:p>
            <a:r>
              <a:rPr lang="en-US" altLang="en-US"/>
              <a:t>We need to decide which side of the separating hyperplane a test point lies on and this requires us to compute a scalar product.</a:t>
            </a:r>
          </a:p>
          <a:p>
            <a:r>
              <a:rPr lang="en-US" altLang="en-US"/>
              <a:t>We can express this scalar product as a weighted average of scalar products with the stored support vectors</a:t>
            </a:r>
          </a:p>
          <a:p>
            <a:pPr lvl="1"/>
            <a:r>
              <a:rPr lang="en-US" altLang="en-US"/>
              <a:t>This could still be slow if there are a lot of support vectors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2258" name="Rectangle 2">
            <a:extLst>
              <a:ext uri="{FF2B5EF4-FFF2-40B4-BE49-F238E27FC236}">
                <a16:creationId xmlns:a16="http://schemas.microsoft.com/office/drawing/2014/main" id="{15619B2A-652A-441E-983E-F20A2607C776}"/>
              </a:ext>
            </a:extLst>
          </p:cNvPr>
          <p:cNvSpPr>
            <a:spLocks noGrp="1" noChangeArrowheads="1"/>
          </p:cNvSpPr>
          <p:nvPr>
            <p:ph type="title"/>
          </p:nvPr>
        </p:nvSpPr>
        <p:spPr/>
        <p:txBody>
          <a:bodyPr/>
          <a:lstStyle/>
          <a:p>
            <a:r>
              <a:rPr lang="en-US" altLang="en-US"/>
              <a:t>The classification rule</a:t>
            </a:r>
          </a:p>
        </p:txBody>
      </p:sp>
      <p:sp>
        <p:nvSpPr>
          <p:cNvPr id="352259" name="Rectangle 3">
            <a:extLst>
              <a:ext uri="{FF2B5EF4-FFF2-40B4-BE49-F238E27FC236}">
                <a16:creationId xmlns:a16="http://schemas.microsoft.com/office/drawing/2014/main" id="{6C8349B3-CF35-E6EF-4DD4-44EC067A7BFC}"/>
              </a:ext>
            </a:extLst>
          </p:cNvPr>
          <p:cNvSpPr>
            <a:spLocks noGrp="1" noChangeArrowheads="1"/>
          </p:cNvSpPr>
          <p:nvPr>
            <p:ph type="body" idx="1"/>
          </p:nvPr>
        </p:nvSpPr>
        <p:spPr>
          <a:xfrm>
            <a:off x="1981200" y="1600200"/>
            <a:ext cx="8229600" cy="4997450"/>
          </a:xfrm>
        </p:spPr>
        <p:txBody>
          <a:bodyPr>
            <a:normAutofit lnSpcReduction="10000"/>
          </a:bodyPr>
          <a:lstStyle/>
          <a:p>
            <a:r>
              <a:rPr lang="en-US" altLang="en-US" sz="2400"/>
              <a:t>The final classification rule is quite simple:</a:t>
            </a:r>
          </a:p>
          <a:p>
            <a:endParaRPr lang="en-US" altLang="en-US" sz="2400"/>
          </a:p>
          <a:p>
            <a:endParaRPr lang="en-US" altLang="en-US" sz="2400"/>
          </a:p>
          <a:p>
            <a:endParaRPr lang="en-US" altLang="en-US" sz="2400"/>
          </a:p>
          <a:p>
            <a:endParaRPr lang="en-US" altLang="en-US" sz="2400"/>
          </a:p>
          <a:p>
            <a:endParaRPr lang="en-US" altLang="en-US" sz="2400"/>
          </a:p>
          <a:p>
            <a:r>
              <a:rPr lang="en-US" altLang="en-US" sz="2400"/>
              <a:t>All the cleverness goes into selecting the support vectors that maximize the margin and computing the weight to use on each support vector.</a:t>
            </a:r>
          </a:p>
          <a:p>
            <a:r>
              <a:rPr lang="en-US" altLang="en-US" sz="2400"/>
              <a:t>We also need to choose a good kernel function and we may need  to choose a lambda for dealing with non-separable cases.</a:t>
            </a:r>
          </a:p>
        </p:txBody>
      </p:sp>
      <p:graphicFrame>
        <p:nvGraphicFramePr>
          <p:cNvPr id="352260" name="Object 4">
            <a:extLst>
              <a:ext uri="{FF2B5EF4-FFF2-40B4-BE49-F238E27FC236}">
                <a16:creationId xmlns:a16="http://schemas.microsoft.com/office/drawing/2014/main" id="{2E4D851C-DCB7-0E32-53D5-848BF8CDE0C7}"/>
              </a:ext>
            </a:extLst>
          </p:cNvPr>
          <p:cNvGraphicFramePr>
            <a:graphicFrameLocks noChangeAspect="1"/>
          </p:cNvGraphicFramePr>
          <p:nvPr/>
        </p:nvGraphicFramePr>
        <p:xfrm>
          <a:off x="3324225" y="2205038"/>
          <a:ext cx="4933950" cy="1071562"/>
        </p:xfrm>
        <a:graphic>
          <a:graphicData uri="http://schemas.openxmlformats.org/presentationml/2006/ole">
            <mc:AlternateContent xmlns:mc="http://schemas.openxmlformats.org/markup-compatibility/2006">
              <mc:Choice xmlns:v="urn:schemas-microsoft-com:vml" Requires="v">
                <p:oleObj name="Equation" r:id="rId2" imgW="44475400" imgH="9652000" progId="Equation.3">
                  <p:embed/>
                </p:oleObj>
              </mc:Choice>
              <mc:Fallback>
                <p:oleObj name="Equation" r:id="rId2" imgW="44475400" imgH="9652000" progId="Equation.3">
                  <p:embed/>
                  <p:pic>
                    <p:nvPicPr>
                      <p:cNvPr id="352260" name="Object 4">
                        <a:extLst>
                          <a:ext uri="{FF2B5EF4-FFF2-40B4-BE49-F238E27FC236}">
                            <a16:creationId xmlns:a16="http://schemas.microsoft.com/office/drawing/2014/main" id="{2E4D851C-DCB7-0E32-53D5-848BF8CDE0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4225" y="2205038"/>
                        <a:ext cx="4933950" cy="1071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2261" name="Text Box 5">
            <a:extLst>
              <a:ext uri="{FF2B5EF4-FFF2-40B4-BE49-F238E27FC236}">
                <a16:creationId xmlns:a16="http://schemas.microsoft.com/office/drawing/2014/main" id="{86652AB1-D9B1-BB25-3B94-DB565295F944}"/>
              </a:ext>
            </a:extLst>
          </p:cNvPr>
          <p:cNvSpPr txBox="1">
            <a:spLocks noChangeArrowheads="1"/>
          </p:cNvSpPr>
          <p:nvPr/>
        </p:nvSpPr>
        <p:spPr bwMode="auto">
          <a:xfrm>
            <a:off x="3935413" y="3465514"/>
            <a:ext cx="19812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rgbClr val="3333CC"/>
                </a:solidFill>
              </a:rPr>
              <a:t>The set of support vectors</a:t>
            </a:r>
          </a:p>
        </p:txBody>
      </p:sp>
      <p:sp>
        <p:nvSpPr>
          <p:cNvPr id="352262" name="AutoShape 6">
            <a:extLst>
              <a:ext uri="{FF2B5EF4-FFF2-40B4-BE49-F238E27FC236}">
                <a16:creationId xmlns:a16="http://schemas.microsoft.com/office/drawing/2014/main" id="{5EFA1225-F323-02EC-5823-91EF5D875664}"/>
              </a:ext>
            </a:extLst>
          </p:cNvPr>
          <p:cNvSpPr>
            <a:spLocks noChangeArrowheads="1"/>
          </p:cNvSpPr>
          <p:nvPr/>
        </p:nvSpPr>
        <p:spPr bwMode="auto">
          <a:xfrm>
            <a:off x="4800601" y="3213101"/>
            <a:ext cx="142875" cy="252413"/>
          </a:xfrm>
          <a:prstGeom prst="upArrow">
            <a:avLst>
              <a:gd name="adj1" fmla="val 50000"/>
              <a:gd name="adj2" fmla="val 44167"/>
            </a:avLst>
          </a:prstGeom>
          <a:solidFill>
            <a:srgbClr val="3333CC"/>
          </a:solidFill>
          <a:ln w="9525">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a:extLst>
              <a:ext uri="{FF2B5EF4-FFF2-40B4-BE49-F238E27FC236}">
                <a16:creationId xmlns:a16="http://schemas.microsoft.com/office/drawing/2014/main" id="{EE6159DA-27E4-2BBB-5F5D-9477132A0739}"/>
              </a:ext>
            </a:extLst>
          </p:cNvPr>
          <p:cNvSpPr>
            <a:spLocks noGrp="1" noChangeArrowheads="1"/>
          </p:cNvSpPr>
          <p:nvPr>
            <p:ph type="title"/>
          </p:nvPr>
        </p:nvSpPr>
        <p:spPr/>
        <p:txBody>
          <a:bodyPr/>
          <a:lstStyle/>
          <a:p>
            <a:r>
              <a:rPr lang="en-US" altLang="en-US"/>
              <a:t>Performance</a:t>
            </a:r>
          </a:p>
        </p:txBody>
      </p:sp>
      <p:sp>
        <p:nvSpPr>
          <p:cNvPr id="354307" name="Rectangle 3">
            <a:extLst>
              <a:ext uri="{FF2B5EF4-FFF2-40B4-BE49-F238E27FC236}">
                <a16:creationId xmlns:a16="http://schemas.microsoft.com/office/drawing/2014/main" id="{6BB39E71-E59B-E6AB-6BE3-4F49F21DDBB9}"/>
              </a:ext>
            </a:extLst>
          </p:cNvPr>
          <p:cNvSpPr>
            <a:spLocks noGrp="1" noChangeArrowheads="1"/>
          </p:cNvSpPr>
          <p:nvPr>
            <p:ph type="body" idx="1"/>
          </p:nvPr>
        </p:nvSpPr>
        <p:spPr>
          <a:xfrm>
            <a:off x="1847850" y="1412875"/>
            <a:ext cx="8686800" cy="5068888"/>
          </a:xfrm>
        </p:spPr>
        <p:txBody>
          <a:bodyPr>
            <a:normAutofit fontScale="92500"/>
          </a:bodyPr>
          <a:lstStyle/>
          <a:p>
            <a:pPr>
              <a:lnSpc>
                <a:spcPct val="90000"/>
              </a:lnSpc>
            </a:pPr>
            <a:r>
              <a:rPr lang="en-US" altLang="en-US" sz="2400"/>
              <a:t>Support Vector Machines work very well in practice. </a:t>
            </a:r>
          </a:p>
          <a:p>
            <a:pPr lvl="1">
              <a:lnSpc>
                <a:spcPct val="90000"/>
              </a:lnSpc>
            </a:pPr>
            <a:r>
              <a:rPr lang="en-US" altLang="en-US" sz="2400"/>
              <a:t>The user must choose the kernel function and its parameters, but the rest is automatic.</a:t>
            </a:r>
          </a:p>
          <a:p>
            <a:pPr lvl="1">
              <a:lnSpc>
                <a:spcPct val="90000"/>
              </a:lnSpc>
            </a:pPr>
            <a:r>
              <a:rPr lang="en-US" altLang="en-US" sz="2400"/>
              <a:t>The test performance is very good.</a:t>
            </a:r>
          </a:p>
          <a:p>
            <a:pPr>
              <a:lnSpc>
                <a:spcPct val="90000"/>
              </a:lnSpc>
            </a:pPr>
            <a:r>
              <a:rPr lang="en-US" altLang="en-US" sz="2400"/>
              <a:t>They can be expensive in time and space for big datasets</a:t>
            </a:r>
          </a:p>
          <a:p>
            <a:pPr lvl="1">
              <a:lnSpc>
                <a:spcPct val="90000"/>
              </a:lnSpc>
            </a:pPr>
            <a:r>
              <a:rPr lang="en-US" altLang="en-US" sz="2400"/>
              <a:t>The computation of the maximum-margin hyper-plane depends on the </a:t>
            </a:r>
            <a:r>
              <a:rPr lang="en-US" altLang="en-US" sz="2400">
                <a:solidFill>
                  <a:srgbClr val="FF0000"/>
                </a:solidFill>
              </a:rPr>
              <a:t>square</a:t>
            </a:r>
            <a:r>
              <a:rPr lang="en-US" altLang="en-US" sz="2400"/>
              <a:t> of the number of training cases.</a:t>
            </a:r>
          </a:p>
          <a:p>
            <a:pPr lvl="1">
              <a:lnSpc>
                <a:spcPct val="90000"/>
              </a:lnSpc>
            </a:pPr>
            <a:r>
              <a:rPr lang="en-US" altLang="en-US" sz="2400"/>
              <a:t>We need to store all the support vectors.</a:t>
            </a:r>
          </a:p>
          <a:p>
            <a:pPr>
              <a:lnSpc>
                <a:spcPct val="90000"/>
              </a:lnSpc>
            </a:pPr>
            <a:r>
              <a:rPr lang="en-US" altLang="en-US" sz="2400"/>
              <a:t>SVM’s are very good if you have no idea about what structure to impose on the task.</a:t>
            </a:r>
          </a:p>
          <a:p>
            <a:pPr>
              <a:lnSpc>
                <a:spcPct val="90000"/>
              </a:lnSpc>
            </a:pPr>
            <a:r>
              <a:rPr lang="en-US" altLang="en-US" sz="2400"/>
              <a:t>The kernel trick can also be used to do PCA in a much higher-dimensional space, thus giving a non-linear version of PCA in the original space.</a:t>
            </a:r>
            <a:endParaRPr lang="en-US" altLang="en-US" sz="2400">
              <a:solidFill>
                <a:srgbClr val="3333CC"/>
              </a:solidFill>
            </a:endParaRPr>
          </a:p>
          <a:p>
            <a:pPr lvl="1">
              <a:lnSpc>
                <a:spcPct val="90000"/>
              </a:lnSpc>
            </a:pPr>
            <a:endParaRPr lang="en-US" altLang="en-US" sz="2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36E9C0EC-2A90-D943-E043-40FCC03112AD}"/>
              </a:ext>
            </a:extLst>
          </p:cNvPr>
          <p:cNvSpPr>
            <a:spLocks noGrp="1" noChangeArrowheads="1"/>
          </p:cNvSpPr>
          <p:nvPr>
            <p:ph type="title"/>
          </p:nvPr>
        </p:nvSpPr>
        <p:spPr/>
        <p:txBody>
          <a:bodyPr/>
          <a:lstStyle/>
          <a:p>
            <a:r>
              <a:rPr lang="en-US" altLang="en-US"/>
              <a:t>SVM applications</a:t>
            </a:r>
          </a:p>
        </p:txBody>
      </p:sp>
      <p:sp>
        <p:nvSpPr>
          <p:cNvPr id="229379" name="Rectangle 3">
            <a:extLst>
              <a:ext uri="{FF2B5EF4-FFF2-40B4-BE49-F238E27FC236}">
                <a16:creationId xmlns:a16="http://schemas.microsoft.com/office/drawing/2014/main" id="{75F943B8-79E0-A0A6-F89C-68C7B1ECFA80}"/>
              </a:ext>
            </a:extLst>
          </p:cNvPr>
          <p:cNvSpPr>
            <a:spLocks noGrp="1" noChangeArrowheads="1"/>
          </p:cNvSpPr>
          <p:nvPr>
            <p:ph type="body" idx="1"/>
          </p:nvPr>
        </p:nvSpPr>
        <p:spPr>
          <a:xfrm>
            <a:off x="1752600" y="1566863"/>
            <a:ext cx="8686800" cy="5029200"/>
          </a:xfrm>
        </p:spPr>
        <p:txBody>
          <a:bodyPr/>
          <a:lstStyle/>
          <a:p>
            <a:r>
              <a:rPr lang="en-US" altLang="en-US" dirty="0"/>
              <a:t>SVMs were originally proposed by </a:t>
            </a:r>
            <a:r>
              <a:rPr lang="en-US" altLang="en-US" dirty="0" err="1"/>
              <a:t>Boser</a:t>
            </a:r>
            <a:r>
              <a:rPr lang="en-US" altLang="en-US" dirty="0"/>
              <a:t>, Guyon and </a:t>
            </a:r>
            <a:r>
              <a:rPr lang="en-US" altLang="en-US" dirty="0" err="1"/>
              <a:t>Vapnik</a:t>
            </a:r>
            <a:r>
              <a:rPr lang="en-US" altLang="en-US" dirty="0"/>
              <a:t> in 1992 and gained increasing popularity in late 1990s.</a:t>
            </a:r>
          </a:p>
          <a:p>
            <a:r>
              <a:rPr lang="en-US" altLang="en-US" dirty="0"/>
              <a:t>SVMs are currently among the best performers for a number of classification tasks ranging from text to genomic data.</a:t>
            </a:r>
          </a:p>
          <a:p>
            <a:r>
              <a:rPr lang="en-US" altLang="en-US" dirty="0"/>
              <a:t>SVMs can be applied to complex data types beyond feature vectors (e.g. graphs, sequences, relational data) by designing kernel functions for such data.</a:t>
            </a:r>
          </a:p>
          <a:p>
            <a:r>
              <a:rPr lang="en-US" altLang="en-US" dirty="0"/>
              <a:t>SVM techniques have been extended to a number of tasks such as regression, principal component analysis, etc. </a:t>
            </a:r>
          </a:p>
          <a:p>
            <a:r>
              <a:rPr lang="en-US" altLang="en-US" dirty="0"/>
              <a:t>Most popular optimization algorithms for SVMs use </a:t>
            </a:r>
            <a:r>
              <a:rPr lang="en-US" altLang="en-US" i="1" dirty="0"/>
              <a:t>decomposition </a:t>
            </a:r>
            <a:r>
              <a:rPr lang="en-US" altLang="en-US" dirty="0"/>
              <a:t>to hill-climb over a subset of </a:t>
            </a:r>
            <a:r>
              <a:rPr lang="el-GR" altLang="en-US" i="1" dirty="0">
                <a:cs typeface="Times New Roman" panose="02020603050405020304" pitchFamily="18" charset="0"/>
              </a:rPr>
              <a:t>α</a:t>
            </a:r>
            <a:r>
              <a:rPr lang="en-US" altLang="en-US" i="1" baseline="-25000" dirty="0">
                <a:cs typeface="Times New Roman" panose="02020603050405020304" pitchFamily="18" charset="0"/>
              </a:rPr>
              <a:t>i</a:t>
            </a:r>
            <a:r>
              <a:rPr lang="en-US" altLang="en-US" i="1" dirty="0">
                <a:cs typeface="Times New Roman" panose="02020603050405020304" pitchFamily="18" charset="0"/>
              </a:rPr>
              <a:t>’</a:t>
            </a:r>
            <a:r>
              <a:rPr lang="en-US" altLang="en-US" dirty="0">
                <a:cs typeface="Times New Roman" panose="02020603050405020304" pitchFamily="18" charset="0"/>
              </a:rPr>
              <a:t>s at a time</a:t>
            </a:r>
          </a:p>
          <a:p>
            <a:r>
              <a:rPr lang="en-US" altLang="en-US" dirty="0">
                <a:cs typeface="Times New Roman" panose="02020603050405020304" pitchFamily="18" charset="0"/>
              </a:rPr>
              <a:t>Tuning SVMs remains a black art:  selecting a specific kernel and parameters is usually done in a try-and-see manner. </a:t>
            </a:r>
          </a:p>
          <a:p>
            <a:endParaRPr lang="en-US" altLang="en-US" i="1" baseline="-25000" dirty="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7A491A-803B-1B13-CEF4-54EA2B287529}"/>
              </a:ext>
            </a:extLst>
          </p:cNvPr>
          <p:cNvSpPr>
            <a:spLocks noGrp="1"/>
          </p:cNvSpPr>
          <p:nvPr>
            <p:ph idx="1"/>
          </p:nvPr>
        </p:nvSpPr>
        <p:spPr/>
        <p:txBody>
          <a:bodyPr>
            <a:normAutofit/>
          </a:bodyPr>
          <a:lstStyle/>
          <a:p>
            <a:pPr marL="0" indent="0">
              <a:buNone/>
            </a:pPr>
            <a:r>
              <a:rPr lang="en-US" dirty="0">
                <a:solidFill>
                  <a:schemeClr val="tx1"/>
                </a:solidFill>
              </a:rPr>
              <a:t>Working Example SVM</a:t>
            </a:r>
          </a:p>
          <a:p>
            <a:pPr marL="0" indent="0">
              <a:buNone/>
            </a:pPr>
            <a:endParaRPr lang="en-US" dirty="0">
              <a:solidFill>
                <a:schemeClr val="tx1"/>
              </a:solidFill>
              <a:hlinkClick r:id="rId2">
                <a:extLst>
                  <a:ext uri="{A12FA001-AC4F-418D-AE19-62706E023703}">
                    <ahyp:hlinkClr xmlns:ahyp="http://schemas.microsoft.com/office/drawing/2018/hyperlinkcolor" val="tx"/>
                  </a:ext>
                </a:extLst>
              </a:hlinkClick>
            </a:endParaRPr>
          </a:p>
          <a:p>
            <a:pPr marL="0" indent="0">
              <a:buNone/>
            </a:pPr>
            <a:r>
              <a:rPr lang="en-US" dirty="0">
                <a:solidFill>
                  <a:schemeClr val="tx1"/>
                </a:solidFill>
                <a:hlinkClick r:id="rId3"/>
              </a:rPr>
              <a:t>http://www.svms.org/tutorials/Berwick2003.pdf</a:t>
            </a:r>
            <a:endParaRPr lang="en-US" dirty="0">
              <a:solidFill>
                <a:schemeClr val="tx1"/>
              </a:solidFill>
            </a:endParaRPr>
          </a:p>
          <a:p>
            <a:pPr marL="0" indent="0">
              <a:buNone/>
            </a:pPr>
            <a:r>
              <a:rPr lang="en-US" dirty="0">
                <a:solidFill>
                  <a:schemeClr val="tx1"/>
                </a:solidFill>
                <a:hlinkClick r:id="rId4"/>
              </a:rPr>
              <a:t>http://blog.aylien.com/support-vector-machines-for-dummies-a-simple/</a:t>
            </a:r>
            <a:endParaRPr lang="en-US" dirty="0">
              <a:solidFill>
                <a:schemeClr val="tx1"/>
              </a:solidFill>
            </a:endParaRPr>
          </a:p>
          <a:p>
            <a:pPr marL="0" indent="0">
              <a:buNone/>
            </a:pPr>
            <a:r>
              <a:rPr lang="en-US" dirty="0">
                <a:solidFill>
                  <a:schemeClr val="tx1"/>
                </a:solidFill>
                <a:hlinkClick r:id="rId5"/>
              </a:rPr>
              <a:t>https://www.svm-tutorial.com/2014/11/svm-understanding-math-part-1/</a:t>
            </a:r>
            <a:endParaRPr lang="en-US" dirty="0">
              <a:solidFill>
                <a:schemeClr val="tx1"/>
              </a:solidFill>
            </a:endParaRPr>
          </a:p>
          <a:p>
            <a:pPr marL="0" indent="0">
              <a:buNone/>
            </a:pPr>
            <a:r>
              <a:rPr lang="en-US" dirty="0">
                <a:solidFill>
                  <a:schemeClr val="tx1"/>
                </a:solidFill>
                <a:hlinkClick r:id="rId6"/>
              </a:rPr>
              <a:t>https://data-flair.training/blogs/svm-support-vector-machine-tutorial/</a:t>
            </a:r>
            <a:endParaRPr lang="en-US" dirty="0">
              <a:solidFill>
                <a:schemeClr val="tx1"/>
              </a:solidFill>
            </a:endParaRPr>
          </a:p>
          <a:p>
            <a:pPr marL="0" indent="0">
              <a:buNone/>
            </a:pPr>
            <a:r>
              <a:rPr lang="en-US" dirty="0">
                <a:solidFill>
                  <a:schemeClr val="tx1"/>
                </a:solidFill>
                <a:hlinkClick r:id="rId7"/>
              </a:rPr>
              <a:t>https://www.quantstart.com/articles/Support-Vector-Machines-A-Guide-for-Beginners</a:t>
            </a:r>
            <a:endParaRPr lang="en-US" dirty="0">
              <a:solidFill>
                <a:schemeClr val="tx1"/>
              </a:solidFill>
            </a:endParaRPr>
          </a:p>
          <a:p>
            <a:pPr marL="0" indent="0">
              <a:buNone/>
            </a:pPr>
            <a:r>
              <a:rPr lang="en-US" dirty="0">
                <a:solidFill>
                  <a:schemeClr val="tx1"/>
                </a:solidFill>
                <a:hlinkClick r:id="rId8"/>
              </a:rPr>
              <a:t>https://eight2late.wordpress.com/2017/02/07/a-gentle-introduction-to-support-vector-machines-using-r/</a:t>
            </a:r>
            <a:endParaRPr lang="en-US" dirty="0">
              <a:solidFill>
                <a:schemeClr val="tx1"/>
              </a:solidFill>
            </a:endParaRPr>
          </a:p>
          <a:p>
            <a:pPr marL="0" indent="0">
              <a:buNone/>
            </a:pPr>
            <a:r>
              <a:rPr lang="en-US" dirty="0">
                <a:solidFill>
                  <a:schemeClr val="tx1"/>
                </a:solidFill>
              </a:rPr>
              <a:t> </a:t>
            </a:r>
          </a:p>
          <a:p>
            <a:pPr marL="0" indent="0">
              <a:buNone/>
            </a:pPr>
            <a:endParaRPr lang="en-US" dirty="0">
              <a:solidFill>
                <a:schemeClr val="tx1"/>
              </a:solidFill>
            </a:endParaRPr>
          </a:p>
          <a:p>
            <a:endParaRPr lang="en-US" dirty="0">
              <a:solidFill>
                <a:schemeClr val="tx1"/>
              </a:solidFill>
            </a:endParaRPr>
          </a:p>
        </p:txBody>
      </p:sp>
      <p:sp>
        <p:nvSpPr>
          <p:cNvPr id="3" name="Slide Number Placeholder 2">
            <a:extLst>
              <a:ext uri="{FF2B5EF4-FFF2-40B4-BE49-F238E27FC236}">
                <a16:creationId xmlns:a16="http://schemas.microsoft.com/office/drawing/2014/main" id="{AF1EA125-A714-C2A8-FBE4-C8696A51FBD5}"/>
              </a:ext>
            </a:extLst>
          </p:cNvPr>
          <p:cNvSpPr>
            <a:spLocks noGrp="1"/>
          </p:cNvSpPr>
          <p:nvPr>
            <p:ph type="sldNum" sz="quarter" idx="12"/>
          </p:nvPr>
        </p:nvSpPr>
        <p:spPr/>
        <p:txBody>
          <a:bodyPr/>
          <a:lstStyle/>
          <a:p>
            <a:fld id="{AA9B4DDF-D983-43F6-9690-D9255D65AFD2}" type="slidenum">
              <a:rPr lang="en-AU" smtClean="0"/>
              <a:t>41</a:t>
            </a:fld>
            <a:endParaRPr lang="en-AU"/>
          </a:p>
        </p:txBody>
      </p:sp>
      <p:sp>
        <p:nvSpPr>
          <p:cNvPr id="4" name="Title 3">
            <a:extLst>
              <a:ext uri="{FF2B5EF4-FFF2-40B4-BE49-F238E27FC236}">
                <a16:creationId xmlns:a16="http://schemas.microsoft.com/office/drawing/2014/main" id="{BA138714-AC88-EB1E-BF19-6A077149FFF7}"/>
              </a:ext>
            </a:extLst>
          </p:cNvPr>
          <p:cNvSpPr>
            <a:spLocks noGrp="1"/>
          </p:cNvSpPr>
          <p:nvPr>
            <p:ph type="title"/>
          </p:nvPr>
        </p:nvSpPr>
        <p:spPr/>
        <p:txBody>
          <a:bodyPr/>
          <a:lstStyle/>
          <a:p>
            <a:r>
              <a:rPr lang="en-US" dirty="0"/>
              <a:t>Working Example of SVM</a:t>
            </a:r>
          </a:p>
        </p:txBody>
      </p:sp>
    </p:spTree>
    <p:extLst>
      <p:ext uri="{BB962C8B-B14F-4D97-AF65-F5344CB8AC3E}">
        <p14:creationId xmlns:p14="http://schemas.microsoft.com/office/powerpoint/2010/main" val="37818474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C41011-E1D0-E85A-6E78-420F4F8C00E6}"/>
              </a:ext>
            </a:extLst>
          </p:cNvPr>
          <p:cNvPicPr>
            <a:picLocks noChangeAspect="1"/>
          </p:cNvPicPr>
          <p:nvPr/>
        </p:nvPicPr>
        <p:blipFill>
          <a:blip r:embed="rId2"/>
          <a:stretch>
            <a:fillRect/>
          </a:stretch>
        </p:blipFill>
        <p:spPr>
          <a:xfrm>
            <a:off x="4648200" y="2362201"/>
            <a:ext cx="2895600" cy="4168473"/>
          </a:xfrm>
          <a:prstGeom prst="rect">
            <a:avLst/>
          </a:prstGeom>
        </p:spPr>
      </p:pic>
      <p:sp>
        <p:nvSpPr>
          <p:cNvPr id="3" name="Slide Number Placeholder 2">
            <a:extLst>
              <a:ext uri="{FF2B5EF4-FFF2-40B4-BE49-F238E27FC236}">
                <a16:creationId xmlns:a16="http://schemas.microsoft.com/office/drawing/2014/main" id="{72801DA1-4370-741B-382D-ADD95B8AA8C5}"/>
              </a:ext>
            </a:extLst>
          </p:cNvPr>
          <p:cNvSpPr>
            <a:spLocks noGrp="1"/>
          </p:cNvSpPr>
          <p:nvPr>
            <p:ph type="sldNum" sz="quarter" idx="12"/>
          </p:nvPr>
        </p:nvSpPr>
        <p:spPr/>
        <p:txBody>
          <a:bodyPr/>
          <a:lstStyle/>
          <a:p>
            <a:fld id="{AA9B4DDF-D983-43F6-9690-D9255D65AFD2}" type="slidenum">
              <a:rPr lang="en-AU" smtClean="0"/>
              <a:t>42</a:t>
            </a:fld>
            <a:endParaRPr lang="en-AU"/>
          </a:p>
        </p:txBody>
      </p:sp>
    </p:spTree>
    <p:extLst>
      <p:ext uri="{BB962C8B-B14F-4D97-AF65-F5344CB8AC3E}">
        <p14:creationId xmlns:p14="http://schemas.microsoft.com/office/powerpoint/2010/main" val="26623672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F1C4790-FE3C-4020-8CA7-00621DA7BB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8640</TotalTime>
  <Words>3525</Words>
  <Application>Microsoft Office PowerPoint</Application>
  <PresentationFormat>Widescreen</PresentationFormat>
  <Paragraphs>268</Paragraphs>
  <Slides>42</Slides>
  <Notes>3</Notes>
  <HiddenSlides>3</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9" baseType="lpstr">
      <vt:lpstr>Arial</vt:lpstr>
      <vt:lpstr>Calibri</vt:lpstr>
      <vt:lpstr>Century Gothic</vt:lpstr>
      <vt:lpstr>Times New Roman</vt:lpstr>
      <vt:lpstr>Wingdings 3</vt:lpstr>
      <vt:lpstr>Ion Boardroom</vt:lpstr>
      <vt:lpstr>Equation</vt:lpstr>
      <vt:lpstr>Module 8 Notes </vt:lpstr>
      <vt:lpstr>Support Vector Machines (SVM)</vt:lpstr>
      <vt:lpstr>Motivation for Support Vector Machines</vt:lpstr>
      <vt:lpstr>Motivation for Support Vector Machines</vt:lpstr>
      <vt:lpstr>OBJECTIVES</vt:lpstr>
      <vt:lpstr>Support Vectors</vt:lpstr>
      <vt:lpstr>What is a hyperplane?</vt:lpstr>
      <vt:lpstr>How do we find the right hyperplane?</vt:lpstr>
      <vt:lpstr>But what happens when there is no clear hyperplane?</vt:lpstr>
      <vt:lpstr> </vt:lpstr>
      <vt:lpstr>How does it work? How can we identify the right hyper-plane?</vt:lpstr>
      <vt:lpstr>Identify the right hyperplane (Scenario-1): </vt:lpstr>
      <vt:lpstr>Identify the right hyperplane (Scenario-2):</vt:lpstr>
      <vt:lpstr>Linear Separators </vt:lpstr>
      <vt:lpstr>Training a linear SVM</vt:lpstr>
      <vt:lpstr>Testing a linear SVM</vt:lpstr>
      <vt:lpstr>Linear Separators</vt:lpstr>
      <vt:lpstr>Scenario-2</vt:lpstr>
      <vt:lpstr>Classification Margin</vt:lpstr>
      <vt:lpstr>Maximum Margin Classification</vt:lpstr>
      <vt:lpstr>Identify the right hyperplane (Scenario-3)</vt:lpstr>
      <vt:lpstr>Can we classify two classes (Scenario-4)?</vt:lpstr>
      <vt:lpstr>Find the hyperplane to segregate to classes (Scenario-5)</vt:lpstr>
      <vt:lpstr>Scenario-5</vt:lpstr>
      <vt:lpstr> </vt:lpstr>
      <vt:lpstr>What to do if there is no separating plane</vt:lpstr>
      <vt:lpstr>The story so far</vt:lpstr>
      <vt:lpstr>Support Vector Classifiers</vt:lpstr>
      <vt:lpstr> </vt:lpstr>
      <vt:lpstr>Support Vector Machines</vt:lpstr>
      <vt:lpstr> </vt:lpstr>
      <vt:lpstr>SVM Kernel Functions</vt:lpstr>
      <vt:lpstr>A potential problem and a magic solution</vt:lpstr>
      <vt:lpstr>What the kernel trick achieves</vt:lpstr>
      <vt:lpstr>Examples of Kernel Functions</vt:lpstr>
      <vt:lpstr>Dealing with the test data</vt:lpstr>
      <vt:lpstr>Dealing with the test data</vt:lpstr>
      <vt:lpstr>The classification rule</vt:lpstr>
      <vt:lpstr>Performance</vt:lpstr>
      <vt:lpstr>SVM applications</vt:lpstr>
      <vt:lpstr>Working Example of SVM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Supriya Supriya</dc:creator>
  <cp:lastModifiedBy>Kamran Shaukat</cp:lastModifiedBy>
  <cp:revision>188</cp:revision>
  <dcterms:created xsi:type="dcterms:W3CDTF">2022-02-13T05:22:10Z</dcterms:created>
  <dcterms:modified xsi:type="dcterms:W3CDTF">2024-04-11T01:21:58Z</dcterms:modified>
</cp:coreProperties>
</file>