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5" r:id="rId6"/>
    <p:sldId id="266" r:id="rId7"/>
    <p:sldId id="267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13B61-420D-C34E-A237-05F5E3424227}" v="21" dt="2026-07-22T04:53:21.585"/>
    <p1510:client id="{57AA23EE-20FB-7BB3-C1C9-8AFC322FEBCA}" v="1" dt="2026-07-21T08:41:57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30"/>
    <p:restoredTop sz="90411"/>
  </p:normalViewPr>
  <p:slideViewPr>
    <p:cSldViewPr snapToGrid="0" showGuides="1">
      <p:cViewPr varScale="1">
        <p:scale>
          <a:sx n="110" d="100"/>
          <a:sy n="110" d="100"/>
        </p:scale>
        <p:origin x="69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guilherme De barros andrade faria" userId="31e40991-e7d9-41d2-8af0-eeeeb0b0a000" providerId="ADAL" clId="{B350B1DC-FB38-521A-9133-2C303449DDC2}"/>
    <pc:docChg chg="undo redo custSel modSld">
      <pc:chgData name="Luis guilherme De barros andrade faria" userId="31e40991-e7d9-41d2-8af0-eeeeb0b0a000" providerId="ADAL" clId="{B350B1DC-FB38-521A-9133-2C303449DDC2}" dt="2026-07-22T04:53:21.585" v="875"/>
      <pc:docMkLst>
        <pc:docMk/>
      </pc:docMkLst>
      <pc:sldChg chg="addSp delSp modSp mod">
        <pc:chgData name="Luis guilherme De barros andrade faria" userId="31e40991-e7d9-41d2-8af0-eeeeb0b0a000" providerId="ADAL" clId="{B350B1DC-FB38-521A-9133-2C303449DDC2}" dt="2026-07-18T05:45:30.297" v="851" actId="22"/>
        <pc:sldMkLst>
          <pc:docMk/>
          <pc:sldMk cId="0" sldId="256"/>
        </pc:sldMkLst>
        <pc:spChg chg="mod">
          <ac:chgData name="Luis guilherme De barros andrade faria" userId="31e40991-e7d9-41d2-8af0-eeeeb0b0a000" providerId="ADAL" clId="{B350B1DC-FB38-521A-9133-2C303449DDC2}" dt="2026-07-18T05:25:29.543" v="758" actId="20577"/>
          <ac:spMkLst>
            <pc:docMk/>
            <pc:sldMk cId="0" sldId="256"/>
            <ac:spMk id="27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1:20.013" v="830" actId="20577"/>
          <ac:spMkLst>
            <pc:docMk/>
            <pc:sldMk cId="0" sldId="256"/>
            <ac:spMk id="38" creationId="{00000000-0000-0000-0000-000000000000}"/>
          </ac:spMkLst>
        </pc:spChg>
      </pc:sldChg>
      <pc:sldChg chg="addSp delSp modSp mod modAnim modNotesTx">
        <pc:chgData name="Luis guilherme De barros andrade faria" userId="31e40991-e7d9-41d2-8af0-eeeeb0b0a000" providerId="ADAL" clId="{B350B1DC-FB38-521A-9133-2C303449DDC2}" dt="2026-07-18T05:41:25.379" v="840" actId="20577"/>
        <pc:sldMkLst>
          <pc:docMk/>
          <pc:sldMk cId="0" sldId="257"/>
        </pc:sldMkLst>
        <pc:spChg chg="mod">
          <ac:chgData name="Luis guilherme De barros andrade faria" userId="31e40991-e7d9-41d2-8af0-eeeeb0b0a000" providerId="ADAL" clId="{B350B1DC-FB38-521A-9133-2C303449DDC2}" dt="2026-07-15T07:37:13.613" v="751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1:25.379" v="840" actId="20577"/>
          <ac:spMkLst>
            <pc:docMk/>
            <pc:sldMk cId="0" sldId="257"/>
            <ac:spMk id="44" creationId="{00000000-0000-0000-0000-000000000000}"/>
          </ac:spMkLst>
        </pc:spChg>
      </pc:sldChg>
      <pc:sldChg chg="modSp mod">
        <pc:chgData name="Luis guilherme De barros andrade faria" userId="31e40991-e7d9-41d2-8af0-eeeeb0b0a000" providerId="ADAL" clId="{B350B1DC-FB38-521A-9133-2C303449DDC2}" dt="2026-07-18T05:49:05.549" v="852" actId="14100"/>
        <pc:sldMkLst>
          <pc:docMk/>
          <pc:sldMk cId="0" sldId="259"/>
        </pc:sldMkLst>
        <pc:spChg chg="mod">
          <ac:chgData name="Luis guilherme De barros andrade faria" userId="31e40991-e7d9-41d2-8af0-eeeeb0b0a000" providerId="ADAL" clId="{B350B1DC-FB38-521A-9133-2C303449DDC2}" dt="2026-07-18T05:49:05.549" v="852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0:41.742" v="814" actId="20577"/>
          <ac:spMkLst>
            <pc:docMk/>
            <pc:sldMk cId="0" sldId="259"/>
            <ac:spMk id="54" creationId="{00000000-0000-0000-0000-000000000000}"/>
          </ac:spMkLst>
        </pc:spChg>
      </pc:sldChg>
      <pc:sldChg chg="modSp mod modAnim">
        <pc:chgData name="Luis guilherme De barros andrade faria" userId="31e40991-e7d9-41d2-8af0-eeeeb0b0a000" providerId="ADAL" clId="{B350B1DC-FB38-521A-9133-2C303449DDC2}" dt="2026-07-22T04:53:21.585" v="875"/>
        <pc:sldMkLst>
          <pc:docMk/>
          <pc:sldMk cId="0" sldId="260"/>
        </pc:sldMkLst>
        <pc:spChg chg="mod">
          <ac:chgData name="Luis guilherme De barros andrade faria" userId="31e40991-e7d9-41d2-8af0-eeeeb0b0a000" providerId="ADAL" clId="{B350B1DC-FB38-521A-9133-2C303449DDC2}" dt="2026-07-18T05:49:09.326" v="853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6:43.427" v="7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6:46.724" v="779"/>
          <ac:spMkLst>
            <pc:docMk/>
            <pc:sldMk cId="0" sldId="260"/>
            <ac:spMk id="9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6:53.775" v="78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6:59.620" v="78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11.769" v="787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08.732" v="782"/>
          <ac:spMkLst>
            <pc:docMk/>
            <pc:sldMk cId="0" sldId="260"/>
            <ac:spMk id="15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17.529" v="788"/>
          <ac:spMkLst>
            <pc:docMk/>
            <pc:sldMk cId="0" sldId="260"/>
            <ac:spMk id="18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22.231" v="789"/>
          <ac:spMkLst>
            <pc:docMk/>
            <pc:sldMk cId="0" sldId="260"/>
            <ac:spMk id="19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2:46.466" v="870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2:54.300" v="871"/>
          <ac:spMkLst>
            <pc:docMk/>
            <pc:sldMk cId="0" sldId="260"/>
            <ac:spMk id="23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3:01.265" v="872"/>
          <ac:spMkLst>
            <pc:docMk/>
            <pc:sldMk cId="0" sldId="260"/>
            <ac:spMk id="26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3:06.401" v="873"/>
          <ac:spMkLst>
            <pc:docMk/>
            <pc:sldMk cId="0" sldId="260"/>
            <ac:spMk id="27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3:15.264" v="874"/>
          <ac:spMkLst>
            <pc:docMk/>
            <pc:sldMk cId="0" sldId="260"/>
            <ac:spMk id="31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3:21.585" v="875"/>
          <ac:spMkLst>
            <pc:docMk/>
            <pc:sldMk cId="0" sldId="260"/>
            <ac:spMk id="35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37.235" v="794" actId="20577"/>
          <ac:spMkLst>
            <pc:docMk/>
            <pc:sldMk cId="0" sldId="260"/>
            <ac:spMk id="36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34.297" v="790"/>
          <ac:spMkLst>
            <pc:docMk/>
            <pc:sldMk cId="0" sldId="260"/>
            <ac:spMk id="37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46.363" v="79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49.161" v="797"/>
          <ac:spMkLst>
            <pc:docMk/>
            <pc:sldMk cId="0" sldId="260"/>
            <ac:spMk id="41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7:53.920" v="798"/>
          <ac:spMkLst>
            <pc:docMk/>
            <pc:sldMk cId="0" sldId="260"/>
            <ac:spMk id="44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1:47.241" v="859"/>
          <ac:spMkLst>
            <pc:docMk/>
            <pc:sldMk cId="0" sldId="260"/>
            <ac:spMk id="45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1:54.598" v="860"/>
          <ac:spMkLst>
            <pc:docMk/>
            <pc:sldMk cId="0" sldId="260"/>
            <ac:spMk id="48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2:00.772" v="861"/>
          <ac:spMkLst>
            <pc:docMk/>
            <pc:sldMk cId="0" sldId="260"/>
            <ac:spMk id="49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2:07.223" v="862"/>
          <ac:spMkLst>
            <pc:docMk/>
            <pc:sldMk cId="0" sldId="260"/>
            <ac:spMk id="52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2:11.816" v="863"/>
          <ac:spMkLst>
            <pc:docMk/>
            <pc:sldMk cId="0" sldId="260"/>
            <ac:spMk id="53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8:21.110" v="804"/>
          <ac:spMkLst>
            <pc:docMk/>
            <pc:sldMk cId="0" sldId="260"/>
            <ac:spMk id="56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38:24.608" v="805"/>
          <ac:spMkLst>
            <pc:docMk/>
            <pc:sldMk cId="0" sldId="260"/>
            <ac:spMk id="58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22T04:52:37.247" v="864"/>
          <ac:spMkLst>
            <pc:docMk/>
            <pc:sldMk cId="0" sldId="260"/>
            <ac:spMk id="59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0:45.397" v="816" actId="20577"/>
          <ac:spMkLst>
            <pc:docMk/>
            <pc:sldMk cId="0" sldId="260"/>
            <ac:spMk id="61" creationId="{00000000-0000-0000-0000-000000000000}"/>
          </ac:spMkLst>
        </pc:spChg>
      </pc:sldChg>
      <pc:sldChg chg="modSp mod">
        <pc:chgData name="Luis guilherme De barros andrade faria" userId="31e40991-e7d9-41d2-8af0-eeeeb0b0a000" providerId="ADAL" clId="{B350B1DC-FB38-521A-9133-2C303449DDC2}" dt="2026-07-18T05:43:47.916" v="843"/>
        <pc:sldMkLst>
          <pc:docMk/>
          <pc:sldMk cId="0" sldId="265"/>
        </pc:sldMkLst>
        <pc:spChg chg="mod">
          <ac:chgData name="Luis guilherme De barros andrade faria" userId="31e40991-e7d9-41d2-8af0-eeeeb0b0a000" providerId="ADAL" clId="{B350B1DC-FB38-521A-9133-2C303449DDC2}" dt="2026-07-18T05:43:47.916" v="843"/>
          <ac:spMkLst>
            <pc:docMk/>
            <pc:sldMk cId="0" sldId="265"/>
            <ac:spMk id="6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1:30.767" v="842"/>
          <ac:spMkLst>
            <pc:docMk/>
            <pc:sldMk cId="0" sldId="265"/>
            <ac:spMk id="50" creationId="{00000000-0000-0000-0000-000000000000}"/>
          </ac:spMkLst>
        </pc:spChg>
      </pc:sldChg>
      <pc:sldChg chg="modSp mod modAnim">
        <pc:chgData name="Luis guilherme De barros andrade faria" userId="31e40991-e7d9-41d2-8af0-eeeeb0b0a000" providerId="ADAL" clId="{B350B1DC-FB38-521A-9133-2C303449DDC2}" dt="2026-07-18T05:49:13.977" v="854" actId="14100"/>
        <pc:sldMkLst>
          <pc:docMk/>
          <pc:sldMk cId="0" sldId="266"/>
        </pc:sldMkLst>
        <pc:spChg chg="mod">
          <ac:chgData name="Luis guilherme De barros andrade faria" userId="31e40991-e7d9-41d2-8af0-eeeeb0b0a000" providerId="ADAL" clId="{B350B1DC-FB38-521A-9133-2C303449DDC2}" dt="2026-07-18T05:49:13.977" v="854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28:11.486" v="775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4:39.052" v="849"/>
          <ac:spMkLst>
            <pc:docMk/>
            <pc:sldMk cId="0" sldId="266"/>
            <ac:spMk id="22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4:17.129" v="844"/>
          <ac:spMkLst>
            <pc:docMk/>
            <pc:sldMk cId="0" sldId="266"/>
            <ac:spMk id="27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4:24.653" v="84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4:26.032" v="848"/>
          <ac:spMkLst>
            <pc:docMk/>
            <pc:sldMk cId="0" sldId="266"/>
            <ac:spMk id="36" creationId="{00000000-0000-0000-0000-000000000000}"/>
          </ac:spMkLst>
        </pc:spChg>
        <pc:spChg chg="mod">
          <ac:chgData name="Luis guilherme De barros andrade faria" userId="31e40991-e7d9-41d2-8af0-eeeeb0b0a000" providerId="ADAL" clId="{B350B1DC-FB38-521A-9133-2C303449DDC2}" dt="2026-07-18T05:40:50.183" v="820" actId="20577"/>
          <ac:spMkLst>
            <pc:docMk/>
            <pc:sldMk cId="0" sldId="266"/>
            <ac:spMk id="38" creationId="{00000000-0000-0000-0000-000000000000}"/>
          </ac:spMkLst>
        </pc:spChg>
      </pc:sldChg>
      <pc:sldChg chg="modSp">
        <pc:chgData name="Luis guilherme De barros andrade faria" userId="31e40991-e7d9-41d2-8af0-eeeeb0b0a000" providerId="ADAL" clId="{B350B1DC-FB38-521A-9133-2C303449DDC2}" dt="2026-07-18T05:34:40.702" v="777" actId="20577"/>
        <pc:sldMkLst>
          <pc:docMk/>
          <pc:sldMk cId="0" sldId="267"/>
        </pc:sldMkLst>
        <pc:spChg chg="mod">
          <ac:chgData name="Luis guilherme De barros andrade faria" userId="31e40991-e7d9-41d2-8af0-eeeeb0b0a000" providerId="ADAL" clId="{B350B1DC-FB38-521A-9133-2C303449DDC2}" dt="2026-07-18T05:34:40.702" v="777" actId="20577"/>
          <ac:spMkLst>
            <pc:docMk/>
            <pc:sldMk cId="0" sldId="267"/>
            <ac:spMk id="19" creationId="{00000000-0000-0000-0000-000000000000}"/>
          </ac:spMkLst>
        </pc:spChg>
      </pc:sldChg>
    </pc:docChg>
  </pc:docChgLst>
  <pc:docChgLst>
    <pc:chgData name="Victor Javier Dorantes Meneses" userId="S::victor.meneses@student.torrens.edu.au::4c348b2d-500a-446c-b541-b804fbb253cc" providerId="AD" clId="Web-{57AA23EE-20FB-7BB3-C1C9-8AFC322FEBCA}"/>
    <pc:docChg chg="modSld">
      <pc:chgData name="Victor Javier Dorantes Meneses" userId="S::victor.meneses@student.torrens.edu.au::4c348b2d-500a-446c-b541-b804fbb253cc" providerId="AD" clId="Web-{57AA23EE-20FB-7BB3-C1C9-8AFC322FEBCA}" dt="2026-07-21T11:04:29.855" v="3"/>
      <pc:docMkLst>
        <pc:docMk/>
      </pc:docMkLst>
      <pc:sldChg chg="modSp modNotes">
        <pc:chgData name="Victor Javier Dorantes Meneses" userId="S::victor.meneses@student.torrens.edu.au::4c348b2d-500a-446c-b541-b804fbb253cc" providerId="AD" clId="Web-{57AA23EE-20FB-7BB3-C1C9-8AFC322FEBCA}" dt="2026-07-21T11:04:29.855" v="3"/>
        <pc:sldMkLst>
          <pc:docMk/>
          <pc:sldMk cId="0" sldId="256"/>
        </pc:sldMkLst>
        <pc:spChg chg="mod">
          <ac:chgData name="Victor Javier Dorantes Meneses" userId="S::victor.meneses@student.torrens.edu.au::4c348b2d-500a-446c-b541-b804fbb253cc" providerId="AD" clId="Web-{57AA23EE-20FB-7BB3-C1C9-8AFC322FEBCA}" dt="2026-07-21T08:41:57.340" v="0" actId="20577"/>
          <ac:spMkLst>
            <pc:docMk/>
            <pc:sldMk cId="0" sldId="256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59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PRESENTER: Victor (~25s). Introduce the group and the one-line project: we are building a system that reads a customer review and tells you the sentiment FOR EACH </a:t>
            </a:r>
            <a:r>
              <a:rPr lang="en-US"/>
              <a:t>ELEMENT being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talked about - not just one overall score. Keep it warm and short, then hand to Juan for the problem.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effectLst/>
                <a:cs typeface="+mn-lt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effectLst/>
                <a:cs typeface="+mn-lt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PRESENTER: Juan (~60s). Lead with the example - read it out loud. Make the audience FEEL the loss: a single neutral score tells a restaurant nothing; per-aspect tells them exactly what to fix. State the gap our project closes: sentiment per aspect, not per review.</a:t>
            </a: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PRESENTER: Victor (~90s). Tell it as a STORY of one limitation being solved, not a paper list. CNN lifted accuracy but stayed sentence-level; ATAE-LSTM added aspect-aware attention; BERT made it contextual; LLMs pushed zero/few-shot. Land on the gap: the frontier is heavy; our niche is a light, explainable model with faithful attention. That is where we sit.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PRESENTER: Luis (~90s). Four models on a PRE-ANNOTATED benchmark (feasibility win - no manual labelling): TF-IDF and a target-agnostic LSTM set the sentence-level baselines; ATAE-LSTM adds aspect-aware attention;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DistilBERT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adds contextual power at low compute. Only the last two expose attention - that is our differentiator, showing which words drove each per-aspect call. Efficiency is now part of the comparison, not just accuracy. Mention Topic Modelling as the OPTIONAL aspect-discovery stage, not core.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PRESENTER: Juan (~60s). Show it is feasible and de-risked. Walk the module timeline in one sentence. Emphasise the FALLBACK: even if the transformer underperforms, the ATAE-LSTM path still meets the rubric. Zero-cost budget: free Colab, open datasets, open-source libraries.</a:t>
            </a: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PRESENTER: Luis (~30s). Recap the payoff in one breath: aspect-level, explainable, and a live demo in A3. End on the demo - leave them picturing the product. Thank the audience.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 slide is not spoken. Trimmed to the papers actually cited on the slides plus the core method sources. Full APA list lives in the written report.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0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0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80192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80192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80192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80192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44784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844784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44784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844784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009376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009376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09376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009376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173968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173968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173968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173968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338560" y="365760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338560" y="530352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338560" y="694944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338560" y="859536"/>
            <a:ext cx="36576" cy="365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Pulse v3.0 — Aspect-Based Sentiment Analysis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"One review, many opinions — sentiment for each aspect, with attention you can see."</a:t>
            </a:r>
            <a:endParaRPr lang="en-US" sz="1600"/>
          </a:p>
        </p:txBody>
      </p:sp>
      <p:sp>
        <p:nvSpPr>
          <p:cNvPr id="29" name="Shape 26"/>
          <p:cNvSpPr/>
          <p:nvPr/>
        </p:nvSpPr>
        <p:spPr>
          <a:xfrm>
            <a:off x="548640" y="5029200"/>
            <a:ext cx="36576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3152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Luis Faria</a:t>
            </a:r>
            <a:endParaRPr lang="en-US" sz="1600"/>
          </a:p>
        </p:txBody>
      </p:sp>
      <p:sp>
        <p:nvSpPr>
          <p:cNvPr id="31" name="Text 28"/>
          <p:cNvSpPr/>
          <p:nvPr/>
        </p:nvSpPr>
        <p:spPr>
          <a:xfrm>
            <a:off x="73152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A00187785</a:t>
            </a:r>
            <a:endParaRPr lang="en-US" sz="1100"/>
          </a:p>
        </p:txBody>
      </p:sp>
      <p:sp>
        <p:nvSpPr>
          <p:cNvPr id="32" name="Text 29"/>
          <p:cNvSpPr/>
          <p:nvPr/>
        </p:nvSpPr>
        <p:spPr>
          <a:xfrm>
            <a:off x="731520" y="5669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· Contribution</a:t>
            </a:r>
            <a:endParaRPr lang="en-US" sz="1200"/>
          </a:p>
        </p:txBody>
      </p:sp>
      <p:sp>
        <p:nvSpPr>
          <p:cNvPr id="33" name="Shape 30"/>
          <p:cNvSpPr/>
          <p:nvPr/>
        </p:nvSpPr>
        <p:spPr>
          <a:xfrm>
            <a:off x="4343400" y="5029200"/>
            <a:ext cx="36576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2628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Victor Dorantes</a:t>
            </a:r>
            <a:endParaRPr lang="en-US" sz="1600"/>
          </a:p>
        </p:txBody>
      </p:sp>
      <p:sp>
        <p:nvSpPr>
          <p:cNvPr id="35" name="Text 32"/>
          <p:cNvSpPr/>
          <p:nvPr/>
        </p:nvSpPr>
        <p:spPr>
          <a:xfrm>
            <a:off x="452628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A00179705</a:t>
            </a:r>
            <a:endParaRPr lang="en-US" sz="1100"/>
          </a:p>
        </p:txBody>
      </p:sp>
      <p:sp>
        <p:nvSpPr>
          <p:cNvPr id="36" name="Text 33"/>
          <p:cNvSpPr/>
          <p:nvPr/>
        </p:nvSpPr>
        <p:spPr>
          <a:xfrm>
            <a:off x="4526280" y="5669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· Literature</a:t>
            </a:r>
            <a:endParaRPr lang="en-US" sz="1200"/>
          </a:p>
        </p:txBody>
      </p:sp>
      <p:sp>
        <p:nvSpPr>
          <p:cNvPr id="37" name="Shape 34"/>
          <p:cNvSpPr/>
          <p:nvPr/>
        </p:nvSpPr>
        <p:spPr>
          <a:xfrm>
            <a:off x="8138160" y="5029200"/>
            <a:ext cx="36576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32104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Juan Contreras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32104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A00167145</a:t>
            </a:r>
            <a:endParaRPr lang="en-US" sz="1100"/>
          </a:p>
        </p:txBody>
      </p:sp>
      <p:sp>
        <p:nvSpPr>
          <p:cNvPr id="40" name="Text 37"/>
          <p:cNvSpPr/>
          <p:nvPr/>
        </p:nvSpPr>
        <p:spPr>
          <a:xfrm>
            <a:off x="8321040" y="5669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Plan &amp; Risks</a:t>
            </a:r>
            <a:endParaRPr lang="en-US" sz="1200"/>
          </a:p>
        </p:txBody>
      </p:sp>
      <p:sp>
        <p:nvSpPr>
          <p:cNvPr id="41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Torrens University Australia  ·  DLE602  · Deep Learning  ·  Assessment 2: Project Proposal · Dr. Tayab Din </a:t>
            </a:r>
            <a:r>
              <a:rPr lang="en-US" sz="100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Memon</a:t>
            </a:r>
            <a:endParaRPr lang="en-US" sz="100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3D23192-B25C-ED29-401E-28380765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74" y="519012"/>
            <a:ext cx="4670208" cy="3113472"/>
          </a:xfrm>
          <a:prstGeom prst="rect">
            <a:avLst/>
          </a:prstGeom>
        </p:spPr>
      </p:pic>
      <p:pic>
        <p:nvPicPr>
          <p:cNvPr id="47" name="Picture 2" descr="Torrens University Australia - Wikipedia">
            <a:extLst>
              <a:ext uri="{FF2B5EF4-FFF2-40B4-BE49-F238E27FC236}">
                <a16:creationId xmlns:a16="http://schemas.microsoft.com/office/drawing/2014/main" id="{5A48CD48-DFCE-CD31-CD68-683A6477C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one label is not enough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food was great but the service was slow." One review, two opposite opinions — sentence-level models collapse it to a single neutral.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21945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0" y="4572000"/>
            <a:ext cx="2194560" cy="320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4572000"/>
            <a:ext cx="21945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32320" y="4572000"/>
            <a:ext cx="2194560" cy="32004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326880" y="4572000"/>
            <a:ext cx="21945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42062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786384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"service was slow"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1554480" y="3840480"/>
            <a:ext cx="0" cy="73152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74320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8892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"waited 40 minutes"</a:t>
            </a:r>
            <a:endParaRPr lang="en-US" sz="1200"/>
          </a:p>
        </p:txBody>
      </p:sp>
      <p:sp>
        <p:nvSpPr>
          <p:cNvPr id="20" name="Shape 17"/>
          <p:cNvSpPr/>
          <p:nvPr/>
        </p:nvSpPr>
        <p:spPr>
          <a:xfrm>
            <a:off x="3749040" y="3840480"/>
            <a:ext cx="0" cy="731520"/>
          </a:xfrm>
          <a:prstGeom prst="line">
            <a:avLst/>
          </a:prstGeom>
          <a:noFill/>
          <a:ln w="12700">
            <a:solidFill>
              <a:srgbClr val="F871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93776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8348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collapsed: neutral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5943600" y="3840480"/>
            <a:ext cx="0" cy="73152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713232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17804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"amazing pasta"</a:t>
            </a:r>
            <a:endParaRPr lang="en-US" sz="1200"/>
          </a:p>
        </p:txBody>
      </p:sp>
      <p:sp>
        <p:nvSpPr>
          <p:cNvPr id="26" name="Shape 23"/>
          <p:cNvSpPr/>
          <p:nvPr/>
        </p:nvSpPr>
        <p:spPr>
          <a:xfrm>
            <a:off x="8138160" y="3840480"/>
            <a:ext cx="0" cy="73152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326880" y="3200400"/>
            <a:ext cx="201168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372600" y="3200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"food was great"</a:t>
            </a:r>
            <a:endParaRPr lang="en-US" sz="1200"/>
          </a:p>
        </p:txBody>
      </p:sp>
      <p:sp>
        <p:nvSpPr>
          <p:cNvPr id="29" name="Shape 26"/>
          <p:cNvSpPr/>
          <p:nvPr/>
        </p:nvSpPr>
        <p:spPr>
          <a:xfrm>
            <a:off x="10332720" y="3840480"/>
            <a:ext cx="0" cy="73152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↔</a:t>
            </a:r>
            <a:endParaRPr lang="en-US" sz="1800"/>
          </a:p>
        </p:txBody>
      </p:sp>
      <p:sp>
        <p:nvSpPr>
          <p:cNvPr id="32" name="Text 29"/>
          <p:cNvSpPr/>
          <p:nvPr/>
        </p:nvSpPr>
        <p:spPr>
          <a:xfrm>
            <a:off x="114300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</a:t>
            </a:r>
            <a:endParaRPr lang="en-US" sz="1400"/>
          </a:p>
        </p:txBody>
      </p:sp>
      <p:sp>
        <p:nvSpPr>
          <p:cNvPr id="33" name="Text 30"/>
          <p:cNvSpPr/>
          <p:nvPr/>
        </p:nvSpPr>
        <p:spPr>
          <a:xfrm>
            <a:off x="114300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opposite opinions, one per aspect</a:t>
            </a:r>
            <a:endParaRPr lang="en-US" sz="1100"/>
          </a:p>
        </p:txBody>
      </p:sp>
      <p:sp>
        <p:nvSpPr>
          <p:cNvPr id="34" name="Shape 31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43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1800"/>
          </a:p>
        </p:txBody>
      </p:sp>
      <p:sp>
        <p:nvSpPr>
          <p:cNvPr id="36" name="Text 33"/>
          <p:cNvSpPr/>
          <p:nvPr/>
        </p:nvSpPr>
        <p:spPr>
          <a:xfrm>
            <a:off x="493776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models</a:t>
            </a:r>
            <a:endParaRPr lang="en-US" sz="1400"/>
          </a:p>
        </p:txBody>
      </p:sp>
      <p:sp>
        <p:nvSpPr>
          <p:cNvPr id="37" name="Text 34"/>
          <p:cNvSpPr/>
          <p:nvPr/>
        </p:nvSpPr>
        <p:spPr>
          <a:xfrm>
            <a:off x="493776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A1 N-gram and Zhao et al. CNN both collapse to one label</a:t>
            </a:r>
            <a:endParaRPr lang="en-US" sz="1100"/>
          </a:p>
        </p:txBody>
      </p:sp>
      <p:sp>
        <p:nvSpPr>
          <p:cNvPr id="38" name="Shape 35"/>
          <p:cNvSpPr/>
          <p:nvPr/>
        </p:nvSpPr>
        <p:spPr>
          <a:xfrm>
            <a:off x="8138160" y="2103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138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/>
          </a:p>
        </p:txBody>
      </p:sp>
      <p:sp>
        <p:nvSpPr>
          <p:cNvPr id="40" name="Text 37"/>
          <p:cNvSpPr/>
          <p:nvPr/>
        </p:nvSpPr>
        <p:spPr>
          <a:xfrm>
            <a:off x="8732520" y="2084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400"/>
          </a:p>
        </p:txBody>
      </p:sp>
      <p:sp>
        <p:nvSpPr>
          <p:cNvPr id="41" name="Text 38"/>
          <p:cNvSpPr/>
          <p:nvPr/>
        </p:nvSpPr>
        <p:spPr>
          <a:xfrm>
            <a:off x="873252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"food good, service bad" is actionable — "neutral" is not</a:t>
            </a:r>
            <a:endParaRPr lang="en-US" sz="1100"/>
          </a:p>
        </p:txBody>
      </p:sp>
      <p:sp>
        <p:nvSpPr>
          <p:cNvPr id="42" name="Text 39"/>
          <p:cNvSpPr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Sentence-level collapse — opposite opinions average into a meaningless neutral</a:t>
            </a:r>
            <a:endParaRPr lang="en-US" sz="1300"/>
          </a:p>
        </p:txBody>
      </p:sp>
      <p:sp>
        <p:nvSpPr>
          <p:cNvPr id="43" name="Shape 4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Juan Contreras  ·  DLE602 · Assessment 2 · Review Pulse v3.0</a:t>
            </a: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F09C945-D627-F94C-2850-E6A2C6508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46" name="Picture 2" descr="Torrens University Australia - Wikipedia">
            <a:extLst>
              <a:ext uri="{FF2B5EF4-FFF2-40B4-BE49-F238E27FC236}">
                <a16:creationId xmlns:a16="http://schemas.microsoft.com/office/drawing/2014/main" id="{345C5C8B-4B96-E474-CAF5-3A9ADD22E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SHOWS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39" y="685800"/>
            <a:ext cx="110916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limitation — a single label per text — solved step by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1097280" y="1554480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80160" y="1600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/ lexicon era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1280160" y="18745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counts only · our A1 baseline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731520" y="2194560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249631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1097280" y="2359152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80160" y="2404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Zhao et al. (2018)</a:t>
            </a:r>
            <a:endParaRPr lang="en-US" sz="1400"/>
          </a:p>
        </p:txBody>
      </p:sp>
      <p:sp>
        <p:nvSpPr>
          <p:cNvPr id="16" name="Text 13"/>
          <p:cNvSpPr/>
          <p:nvPr/>
        </p:nvSpPr>
        <p:spPr>
          <a:xfrm>
            <a:off x="1280160" y="2679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but flat — one label per tweet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731520" y="2999232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" y="330098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/>
          </a:p>
        </p:txBody>
      </p:sp>
      <p:sp>
        <p:nvSpPr>
          <p:cNvPr id="20" name="Shape 17"/>
          <p:cNvSpPr/>
          <p:nvPr/>
        </p:nvSpPr>
        <p:spPr>
          <a:xfrm>
            <a:off x="1097280" y="3163824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80160" y="32095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ATAE-LSTM — Wang et al. (2016)</a:t>
            </a:r>
            <a:endParaRPr lang="en-US" sz="1400"/>
          </a:p>
        </p:txBody>
      </p:sp>
      <p:sp>
        <p:nvSpPr>
          <p:cNvPr id="22" name="Text 19"/>
          <p:cNvSpPr/>
          <p:nvPr/>
        </p:nvSpPr>
        <p:spPr>
          <a:xfrm>
            <a:off x="1280160" y="34838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conditioned on the aspect</a:t>
            </a:r>
            <a:endParaRPr lang="en-US" sz="1100"/>
          </a:p>
        </p:txBody>
      </p:sp>
      <p:sp>
        <p:nvSpPr>
          <p:cNvPr id="23" name="Shape 20"/>
          <p:cNvSpPr/>
          <p:nvPr/>
        </p:nvSpPr>
        <p:spPr>
          <a:xfrm>
            <a:off x="731520" y="3803904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48640" y="410565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864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/>
          </a:p>
        </p:txBody>
      </p:sp>
      <p:sp>
        <p:nvSpPr>
          <p:cNvPr id="26" name="Shape 23"/>
          <p:cNvSpPr/>
          <p:nvPr/>
        </p:nvSpPr>
        <p:spPr>
          <a:xfrm>
            <a:off x="1097280" y="3968496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280160" y="40142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for ABSA — Sun et al. (2019)</a:t>
            </a:r>
            <a:endParaRPr lang="en-US" sz="1400"/>
          </a:p>
        </p:txBody>
      </p:sp>
      <p:sp>
        <p:nvSpPr>
          <p:cNvPr id="28" name="Text 25"/>
          <p:cNvSpPr/>
          <p:nvPr/>
        </p:nvSpPr>
        <p:spPr>
          <a:xfrm>
            <a:off x="1280160" y="42885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embeddings · auxiliary sentence trick</a:t>
            </a:r>
            <a:endParaRPr lang="en-US" sz="1100"/>
          </a:p>
        </p:txBody>
      </p:sp>
      <p:sp>
        <p:nvSpPr>
          <p:cNvPr id="29" name="Shape 26"/>
          <p:cNvSpPr/>
          <p:nvPr/>
        </p:nvSpPr>
        <p:spPr>
          <a:xfrm>
            <a:off x="731520" y="4608576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48640" y="491032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4864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/>
          </a:p>
        </p:txBody>
      </p:sp>
      <p:sp>
        <p:nvSpPr>
          <p:cNvPr id="32" name="Shape 29"/>
          <p:cNvSpPr/>
          <p:nvPr/>
        </p:nvSpPr>
        <p:spPr>
          <a:xfrm>
            <a:off x="1097280" y="4773168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280160" y="48188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neural discovery (2023–26)</a:t>
            </a:r>
            <a:endParaRPr lang="en-US" sz="1400"/>
          </a:p>
        </p:txBody>
      </p:sp>
      <p:sp>
        <p:nvSpPr>
          <p:cNvPr id="34" name="Text 31"/>
          <p:cNvSpPr/>
          <p:nvPr/>
        </p:nvSpPr>
        <p:spPr>
          <a:xfrm>
            <a:off x="1280160" y="50932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zero/few-shot ABSA · heavy, opaque, costly</a:t>
            </a:r>
            <a:endParaRPr lang="en-US" sz="1100"/>
          </a:p>
        </p:txBody>
      </p:sp>
      <p:sp>
        <p:nvSpPr>
          <p:cNvPr id="35" name="Shape 32"/>
          <p:cNvSpPr/>
          <p:nvPr/>
        </p:nvSpPr>
        <p:spPr>
          <a:xfrm>
            <a:off x="731520" y="5413248"/>
            <a:ext cx="0" cy="16459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548640" y="57150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48640" y="5715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/>
          </a:p>
        </p:txBody>
      </p:sp>
      <p:sp>
        <p:nvSpPr>
          <p:cNvPr id="38" name="Shape 35"/>
          <p:cNvSpPr/>
          <p:nvPr/>
        </p:nvSpPr>
        <p:spPr>
          <a:xfrm>
            <a:off x="1097280" y="5577840"/>
            <a:ext cx="6035040" cy="640080"/>
          </a:xfrm>
          <a:prstGeom prst="rect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target</a:t>
            </a:r>
            <a:endParaRPr lang="en-US" sz="1400"/>
          </a:p>
        </p:txBody>
      </p:sp>
      <p:sp>
        <p:nvSpPr>
          <p:cNvPr id="40" name="Text 37"/>
          <p:cNvSpPr/>
          <p:nvPr/>
        </p:nvSpPr>
        <p:spPr>
          <a:xfrm>
            <a:off x="128016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· explainable · aspect-level · faithful attention</a:t>
            </a:r>
            <a:endParaRPr lang="en-US" sz="1100"/>
          </a:p>
        </p:txBody>
      </p:sp>
      <p:sp>
        <p:nvSpPr>
          <p:cNvPr id="41" name="Shape 38"/>
          <p:cNvSpPr/>
          <p:nvPr/>
        </p:nvSpPr>
        <p:spPr>
          <a:xfrm>
            <a:off x="7498080" y="1554480"/>
            <a:ext cx="41148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77240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000"/>
          </a:p>
        </p:txBody>
      </p:sp>
      <p:sp>
        <p:nvSpPr>
          <p:cNvPr id="43" name="Text 40"/>
          <p:cNvSpPr/>
          <p:nvPr/>
        </p:nvSpPr>
        <p:spPr>
          <a:xfrm>
            <a:off x="777240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 is heavy</a:t>
            </a:r>
            <a:endParaRPr lang="en-US" sz="2200"/>
          </a:p>
        </p:txBody>
      </p:sp>
      <p:sp>
        <p:nvSpPr>
          <p:cNvPr id="44" name="Text 41"/>
          <p:cNvSpPr/>
          <p:nvPr/>
        </p:nvSpPr>
        <p:spPr>
          <a:xfrm>
            <a:off x="777240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endParaRPr lang="en-US" sz="900"/>
          </a:p>
        </p:txBody>
      </p:sp>
      <p:sp>
        <p:nvSpPr>
          <p:cNvPr id="45" name="Shape 42"/>
          <p:cNvSpPr/>
          <p:nvPr/>
        </p:nvSpPr>
        <p:spPr>
          <a:xfrm>
            <a:off x="7772400" y="2971800"/>
            <a:ext cx="35661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863840" y="2971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LLM-driven · opaque</a:t>
            </a:r>
            <a:endParaRPr lang="en-US" sz="1400"/>
          </a:p>
        </p:txBody>
      </p:sp>
      <p:sp>
        <p:nvSpPr>
          <p:cNvPr id="47" name="Text 44"/>
          <p:cNvSpPr/>
          <p:nvPr/>
        </p:nvSpPr>
        <p:spPr>
          <a:xfrm>
            <a:off x="7772400" y="3566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/>
          </a:p>
        </p:txBody>
      </p:sp>
      <p:sp>
        <p:nvSpPr>
          <p:cNvPr id="48" name="Text 45"/>
          <p:cNvSpPr/>
          <p:nvPr/>
        </p:nvSpPr>
        <p:spPr>
          <a:xfrm>
            <a:off x="777240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900"/>
          </a:p>
        </p:txBody>
      </p:sp>
      <p:sp>
        <p:nvSpPr>
          <p:cNvPr id="49" name="Shape 46"/>
          <p:cNvSpPr/>
          <p:nvPr/>
        </p:nvSpPr>
        <p:spPr>
          <a:xfrm>
            <a:off x="7772400" y="4206240"/>
            <a:ext cx="356616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7863840" y="4206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 · faithful attention</a:t>
            </a:r>
            <a:endParaRPr lang="en-US" sz="1400"/>
          </a:p>
        </p:txBody>
      </p:sp>
      <p:sp>
        <p:nvSpPr>
          <p:cNvPr id="51" name="Text 48"/>
          <p:cNvSpPr/>
          <p:nvPr/>
        </p:nvSpPr>
        <p:spPr>
          <a:xfrm>
            <a:off x="7772400" y="4937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/>
          </a:p>
        </p:txBody>
      </p:sp>
      <p:sp>
        <p:nvSpPr>
          <p:cNvPr id="52" name="Text 49"/>
          <p:cNvSpPr/>
          <p:nvPr/>
        </p:nvSpPr>
        <p:spPr>
          <a:xfrm>
            <a:off x="7772400" y="5212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works pair a light, explainable model with faithful attention at the aspect level. That is exactly where we sit.</a:t>
            </a:r>
            <a:endParaRPr lang="en-US" sz="1100"/>
          </a:p>
        </p:txBody>
      </p:sp>
      <p:sp>
        <p:nvSpPr>
          <p:cNvPr id="53" name="Shape 50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Victor Meneses  ·  DLE602 · Assessment 2 · Review Pulse v3.0</a:t>
            </a:r>
            <a:endParaRPr lang="en-US" sz="9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D61B683-B378-1D09-F73A-5546AEC26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56" name="Picture 2" descr="Torrens University Australia - Wikipedia">
            <a:extLst>
              <a:ext uri="{FF2B5EF4-FFF2-40B4-BE49-F238E27FC236}">
                <a16:creationId xmlns:a16="http://schemas.microsoft.com/office/drawing/2014/main" id="{5C613D7A-D6E0-5B9B-9D59-F098F6902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6" grpId="0" animBg="1"/>
      <p:bldP spid="27" grpId="0" animBg="1"/>
      <p:bldP spid="28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39" y="685800"/>
            <a:ext cx="110916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Four-model ladder — interpretability is the differentiator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554479"/>
            <a:ext cx="3694176" cy="4937751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575304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1–2 · BASELINES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Sentence-level floor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31520" y="2606040"/>
            <a:ext cx="3209544" cy="1783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2651760"/>
            <a:ext cx="3026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Ladder(</a:t>
            </a:r>
            <a:endParaRPr lang="en-US" sz="900" dirty="0"/>
          </a:p>
          <a:p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TF-IDF + </a:t>
            </a:r>
            <a:r>
              <a:rPr lang="en-US" sz="90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LogReg</a:t>
            </a:r>
            <a:endParaRPr lang="en-US" sz="900" dirty="0"/>
          </a:p>
          <a:p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LSTM </a:t>
            </a: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target</a:t>
            </a:r>
            <a:endParaRPr lang="en-US" sz="900" dirty="0"/>
          </a:p>
          <a:p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 err="1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GloVe</a:t>
            </a: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100d</a:t>
            </a:r>
            <a:endParaRPr lang="en-US" sz="900" dirty="0"/>
          </a:p>
          <a:p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Note(</a:t>
            </a:r>
            <a:endParaRPr lang="en-US" sz="900" dirty="0"/>
          </a:p>
          <a:p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attention · no heatmap</a:t>
            </a:r>
            <a:endParaRPr lang="en-US" sz="900" dirty="0"/>
          </a:p>
          <a:p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4572000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" y="480060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sentence-level floor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212080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31520" y="5440680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review — no why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06824" y="1554480"/>
            <a:ext cx="3575304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06824" y="1554480"/>
            <a:ext cx="3575304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89704" y="1783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3 · ATAE-LSTM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489704" y="2057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Aspect-aware attention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489704" y="260604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489704" y="260604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99432" y="264261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(review, aspect)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99432" y="283464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embedding +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489704" y="310896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489704" y="310896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99432" y="314553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 + attention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99432" y="333756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aspect-aware attention weights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489704" y="361188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489704" y="361188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99432" y="364845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 weights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99432" y="384048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token-level evidence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489704" y="411480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489704" y="4114800"/>
            <a:ext cx="45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99432" y="415137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3-class output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99432" y="434340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· neutral · negative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489704" y="4709160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489704" y="4937760"/>
            <a:ext cx="32095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core — and the fallback if the transformer disappoints.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065008" y="1554480"/>
            <a:ext cx="3575304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065008" y="1554480"/>
            <a:ext cx="3575304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247888" y="17830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4 · DISTILBERT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247888" y="205740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Fine-tuned transformer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8247888" y="260604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247888" y="2606040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8357616" y="264261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(review, aspect)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357616" y="283464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as auxiliary sentence (Sun et al., 2019)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247888" y="310896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247888" y="3108960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357616" y="314553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Pretrained transformer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357616" y="333756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representations · lower compute than BERT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247888" y="3611880"/>
            <a:ext cx="3209544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8247888" y="3611880"/>
            <a:ext cx="457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8357616" y="364845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attribution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8357616" y="3840480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attention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8247888" y="4206240"/>
            <a:ext cx="320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8247888" y="4434840"/>
            <a:ext cx="32095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339328" y="443484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(core) + Laptops (extension) — pre-annotated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247888" y="4846320"/>
            <a:ext cx="320954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8339328" y="48463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modelling for aspect discovery — gated stretch goal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247888" y="5349240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aspect-conditioned models produce token-level evidence — indicative, not a causal explanation.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Luis Faria  ·  DLE602 · Assessment 2 · Review Pulse v3.0</a:t>
            </a:r>
            <a:endParaRPr lang="en-US" sz="90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DBD90B40-4607-1E3B-DE6C-900C29AF4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65" name="Picture 2" descr="Torrens University Australia - Wikipedia">
            <a:extLst>
              <a:ext uri="{FF2B5EF4-FFF2-40B4-BE49-F238E27FC236}">
                <a16:creationId xmlns:a16="http://schemas.microsoft.com/office/drawing/2014/main" id="{D11FEA3F-FB4A-1807-BFBD-20F363A04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RISKS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Modules 8–12: feasible and de-risked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data + baseline → ATAE-LSTM → </a:t>
            </a:r>
            <a:r>
              <a:rPr lang="en-US" sz="13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interpretability + Streamlit demo → evaluation + report.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36576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29260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/>
          </a:p>
        </p:txBody>
      </p:sp>
      <p:sp>
        <p:nvSpPr>
          <p:cNvPr id="12" name="Text 9"/>
          <p:cNvSpPr/>
          <p:nvPr/>
        </p:nvSpPr>
        <p:spPr>
          <a:xfrm>
            <a:off x="13258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data → overfitting</a:t>
            </a:r>
            <a:endParaRPr lang="en-US" sz="1500"/>
          </a:p>
        </p:txBody>
      </p:sp>
      <p:sp>
        <p:nvSpPr>
          <p:cNvPr id="13" name="Text 10"/>
          <p:cNvSpPr/>
          <p:nvPr/>
        </p:nvSpPr>
        <p:spPr>
          <a:xfrm>
            <a:off x="77724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Mitigated: dropout · early stopping · transfer learning from pretrained embeddings.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4343400" y="201168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43400" y="201168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0" y="22402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</a:t>
            </a:r>
            <a:endParaRPr lang="en-US" sz="1600"/>
          </a:p>
        </p:txBody>
      </p:sp>
      <p:sp>
        <p:nvSpPr>
          <p:cNvPr id="18" name="Text 15"/>
          <p:cNvSpPr/>
          <p:nvPr/>
        </p:nvSpPr>
        <p:spPr>
          <a:xfrm>
            <a:off x="672084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/>
          </a:p>
        </p:txBody>
      </p:sp>
      <p:sp>
        <p:nvSpPr>
          <p:cNvPr id="19" name="Text 16"/>
          <p:cNvSpPr/>
          <p:nvPr/>
        </p:nvSpPr>
        <p:spPr>
          <a:xfrm>
            <a:off x="51206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Heavy fine-tuning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457200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Mitigated: DistilBERT fine-tuned on a free Colab GPU — zero-cost budget.</a:t>
            </a:r>
            <a:endParaRPr lang="en-US" sz="1100"/>
          </a:p>
        </p:txBody>
      </p:sp>
      <p:sp>
        <p:nvSpPr>
          <p:cNvPr id="21" name="Shape 18"/>
          <p:cNvSpPr/>
          <p:nvPr/>
        </p:nvSpPr>
        <p:spPr>
          <a:xfrm>
            <a:off x="8138160" y="201168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138160" y="2011680"/>
            <a:ext cx="3657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366760" y="224028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3667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1051560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/>
          </a:p>
        </p:txBody>
      </p:sp>
      <p:sp>
        <p:nvSpPr>
          <p:cNvPr id="26" name="Text 23"/>
          <p:cNvSpPr/>
          <p:nvPr/>
        </p:nvSpPr>
        <p:spPr>
          <a:xfrm>
            <a:off x="8915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creep</a:t>
            </a:r>
            <a:endParaRPr lang="en-US" sz="1500"/>
          </a:p>
        </p:txBody>
      </p:sp>
      <p:sp>
        <p:nvSpPr>
          <p:cNvPr id="27" name="Text 24"/>
          <p:cNvSpPr/>
          <p:nvPr/>
        </p:nvSpPr>
        <p:spPr>
          <a:xfrm>
            <a:off x="836676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Mitigated: aspect extraction &amp; topic modelling are gated stretch goals.</a:t>
            </a:r>
            <a:endParaRPr lang="en-US" sz="1100"/>
          </a:p>
        </p:txBody>
      </p:sp>
      <p:sp>
        <p:nvSpPr>
          <p:cNvPr id="28" name="Shape 25"/>
          <p:cNvSpPr/>
          <p:nvPr/>
        </p:nvSpPr>
        <p:spPr>
          <a:xfrm>
            <a:off x="548640" y="411480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48640" y="411480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/>
          </a:p>
        </p:txBody>
      </p:sp>
      <p:sp>
        <p:nvSpPr>
          <p:cNvPr id="32" name="Text 29"/>
          <p:cNvSpPr/>
          <p:nvPr/>
        </p:nvSpPr>
        <p:spPr>
          <a:xfrm>
            <a:off x="292608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800"/>
          </a:p>
        </p:txBody>
      </p:sp>
      <p:sp>
        <p:nvSpPr>
          <p:cNvPr id="33" name="Text 30"/>
          <p:cNvSpPr/>
          <p:nvPr/>
        </p:nvSpPr>
        <p:spPr>
          <a:xfrm>
            <a:off x="132588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Pre-annotated data</a:t>
            </a:r>
            <a:endParaRPr lang="en-US" sz="1500"/>
          </a:p>
        </p:txBody>
      </p:sp>
      <p:sp>
        <p:nvSpPr>
          <p:cNvPr id="34" name="Text 31"/>
          <p:cNvSpPr/>
          <p:nvPr/>
        </p:nvSpPr>
        <p:spPr>
          <a:xfrm>
            <a:off x="77724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SemEval-2014 ships with aspect labels — the feasibility win: no manual labelling.</a:t>
            </a:r>
            <a:endParaRPr lang="en-US" sz="1100"/>
          </a:p>
        </p:txBody>
      </p:sp>
      <p:sp>
        <p:nvSpPr>
          <p:cNvPr id="35" name="Shape 32"/>
          <p:cNvSpPr/>
          <p:nvPr/>
        </p:nvSpPr>
        <p:spPr>
          <a:xfrm>
            <a:off x="4343400" y="411480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343400" y="4114800"/>
            <a:ext cx="3657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572000" y="43434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5720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/>
          </a:p>
        </p:txBody>
      </p:sp>
      <p:sp>
        <p:nvSpPr>
          <p:cNvPr id="39" name="Text 36"/>
          <p:cNvSpPr/>
          <p:nvPr/>
        </p:nvSpPr>
        <p:spPr>
          <a:xfrm>
            <a:off x="672084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800"/>
          </a:p>
        </p:txBody>
      </p:sp>
      <p:sp>
        <p:nvSpPr>
          <p:cNvPr id="40" name="Text 37"/>
          <p:cNvSpPr/>
          <p:nvPr/>
        </p:nvSpPr>
        <p:spPr>
          <a:xfrm>
            <a:off x="512064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compute</a:t>
            </a:r>
            <a:endParaRPr lang="en-US" sz="1500"/>
          </a:p>
        </p:txBody>
      </p:sp>
      <p:sp>
        <p:nvSpPr>
          <p:cNvPr id="41" name="Text 38"/>
          <p:cNvSpPr/>
          <p:nvPr/>
        </p:nvSpPr>
        <p:spPr>
          <a:xfrm>
            <a:off x="457200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Colab · open datasets · open-source libraries — zero-cost end to end.</a:t>
            </a:r>
            <a:endParaRPr lang="en-US" sz="1100"/>
          </a:p>
        </p:txBody>
      </p:sp>
      <p:sp>
        <p:nvSpPr>
          <p:cNvPr id="42" name="Shape 39"/>
          <p:cNvSpPr/>
          <p:nvPr/>
        </p:nvSpPr>
        <p:spPr>
          <a:xfrm>
            <a:off x="8138160" y="4114800"/>
            <a:ext cx="3657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138160" y="4114800"/>
            <a:ext cx="36576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366760" y="43434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3667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/>
          </a:p>
        </p:txBody>
      </p:sp>
      <p:sp>
        <p:nvSpPr>
          <p:cNvPr id="46" name="Text 43"/>
          <p:cNvSpPr/>
          <p:nvPr/>
        </p:nvSpPr>
        <p:spPr>
          <a:xfrm>
            <a:off x="1051560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800"/>
          </a:p>
        </p:txBody>
      </p:sp>
      <p:sp>
        <p:nvSpPr>
          <p:cNvPr id="47" name="Text 44"/>
          <p:cNvSpPr/>
          <p:nvPr/>
        </p:nvSpPr>
        <p:spPr>
          <a:xfrm>
            <a:off x="8915400" y="4389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fallback</a:t>
            </a:r>
            <a:endParaRPr lang="en-US" sz="1500"/>
          </a:p>
        </p:txBody>
      </p:sp>
      <p:sp>
        <p:nvSpPr>
          <p:cNvPr id="48" name="Text 45"/>
          <p:cNvSpPr/>
          <p:nvPr/>
        </p:nvSpPr>
        <p:spPr>
          <a:xfrm>
            <a:off x="836676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transformer underperforms, the ATAE-LSTM path still meets the rubric.</a:t>
            </a:r>
            <a:endParaRPr lang="en-US" sz="1100"/>
          </a:p>
        </p:txBody>
      </p:sp>
      <p:sp>
        <p:nvSpPr>
          <p:cNvPr id="49" name="Shape 46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Juan Contreras  ·  DLE602 · Assessment 2 · Review Pulse v3.0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FAC6877-93AB-C65A-88D3-D019C1DC9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52" name="Picture 2" descr="Torrens University Australia - Wikipedia">
            <a:extLst>
              <a:ext uri="{FF2B5EF4-FFF2-40B4-BE49-F238E27FC236}">
                <a16:creationId xmlns:a16="http://schemas.microsoft.com/office/drawing/2014/main" id="{896E91AF-D977-98C8-1C80-8B72B9297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39" y="685800"/>
            <a:ext cx="1109167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score per review to a transparent, per-aspect read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08792" y="4114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1755648"/>
            <a:ext cx="237744" cy="23774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Pulse v3.0 — built and demoed live in Assessment 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6289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/>
          </a:p>
        </p:txBody>
      </p:sp>
      <p:sp>
        <p:nvSpPr>
          <p:cNvPr id="11" name="Shape 8"/>
          <p:cNvSpPr/>
          <p:nvPr/>
        </p:nvSpPr>
        <p:spPr>
          <a:xfrm>
            <a:off x="1805940" y="28346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0594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ASPECT-LEVEL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3152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per thing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7315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4480560"/>
            <a:ext cx="22631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Per-aspect labels instead of one collapsed score per review.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60420" y="2468880"/>
            <a:ext cx="26289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543300" y="269748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/>
          </a:p>
        </p:txBody>
      </p:sp>
      <p:sp>
        <p:nvSpPr>
          <p:cNvPr id="18" name="Shape 15"/>
          <p:cNvSpPr/>
          <p:nvPr/>
        </p:nvSpPr>
        <p:spPr>
          <a:xfrm>
            <a:off x="4617720" y="28346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61772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54330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heatmap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543300" y="434340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43300" y="4480560"/>
            <a:ext cx="22631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words drove each per-aspect call — the why, not just the label. Our differentiator.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2468880"/>
            <a:ext cx="26289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355080" y="269748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/>
          </a:p>
        </p:txBody>
      </p:sp>
      <p:sp>
        <p:nvSpPr>
          <p:cNvPr id="25" name="Shape 22"/>
          <p:cNvSpPr/>
          <p:nvPr/>
        </p:nvSpPr>
        <p:spPr>
          <a:xfrm>
            <a:off x="7429500" y="28346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42950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35508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Four-model ladder</a:t>
            </a: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6355080" y="4343400"/>
            <a:ext cx="7315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55080" y="4480560"/>
            <a:ext cx="22631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→ LSTM → ATAE-LSTM →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evaluated on identical benchmarks — accuracy and efficiency.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983980" y="2468880"/>
            <a:ext cx="26289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9166860" y="2697480"/>
            <a:ext cx="22631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/>
          </a:p>
        </p:txBody>
      </p:sp>
      <p:sp>
        <p:nvSpPr>
          <p:cNvPr id="32" name="Shape 29"/>
          <p:cNvSpPr/>
          <p:nvPr/>
        </p:nvSpPr>
        <p:spPr>
          <a:xfrm>
            <a:off x="10241280" y="28346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24128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9166860" y="384048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app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9166860" y="4343400"/>
            <a:ext cx="7315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166860" y="4480560"/>
            <a:ext cx="22631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in Assessment 3 — type a review, watch per-aspect sentiment and attention live.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6446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Luis Faria  ·  DLE602 · Assessment 2 · Review Pulse v3.0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F43A562-2DBF-F3AF-A765-8E096C7B1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41" name="Picture 2" descr="Torrens University Australia - Wikipedia">
            <a:extLst>
              <a:ext uri="{FF2B5EF4-FFF2-40B4-BE49-F238E27FC236}">
                <a16:creationId xmlns:a16="http://schemas.microsoft.com/office/drawing/2014/main" id="{448E0581-BEC0-4435-4D2F-FE3F19F53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9600"/>
          </a:p>
        </p:txBody>
      </p:sp>
      <p:sp>
        <p:nvSpPr>
          <p:cNvPr id="4" name="Shape 1"/>
          <p:cNvSpPr/>
          <p:nvPr/>
        </p:nvSpPr>
        <p:spPr>
          <a:xfrm>
            <a:off x="548640" y="3200400"/>
            <a:ext cx="54864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/>
          </a:p>
        </p:txBody>
      </p:sp>
      <p:sp>
        <p:nvSpPr>
          <p:cNvPr id="6" name="Text 3"/>
          <p:cNvSpPr/>
          <p:nvPr/>
        </p:nvSpPr>
        <p:spPr>
          <a:xfrm>
            <a:off x="73152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SemEval datasets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3410712" y="320040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593592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/>
          </a:p>
        </p:txBody>
      </p:sp>
      <p:sp>
        <p:nvSpPr>
          <p:cNvPr id="9" name="Text 6"/>
          <p:cNvSpPr/>
          <p:nvPr/>
        </p:nvSpPr>
        <p:spPr>
          <a:xfrm>
            <a:off x="3593592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6272784" y="320040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55664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/>
          </a:p>
        </p:txBody>
      </p:sp>
      <p:sp>
        <p:nvSpPr>
          <p:cNvPr id="12" name="Text 9"/>
          <p:cNvSpPr/>
          <p:nvPr/>
        </p:nvSpPr>
        <p:spPr>
          <a:xfrm>
            <a:off x="6455664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· 8 to 12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9134856" y="3200400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317736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59E0B"/>
                </a:solidFill>
                <a:latin typeface="Georgia" pitchFamily="34" charset="0"/>
              </a:rPr>
              <a:t>1</a:t>
            </a:r>
            <a:endParaRPr lang="en-US" sz="4800"/>
          </a:p>
        </p:txBody>
      </p:sp>
      <p:sp>
        <p:nvSpPr>
          <p:cNvPr id="15" name="Text 12"/>
          <p:cNvSpPr/>
          <p:nvPr/>
        </p:nvSpPr>
        <p:spPr>
          <a:xfrm>
            <a:off x="9317736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in A3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548640" y="4937760"/>
            <a:ext cx="11064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References: Wang et al. (2016) · Sun et al. (2019) · Devlin et al. (2019) · He et al. (2017) · Pontiki et al. (2014) · Hua et al. (2024) · Zhao et al. (2018) — full APA list in the written proposal.</a:t>
            </a:r>
            <a:endParaRPr lang="en-US" sz="1600"/>
          </a:p>
        </p:txBody>
      </p:sp>
      <p:sp>
        <p:nvSpPr>
          <p:cNvPr id="18" name="Shape 15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</a:t>
            </a:r>
            <a:r>
              <a:rPr lang="en-US" sz="14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lfariabr</a:t>
            </a: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/review-pulse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·    ReviewPulse v3.0    ·    DLE602 Assessment 2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E51C861-D8D2-B96A-7A3C-7E0184332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142" y="-99454"/>
            <a:ext cx="1296338" cy="864225"/>
          </a:xfrm>
          <a:prstGeom prst="rect">
            <a:avLst/>
          </a:prstGeom>
        </p:spPr>
      </p:pic>
      <p:pic>
        <p:nvPicPr>
          <p:cNvPr id="22" name="Picture 2" descr="Torrens University Australia - Wikipedia">
            <a:extLst>
              <a:ext uri="{FF2B5EF4-FFF2-40B4-BE49-F238E27FC236}">
                <a16:creationId xmlns:a16="http://schemas.microsoft.com/office/drawing/2014/main" id="{0F875FBC-06CF-59BE-9F8E-FD426925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5097" y="6245615"/>
            <a:ext cx="398246" cy="39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1355</Words>
  <Application>Microsoft Office PowerPoint</Application>
  <PresentationFormat>Widescreen</PresentationFormat>
  <Paragraphs>255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Torrens University · ISY503 Intelligent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ReviewPulse — Multi-Domain Sentiment Classifier</dc:title>
  <dc:subject>PptxGenJS Presentation</dc:subject>
  <dc:creator>Luis Faria, Victor Meneses, Samiran Shrestha</dc:creator>
  <cp:lastModifiedBy>Luis guilherme De barros andrade faria</cp:lastModifiedBy>
  <cp:revision>6</cp:revision>
  <cp:lastPrinted>2026-05-02T04:20:00Z</cp:lastPrinted>
  <dcterms:created xsi:type="dcterms:W3CDTF">2026-04-29T00:41:16Z</dcterms:created>
  <dcterms:modified xsi:type="dcterms:W3CDTF">2026-07-22T06:18:25Z</dcterms:modified>
</cp:coreProperties>
</file>