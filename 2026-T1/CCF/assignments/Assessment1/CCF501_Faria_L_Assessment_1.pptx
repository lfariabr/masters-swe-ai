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4"/>
  </p:notesMasterIdLst>
  <p:sldIdLst>
    <p:sldId id="291" r:id="rId2"/>
    <p:sldId id="292" r:id="rId3"/>
    <p:sldId id="297" r:id="rId4"/>
    <p:sldId id="303" r:id="rId5"/>
    <p:sldId id="298" r:id="rId6"/>
    <p:sldId id="300" r:id="rId7"/>
    <p:sldId id="304" r:id="rId8"/>
    <p:sldId id="305" r:id="rId9"/>
    <p:sldId id="306" r:id="rId10"/>
    <p:sldId id="301" r:id="rId11"/>
    <p:sldId id="280" r:id="rId12"/>
    <p:sldId id="30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6F00"/>
    <a:srgbClr val="E56E00"/>
    <a:srgbClr val="B22D20"/>
    <a:srgbClr val="5EA8A7"/>
    <a:srgbClr val="2ECC71"/>
    <a:srgbClr val="D5DBDB"/>
    <a:srgbClr val="FEFFAB"/>
    <a:srgbClr val="D0E8E8"/>
    <a:srgbClr val="F8FE00"/>
    <a:srgbClr val="16A0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AFE1AE-93ED-FC41-99A3-6ED70094D1BE}" v="89" dt="2026-03-14T21:55:04.5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77"/>
    <p:restoredTop sz="75342"/>
  </p:normalViewPr>
  <p:slideViewPr>
    <p:cSldViewPr snapToGrid="0">
      <p:cViewPr varScale="1">
        <p:scale>
          <a:sx n="90" d="100"/>
          <a:sy n="90" d="100"/>
        </p:scale>
        <p:origin x="16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guilherme De barros andrade faria" userId="31e40991-e7d9-41d2-8af0-eeeeb0b0a000" providerId="ADAL" clId="{B350B1DC-FB38-521A-9133-2C303449DDC2}"/>
    <pc:docChg chg="undo redo custSel addSld delSld modSld">
      <pc:chgData name="Luis guilherme De barros andrade faria" userId="31e40991-e7d9-41d2-8af0-eeeeb0b0a000" providerId="ADAL" clId="{B350B1DC-FB38-521A-9133-2C303449DDC2}" dt="2026-03-14T21:55:04.586" v="1219"/>
      <pc:docMkLst>
        <pc:docMk/>
      </pc:docMkLst>
      <pc:sldChg chg="addSp delSp modSp mod modTransition delAnim modAnim modNotesTx">
        <pc:chgData name="Luis guilherme De barros andrade faria" userId="31e40991-e7d9-41d2-8af0-eeeeb0b0a000" providerId="ADAL" clId="{B350B1DC-FB38-521A-9133-2C303449DDC2}" dt="2026-03-14T21:55:04.586" v="1219"/>
        <pc:sldMkLst>
          <pc:docMk/>
          <pc:sldMk cId="2953200739" sldId="280"/>
        </pc:sldMkLst>
        <pc:spChg chg="mod">
          <ac:chgData name="Luis guilherme De barros andrade faria" userId="31e40991-e7d9-41d2-8af0-eeeeb0b0a000" providerId="ADAL" clId="{B350B1DC-FB38-521A-9133-2C303449DDC2}" dt="2026-03-12T06:04:22.631" v="856" actId="1076"/>
          <ac:spMkLst>
            <pc:docMk/>
            <pc:sldMk cId="2953200739" sldId="280"/>
            <ac:spMk id="5" creationId="{CF722A1D-04B6-AC14-C0D0-6315C5C1AB98}"/>
          </ac:spMkLst>
        </pc:spChg>
        <pc:picChg chg="add mod">
          <ac:chgData name="Luis guilherme De barros andrade faria" userId="31e40991-e7d9-41d2-8af0-eeeeb0b0a000" providerId="ADAL" clId="{B350B1DC-FB38-521A-9133-2C303449DDC2}" dt="2026-03-14T21:55:04.586" v="1219"/>
          <ac:picMkLst>
            <pc:docMk/>
            <pc:sldMk cId="2953200739" sldId="280"/>
            <ac:picMk id="14" creationId="{EA29E19B-A320-554B-593A-6E97C5D6C084}"/>
          </ac:picMkLst>
        </pc:picChg>
      </pc:sldChg>
      <pc:sldChg chg="addSp delSp modSp mod modTransition delAnim modAnim modNotesTx">
        <pc:chgData name="Luis guilherme De barros andrade faria" userId="31e40991-e7d9-41d2-8af0-eeeeb0b0a000" providerId="ADAL" clId="{B350B1DC-FB38-521A-9133-2C303449DDC2}" dt="2026-03-14T21:55:04.586" v="1219"/>
        <pc:sldMkLst>
          <pc:docMk/>
          <pc:sldMk cId="1502026284" sldId="291"/>
        </pc:sldMkLst>
        <pc:spChg chg="mod">
          <ac:chgData name="Luis guilherme De barros andrade faria" userId="31e40991-e7d9-41d2-8af0-eeeeb0b0a000" providerId="ADAL" clId="{B350B1DC-FB38-521A-9133-2C303449DDC2}" dt="2026-03-06T17:49:41.182" v="232" actId="20577"/>
          <ac:spMkLst>
            <pc:docMk/>
            <pc:sldMk cId="1502026284" sldId="291"/>
            <ac:spMk id="2" creationId="{AB678E3D-B3CA-4B85-82FE-D1997C337C11}"/>
          </ac:spMkLst>
        </pc:spChg>
        <pc:picChg chg="add mod">
          <ac:chgData name="Luis guilherme De barros andrade faria" userId="31e40991-e7d9-41d2-8af0-eeeeb0b0a000" providerId="ADAL" clId="{B350B1DC-FB38-521A-9133-2C303449DDC2}" dt="2026-03-14T21:55:04.586" v="1219"/>
          <ac:picMkLst>
            <pc:docMk/>
            <pc:sldMk cId="1502026284" sldId="291"/>
            <ac:picMk id="9" creationId="{EF0C30F8-BD71-6351-EB6F-CFD0138F5699}"/>
          </ac:picMkLst>
        </pc:picChg>
      </pc:sldChg>
      <pc:sldChg chg="addSp delSp modSp mod modTransition delAnim modAnim modNotesTx">
        <pc:chgData name="Luis guilherme De barros andrade faria" userId="31e40991-e7d9-41d2-8af0-eeeeb0b0a000" providerId="ADAL" clId="{B350B1DC-FB38-521A-9133-2C303449DDC2}" dt="2026-03-14T21:55:04.586" v="1219"/>
        <pc:sldMkLst>
          <pc:docMk/>
          <pc:sldMk cId="1949305215" sldId="292"/>
        </pc:sldMkLst>
        <pc:spChg chg="mod">
          <ac:chgData name="Luis guilherme De barros andrade faria" userId="31e40991-e7d9-41d2-8af0-eeeeb0b0a000" providerId="ADAL" clId="{B350B1DC-FB38-521A-9133-2C303449DDC2}" dt="2026-03-09T02:37:19.981" v="549" actId="1076"/>
          <ac:spMkLst>
            <pc:docMk/>
            <pc:sldMk cId="1949305215" sldId="292"/>
            <ac:spMk id="5" creationId="{8DB6ADB5-69AB-BB6B-1003-E73C127F7105}"/>
          </ac:spMkLst>
        </pc:spChg>
        <pc:picChg chg="add mod">
          <ac:chgData name="Luis guilherme De barros andrade faria" userId="31e40991-e7d9-41d2-8af0-eeeeb0b0a000" providerId="ADAL" clId="{B350B1DC-FB38-521A-9133-2C303449DDC2}" dt="2026-03-14T21:55:04.586" v="1219"/>
          <ac:picMkLst>
            <pc:docMk/>
            <pc:sldMk cId="1949305215" sldId="292"/>
            <ac:picMk id="23" creationId="{B110D2CF-0B85-F47D-02E1-CCCBC74EAD4C}"/>
          </ac:picMkLst>
        </pc:picChg>
      </pc:sldChg>
      <pc:sldChg chg="addSp delSp modSp mod modTransition delAnim modAnim modNotesTx">
        <pc:chgData name="Luis guilherme De barros andrade faria" userId="31e40991-e7d9-41d2-8af0-eeeeb0b0a000" providerId="ADAL" clId="{B350B1DC-FB38-521A-9133-2C303449DDC2}" dt="2026-03-14T21:55:04.586" v="1219"/>
        <pc:sldMkLst>
          <pc:docMk/>
          <pc:sldMk cId="1910793929" sldId="297"/>
        </pc:sldMkLst>
        <pc:spChg chg="mod">
          <ac:chgData name="Luis guilherme De barros andrade faria" userId="31e40991-e7d9-41d2-8af0-eeeeb0b0a000" providerId="ADAL" clId="{B350B1DC-FB38-521A-9133-2C303449DDC2}" dt="2026-03-08T23:50:48.755" v="367" actId="20577"/>
          <ac:spMkLst>
            <pc:docMk/>
            <pc:sldMk cId="1910793929" sldId="297"/>
            <ac:spMk id="13" creationId="{04A7653F-F6C5-242F-48E4-763A758D6270}"/>
          </ac:spMkLst>
        </pc:spChg>
        <pc:picChg chg="add mod">
          <ac:chgData name="Luis guilherme De barros andrade faria" userId="31e40991-e7d9-41d2-8af0-eeeeb0b0a000" providerId="ADAL" clId="{B350B1DC-FB38-521A-9133-2C303449DDC2}" dt="2026-03-14T21:55:04.586" v="1219"/>
          <ac:picMkLst>
            <pc:docMk/>
            <pc:sldMk cId="1910793929" sldId="297"/>
            <ac:picMk id="30" creationId="{CFC09B22-A75E-2FBD-D3A7-6C6599BD6BBC}"/>
          </ac:picMkLst>
        </pc:picChg>
      </pc:sldChg>
      <pc:sldChg chg="addSp delSp modSp mod modTransition delAnim modAnim modNotesTx">
        <pc:chgData name="Luis guilherme De barros andrade faria" userId="31e40991-e7d9-41d2-8af0-eeeeb0b0a000" providerId="ADAL" clId="{B350B1DC-FB38-521A-9133-2C303449DDC2}" dt="2026-03-14T21:55:04.586" v="1219"/>
        <pc:sldMkLst>
          <pc:docMk/>
          <pc:sldMk cId="3772298401" sldId="298"/>
        </pc:sldMkLst>
        <pc:picChg chg="add mod">
          <ac:chgData name="Luis guilherme De barros andrade faria" userId="31e40991-e7d9-41d2-8af0-eeeeb0b0a000" providerId="ADAL" clId="{B350B1DC-FB38-521A-9133-2C303449DDC2}" dt="2026-03-14T21:55:04.586" v="1219"/>
          <ac:picMkLst>
            <pc:docMk/>
            <pc:sldMk cId="3772298401" sldId="298"/>
            <ac:picMk id="15" creationId="{4B345074-876C-F510-785C-CA0BF68E9285}"/>
          </ac:picMkLst>
        </pc:picChg>
      </pc:sldChg>
      <pc:sldChg chg="addSp delSp modSp mod modTransition delAnim modAnim modNotesTx">
        <pc:chgData name="Luis guilherme De barros andrade faria" userId="31e40991-e7d9-41d2-8af0-eeeeb0b0a000" providerId="ADAL" clId="{B350B1DC-FB38-521A-9133-2C303449DDC2}" dt="2026-03-14T21:55:04.586" v="1219"/>
        <pc:sldMkLst>
          <pc:docMk/>
          <pc:sldMk cId="2925134789" sldId="300"/>
        </pc:sldMkLst>
        <pc:picChg chg="add mod">
          <ac:chgData name="Luis guilherme De barros andrade faria" userId="31e40991-e7d9-41d2-8af0-eeeeb0b0a000" providerId="ADAL" clId="{B350B1DC-FB38-521A-9133-2C303449DDC2}" dt="2026-03-14T21:55:04.586" v="1219"/>
          <ac:picMkLst>
            <pc:docMk/>
            <pc:sldMk cId="2925134789" sldId="300"/>
            <ac:picMk id="29" creationId="{B9CB4C19-6039-A48C-B76B-980D8715AE4B}"/>
          </ac:picMkLst>
        </pc:picChg>
      </pc:sldChg>
      <pc:sldChg chg="addSp delSp modSp mod modTransition delAnim modAnim modNotesTx">
        <pc:chgData name="Luis guilherme De barros andrade faria" userId="31e40991-e7d9-41d2-8af0-eeeeb0b0a000" providerId="ADAL" clId="{B350B1DC-FB38-521A-9133-2C303449DDC2}" dt="2026-03-14T21:55:04.586" v="1219"/>
        <pc:sldMkLst>
          <pc:docMk/>
          <pc:sldMk cId="3486948779" sldId="301"/>
        </pc:sldMkLst>
        <pc:spChg chg="mod">
          <ac:chgData name="Luis guilherme De barros andrade faria" userId="31e40991-e7d9-41d2-8af0-eeeeb0b0a000" providerId="ADAL" clId="{B350B1DC-FB38-521A-9133-2C303449DDC2}" dt="2026-03-06T17:44:45.953" v="163" actId="122"/>
          <ac:spMkLst>
            <pc:docMk/>
            <pc:sldMk cId="3486948779" sldId="301"/>
            <ac:spMk id="3" creationId="{A595ED90-AD8E-057B-2D8F-A9752A69128B}"/>
          </ac:spMkLst>
        </pc:spChg>
        <pc:spChg chg="add del mod">
          <ac:chgData name="Luis guilherme De barros andrade faria" userId="31e40991-e7d9-41d2-8af0-eeeeb0b0a000" providerId="ADAL" clId="{B350B1DC-FB38-521A-9133-2C303449DDC2}" dt="2026-03-06T17:45:45.811" v="180" actId="478"/>
          <ac:spMkLst>
            <pc:docMk/>
            <pc:sldMk cId="3486948779" sldId="301"/>
            <ac:spMk id="5" creationId="{05C3D281-46FD-0959-D142-A890581240E4}"/>
          </ac:spMkLst>
        </pc:spChg>
        <pc:spChg chg="add mod">
          <ac:chgData name="Luis guilherme De barros andrade faria" userId="31e40991-e7d9-41d2-8af0-eeeeb0b0a000" providerId="ADAL" clId="{B350B1DC-FB38-521A-9133-2C303449DDC2}" dt="2026-03-06T17:44:28.433" v="153" actId="1035"/>
          <ac:spMkLst>
            <pc:docMk/>
            <pc:sldMk cId="3486948779" sldId="301"/>
            <ac:spMk id="7" creationId="{C464F66B-7E9B-AB08-D6E8-6D5BED24335A}"/>
          </ac:spMkLst>
        </pc:spChg>
        <pc:spChg chg="mod">
          <ac:chgData name="Luis guilherme De barros andrade faria" userId="31e40991-e7d9-41d2-8af0-eeeeb0b0a000" providerId="ADAL" clId="{B350B1DC-FB38-521A-9133-2C303449DDC2}" dt="2026-03-06T17:44:28.433" v="153" actId="1035"/>
          <ac:spMkLst>
            <pc:docMk/>
            <pc:sldMk cId="3486948779" sldId="301"/>
            <ac:spMk id="8" creationId="{FA277FD7-D1A0-8EBF-F828-9463A7C7BBCD}"/>
          </ac:spMkLst>
        </pc:spChg>
        <pc:spChg chg="add mod">
          <ac:chgData name="Luis guilherme De barros andrade faria" userId="31e40991-e7d9-41d2-8af0-eeeeb0b0a000" providerId="ADAL" clId="{B350B1DC-FB38-521A-9133-2C303449DDC2}" dt="2026-03-06T17:45:59.123" v="181" actId="14100"/>
          <ac:spMkLst>
            <pc:docMk/>
            <pc:sldMk cId="3486948779" sldId="301"/>
            <ac:spMk id="11" creationId="{28491F1B-8525-4B67-885A-9F2B73146D53}"/>
          </ac:spMkLst>
        </pc:spChg>
        <pc:spChg chg="mod">
          <ac:chgData name="Luis guilherme De barros andrade faria" userId="31e40991-e7d9-41d2-8af0-eeeeb0b0a000" providerId="ADAL" clId="{B350B1DC-FB38-521A-9133-2C303449DDC2}" dt="2026-03-06T17:44:28.433" v="153" actId="1035"/>
          <ac:spMkLst>
            <pc:docMk/>
            <pc:sldMk cId="3486948779" sldId="301"/>
            <ac:spMk id="23" creationId="{4039523D-D132-2FE8-9DA9-004F1121532C}"/>
          </ac:spMkLst>
        </pc:spChg>
        <pc:picChg chg="add mod">
          <ac:chgData name="Luis guilherme De barros andrade faria" userId="31e40991-e7d9-41d2-8af0-eeeeb0b0a000" providerId="ADAL" clId="{B350B1DC-FB38-521A-9133-2C303449DDC2}" dt="2026-03-14T21:55:04.586" v="1219"/>
          <ac:picMkLst>
            <pc:docMk/>
            <pc:sldMk cId="3486948779" sldId="301"/>
            <ac:picMk id="17" creationId="{7BFFEB00-D8C7-38A5-4A0E-37DE78B1FBF1}"/>
          </ac:picMkLst>
        </pc:picChg>
      </pc:sldChg>
      <pc:sldChg chg="addSp delSp modSp mod modTransition delAnim modAnim">
        <pc:chgData name="Luis guilherme De barros andrade faria" userId="31e40991-e7d9-41d2-8af0-eeeeb0b0a000" providerId="ADAL" clId="{B350B1DC-FB38-521A-9133-2C303449DDC2}" dt="2026-03-14T21:55:04.586" v="1219"/>
        <pc:sldMkLst>
          <pc:docMk/>
          <pc:sldMk cId="351854674" sldId="302"/>
        </pc:sldMkLst>
        <pc:picChg chg="add mod">
          <ac:chgData name="Luis guilherme De barros andrade faria" userId="31e40991-e7d9-41d2-8af0-eeeeb0b0a000" providerId="ADAL" clId="{B350B1DC-FB38-521A-9133-2C303449DDC2}" dt="2026-03-14T21:55:04.586" v="1219"/>
          <ac:picMkLst>
            <pc:docMk/>
            <pc:sldMk cId="351854674" sldId="302"/>
            <ac:picMk id="12" creationId="{7CDB6973-14E1-28C3-EF8E-12EF792318FC}"/>
          </ac:picMkLst>
        </pc:picChg>
      </pc:sldChg>
      <pc:sldChg chg="addSp delSp modSp mod modTransition delAnim modAnim modNotesTx">
        <pc:chgData name="Luis guilherme De barros andrade faria" userId="31e40991-e7d9-41d2-8af0-eeeeb0b0a000" providerId="ADAL" clId="{B350B1DC-FB38-521A-9133-2C303449DDC2}" dt="2026-03-14T21:55:04.586" v="1219"/>
        <pc:sldMkLst>
          <pc:docMk/>
          <pc:sldMk cId="253003266" sldId="303"/>
        </pc:sldMkLst>
        <pc:spChg chg="mod">
          <ac:chgData name="Luis guilherme De barros andrade faria" userId="31e40991-e7d9-41d2-8af0-eeeeb0b0a000" providerId="ADAL" clId="{B350B1DC-FB38-521A-9133-2C303449DDC2}" dt="2026-03-08T23:52:57.338" v="385" actId="20577"/>
          <ac:spMkLst>
            <pc:docMk/>
            <pc:sldMk cId="253003266" sldId="303"/>
            <ac:spMk id="28" creationId="{BFDFFC7E-1208-57A0-7C13-BB986A6BEB2C}"/>
          </ac:spMkLst>
        </pc:spChg>
        <pc:spChg chg="mod">
          <ac:chgData name="Luis guilherme De barros andrade faria" userId="31e40991-e7d9-41d2-8af0-eeeeb0b0a000" providerId="ADAL" clId="{B350B1DC-FB38-521A-9133-2C303449DDC2}" dt="2026-03-08T23:52:53.664" v="383" actId="114"/>
          <ac:spMkLst>
            <pc:docMk/>
            <pc:sldMk cId="253003266" sldId="303"/>
            <ac:spMk id="29" creationId="{04DA6DD4-078C-5E47-2F18-9FC6C4471A32}"/>
          </ac:spMkLst>
        </pc:spChg>
        <pc:picChg chg="add mod">
          <ac:chgData name="Luis guilherme De barros andrade faria" userId="31e40991-e7d9-41d2-8af0-eeeeb0b0a000" providerId="ADAL" clId="{B350B1DC-FB38-521A-9133-2C303449DDC2}" dt="2026-03-14T21:55:04.586" v="1219"/>
          <ac:picMkLst>
            <pc:docMk/>
            <pc:sldMk cId="253003266" sldId="303"/>
            <ac:picMk id="14" creationId="{5D7EF71F-D268-C614-820A-0D3FF8AA5797}"/>
          </ac:picMkLst>
        </pc:picChg>
      </pc:sldChg>
      <pc:sldChg chg="addSp delSp modSp mod modTransition delAnim modAnim modNotesTx">
        <pc:chgData name="Luis guilherme De barros andrade faria" userId="31e40991-e7d9-41d2-8af0-eeeeb0b0a000" providerId="ADAL" clId="{B350B1DC-FB38-521A-9133-2C303449DDC2}" dt="2026-03-14T21:55:04.586" v="1219"/>
        <pc:sldMkLst>
          <pc:docMk/>
          <pc:sldMk cId="4246499963" sldId="304"/>
        </pc:sldMkLst>
        <pc:graphicFrameChg chg="mod modGraphic">
          <ac:chgData name="Luis guilherme De barros andrade faria" userId="31e40991-e7d9-41d2-8af0-eeeeb0b0a000" providerId="ADAL" clId="{B350B1DC-FB38-521A-9133-2C303449DDC2}" dt="2026-03-09T00:02:22.729" v="412" actId="20577"/>
          <ac:graphicFrameMkLst>
            <pc:docMk/>
            <pc:sldMk cId="4246499963" sldId="304"/>
            <ac:graphicFrameMk id="3" creationId="{3EC83FAC-45A0-8384-9E15-246ADB88554A}"/>
          </ac:graphicFrameMkLst>
        </pc:graphicFrameChg>
        <pc:picChg chg="add mod">
          <ac:chgData name="Luis guilherme De barros andrade faria" userId="31e40991-e7d9-41d2-8af0-eeeeb0b0a000" providerId="ADAL" clId="{B350B1DC-FB38-521A-9133-2C303449DDC2}" dt="2026-03-14T21:55:04.586" v="1219"/>
          <ac:picMkLst>
            <pc:docMk/>
            <pc:sldMk cId="4246499963" sldId="304"/>
            <ac:picMk id="25" creationId="{555D4D6B-7B28-E4CC-3B27-DC331FC3062E}"/>
          </ac:picMkLst>
        </pc:picChg>
      </pc:sldChg>
      <pc:sldChg chg="addSp delSp modSp mod modTransition delAnim modAnim modNotesTx">
        <pc:chgData name="Luis guilherme De barros andrade faria" userId="31e40991-e7d9-41d2-8af0-eeeeb0b0a000" providerId="ADAL" clId="{B350B1DC-FB38-521A-9133-2C303449DDC2}" dt="2026-03-14T21:55:04.586" v="1219"/>
        <pc:sldMkLst>
          <pc:docMk/>
          <pc:sldMk cId="816423643" sldId="305"/>
        </pc:sldMkLst>
        <pc:picChg chg="add mod">
          <ac:chgData name="Luis guilherme De barros andrade faria" userId="31e40991-e7d9-41d2-8af0-eeeeb0b0a000" providerId="ADAL" clId="{B350B1DC-FB38-521A-9133-2C303449DDC2}" dt="2026-03-14T21:55:04.586" v="1219"/>
          <ac:picMkLst>
            <pc:docMk/>
            <pc:sldMk cId="816423643" sldId="305"/>
            <ac:picMk id="13" creationId="{D2347177-A2BD-339D-C6B6-4C60B19374FD}"/>
          </ac:picMkLst>
        </pc:picChg>
      </pc:sldChg>
      <pc:sldChg chg="addSp delSp modSp mod modTransition delAnim modAnim modNotesTx">
        <pc:chgData name="Luis guilherme De barros andrade faria" userId="31e40991-e7d9-41d2-8af0-eeeeb0b0a000" providerId="ADAL" clId="{B350B1DC-FB38-521A-9133-2C303449DDC2}" dt="2026-03-14T21:55:04.586" v="1219"/>
        <pc:sldMkLst>
          <pc:docMk/>
          <pc:sldMk cId="234578900" sldId="306"/>
        </pc:sldMkLst>
        <pc:spChg chg="mod topLvl">
          <ac:chgData name="Luis guilherme De barros andrade faria" userId="31e40991-e7d9-41d2-8af0-eeeeb0b0a000" providerId="ADAL" clId="{B350B1DC-FB38-521A-9133-2C303449DDC2}" dt="2026-03-09T00:03:57.054" v="413" actId="165"/>
          <ac:spMkLst>
            <pc:docMk/>
            <pc:sldMk cId="234578900" sldId="306"/>
            <ac:spMk id="16" creationId="{EDC37B87-1CF7-9BF4-D5FD-1305C42308BF}"/>
          </ac:spMkLst>
        </pc:spChg>
        <pc:spChg chg="mod topLvl">
          <ac:chgData name="Luis guilherme De barros andrade faria" userId="31e40991-e7d9-41d2-8af0-eeeeb0b0a000" providerId="ADAL" clId="{B350B1DC-FB38-521A-9133-2C303449DDC2}" dt="2026-03-09T00:03:57.054" v="413" actId="165"/>
          <ac:spMkLst>
            <pc:docMk/>
            <pc:sldMk cId="234578900" sldId="306"/>
            <ac:spMk id="17" creationId="{435D8C67-F017-CDFE-A4F5-238FEAD7C654}"/>
          </ac:spMkLst>
        </pc:spChg>
        <pc:spChg chg="mod topLvl">
          <ac:chgData name="Luis guilherme De barros andrade faria" userId="31e40991-e7d9-41d2-8af0-eeeeb0b0a000" providerId="ADAL" clId="{B350B1DC-FB38-521A-9133-2C303449DDC2}" dt="2026-03-09T00:03:57.054" v="413" actId="165"/>
          <ac:spMkLst>
            <pc:docMk/>
            <pc:sldMk cId="234578900" sldId="306"/>
            <ac:spMk id="22" creationId="{B2FB450E-3C2D-2F34-A691-A89845DC0295}"/>
          </ac:spMkLst>
        </pc:spChg>
        <pc:spChg chg="mod topLvl">
          <ac:chgData name="Luis guilherme De barros andrade faria" userId="31e40991-e7d9-41d2-8af0-eeeeb0b0a000" providerId="ADAL" clId="{B350B1DC-FB38-521A-9133-2C303449DDC2}" dt="2026-03-09T00:03:57.054" v="413" actId="165"/>
          <ac:spMkLst>
            <pc:docMk/>
            <pc:sldMk cId="234578900" sldId="306"/>
            <ac:spMk id="52" creationId="{A12F9C60-1872-00EC-6958-91D7E39E4FD3}"/>
          </ac:spMkLst>
        </pc:spChg>
        <pc:spChg chg="mod topLvl">
          <ac:chgData name="Luis guilherme De barros andrade faria" userId="31e40991-e7d9-41d2-8af0-eeeeb0b0a000" providerId="ADAL" clId="{B350B1DC-FB38-521A-9133-2C303449DDC2}" dt="2026-03-09T00:03:57.054" v="413" actId="165"/>
          <ac:spMkLst>
            <pc:docMk/>
            <pc:sldMk cId="234578900" sldId="306"/>
            <ac:spMk id="53" creationId="{B967459E-AD64-24E8-8A70-C3EED076A63E}"/>
          </ac:spMkLst>
        </pc:spChg>
        <pc:spChg chg="mod topLvl">
          <ac:chgData name="Luis guilherme De barros andrade faria" userId="31e40991-e7d9-41d2-8af0-eeeeb0b0a000" providerId="ADAL" clId="{B350B1DC-FB38-521A-9133-2C303449DDC2}" dt="2026-03-09T00:03:57.054" v="413" actId="165"/>
          <ac:spMkLst>
            <pc:docMk/>
            <pc:sldMk cId="234578900" sldId="306"/>
            <ac:spMk id="1061" creationId="{4518DF32-E584-F7F2-73BF-C165F088CB72}"/>
          </ac:spMkLst>
        </pc:spChg>
        <pc:spChg chg="mod topLvl">
          <ac:chgData name="Luis guilherme De barros andrade faria" userId="31e40991-e7d9-41d2-8af0-eeeeb0b0a000" providerId="ADAL" clId="{B350B1DC-FB38-521A-9133-2C303449DDC2}" dt="2026-03-09T00:03:57.054" v="413" actId="165"/>
          <ac:spMkLst>
            <pc:docMk/>
            <pc:sldMk cId="234578900" sldId="306"/>
            <ac:spMk id="1064" creationId="{8317D742-AF0E-1C14-89F9-745381C211A6}"/>
          </ac:spMkLst>
        </pc:spChg>
        <pc:spChg chg="mod topLvl">
          <ac:chgData name="Luis guilherme De barros andrade faria" userId="31e40991-e7d9-41d2-8af0-eeeeb0b0a000" providerId="ADAL" clId="{B350B1DC-FB38-521A-9133-2C303449DDC2}" dt="2026-03-09T00:03:57.054" v="413" actId="165"/>
          <ac:spMkLst>
            <pc:docMk/>
            <pc:sldMk cId="234578900" sldId="306"/>
            <ac:spMk id="1068" creationId="{FB0CB1CF-6BD3-2F88-CAC5-8722258052E4}"/>
          </ac:spMkLst>
        </pc:spChg>
        <pc:spChg chg="mod topLvl">
          <ac:chgData name="Luis guilherme De barros andrade faria" userId="31e40991-e7d9-41d2-8af0-eeeeb0b0a000" providerId="ADAL" clId="{B350B1DC-FB38-521A-9133-2C303449DDC2}" dt="2026-03-09T00:03:57.054" v="413" actId="165"/>
          <ac:spMkLst>
            <pc:docMk/>
            <pc:sldMk cId="234578900" sldId="306"/>
            <ac:spMk id="1069" creationId="{DF60B0CD-1148-9FEC-4AA8-3B41EF9A739A}"/>
          </ac:spMkLst>
        </pc:spChg>
        <pc:spChg chg="mod topLvl">
          <ac:chgData name="Luis guilherme De barros andrade faria" userId="31e40991-e7d9-41d2-8af0-eeeeb0b0a000" providerId="ADAL" clId="{B350B1DC-FB38-521A-9133-2C303449DDC2}" dt="2026-03-09T00:03:57.054" v="413" actId="165"/>
          <ac:spMkLst>
            <pc:docMk/>
            <pc:sldMk cId="234578900" sldId="306"/>
            <ac:spMk id="1076" creationId="{D47AAF6D-1EC8-2A5E-B095-4A2692EF05FE}"/>
          </ac:spMkLst>
        </pc:spChg>
        <pc:spChg chg="mod">
          <ac:chgData name="Luis guilherme De barros andrade faria" userId="31e40991-e7d9-41d2-8af0-eeeeb0b0a000" providerId="ADAL" clId="{B350B1DC-FB38-521A-9133-2C303449DDC2}" dt="2026-03-09T00:09:14.291" v="440" actId="14100"/>
          <ac:spMkLst>
            <pc:docMk/>
            <pc:sldMk cId="234578900" sldId="306"/>
            <ac:spMk id="1077" creationId="{5DEF20CC-9CD3-4295-5BD6-4946FBA051E7}"/>
          </ac:spMkLst>
        </pc:spChg>
        <pc:picChg chg="add mod">
          <ac:chgData name="Luis guilherme De barros andrade faria" userId="31e40991-e7d9-41d2-8af0-eeeeb0b0a000" providerId="ADAL" clId="{B350B1DC-FB38-521A-9133-2C303449DDC2}" dt="2026-03-14T21:55:04.586" v="1219"/>
          <ac:picMkLst>
            <pc:docMk/>
            <pc:sldMk cId="234578900" sldId="306"/>
            <ac:picMk id="11" creationId="{A9327E40-7EC2-A82F-84B4-598CDE63CB2A}"/>
          </ac:picMkLst>
        </pc:picChg>
        <pc:cxnChg chg="add del">
          <ac:chgData name="Luis guilherme De barros andrade faria" userId="31e40991-e7d9-41d2-8af0-eeeeb0b0a000" providerId="ADAL" clId="{B350B1DC-FB38-521A-9133-2C303449DDC2}" dt="2026-03-09T00:07:17.423" v="428" actId="478"/>
          <ac:cxnSpMkLst>
            <pc:docMk/>
            <pc:sldMk cId="234578900" sldId="306"/>
            <ac:cxnSpMk id="61" creationId="{53A7D9EF-F180-977A-9400-0FDFDDCD89F6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DBF36E-0992-9040-A842-CEB526F1E647}" type="doc">
      <dgm:prSet loTypeId="urn:microsoft.com/office/officeart/2005/8/layout/pyramid1" loCatId="" qsTypeId="urn:microsoft.com/office/officeart/2005/8/quickstyle/3d3" qsCatId="3D" csTypeId="urn:microsoft.com/office/officeart/2005/8/colors/colorful3" csCatId="colorful" phldr="1"/>
      <dgm:spPr/>
    </dgm:pt>
    <dgm:pt modelId="{803950C8-0212-0E46-AF75-DD25743AD6CE}">
      <dgm:prSet phldrT="[Text]" custT="1"/>
      <dgm:spPr/>
      <dgm:t>
        <a:bodyPr/>
        <a:lstStyle/>
        <a:p>
          <a:endParaRPr lang="en-US" sz="2400" b="1" dirty="0">
            <a:solidFill>
              <a:schemeClr val="bg1"/>
            </a:solidFill>
          </a:endParaRPr>
        </a:p>
        <a:p>
          <a:endParaRPr lang="en-US" sz="2400" b="1" dirty="0">
            <a:solidFill>
              <a:schemeClr val="bg1"/>
            </a:solidFill>
          </a:endParaRPr>
        </a:p>
        <a:p>
          <a:r>
            <a:rPr lang="en-US" sz="2400" b="1" dirty="0">
              <a:solidFill>
                <a:schemeClr val="bg1"/>
              </a:solidFill>
            </a:rPr>
            <a:t>SaaS</a:t>
          </a:r>
        </a:p>
      </dgm:t>
    </dgm:pt>
    <dgm:pt modelId="{ADA8F16F-8A0D-4B4F-8F1B-7F3420709586}" type="parTrans" cxnId="{F8426FF1-29E2-6448-9CCB-9258BE3EBD06}">
      <dgm:prSet/>
      <dgm:spPr/>
      <dgm:t>
        <a:bodyPr/>
        <a:lstStyle/>
        <a:p>
          <a:endParaRPr lang="en-US" sz="1400"/>
        </a:p>
      </dgm:t>
    </dgm:pt>
    <dgm:pt modelId="{0C5519A8-D69B-B347-A4FB-22A2253AFE85}" type="sibTrans" cxnId="{F8426FF1-29E2-6448-9CCB-9258BE3EBD06}">
      <dgm:prSet/>
      <dgm:spPr/>
      <dgm:t>
        <a:bodyPr/>
        <a:lstStyle/>
        <a:p>
          <a:endParaRPr lang="en-US" sz="1400"/>
        </a:p>
      </dgm:t>
    </dgm:pt>
    <dgm:pt modelId="{1F5684E2-A5FA-034B-A7CC-66C15ABEE430}">
      <dgm:prSet custT="1"/>
      <dgm:spPr/>
      <dgm:t>
        <a:bodyPr/>
        <a:lstStyle/>
        <a:p>
          <a:endParaRPr lang="en-US" sz="2400" b="1" dirty="0">
            <a:solidFill>
              <a:schemeClr val="bg1"/>
            </a:solidFill>
          </a:endParaRPr>
        </a:p>
        <a:p>
          <a:r>
            <a:rPr lang="en-US" sz="2400" b="1" dirty="0">
              <a:solidFill>
                <a:schemeClr val="bg1"/>
              </a:solidFill>
            </a:rPr>
            <a:t>PaaS</a:t>
          </a:r>
        </a:p>
      </dgm:t>
    </dgm:pt>
    <dgm:pt modelId="{FFB7F4CE-85AC-D94A-AD86-DAEBE8AE40B2}" type="parTrans" cxnId="{9BA44642-038E-5549-8698-146BDDA45EA5}">
      <dgm:prSet/>
      <dgm:spPr/>
      <dgm:t>
        <a:bodyPr/>
        <a:lstStyle/>
        <a:p>
          <a:endParaRPr lang="en-US" sz="1400"/>
        </a:p>
      </dgm:t>
    </dgm:pt>
    <dgm:pt modelId="{5A2B3712-C7B3-324A-BDCB-BABE4B5BF5CC}" type="sibTrans" cxnId="{9BA44642-038E-5549-8698-146BDDA45EA5}">
      <dgm:prSet/>
      <dgm:spPr/>
      <dgm:t>
        <a:bodyPr/>
        <a:lstStyle/>
        <a:p>
          <a:endParaRPr lang="en-US" sz="1400"/>
        </a:p>
      </dgm:t>
    </dgm:pt>
    <dgm:pt modelId="{1720D01D-96ED-3E49-98F8-1A2C9F45746D}">
      <dgm:prSet custT="1"/>
      <dgm:spPr/>
      <dgm:t>
        <a:bodyPr/>
        <a:lstStyle/>
        <a:p>
          <a:endParaRPr lang="en-US" sz="2400" b="1" dirty="0">
            <a:solidFill>
              <a:schemeClr val="bg1"/>
            </a:solidFill>
          </a:endParaRPr>
        </a:p>
        <a:p>
          <a:r>
            <a:rPr lang="en-US" sz="2400" b="1" dirty="0">
              <a:solidFill>
                <a:schemeClr val="bg1"/>
              </a:solidFill>
            </a:rPr>
            <a:t>IaaS</a:t>
          </a:r>
        </a:p>
      </dgm:t>
    </dgm:pt>
    <dgm:pt modelId="{4A1D2ACB-9109-814F-A975-311CD6E2C4EF}" type="parTrans" cxnId="{0C8136DB-1185-5E48-BA04-A5D62D523E0A}">
      <dgm:prSet/>
      <dgm:spPr/>
      <dgm:t>
        <a:bodyPr/>
        <a:lstStyle/>
        <a:p>
          <a:endParaRPr lang="en-US" sz="1400"/>
        </a:p>
      </dgm:t>
    </dgm:pt>
    <dgm:pt modelId="{E1964ABF-02BD-EB4F-AE0F-8889E6D050DA}" type="sibTrans" cxnId="{0C8136DB-1185-5E48-BA04-A5D62D523E0A}">
      <dgm:prSet/>
      <dgm:spPr/>
      <dgm:t>
        <a:bodyPr/>
        <a:lstStyle/>
        <a:p>
          <a:endParaRPr lang="en-US" sz="1400"/>
        </a:p>
      </dgm:t>
    </dgm:pt>
    <dgm:pt modelId="{DE300700-CE26-2A4D-8FBE-EEA06E171184}" type="pres">
      <dgm:prSet presAssocID="{84DBF36E-0992-9040-A842-CEB526F1E647}" presName="Name0" presStyleCnt="0">
        <dgm:presLayoutVars>
          <dgm:dir/>
          <dgm:animLvl val="lvl"/>
          <dgm:resizeHandles val="exact"/>
        </dgm:presLayoutVars>
      </dgm:prSet>
      <dgm:spPr/>
    </dgm:pt>
    <dgm:pt modelId="{77354549-C01B-614F-B7A4-B29278354DCC}" type="pres">
      <dgm:prSet presAssocID="{803950C8-0212-0E46-AF75-DD25743AD6CE}" presName="Name8" presStyleCnt="0"/>
      <dgm:spPr/>
    </dgm:pt>
    <dgm:pt modelId="{9980CB58-1A68-A446-A58D-1B33ACFCC7EF}" type="pres">
      <dgm:prSet presAssocID="{803950C8-0212-0E46-AF75-DD25743AD6CE}" presName="level" presStyleLbl="node1" presStyleIdx="0" presStyleCnt="3" custLinFactNeighborX="0" custLinFactNeighborY="-7471">
        <dgm:presLayoutVars>
          <dgm:chMax val="1"/>
          <dgm:bulletEnabled val="1"/>
        </dgm:presLayoutVars>
      </dgm:prSet>
      <dgm:spPr/>
    </dgm:pt>
    <dgm:pt modelId="{D31A2CD4-817F-BA4E-A80C-9A016C9A61ED}" type="pres">
      <dgm:prSet presAssocID="{803950C8-0212-0E46-AF75-DD25743AD6C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BC1E77C-CCEE-AA4B-BD35-48D6C922B2A6}" type="pres">
      <dgm:prSet presAssocID="{1F5684E2-A5FA-034B-A7CC-66C15ABEE430}" presName="Name8" presStyleCnt="0"/>
      <dgm:spPr/>
    </dgm:pt>
    <dgm:pt modelId="{524C694E-273D-3846-B321-553D7C9791C9}" type="pres">
      <dgm:prSet presAssocID="{1F5684E2-A5FA-034B-A7CC-66C15ABEE430}" presName="level" presStyleLbl="node1" presStyleIdx="1" presStyleCnt="3">
        <dgm:presLayoutVars>
          <dgm:chMax val="1"/>
          <dgm:bulletEnabled val="1"/>
        </dgm:presLayoutVars>
      </dgm:prSet>
      <dgm:spPr/>
    </dgm:pt>
    <dgm:pt modelId="{0CCBBF68-1F02-9246-8AA5-8D5F3AC628B7}" type="pres">
      <dgm:prSet presAssocID="{1F5684E2-A5FA-034B-A7CC-66C15ABEE43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8D18D37-0509-0049-B572-88594F24BF9D}" type="pres">
      <dgm:prSet presAssocID="{1720D01D-96ED-3E49-98F8-1A2C9F45746D}" presName="Name8" presStyleCnt="0"/>
      <dgm:spPr/>
    </dgm:pt>
    <dgm:pt modelId="{DE050EC6-CF63-7144-9AB6-2884EA741E2F}" type="pres">
      <dgm:prSet presAssocID="{1720D01D-96ED-3E49-98F8-1A2C9F45746D}" presName="level" presStyleLbl="node1" presStyleIdx="2" presStyleCnt="3">
        <dgm:presLayoutVars>
          <dgm:chMax val="1"/>
          <dgm:bulletEnabled val="1"/>
        </dgm:presLayoutVars>
      </dgm:prSet>
      <dgm:spPr/>
    </dgm:pt>
    <dgm:pt modelId="{E466488E-0305-6648-8B30-07C1151260A4}" type="pres">
      <dgm:prSet presAssocID="{1720D01D-96ED-3E49-98F8-1A2C9F45746D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79C92815-2980-854A-858B-2D3360F78890}" type="presOf" srcId="{803950C8-0212-0E46-AF75-DD25743AD6CE}" destId="{D31A2CD4-817F-BA4E-A80C-9A016C9A61ED}" srcOrd="1" destOrd="0" presId="urn:microsoft.com/office/officeart/2005/8/layout/pyramid1"/>
    <dgm:cxn modelId="{D5E8553B-9BC5-F144-BC35-6EE28CC6EA9A}" type="presOf" srcId="{1720D01D-96ED-3E49-98F8-1A2C9F45746D}" destId="{E466488E-0305-6648-8B30-07C1151260A4}" srcOrd="1" destOrd="0" presId="urn:microsoft.com/office/officeart/2005/8/layout/pyramid1"/>
    <dgm:cxn modelId="{9BA44642-038E-5549-8698-146BDDA45EA5}" srcId="{84DBF36E-0992-9040-A842-CEB526F1E647}" destId="{1F5684E2-A5FA-034B-A7CC-66C15ABEE430}" srcOrd="1" destOrd="0" parTransId="{FFB7F4CE-85AC-D94A-AD86-DAEBE8AE40B2}" sibTransId="{5A2B3712-C7B3-324A-BDCB-BABE4B5BF5CC}"/>
    <dgm:cxn modelId="{F1F76A43-B62E-E94C-8F3A-ECB42B93C2EE}" type="presOf" srcId="{1F5684E2-A5FA-034B-A7CC-66C15ABEE430}" destId="{524C694E-273D-3846-B321-553D7C9791C9}" srcOrd="0" destOrd="0" presId="urn:microsoft.com/office/officeart/2005/8/layout/pyramid1"/>
    <dgm:cxn modelId="{D1F29A95-4111-A94D-A151-7CAE96DA9AB6}" type="presOf" srcId="{1F5684E2-A5FA-034B-A7CC-66C15ABEE430}" destId="{0CCBBF68-1F02-9246-8AA5-8D5F3AC628B7}" srcOrd="1" destOrd="0" presId="urn:microsoft.com/office/officeart/2005/8/layout/pyramid1"/>
    <dgm:cxn modelId="{025B0C96-2C8B-ED4E-8621-9B564744A327}" type="presOf" srcId="{1720D01D-96ED-3E49-98F8-1A2C9F45746D}" destId="{DE050EC6-CF63-7144-9AB6-2884EA741E2F}" srcOrd="0" destOrd="0" presId="urn:microsoft.com/office/officeart/2005/8/layout/pyramid1"/>
    <dgm:cxn modelId="{D79DF89D-5E80-EA46-821D-778EBB87CA18}" type="presOf" srcId="{803950C8-0212-0E46-AF75-DD25743AD6CE}" destId="{9980CB58-1A68-A446-A58D-1B33ACFCC7EF}" srcOrd="0" destOrd="0" presId="urn:microsoft.com/office/officeart/2005/8/layout/pyramid1"/>
    <dgm:cxn modelId="{91A010C0-36A1-4D43-B7AE-077A444327BE}" type="presOf" srcId="{84DBF36E-0992-9040-A842-CEB526F1E647}" destId="{DE300700-CE26-2A4D-8FBE-EEA06E171184}" srcOrd="0" destOrd="0" presId="urn:microsoft.com/office/officeart/2005/8/layout/pyramid1"/>
    <dgm:cxn modelId="{0C8136DB-1185-5E48-BA04-A5D62D523E0A}" srcId="{84DBF36E-0992-9040-A842-CEB526F1E647}" destId="{1720D01D-96ED-3E49-98F8-1A2C9F45746D}" srcOrd="2" destOrd="0" parTransId="{4A1D2ACB-9109-814F-A975-311CD6E2C4EF}" sibTransId="{E1964ABF-02BD-EB4F-AE0F-8889E6D050DA}"/>
    <dgm:cxn modelId="{F8426FF1-29E2-6448-9CCB-9258BE3EBD06}" srcId="{84DBF36E-0992-9040-A842-CEB526F1E647}" destId="{803950C8-0212-0E46-AF75-DD25743AD6CE}" srcOrd="0" destOrd="0" parTransId="{ADA8F16F-8A0D-4B4F-8F1B-7F3420709586}" sibTransId="{0C5519A8-D69B-B347-A4FB-22A2253AFE85}"/>
    <dgm:cxn modelId="{3B247D0F-3343-D34B-ADD1-2E9F980C853D}" type="presParOf" srcId="{DE300700-CE26-2A4D-8FBE-EEA06E171184}" destId="{77354549-C01B-614F-B7A4-B29278354DCC}" srcOrd="0" destOrd="0" presId="urn:microsoft.com/office/officeart/2005/8/layout/pyramid1"/>
    <dgm:cxn modelId="{39139659-98D3-B844-9611-A24D153C8032}" type="presParOf" srcId="{77354549-C01B-614F-B7A4-B29278354DCC}" destId="{9980CB58-1A68-A446-A58D-1B33ACFCC7EF}" srcOrd="0" destOrd="0" presId="urn:microsoft.com/office/officeart/2005/8/layout/pyramid1"/>
    <dgm:cxn modelId="{49BF39EF-E973-3541-A2E2-E7613947FD72}" type="presParOf" srcId="{77354549-C01B-614F-B7A4-B29278354DCC}" destId="{D31A2CD4-817F-BA4E-A80C-9A016C9A61ED}" srcOrd="1" destOrd="0" presId="urn:microsoft.com/office/officeart/2005/8/layout/pyramid1"/>
    <dgm:cxn modelId="{58AAB575-A9C8-8040-9036-A365ECAF0AFD}" type="presParOf" srcId="{DE300700-CE26-2A4D-8FBE-EEA06E171184}" destId="{5BC1E77C-CCEE-AA4B-BD35-48D6C922B2A6}" srcOrd="1" destOrd="0" presId="urn:microsoft.com/office/officeart/2005/8/layout/pyramid1"/>
    <dgm:cxn modelId="{D43BFF26-30DC-AA48-BE1C-E6E472491875}" type="presParOf" srcId="{5BC1E77C-CCEE-AA4B-BD35-48D6C922B2A6}" destId="{524C694E-273D-3846-B321-553D7C9791C9}" srcOrd="0" destOrd="0" presId="urn:microsoft.com/office/officeart/2005/8/layout/pyramid1"/>
    <dgm:cxn modelId="{9EB1290F-857E-7642-AF90-61338A331A65}" type="presParOf" srcId="{5BC1E77C-CCEE-AA4B-BD35-48D6C922B2A6}" destId="{0CCBBF68-1F02-9246-8AA5-8D5F3AC628B7}" srcOrd="1" destOrd="0" presId="urn:microsoft.com/office/officeart/2005/8/layout/pyramid1"/>
    <dgm:cxn modelId="{2593328C-F2FF-AA4E-9085-B1A916AC50E1}" type="presParOf" srcId="{DE300700-CE26-2A4D-8FBE-EEA06E171184}" destId="{68D18D37-0509-0049-B572-88594F24BF9D}" srcOrd="2" destOrd="0" presId="urn:microsoft.com/office/officeart/2005/8/layout/pyramid1"/>
    <dgm:cxn modelId="{A767F658-133F-7B44-BC5B-FCAB1E951EBC}" type="presParOf" srcId="{68D18D37-0509-0049-B572-88594F24BF9D}" destId="{DE050EC6-CF63-7144-9AB6-2884EA741E2F}" srcOrd="0" destOrd="0" presId="urn:microsoft.com/office/officeart/2005/8/layout/pyramid1"/>
    <dgm:cxn modelId="{4471C74D-7F3C-584D-9949-93D0769B4511}" type="presParOf" srcId="{68D18D37-0509-0049-B572-88594F24BF9D}" destId="{E466488E-0305-6648-8B30-07C1151260A4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80CB58-1A68-A446-A58D-1B33ACFCC7EF}">
      <dsp:nvSpPr>
        <dsp:cNvPr id="0" name=""/>
        <dsp:cNvSpPr/>
      </dsp:nvSpPr>
      <dsp:spPr>
        <a:xfrm>
          <a:off x="1052384" y="0"/>
          <a:ext cx="1052384" cy="1450225"/>
        </a:xfrm>
        <a:prstGeom prst="trapezoid">
          <a:avLst>
            <a:gd name="adj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 dirty="0">
            <a:solidFill>
              <a:schemeClr val="bg1"/>
            </a:solidFill>
          </a:endParaRP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 dirty="0">
            <a:solidFill>
              <a:schemeClr val="bg1"/>
            </a:solidFill>
          </a:endParaRP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bg1"/>
              </a:solidFill>
            </a:rPr>
            <a:t>SaaS</a:t>
          </a:r>
        </a:p>
      </dsp:txBody>
      <dsp:txXfrm>
        <a:off x="1052384" y="0"/>
        <a:ext cx="1052384" cy="1450225"/>
      </dsp:txXfrm>
    </dsp:sp>
    <dsp:sp modelId="{524C694E-273D-3846-B321-553D7C9791C9}">
      <dsp:nvSpPr>
        <dsp:cNvPr id="0" name=""/>
        <dsp:cNvSpPr/>
      </dsp:nvSpPr>
      <dsp:spPr>
        <a:xfrm>
          <a:off x="526192" y="1450225"/>
          <a:ext cx="2104768" cy="1450225"/>
        </a:xfrm>
        <a:prstGeom prst="trapezoid">
          <a:avLst>
            <a:gd name="adj" fmla="val 36283"/>
          </a:avLst>
        </a:prstGeom>
        <a:solidFill>
          <a:schemeClr val="accent3">
            <a:hueOff val="1649877"/>
            <a:satOff val="-3175"/>
            <a:lumOff val="313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 dirty="0">
            <a:solidFill>
              <a:schemeClr val="bg1"/>
            </a:solidFill>
          </a:endParaRP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bg1"/>
              </a:solidFill>
            </a:rPr>
            <a:t>PaaS</a:t>
          </a:r>
        </a:p>
      </dsp:txBody>
      <dsp:txXfrm>
        <a:off x="894526" y="1450225"/>
        <a:ext cx="1368099" cy="1450225"/>
      </dsp:txXfrm>
    </dsp:sp>
    <dsp:sp modelId="{DE050EC6-CF63-7144-9AB6-2884EA741E2F}">
      <dsp:nvSpPr>
        <dsp:cNvPr id="0" name=""/>
        <dsp:cNvSpPr/>
      </dsp:nvSpPr>
      <dsp:spPr>
        <a:xfrm>
          <a:off x="0" y="2900451"/>
          <a:ext cx="3157152" cy="1450225"/>
        </a:xfrm>
        <a:prstGeom prst="trapezoid">
          <a:avLst>
            <a:gd name="adj" fmla="val 36283"/>
          </a:avLst>
        </a:prstGeom>
        <a:solidFill>
          <a:schemeClr val="accent3">
            <a:hueOff val="3299754"/>
            <a:satOff val="-6350"/>
            <a:lumOff val="627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 dirty="0">
            <a:solidFill>
              <a:schemeClr val="bg1"/>
            </a:solidFill>
          </a:endParaRP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bg1"/>
              </a:solidFill>
            </a:rPr>
            <a:t>IaaS</a:t>
          </a:r>
        </a:p>
      </dsp:txBody>
      <dsp:txXfrm>
        <a:off x="552501" y="2900451"/>
        <a:ext cx="2052148" cy="14502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51C311-5120-8F4A-9B65-E00D7A2501C0}" type="datetimeFigureOut">
              <a:rPr lang="en-US" smtClean="0"/>
              <a:t>3/15/26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6578A5-61EA-7A49-8C82-A93B5208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594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0ABAA-C371-75B3-BCB4-3D2114FF9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BE8818-376A-0E21-FD31-9A08A7355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B817C1-1FE7-39FD-C9CB-1BF244951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D6F59-700D-A0DF-600D-E9C2C81DFA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578A5-61EA-7A49-8C82-A93B520830D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531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E7275-8969-1DC2-14D2-B6D167414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E99DB4-3D3A-2226-17D7-FDBCB10C6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2850E-851D-BD2E-73E3-31C36032C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5020D-42B5-74A8-C07E-63806CF6F8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578A5-61EA-7A49-8C82-A93B520830D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9525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F46FD-1624-31DE-5028-30DB292FF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7D64A-EFF8-81C6-F095-8B2883F9C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784591-5879-2809-5EA8-C7617C4A6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326F0-2670-00F3-AC42-C04D962BAF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578A5-61EA-7A49-8C82-A93B520830D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84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B8027-9B65-7A44-9853-608393922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47FD4-F887-2722-DB39-6A87DE4FF6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84432C-54BC-441E-A235-0A953BF9D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67266-14D2-B262-BB8E-8F971BAB1B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578A5-61EA-7A49-8C82-A93B520830D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348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DFFC5-8FB7-8D17-ED9A-F3A405C90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B2D431-986B-C785-AB5D-3822D8077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0727BE-714A-B397-C927-929AF5736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AB0B7-B8DF-374E-4CA0-7322B592D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578A5-61EA-7A49-8C82-A93B520830D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707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4B019-CD03-F4B2-9E3F-6A3312DD3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91CAA3-B7B9-25BD-1DDC-B006E92E4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80EF7-E37F-7C16-9163-87329E4B89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356E5-2230-AABA-7CB3-DB9E5BE53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578A5-61EA-7A49-8C82-A93B520830D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5941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CEDD6-3AF1-3BFD-51AE-BB05CD4C4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4AFA94-996E-0E10-A150-B34B88698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252D1B-88F8-616E-EF33-82D4CF85D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02E2F-602D-19A4-E96F-98CF39469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578A5-61EA-7A49-8C82-A93B520830D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902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24D04-E756-8960-845A-E7C5B6380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85902-BBC7-7CB4-CB51-7FE4BEFEA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23FAD-0E80-8F0A-CDD9-7B576C62A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85BA4-3C14-2CA6-1311-1B382B0CF7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578A5-61EA-7A49-8C82-A93B520830D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724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60F63-3E0D-197C-52E5-A834FA442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D7E246-C596-4D9F-A0A0-B71EF9865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3464AC-4799-553B-20CC-A2287566E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0590F-D6D7-D229-5452-2CC8DA33E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578A5-61EA-7A49-8C82-A93B520830D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1590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04CE5-D074-B20F-6EAD-506E29CCF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405AD3-2730-1FFF-E007-7E4E23A19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6D0504-DB19-BB3F-4256-C021CD6F0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2E700-4ADF-E32E-BF99-7F30AEA198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578A5-61EA-7A49-8C82-A93B520830D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8797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578A5-61EA-7A49-8C82-A93B520830D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248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F9951-8467-CCDA-F565-840ADE2CD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F6996D-E837-636D-1978-CB9293407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D68A8-32EF-505B-52BF-E8BBE1DCB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00DE3-AA44-9CAA-6EB9-3781F4B69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578A5-61EA-7A49-8C82-A93B520830D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041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74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265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372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95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854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396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096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169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63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19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81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464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1" r:id="rId6"/>
    <p:sldLayoutId id="2147483697" r:id="rId7"/>
    <p:sldLayoutId id="2147483698" r:id="rId8"/>
    <p:sldLayoutId id="2147483699" r:id="rId9"/>
    <p:sldLayoutId id="2147483700" r:id="rId10"/>
    <p:sldLayoutId id="214748370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notesSlide" Target="../notesSlides/notesSlide7.xml"/><Relationship Id="rId7" Type="http://schemas.openxmlformats.org/officeDocument/2006/relationships/diagramLayout" Target="../diagrams/layout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Relationship Id="rId6" Type="http://schemas.openxmlformats.org/officeDocument/2006/relationships/diagramData" Target="../diagrams/data1.xml"/><Relationship Id="rId5" Type="http://schemas.openxmlformats.org/officeDocument/2006/relationships/image" Target="../media/image2.png"/><Relationship Id="rId10" Type="http://schemas.microsoft.com/office/2007/relationships/diagramDrawing" Target="../diagrams/drawing1.xml"/><Relationship Id="rId4" Type="http://schemas.openxmlformats.org/officeDocument/2006/relationships/image" Target="../media/image1.jpeg"/><Relationship Id="rId9" Type="http://schemas.openxmlformats.org/officeDocument/2006/relationships/diagramColors" Target="../diagrams/colors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2.png"/><Relationship Id="rId10" Type="http://schemas.openxmlformats.org/officeDocument/2006/relationships/image" Target="../media/image10.jpeg"/><Relationship Id="rId4" Type="http://schemas.openxmlformats.org/officeDocument/2006/relationships/image" Target="../media/image1.jpe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989FF2-C088-E075-779D-4801271E5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2" name="Rectangle 1051">
            <a:extLst>
              <a:ext uri="{FF2B5EF4-FFF2-40B4-BE49-F238E27FC236}">
                <a16:creationId xmlns:a16="http://schemas.microsoft.com/office/drawing/2014/main" id="{A8B328A1-9230-E65D-292F-635BDA9C8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A32BF3B1-D9E9-EEEE-6B58-7E9D99164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6" name="Straight Connector 1055">
            <a:extLst>
              <a:ext uri="{FF2B5EF4-FFF2-40B4-BE49-F238E27FC236}">
                <a16:creationId xmlns:a16="http://schemas.microsoft.com/office/drawing/2014/main" id="{F0F149AC-0210-821D-6ABE-F9226028F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4" descr="a very tall building with a lot of windows">
            <a:extLst>
              <a:ext uri="{FF2B5EF4-FFF2-40B4-BE49-F238E27FC236}">
                <a16:creationId xmlns:a16="http://schemas.microsoft.com/office/drawing/2014/main" id="{500A8546-AC02-9D18-2DEB-22DAC97393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8" b="7794"/>
          <a:stretch>
            <a:fillRect/>
          </a:stretch>
        </p:blipFill>
        <p:spPr bwMode="auto">
          <a:xfrm>
            <a:off x="0" y="1"/>
            <a:ext cx="1222187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049363A-6202-64B5-A6D1-8E98923DA2F4}"/>
              </a:ext>
            </a:extLst>
          </p:cNvPr>
          <p:cNvSpPr/>
          <p:nvPr/>
        </p:nvSpPr>
        <p:spPr>
          <a:xfrm>
            <a:off x="0" y="-2"/>
            <a:ext cx="12221878" cy="6858001"/>
          </a:xfrm>
          <a:prstGeom prst="rect">
            <a:avLst/>
          </a:prstGeom>
          <a:solidFill>
            <a:schemeClr val="tx1">
              <a:alpha val="59644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678E3D-B3CA-4B85-82FE-D1997C337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635" y="3363489"/>
            <a:ext cx="5143113" cy="1639846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CLOUD COMPUTING FUNDAMENTALS (CCF501)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ASSESSMENT 1</a:t>
            </a:r>
            <a:br>
              <a:rPr lang="en-US" sz="1600" dirty="0">
                <a:solidFill>
                  <a:schemeClr val="bg1"/>
                </a:solidFill>
              </a:rPr>
            </a:b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Prof Dr. </a:t>
            </a:r>
            <a:r>
              <a:rPr lang="en-US" sz="1600" dirty="0" err="1">
                <a:solidFill>
                  <a:schemeClr val="bg1"/>
                </a:solidFill>
              </a:rPr>
              <a:t>DiVyA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leekha</a:t>
            </a:r>
            <a:br>
              <a:rPr lang="en-US" sz="1600" dirty="0">
                <a:solidFill>
                  <a:schemeClr val="bg1"/>
                </a:solidFill>
              </a:rPr>
            </a:b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LUIS G. B. A. FARIA – ID A00187785</a:t>
            </a:r>
            <a:br>
              <a:rPr lang="en-US" sz="1600" dirty="0">
                <a:solidFill>
                  <a:schemeClr val="bg1"/>
                </a:solidFill>
              </a:rPr>
            </a:br>
            <a:br>
              <a:rPr lang="en-US" sz="1600" dirty="0"/>
            </a:b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82127-780F-EFF0-5E45-D20ADA32A7E8}"/>
              </a:ext>
            </a:extLst>
          </p:cNvPr>
          <p:cNvSpPr txBox="1"/>
          <p:nvPr/>
        </p:nvSpPr>
        <p:spPr>
          <a:xfrm>
            <a:off x="514635" y="1090837"/>
            <a:ext cx="11139666" cy="15081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dirty="0">
                <a:solidFill>
                  <a:srgbClr val="EE6F00"/>
                </a:solidFill>
              </a:rPr>
              <a:t>C</a:t>
            </a:r>
            <a:r>
              <a:rPr lang="en-US" sz="4400" b="1" dirty="0">
                <a:solidFill>
                  <a:schemeClr val="bg1"/>
                </a:solidFill>
              </a:rPr>
              <a:t>loud </a:t>
            </a:r>
            <a:r>
              <a:rPr lang="en-US" sz="4400" b="1" dirty="0">
                <a:solidFill>
                  <a:srgbClr val="EE6F00"/>
                </a:solidFill>
              </a:rPr>
              <a:t>C</a:t>
            </a:r>
            <a:r>
              <a:rPr lang="en-US" sz="4400" b="1" dirty="0">
                <a:solidFill>
                  <a:schemeClr val="bg1"/>
                </a:solidFill>
              </a:rPr>
              <a:t>omputing for ABC Enterprise</a:t>
            </a:r>
          </a:p>
          <a:p>
            <a:r>
              <a:rPr lang="en-US" sz="4400" b="1" i="1" dirty="0">
                <a:solidFill>
                  <a:schemeClr val="bg1"/>
                </a:solidFill>
              </a:rPr>
              <a:t>Key Contributions to Business Automation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B2395F-A02C-F893-1DCB-E96BCE851D20}"/>
              </a:ext>
            </a:extLst>
          </p:cNvPr>
          <p:cNvSpPr txBox="1"/>
          <p:nvPr/>
        </p:nvSpPr>
        <p:spPr>
          <a:xfrm>
            <a:off x="2791326" y="1804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6DF210-EF2A-DA8E-6A8B-5C28B8780B18}"/>
              </a:ext>
            </a:extLst>
          </p:cNvPr>
          <p:cNvSpPr txBox="1"/>
          <p:nvPr/>
        </p:nvSpPr>
        <p:spPr>
          <a:xfrm>
            <a:off x="9596420" y="5819220"/>
            <a:ext cx="2287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Univers Condensed"/>
                <a:cs typeface="Segoe UI"/>
              </a:rPr>
              <a:t>March, 2026</a:t>
            </a:r>
          </a:p>
        </p:txBody>
      </p:sp>
      <p:pic>
        <p:nvPicPr>
          <p:cNvPr id="6" name="Picture 5" descr="Torrens University Australia research repository - Browse">
            <a:extLst>
              <a:ext uri="{FF2B5EF4-FFF2-40B4-BE49-F238E27FC236}">
                <a16:creationId xmlns:a16="http://schemas.microsoft.com/office/drawing/2014/main" id="{670EC34F-6108-D17E-B443-77A68F98C0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635" y="5929437"/>
            <a:ext cx="1397369" cy="7495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026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37"/>
    </mc:Choice>
    <mc:Fallback xmlns="">
      <p:transition spd="slow" advTm="250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244E7-0B41-AAC3-FA6E-F2CD86543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 very tall building with a lot of windows">
            <a:extLst>
              <a:ext uri="{FF2B5EF4-FFF2-40B4-BE49-F238E27FC236}">
                <a16:creationId xmlns:a16="http://schemas.microsoft.com/office/drawing/2014/main" id="{A9F34EA7-E0EF-699B-A211-9DD84769F3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8" b="7794"/>
          <a:stretch>
            <a:fillRect/>
          </a:stretch>
        </p:blipFill>
        <p:spPr bwMode="auto">
          <a:xfrm>
            <a:off x="0" y="0"/>
            <a:ext cx="1222187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DB6ADB5-69AB-BB6B-1003-E73C127F7105}"/>
              </a:ext>
            </a:extLst>
          </p:cNvPr>
          <p:cNvSpPr/>
          <p:nvPr/>
        </p:nvSpPr>
        <p:spPr>
          <a:xfrm>
            <a:off x="0" y="1"/>
            <a:ext cx="12196894" cy="6921770"/>
          </a:xfrm>
          <a:prstGeom prst="rect">
            <a:avLst/>
          </a:prstGeom>
          <a:solidFill>
            <a:srgbClr val="000000">
              <a:alpha val="6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90ED37-F240-365C-68E9-0CD27B1A219F}"/>
              </a:ext>
            </a:extLst>
          </p:cNvPr>
          <p:cNvSpPr/>
          <p:nvPr/>
        </p:nvSpPr>
        <p:spPr>
          <a:xfrm>
            <a:off x="676966" y="1149581"/>
            <a:ext cx="10838068" cy="912388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2F2F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3D2E9-331E-203A-D7D4-6AF57C725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0647" y="1149580"/>
            <a:ext cx="10470703" cy="89621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On-demand delivery of compute, storage and services over the internet (Mell &amp; Grance, 2011).</a:t>
            </a:r>
          </a:p>
        </p:txBody>
      </p:sp>
      <p:pic>
        <p:nvPicPr>
          <p:cNvPr id="10" name="Picture 9" descr="Torrens University Australia research repository - Browse">
            <a:extLst>
              <a:ext uri="{FF2B5EF4-FFF2-40B4-BE49-F238E27FC236}">
                <a16:creationId xmlns:a16="http://schemas.microsoft.com/office/drawing/2014/main" id="{117C5C0D-4BB5-E437-67AC-A09C4F5412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0326" y="6179120"/>
            <a:ext cx="1384454" cy="7426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E61EEB-18B1-C85C-1C88-CC728FBEB7D8}"/>
              </a:ext>
            </a:extLst>
          </p:cNvPr>
          <p:cNvSpPr txBox="1"/>
          <p:nvPr/>
        </p:nvSpPr>
        <p:spPr>
          <a:xfrm>
            <a:off x="446900" y="304632"/>
            <a:ext cx="85189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EE6F00"/>
                </a:solidFill>
              </a:rPr>
              <a:t>W</a:t>
            </a:r>
            <a:r>
              <a:rPr lang="en-US" sz="3200" b="1" dirty="0">
                <a:solidFill>
                  <a:schemeClr val="bg1"/>
                </a:solidFill>
              </a:rPr>
              <a:t>HAT IS </a:t>
            </a:r>
            <a:r>
              <a:rPr lang="en-US" sz="4000" b="1" dirty="0">
                <a:solidFill>
                  <a:srgbClr val="EE6F00"/>
                </a:solidFill>
              </a:rPr>
              <a:t>C</a:t>
            </a:r>
            <a:r>
              <a:rPr lang="en-US" sz="3200" b="1" dirty="0">
                <a:solidFill>
                  <a:schemeClr val="bg1"/>
                </a:solidFill>
              </a:rPr>
              <a:t>LOUD </a:t>
            </a:r>
            <a:r>
              <a:rPr lang="en-US" sz="4000" b="1" dirty="0">
                <a:solidFill>
                  <a:srgbClr val="EE6F00"/>
                </a:solidFill>
              </a:rPr>
              <a:t>C</a:t>
            </a:r>
            <a:r>
              <a:rPr lang="en-US" sz="3200" b="1" dirty="0">
                <a:solidFill>
                  <a:schemeClr val="bg1"/>
                </a:solidFill>
              </a:rPr>
              <a:t>OMPUTING?</a:t>
            </a:r>
            <a:endParaRPr lang="en-US" sz="1100" b="1" dirty="0">
              <a:solidFill>
                <a:schemeClr val="bg1"/>
              </a:solidFill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88DCA-2F42-362A-EC02-C559695DCDCA}"/>
              </a:ext>
            </a:extLst>
          </p:cNvPr>
          <p:cNvSpPr/>
          <p:nvPr/>
        </p:nvSpPr>
        <p:spPr>
          <a:xfrm>
            <a:off x="676966" y="5512454"/>
            <a:ext cx="10838067" cy="707886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2F2F2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9C9D017-D8A5-696A-988D-8FDBE4600C78}"/>
              </a:ext>
            </a:extLst>
          </p:cNvPr>
          <p:cNvSpPr txBox="1">
            <a:spLocks/>
          </p:cNvSpPr>
          <p:nvPr/>
        </p:nvSpPr>
        <p:spPr>
          <a:xfrm>
            <a:off x="875880" y="5512454"/>
            <a:ext cx="10470702" cy="7078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Key shift: from </a:t>
            </a:r>
            <a:r>
              <a:rPr lang="en-US" b="1" dirty="0">
                <a:solidFill>
                  <a:schemeClr val="bg1"/>
                </a:solidFill>
              </a:rPr>
              <a:t>owning capacity</a:t>
            </a:r>
            <a:r>
              <a:rPr lang="en-US" dirty="0">
                <a:solidFill>
                  <a:schemeClr val="bg1"/>
                </a:solidFill>
              </a:rPr>
              <a:t> → </a:t>
            </a:r>
            <a:r>
              <a:rPr lang="en-US" b="1" dirty="0">
                <a:solidFill>
                  <a:schemeClr val="bg1"/>
                </a:solidFill>
              </a:rPr>
              <a:t>renting capability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AABAEB5-C7B5-66BB-7713-227C2B9AF19D}"/>
              </a:ext>
            </a:extLst>
          </p:cNvPr>
          <p:cNvSpPr/>
          <p:nvPr/>
        </p:nvSpPr>
        <p:spPr>
          <a:xfrm>
            <a:off x="5207631" y="2220686"/>
            <a:ext cx="1593000" cy="565632"/>
          </a:xfrm>
          <a:prstGeom prst="round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On-demand </a:t>
            </a:r>
          </a:p>
          <a:p>
            <a:pPr algn="ctr"/>
            <a:r>
              <a:rPr lang="en-US" sz="1400" dirty="0"/>
              <a:t>Self Service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970AF9A-573B-38E0-FAFB-F5C1C082DBF0}"/>
              </a:ext>
            </a:extLst>
          </p:cNvPr>
          <p:cNvSpPr/>
          <p:nvPr/>
        </p:nvSpPr>
        <p:spPr>
          <a:xfrm>
            <a:off x="2924474" y="3234147"/>
            <a:ext cx="1593000" cy="565632"/>
          </a:xfrm>
          <a:prstGeom prst="roundRect">
            <a:avLst/>
          </a:prstGeom>
          <a:solidFill>
            <a:srgbClr val="E56E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Measured</a:t>
            </a:r>
          </a:p>
          <a:p>
            <a:pPr algn="ctr"/>
            <a:r>
              <a:rPr lang="en-US" sz="1400" dirty="0"/>
              <a:t>Service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6A94EE1-D4E2-243B-5521-7DCF7D276500}"/>
              </a:ext>
            </a:extLst>
          </p:cNvPr>
          <p:cNvSpPr/>
          <p:nvPr/>
        </p:nvSpPr>
        <p:spPr>
          <a:xfrm>
            <a:off x="7490790" y="3377477"/>
            <a:ext cx="1593000" cy="565632"/>
          </a:xfrm>
          <a:prstGeom prst="roundRect">
            <a:avLst/>
          </a:prstGeom>
          <a:solidFill>
            <a:srgbClr val="5EA8A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Broad </a:t>
            </a:r>
          </a:p>
          <a:p>
            <a:pPr algn="ctr"/>
            <a:r>
              <a:rPr lang="en-US" sz="1400" dirty="0"/>
              <a:t>Network Access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12FBB73-F0B2-D34D-EF6F-08CDDAB240BF}"/>
              </a:ext>
            </a:extLst>
          </p:cNvPr>
          <p:cNvSpPr/>
          <p:nvPr/>
        </p:nvSpPr>
        <p:spPr>
          <a:xfrm>
            <a:off x="3598230" y="4695666"/>
            <a:ext cx="1593000" cy="5656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Rapid </a:t>
            </a:r>
          </a:p>
          <a:p>
            <a:pPr algn="ctr"/>
            <a:r>
              <a:rPr lang="en-US" sz="1400" dirty="0"/>
              <a:t>Elasticity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C1A219E-13ED-8D92-AF9A-C996BF5DC3BB}"/>
              </a:ext>
            </a:extLst>
          </p:cNvPr>
          <p:cNvSpPr/>
          <p:nvPr/>
        </p:nvSpPr>
        <p:spPr>
          <a:xfrm>
            <a:off x="6953992" y="4771934"/>
            <a:ext cx="1593000" cy="565632"/>
          </a:xfrm>
          <a:prstGeom prst="roundRect">
            <a:avLst/>
          </a:pr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Resource </a:t>
            </a:r>
          </a:p>
          <a:p>
            <a:pPr algn="ctr"/>
            <a:r>
              <a:rPr lang="en-US" sz="1400" dirty="0"/>
              <a:t>Pooling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8D77305-9AD3-B6D6-CE0E-5031B00CEFB8}"/>
              </a:ext>
            </a:extLst>
          </p:cNvPr>
          <p:cNvSpPr/>
          <p:nvPr/>
        </p:nvSpPr>
        <p:spPr>
          <a:xfrm>
            <a:off x="5447476" y="3234147"/>
            <a:ext cx="1113311" cy="1115873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NIST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002A53B-2833-99CC-DD59-AB1E78454EBA}"/>
              </a:ext>
            </a:extLst>
          </p:cNvPr>
          <p:cNvCxnSpPr>
            <a:cxnSpLocks/>
            <a:stCxn id="21" idx="2"/>
            <a:endCxn id="17" idx="3"/>
          </p:cNvCxnSpPr>
          <p:nvPr/>
        </p:nvCxnSpPr>
        <p:spPr>
          <a:xfrm flipH="1" flipV="1">
            <a:off x="4517474" y="3516963"/>
            <a:ext cx="930002" cy="27512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9154081-B081-FF87-F529-FDA3818B29B4}"/>
              </a:ext>
            </a:extLst>
          </p:cNvPr>
          <p:cNvCxnSpPr>
            <a:cxnSpLocks/>
            <a:stCxn id="21" idx="3"/>
            <a:endCxn id="19" idx="0"/>
          </p:cNvCxnSpPr>
          <p:nvPr/>
        </p:nvCxnSpPr>
        <p:spPr>
          <a:xfrm flipH="1">
            <a:off x="4394730" y="4186604"/>
            <a:ext cx="1215787" cy="50906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5942ADC-AA4B-3E49-A4E9-F73A25739E65}"/>
              </a:ext>
            </a:extLst>
          </p:cNvPr>
          <p:cNvCxnSpPr>
            <a:cxnSpLocks/>
            <a:stCxn id="20" idx="0"/>
            <a:endCxn id="21" idx="5"/>
          </p:cNvCxnSpPr>
          <p:nvPr/>
        </p:nvCxnSpPr>
        <p:spPr>
          <a:xfrm flipH="1" flipV="1">
            <a:off x="6397746" y="4186604"/>
            <a:ext cx="1352746" cy="58533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B48345D-60C1-C656-EE99-EC49AE232AA4}"/>
              </a:ext>
            </a:extLst>
          </p:cNvPr>
          <p:cNvCxnSpPr>
            <a:cxnSpLocks/>
            <a:stCxn id="18" idx="1"/>
            <a:endCxn id="21" idx="6"/>
          </p:cNvCxnSpPr>
          <p:nvPr/>
        </p:nvCxnSpPr>
        <p:spPr>
          <a:xfrm flipH="1">
            <a:off x="6560787" y="3660293"/>
            <a:ext cx="930003" cy="13179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FFFE2E9-7621-5968-6916-11D163C3CE33}"/>
              </a:ext>
            </a:extLst>
          </p:cNvPr>
          <p:cNvCxnSpPr>
            <a:cxnSpLocks/>
            <a:stCxn id="21" idx="0"/>
            <a:endCxn id="16" idx="2"/>
          </p:cNvCxnSpPr>
          <p:nvPr/>
        </p:nvCxnSpPr>
        <p:spPr>
          <a:xfrm flipH="1" flipV="1">
            <a:off x="6004131" y="2786318"/>
            <a:ext cx="1" cy="44782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F7B3890-E026-7CEC-C9F3-BDB2F40A1023}"/>
              </a:ext>
            </a:extLst>
          </p:cNvPr>
          <p:cNvSpPr/>
          <p:nvPr/>
        </p:nvSpPr>
        <p:spPr>
          <a:xfrm>
            <a:off x="-1" y="797169"/>
            <a:ext cx="3640015" cy="123267"/>
          </a:xfrm>
          <a:prstGeom prst="rect">
            <a:avLst/>
          </a:prstGeom>
          <a:solidFill>
            <a:srgbClr val="FF4F00">
              <a:alpha val="29779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b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930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230"/>
    </mc:Choice>
    <mc:Fallback xmlns="">
      <p:transition spd="slow" advTm="332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build="p"/>
      <p:bldP spid="4" grpId="0" animBg="1"/>
      <p:bldP spid="7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54415-6BA2-0BF7-7C89-F2BEBB458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a very tall building with a lot of windows">
            <a:extLst>
              <a:ext uri="{FF2B5EF4-FFF2-40B4-BE49-F238E27FC236}">
                <a16:creationId xmlns:a16="http://schemas.microsoft.com/office/drawing/2014/main" id="{C75D2E36-3812-686A-3B04-7FBD80E4BB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8" b="7794"/>
          <a:stretch>
            <a:fillRect/>
          </a:stretch>
        </p:blipFill>
        <p:spPr bwMode="auto">
          <a:xfrm>
            <a:off x="0" y="0"/>
            <a:ext cx="1222187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A5E9239-C509-3AE1-6E72-1EC90C8C1A0F}"/>
              </a:ext>
            </a:extLst>
          </p:cNvPr>
          <p:cNvSpPr/>
          <p:nvPr/>
        </p:nvSpPr>
        <p:spPr>
          <a:xfrm>
            <a:off x="-29880" y="-31886"/>
            <a:ext cx="12251757" cy="6921770"/>
          </a:xfrm>
          <a:prstGeom prst="rect">
            <a:avLst/>
          </a:prstGeom>
          <a:solidFill>
            <a:srgbClr val="000000">
              <a:alpha val="6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572D7F-10BC-9397-A56C-7A6995B385B1}"/>
              </a:ext>
            </a:extLst>
          </p:cNvPr>
          <p:cNvSpPr/>
          <p:nvPr/>
        </p:nvSpPr>
        <p:spPr>
          <a:xfrm>
            <a:off x="691905" y="1291102"/>
            <a:ext cx="10838067" cy="707886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2F2F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43D7A-F1DE-04C1-6B25-AF5AF03C0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5586" y="1391964"/>
            <a:ext cx="10470703" cy="51007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B1 – Cost Efficiency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E2B088-E034-E699-EB06-451A5D463DD7}"/>
              </a:ext>
            </a:extLst>
          </p:cNvPr>
          <p:cNvSpPr/>
          <p:nvPr/>
        </p:nvSpPr>
        <p:spPr>
          <a:xfrm>
            <a:off x="2614245" y="2222865"/>
            <a:ext cx="3481753" cy="3180136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2F2F2"/>
              </a:solidFill>
            </a:endParaRPr>
          </a:p>
        </p:txBody>
      </p:sp>
      <p:pic>
        <p:nvPicPr>
          <p:cNvPr id="10" name="Picture 9" descr="Torrens University Australia research repository - Browse">
            <a:extLst>
              <a:ext uri="{FF2B5EF4-FFF2-40B4-BE49-F238E27FC236}">
                <a16:creationId xmlns:a16="http://schemas.microsoft.com/office/drawing/2014/main" id="{CAE1DF77-D45F-1F77-4480-183D647B8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0326" y="6179120"/>
            <a:ext cx="1384454" cy="74265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C3C0924-A90B-4DCC-E924-9BCC2859939A}"/>
              </a:ext>
            </a:extLst>
          </p:cNvPr>
          <p:cNvSpPr/>
          <p:nvPr/>
        </p:nvSpPr>
        <p:spPr>
          <a:xfrm>
            <a:off x="6096000" y="2217115"/>
            <a:ext cx="3481753" cy="3180136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2F2F2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0B17ED1-09E7-26E4-F458-1A069C5B4AAE}"/>
              </a:ext>
            </a:extLst>
          </p:cNvPr>
          <p:cNvSpPr/>
          <p:nvPr/>
        </p:nvSpPr>
        <p:spPr>
          <a:xfrm>
            <a:off x="6261237" y="2946392"/>
            <a:ext cx="3041216" cy="584117"/>
          </a:xfrm>
          <a:prstGeom prst="roundRect">
            <a:avLst/>
          </a:prstGeom>
          <a:gradFill flip="none" rotWithShape="1">
            <a:gsLst>
              <a:gs pos="0">
                <a:srgbClr val="2ECC71">
                  <a:tint val="66000"/>
                  <a:satMod val="160000"/>
                </a:srgbClr>
              </a:gs>
              <a:gs pos="50000">
                <a:srgbClr val="2ECC71">
                  <a:tint val="44500"/>
                  <a:satMod val="160000"/>
                </a:srgbClr>
              </a:gs>
              <a:gs pos="100000">
                <a:srgbClr val="2ECC71">
                  <a:tint val="23500"/>
                  <a:satMod val="160000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</a:rPr>
              <a:t>No upfront servers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CCA4657-71CF-E5D8-B46C-F1E90E3EADB9}"/>
              </a:ext>
            </a:extLst>
          </p:cNvPr>
          <p:cNvSpPr/>
          <p:nvPr/>
        </p:nvSpPr>
        <p:spPr>
          <a:xfrm>
            <a:off x="2889547" y="2946392"/>
            <a:ext cx="3041216" cy="584117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Large upfront hardware purchase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4A7653F-F6C5-242F-48E4-763A758D6270}"/>
              </a:ext>
            </a:extLst>
          </p:cNvPr>
          <p:cNvSpPr/>
          <p:nvPr/>
        </p:nvSpPr>
        <p:spPr>
          <a:xfrm>
            <a:off x="6261237" y="3674202"/>
            <a:ext cx="3041216" cy="584117"/>
          </a:xfrm>
          <a:prstGeom prst="roundRect">
            <a:avLst/>
          </a:prstGeom>
          <a:gradFill flip="none" rotWithShape="1">
            <a:gsLst>
              <a:gs pos="0">
                <a:srgbClr val="2ECC71">
                  <a:tint val="66000"/>
                  <a:satMod val="160000"/>
                </a:srgbClr>
              </a:gs>
              <a:gs pos="50000">
                <a:srgbClr val="2ECC71">
                  <a:tint val="44500"/>
                  <a:satMod val="160000"/>
                </a:srgbClr>
              </a:gs>
              <a:gs pos="100000">
                <a:srgbClr val="2ECC71">
                  <a:tint val="23500"/>
                  <a:satMod val="160000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</a:rPr>
              <a:t>Pay per compute hour + GB-month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4ABC3D0-144C-1DBA-8918-D8DB6C7349E0}"/>
              </a:ext>
            </a:extLst>
          </p:cNvPr>
          <p:cNvSpPr/>
          <p:nvPr/>
        </p:nvSpPr>
        <p:spPr>
          <a:xfrm>
            <a:off x="2889547" y="3649573"/>
            <a:ext cx="3041216" cy="584117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Idle capacity during low demand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71F7ED7-7568-F7C8-BE9E-DA4DB74BF2E1}"/>
              </a:ext>
            </a:extLst>
          </p:cNvPr>
          <p:cNvSpPr/>
          <p:nvPr/>
        </p:nvSpPr>
        <p:spPr>
          <a:xfrm>
            <a:off x="6261237" y="4377383"/>
            <a:ext cx="3041216" cy="584117"/>
          </a:xfrm>
          <a:prstGeom prst="roundRect">
            <a:avLst/>
          </a:prstGeom>
          <a:gradFill flip="none" rotWithShape="1">
            <a:gsLst>
              <a:gs pos="0">
                <a:srgbClr val="2ECC71">
                  <a:tint val="66000"/>
                  <a:satMod val="160000"/>
                </a:srgbClr>
              </a:gs>
              <a:gs pos="50000">
                <a:srgbClr val="2ECC71">
                  <a:tint val="44500"/>
                  <a:satMod val="160000"/>
                </a:srgbClr>
              </a:gs>
              <a:gs pos="100000">
                <a:srgbClr val="2ECC71">
                  <a:tint val="23500"/>
                  <a:satMod val="160000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</a:rPr>
              <a:t>Provider manages infrastructure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10364C9-EE0A-2CAC-D950-062A31734899}"/>
              </a:ext>
            </a:extLst>
          </p:cNvPr>
          <p:cNvSpPr/>
          <p:nvPr/>
        </p:nvSpPr>
        <p:spPr>
          <a:xfrm>
            <a:off x="2889547" y="4377383"/>
            <a:ext cx="3041216" cy="584117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Full ops team required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0F85846-1CCD-8802-AE41-428719852B0C}"/>
              </a:ext>
            </a:extLst>
          </p:cNvPr>
          <p:cNvSpPr/>
          <p:nvPr/>
        </p:nvSpPr>
        <p:spPr>
          <a:xfrm>
            <a:off x="6261237" y="5105193"/>
            <a:ext cx="3041216" cy="584117"/>
          </a:xfrm>
          <a:prstGeom prst="roundRect">
            <a:avLst/>
          </a:prstGeom>
          <a:gradFill flip="none" rotWithShape="1">
            <a:gsLst>
              <a:gs pos="0">
                <a:srgbClr val="2ECC71">
                  <a:tint val="66000"/>
                  <a:satMod val="160000"/>
                </a:srgbClr>
              </a:gs>
              <a:gs pos="50000">
                <a:srgbClr val="2ECC71">
                  <a:tint val="44500"/>
                  <a:satMod val="160000"/>
                </a:srgbClr>
              </a:gs>
              <a:gs pos="100000">
                <a:srgbClr val="2ECC71">
                  <a:tint val="23500"/>
                  <a:satMod val="160000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</a:rPr>
              <a:t>~80% reduction in start-up IT costs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67A2A0C-76D1-18E3-CFBB-8448A450DCA6}"/>
              </a:ext>
            </a:extLst>
          </p:cNvPr>
          <p:cNvSpPr/>
          <p:nvPr/>
        </p:nvSpPr>
        <p:spPr>
          <a:xfrm>
            <a:off x="2889547" y="5080564"/>
            <a:ext cx="3041216" cy="584117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Fixed costs regardless of usage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22EBE83-2F5F-9ADC-1EDE-6197438964ED}"/>
              </a:ext>
            </a:extLst>
          </p:cNvPr>
          <p:cNvSpPr txBox="1">
            <a:spLocks/>
          </p:cNvSpPr>
          <p:nvPr/>
        </p:nvSpPr>
        <p:spPr>
          <a:xfrm>
            <a:off x="2889546" y="2294501"/>
            <a:ext cx="3041217" cy="6634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Traditional IT (</a:t>
            </a:r>
            <a:r>
              <a:rPr lang="en-US" dirty="0" err="1">
                <a:solidFill>
                  <a:srgbClr val="FF0000"/>
                </a:solidFill>
              </a:rPr>
              <a:t>CapEx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85CADC3-9921-53AA-25A4-FA2F1480F576}"/>
              </a:ext>
            </a:extLst>
          </p:cNvPr>
          <p:cNvSpPr txBox="1">
            <a:spLocks/>
          </p:cNvSpPr>
          <p:nvPr/>
        </p:nvSpPr>
        <p:spPr>
          <a:xfrm>
            <a:off x="6261237" y="2282931"/>
            <a:ext cx="3041217" cy="6634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B050"/>
                </a:solidFill>
              </a:rPr>
              <a:t>Cloud – ABC (</a:t>
            </a:r>
            <a:r>
              <a:rPr lang="en-US" dirty="0" err="1">
                <a:solidFill>
                  <a:srgbClr val="00B050"/>
                </a:solidFill>
              </a:rPr>
              <a:t>OpEx</a:t>
            </a:r>
            <a:r>
              <a:rPr lang="en-US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8EC8E572-F921-A9E4-4C41-4386237B2D12}"/>
              </a:ext>
            </a:extLst>
          </p:cNvPr>
          <p:cNvSpPr/>
          <p:nvPr/>
        </p:nvSpPr>
        <p:spPr>
          <a:xfrm>
            <a:off x="5930763" y="2387600"/>
            <a:ext cx="330474" cy="3743745"/>
          </a:xfrm>
          <a:prstGeom prst="downArrow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085FAACC-EC9B-041C-82F2-6B20E6B157A2}"/>
              </a:ext>
            </a:extLst>
          </p:cNvPr>
          <p:cNvSpPr txBox="1">
            <a:spLocks/>
          </p:cNvSpPr>
          <p:nvPr/>
        </p:nvSpPr>
        <p:spPr>
          <a:xfrm>
            <a:off x="4590328" y="5888558"/>
            <a:ext cx="3041217" cy="6634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bg1"/>
                </a:solidFill>
              </a:rPr>
              <a:t>COST SHIFT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16198F-6EE6-0E01-625F-0FDAB59C808D}"/>
              </a:ext>
            </a:extLst>
          </p:cNvPr>
          <p:cNvSpPr/>
          <p:nvPr/>
        </p:nvSpPr>
        <p:spPr>
          <a:xfrm>
            <a:off x="-1" y="797169"/>
            <a:ext cx="3640015" cy="123267"/>
          </a:xfrm>
          <a:prstGeom prst="rect">
            <a:avLst/>
          </a:prstGeom>
          <a:solidFill>
            <a:srgbClr val="FF4F00">
              <a:alpha val="29779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57F231-9A57-B8BC-7093-1FBFD5A9712E}"/>
              </a:ext>
            </a:extLst>
          </p:cNvPr>
          <p:cNvSpPr txBox="1"/>
          <p:nvPr/>
        </p:nvSpPr>
        <p:spPr>
          <a:xfrm>
            <a:off x="446900" y="304632"/>
            <a:ext cx="85189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EE6F00"/>
                </a:solidFill>
              </a:rPr>
              <a:t>B</a:t>
            </a:r>
            <a:r>
              <a:rPr lang="en-US" sz="3200" b="1" dirty="0">
                <a:solidFill>
                  <a:schemeClr val="bg1"/>
                </a:solidFill>
              </a:rPr>
              <a:t>ENEFITS OF</a:t>
            </a:r>
            <a:r>
              <a:rPr lang="en-US" sz="4000" b="1" dirty="0">
                <a:solidFill>
                  <a:srgbClr val="EE6F00"/>
                </a:solidFill>
              </a:rPr>
              <a:t> C</a:t>
            </a:r>
            <a:r>
              <a:rPr lang="en-US" sz="3200" b="1" dirty="0">
                <a:solidFill>
                  <a:schemeClr val="bg1"/>
                </a:solidFill>
              </a:rPr>
              <a:t>LOUD </a:t>
            </a:r>
            <a:r>
              <a:rPr lang="en-US" sz="4000" b="1" dirty="0">
                <a:solidFill>
                  <a:srgbClr val="EE6F00"/>
                </a:solidFill>
              </a:rPr>
              <a:t>C</a:t>
            </a:r>
            <a:r>
              <a:rPr lang="en-US" sz="3200" b="1" dirty="0">
                <a:solidFill>
                  <a:schemeClr val="bg1"/>
                </a:solidFill>
              </a:rPr>
              <a:t>OMPUTING </a:t>
            </a:r>
            <a:endParaRPr lang="en-US" sz="1100" b="1" dirty="0">
              <a:solidFill>
                <a:schemeClr val="bg1"/>
              </a:solidFill>
              <a:cs typeface="Segoe U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0793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65"/>
    </mc:Choice>
    <mc:Fallback xmlns="">
      <p:transition spd="slow" advTm="207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7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build="allAtOnce"/>
      <p:bldP spid="21" grpId="0" build="allAtOnce"/>
      <p:bldP spid="25" grpId="0" animBg="1"/>
      <p:bldP spid="26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00742-99A4-EBDF-BC3B-954734321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a very tall building with a lot of windows">
            <a:extLst>
              <a:ext uri="{FF2B5EF4-FFF2-40B4-BE49-F238E27FC236}">
                <a16:creationId xmlns:a16="http://schemas.microsoft.com/office/drawing/2014/main" id="{FD06D3A4-DF20-D0B0-75E0-05B8C28ADC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8" b="7794"/>
          <a:stretch>
            <a:fillRect/>
          </a:stretch>
        </p:blipFill>
        <p:spPr bwMode="auto">
          <a:xfrm>
            <a:off x="0" y="0"/>
            <a:ext cx="1222187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5EE800B-364A-E6A6-CBEC-5F60009CD5F3}"/>
              </a:ext>
            </a:extLst>
          </p:cNvPr>
          <p:cNvSpPr/>
          <p:nvPr/>
        </p:nvSpPr>
        <p:spPr>
          <a:xfrm>
            <a:off x="-29880" y="-31886"/>
            <a:ext cx="12251757" cy="6921770"/>
          </a:xfrm>
          <a:prstGeom prst="rect">
            <a:avLst/>
          </a:prstGeom>
          <a:solidFill>
            <a:srgbClr val="000000">
              <a:alpha val="6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43565EA-C012-1927-FCC3-59C64F169470}"/>
              </a:ext>
            </a:extLst>
          </p:cNvPr>
          <p:cNvSpPr/>
          <p:nvPr/>
        </p:nvSpPr>
        <p:spPr>
          <a:xfrm>
            <a:off x="2939090" y="2709893"/>
            <a:ext cx="6283946" cy="3336924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2F2F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357329-9CBE-3862-AE74-463B755B9294}"/>
              </a:ext>
            </a:extLst>
          </p:cNvPr>
          <p:cNvSpPr/>
          <p:nvPr/>
        </p:nvSpPr>
        <p:spPr>
          <a:xfrm>
            <a:off x="691905" y="1291102"/>
            <a:ext cx="10838067" cy="707886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2F2F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51061-F1E6-2555-4394-8547AFFC0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5586" y="1391964"/>
            <a:ext cx="10470703" cy="51007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B2 &amp; B3 – Scale without Limit &amp; Less Overhead</a:t>
            </a:r>
          </a:p>
        </p:txBody>
      </p:sp>
      <p:pic>
        <p:nvPicPr>
          <p:cNvPr id="10" name="Picture 9" descr="Torrens University Australia research repository - Browse">
            <a:extLst>
              <a:ext uri="{FF2B5EF4-FFF2-40B4-BE49-F238E27FC236}">
                <a16:creationId xmlns:a16="http://schemas.microsoft.com/office/drawing/2014/main" id="{0CB96A1B-C78E-5B5E-BB6F-DDC245A93A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0326" y="6179120"/>
            <a:ext cx="1384454" cy="742651"/>
          </a:xfrm>
          <a:prstGeom prst="rect">
            <a:avLst/>
          </a:prstGeom>
        </p:spPr>
      </p:pic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7541D55-2E05-86FD-EED6-095E7EDEFE79}"/>
              </a:ext>
            </a:extLst>
          </p:cNvPr>
          <p:cNvSpPr txBox="1">
            <a:spLocks/>
          </p:cNvSpPr>
          <p:nvPr/>
        </p:nvSpPr>
        <p:spPr>
          <a:xfrm>
            <a:off x="3727942" y="5907920"/>
            <a:ext cx="1615600" cy="6634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bg1"/>
                </a:solidFill>
              </a:rPr>
              <a:t>Month 0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A0F579E-8A3F-02B7-DF0A-0C49535AE42C}"/>
              </a:ext>
            </a:extLst>
          </p:cNvPr>
          <p:cNvSpPr/>
          <p:nvPr/>
        </p:nvSpPr>
        <p:spPr>
          <a:xfrm>
            <a:off x="3727942" y="5241423"/>
            <a:ext cx="750375" cy="634611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Customer Demand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6677EA8-F03B-5993-6AE1-24F0EDB151F0}"/>
              </a:ext>
            </a:extLst>
          </p:cNvPr>
          <p:cNvSpPr/>
          <p:nvPr/>
        </p:nvSpPr>
        <p:spPr>
          <a:xfrm>
            <a:off x="4593167" y="5253662"/>
            <a:ext cx="750375" cy="634611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2ECC71">
                  <a:tint val="66000"/>
                  <a:satMod val="160000"/>
                </a:srgbClr>
              </a:gs>
              <a:gs pos="50000">
                <a:srgbClr val="2ECC71">
                  <a:tint val="44500"/>
                  <a:satMod val="160000"/>
                </a:srgbClr>
              </a:gs>
              <a:gs pos="100000">
                <a:srgbClr val="2ECC71">
                  <a:tint val="23500"/>
                  <a:satMod val="160000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</a:rPr>
              <a:t>Infra Capacity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FDFFC7E-1208-57A0-7C13-BB986A6BEB2C}"/>
              </a:ext>
            </a:extLst>
          </p:cNvPr>
          <p:cNvSpPr/>
          <p:nvPr/>
        </p:nvSpPr>
        <p:spPr>
          <a:xfrm>
            <a:off x="6121840" y="3050310"/>
            <a:ext cx="750375" cy="2825724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Demand</a:t>
            </a:r>
          </a:p>
          <a:p>
            <a:pPr algn="ctr"/>
            <a:r>
              <a:rPr lang="en-US" sz="1050" b="1" i="1" dirty="0">
                <a:solidFill>
                  <a:schemeClr val="tx1"/>
                </a:solidFill>
              </a:rPr>
              <a:t>ELB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4DA6DD4-078C-5E47-2F18-9FC6C4471A32}"/>
              </a:ext>
            </a:extLst>
          </p:cNvPr>
          <p:cNvSpPr/>
          <p:nvPr/>
        </p:nvSpPr>
        <p:spPr>
          <a:xfrm>
            <a:off x="6987065" y="3041624"/>
            <a:ext cx="750375" cy="284664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2ECC71">
                  <a:tint val="66000"/>
                  <a:satMod val="160000"/>
                </a:srgbClr>
              </a:gs>
              <a:gs pos="50000">
                <a:srgbClr val="2ECC71">
                  <a:tint val="44500"/>
                  <a:satMod val="160000"/>
                </a:srgbClr>
              </a:gs>
              <a:gs pos="100000">
                <a:srgbClr val="2ECC71">
                  <a:tint val="23500"/>
                  <a:satMod val="160000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</a:rPr>
              <a:t>Capacity</a:t>
            </a:r>
          </a:p>
          <a:p>
            <a:pPr algn="ctr"/>
            <a:r>
              <a:rPr lang="en-US" sz="1050" b="1" i="1" dirty="0">
                <a:solidFill>
                  <a:sysClr val="windowText" lastClr="000000"/>
                </a:solidFill>
              </a:rPr>
              <a:t>EC2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8C5E852-8911-F06B-8CFD-FCE8020CA14B}"/>
              </a:ext>
            </a:extLst>
          </p:cNvPr>
          <p:cNvGrpSpPr/>
          <p:nvPr/>
        </p:nvGrpSpPr>
        <p:grpSpPr>
          <a:xfrm>
            <a:off x="3824967" y="3375878"/>
            <a:ext cx="1762836" cy="413642"/>
            <a:chOff x="2878011" y="2294501"/>
            <a:chExt cx="1916734" cy="413642"/>
          </a:xfrm>
        </p:grpSpPr>
        <p:sp>
          <p:nvSpPr>
            <p:cNvPr id="30" name="Content Placeholder 2">
              <a:extLst>
                <a:ext uri="{FF2B5EF4-FFF2-40B4-BE49-F238E27FC236}">
                  <a16:creationId xmlns:a16="http://schemas.microsoft.com/office/drawing/2014/main" id="{C2B9EE2B-1BC7-445B-7EE5-E105AFBE25F1}"/>
                </a:ext>
              </a:extLst>
            </p:cNvPr>
            <p:cNvSpPr txBox="1">
              <a:spLocks/>
            </p:cNvSpPr>
            <p:nvPr/>
          </p:nvSpPr>
          <p:spPr>
            <a:xfrm>
              <a:off x="2889546" y="2294501"/>
              <a:ext cx="1905199" cy="2015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200" dirty="0">
                  <a:solidFill>
                    <a:schemeClr val="bg1"/>
                  </a:solidFill>
                </a:rPr>
                <a:t>10x surge</a:t>
              </a:r>
            </a:p>
          </p:txBody>
        </p:sp>
        <p:sp>
          <p:nvSpPr>
            <p:cNvPr id="31" name="Content Placeholder 2">
              <a:extLst>
                <a:ext uri="{FF2B5EF4-FFF2-40B4-BE49-F238E27FC236}">
                  <a16:creationId xmlns:a16="http://schemas.microsoft.com/office/drawing/2014/main" id="{BF48CC15-9120-32A3-4D42-27684A70FD16}"/>
                </a:ext>
              </a:extLst>
            </p:cNvPr>
            <p:cNvSpPr txBox="1">
              <a:spLocks/>
            </p:cNvSpPr>
            <p:nvPr/>
          </p:nvSpPr>
          <p:spPr>
            <a:xfrm>
              <a:off x="2878011" y="2506544"/>
              <a:ext cx="1905199" cy="2015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000" dirty="0">
                  <a:solidFill>
                    <a:schemeClr val="bg1"/>
                  </a:solidFill>
                </a:rPr>
                <a:t>No manual intervention</a:t>
              </a:r>
            </a:p>
          </p:txBody>
        </p:sp>
      </p:grp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A43818D3-C351-2113-869B-89394038FF68}"/>
              </a:ext>
            </a:extLst>
          </p:cNvPr>
          <p:cNvSpPr txBox="1">
            <a:spLocks/>
          </p:cNvSpPr>
          <p:nvPr/>
        </p:nvSpPr>
        <p:spPr>
          <a:xfrm>
            <a:off x="2968964" y="2177093"/>
            <a:ext cx="6283946" cy="532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dirty="0">
                <a:solidFill>
                  <a:schemeClr val="bg1"/>
                </a:solidFill>
              </a:rPr>
              <a:t>Rapid Elasticity: ABC’s 10x Growth absorbed by Auto Scaling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D93E2243-0F8A-EBDD-17D5-05CF2A9FFBCF}"/>
              </a:ext>
            </a:extLst>
          </p:cNvPr>
          <p:cNvSpPr txBox="1">
            <a:spLocks/>
          </p:cNvSpPr>
          <p:nvPr/>
        </p:nvSpPr>
        <p:spPr>
          <a:xfrm>
            <a:off x="6121840" y="5898718"/>
            <a:ext cx="1615599" cy="6634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bg1"/>
                </a:solidFill>
              </a:rPr>
              <a:t>Month 1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7483E65-2862-3DED-626D-AA56889524BB}"/>
              </a:ext>
            </a:extLst>
          </p:cNvPr>
          <p:cNvCxnSpPr>
            <a:cxnSpLocks/>
          </p:cNvCxnSpPr>
          <p:nvPr/>
        </p:nvCxnSpPr>
        <p:spPr>
          <a:xfrm flipV="1">
            <a:off x="5285916" y="3148149"/>
            <a:ext cx="579121" cy="398943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46784F7-E512-915F-8355-639252A1FE14}"/>
              </a:ext>
            </a:extLst>
          </p:cNvPr>
          <p:cNvSpPr txBox="1">
            <a:spLocks/>
          </p:cNvSpPr>
          <p:nvPr/>
        </p:nvSpPr>
        <p:spPr>
          <a:xfrm>
            <a:off x="8048671" y="2872440"/>
            <a:ext cx="1752227" cy="2015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100" dirty="0">
                <a:solidFill>
                  <a:schemeClr val="bg1"/>
                </a:solidFill>
              </a:rPr>
              <a:t>Auto scaled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B9F73EE-1872-7D59-E491-C203A9212BA5}"/>
              </a:ext>
            </a:extLst>
          </p:cNvPr>
          <p:cNvCxnSpPr/>
          <p:nvPr/>
        </p:nvCxnSpPr>
        <p:spPr>
          <a:xfrm>
            <a:off x="5905048" y="3018423"/>
            <a:ext cx="2019960" cy="0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51BF120-8161-27F3-C188-50FD984C1ECD}"/>
              </a:ext>
            </a:extLst>
          </p:cNvPr>
          <p:cNvCxnSpPr>
            <a:cxnSpLocks/>
          </p:cNvCxnSpPr>
          <p:nvPr/>
        </p:nvCxnSpPr>
        <p:spPr>
          <a:xfrm flipV="1">
            <a:off x="3027579" y="2872440"/>
            <a:ext cx="0" cy="3035480"/>
          </a:xfrm>
          <a:prstGeom prst="line">
            <a:avLst/>
          </a:prstGeom>
          <a:ln w="9525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CD4DBBF-0DD8-2262-2559-2ADB7BE4CD18}"/>
              </a:ext>
            </a:extLst>
          </p:cNvPr>
          <p:cNvCxnSpPr>
            <a:cxnSpLocks/>
          </p:cNvCxnSpPr>
          <p:nvPr/>
        </p:nvCxnSpPr>
        <p:spPr>
          <a:xfrm>
            <a:off x="3027823" y="5907920"/>
            <a:ext cx="5119959" cy="0"/>
          </a:xfrm>
          <a:prstGeom prst="line">
            <a:avLst/>
          </a:prstGeom>
          <a:ln w="9525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0773021-FC74-E190-19CF-EBA17CC16D7F}"/>
              </a:ext>
            </a:extLst>
          </p:cNvPr>
          <p:cNvSpPr/>
          <p:nvPr/>
        </p:nvSpPr>
        <p:spPr>
          <a:xfrm>
            <a:off x="-1" y="797169"/>
            <a:ext cx="3640015" cy="123267"/>
          </a:xfrm>
          <a:prstGeom prst="rect">
            <a:avLst/>
          </a:prstGeom>
          <a:solidFill>
            <a:srgbClr val="FF4F00">
              <a:alpha val="29779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544DA8-62D4-050C-8842-AABCF90961AD}"/>
              </a:ext>
            </a:extLst>
          </p:cNvPr>
          <p:cNvSpPr txBox="1"/>
          <p:nvPr/>
        </p:nvSpPr>
        <p:spPr>
          <a:xfrm>
            <a:off x="446900" y="304632"/>
            <a:ext cx="85189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EE6F00"/>
                </a:solidFill>
              </a:rPr>
              <a:t>B</a:t>
            </a:r>
            <a:r>
              <a:rPr lang="en-US" sz="3200" b="1" dirty="0">
                <a:solidFill>
                  <a:schemeClr val="bg1"/>
                </a:solidFill>
              </a:rPr>
              <a:t>ENEFITS OF</a:t>
            </a:r>
            <a:r>
              <a:rPr lang="en-US" sz="4000" b="1" dirty="0">
                <a:solidFill>
                  <a:srgbClr val="EE6F00"/>
                </a:solidFill>
              </a:rPr>
              <a:t> C</a:t>
            </a:r>
            <a:r>
              <a:rPr lang="en-US" sz="3200" b="1" dirty="0">
                <a:solidFill>
                  <a:schemeClr val="bg1"/>
                </a:solidFill>
              </a:rPr>
              <a:t>LOUD </a:t>
            </a:r>
            <a:r>
              <a:rPr lang="en-US" sz="4000" b="1" dirty="0">
                <a:solidFill>
                  <a:srgbClr val="EE6F00"/>
                </a:solidFill>
              </a:rPr>
              <a:t>C</a:t>
            </a:r>
            <a:r>
              <a:rPr lang="en-US" sz="3200" b="1" dirty="0">
                <a:solidFill>
                  <a:schemeClr val="bg1"/>
                </a:solidFill>
              </a:rPr>
              <a:t>OMPUTING </a:t>
            </a:r>
            <a:endParaRPr lang="en-US" sz="1100" b="1" dirty="0">
              <a:solidFill>
                <a:schemeClr val="bg1"/>
              </a:solidFill>
              <a:cs typeface="Segoe U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00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396"/>
    </mc:Choice>
    <mc:Fallback xmlns="">
      <p:transition spd="slow" advTm="413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6" grpId="0" build="allAtOnce"/>
      <p:bldP spid="24" grpId="0" animBg="1"/>
      <p:bldP spid="27" grpId="0" animBg="1"/>
      <p:bldP spid="28" grpId="0" animBg="1"/>
      <p:bldP spid="29" grpId="0" animBg="1"/>
      <p:bldP spid="33" grpId="0"/>
      <p:bldP spid="34" grpId="0" build="allAtOnce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153C3-C432-E078-77BD-3881AD9B9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a very tall building with a lot of windows">
            <a:extLst>
              <a:ext uri="{FF2B5EF4-FFF2-40B4-BE49-F238E27FC236}">
                <a16:creationId xmlns:a16="http://schemas.microsoft.com/office/drawing/2014/main" id="{26B14DE8-5407-7BC1-124F-2B7BC58D39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8" b="7794"/>
          <a:stretch>
            <a:fillRect/>
          </a:stretch>
        </p:blipFill>
        <p:spPr bwMode="auto">
          <a:xfrm>
            <a:off x="0" y="0"/>
            <a:ext cx="1222187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7283AA8-3C2E-E75D-65B6-4D0BB97D6CEB}"/>
              </a:ext>
            </a:extLst>
          </p:cNvPr>
          <p:cNvSpPr/>
          <p:nvPr/>
        </p:nvSpPr>
        <p:spPr>
          <a:xfrm>
            <a:off x="-1" y="1"/>
            <a:ext cx="12196894" cy="6921770"/>
          </a:xfrm>
          <a:prstGeom prst="rect">
            <a:avLst/>
          </a:prstGeom>
          <a:solidFill>
            <a:srgbClr val="000000">
              <a:alpha val="6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i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0F3B46-D3B0-373F-C866-3FD35AA7F24B}"/>
              </a:ext>
            </a:extLst>
          </p:cNvPr>
          <p:cNvSpPr/>
          <p:nvPr/>
        </p:nvSpPr>
        <p:spPr>
          <a:xfrm>
            <a:off x="676967" y="1940610"/>
            <a:ext cx="3297156" cy="1105275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>
              <a:solidFill>
                <a:srgbClr val="F2F2F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0E601-A765-38DD-3D4F-F17427CCD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5879" y="1964935"/>
            <a:ext cx="2930185" cy="108095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</a:rPr>
              <a:t>Security &amp; Privacy</a:t>
            </a:r>
          </a:p>
        </p:txBody>
      </p:sp>
      <p:pic>
        <p:nvPicPr>
          <p:cNvPr id="10" name="Picture 9" descr="Torrens University Australia research repository - Browse">
            <a:extLst>
              <a:ext uri="{FF2B5EF4-FFF2-40B4-BE49-F238E27FC236}">
                <a16:creationId xmlns:a16="http://schemas.microsoft.com/office/drawing/2014/main" id="{D148D16E-6D44-4385-8CA5-51B2FE6A31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0326" y="6179120"/>
            <a:ext cx="1384454" cy="74265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8D75219-8890-2C9D-970E-1CFFB869FA80}"/>
              </a:ext>
            </a:extLst>
          </p:cNvPr>
          <p:cNvSpPr/>
          <p:nvPr/>
        </p:nvSpPr>
        <p:spPr>
          <a:xfrm>
            <a:off x="4173035" y="1940610"/>
            <a:ext cx="3297156" cy="1105275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2F2F2"/>
              </a:solidFill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A61B0D7-B0F8-E245-905B-194788E6410F}"/>
              </a:ext>
            </a:extLst>
          </p:cNvPr>
          <p:cNvSpPr txBox="1">
            <a:spLocks/>
          </p:cNvSpPr>
          <p:nvPr/>
        </p:nvSpPr>
        <p:spPr>
          <a:xfrm>
            <a:off x="4371947" y="1964935"/>
            <a:ext cx="2930185" cy="10809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bg1"/>
                </a:solidFill>
              </a:rPr>
              <a:t>PII + payment data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1471F0-342E-2B28-2D44-096CDADB38E3}"/>
              </a:ext>
            </a:extLst>
          </p:cNvPr>
          <p:cNvSpPr/>
          <p:nvPr/>
        </p:nvSpPr>
        <p:spPr>
          <a:xfrm>
            <a:off x="7669103" y="1916286"/>
            <a:ext cx="3297156" cy="1105275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2F2F2"/>
              </a:solidFill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EF3B18D0-4002-E10A-5178-AB9C92D217BC}"/>
              </a:ext>
            </a:extLst>
          </p:cNvPr>
          <p:cNvSpPr txBox="1">
            <a:spLocks/>
          </p:cNvSpPr>
          <p:nvPr/>
        </p:nvSpPr>
        <p:spPr>
          <a:xfrm>
            <a:off x="7868015" y="1940611"/>
            <a:ext cx="2930185" cy="10809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bg1"/>
                </a:solidFill>
              </a:rPr>
              <a:t>IAM least-privilege, MFA, encryption, shared responsibility model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177174-A44E-523E-4191-0BB08A7D5762}"/>
              </a:ext>
            </a:extLst>
          </p:cNvPr>
          <p:cNvSpPr/>
          <p:nvPr/>
        </p:nvSpPr>
        <p:spPr>
          <a:xfrm>
            <a:off x="676967" y="3376237"/>
            <a:ext cx="3297156" cy="1105275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>
              <a:solidFill>
                <a:srgbClr val="F2F2F2"/>
              </a:solidFill>
            </a:endParaRP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2DBCFB3-E6AA-E235-D0BC-A52C9CE427D9}"/>
              </a:ext>
            </a:extLst>
          </p:cNvPr>
          <p:cNvSpPr txBox="1">
            <a:spLocks/>
          </p:cNvSpPr>
          <p:nvPr/>
        </p:nvSpPr>
        <p:spPr>
          <a:xfrm>
            <a:off x="875879" y="3400562"/>
            <a:ext cx="2930185" cy="10809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bg1"/>
                </a:solidFill>
              </a:rPr>
              <a:t>Cost Volatility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A4136E3-101E-3250-04FE-2891909F91E7}"/>
              </a:ext>
            </a:extLst>
          </p:cNvPr>
          <p:cNvSpPr/>
          <p:nvPr/>
        </p:nvSpPr>
        <p:spPr>
          <a:xfrm>
            <a:off x="4173035" y="3376237"/>
            <a:ext cx="3297156" cy="1105275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2F2F2"/>
              </a:solidFill>
            </a:endParaRP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6BE430DB-A1E2-E026-E472-5A344A4EB9B2}"/>
              </a:ext>
            </a:extLst>
          </p:cNvPr>
          <p:cNvSpPr txBox="1">
            <a:spLocks/>
          </p:cNvSpPr>
          <p:nvPr/>
        </p:nvSpPr>
        <p:spPr>
          <a:xfrm>
            <a:off x="4371947" y="3400562"/>
            <a:ext cx="2930185" cy="10809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bg1"/>
                </a:solidFill>
              </a:rPr>
              <a:t>Pay-as-you-go can spiral without guardrails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9EC1BDB-4040-482B-E28D-37EEF7224DBA}"/>
              </a:ext>
            </a:extLst>
          </p:cNvPr>
          <p:cNvSpPr/>
          <p:nvPr/>
        </p:nvSpPr>
        <p:spPr>
          <a:xfrm>
            <a:off x="7669103" y="3351913"/>
            <a:ext cx="3297156" cy="1105275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2F2F2"/>
              </a:solidFill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58A05710-1D4A-943D-5FA6-B3BF455B4198}"/>
              </a:ext>
            </a:extLst>
          </p:cNvPr>
          <p:cNvSpPr txBox="1">
            <a:spLocks/>
          </p:cNvSpPr>
          <p:nvPr/>
        </p:nvSpPr>
        <p:spPr>
          <a:xfrm>
            <a:off x="7868015" y="3376238"/>
            <a:ext cx="2930185" cy="10809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FinOps: budget alerts, resource tagging, rightsizing, reserved pricing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141A74E-208E-A650-9B0B-54D1149A683D}"/>
              </a:ext>
            </a:extLst>
          </p:cNvPr>
          <p:cNvSpPr/>
          <p:nvPr/>
        </p:nvSpPr>
        <p:spPr>
          <a:xfrm>
            <a:off x="676967" y="4811863"/>
            <a:ext cx="3297156" cy="1105275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>
              <a:solidFill>
                <a:srgbClr val="F2F2F2"/>
              </a:solidFill>
            </a:endParaRP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A44638D1-6079-55B1-ABA2-E99BC8BAE5C8}"/>
              </a:ext>
            </a:extLst>
          </p:cNvPr>
          <p:cNvSpPr txBox="1">
            <a:spLocks/>
          </p:cNvSpPr>
          <p:nvPr/>
        </p:nvSpPr>
        <p:spPr>
          <a:xfrm>
            <a:off x="875879" y="4836188"/>
            <a:ext cx="2930185" cy="10809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bg1"/>
                </a:solidFill>
              </a:rPr>
              <a:t>Vendor Lock-in + Skills Gap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DB5A6F4-8C74-3601-AAB7-E7A96FF10EA3}"/>
              </a:ext>
            </a:extLst>
          </p:cNvPr>
          <p:cNvSpPr/>
          <p:nvPr/>
        </p:nvSpPr>
        <p:spPr>
          <a:xfrm>
            <a:off x="4173035" y="4811863"/>
            <a:ext cx="3297156" cy="1105275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2F2F2"/>
              </a:solidFill>
            </a:endParaRP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A221C553-0B4A-92B1-4C22-981099A748E8}"/>
              </a:ext>
            </a:extLst>
          </p:cNvPr>
          <p:cNvSpPr txBox="1">
            <a:spLocks/>
          </p:cNvSpPr>
          <p:nvPr/>
        </p:nvSpPr>
        <p:spPr>
          <a:xfrm>
            <a:off x="4371947" y="4836188"/>
            <a:ext cx="2930185" cy="10809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Migration cost + mindset shift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1ECDA51-6604-9BD7-D656-1D9496322624}"/>
              </a:ext>
            </a:extLst>
          </p:cNvPr>
          <p:cNvSpPr/>
          <p:nvPr/>
        </p:nvSpPr>
        <p:spPr>
          <a:xfrm>
            <a:off x="7669103" y="4787539"/>
            <a:ext cx="3297156" cy="1105275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2F2F2"/>
              </a:solidFill>
            </a:endParaRP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9E9E7162-7307-7617-32F4-2D0678488A42}"/>
              </a:ext>
            </a:extLst>
          </p:cNvPr>
          <p:cNvSpPr txBox="1">
            <a:spLocks/>
          </p:cNvSpPr>
          <p:nvPr/>
        </p:nvSpPr>
        <p:spPr>
          <a:xfrm>
            <a:off x="7868015" y="4811864"/>
            <a:ext cx="2930185" cy="10809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Portability-first (containers, standard DBs), targeted cloud upskilling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1470CE84-B790-F6D6-EDA6-6607EB28A57A}"/>
              </a:ext>
            </a:extLst>
          </p:cNvPr>
          <p:cNvSpPr txBox="1">
            <a:spLocks/>
          </p:cNvSpPr>
          <p:nvPr/>
        </p:nvSpPr>
        <p:spPr>
          <a:xfrm>
            <a:off x="676966" y="1302853"/>
            <a:ext cx="3297156" cy="6634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i="1" dirty="0">
                <a:solidFill>
                  <a:srgbClr val="FF0000"/>
                </a:solidFill>
              </a:rPr>
              <a:t>Challenge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D5565DA7-80EC-2615-DA0A-26D628A3AACF}"/>
              </a:ext>
            </a:extLst>
          </p:cNvPr>
          <p:cNvSpPr txBox="1">
            <a:spLocks/>
          </p:cNvSpPr>
          <p:nvPr/>
        </p:nvSpPr>
        <p:spPr>
          <a:xfrm>
            <a:off x="7681596" y="1301308"/>
            <a:ext cx="3297156" cy="6634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i="1" dirty="0">
                <a:solidFill>
                  <a:srgbClr val="00B050"/>
                </a:solidFill>
              </a:rPr>
              <a:t>Mitigation</a:t>
            </a: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B74B2A40-068F-28B3-AAD0-8322AD1130E8}"/>
              </a:ext>
            </a:extLst>
          </p:cNvPr>
          <p:cNvSpPr txBox="1">
            <a:spLocks/>
          </p:cNvSpPr>
          <p:nvPr/>
        </p:nvSpPr>
        <p:spPr>
          <a:xfrm>
            <a:off x="4166788" y="1252825"/>
            <a:ext cx="3297156" cy="6634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DF649D-5337-A913-1121-90877E4E6EDD}"/>
              </a:ext>
            </a:extLst>
          </p:cNvPr>
          <p:cNvSpPr/>
          <p:nvPr/>
        </p:nvSpPr>
        <p:spPr>
          <a:xfrm>
            <a:off x="-1" y="797169"/>
            <a:ext cx="3640015" cy="123267"/>
          </a:xfrm>
          <a:prstGeom prst="rect">
            <a:avLst/>
          </a:prstGeom>
          <a:solidFill>
            <a:srgbClr val="FF4F00">
              <a:alpha val="29779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DD3640-0A2F-EBD1-912D-A5DF5026F661}"/>
              </a:ext>
            </a:extLst>
          </p:cNvPr>
          <p:cNvSpPr txBox="1"/>
          <p:nvPr/>
        </p:nvSpPr>
        <p:spPr>
          <a:xfrm>
            <a:off x="446900" y="304632"/>
            <a:ext cx="85189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EE6F00"/>
                </a:solidFill>
              </a:rPr>
              <a:t>C</a:t>
            </a:r>
            <a:r>
              <a:rPr lang="en-US" sz="3200" b="1" dirty="0">
                <a:solidFill>
                  <a:schemeClr val="bg1"/>
                </a:solidFill>
              </a:rPr>
              <a:t>HALLENGES OF</a:t>
            </a:r>
            <a:r>
              <a:rPr lang="en-US" sz="4000" b="1" dirty="0">
                <a:solidFill>
                  <a:srgbClr val="EE6F00"/>
                </a:solidFill>
              </a:rPr>
              <a:t> C</a:t>
            </a:r>
            <a:r>
              <a:rPr lang="en-US" sz="3200" b="1" dirty="0">
                <a:solidFill>
                  <a:schemeClr val="bg1"/>
                </a:solidFill>
              </a:rPr>
              <a:t>LOUD </a:t>
            </a:r>
            <a:r>
              <a:rPr lang="en-US" sz="4000" b="1" dirty="0">
                <a:solidFill>
                  <a:srgbClr val="EE6F00"/>
                </a:solidFill>
              </a:rPr>
              <a:t>M</a:t>
            </a:r>
            <a:r>
              <a:rPr lang="en-US" sz="3200" b="1" dirty="0">
                <a:solidFill>
                  <a:schemeClr val="bg1"/>
                </a:solidFill>
              </a:rPr>
              <a:t>IGRATION</a:t>
            </a:r>
            <a:endParaRPr lang="en-US" sz="1100" b="1" dirty="0">
              <a:solidFill>
                <a:schemeClr val="bg1"/>
              </a:solidFill>
              <a:cs typeface="Segoe U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229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235"/>
    </mc:Choice>
    <mc:Fallback xmlns="">
      <p:transition spd="slow" advTm="352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build="p"/>
      <p:bldP spid="21" grpId="0" animBg="1"/>
      <p:bldP spid="22" grpId="0" build="allAtOnce"/>
      <p:bldP spid="24" grpId="0" animBg="1"/>
      <p:bldP spid="25" grpId="0" build="allAtOnce"/>
      <p:bldP spid="32" grpId="0" animBg="1"/>
      <p:bldP spid="33" grpId="0" build="allAtOnce"/>
      <p:bldP spid="34" grpId="0" animBg="1"/>
      <p:bldP spid="35" grpId="0" build="allAtOnce"/>
      <p:bldP spid="36" grpId="0" animBg="1"/>
      <p:bldP spid="37" grpId="0" build="allAtOnce"/>
      <p:bldP spid="38" grpId="0" animBg="1"/>
      <p:bldP spid="39" grpId="0" build="allAtOnce"/>
      <p:bldP spid="40" grpId="0" animBg="1"/>
      <p:bldP spid="41" grpId="0" build="allAtOnce"/>
      <p:bldP spid="42" grpId="0" animBg="1"/>
      <p:bldP spid="43" grpId="0" build="allAtOnce"/>
      <p:bldP spid="44" grpId="0" build="allAtOnce"/>
      <p:bldP spid="46" grpId="0" build="allAtOnce"/>
      <p:bldP spid="49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8E6EC-897F-C090-5092-566DC771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a very tall building with a lot of windows">
            <a:extLst>
              <a:ext uri="{FF2B5EF4-FFF2-40B4-BE49-F238E27FC236}">
                <a16:creationId xmlns:a16="http://schemas.microsoft.com/office/drawing/2014/main" id="{C1AE9E07-7A1C-7463-BCB4-1644D1D32C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8" b="7794"/>
          <a:stretch>
            <a:fillRect/>
          </a:stretch>
        </p:blipFill>
        <p:spPr bwMode="auto">
          <a:xfrm>
            <a:off x="0" y="0"/>
            <a:ext cx="1222187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959EA94-4028-F824-D19A-B6023B156945}"/>
              </a:ext>
            </a:extLst>
          </p:cNvPr>
          <p:cNvSpPr/>
          <p:nvPr/>
        </p:nvSpPr>
        <p:spPr>
          <a:xfrm>
            <a:off x="-1" y="1"/>
            <a:ext cx="12196894" cy="6921770"/>
          </a:xfrm>
          <a:prstGeom prst="rect">
            <a:avLst/>
          </a:prstGeom>
          <a:solidFill>
            <a:srgbClr val="000000">
              <a:alpha val="6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1013E8-31D3-D0C4-C974-23285C3D84B7}"/>
              </a:ext>
            </a:extLst>
          </p:cNvPr>
          <p:cNvSpPr/>
          <p:nvPr/>
        </p:nvSpPr>
        <p:spPr>
          <a:xfrm>
            <a:off x="1447800" y="2098431"/>
            <a:ext cx="9296400" cy="1330569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solidFill>
                <a:srgbClr val="F2F2F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BDEE8-47F8-ECA7-3E6C-AA6156D9C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0648" y="1601471"/>
            <a:ext cx="10470703" cy="388552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Cloud Service Models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68E598-F0BF-8902-8288-5BB3E194A996}"/>
              </a:ext>
            </a:extLst>
          </p:cNvPr>
          <p:cNvSpPr/>
          <p:nvPr/>
        </p:nvSpPr>
        <p:spPr>
          <a:xfrm>
            <a:off x="1447800" y="4567943"/>
            <a:ext cx="9296400" cy="1330569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2F2F2"/>
              </a:solidFill>
            </a:endParaRPr>
          </a:p>
        </p:txBody>
      </p:sp>
      <p:pic>
        <p:nvPicPr>
          <p:cNvPr id="12" name="Picture 11" descr="Torrens University Australia research repository - Browse">
            <a:extLst>
              <a:ext uri="{FF2B5EF4-FFF2-40B4-BE49-F238E27FC236}">
                <a16:creationId xmlns:a16="http://schemas.microsoft.com/office/drawing/2014/main" id="{032041D2-D9E9-C3AB-3043-11A451A44C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0326" y="6179120"/>
            <a:ext cx="1384454" cy="742651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9EC9919-7E45-41EF-BCD8-B893A5C7EBAA}"/>
              </a:ext>
            </a:extLst>
          </p:cNvPr>
          <p:cNvSpPr/>
          <p:nvPr/>
        </p:nvSpPr>
        <p:spPr>
          <a:xfrm>
            <a:off x="4732715" y="2341547"/>
            <a:ext cx="2695816" cy="901063"/>
          </a:xfrm>
          <a:prstGeom prst="roundRect">
            <a:avLst/>
          </a:prstGeom>
          <a:gradFill flip="none" rotWithShape="1">
            <a:gsLst>
              <a:gs pos="0">
                <a:srgbClr val="2ECC71">
                  <a:tint val="66000"/>
                  <a:satMod val="160000"/>
                </a:srgbClr>
              </a:gs>
              <a:gs pos="50000">
                <a:srgbClr val="2ECC71">
                  <a:tint val="44500"/>
                  <a:satMod val="160000"/>
                </a:srgbClr>
              </a:gs>
              <a:gs pos="100000">
                <a:srgbClr val="2ECC71">
                  <a:tint val="23500"/>
                  <a:satMod val="160000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ysClr val="windowText" lastClr="000000"/>
                </a:solidFill>
              </a:rPr>
              <a:t>PaaS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Managed DB, load balancing, serverless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6A15FA3-EE06-E6CE-D7BD-49A15937CE7C}"/>
              </a:ext>
            </a:extLst>
          </p:cNvPr>
          <p:cNvSpPr/>
          <p:nvPr/>
        </p:nvSpPr>
        <p:spPr>
          <a:xfrm>
            <a:off x="7768992" y="2341546"/>
            <a:ext cx="2695816" cy="901063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  <a:shade val="30000"/>
                  <a:satMod val="115000"/>
                </a:schemeClr>
              </a:gs>
              <a:gs pos="50000">
                <a:schemeClr val="tx1">
                  <a:lumMod val="50000"/>
                  <a:lumOff val="50000"/>
                  <a:shade val="67500"/>
                  <a:satMod val="115000"/>
                </a:schemeClr>
              </a:gs>
              <a:gs pos="100000">
                <a:schemeClr val="tx1">
                  <a:lumMod val="50000"/>
                  <a:lumOff val="5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ysClr val="windowText" lastClr="000000"/>
                </a:solidFill>
              </a:rPr>
              <a:t>SaaS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Limited customization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A77A036-3CA1-9549-B919-9658F4768ECA}"/>
              </a:ext>
            </a:extLst>
          </p:cNvPr>
          <p:cNvSpPr/>
          <p:nvPr/>
        </p:nvSpPr>
        <p:spPr>
          <a:xfrm>
            <a:off x="1727193" y="2341546"/>
            <a:ext cx="2695816" cy="901063"/>
          </a:xfrm>
          <a:prstGeom prst="roundRect">
            <a:avLst/>
          </a:prstGeom>
          <a:gradFill flip="none" rotWithShape="1">
            <a:gsLst>
              <a:gs pos="0">
                <a:srgbClr val="2ECC71">
                  <a:tint val="66000"/>
                  <a:satMod val="160000"/>
                </a:srgbClr>
              </a:gs>
              <a:gs pos="50000">
                <a:srgbClr val="2ECC71">
                  <a:tint val="44500"/>
                  <a:satMod val="160000"/>
                </a:srgbClr>
              </a:gs>
              <a:gs pos="100000">
                <a:srgbClr val="2ECC71">
                  <a:tint val="23500"/>
                  <a:satMod val="160000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ysClr val="windowText" lastClr="000000"/>
                </a:solidFill>
              </a:rPr>
              <a:t>IaaS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Compute + Config 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Flexibility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4A3A405-AB20-B419-FF56-42E8D66AD8EC}"/>
              </a:ext>
            </a:extLst>
          </p:cNvPr>
          <p:cNvSpPr txBox="1">
            <a:spLocks/>
          </p:cNvSpPr>
          <p:nvPr/>
        </p:nvSpPr>
        <p:spPr>
          <a:xfrm>
            <a:off x="875588" y="4074350"/>
            <a:ext cx="10470702" cy="388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Cloud Deployment Models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E232A5B-A8F7-579B-FE36-F74445E6D820}"/>
              </a:ext>
            </a:extLst>
          </p:cNvPr>
          <p:cNvSpPr/>
          <p:nvPr/>
        </p:nvSpPr>
        <p:spPr>
          <a:xfrm>
            <a:off x="4732715" y="4794064"/>
            <a:ext cx="2695816" cy="901063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  <a:shade val="30000"/>
                  <a:satMod val="115000"/>
                </a:schemeClr>
              </a:gs>
              <a:gs pos="50000">
                <a:schemeClr val="tx1">
                  <a:lumMod val="50000"/>
                  <a:lumOff val="50000"/>
                  <a:shade val="67500"/>
                  <a:satMod val="115000"/>
                </a:schemeClr>
              </a:gs>
              <a:gs pos="100000">
                <a:schemeClr val="tx1">
                  <a:lumMod val="50000"/>
                  <a:lumOff val="5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ysClr val="windowText" lastClr="000000"/>
                </a:solidFill>
              </a:rPr>
              <a:t>Hybrid cloud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Premature complexity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3E6C0BE-7F17-8B47-3977-285DB31AD326}"/>
              </a:ext>
            </a:extLst>
          </p:cNvPr>
          <p:cNvSpPr/>
          <p:nvPr/>
        </p:nvSpPr>
        <p:spPr>
          <a:xfrm>
            <a:off x="1727193" y="4794063"/>
            <a:ext cx="2695816" cy="901063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  <a:shade val="30000"/>
                  <a:satMod val="115000"/>
                </a:schemeClr>
              </a:gs>
              <a:gs pos="50000">
                <a:schemeClr val="tx1">
                  <a:lumMod val="50000"/>
                  <a:lumOff val="50000"/>
                  <a:shade val="67500"/>
                  <a:satMod val="115000"/>
                </a:schemeClr>
              </a:gs>
              <a:gs pos="100000">
                <a:schemeClr val="tx1">
                  <a:lumMod val="50000"/>
                  <a:lumOff val="5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ysClr val="windowText" lastClr="000000"/>
                </a:solidFill>
              </a:rPr>
              <a:t>Private cloud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High cost, limited elasticity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302F839-5029-06B7-308E-E29D4A7CDA35}"/>
              </a:ext>
            </a:extLst>
          </p:cNvPr>
          <p:cNvSpPr/>
          <p:nvPr/>
        </p:nvSpPr>
        <p:spPr>
          <a:xfrm>
            <a:off x="7768992" y="4792405"/>
            <a:ext cx="2695816" cy="901063"/>
          </a:xfrm>
          <a:prstGeom prst="roundRect">
            <a:avLst/>
          </a:prstGeom>
          <a:gradFill flip="none" rotWithShape="1">
            <a:gsLst>
              <a:gs pos="0">
                <a:srgbClr val="2ECC71">
                  <a:tint val="66000"/>
                  <a:satMod val="160000"/>
                </a:srgbClr>
              </a:gs>
              <a:gs pos="50000">
                <a:srgbClr val="2ECC71">
                  <a:tint val="44500"/>
                  <a:satMod val="160000"/>
                </a:srgbClr>
              </a:gs>
              <a:gs pos="100000">
                <a:srgbClr val="2ECC71">
                  <a:tint val="23500"/>
                  <a:satMod val="160000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ysClr val="windowText" lastClr="000000"/>
                </a:solidFill>
              </a:rPr>
              <a:t>Public cloud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Scalable, automated, 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cost-effective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1745F0-2093-1679-8FFF-264328168844}"/>
              </a:ext>
            </a:extLst>
          </p:cNvPr>
          <p:cNvSpPr/>
          <p:nvPr/>
        </p:nvSpPr>
        <p:spPr>
          <a:xfrm>
            <a:off x="-1" y="797169"/>
            <a:ext cx="3640015" cy="123267"/>
          </a:xfrm>
          <a:prstGeom prst="rect">
            <a:avLst/>
          </a:prstGeom>
          <a:solidFill>
            <a:srgbClr val="FF4F00">
              <a:alpha val="29779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BE9658-B969-B391-61D1-946C62325E09}"/>
              </a:ext>
            </a:extLst>
          </p:cNvPr>
          <p:cNvSpPr txBox="1"/>
          <p:nvPr/>
        </p:nvSpPr>
        <p:spPr>
          <a:xfrm>
            <a:off x="446900" y="304632"/>
            <a:ext cx="85189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EE6F00"/>
                </a:solidFill>
              </a:rPr>
              <a:t>R</a:t>
            </a:r>
            <a:r>
              <a:rPr lang="en-US" sz="3200" b="1" dirty="0">
                <a:solidFill>
                  <a:schemeClr val="bg1"/>
                </a:solidFill>
              </a:rPr>
              <a:t>ECOMMENDED</a:t>
            </a:r>
            <a:r>
              <a:rPr lang="en-US" sz="4000" b="1" dirty="0">
                <a:solidFill>
                  <a:srgbClr val="EE6F00"/>
                </a:solidFill>
              </a:rPr>
              <a:t> M</a:t>
            </a:r>
            <a:r>
              <a:rPr lang="en-US" sz="3200" b="1" dirty="0">
                <a:solidFill>
                  <a:schemeClr val="bg1"/>
                </a:solidFill>
              </a:rPr>
              <a:t>ODELS FOR </a:t>
            </a:r>
            <a:r>
              <a:rPr lang="en-US" sz="4000" b="1" dirty="0">
                <a:solidFill>
                  <a:srgbClr val="EE6F00"/>
                </a:solidFill>
              </a:rPr>
              <a:t>A</a:t>
            </a:r>
            <a:r>
              <a:rPr lang="en-US" sz="3200" b="1" dirty="0">
                <a:solidFill>
                  <a:schemeClr val="bg1"/>
                </a:solidFill>
              </a:rPr>
              <a:t>BC</a:t>
            </a:r>
            <a:r>
              <a:rPr lang="en-US" sz="4000" b="1" dirty="0">
                <a:solidFill>
                  <a:schemeClr val="bg1"/>
                </a:solidFill>
              </a:rPr>
              <a:t> </a:t>
            </a:r>
            <a:endParaRPr lang="en-US" sz="4000" b="1" dirty="0">
              <a:solidFill>
                <a:schemeClr val="bg1"/>
              </a:solidFill>
              <a:cs typeface="Segoe U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5134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330"/>
    </mc:Choice>
    <mc:Fallback xmlns="">
      <p:transition spd="slow" advTm="373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build="p"/>
      <p:bldP spid="7" grpId="0" animBg="1"/>
      <p:bldP spid="14" grpId="0" animBg="1"/>
      <p:bldP spid="15" grpId="0" animBg="1"/>
      <p:bldP spid="16" grpId="0" animBg="1"/>
      <p:bldP spid="23" grpId="0"/>
      <p:bldP spid="17" grpId="0" animBg="1"/>
      <p:bldP spid="19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8B1CD-BD82-6A76-0131-19F3FB2B7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a very tall building with a lot of windows">
            <a:extLst>
              <a:ext uri="{FF2B5EF4-FFF2-40B4-BE49-F238E27FC236}">
                <a16:creationId xmlns:a16="http://schemas.microsoft.com/office/drawing/2014/main" id="{1268BD49-5BC6-F39C-03F6-892784D83B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8" b="7794"/>
          <a:stretch>
            <a:fillRect/>
          </a:stretch>
        </p:blipFill>
        <p:spPr bwMode="auto">
          <a:xfrm>
            <a:off x="0" y="0"/>
            <a:ext cx="1222187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7192265-4B2B-74C7-22AF-16F4F2D972F3}"/>
              </a:ext>
            </a:extLst>
          </p:cNvPr>
          <p:cNvSpPr/>
          <p:nvPr/>
        </p:nvSpPr>
        <p:spPr>
          <a:xfrm>
            <a:off x="-1" y="1"/>
            <a:ext cx="12196894" cy="6921770"/>
          </a:xfrm>
          <a:prstGeom prst="rect">
            <a:avLst/>
          </a:prstGeom>
          <a:solidFill>
            <a:srgbClr val="000000">
              <a:alpha val="6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 descr="Torrens University Australia research repository - Browse">
            <a:extLst>
              <a:ext uri="{FF2B5EF4-FFF2-40B4-BE49-F238E27FC236}">
                <a16:creationId xmlns:a16="http://schemas.microsoft.com/office/drawing/2014/main" id="{BA644667-B0C1-99C4-4574-E38F955BF8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0326" y="6179120"/>
            <a:ext cx="1384454" cy="742651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26C1EC5-690E-E648-5DF7-1A333C970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 rot="17451127">
            <a:off x="476685" y="3738603"/>
            <a:ext cx="3966044" cy="51007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Hybrid Cost Model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478069-564B-3D07-8089-853836D2BCD6}"/>
              </a:ext>
            </a:extLst>
          </p:cNvPr>
          <p:cNvSpPr/>
          <p:nvPr/>
        </p:nvSpPr>
        <p:spPr>
          <a:xfrm>
            <a:off x="3640015" y="2006506"/>
            <a:ext cx="6490545" cy="1194785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F2F2F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1733E0-AB6F-4E6F-4C53-1552A05DA622}"/>
              </a:ext>
            </a:extLst>
          </p:cNvPr>
          <p:cNvSpPr/>
          <p:nvPr/>
        </p:nvSpPr>
        <p:spPr>
          <a:xfrm>
            <a:off x="3640015" y="3491850"/>
            <a:ext cx="6490545" cy="1194785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F2F2F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489959-C454-BEFF-BC08-0779735B265B}"/>
              </a:ext>
            </a:extLst>
          </p:cNvPr>
          <p:cNvSpPr/>
          <p:nvPr/>
        </p:nvSpPr>
        <p:spPr>
          <a:xfrm>
            <a:off x="3640015" y="4977194"/>
            <a:ext cx="6490545" cy="1194786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F2F2F2"/>
              </a:solidFill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EC83FAC-45A0-8384-9E15-246ADB8855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6386022"/>
              </p:ext>
            </p:extLst>
          </p:nvPr>
        </p:nvGraphicFramePr>
        <p:xfrm>
          <a:off x="2061439" y="1859407"/>
          <a:ext cx="3157152" cy="43506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A292D3-A889-307D-CA42-933622EDA3B2}"/>
              </a:ext>
            </a:extLst>
          </p:cNvPr>
          <p:cNvSpPr txBox="1">
            <a:spLocks/>
          </p:cNvSpPr>
          <p:nvPr/>
        </p:nvSpPr>
        <p:spPr>
          <a:xfrm>
            <a:off x="4220642" y="2076643"/>
            <a:ext cx="4632105" cy="10413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3200" b="1" dirty="0">
                <a:solidFill>
                  <a:srgbClr val="F2F2F2"/>
                </a:solidFill>
              </a:rPr>
              <a:t>Spot capacity </a:t>
            </a:r>
          </a:p>
          <a:p>
            <a:pPr marL="0" indent="0">
              <a:buNone/>
            </a:pPr>
            <a:r>
              <a:rPr lang="en-GB" dirty="0">
                <a:solidFill>
                  <a:srgbClr val="F2F2F2"/>
                </a:solidFill>
              </a:rPr>
              <a:t>background jobs + analytics pipelines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45EB37-58E5-B2B3-148D-B17B5A3F1633}"/>
              </a:ext>
            </a:extLst>
          </p:cNvPr>
          <p:cNvSpPr txBox="1">
            <a:spLocks/>
          </p:cNvSpPr>
          <p:nvPr/>
        </p:nvSpPr>
        <p:spPr>
          <a:xfrm>
            <a:off x="4719617" y="3480735"/>
            <a:ext cx="4632105" cy="10413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3200" b="1" dirty="0">
                <a:solidFill>
                  <a:srgbClr val="F2F2F2"/>
                </a:solidFill>
              </a:rPr>
              <a:t>Pay-as-you-go</a:t>
            </a:r>
          </a:p>
          <a:p>
            <a:pPr marL="0" indent="0">
              <a:buNone/>
            </a:pPr>
            <a:r>
              <a:rPr lang="en-GB" dirty="0">
                <a:solidFill>
                  <a:srgbClr val="F2F2F2"/>
                </a:solidFill>
              </a:rPr>
              <a:t>demand spikes via Auto Scaling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D48FFB-9372-7E32-B493-C098D1D9DF7C}"/>
              </a:ext>
            </a:extLst>
          </p:cNvPr>
          <p:cNvSpPr txBox="1">
            <a:spLocks/>
          </p:cNvSpPr>
          <p:nvPr/>
        </p:nvSpPr>
        <p:spPr>
          <a:xfrm>
            <a:off x="5364386" y="4956173"/>
            <a:ext cx="4632105" cy="10413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3200" b="1" dirty="0">
                <a:solidFill>
                  <a:srgbClr val="F2F2F2"/>
                </a:solidFill>
              </a:rPr>
              <a:t>Reserved</a:t>
            </a:r>
          </a:p>
          <a:p>
            <a:pPr marL="0" indent="0">
              <a:buNone/>
            </a:pPr>
            <a:r>
              <a:rPr lang="en-GB" dirty="0">
                <a:solidFill>
                  <a:srgbClr val="F2F2F2"/>
                </a:solidFill>
              </a:rPr>
              <a:t>stable tiers (web/app servers, databases)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1C6796-3CAE-52F4-5AB9-AE02306898CB}"/>
              </a:ext>
            </a:extLst>
          </p:cNvPr>
          <p:cNvSpPr/>
          <p:nvPr/>
        </p:nvSpPr>
        <p:spPr>
          <a:xfrm>
            <a:off x="-1" y="797169"/>
            <a:ext cx="3640015" cy="123267"/>
          </a:xfrm>
          <a:prstGeom prst="rect">
            <a:avLst/>
          </a:prstGeom>
          <a:solidFill>
            <a:srgbClr val="FF4F00">
              <a:alpha val="29779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0366BF-6E24-A25A-9343-E5022ED92D72}"/>
              </a:ext>
            </a:extLst>
          </p:cNvPr>
          <p:cNvSpPr txBox="1"/>
          <p:nvPr/>
        </p:nvSpPr>
        <p:spPr>
          <a:xfrm>
            <a:off x="446900" y="304632"/>
            <a:ext cx="85189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EE6F00"/>
                </a:solidFill>
              </a:rPr>
              <a:t>R</a:t>
            </a:r>
            <a:r>
              <a:rPr lang="en-US" sz="3200" b="1" dirty="0">
                <a:solidFill>
                  <a:schemeClr val="bg1"/>
                </a:solidFill>
              </a:rPr>
              <a:t>ECOMMENDED</a:t>
            </a:r>
            <a:r>
              <a:rPr lang="en-US" sz="3200" b="1" dirty="0">
                <a:solidFill>
                  <a:srgbClr val="EE6F00"/>
                </a:solidFill>
              </a:rPr>
              <a:t> </a:t>
            </a:r>
            <a:r>
              <a:rPr lang="en-US" sz="4000" b="1" dirty="0">
                <a:solidFill>
                  <a:srgbClr val="EE6F00"/>
                </a:solidFill>
              </a:rPr>
              <a:t>C</a:t>
            </a:r>
            <a:r>
              <a:rPr lang="en-US" sz="3200" b="1" dirty="0">
                <a:solidFill>
                  <a:schemeClr val="bg1"/>
                </a:solidFill>
              </a:rPr>
              <a:t>OST </a:t>
            </a:r>
            <a:r>
              <a:rPr lang="en-US" sz="4000" b="1" dirty="0">
                <a:solidFill>
                  <a:srgbClr val="EE6F00"/>
                </a:solidFill>
              </a:rPr>
              <a:t>M</a:t>
            </a:r>
            <a:r>
              <a:rPr lang="en-US" sz="3200" b="1" dirty="0">
                <a:solidFill>
                  <a:schemeClr val="bg1"/>
                </a:solidFill>
              </a:rPr>
              <a:t>ODEL</a:t>
            </a:r>
            <a:endParaRPr lang="en-US" sz="4000" b="1" dirty="0">
              <a:solidFill>
                <a:schemeClr val="bg1"/>
              </a:solidFill>
              <a:cs typeface="Segoe U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649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396"/>
    </mc:Choice>
    <mc:Fallback xmlns="">
      <p:transition spd="slow" advTm="433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8" grpId="0" animBg="1"/>
      <p:bldP spid="10" grpId="0" animBg="1"/>
      <p:bldP spid="14" grpId="0" animBg="1"/>
      <p:bldGraphic spid="3" grpId="0">
        <p:bldAsOne/>
      </p:bldGraphic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4837F-CAD9-94D4-17DE-1972B00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a very tall building with a lot of windows">
            <a:extLst>
              <a:ext uri="{FF2B5EF4-FFF2-40B4-BE49-F238E27FC236}">
                <a16:creationId xmlns:a16="http://schemas.microsoft.com/office/drawing/2014/main" id="{B8AD387E-C3C4-F517-26E3-7C129D9A02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8" b="7794"/>
          <a:stretch>
            <a:fillRect/>
          </a:stretch>
        </p:blipFill>
        <p:spPr bwMode="auto">
          <a:xfrm>
            <a:off x="0" y="0"/>
            <a:ext cx="1222187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C65D487-21F7-2101-F3FA-D5B41CAD8FC7}"/>
              </a:ext>
            </a:extLst>
          </p:cNvPr>
          <p:cNvSpPr/>
          <p:nvPr/>
        </p:nvSpPr>
        <p:spPr>
          <a:xfrm>
            <a:off x="-1" y="1"/>
            <a:ext cx="12196894" cy="6921770"/>
          </a:xfrm>
          <a:prstGeom prst="rect">
            <a:avLst/>
          </a:prstGeom>
          <a:solidFill>
            <a:srgbClr val="000000">
              <a:alpha val="6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00C6BE-B8E6-50A0-9CB7-C1A701890090}"/>
              </a:ext>
            </a:extLst>
          </p:cNvPr>
          <p:cNvSpPr txBox="1"/>
          <p:nvPr/>
        </p:nvSpPr>
        <p:spPr>
          <a:xfrm>
            <a:off x="446900" y="304632"/>
            <a:ext cx="85189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EE6F00"/>
                </a:solidFill>
              </a:rPr>
              <a:t>W</a:t>
            </a:r>
            <a:r>
              <a:rPr lang="en-US" sz="3200" b="1" dirty="0">
                <a:solidFill>
                  <a:schemeClr val="bg1"/>
                </a:solidFill>
              </a:rPr>
              <a:t>HY </a:t>
            </a:r>
            <a:r>
              <a:rPr lang="en-US" sz="4000" b="1" dirty="0">
                <a:solidFill>
                  <a:srgbClr val="EE6F00"/>
                </a:solidFill>
              </a:rPr>
              <a:t>A</a:t>
            </a:r>
            <a:r>
              <a:rPr lang="en-US" sz="3200" b="1" dirty="0">
                <a:solidFill>
                  <a:schemeClr val="bg1"/>
                </a:solidFill>
              </a:rPr>
              <a:t>WS?</a:t>
            </a:r>
            <a:endParaRPr lang="en-US" sz="4000" b="1" dirty="0">
              <a:solidFill>
                <a:schemeClr val="bg1"/>
              </a:solidFill>
              <a:cs typeface="Segoe UI"/>
            </a:endParaRPr>
          </a:p>
        </p:txBody>
      </p:sp>
      <p:pic>
        <p:nvPicPr>
          <p:cNvPr id="12" name="Picture 11" descr="Torrens University Australia research repository - Browse">
            <a:extLst>
              <a:ext uri="{FF2B5EF4-FFF2-40B4-BE49-F238E27FC236}">
                <a16:creationId xmlns:a16="http://schemas.microsoft.com/office/drawing/2014/main" id="{57D48E2F-FC31-8B5D-3494-881A87D1F8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0326" y="6179120"/>
            <a:ext cx="1384454" cy="74265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30264A9-4D9A-DB11-8807-56EACE8AA570}"/>
              </a:ext>
            </a:extLst>
          </p:cNvPr>
          <p:cNvSpPr/>
          <p:nvPr/>
        </p:nvSpPr>
        <p:spPr>
          <a:xfrm>
            <a:off x="-1" y="797169"/>
            <a:ext cx="3640015" cy="123267"/>
          </a:xfrm>
          <a:prstGeom prst="rect">
            <a:avLst/>
          </a:prstGeom>
          <a:solidFill>
            <a:srgbClr val="FF4F00">
              <a:alpha val="29779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b="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22A264-6FFF-40E7-1DD4-58812EA083CC}"/>
              </a:ext>
            </a:extLst>
          </p:cNvPr>
          <p:cNvSpPr/>
          <p:nvPr/>
        </p:nvSpPr>
        <p:spPr>
          <a:xfrm>
            <a:off x="1083560" y="1809687"/>
            <a:ext cx="10024880" cy="722634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F2F2F2"/>
              </a:solidFill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D382FCB9-E818-3D89-7354-32DCDF7938DB}"/>
              </a:ext>
            </a:extLst>
          </p:cNvPr>
          <p:cNvSpPr txBox="1">
            <a:spLocks/>
          </p:cNvSpPr>
          <p:nvPr/>
        </p:nvSpPr>
        <p:spPr>
          <a:xfrm>
            <a:off x="3207255" y="1831608"/>
            <a:ext cx="1676066" cy="7226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600" b="1" dirty="0">
                <a:solidFill>
                  <a:srgbClr val="F2F2F2"/>
                </a:solidFill>
              </a:rPr>
              <a:t>Ecosystem Fit</a:t>
            </a:r>
            <a:endParaRPr lang="en-GB" sz="1100" dirty="0">
              <a:solidFill>
                <a:srgbClr val="F2F2F2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A2A3AAAB-3E7A-B9E7-FCE5-AC15070BCFAF}"/>
              </a:ext>
            </a:extLst>
          </p:cNvPr>
          <p:cNvSpPr txBox="1">
            <a:spLocks/>
          </p:cNvSpPr>
          <p:nvPr/>
        </p:nvSpPr>
        <p:spPr>
          <a:xfrm>
            <a:off x="5193647" y="1831608"/>
            <a:ext cx="1676066" cy="7226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600" b="1" dirty="0">
                <a:solidFill>
                  <a:srgbClr val="F2F2F2"/>
                </a:solidFill>
              </a:rPr>
              <a:t>Load Balancing</a:t>
            </a:r>
            <a:endParaRPr lang="en-GB" sz="1100" dirty="0">
              <a:solidFill>
                <a:srgbClr val="F2F2F2"/>
              </a:solidFill>
            </a:endParaRP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E5570D02-CCD9-27A9-6979-58B54B0F4C5C}"/>
              </a:ext>
            </a:extLst>
          </p:cNvPr>
          <p:cNvSpPr txBox="1">
            <a:spLocks/>
          </p:cNvSpPr>
          <p:nvPr/>
        </p:nvSpPr>
        <p:spPr>
          <a:xfrm>
            <a:off x="7181014" y="1811516"/>
            <a:ext cx="1676066" cy="7226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600" b="1" dirty="0">
                <a:solidFill>
                  <a:srgbClr val="F2F2F2"/>
                </a:solidFill>
              </a:rPr>
              <a:t>Serverless</a:t>
            </a:r>
            <a:endParaRPr lang="en-GB" sz="1100" dirty="0">
              <a:solidFill>
                <a:srgbClr val="F2F2F2"/>
              </a:solidFill>
            </a:endParaRP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6F865F0E-C0A9-812B-807A-9D17587A870F}"/>
              </a:ext>
            </a:extLst>
          </p:cNvPr>
          <p:cNvSpPr txBox="1">
            <a:spLocks/>
          </p:cNvSpPr>
          <p:nvPr/>
        </p:nvSpPr>
        <p:spPr>
          <a:xfrm>
            <a:off x="9167406" y="1811516"/>
            <a:ext cx="1676066" cy="7226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600" b="1" dirty="0">
                <a:solidFill>
                  <a:srgbClr val="F2F2F2"/>
                </a:solidFill>
              </a:rPr>
              <a:t>ABC Alignment</a:t>
            </a:r>
            <a:endParaRPr lang="en-GB" sz="1100" dirty="0">
              <a:solidFill>
                <a:srgbClr val="F2F2F2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B415D5B-2C09-507B-DFB0-B83F3764ED0D}"/>
              </a:ext>
            </a:extLst>
          </p:cNvPr>
          <p:cNvSpPr/>
          <p:nvPr/>
        </p:nvSpPr>
        <p:spPr>
          <a:xfrm>
            <a:off x="1083560" y="2733046"/>
            <a:ext cx="10024880" cy="722634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F2F2F2"/>
              </a:solidFill>
            </a:endParaRP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448BD2C4-F944-E6EB-2136-EA871006D535}"/>
              </a:ext>
            </a:extLst>
          </p:cNvPr>
          <p:cNvSpPr txBox="1">
            <a:spLocks/>
          </p:cNvSpPr>
          <p:nvPr/>
        </p:nvSpPr>
        <p:spPr>
          <a:xfrm>
            <a:off x="3111652" y="2754967"/>
            <a:ext cx="1869222" cy="7226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dirty="0">
                <a:solidFill>
                  <a:srgbClr val="F2F2F2"/>
                </a:solidFill>
              </a:rPr>
              <a:t>Broadest managed-service catalogue</a:t>
            </a:r>
            <a:endParaRPr lang="en-GB" sz="1000" dirty="0">
              <a:solidFill>
                <a:srgbClr val="F2F2F2"/>
              </a:solidFill>
            </a:endParaRP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90A22479-9D97-C6F3-761B-9EA5948CB9E2}"/>
              </a:ext>
            </a:extLst>
          </p:cNvPr>
          <p:cNvSpPr txBox="1">
            <a:spLocks/>
          </p:cNvSpPr>
          <p:nvPr/>
        </p:nvSpPr>
        <p:spPr>
          <a:xfrm>
            <a:off x="5098044" y="2754967"/>
            <a:ext cx="1869222" cy="7226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dirty="0">
                <a:solidFill>
                  <a:srgbClr val="F2F2F2"/>
                </a:solidFill>
              </a:rPr>
              <a:t>ELB – native Route53 integration</a:t>
            </a:r>
            <a:endParaRPr lang="en-GB" sz="1000" dirty="0">
              <a:solidFill>
                <a:srgbClr val="F2F2F2"/>
              </a:solidFill>
            </a:endParaRP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A8D4D013-93D7-7E6F-7B40-0C0CE7B186BE}"/>
              </a:ext>
            </a:extLst>
          </p:cNvPr>
          <p:cNvSpPr txBox="1">
            <a:spLocks/>
          </p:cNvSpPr>
          <p:nvPr/>
        </p:nvSpPr>
        <p:spPr>
          <a:xfrm>
            <a:off x="7084436" y="2733046"/>
            <a:ext cx="1869222" cy="7226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dirty="0">
                <a:solidFill>
                  <a:srgbClr val="F2F2F2"/>
                </a:solidFill>
              </a:rPr>
              <a:t>Lambda – event-driven, zero idle cost</a:t>
            </a:r>
            <a:endParaRPr lang="en-GB" sz="1000" dirty="0">
              <a:solidFill>
                <a:srgbClr val="F2F2F2"/>
              </a:solidFill>
            </a:endParaRP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0E79048A-353E-6F41-43EF-C0A63AC5C8DA}"/>
              </a:ext>
            </a:extLst>
          </p:cNvPr>
          <p:cNvSpPr txBox="1">
            <a:spLocks/>
          </p:cNvSpPr>
          <p:nvPr/>
        </p:nvSpPr>
        <p:spPr>
          <a:xfrm>
            <a:off x="9070828" y="2733045"/>
            <a:ext cx="1869222" cy="7226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dirty="0">
                <a:solidFill>
                  <a:srgbClr val="F2F2F2"/>
                </a:solidFill>
              </a:rPr>
              <a:t>Best fit – Route 53 already in stack</a:t>
            </a:r>
            <a:endParaRPr lang="en-GB" sz="1000" dirty="0">
              <a:solidFill>
                <a:srgbClr val="F2F2F2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216ACFA-FDC3-D5B9-4AC0-92CB2E84E3CE}"/>
              </a:ext>
            </a:extLst>
          </p:cNvPr>
          <p:cNvSpPr/>
          <p:nvPr/>
        </p:nvSpPr>
        <p:spPr>
          <a:xfrm>
            <a:off x="1083560" y="3656405"/>
            <a:ext cx="10024880" cy="722634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F2F2F2"/>
              </a:solidFill>
            </a:endParaRP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B0D1B84F-235D-CABE-FDBE-3B4857349DEE}"/>
              </a:ext>
            </a:extLst>
          </p:cNvPr>
          <p:cNvSpPr txBox="1">
            <a:spLocks/>
          </p:cNvSpPr>
          <p:nvPr/>
        </p:nvSpPr>
        <p:spPr>
          <a:xfrm>
            <a:off x="3111652" y="3678326"/>
            <a:ext cx="1869222" cy="7226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dirty="0">
                <a:solidFill>
                  <a:srgbClr val="F2F2F2"/>
                </a:solidFill>
              </a:rPr>
              <a:t>Microsoft / </a:t>
            </a:r>
          </a:p>
          <a:p>
            <a:pPr marL="0" indent="0" algn="ctr">
              <a:buNone/>
            </a:pPr>
            <a:r>
              <a:rPr lang="en-GB" sz="1200" dirty="0">
                <a:solidFill>
                  <a:srgbClr val="F2F2F2"/>
                </a:solidFill>
              </a:rPr>
              <a:t>enterprise-aligned</a:t>
            </a:r>
            <a:endParaRPr lang="en-GB" sz="1000" dirty="0">
              <a:solidFill>
                <a:srgbClr val="F2F2F2"/>
              </a:solidFill>
            </a:endParaRP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5329451C-AB5E-54BC-C043-E2567E106177}"/>
              </a:ext>
            </a:extLst>
          </p:cNvPr>
          <p:cNvSpPr txBox="1">
            <a:spLocks/>
          </p:cNvSpPr>
          <p:nvPr/>
        </p:nvSpPr>
        <p:spPr>
          <a:xfrm>
            <a:off x="5098044" y="3678326"/>
            <a:ext cx="1869222" cy="7226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dirty="0">
                <a:solidFill>
                  <a:srgbClr val="F2F2F2"/>
                </a:solidFill>
              </a:rPr>
              <a:t>Application gateway – extra config needed</a:t>
            </a:r>
            <a:endParaRPr lang="en-GB" sz="1000" dirty="0">
              <a:solidFill>
                <a:srgbClr val="F2F2F2"/>
              </a:solidFill>
            </a:endParaRP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5AB330E9-2841-C5C4-D938-79031501973F}"/>
              </a:ext>
            </a:extLst>
          </p:cNvPr>
          <p:cNvSpPr txBox="1">
            <a:spLocks/>
          </p:cNvSpPr>
          <p:nvPr/>
        </p:nvSpPr>
        <p:spPr>
          <a:xfrm>
            <a:off x="7084436" y="3656405"/>
            <a:ext cx="1869222" cy="7226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dirty="0">
                <a:solidFill>
                  <a:srgbClr val="F2F2F2"/>
                </a:solidFill>
              </a:rPr>
              <a:t>Azure Functions – strong but separate ecosystem</a:t>
            </a:r>
            <a:endParaRPr lang="en-GB" sz="1000" dirty="0">
              <a:solidFill>
                <a:srgbClr val="F2F2F2"/>
              </a:solidFill>
            </a:endParaRP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8EE2B786-5567-596B-B6F4-2DC043973FB7}"/>
              </a:ext>
            </a:extLst>
          </p:cNvPr>
          <p:cNvSpPr txBox="1">
            <a:spLocks/>
          </p:cNvSpPr>
          <p:nvPr/>
        </p:nvSpPr>
        <p:spPr>
          <a:xfrm>
            <a:off x="9070828" y="3656404"/>
            <a:ext cx="1869222" cy="7226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dirty="0">
                <a:solidFill>
                  <a:srgbClr val="F2F2F2"/>
                </a:solidFill>
              </a:rPr>
              <a:t>No existing Azure signals in ABC</a:t>
            </a:r>
            <a:endParaRPr lang="en-GB" sz="1000" dirty="0">
              <a:solidFill>
                <a:srgbClr val="F2F2F2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BA3C962-CFA4-E4E3-6E1A-2A2DB53A39B6}"/>
              </a:ext>
            </a:extLst>
          </p:cNvPr>
          <p:cNvSpPr/>
          <p:nvPr/>
        </p:nvSpPr>
        <p:spPr>
          <a:xfrm>
            <a:off x="1083560" y="4683083"/>
            <a:ext cx="10024880" cy="722634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F2F2F2"/>
              </a:solidFill>
            </a:endParaRP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093606FD-21BA-DED9-5362-B68BAEC8EACA}"/>
              </a:ext>
            </a:extLst>
          </p:cNvPr>
          <p:cNvSpPr txBox="1">
            <a:spLocks/>
          </p:cNvSpPr>
          <p:nvPr/>
        </p:nvSpPr>
        <p:spPr>
          <a:xfrm>
            <a:off x="3111652" y="4705004"/>
            <a:ext cx="1869222" cy="7226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dirty="0">
                <a:solidFill>
                  <a:srgbClr val="F2F2F2"/>
                </a:solidFill>
              </a:rPr>
              <a:t>Analytics and ML-first</a:t>
            </a:r>
            <a:endParaRPr lang="en-GB" sz="1000" dirty="0">
              <a:solidFill>
                <a:srgbClr val="F2F2F2"/>
              </a:solidFill>
            </a:endParaRP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08875D5E-015D-2011-E2EB-3CC8B08816A3}"/>
              </a:ext>
            </a:extLst>
          </p:cNvPr>
          <p:cNvSpPr txBox="1">
            <a:spLocks/>
          </p:cNvSpPr>
          <p:nvPr/>
        </p:nvSpPr>
        <p:spPr>
          <a:xfrm>
            <a:off x="5098044" y="4705004"/>
            <a:ext cx="1869222" cy="7226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dirty="0">
                <a:solidFill>
                  <a:srgbClr val="F2F2F2"/>
                </a:solidFill>
              </a:rPr>
              <a:t>Cloud load balancing – GKE-oriented</a:t>
            </a:r>
            <a:endParaRPr lang="en-GB" sz="1000" dirty="0">
              <a:solidFill>
                <a:srgbClr val="F2F2F2"/>
              </a:solidFill>
            </a:endParaRP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2D3A23DF-FE83-4731-F136-D817AE6CF380}"/>
              </a:ext>
            </a:extLst>
          </p:cNvPr>
          <p:cNvSpPr txBox="1">
            <a:spLocks/>
          </p:cNvSpPr>
          <p:nvPr/>
        </p:nvSpPr>
        <p:spPr>
          <a:xfrm>
            <a:off x="7084436" y="4683083"/>
            <a:ext cx="1869222" cy="7226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dirty="0">
                <a:solidFill>
                  <a:srgbClr val="F2F2F2"/>
                </a:solidFill>
              </a:rPr>
              <a:t>Cloud Run / Functions – container first</a:t>
            </a:r>
            <a:endParaRPr lang="en-GB" sz="1000" dirty="0">
              <a:solidFill>
                <a:srgbClr val="F2F2F2"/>
              </a:solidFill>
            </a:endParaRP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D88C63B5-FB73-78A7-7ED5-57C09C78C680}"/>
              </a:ext>
            </a:extLst>
          </p:cNvPr>
          <p:cNvSpPr txBox="1">
            <a:spLocks/>
          </p:cNvSpPr>
          <p:nvPr/>
        </p:nvSpPr>
        <p:spPr>
          <a:xfrm>
            <a:off x="9070828" y="4683082"/>
            <a:ext cx="1869222" cy="7226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dirty="0">
                <a:solidFill>
                  <a:srgbClr val="F2F2F2"/>
                </a:solidFill>
              </a:rPr>
              <a:t>No analytics-heavy workloads in ABC now</a:t>
            </a:r>
            <a:endParaRPr lang="en-GB" sz="1000" dirty="0">
              <a:solidFill>
                <a:srgbClr val="F2F2F2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70E18AE-75EF-5912-F34B-A8F95B62D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838" y="3896940"/>
            <a:ext cx="1137450" cy="328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terSystems and Google Cloud | InterSystems">
            <a:extLst>
              <a:ext uri="{FF2B5EF4-FFF2-40B4-BE49-F238E27FC236}">
                <a16:creationId xmlns:a16="http://schemas.microsoft.com/office/drawing/2014/main" id="{14164C44-17B3-7F35-797A-ACEE3B5D1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225" y="4758274"/>
            <a:ext cx="1095895" cy="616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BBED73A1-B7CA-EFCC-F4F8-09B7FEA3E526}"/>
              </a:ext>
            </a:extLst>
          </p:cNvPr>
          <p:cNvSpPr txBox="1">
            <a:spLocks/>
          </p:cNvSpPr>
          <p:nvPr/>
        </p:nvSpPr>
        <p:spPr>
          <a:xfrm>
            <a:off x="1106723" y="1809686"/>
            <a:ext cx="1676066" cy="7226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600" b="1" dirty="0">
                <a:solidFill>
                  <a:srgbClr val="F2F2F2"/>
                </a:solidFill>
              </a:rPr>
              <a:t>Provider</a:t>
            </a:r>
            <a:endParaRPr lang="en-GB" sz="1100" dirty="0">
              <a:solidFill>
                <a:srgbClr val="F2F2F2"/>
              </a:solidFill>
            </a:endParaRPr>
          </a:p>
        </p:txBody>
      </p:sp>
      <p:pic>
        <p:nvPicPr>
          <p:cNvPr id="1032" name="Picture 8" descr="Amazon Web Services Logo, symbol, meaning, history, PNG, brand">
            <a:extLst>
              <a:ext uri="{FF2B5EF4-FFF2-40B4-BE49-F238E27FC236}">
                <a16:creationId xmlns:a16="http://schemas.microsoft.com/office/drawing/2014/main" id="{1C70D10A-D334-8AD9-AAE1-9F4D2C68C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941" y="2836364"/>
            <a:ext cx="937630" cy="527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16423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865"/>
    </mc:Choice>
    <mc:Fallback xmlns="">
      <p:transition spd="slow" advTm="238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/>
      <p:bldP spid="34" grpId="0"/>
      <p:bldP spid="35" grpId="0"/>
      <p:bldP spid="36" grpId="0"/>
      <p:bldP spid="37" grpId="0" animBg="1"/>
      <p:bldP spid="38" grpId="0"/>
      <p:bldP spid="39" grpId="0"/>
      <p:bldP spid="40" grpId="0"/>
      <p:bldP spid="41" grpId="0"/>
      <p:bldP spid="42" grpId="0" animBg="1"/>
      <p:bldP spid="43" grpId="0"/>
      <p:bldP spid="44" grpId="0"/>
      <p:bldP spid="45" grpId="0"/>
      <p:bldP spid="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11C3B-9836-0A84-B833-7BFAD7F0F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a very tall building with a lot of windows">
            <a:extLst>
              <a:ext uri="{FF2B5EF4-FFF2-40B4-BE49-F238E27FC236}">
                <a16:creationId xmlns:a16="http://schemas.microsoft.com/office/drawing/2014/main" id="{4EA594CC-7031-5B0D-0057-0EACC5E050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8" b="7794"/>
          <a:stretch>
            <a:fillRect/>
          </a:stretch>
        </p:blipFill>
        <p:spPr bwMode="auto">
          <a:xfrm>
            <a:off x="0" y="0"/>
            <a:ext cx="1222187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4DD5DB-6F85-5A63-47E1-BE9A323BAA47}"/>
              </a:ext>
            </a:extLst>
          </p:cNvPr>
          <p:cNvSpPr/>
          <p:nvPr/>
        </p:nvSpPr>
        <p:spPr>
          <a:xfrm>
            <a:off x="-1" y="1"/>
            <a:ext cx="12196894" cy="6921770"/>
          </a:xfrm>
          <a:prstGeom prst="rect">
            <a:avLst/>
          </a:prstGeom>
          <a:solidFill>
            <a:srgbClr val="000000">
              <a:alpha val="6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8FFE9E-7E02-5D73-71CB-9B8F630553D4}"/>
              </a:ext>
            </a:extLst>
          </p:cNvPr>
          <p:cNvSpPr txBox="1"/>
          <p:nvPr/>
        </p:nvSpPr>
        <p:spPr>
          <a:xfrm>
            <a:off x="446900" y="304632"/>
            <a:ext cx="85189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EE6F00"/>
                </a:solidFill>
              </a:rPr>
              <a:t>A</a:t>
            </a:r>
            <a:r>
              <a:rPr lang="en-US" sz="3200" b="1" dirty="0">
                <a:solidFill>
                  <a:schemeClr val="bg1"/>
                </a:solidFill>
              </a:rPr>
              <a:t>WS IN </a:t>
            </a:r>
            <a:r>
              <a:rPr lang="en-US" sz="4000" b="1" dirty="0">
                <a:solidFill>
                  <a:srgbClr val="EE6F00"/>
                </a:solidFill>
              </a:rPr>
              <a:t>A</a:t>
            </a:r>
            <a:r>
              <a:rPr lang="en-US" sz="3200" b="1" dirty="0">
                <a:solidFill>
                  <a:schemeClr val="bg1"/>
                </a:solidFill>
              </a:rPr>
              <a:t>CTION</a:t>
            </a:r>
            <a:endParaRPr lang="en-US" sz="4000" b="1" dirty="0">
              <a:solidFill>
                <a:schemeClr val="bg1"/>
              </a:solidFill>
              <a:cs typeface="Segoe UI"/>
            </a:endParaRPr>
          </a:p>
        </p:txBody>
      </p:sp>
      <p:pic>
        <p:nvPicPr>
          <p:cNvPr id="12" name="Picture 11" descr="Torrens University Australia research repository - Browse">
            <a:extLst>
              <a:ext uri="{FF2B5EF4-FFF2-40B4-BE49-F238E27FC236}">
                <a16:creationId xmlns:a16="http://schemas.microsoft.com/office/drawing/2014/main" id="{8E60B28E-7E73-C001-4CA2-9AFFD4342A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0326" y="6179120"/>
            <a:ext cx="1384454" cy="74265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E54F074-F577-4391-9545-A1927C584CA5}"/>
              </a:ext>
            </a:extLst>
          </p:cNvPr>
          <p:cNvSpPr/>
          <p:nvPr/>
        </p:nvSpPr>
        <p:spPr>
          <a:xfrm>
            <a:off x="-1" y="797169"/>
            <a:ext cx="3640015" cy="123267"/>
          </a:xfrm>
          <a:prstGeom prst="rect">
            <a:avLst/>
          </a:prstGeom>
          <a:solidFill>
            <a:srgbClr val="FF4F00">
              <a:alpha val="29779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b="1"/>
          </a:p>
        </p:txBody>
      </p: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B469591F-1971-AA6D-FEFA-7C6110458293}"/>
              </a:ext>
            </a:extLst>
          </p:cNvPr>
          <p:cNvSpPr/>
          <p:nvPr/>
        </p:nvSpPr>
        <p:spPr>
          <a:xfrm>
            <a:off x="1758615" y="1638615"/>
            <a:ext cx="8674769" cy="4646799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F2F2F2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40BB643-7E13-4458-3FBB-B3DB81B5C3D3}"/>
              </a:ext>
            </a:extLst>
          </p:cNvPr>
          <p:cNvSpPr/>
          <p:nvPr/>
        </p:nvSpPr>
        <p:spPr>
          <a:xfrm>
            <a:off x="5529973" y="1809686"/>
            <a:ext cx="1220905" cy="436822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00" dirty="0">
                <a:solidFill>
                  <a:sysClr val="windowText" lastClr="000000"/>
                </a:solidFill>
              </a:rPr>
              <a:t>User/Browser</a:t>
            </a:r>
            <a:endParaRPr lang="en-US" sz="600" dirty="0">
              <a:solidFill>
                <a:sysClr val="windowText" lastClr="000000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DC37B87-1CF7-9BF4-D5FD-1305C42308BF}"/>
              </a:ext>
            </a:extLst>
          </p:cNvPr>
          <p:cNvSpPr/>
          <p:nvPr/>
        </p:nvSpPr>
        <p:spPr>
          <a:xfrm>
            <a:off x="5529973" y="2603410"/>
            <a:ext cx="1220905" cy="436822"/>
          </a:xfrm>
          <a:prstGeom prst="roundRect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2700000" scaled="1"/>
            <a:tileRect/>
          </a:gradFill>
          <a:ln w="12700" cap="flat" cmpd="sng" algn="ctr">
            <a:solidFill>
              <a:srgbClr val="0070C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00" dirty="0">
                <a:solidFill>
                  <a:sysClr val="windowText" lastClr="000000"/>
                </a:solidFill>
              </a:rPr>
              <a:t>Route 53 DNS</a:t>
            </a:r>
            <a:endParaRPr lang="en-US" sz="600" dirty="0">
              <a:solidFill>
                <a:sysClr val="windowText" lastClr="000000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35D8C67-F017-CDFE-A4F5-238FEAD7C654}"/>
              </a:ext>
            </a:extLst>
          </p:cNvPr>
          <p:cNvSpPr/>
          <p:nvPr/>
        </p:nvSpPr>
        <p:spPr>
          <a:xfrm>
            <a:off x="5529973" y="3350820"/>
            <a:ext cx="1220905" cy="436822"/>
          </a:xfrm>
          <a:prstGeom prst="roundRect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2700000" scaled="1"/>
            <a:tileRect/>
          </a:gradFill>
          <a:ln w="12700" cap="flat" cmpd="sng" algn="ctr">
            <a:solidFill>
              <a:srgbClr val="0070C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00" dirty="0">
                <a:solidFill>
                  <a:sysClr val="windowText" lastClr="000000"/>
                </a:solidFill>
              </a:rPr>
              <a:t>Elastic Load</a:t>
            </a:r>
          </a:p>
          <a:p>
            <a:pPr algn="r"/>
            <a:r>
              <a:rPr lang="en-US" sz="1000" dirty="0">
                <a:solidFill>
                  <a:sysClr val="windowText" lastClr="000000"/>
                </a:solidFill>
              </a:rPr>
              <a:t>balancer (ELB)</a:t>
            </a:r>
            <a:endParaRPr lang="en-US" sz="600" dirty="0">
              <a:solidFill>
                <a:sysClr val="windowText" lastClr="000000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C8AB33B-42E7-9A31-0DC7-C2D822F19BD1}"/>
              </a:ext>
            </a:extLst>
          </p:cNvPr>
          <p:cNvSpPr/>
          <p:nvPr/>
        </p:nvSpPr>
        <p:spPr>
          <a:xfrm>
            <a:off x="5529973" y="4125647"/>
            <a:ext cx="1220905" cy="436822"/>
          </a:xfrm>
          <a:prstGeom prst="roundRect">
            <a:avLst/>
          </a:prstGeom>
          <a:gradFill flip="none" rotWithShape="1">
            <a:gsLst>
              <a:gs pos="0">
                <a:srgbClr val="EE6F00">
                  <a:tint val="66000"/>
                  <a:satMod val="160000"/>
                </a:srgbClr>
              </a:gs>
              <a:gs pos="50000">
                <a:srgbClr val="EE6F00">
                  <a:tint val="44500"/>
                  <a:satMod val="160000"/>
                </a:srgbClr>
              </a:gs>
              <a:gs pos="100000">
                <a:srgbClr val="EE6F00">
                  <a:tint val="23500"/>
                  <a:satMod val="160000"/>
                </a:srgbClr>
              </a:gs>
            </a:gsLst>
            <a:lin ang="2700000" scaled="1"/>
            <a:tileRect/>
          </a:gradFill>
          <a:ln w="12700" cap="flat" cmpd="sng" algn="ctr">
            <a:solidFill>
              <a:srgbClr val="EE6F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00" dirty="0">
                <a:solidFill>
                  <a:sysClr val="windowText" lastClr="000000"/>
                </a:solidFill>
              </a:rPr>
              <a:t>  EC2 Instances</a:t>
            </a:r>
            <a:endParaRPr lang="en-US" sz="600" dirty="0">
              <a:solidFill>
                <a:sysClr val="windowText" lastClr="000000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89AA03D-0B5C-520C-8BAD-685AF6A99E78}"/>
              </a:ext>
            </a:extLst>
          </p:cNvPr>
          <p:cNvSpPr/>
          <p:nvPr/>
        </p:nvSpPr>
        <p:spPr>
          <a:xfrm>
            <a:off x="2332079" y="5037681"/>
            <a:ext cx="1220905" cy="436822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2700000" scaled="1"/>
            <a:tileRect/>
          </a:gradFill>
          <a:ln w="12700" cap="flat" cmpd="sng" algn="ctr">
            <a:solidFill>
              <a:srgbClr val="7030A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00" dirty="0">
                <a:solidFill>
                  <a:sysClr val="windowText" lastClr="000000"/>
                </a:solidFill>
              </a:rPr>
              <a:t>AWS Lambda</a:t>
            </a:r>
            <a:endParaRPr lang="en-US" sz="600" dirty="0">
              <a:solidFill>
                <a:sysClr val="windowText" lastClr="000000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2FB450E-3C2D-2F34-A691-A89845DC0295}"/>
              </a:ext>
            </a:extLst>
          </p:cNvPr>
          <p:cNvSpPr/>
          <p:nvPr/>
        </p:nvSpPr>
        <p:spPr>
          <a:xfrm>
            <a:off x="8668894" y="4125647"/>
            <a:ext cx="1220905" cy="436822"/>
          </a:xfrm>
          <a:prstGeom prst="roundRect">
            <a:avLst/>
          </a:prstGeom>
          <a:gradFill flip="none" rotWithShape="1">
            <a:gsLst>
              <a:gs pos="0">
                <a:srgbClr val="2ECC71">
                  <a:tint val="66000"/>
                  <a:satMod val="160000"/>
                </a:srgbClr>
              </a:gs>
              <a:gs pos="50000">
                <a:srgbClr val="2ECC71">
                  <a:tint val="44500"/>
                  <a:satMod val="160000"/>
                </a:srgbClr>
              </a:gs>
              <a:gs pos="100000">
                <a:srgbClr val="2ECC71">
                  <a:tint val="23500"/>
                  <a:satMod val="160000"/>
                </a:srgbClr>
              </a:gs>
            </a:gsLst>
            <a:lin ang="2700000" scaled="1"/>
            <a:tileRect/>
          </a:gra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00" dirty="0">
                <a:solidFill>
                  <a:sysClr val="windowText" lastClr="000000"/>
                </a:solidFill>
              </a:rPr>
              <a:t>RDS</a:t>
            </a:r>
          </a:p>
          <a:p>
            <a:pPr algn="r"/>
            <a:r>
              <a:rPr lang="en-US" sz="1000" dirty="0">
                <a:solidFill>
                  <a:sysClr val="windowText" lastClr="000000"/>
                </a:solidFill>
              </a:rPr>
              <a:t>Managed DB</a:t>
            </a:r>
            <a:endParaRPr lang="en-US" sz="600" dirty="0">
              <a:solidFill>
                <a:sysClr val="windowText" lastClr="000000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E4B7760-7DDC-1A64-B308-C318A643FC1D}"/>
              </a:ext>
            </a:extLst>
          </p:cNvPr>
          <p:cNvSpPr/>
          <p:nvPr/>
        </p:nvSpPr>
        <p:spPr>
          <a:xfrm>
            <a:off x="8668893" y="5037681"/>
            <a:ext cx="1220905" cy="436822"/>
          </a:xfrm>
          <a:prstGeom prst="roundRect">
            <a:avLst/>
          </a:prstGeom>
          <a:gradFill flip="none" rotWithShape="1">
            <a:gsLst>
              <a:gs pos="0">
                <a:srgbClr val="2ECC71">
                  <a:tint val="66000"/>
                  <a:satMod val="160000"/>
                </a:srgbClr>
              </a:gs>
              <a:gs pos="50000">
                <a:srgbClr val="2ECC71">
                  <a:tint val="44500"/>
                  <a:satMod val="160000"/>
                </a:srgbClr>
              </a:gs>
              <a:gs pos="100000">
                <a:srgbClr val="2ECC71">
                  <a:tint val="23500"/>
                  <a:satMod val="160000"/>
                </a:srgbClr>
              </a:gs>
            </a:gsLst>
            <a:lin ang="2700000" scaled="1"/>
            <a:tileRect/>
          </a:gra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00" dirty="0">
                <a:solidFill>
                  <a:sysClr val="windowText" lastClr="000000"/>
                </a:solidFill>
              </a:rPr>
              <a:t>S3 Storage</a:t>
            </a:r>
            <a:endParaRPr lang="en-US" sz="600" dirty="0">
              <a:solidFill>
                <a:sysClr val="windowText" lastClr="00000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D273650-4512-17AA-A1D7-EF594855BCAE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6140425" y="2246508"/>
            <a:ext cx="1" cy="356902"/>
          </a:xfrm>
          <a:prstGeom prst="straightConnector1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AAB30AB-3A77-4F14-1D68-FDF6EF972C4B}"/>
              </a:ext>
            </a:extLst>
          </p:cNvPr>
          <p:cNvCxnSpPr>
            <a:cxnSpLocks/>
          </p:cNvCxnSpPr>
          <p:nvPr/>
        </p:nvCxnSpPr>
        <p:spPr>
          <a:xfrm>
            <a:off x="6140425" y="3075215"/>
            <a:ext cx="1" cy="277307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D8B4839-C55C-A428-C00E-9994B1631187}"/>
              </a:ext>
            </a:extLst>
          </p:cNvPr>
          <p:cNvCxnSpPr>
            <a:cxnSpLocks/>
          </p:cNvCxnSpPr>
          <p:nvPr/>
        </p:nvCxnSpPr>
        <p:spPr>
          <a:xfrm>
            <a:off x="6140425" y="3787642"/>
            <a:ext cx="1" cy="324978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E694CFD5-BF10-6D26-A769-72707FD8EC84}"/>
              </a:ext>
            </a:extLst>
          </p:cNvPr>
          <p:cNvSpPr/>
          <p:nvPr/>
        </p:nvSpPr>
        <p:spPr>
          <a:xfrm>
            <a:off x="7431539" y="4125647"/>
            <a:ext cx="556694" cy="436822"/>
          </a:xfrm>
          <a:prstGeom prst="roundRect">
            <a:avLst/>
          </a:prstGeom>
          <a:gradFill flip="none" rotWithShape="1">
            <a:gsLst>
              <a:gs pos="0">
                <a:srgbClr val="EE6F00">
                  <a:tint val="66000"/>
                  <a:satMod val="160000"/>
                </a:srgbClr>
              </a:gs>
              <a:gs pos="50000">
                <a:srgbClr val="EE6F00">
                  <a:tint val="44500"/>
                  <a:satMod val="160000"/>
                </a:srgbClr>
              </a:gs>
              <a:gs pos="100000">
                <a:srgbClr val="EE6F00">
                  <a:tint val="23500"/>
                  <a:satMod val="160000"/>
                </a:srgbClr>
              </a:gs>
            </a:gsLst>
            <a:lin ang="2700000" scaled="1"/>
            <a:tileRect/>
          </a:gradFill>
          <a:ln w="12700" cap="flat" cmpd="sng" algn="ctr">
            <a:solidFill>
              <a:srgbClr val="EE6F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600" dirty="0">
              <a:solidFill>
                <a:sysClr val="windowText" lastClr="000000"/>
              </a:solidFill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A12F9C60-1872-00EC-6958-91D7E39E4FD3}"/>
              </a:ext>
            </a:extLst>
          </p:cNvPr>
          <p:cNvSpPr/>
          <p:nvPr/>
        </p:nvSpPr>
        <p:spPr>
          <a:xfrm>
            <a:off x="7431539" y="5037681"/>
            <a:ext cx="556694" cy="436822"/>
          </a:xfrm>
          <a:prstGeom prst="roundRect">
            <a:avLst/>
          </a:prstGeom>
          <a:gradFill flip="none" rotWithShape="1">
            <a:gsLst>
              <a:gs pos="0">
                <a:srgbClr val="EE6F00">
                  <a:tint val="66000"/>
                  <a:satMod val="160000"/>
                </a:srgbClr>
              </a:gs>
              <a:gs pos="50000">
                <a:srgbClr val="EE6F00">
                  <a:tint val="44500"/>
                  <a:satMod val="160000"/>
                </a:srgbClr>
              </a:gs>
              <a:gs pos="100000">
                <a:srgbClr val="EE6F00">
                  <a:tint val="23500"/>
                  <a:satMod val="160000"/>
                </a:srgbClr>
              </a:gs>
            </a:gsLst>
            <a:lin ang="2700000" scaled="1"/>
            <a:tileRect/>
          </a:gradFill>
          <a:ln w="12700" cap="flat" cmpd="sng" algn="ctr">
            <a:solidFill>
              <a:srgbClr val="EE6F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600" dirty="0">
              <a:solidFill>
                <a:sysClr val="windowText" lastClr="000000"/>
              </a:solidFill>
            </a:endParaRP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B967459E-AD64-24E8-8A70-C3EED076A63E}"/>
              </a:ext>
            </a:extLst>
          </p:cNvPr>
          <p:cNvSpPr/>
          <p:nvPr/>
        </p:nvSpPr>
        <p:spPr>
          <a:xfrm>
            <a:off x="4292618" y="5050235"/>
            <a:ext cx="556694" cy="436822"/>
          </a:xfrm>
          <a:prstGeom prst="roundRect">
            <a:avLst/>
          </a:prstGeom>
          <a:gradFill flip="none" rotWithShape="1">
            <a:gsLst>
              <a:gs pos="0">
                <a:srgbClr val="EE6F00">
                  <a:tint val="66000"/>
                  <a:satMod val="160000"/>
                </a:srgbClr>
              </a:gs>
              <a:gs pos="50000">
                <a:srgbClr val="EE6F00">
                  <a:tint val="44500"/>
                  <a:satMod val="160000"/>
                </a:srgbClr>
              </a:gs>
              <a:gs pos="100000">
                <a:srgbClr val="EE6F00">
                  <a:tint val="23500"/>
                  <a:satMod val="160000"/>
                </a:srgbClr>
              </a:gs>
            </a:gsLst>
            <a:lin ang="2700000" scaled="1"/>
            <a:tileRect/>
          </a:gradFill>
          <a:ln w="12700" cap="flat" cmpd="sng" algn="ctr">
            <a:solidFill>
              <a:srgbClr val="EE6F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600" dirty="0">
              <a:solidFill>
                <a:sysClr val="windowText" lastClr="000000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9A3EFE2-A34C-5645-8DA2-59D2AC5907CF}"/>
              </a:ext>
            </a:extLst>
          </p:cNvPr>
          <p:cNvCxnSpPr/>
          <p:nvPr/>
        </p:nvCxnSpPr>
        <p:spPr>
          <a:xfrm flipH="1">
            <a:off x="7988233" y="4478247"/>
            <a:ext cx="680660" cy="0"/>
          </a:xfrm>
          <a:prstGeom prst="straightConnector1">
            <a:avLst/>
          </a:prstGeom>
          <a:ln w="12700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78BC413-940D-8393-8405-77B62C844E62}"/>
              </a:ext>
            </a:extLst>
          </p:cNvPr>
          <p:cNvCxnSpPr/>
          <p:nvPr/>
        </p:nvCxnSpPr>
        <p:spPr>
          <a:xfrm flipH="1">
            <a:off x="6750878" y="4478247"/>
            <a:ext cx="680660" cy="0"/>
          </a:xfrm>
          <a:prstGeom prst="straightConnector1">
            <a:avLst/>
          </a:prstGeom>
          <a:ln w="12700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594FA86-3EC1-EFA2-093D-5285A63C25C2}"/>
              </a:ext>
            </a:extLst>
          </p:cNvPr>
          <p:cNvCxnSpPr/>
          <p:nvPr/>
        </p:nvCxnSpPr>
        <p:spPr>
          <a:xfrm flipH="1">
            <a:off x="7988233" y="5362205"/>
            <a:ext cx="680660" cy="0"/>
          </a:xfrm>
          <a:prstGeom prst="straightConnector1">
            <a:avLst/>
          </a:prstGeom>
          <a:ln w="12700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53A7D9EF-F180-977A-9400-0FDFDDCD89F6}"/>
              </a:ext>
            </a:extLst>
          </p:cNvPr>
          <p:cNvCxnSpPr>
            <a:cxnSpLocks/>
          </p:cNvCxnSpPr>
          <p:nvPr/>
        </p:nvCxnSpPr>
        <p:spPr>
          <a:xfrm rot="10800000">
            <a:off x="6210635" y="4584191"/>
            <a:ext cx="1220907" cy="774470"/>
          </a:xfrm>
          <a:prstGeom prst="bentConnector3">
            <a:avLst>
              <a:gd name="adj1" fmla="val 99273"/>
            </a:avLst>
          </a:prstGeom>
          <a:ln w="12700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Elbow Connector 1028">
            <a:extLst>
              <a:ext uri="{FF2B5EF4-FFF2-40B4-BE49-F238E27FC236}">
                <a16:creationId xmlns:a16="http://schemas.microsoft.com/office/drawing/2014/main" id="{D456502F-486E-73A8-3806-FC55EF154A0B}"/>
              </a:ext>
            </a:extLst>
          </p:cNvPr>
          <p:cNvCxnSpPr>
            <a:cxnSpLocks/>
          </p:cNvCxnSpPr>
          <p:nvPr/>
        </p:nvCxnSpPr>
        <p:spPr>
          <a:xfrm>
            <a:off x="6411561" y="4575496"/>
            <a:ext cx="993667" cy="593180"/>
          </a:xfrm>
          <a:prstGeom prst="bentConnector3">
            <a:avLst>
              <a:gd name="adj1" fmla="val 1567"/>
            </a:avLst>
          </a:prstGeom>
          <a:ln w="12700">
            <a:solidFill>
              <a:srgbClr val="EE6F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Arrow Connector 1037">
            <a:extLst>
              <a:ext uri="{FF2B5EF4-FFF2-40B4-BE49-F238E27FC236}">
                <a16:creationId xmlns:a16="http://schemas.microsoft.com/office/drawing/2014/main" id="{5A5D271D-1F91-DC02-A02A-9D9F4E87CC89}"/>
              </a:ext>
            </a:extLst>
          </p:cNvPr>
          <p:cNvCxnSpPr>
            <a:cxnSpLocks/>
          </p:cNvCxnSpPr>
          <p:nvPr/>
        </p:nvCxnSpPr>
        <p:spPr>
          <a:xfrm>
            <a:off x="8000725" y="5168676"/>
            <a:ext cx="668167" cy="0"/>
          </a:xfrm>
          <a:prstGeom prst="straightConnector1">
            <a:avLst/>
          </a:prstGeom>
          <a:ln w="12700">
            <a:solidFill>
              <a:srgbClr val="EE6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Elbow Connector 1043">
            <a:extLst>
              <a:ext uri="{FF2B5EF4-FFF2-40B4-BE49-F238E27FC236}">
                <a16:creationId xmlns:a16="http://schemas.microsoft.com/office/drawing/2014/main" id="{2D92862F-E014-BA70-A1D2-8CCBD376332F}"/>
              </a:ext>
            </a:extLst>
          </p:cNvPr>
          <p:cNvCxnSpPr>
            <a:cxnSpLocks/>
          </p:cNvCxnSpPr>
          <p:nvPr/>
        </p:nvCxnSpPr>
        <p:spPr>
          <a:xfrm flipV="1">
            <a:off x="4875623" y="4584191"/>
            <a:ext cx="1082292" cy="774471"/>
          </a:xfrm>
          <a:prstGeom prst="bentConnector3">
            <a:avLst>
              <a:gd name="adj1" fmla="val 98914"/>
            </a:avLst>
          </a:prstGeom>
          <a:ln w="12700">
            <a:solidFill>
              <a:srgbClr val="7030A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Arrow Connector 1047">
            <a:extLst>
              <a:ext uri="{FF2B5EF4-FFF2-40B4-BE49-F238E27FC236}">
                <a16:creationId xmlns:a16="http://schemas.microsoft.com/office/drawing/2014/main" id="{2B3A6DC9-F331-96E4-4B8A-A5CCAD899CF0}"/>
              </a:ext>
            </a:extLst>
          </p:cNvPr>
          <p:cNvCxnSpPr/>
          <p:nvPr/>
        </p:nvCxnSpPr>
        <p:spPr>
          <a:xfrm flipH="1">
            <a:off x="3552984" y="5370694"/>
            <a:ext cx="680660" cy="0"/>
          </a:xfrm>
          <a:prstGeom prst="straightConnector1">
            <a:avLst/>
          </a:prstGeom>
          <a:ln w="12700">
            <a:solidFill>
              <a:srgbClr val="EE6F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70BD15DF-21B9-BA5F-4333-F9D2125CDB98}"/>
              </a:ext>
            </a:extLst>
          </p:cNvPr>
          <p:cNvCxnSpPr>
            <a:cxnSpLocks/>
          </p:cNvCxnSpPr>
          <p:nvPr/>
        </p:nvCxnSpPr>
        <p:spPr>
          <a:xfrm>
            <a:off x="3552984" y="5168676"/>
            <a:ext cx="739634" cy="0"/>
          </a:xfrm>
          <a:prstGeom prst="straightConnector1">
            <a:avLst/>
          </a:prstGeom>
          <a:ln w="1270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Elbow Connector 1056">
            <a:extLst>
              <a:ext uri="{FF2B5EF4-FFF2-40B4-BE49-F238E27FC236}">
                <a16:creationId xmlns:a16="http://schemas.microsoft.com/office/drawing/2014/main" id="{12BB84DF-A067-738E-5822-2EBEEB2849F6}"/>
              </a:ext>
            </a:extLst>
          </p:cNvPr>
          <p:cNvCxnSpPr>
            <a:cxnSpLocks/>
          </p:cNvCxnSpPr>
          <p:nvPr/>
        </p:nvCxnSpPr>
        <p:spPr>
          <a:xfrm flipV="1">
            <a:off x="4875622" y="4575496"/>
            <a:ext cx="829630" cy="593180"/>
          </a:xfrm>
          <a:prstGeom prst="bentConnector3">
            <a:avLst>
              <a:gd name="adj1" fmla="val 102208"/>
            </a:avLst>
          </a:prstGeom>
          <a:ln w="12700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1" name="Content Placeholder 2">
            <a:extLst>
              <a:ext uri="{FF2B5EF4-FFF2-40B4-BE49-F238E27FC236}">
                <a16:creationId xmlns:a16="http://schemas.microsoft.com/office/drawing/2014/main" id="{4518DF32-E584-F7F2-73BF-C165F088CB72}"/>
              </a:ext>
            </a:extLst>
          </p:cNvPr>
          <p:cNvSpPr txBox="1">
            <a:spLocks/>
          </p:cNvSpPr>
          <p:nvPr/>
        </p:nvSpPr>
        <p:spPr>
          <a:xfrm>
            <a:off x="6169780" y="2183767"/>
            <a:ext cx="981652" cy="4368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900" dirty="0">
                <a:solidFill>
                  <a:srgbClr val="F2F2F2"/>
                </a:solidFill>
              </a:rPr>
              <a:t>HTTPS request</a:t>
            </a:r>
          </a:p>
        </p:txBody>
      </p:sp>
      <p:sp>
        <p:nvSpPr>
          <p:cNvPr id="1062" name="Content Placeholder 2">
            <a:extLst>
              <a:ext uri="{FF2B5EF4-FFF2-40B4-BE49-F238E27FC236}">
                <a16:creationId xmlns:a16="http://schemas.microsoft.com/office/drawing/2014/main" id="{DBA07E40-63C3-B806-FEFE-4B3421D4AD72}"/>
              </a:ext>
            </a:extLst>
          </p:cNvPr>
          <p:cNvSpPr txBox="1">
            <a:spLocks/>
          </p:cNvSpPr>
          <p:nvPr/>
        </p:nvSpPr>
        <p:spPr>
          <a:xfrm>
            <a:off x="6140423" y="2973181"/>
            <a:ext cx="1130627" cy="4368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900" dirty="0">
                <a:solidFill>
                  <a:srgbClr val="F2F2F2"/>
                </a:solidFill>
              </a:rPr>
              <a:t>Route to endpoint</a:t>
            </a:r>
          </a:p>
        </p:txBody>
      </p:sp>
      <p:sp>
        <p:nvSpPr>
          <p:cNvPr id="1063" name="Content Placeholder 2">
            <a:extLst>
              <a:ext uri="{FF2B5EF4-FFF2-40B4-BE49-F238E27FC236}">
                <a16:creationId xmlns:a16="http://schemas.microsoft.com/office/drawing/2014/main" id="{EC2651A9-4CB8-BDC4-8AED-304D41A7E50D}"/>
              </a:ext>
            </a:extLst>
          </p:cNvPr>
          <p:cNvSpPr txBox="1">
            <a:spLocks/>
          </p:cNvSpPr>
          <p:nvPr/>
        </p:nvSpPr>
        <p:spPr>
          <a:xfrm>
            <a:off x="6169780" y="3746417"/>
            <a:ext cx="981652" cy="4368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900" dirty="0">
                <a:solidFill>
                  <a:srgbClr val="F2F2F2"/>
                </a:solidFill>
              </a:rPr>
              <a:t>Distribute traffic</a:t>
            </a:r>
          </a:p>
        </p:txBody>
      </p:sp>
      <p:sp>
        <p:nvSpPr>
          <p:cNvPr id="1064" name="Content Placeholder 2">
            <a:extLst>
              <a:ext uri="{FF2B5EF4-FFF2-40B4-BE49-F238E27FC236}">
                <a16:creationId xmlns:a16="http://schemas.microsoft.com/office/drawing/2014/main" id="{8317D742-AF0E-1C14-89F9-745381C211A6}"/>
              </a:ext>
            </a:extLst>
          </p:cNvPr>
          <p:cNvSpPr txBox="1">
            <a:spLocks/>
          </p:cNvSpPr>
          <p:nvPr/>
        </p:nvSpPr>
        <p:spPr>
          <a:xfrm>
            <a:off x="3166787" y="4613420"/>
            <a:ext cx="1512029" cy="4368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900" dirty="0">
                <a:solidFill>
                  <a:srgbClr val="F2F2F2"/>
                </a:solidFill>
              </a:rPr>
              <a:t>Event trigger (order placed / payment confirmed)</a:t>
            </a:r>
          </a:p>
        </p:txBody>
      </p:sp>
      <p:sp>
        <p:nvSpPr>
          <p:cNvPr id="1065" name="Content Placeholder 2">
            <a:extLst>
              <a:ext uri="{FF2B5EF4-FFF2-40B4-BE49-F238E27FC236}">
                <a16:creationId xmlns:a16="http://schemas.microsoft.com/office/drawing/2014/main" id="{233A1EEA-65B0-BC22-BC1E-0BD43A70D985}"/>
              </a:ext>
            </a:extLst>
          </p:cNvPr>
          <p:cNvSpPr txBox="1">
            <a:spLocks/>
          </p:cNvSpPr>
          <p:nvPr/>
        </p:nvSpPr>
        <p:spPr>
          <a:xfrm>
            <a:off x="3282861" y="5427840"/>
            <a:ext cx="1220905" cy="4368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900" dirty="0">
                <a:solidFill>
                  <a:srgbClr val="F2F2F2"/>
                </a:solidFill>
              </a:rPr>
              <a:t>Notification / Assignment</a:t>
            </a:r>
          </a:p>
        </p:txBody>
      </p:sp>
      <p:sp>
        <p:nvSpPr>
          <p:cNvPr id="1067" name="Content Placeholder 2">
            <a:extLst>
              <a:ext uri="{FF2B5EF4-FFF2-40B4-BE49-F238E27FC236}">
                <a16:creationId xmlns:a16="http://schemas.microsoft.com/office/drawing/2014/main" id="{623D185C-AFC6-4407-9096-4AAE6AA18D3D}"/>
              </a:ext>
            </a:extLst>
          </p:cNvPr>
          <p:cNvSpPr txBox="1">
            <a:spLocks/>
          </p:cNvSpPr>
          <p:nvPr/>
        </p:nvSpPr>
        <p:spPr>
          <a:xfrm>
            <a:off x="7837737" y="4706984"/>
            <a:ext cx="981652" cy="4368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900" dirty="0">
                <a:solidFill>
                  <a:srgbClr val="F2F2F2"/>
                </a:solidFill>
              </a:rPr>
              <a:t>Store / Retrieve</a:t>
            </a:r>
          </a:p>
        </p:txBody>
      </p:sp>
      <p:sp>
        <p:nvSpPr>
          <p:cNvPr id="1068" name="Content Placeholder 2">
            <a:extLst>
              <a:ext uri="{FF2B5EF4-FFF2-40B4-BE49-F238E27FC236}">
                <a16:creationId xmlns:a16="http://schemas.microsoft.com/office/drawing/2014/main" id="{FB0CB1CF-6BD3-2F88-CAC5-8722258052E4}"/>
              </a:ext>
            </a:extLst>
          </p:cNvPr>
          <p:cNvSpPr txBox="1">
            <a:spLocks/>
          </p:cNvSpPr>
          <p:nvPr/>
        </p:nvSpPr>
        <p:spPr>
          <a:xfrm>
            <a:off x="7843982" y="5337143"/>
            <a:ext cx="981652" cy="4368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900" dirty="0">
                <a:solidFill>
                  <a:srgbClr val="F2F2F2"/>
                </a:solidFill>
              </a:rPr>
              <a:t>Return assets</a:t>
            </a:r>
          </a:p>
        </p:txBody>
      </p:sp>
      <p:sp>
        <p:nvSpPr>
          <p:cNvPr id="1069" name="Content Placeholder 2">
            <a:extLst>
              <a:ext uri="{FF2B5EF4-FFF2-40B4-BE49-F238E27FC236}">
                <a16:creationId xmlns:a16="http://schemas.microsoft.com/office/drawing/2014/main" id="{DF60B0CD-1148-9FEC-4AA8-3B41EF9A739A}"/>
              </a:ext>
            </a:extLst>
          </p:cNvPr>
          <p:cNvSpPr txBox="1">
            <a:spLocks/>
          </p:cNvSpPr>
          <p:nvPr/>
        </p:nvSpPr>
        <p:spPr>
          <a:xfrm>
            <a:off x="7866002" y="3826847"/>
            <a:ext cx="981652" cy="4368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900" dirty="0">
                <a:solidFill>
                  <a:srgbClr val="F2F2F2"/>
                </a:solidFill>
              </a:rPr>
              <a:t>Query / Write</a:t>
            </a:r>
          </a:p>
        </p:txBody>
      </p:sp>
      <p:sp>
        <p:nvSpPr>
          <p:cNvPr id="1070" name="Content Placeholder 2">
            <a:extLst>
              <a:ext uri="{FF2B5EF4-FFF2-40B4-BE49-F238E27FC236}">
                <a16:creationId xmlns:a16="http://schemas.microsoft.com/office/drawing/2014/main" id="{5D77B2C3-627A-4753-8D19-636464135C0A}"/>
              </a:ext>
            </a:extLst>
          </p:cNvPr>
          <p:cNvSpPr txBox="1">
            <a:spLocks/>
          </p:cNvSpPr>
          <p:nvPr/>
        </p:nvSpPr>
        <p:spPr>
          <a:xfrm>
            <a:off x="7914130" y="4412179"/>
            <a:ext cx="981652" cy="4368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900" dirty="0">
                <a:solidFill>
                  <a:srgbClr val="F2F2F2"/>
                </a:solidFill>
              </a:rPr>
              <a:t>Return data</a:t>
            </a:r>
          </a:p>
        </p:txBody>
      </p:sp>
      <p:cxnSp>
        <p:nvCxnSpPr>
          <p:cNvPr id="1071" name="Straight Arrow Connector 1070">
            <a:extLst>
              <a:ext uri="{FF2B5EF4-FFF2-40B4-BE49-F238E27FC236}">
                <a16:creationId xmlns:a16="http://schemas.microsoft.com/office/drawing/2014/main" id="{05EFF2BF-F94D-B4B0-9FCB-A32B80DE72D0}"/>
              </a:ext>
            </a:extLst>
          </p:cNvPr>
          <p:cNvCxnSpPr>
            <a:cxnSpLocks/>
          </p:cNvCxnSpPr>
          <p:nvPr/>
        </p:nvCxnSpPr>
        <p:spPr>
          <a:xfrm>
            <a:off x="6771817" y="4268072"/>
            <a:ext cx="668167" cy="0"/>
          </a:xfrm>
          <a:prstGeom prst="straightConnector1">
            <a:avLst/>
          </a:prstGeom>
          <a:ln w="12700">
            <a:solidFill>
              <a:srgbClr val="EE6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Straight Arrow Connector 1071">
            <a:extLst>
              <a:ext uri="{FF2B5EF4-FFF2-40B4-BE49-F238E27FC236}">
                <a16:creationId xmlns:a16="http://schemas.microsoft.com/office/drawing/2014/main" id="{82BC434D-8FBB-99D3-66B5-719B023C1E6C}"/>
              </a:ext>
            </a:extLst>
          </p:cNvPr>
          <p:cNvCxnSpPr>
            <a:cxnSpLocks/>
          </p:cNvCxnSpPr>
          <p:nvPr/>
        </p:nvCxnSpPr>
        <p:spPr>
          <a:xfrm>
            <a:off x="7994479" y="4268072"/>
            <a:ext cx="668167" cy="0"/>
          </a:xfrm>
          <a:prstGeom prst="straightConnector1">
            <a:avLst/>
          </a:prstGeom>
          <a:ln w="12700">
            <a:solidFill>
              <a:srgbClr val="EE6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Amazonroute53 icon - Free Download PNG &amp; SVG | Streamline">
            <a:extLst>
              <a:ext uri="{FF2B5EF4-FFF2-40B4-BE49-F238E27FC236}">
                <a16:creationId xmlns:a16="http://schemas.microsoft.com/office/drawing/2014/main" id="{3EA995E6-32DE-26A6-9484-4EF5B7B2F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204" y="2707930"/>
            <a:ext cx="235903" cy="235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83BB8A18-E2D1-E80B-BC1B-A6E6BDE37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956" y="3378237"/>
            <a:ext cx="349979" cy="349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Aws Ec2 icon - Free Download PNG &amp; SVG | Streamline">
            <a:extLst>
              <a:ext uri="{FF2B5EF4-FFF2-40B4-BE49-F238E27FC236}">
                <a16:creationId xmlns:a16="http://schemas.microsoft.com/office/drawing/2014/main" id="{3C3E22E6-0163-A79B-70D7-F61D6FB77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422" y="4199881"/>
            <a:ext cx="278577" cy="278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3" name="Picture 6" descr="Aws Ec2 icon - Free Download PNG &amp; SVG | Streamline">
            <a:extLst>
              <a:ext uri="{FF2B5EF4-FFF2-40B4-BE49-F238E27FC236}">
                <a16:creationId xmlns:a16="http://schemas.microsoft.com/office/drawing/2014/main" id="{26F35DD7-5160-1BA8-340E-B6BAEA60C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316" y="4216861"/>
            <a:ext cx="278577" cy="278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4" name="Picture 6" descr="Aws Ec2 icon - Free Download PNG &amp; SVG | Streamline">
            <a:extLst>
              <a:ext uri="{FF2B5EF4-FFF2-40B4-BE49-F238E27FC236}">
                <a16:creationId xmlns:a16="http://schemas.microsoft.com/office/drawing/2014/main" id="{09428461-13BC-985F-8540-CD7F0DA6D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1707" y="5129357"/>
            <a:ext cx="278577" cy="278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5" name="Picture 6" descr="Aws Ec2 icon - Free Download PNG &amp; SVG | Streamline">
            <a:extLst>
              <a:ext uri="{FF2B5EF4-FFF2-40B4-BE49-F238E27FC236}">
                <a16:creationId xmlns:a16="http://schemas.microsoft.com/office/drawing/2014/main" id="{A8DE7590-24BD-BEA3-DA4E-F29062BDF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0236" y="5124275"/>
            <a:ext cx="278577" cy="278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Aws S3 icon - Free Download PNG &amp; SVG | Streamline">
            <a:extLst>
              <a:ext uri="{FF2B5EF4-FFF2-40B4-BE49-F238E27FC236}">
                <a16:creationId xmlns:a16="http://schemas.microsoft.com/office/drawing/2014/main" id="{FA478868-9C1C-367E-86EC-4EB9B1BC0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9345" y="5089655"/>
            <a:ext cx="332874" cy="332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Green database icon - Free green database icons">
            <a:extLst>
              <a:ext uri="{FF2B5EF4-FFF2-40B4-BE49-F238E27FC236}">
                <a16:creationId xmlns:a16="http://schemas.microsoft.com/office/drawing/2014/main" id="{1595BDCB-3B77-8439-DD85-F42786088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6486" y="4217551"/>
            <a:ext cx="234798" cy="234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6" name="Rounded Rectangle 1075">
            <a:extLst>
              <a:ext uri="{FF2B5EF4-FFF2-40B4-BE49-F238E27FC236}">
                <a16:creationId xmlns:a16="http://schemas.microsoft.com/office/drawing/2014/main" id="{D47AAF6D-1EC8-2A5E-B095-4A2692EF05FE}"/>
              </a:ext>
            </a:extLst>
          </p:cNvPr>
          <p:cNvSpPr/>
          <p:nvPr/>
        </p:nvSpPr>
        <p:spPr>
          <a:xfrm>
            <a:off x="2368175" y="5089655"/>
            <a:ext cx="244962" cy="332874"/>
          </a:xfrm>
          <a:prstGeom prst="roundRect">
            <a:avLst/>
          </a:prstGeom>
          <a:solidFill>
            <a:srgbClr val="7030A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7" name="Content Placeholder 2">
            <a:extLst>
              <a:ext uri="{FF2B5EF4-FFF2-40B4-BE49-F238E27FC236}">
                <a16:creationId xmlns:a16="http://schemas.microsoft.com/office/drawing/2014/main" id="{5DEF20CC-9CD3-4295-5BD6-4946FBA051E7}"/>
              </a:ext>
            </a:extLst>
          </p:cNvPr>
          <p:cNvSpPr txBox="1">
            <a:spLocks/>
          </p:cNvSpPr>
          <p:nvPr/>
        </p:nvSpPr>
        <p:spPr>
          <a:xfrm>
            <a:off x="2363234" y="5089656"/>
            <a:ext cx="250999" cy="3594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l-GR" sz="1600" dirty="0">
                <a:solidFill>
                  <a:schemeClr val="bg1"/>
                </a:solidFill>
              </a:rPr>
              <a:t>λ</a:t>
            </a:r>
            <a:endParaRPr lang="en-GB" sz="1600" dirty="0">
              <a:solidFill>
                <a:schemeClr val="bg1"/>
              </a:solidFill>
            </a:endParaRPr>
          </a:p>
        </p:txBody>
      </p:sp>
      <p:pic>
        <p:nvPicPr>
          <p:cNvPr id="3088" name="Picture 16">
            <a:extLst>
              <a:ext uri="{FF2B5EF4-FFF2-40B4-BE49-F238E27FC236}">
                <a16:creationId xmlns:a16="http://schemas.microsoft.com/office/drawing/2014/main" id="{7BE884AB-D0AB-A6EC-4277-405BFF59F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552" y="1874682"/>
            <a:ext cx="279400" cy="27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578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061"/>
    </mc:Choice>
    <mc:Fallback xmlns="">
      <p:transition spd="slow" advTm="510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0" grpId="0" animBg="1"/>
      <p:bldP spid="21" grpId="0" animBg="1"/>
      <p:bldP spid="22" grpId="0" animBg="1"/>
      <p:bldP spid="23" grpId="0" animBg="1"/>
      <p:bldP spid="51" grpId="0" animBg="1"/>
      <p:bldP spid="52" grpId="0" animBg="1"/>
      <p:bldP spid="53" grpId="0" animBg="1"/>
      <p:bldP spid="1062" grpId="0"/>
      <p:bldP spid="1063" grpId="0"/>
      <p:bldP spid="1064" grpId="0"/>
      <p:bldP spid="1065" grpId="0"/>
      <p:bldP spid="1067" grpId="0"/>
      <p:bldP spid="1068" grpId="0"/>
      <p:bldP spid="1069" grpId="0"/>
      <p:bldP spid="1070" grpId="0"/>
      <p:bldP spid="1076" grpId="0" animBg="1"/>
      <p:bldP spid="107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EBB36-B089-F375-3EF2-EF8BCE8B0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a very tall building with a lot of windows">
            <a:extLst>
              <a:ext uri="{FF2B5EF4-FFF2-40B4-BE49-F238E27FC236}">
                <a16:creationId xmlns:a16="http://schemas.microsoft.com/office/drawing/2014/main" id="{87B36460-EE77-A2D0-7B9A-D750A7FA9E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8" b="7794"/>
          <a:stretch>
            <a:fillRect/>
          </a:stretch>
        </p:blipFill>
        <p:spPr bwMode="auto">
          <a:xfrm>
            <a:off x="0" y="0"/>
            <a:ext cx="1222187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5C3D281-46FD-0959-D142-A890581240E4}"/>
              </a:ext>
            </a:extLst>
          </p:cNvPr>
          <p:cNvSpPr/>
          <p:nvPr/>
        </p:nvSpPr>
        <p:spPr>
          <a:xfrm>
            <a:off x="0" y="0"/>
            <a:ext cx="12196894" cy="7226402"/>
          </a:xfrm>
          <a:prstGeom prst="rect">
            <a:avLst/>
          </a:prstGeom>
          <a:solidFill>
            <a:srgbClr val="000000">
              <a:alpha val="6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491F1B-8525-4B67-885A-9F2B73146D53}"/>
              </a:ext>
            </a:extLst>
          </p:cNvPr>
          <p:cNvSpPr/>
          <p:nvPr/>
        </p:nvSpPr>
        <p:spPr>
          <a:xfrm>
            <a:off x="676966" y="1505055"/>
            <a:ext cx="10838067" cy="741296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F2F2F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5ED90-AD8E-057B-2D8F-A9752A691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5879" y="1558200"/>
            <a:ext cx="10470703" cy="68815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Public cloud | </a:t>
            </a:r>
            <a:r>
              <a:rPr lang="en-US" sz="2400" b="1" dirty="0" err="1">
                <a:solidFill>
                  <a:schemeClr val="bg1"/>
                </a:solidFill>
              </a:rPr>
              <a:t>IaaS+PaaS</a:t>
            </a:r>
            <a:r>
              <a:rPr lang="en-US" sz="2400" b="1" dirty="0">
                <a:solidFill>
                  <a:schemeClr val="bg1"/>
                </a:solidFill>
              </a:rPr>
              <a:t> | Hybrid cost model | AWS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277FD7-D1A0-8EBF-F828-9463A7C7BBCD}"/>
              </a:ext>
            </a:extLst>
          </p:cNvPr>
          <p:cNvSpPr/>
          <p:nvPr/>
        </p:nvSpPr>
        <p:spPr>
          <a:xfrm>
            <a:off x="676966" y="3422330"/>
            <a:ext cx="10838067" cy="2358113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2F2F2"/>
              </a:solidFill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039523D-D132-2FE8-9DA9-004F1121532C}"/>
              </a:ext>
            </a:extLst>
          </p:cNvPr>
          <p:cNvSpPr txBox="1">
            <a:spLocks/>
          </p:cNvSpPr>
          <p:nvPr/>
        </p:nvSpPr>
        <p:spPr>
          <a:xfrm>
            <a:off x="875880" y="3422330"/>
            <a:ext cx="10470702" cy="2323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</a:rPr>
              <a:t>80% cost reduction (measured service) </a:t>
            </a:r>
          </a:p>
          <a:p>
            <a:r>
              <a:rPr lang="en-US" sz="2400" dirty="0">
                <a:solidFill>
                  <a:schemeClr val="bg1"/>
                </a:solidFill>
              </a:rPr>
              <a:t>10x surge absorbed (rapid elasticity)</a:t>
            </a:r>
          </a:p>
          <a:p>
            <a:r>
              <a:rPr lang="en-US" sz="2400" dirty="0">
                <a:solidFill>
                  <a:schemeClr val="bg1"/>
                </a:solidFill>
              </a:rPr>
              <a:t>Zero-headcount scaling (resource pooling + Auto Scaling) </a:t>
            </a:r>
          </a:p>
          <a:p>
            <a:r>
              <a:rPr lang="en-US" sz="2400" dirty="0">
                <a:solidFill>
                  <a:schemeClr val="bg1"/>
                </a:solidFill>
              </a:rPr>
              <a:t>Workflow automation (Lambda event triggers)</a:t>
            </a:r>
          </a:p>
        </p:txBody>
      </p:sp>
      <p:pic>
        <p:nvPicPr>
          <p:cNvPr id="10" name="Picture 9" descr="Torrens University Australia research repository - Browse">
            <a:extLst>
              <a:ext uri="{FF2B5EF4-FFF2-40B4-BE49-F238E27FC236}">
                <a16:creationId xmlns:a16="http://schemas.microsoft.com/office/drawing/2014/main" id="{8D9CCFFD-05BB-8AA1-EB1A-CEBC5DB620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0326" y="6179120"/>
            <a:ext cx="1384454" cy="74265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6965620-1C54-AD1C-797A-952FEBA47FEF}"/>
              </a:ext>
            </a:extLst>
          </p:cNvPr>
          <p:cNvSpPr/>
          <p:nvPr/>
        </p:nvSpPr>
        <p:spPr>
          <a:xfrm>
            <a:off x="-1" y="797169"/>
            <a:ext cx="3640015" cy="123267"/>
          </a:xfrm>
          <a:prstGeom prst="rect">
            <a:avLst/>
          </a:prstGeom>
          <a:solidFill>
            <a:srgbClr val="FF4F00">
              <a:alpha val="29779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3670F5-F76F-F78A-6A9B-4F2BC2572CA0}"/>
              </a:ext>
            </a:extLst>
          </p:cNvPr>
          <p:cNvSpPr txBox="1"/>
          <p:nvPr/>
        </p:nvSpPr>
        <p:spPr>
          <a:xfrm>
            <a:off x="446900" y="304632"/>
            <a:ext cx="85189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EE6F00"/>
                </a:solidFill>
              </a:rPr>
              <a:t>C</a:t>
            </a:r>
            <a:r>
              <a:rPr lang="en-US" sz="3200" b="1" dirty="0">
                <a:solidFill>
                  <a:schemeClr val="bg1"/>
                </a:solidFill>
              </a:rPr>
              <a:t>ONCLUSION</a:t>
            </a:r>
            <a:endParaRPr lang="en-US" sz="1100" b="1" dirty="0">
              <a:solidFill>
                <a:schemeClr val="bg1"/>
              </a:solidFill>
              <a:cs typeface="Segoe UI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464F66B-7E9B-AB08-D6E8-6D5BED24335A}"/>
              </a:ext>
            </a:extLst>
          </p:cNvPr>
          <p:cNvSpPr txBox="1">
            <a:spLocks/>
          </p:cNvSpPr>
          <p:nvPr/>
        </p:nvSpPr>
        <p:spPr>
          <a:xfrm>
            <a:off x="707429" y="2920988"/>
            <a:ext cx="10807604" cy="5013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Key Outcomes Unlocked: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6948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130"/>
    </mc:Choice>
    <mc:Fallback xmlns="">
      <p:transition spd="slow" advTm="291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 build="p"/>
      <p:bldP spid="8" grpId="0" animBg="1"/>
      <p:bldP spid="23" grpId="0" build="p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1FD49-7A9E-27BE-D383-8898A2BE5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a very tall building with a lot of windows">
            <a:extLst>
              <a:ext uri="{FF2B5EF4-FFF2-40B4-BE49-F238E27FC236}">
                <a16:creationId xmlns:a16="http://schemas.microsoft.com/office/drawing/2014/main" id="{846B332D-2BF1-4ADE-25BD-A94461B376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8" b="7794"/>
          <a:stretch>
            <a:fillRect/>
          </a:stretch>
        </p:blipFill>
        <p:spPr bwMode="auto">
          <a:xfrm>
            <a:off x="0" y="0"/>
            <a:ext cx="1222187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2953B12-0BED-5890-9CA2-159EC4C9B7D8}"/>
              </a:ext>
            </a:extLst>
          </p:cNvPr>
          <p:cNvSpPr/>
          <p:nvPr/>
        </p:nvSpPr>
        <p:spPr>
          <a:xfrm>
            <a:off x="-1" y="0"/>
            <a:ext cx="12251757" cy="6913879"/>
          </a:xfrm>
          <a:prstGeom prst="rect">
            <a:avLst/>
          </a:prstGeom>
          <a:solidFill>
            <a:srgbClr val="000000">
              <a:alpha val="7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Torrens University Australia research repository - Browse">
            <a:extLst>
              <a:ext uri="{FF2B5EF4-FFF2-40B4-BE49-F238E27FC236}">
                <a16:creationId xmlns:a16="http://schemas.microsoft.com/office/drawing/2014/main" id="{9E1A708B-C060-5B22-8F5E-FD8CD1DC3A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0326" y="6179120"/>
            <a:ext cx="1384454" cy="74265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7A8D380-C278-9AB6-00E0-A715283C5C14}"/>
              </a:ext>
            </a:extLst>
          </p:cNvPr>
          <p:cNvSpPr/>
          <p:nvPr/>
        </p:nvSpPr>
        <p:spPr>
          <a:xfrm>
            <a:off x="696951" y="934720"/>
            <a:ext cx="11038470" cy="5281815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2F2F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722A1D-04B6-AC14-C0D0-6315C5C1AB98}"/>
              </a:ext>
            </a:extLst>
          </p:cNvPr>
          <p:cNvSpPr txBox="1"/>
          <p:nvPr/>
        </p:nvSpPr>
        <p:spPr>
          <a:xfrm>
            <a:off x="927683" y="1444701"/>
            <a:ext cx="10567366" cy="43396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Amazon Web Services. (n.d.-a). </a:t>
            </a:r>
            <a:r>
              <a:rPr lang="en-US" sz="1200" i="1" dirty="0">
                <a:solidFill>
                  <a:schemeClr val="bg1"/>
                </a:solidFill>
              </a:rPr>
              <a:t>AWS Well-Architected Framework.</a:t>
            </a:r>
            <a:r>
              <a:rPr lang="en-US" sz="1200" dirty="0">
                <a:solidFill>
                  <a:schemeClr val="bg1"/>
                </a:solidFill>
              </a:rPr>
              <a:t> https://</a:t>
            </a:r>
            <a:r>
              <a:rPr lang="en-US" sz="1200" dirty="0" err="1">
                <a:solidFill>
                  <a:schemeClr val="bg1"/>
                </a:solidFill>
              </a:rPr>
              <a:t>aws.amazon.com</a:t>
            </a:r>
            <a:r>
              <a:rPr lang="en-US" sz="1200" dirty="0">
                <a:solidFill>
                  <a:schemeClr val="bg1"/>
                </a:solidFill>
              </a:rPr>
              <a:t>/architecture/well-architected/ </a:t>
            </a:r>
          </a:p>
          <a:p>
            <a:r>
              <a:rPr lang="en-US" sz="1200" dirty="0">
                <a:solidFill>
                  <a:schemeClr val="bg1"/>
                </a:solidFill>
              </a:rPr>
              <a:t>Amazon Web Services. (n.d.-b). </a:t>
            </a:r>
            <a:r>
              <a:rPr lang="en-US" sz="1200" i="1" dirty="0">
                <a:solidFill>
                  <a:schemeClr val="bg1"/>
                </a:solidFill>
              </a:rPr>
              <a:t>AWS Pricing.</a:t>
            </a:r>
            <a:r>
              <a:rPr lang="en-US" sz="1200" dirty="0">
                <a:solidFill>
                  <a:schemeClr val="bg1"/>
                </a:solidFill>
              </a:rPr>
              <a:t> https://</a:t>
            </a:r>
            <a:r>
              <a:rPr lang="en-US" sz="1200" dirty="0" err="1">
                <a:solidFill>
                  <a:schemeClr val="bg1"/>
                </a:solidFill>
              </a:rPr>
              <a:t>aws.amazon.com</a:t>
            </a:r>
            <a:r>
              <a:rPr lang="en-US" sz="1200" dirty="0">
                <a:solidFill>
                  <a:schemeClr val="bg1"/>
                </a:solidFill>
              </a:rPr>
              <a:t>/pricing/ </a:t>
            </a:r>
          </a:p>
          <a:p>
            <a:r>
              <a:rPr lang="en-US" sz="1200" dirty="0" err="1">
                <a:solidFill>
                  <a:schemeClr val="bg1"/>
                </a:solidFill>
              </a:rPr>
              <a:t>Bittok</a:t>
            </a:r>
            <a:r>
              <a:rPr lang="en-US" sz="1200" dirty="0">
                <a:solidFill>
                  <a:schemeClr val="bg1"/>
                </a:solidFill>
              </a:rPr>
              <a:t>, T. (2022, January 22). </a:t>
            </a:r>
            <a:r>
              <a:rPr lang="en-US" sz="1200" i="1" dirty="0">
                <a:solidFill>
                  <a:schemeClr val="bg1"/>
                </a:solidFill>
              </a:rPr>
              <a:t>Cloud total cost of ownership.</a:t>
            </a:r>
            <a:r>
              <a:rPr lang="en-US" sz="1200" dirty="0">
                <a:solidFill>
                  <a:schemeClr val="bg1"/>
                </a:solidFill>
              </a:rPr>
              <a:t> LinkedIn Pulse. https://</a:t>
            </a:r>
            <a:r>
              <a:rPr lang="en-US" sz="1200" dirty="0" err="1">
                <a:solidFill>
                  <a:schemeClr val="bg1"/>
                </a:solidFill>
              </a:rPr>
              <a:t>www.linkedin.com</a:t>
            </a:r>
            <a:r>
              <a:rPr lang="en-US" sz="1200" dirty="0">
                <a:solidFill>
                  <a:schemeClr val="bg1"/>
                </a:solidFill>
              </a:rPr>
              <a:t>/pulse/cloud-total-cost-ownership-</a:t>
            </a:r>
            <a:r>
              <a:rPr lang="en-US" sz="1200" dirty="0" err="1">
                <a:solidFill>
                  <a:schemeClr val="bg1"/>
                </a:solidFill>
              </a:rPr>
              <a:t>theophilus</a:t>
            </a:r>
            <a:r>
              <a:rPr lang="en-US" sz="1200" dirty="0">
                <a:solidFill>
                  <a:schemeClr val="bg1"/>
                </a:solidFill>
              </a:rPr>
              <a:t>-</a:t>
            </a:r>
            <a:r>
              <a:rPr lang="en-US" sz="1200" dirty="0" err="1">
                <a:solidFill>
                  <a:schemeClr val="bg1"/>
                </a:solidFill>
              </a:rPr>
              <a:t>bittok</a:t>
            </a:r>
            <a:r>
              <a:rPr lang="en-US" sz="1200" dirty="0">
                <a:solidFill>
                  <a:schemeClr val="bg1"/>
                </a:solidFill>
              </a:rPr>
              <a:t>-/</a:t>
            </a:r>
          </a:p>
          <a:p>
            <a:r>
              <a:rPr lang="en-US" sz="1200" dirty="0">
                <a:solidFill>
                  <a:schemeClr val="bg1"/>
                </a:solidFill>
              </a:rPr>
              <a:t>Carpenter, T. (2020, May 27). </a:t>
            </a:r>
            <a:r>
              <a:rPr lang="en-US" sz="1200" i="1" dirty="0">
                <a:solidFill>
                  <a:schemeClr val="bg1"/>
                </a:solidFill>
              </a:rPr>
              <a:t>AWS Certified Solutions Architect – Associate (SAA-C02) Cert Prep 1: Cloud services overview</a:t>
            </a:r>
            <a:r>
              <a:rPr lang="en-US" sz="1200" dirty="0">
                <a:solidFill>
                  <a:schemeClr val="bg1"/>
                </a:solidFill>
              </a:rPr>
              <a:t>. LinkedIn Learning. https://</a:t>
            </a:r>
            <a:r>
              <a:rPr lang="en-US" sz="1200" dirty="0" err="1">
                <a:solidFill>
                  <a:schemeClr val="bg1"/>
                </a:solidFill>
              </a:rPr>
              <a:t>www.linkedin.com</a:t>
            </a:r>
            <a:r>
              <a:rPr lang="en-US" sz="1200" dirty="0">
                <a:solidFill>
                  <a:schemeClr val="bg1"/>
                </a:solidFill>
              </a:rPr>
              <a:t>/learning/aws-certified-solutions-architect-associate-saa-c02-cert-prep-1-cloud-services-overview/benefits-of-cloud-computing</a:t>
            </a:r>
          </a:p>
          <a:p>
            <a:r>
              <a:rPr lang="en-US" sz="1200" dirty="0" err="1">
                <a:solidFill>
                  <a:schemeClr val="bg1"/>
                </a:solidFill>
              </a:rPr>
              <a:t>Eliaçık</a:t>
            </a:r>
            <a:r>
              <a:rPr lang="en-US" sz="1200" dirty="0">
                <a:solidFill>
                  <a:schemeClr val="bg1"/>
                </a:solidFill>
              </a:rPr>
              <a:t>, E. (2022). </a:t>
            </a:r>
            <a:r>
              <a:rPr lang="en-US" sz="1200" i="1" dirty="0">
                <a:solidFill>
                  <a:schemeClr val="bg1"/>
                </a:solidFill>
              </a:rPr>
              <a:t>Pros and cons of cloud computing.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Dataconomy</a:t>
            </a:r>
            <a:r>
              <a:rPr lang="en-US" sz="1200" dirty="0">
                <a:solidFill>
                  <a:schemeClr val="bg1"/>
                </a:solidFill>
              </a:rPr>
              <a:t>. https://</a:t>
            </a:r>
            <a:r>
              <a:rPr lang="en-US" sz="1200" dirty="0" err="1">
                <a:solidFill>
                  <a:schemeClr val="bg1"/>
                </a:solidFill>
              </a:rPr>
              <a:t>dataconomy.com</a:t>
            </a:r>
            <a:r>
              <a:rPr lang="en-US" sz="1200" dirty="0">
                <a:solidFill>
                  <a:schemeClr val="bg1"/>
                </a:solidFill>
              </a:rPr>
              <a:t>/2022/05/pros-and-cons-of-cloud-computing-2022/ </a:t>
            </a:r>
          </a:p>
          <a:p>
            <a:r>
              <a:rPr lang="en-US" sz="1200" dirty="0">
                <a:solidFill>
                  <a:schemeClr val="bg1"/>
                </a:solidFill>
              </a:rPr>
              <a:t>IBM. (n.d.-a). </a:t>
            </a:r>
            <a:r>
              <a:rPr lang="en-US" sz="1200" i="1" dirty="0">
                <a:solidFill>
                  <a:schemeClr val="bg1"/>
                </a:solidFill>
              </a:rPr>
              <a:t>SaaS, PaaS, IaaS explained.</a:t>
            </a:r>
            <a:r>
              <a:rPr lang="en-US" sz="1200" dirty="0">
                <a:solidFill>
                  <a:schemeClr val="bg1"/>
                </a:solidFill>
              </a:rPr>
              <a:t> IBM Cloud. https://</a:t>
            </a:r>
            <a:r>
              <a:rPr lang="en-US" sz="1200" dirty="0" err="1">
                <a:solidFill>
                  <a:schemeClr val="bg1"/>
                </a:solidFill>
              </a:rPr>
              <a:t>www.ibm.com</a:t>
            </a:r>
            <a:r>
              <a:rPr lang="en-US" sz="1200" dirty="0">
                <a:solidFill>
                  <a:schemeClr val="bg1"/>
                </a:solidFill>
              </a:rPr>
              <a:t>/think/topics/</a:t>
            </a:r>
            <a:r>
              <a:rPr lang="en-US" sz="1200" dirty="0" err="1">
                <a:solidFill>
                  <a:schemeClr val="bg1"/>
                </a:solidFill>
              </a:rPr>
              <a:t>iaas-paas-saas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IBM. (n.d.-b). </a:t>
            </a:r>
            <a:r>
              <a:rPr lang="en-US" sz="1200" i="1" dirty="0">
                <a:solidFill>
                  <a:schemeClr val="bg1"/>
                </a:solidFill>
              </a:rPr>
              <a:t>What is a public cloud?</a:t>
            </a:r>
            <a:r>
              <a:rPr lang="en-US" sz="1200" dirty="0">
                <a:solidFill>
                  <a:schemeClr val="bg1"/>
                </a:solidFill>
              </a:rPr>
              <a:t> IBM. https://</a:t>
            </a:r>
            <a:r>
              <a:rPr lang="en-US" sz="1200" dirty="0" err="1">
                <a:solidFill>
                  <a:schemeClr val="bg1"/>
                </a:solidFill>
              </a:rPr>
              <a:t>www.ibm.com</a:t>
            </a:r>
            <a:r>
              <a:rPr lang="en-US" sz="1200" dirty="0">
                <a:solidFill>
                  <a:schemeClr val="bg1"/>
                </a:solidFill>
              </a:rPr>
              <a:t>/think/topics/public-cloud </a:t>
            </a:r>
          </a:p>
          <a:p>
            <a:r>
              <a:rPr lang="en-US" sz="1200" dirty="0">
                <a:solidFill>
                  <a:schemeClr val="bg1"/>
                </a:solidFill>
              </a:rPr>
              <a:t>IBM. (n.d.-c). </a:t>
            </a:r>
            <a:r>
              <a:rPr lang="en-US" sz="1200" i="1" dirty="0">
                <a:solidFill>
                  <a:schemeClr val="bg1"/>
                </a:solidFill>
              </a:rPr>
              <a:t>What is private cloud?</a:t>
            </a:r>
            <a:r>
              <a:rPr lang="en-US" sz="1200" dirty="0">
                <a:solidFill>
                  <a:schemeClr val="bg1"/>
                </a:solidFill>
              </a:rPr>
              <a:t> IBM. https://</a:t>
            </a:r>
            <a:r>
              <a:rPr lang="en-US" sz="1200" dirty="0" err="1">
                <a:solidFill>
                  <a:schemeClr val="bg1"/>
                </a:solidFill>
              </a:rPr>
              <a:t>www.ibm.com</a:t>
            </a:r>
            <a:r>
              <a:rPr lang="en-US" sz="1200" dirty="0">
                <a:solidFill>
                  <a:schemeClr val="bg1"/>
                </a:solidFill>
              </a:rPr>
              <a:t>/think/topics/private-cloud</a:t>
            </a:r>
          </a:p>
          <a:p>
            <a:r>
              <a:rPr lang="en-US" sz="1200" dirty="0">
                <a:solidFill>
                  <a:schemeClr val="bg1"/>
                </a:solidFill>
              </a:rPr>
              <a:t>Linthicum, D. (2021, May 25). </a:t>
            </a:r>
            <a:r>
              <a:rPr lang="en-US" sz="1200" i="1" dirty="0">
                <a:solidFill>
                  <a:schemeClr val="bg1"/>
                </a:solidFill>
              </a:rPr>
              <a:t>Learning cloud computing: Core concepts.</a:t>
            </a:r>
            <a:r>
              <a:rPr lang="en-US" sz="1200" dirty="0">
                <a:solidFill>
                  <a:schemeClr val="bg1"/>
                </a:solidFill>
              </a:rPr>
              <a:t> LinkedIn Learning. https://</a:t>
            </a:r>
            <a:r>
              <a:rPr lang="en-US" sz="1200" dirty="0" err="1">
                <a:solidFill>
                  <a:schemeClr val="bg1"/>
                </a:solidFill>
              </a:rPr>
              <a:t>www.linkedin.com</a:t>
            </a:r>
            <a:r>
              <a:rPr lang="en-US" sz="1200" dirty="0">
                <a:solidFill>
                  <a:schemeClr val="bg1"/>
                </a:solidFill>
              </a:rPr>
              <a:t>/learning/learning-cloud-computing-core-concepts-13710481/</a:t>
            </a:r>
          </a:p>
          <a:p>
            <a:r>
              <a:rPr lang="en-US" sz="1200" dirty="0">
                <a:solidFill>
                  <a:schemeClr val="bg1"/>
                </a:solidFill>
              </a:rPr>
              <a:t>Manvi, S., &amp; Shyam, G. K. (2021). </a:t>
            </a:r>
            <a:r>
              <a:rPr lang="en-US" sz="1200" i="1" dirty="0">
                <a:solidFill>
                  <a:schemeClr val="bg1"/>
                </a:solidFill>
              </a:rPr>
              <a:t>Cloud computing: Concepts and technologies</a:t>
            </a:r>
            <a:r>
              <a:rPr lang="en-US" sz="1200" dirty="0">
                <a:solidFill>
                  <a:schemeClr val="bg1"/>
                </a:solidFill>
              </a:rPr>
              <a:t> (Chapter 4). CRC Press. https://learning-</a:t>
            </a:r>
            <a:r>
              <a:rPr lang="en-US" sz="1200" dirty="0" err="1">
                <a:solidFill>
                  <a:schemeClr val="bg1"/>
                </a:solidFill>
              </a:rPr>
              <a:t>oreilly</a:t>
            </a:r>
            <a:r>
              <a:rPr lang="en-US" sz="1200" dirty="0">
                <a:solidFill>
                  <a:schemeClr val="bg1"/>
                </a:solidFill>
              </a:rPr>
              <a:t>-</a:t>
            </a:r>
            <a:r>
              <a:rPr lang="en-US" sz="1200" dirty="0" err="1">
                <a:solidFill>
                  <a:schemeClr val="bg1"/>
                </a:solidFill>
              </a:rPr>
              <a:t>com.torrens.idm.oclc.org</a:t>
            </a:r>
            <a:r>
              <a:rPr lang="en-US" sz="1200" dirty="0">
                <a:solidFill>
                  <a:schemeClr val="bg1"/>
                </a:solidFill>
              </a:rPr>
              <a:t>/library/view/cloud-computing/9781000338058/ </a:t>
            </a:r>
          </a:p>
          <a:p>
            <a:r>
              <a:rPr lang="en-US" sz="1200" dirty="0">
                <a:solidFill>
                  <a:schemeClr val="bg1"/>
                </a:solidFill>
              </a:rPr>
              <a:t>McHaney, R. (2021). </a:t>
            </a:r>
            <a:r>
              <a:rPr lang="en-US" sz="1200" i="1" dirty="0">
                <a:solidFill>
                  <a:schemeClr val="bg1"/>
                </a:solidFill>
              </a:rPr>
              <a:t>Cloud technologies: An overview of cloud computing technologies for managers. </a:t>
            </a:r>
            <a:r>
              <a:rPr lang="en-US" sz="1200" dirty="0">
                <a:solidFill>
                  <a:schemeClr val="bg1"/>
                </a:solidFill>
              </a:rPr>
              <a:t>Wiley. https://</a:t>
            </a:r>
            <a:r>
              <a:rPr lang="en-US" sz="1200" dirty="0" err="1">
                <a:solidFill>
                  <a:schemeClr val="bg1"/>
                </a:solidFill>
              </a:rPr>
              <a:t>ieeexplore-ieee-org.torrens.idm.oclc.org</a:t>
            </a:r>
            <a:r>
              <a:rPr lang="en-US" sz="1200" dirty="0">
                <a:solidFill>
                  <a:schemeClr val="bg1"/>
                </a:solidFill>
              </a:rPr>
              <a:t>/servlet/</a:t>
            </a:r>
            <a:r>
              <a:rPr lang="en-US" sz="1200" dirty="0" err="1">
                <a:solidFill>
                  <a:schemeClr val="bg1"/>
                </a:solidFill>
              </a:rPr>
              <a:t>opac?bknumber</a:t>
            </a:r>
            <a:r>
              <a:rPr lang="en-US" sz="1200" dirty="0">
                <a:solidFill>
                  <a:schemeClr val="bg1"/>
                </a:solidFill>
              </a:rPr>
              <a:t>=9820907 </a:t>
            </a:r>
          </a:p>
          <a:p>
            <a:r>
              <a:rPr lang="en-US" sz="1200" dirty="0">
                <a:solidFill>
                  <a:schemeClr val="bg1"/>
                </a:solidFill>
              </a:rPr>
              <a:t>Mell, P., &amp; Grance, T. (2011). </a:t>
            </a:r>
            <a:r>
              <a:rPr lang="en-US" sz="1200" i="1" dirty="0">
                <a:solidFill>
                  <a:schemeClr val="bg1"/>
                </a:solidFill>
              </a:rPr>
              <a:t>The NIST definition of cloud computing</a:t>
            </a:r>
            <a:r>
              <a:rPr lang="en-US" sz="1200" dirty="0">
                <a:solidFill>
                  <a:schemeClr val="bg1"/>
                </a:solidFill>
              </a:rPr>
              <a:t> (Special Publication 800-145). National Institute of Standards and Technology. https://</a:t>
            </a:r>
            <a:r>
              <a:rPr lang="en-US" sz="1200" dirty="0" err="1">
                <a:solidFill>
                  <a:schemeClr val="bg1"/>
                </a:solidFill>
              </a:rPr>
              <a:t>doi.org</a:t>
            </a:r>
            <a:r>
              <a:rPr lang="en-US" sz="1200" dirty="0">
                <a:solidFill>
                  <a:schemeClr val="bg1"/>
                </a:solidFill>
              </a:rPr>
              <a:t>/10.6028/NIST.SP.800-145 </a:t>
            </a:r>
          </a:p>
          <a:p>
            <a:r>
              <a:rPr lang="en-US" sz="1200" dirty="0">
                <a:solidFill>
                  <a:schemeClr val="bg1"/>
                </a:solidFill>
              </a:rPr>
              <a:t>Naved, M., Sanchez, D. T., Dela Cruz, A. P., Jr., </a:t>
            </a:r>
            <a:r>
              <a:rPr lang="en-US" sz="1200" dirty="0" err="1">
                <a:solidFill>
                  <a:schemeClr val="bg1"/>
                </a:solidFill>
              </a:rPr>
              <a:t>Peconcillo</a:t>
            </a:r>
            <a:r>
              <a:rPr lang="en-US" sz="1200" dirty="0">
                <a:solidFill>
                  <a:schemeClr val="bg1"/>
                </a:solidFill>
              </a:rPr>
              <a:t>, L. B., Jr., </a:t>
            </a:r>
            <a:r>
              <a:rPr lang="en-US" sz="1200" dirty="0" err="1">
                <a:solidFill>
                  <a:schemeClr val="bg1"/>
                </a:solidFill>
              </a:rPr>
              <a:t>Peteros</a:t>
            </a:r>
            <a:r>
              <a:rPr lang="en-US" sz="1200" dirty="0">
                <a:solidFill>
                  <a:schemeClr val="bg1"/>
                </a:solidFill>
              </a:rPr>
              <a:t>, E. D., &amp; Tenerife, J. J. L. (2022). Identifying the role of cloud computing technology in management of educational institutions. </a:t>
            </a:r>
            <a:r>
              <a:rPr lang="en-US" sz="1200" i="1" dirty="0">
                <a:solidFill>
                  <a:schemeClr val="bg1"/>
                </a:solidFill>
              </a:rPr>
              <a:t>Materials Today: Proceedings, 51</a:t>
            </a:r>
            <a:r>
              <a:rPr lang="en-US" sz="1200" dirty="0">
                <a:solidFill>
                  <a:schemeClr val="bg1"/>
                </a:solidFill>
              </a:rPr>
              <a:t>(8), 2309–2312. https://</a:t>
            </a:r>
            <a:r>
              <a:rPr lang="en-US" sz="1200" dirty="0" err="1">
                <a:solidFill>
                  <a:schemeClr val="bg1"/>
                </a:solidFill>
              </a:rPr>
              <a:t>doi.org</a:t>
            </a:r>
            <a:r>
              <a:rPr lang="en-US" sz="1200" dirty="0">
                <a:solidFill>
                  <a:schemeClr val="bg1"/>
                </a:solidFill>
              </a:rPr>
              <a:t>/10.1016/j.matpr.2021.11.414</a:t>
            </a:r>
          </a:p>
          <a:p>
            <a:r>
              <a:rPr lang="en-US" sz="1200" dirty="0">
                <a:solidFill>
                  <a:schemeClr val="bg1"/>
                </a:solidFill>
              </a:rPr>
              <a:t>Nishimura, H. (2022, August 30). </a:t>
            </a:r>
            <a:r>
              <a:rPr lang="en-US" sz="1200" i="1" dirty="0">
                <a:solidFill>
                  <a:schemeClr val="bg1"/>
                </a:solidFill>
              </a:rPr>
              <a:t>Introduction to AWS for non-engineers: 1 cloud concepts</a:t>
            </a:r>
            <a:r>
              <a:rPr lang="en-US" sz="1200" dirty="0">
                <a:solidFill>
                  <a:schemeClr val="bg1"/>
                </a:solidFill>
              </a:rPr>
              <a:t>. LinkedIn Learning. https://</a:t>
            </a:r>
            <a:r>
              <a:rPr lang="en-US" sz="1200" dirty="0" err="1">
                <a:solidFill>
                  <a:schemeClr val="bg1"/>
                </a:solidFill>
              </a:rPr>
              <a:t>www.linkedin.com</a:t>
            </a:r>
            <a:r>
              <a:rPr lang="en-US" sz="1200" dirty="0">
                <a:solidFill>
                  <a:schemeClr val="bg1"/>
                </a:solidFill>
              </a:rPr>
              <a:t>/learning/introduction-to-aws-for-non-engineers-1-cloud-concepts-2/ </a:t>
            </a:r>
          </a:p>
          <a:p>
            <a:r>
              <a:rPr lang="en-US" sz="1200" dirty="0">
                <a:solidFill>
                  <a:schemeClr val="bg1"/>
                </a:solidFill>
              </a:rPr>
              <a:t>Shore, J. (2020). </a:t>
            </a:r>
            <a:r>
              <a:rPr lang="en-US" sz="1200" i="1" dirty="0">
                <a:solidFill>
                  <a:schemeClr val="bg1"/>
                </a:solidFill>
              </a:rPr>
              <a:t>Cybersecurity with cloud computing: Service models</a:t>
            </a:r>
            <a:r>
              <a:rPr lang="en-US" sz="1200" dirty="0">
                <a:solidFill>
                  <a:schemeClr val="bg1"/>
                </a:solidFill>
              </a:rPr>
              <a:t>. LinkedIn Learning. https://</a:t>
            </a:r>
            <a:r>
              <a:rPr lang="en-US" sz="1200" dirty="0" err="1">
                <a:solidFill>
                  <a:schemeClr val="bg1"/>
                </a:solidFill>
              </a:rPr>
              <a:t>www.linkedin.com</a:t>
            </a:r>
            <a:r>
              <a:rPr lang="en-US" sz="1200" dirty="0">
                <a:solidFill>
                  <a:schemeClr val="bg1"/>
                </a:solidFill>
              </a:rPr>
              <a:t>/learning/cybersecurity-with-cloud-computing-2/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73A0FA-39B6-95FB-ACA9-AD843780A1AB}"/>
              </a:ext>
            </a:extLst>
          </p:cNvPr>
          <p:cNvSpPr/>
          <p:nvPr/>
        </p:nvSpPr>
        <p:spPr>
          <a:xfrm>
            <a:off x="-1" y="797169"/>
            <a:ext cx="3640015" cy="123267"/>
          </a:xfrm>
          <a:prstGeom prst="rect">
            <a:avLst/>
          </a:prstGeom>
          <a:solidFill>
            <a:srgbClr val="FF4F00">
              <a:alpha val="29779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CC06F6-8D93-DC36-3B36-F3D9E364ED69}"/>
              </a:ext>
            </a:extLst>
          </p:cNvPr>
          <p:cNvSpPr txBox="1"/>
          <p:nvPr/>
        </p:nvSpPr>
        <p:spPr>
          <a:xfrm>
            <a:off x="446901" y="304632"/>
            <a:ext cx="535562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EE6F00"/>
                </a:solidFill>
              </a:rPr>
              <a:t>R</a:t>
            </a:r>
            <a:r>
              <a:rPr lang="en-US" sz="3200" b="1" dirty="0">
                <a:solidFill>
                  <a:schemeClr val="bg1"/>
                </a:solidFill>
              </a:rPr>
              <a:t>EFERENCES</a:t>
            </a:r>
            <a:endParaRPr lang="en-US" sz="1200" b="1" dirty="0">
              <a:solidFill>
                <a:schemeClr val="bg1"/>
              </a:solidFill>
              <a:cs typeface="Segoe U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320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365"/>
    </mc:Choice>
    <mc:Fallback xmlns="">
      <p:transition spd="slow" advTm="9365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CFCB5-2EB2-372D-0CA3-4F95C7A43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very tall building with a lot of windows">
            <a:extLst>
              <a:ext uri="{FF2B5EF4-FFF2-40B4-BE49-F238E27FC236}">
                <a16:creationId xmlns:a16="http://schemas.microsoft.com/office/drawing/2014/main" id="{BCF28D39-E84F-8684-D56D-E89C47C7C5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8" b="7794"/>
          <a:stretch>
            <a:fillRect/>
          </a:stretch>
        </p:blipFill>
        <p:spPr bwMode="auto">
          <a:xfrm>
            <a:off x="0" y="0"/>
            <a:ext cx="1222187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97A3E4E-1378-D2B4-212E-63259270B996}"/>
              </a:ext>
            </a:extLst>
          </p:cNvPr>
          <p:cNvSpPr/>
          <p:nvPr/>
        </p:nvSpPr>
        <p:spPr>
          <a:xfrm>
            <a:off x="-23062" y="0"/>
            <a:ext cx="12244940" cy="6857999"/>
          </a:xfrm>
          <a:prstGeom prst="rect">
            <a:avLst/>
          </a:prstGeom>
          <a:solidFill>
            <a:schemeClr val="tx1">
              <a:alpha val="59644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24A120-A445-6F43-60E0-34FE8C408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635" y="4090641"/>
            <a:ext cx="5143113" cy="1639846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CLOUD COMPUTING FUNDAMENTALS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ASSESSMENT 1</a:t>
            </a:r>
            <a:br>
              <a:rPr lang="en-US" sz="1600" dirty="0">
                <a:solidFill>
                  <a:schemeClr val="bg1"/>
                </a:solidFill>
              </a:rPr>
            </a:b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Prof Dr. </a:t>
            </a:r>
            <a:r>
              <a:rPr lang="en-US" sz="1600" dirty="0" err="1">
                <a:solidFill>
                  <a:schemeClr val="bg1"/>
                </a:solidFill>
              </a:rPr>
              <a:t>DiVyA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leekha</a:t>
            </a:r>
            <a:br>
              <a:rPr lang="en-US" sz="1600" dirty="0">
                <a:solidFill>
                  <a:schemeClr val="bg1"/>
                </a:solidFill>
              </a:rPr>
            </a:b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LUIS G. B. A. FARIA – ID A00187785</a:t>
            </a:r>
            <a:br>
              <a:rPr lang="en-US" sz="1600" dirty="0">
                <a:solidFill>
                  <a:schemeClr val="bg1"/>
                </a:solidFill>
              </a:rPr>
            </a:br>
            <a:br>
              <a:rPr lang="en-US" sz="1600" dirty="0"/>
            </a:b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00F063-A5C6-5666-63C2-740132C1F7F7}"/>
              </a:ext>
            </a:extLst>
          </p:cNvPr>
          <p:cNvSpPr txBox="1"/>
          <p:nvPr/>
        </p:nvSpPr>
        <p:spPr>
          <a:xfrm>
            <a:off x="2791326" y="1804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C0B4F8-2F7C-35E1-814B-0FA441FF6D4A}"/>
              </a:ext>
            </a:extLst>
          </p:cNvPr>
          <p:cNvSpPr txBox="1"/>
          <p:nvPr/>
        </p:nvSpPr>
        <p:spPr>
          <a:xfrm>
            <a:off x="9596420" y="5819220"/>
            <a:ext cx="2287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Univers Condensed"/>
                <a:cs typeface="Segoe UI"/>
              </a:rPr>
              <a:t>March, 2026</a:t>
            </a:r>
          </a:p>
        </p:txBody>
      </p:sp>
      <p:pic>
        <p:nvPicPr>
          <p:cNvPr id="6" name="Picture 5" descr="Torrens University Australia research repository - Browse">
            <a:extLst>
              <a:ext uri="{FF2B5EF4-FFF2-40B4-BE49-F238E27FC236}">
                <a16:creationId xmlns:a16="http://schemas.microsoft.com/office/drawing/2014/main" id="{438D3CA2-DFD7-36D7-9790-86415E8654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635" y="5929437"/>
            <a:ext cx="1397369" cy="7495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EAE02A-3785-F80E-964E-9F6633F25AFC}"/>
              </a:ext>
            </a:extLst>
          </p:cNvPr>
          <p:cNvSpPr txBox="1"/>
          <p:nvPr/>
        </p:nvSpPr>
        <p:spPr>
          <a:xfrm>
            <a:off x="514635" y="1244813"/>
            <a:ext cx="11139666" cy="26468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600" b="1" i="1" dirty="0">
                <a:solidFill>
                  <a:srgbClr val="EE6F00"/>
                </a:solidFill>
              </a:rPr>
              <a:t>T</a:t>
            </a:r>
            <a:r>
              <a:rPr lang="en-US" sz="16600" b="1" i="1" dirty="0">
                <a:solidFill>
                  <a:schemeClr val="bg1"/>
                </a:solidFill>
              </a:rPr>
              <a:t>hank you!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854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0"/>
    </mc:Choice>
    <mc:Fallback xmlns="">
      <p:transition spd="slow" advTm="41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|6.2|12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|2|3|1|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8.2|21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|3.1|9.3|9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|1|2|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|11.3|2|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|2|1|3|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|3.1|9.4|16.6|2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|3.1|9.3|1|3.1|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"/>
</p:tagLst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6e44254-c0ce-4745-9255-907eee03faf6}" enabled="0" method="" siteId="{66e44254-c0ce-4745-9255-907eee03faf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4395</TotalTime>
  <Words>1107</Words>
  <Application>Microsoft Macintosh PowerPoint</Application>
  <PresentationFormat>Widescreen</PresentationFormat>
  <Paragraphs>167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Calisto MT</vt:lpstr>
      <vt:lpstr>Segoe UI</vt:lpstr>
      <vt:lpstr>Univers Condensed</vt:lpstr>
      <vt:lpstr>ChronicleVTI</vt:lpstr>
      <vt:lpstr>CLOUD COMPUTING FUNDAMENTALS (CCF501) ASSESSMENT 1  Prof Dr. DiVyA leekha  LUIS G. B. A. FARIA – ID A00187785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CLOUD COMPUTING FUNDAMENTALS ASSESSMENT 1  Prof Dr. DiVyA leekha  LUIS G. B. A. FARIA – ID A00187785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Luis guilherme De barros andrade faria</cp:lastModifiedBy>
  <cp:revision>3</cp:revision>
  <cp:lastPrinted>2026-03-06T17:50:38Z</cp:lastPrinted>
  <dcterms:created xsi:type="dcterms:W3CDTF">2025-07-30T09:07:51Z</dcterms:created>
  <dcterms:modified xsi:type="dcterms:W3CDTF">2026-03-14T22:00:38Z</dcterms:modified>
</cp:coreProperties>
</file>