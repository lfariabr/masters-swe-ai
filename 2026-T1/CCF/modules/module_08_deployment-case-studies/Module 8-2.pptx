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67" r:id="rId4"/>
    <p:sldId id="258" r:id="rId5"/>
    <p:sldId id="259" r:id="rId6"/>
    <p:sldId id="263" r:id="rId7"/>
    <p:sldId id="262" r:id="rId8"/>
    <p:sldId id="264" r:id="rId9"/>
    <p:sldId id="261" r:id="rId10"/>
    <p:sldId id="260" r:id="rId11"/>
    <p:sldId id="266"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6A0A7B-8088-4CE3-A24B-B5F04DF100C2}" type="datetimeFigureOut">
              <a:rPr lang="en-AU" smtClean="0"/>
              <a:t>22/07/2022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AE6CC-5369-491C-83AA-C9AD44E82D6E}" type="slidenum">
              <a:rPr lang="en-AU" smtClean="0"/>
              <a:t>‹#›</a:t>
            </a:fld>
            <a:endParaRPr lang="en-AU"/>
          </a:p>
        </p:txBody>
      </p:sp>
    </p:spTree>
    <p:extLst>
      <p:ext uri="{BB962C8B-B14F-4D97-AF65-F5344CB8AC3E}">
        <p14:creationId xmlns:p14="http://schemas.microsoft.com/office/powerpoint/2010/main" val="469067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CAAE6CC-5369-491C-83AA-C9AD44E82D6E}" type="slidenum">
              <a:rPr lang="en-AU" smtClean="0"/>
              <a:t>8</a:t>
            </a:fld>
            <a:endParaRPr lang="en-AU"/>
          </a:p>
        </p:txBody>
      </p:sp>
    </p:spTree>
    <p:extLst>
      <p:ext uri="{BB962C8B-B14F-4D97-AF65-F5344CB8AC3E}">
        <p14:creationId xmlns:p14="http://schemas.microsoft.com/office/powerpoint/2010/main" val="1737496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DB614A-2E30-4CCB-85D0-BDE4B62A5211}" type="datetimeFigureOut">
              <a:rPr lang="en-AU" smtClean="0"/>
              <a:t>22/07/2022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A8542E7-E955-4A38-8151-867B7A315C60}"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009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DB614A-2E30-4CCB-85D0-BDE4B62A5211}" type="datetimeFigureOut">
              <a:rPr lang="en-AU" smtClean="0"/>
              <a:t>22/07/2022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52229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9DB614A-2E30-4CCB-85D0-BDE4B62A5211}" type="datetimeFigureOut">
              <a:rPr lang="en-AU" smtClean="0"/>
              <a:t>22/07/2022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A8542E7-E955-4A38-8151-867B7A315C60}"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286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DB614A-2E30-4CCB-85D0-BDE4B62A5211}" type="datetimeFigureOut">
              <a:rPr lang="en-AU" smtClean="0"/>
              <a:t>22/07/2022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3515461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DB614A-2E30-4CCB-85D0-BDE4B62A5211}" type="datetimeFigureOut">
              <a:rPr lang="en-AU" smtClean="0"/>
              <a:t>22/07/2022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645542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DB614A-2E30-4CCB-85D0-BDE4B62A5211}" type="datetimeFigureOut">
              <a:rPr lang="en-AU" smtClean="0"/>
              <a:t>22/07/2022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3546999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9DB614A-2E30-4CCB-85D0-BDE4B62A5211}" type="datetimeFigureOut">
              <a:rPr lang="en-AU" smtClean="0"/>
              <a:t>22/07/2022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2297082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9DB614A-2E30-4CCB-85D0-BDE4B62A5211}" type="datetimeFigureOut">
              <a:rPr lang="en-AU" smtClean="0"/>
              <a:t>22/07/2022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A8542E7-E955-4A38-8151-867B7A315C60}" type="slidenum">
              <a:rPr lang="en-AU" smtClean="0"/>
              <a:t>‹#›</a:t>
            </a:fld>
            <a:endParaRPr lang="en-AU"/>
          </a:p>
        </p:txBody>
      </p:sp>
    </p:spTree>
    <p:extLst>
      <p:ext uri="{BB962C8B-B14F-4D97-AF65-F5344CB8AC3E}">
        <p14:creationId xmlns:p14="http://schemas.microsoft.com/office/powerpoint/2010/main" val="742562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9DB614A-2E30-4CCB-85D0-BDE4B62A5211}" type="datetimeFigureOut">
              <a:rPr lang="en-AU" smtClean="0"/>
              <a:t>22/07/2022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1343402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DB614A-2E30-4CCB-85D0-BDE4B62A5211}" type="datetimeFigureOut">
              <a:rPr lang="en-AU" smtClean="0"/>
              <a:t>22/07/2022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64845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DB614A-2E30-4CCB-85D0-BDE4B62A5211}" type="datetimeFigureOut">
              <a:rPr lang="en-AU" smtClean="0"/>
              <a:t>22/07/2022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A8542E7-E955-4A38-8151-867B7A315C60}" type="slidenum">
              <a:rPr lang="en-AU" smtClean="0"/>
              <a:t>‹#›</a:t>
            </a:fld>
            <a:endParaRPr lang="en-AU"/>
          </a:p>
        </p:txBody>
      </p:sp>
    </p:spTree>
    <p:extLst>
      <p:ext uri="{BB962C8B-B14F-4D97-AF65-F5344CB8AC3E}">
        <p14:creationId xmlns:p14="http://schemas.microsoft.com/office/powerpoint/2010/main" val="139774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9DB614A-2E30-4CCB-85D0-BDE4B62A5211}" type="datetimeFigureOut">
              <a:rPr lang="en-AU" smtClean="0"/>
              <a:t>22/07/2022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A8542E7-E955-4A38-8151-867B7A315C60}"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8602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mediktor.com/e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25604-257A-4135-8207-44D8E6167E27}"/>
              </a:ext>
            </a:extLst>
          </p:cNvPr>
          <p:cNvSpPr>
            <a:spLocks noGrp="1"/>
          </p:cNvSpPr>
          <p:nvPr>
            <p:ph type="ctrTitle"/>
          </p:nvPr>
        </p:nvSpPr>
        <p:spPr/>
        <p:txBody>
          <a:bodyPr/>
          <a:lstStyle/>
          <a:p>
            <a:r>
              <a:rPr lang="en-US" dirty="0"/>
              <a:t>Notes</a:t>
            </a:r>
            <a:endParaRPr lang="en-AU" dirty="0"/>
          </a:p>
        </p:txBody>
      </p:sp>
    </p:spTree>
    <p:extLst>
      <p:ext uri="{BB962C8B-B14F-4D97-AF65-F5344CB8AC3E}">
        <p14:creationId xmlns:p14="http://schemas.microsoft.com/office/powerpoint/2010/main" val="3354229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2DD62-5C42-49A6-995D-29BC69302337}"/>
              </a:ext>
            </a:extLst>
          </p:cNvPr>
          <p:cNvSpPr>
            <a:spLocks noGrp="1"/>
          </p:cNvSpPr>
          <p:nvPr>
            <p:ph idx="1"/>
          </p:nvPr>
        </p:nvSpPr>
        <p:spPr/>
        <p:txBody>
          <a:bodyPr>
            <a:normAutofit/>
          </a:bodyPr>
          <a:lstStyle/>
          <a:p>
            <a:pPr algn="just">
              <a:lnSpc>
                <a:spcPct val="150000"/>
              </a:lnSpc>
            </a:pPr>
            <a:br>
              <a:rPr lang="en-AU" dirty="0">
                <a:hlinkClick r:id="rId2"/>
              </a:rPr>
            </a:br>
            <a:r>
              <a:rPr lang="en-AU" u="sng" dirty="0">
                <a:hlinkClick r:id="rId2"/>
              </a:rPr>
              <a:t>Mediktor</a:t>
            </a:r>
            <a:r>
              <a:rPr lang="en-AU" dirty="0"/>
              <a:t> is the world’s most advanced and accurate symptom checker for pre-diagnosis, triage and decision-making support. Founded in Barcelona, Spain, in 2011, the company has developed an artificial intelligence solution that users can easily interact with by describing their symptoms in natural language. Designed to be easily integrated with healthcare payers and providers, the Mediktor technology offers the potential to dramatically reduce unnecessary expenditure, and helps people make smarter, safer decisions when they feel unwell.</a:t>
            </a:r>
            <a:endParaRPr lang="en-AU" sz="4000" dirty="0"/>
          </a:p>
        </p:txBody>
      </p:sp>
      <p:sp>
        <p:nvSpPr>
          <p:cNvPr id="4" name="Title 1">
            <a:extLst>
              <a:ext uri="{FF2B5EF4-FFF2-40B4-BE49-F238E27FC236}">
                <a16:creationId xmlns:a16="http://schemas.microsoft.com/office/drawing/2014/main" id="{76DB95CF-6C04-47C8-A638-1B51040899A1}"/>
              </a:ext>
            </a:extLst>
          </p:cNvPr>
          <p:cNvSpPr>
            <a:spLocks noGrp="1"/>
          </p:cNvSpPr>
          <p:nvPr>
            <p:ph type="title"/>
          </p:nvPr>
        </p:nvSpPr>
        <p:spPr>
          <a:xfrm>
            <a:off x="1097280" y="286603"/>
            <a:ext cx="10058400" cy="1450757"/>
          </a:xfrm>
        </p:spPr>
        <p:txBody>
          <a:bodyPr/>
          <a:lstStyle/>
          <a:p>
            <a:r>
              <a:rPr lang="en-AU" dirty="0"/>
              <a:t>Mediktor- Case study on cloud</a:t>
            </a:r>
          </a:p>
        </p:txBody>
      </p:sp>
    </p:spTree>
    <p:extLst>
      <p:ext uri="{BB962C8B-B14F-4D97-AF65-F5344CB8AC3E}">
        <p14:creationId xmlns:p14="http://schemas.microsoft.com/office/powerpoint/2010/main" val="3160582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2DD62-5C42-49A6-995D-29BC69302337}"/>
              </a:ext>
            </a:extLst>
          </p:cNvPr>
          <p:cNvSpPr>
            <a:spLocks noGrp="1"/>
          </p:cNvSpPr>
          <p:nvPr>
            <p:ph idx="1"/>
          </p:nvPr>
        </p:nvSpPr>
        <p:spPr/>
        <p:txBody>
          <a:bodyPr>
            <a:normAutofit/>
          </a:bodyPr>
          <a:lstStyle/>
          <a:p>
            <a:pPr algn="ctr"/>
            <a:r>
              <a:rPr lang="en-AU" sz="4000" dirty="0"/>
              <a:t>Mediktor Improving access to healthcare through AI-based symptoms assessment in the Cloud</a:t>
            </a:r>
          </a:p>
        </p:txBody>
      </p:sp>
    </p:spTree>
    <p:extLst>
      <p:ext uri="{BB962C8B-B14F-4D97-AF65-F5344CB8AC3E}">
        <p14:creationId xmlns:p14="http://schemas.microsoft.com/office/powerpoint/2010/main" val="927133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DA4B2-E389-409F-B551-99A918E922DF}"/>
              </a:ext>
            </a:extLst>
          </p:cNvPr>
          <p:cNvSpPr>
            <a:spLocks noGrp="1"/>
          </p:cNvSpPr>
          <p:nvPr>
            <p:ph type="title"/>
          </p:nvPr>
        </p:nvSpPr>
        <p:spPr/>
        <p:txBody>
          <a:bodyPr/>
          <a:lstStyle/>
          <a:p>
            <a:r>
              <a:rPr lang="en-AU" dirty="0"/>
              <a:t>Mediktor- Case study on cloud</a:t>
            </a:r>
          </a:p>
        </p:txBody>
      </p:sp>
      <p:sp>
        <p:nvSpPr>
          <p:cNvPr id="3" name="Content Placeholder 2">
            <a:extLst>
              <a:ext uri="{FF2B5EF4-FFF2-40B4-BE49-F238E27FC236}">
                <a16:creationId xmlns:a16="http://schemas.microsoft.com/office/drawing/2014/main" id="{35F4A319-1D3C-466B-B45E-FAC5E640AA09}"/>
              </a:ext>
            </a:extLst>
          </p:cNvPr>
          <p:cNvSpPr>
            <a:spLocks noGrp="1"/>
          </p:cNvSpPr>
          <p:nvPr>
            <p:ph idx="1"/>
          </p:nvPr>
        </p:nvSpPr>
        <p:spPr/>
        <p:txBody>
          <a:bodyPr/>
          <a:lstStyle/>
          <a:p>
            <a:pPr algn="just">
              <a:lnSpc>
                <a:spcPct val="150000"/>
              </a:lnSpc>
            </a:pPr>
            <a:r>
              <a:rPr lang="en-AU" dirty="0"/>
              <a:t>Mediktor is an AI-assisted online symptom-assessment technology, powered by IBM® Cloud™, which integrates seamlessly into healthcare payers’ and providers’ online services and workflows.</a:t>
            </a:r>
          </a:p>
        </p:txBody>
      </p:sp>
    </p:spTree>
    <p:extLst>
      <p:ext uri="{BB962C8B-B14F-4D97-AF65-F5344CB8AC3E}">
        <p14:creationId xmlns:p14="http://schemas.microsoft.com/office/powerpoint/2010/main" val="2100302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3A63-338E-470B-B828-E25307D247AB}"/>
              </a:ext>
            </a:extLst>
          </p:cNvPr>
          <p:cNvSpPr>
            <a:spLocks noGrp="1"/>
          </p:cNvSpPr>
          <p:nvPr>
            <p:ph type="title"/>
          </p:nvPr>
        </p:nvSpPr>
        <p:spPr/>
        <p:txBody>
          <a:bodyPr/>
          <a:lstStyle/>
          <a:p>
            <a:r>
              <a:rPr lang="en-AU" dirty="0"/>
              <a:t>Business challenge</a:t>
            </a:r>
          </a:p>
        </p:txBody>
      </p:sp>
      <p:sp>
        <p:nvSpPr>
          <p:cNvPr id="3" name="Content Placeholder 2">
            <a:extLst>
              <a:ext uri="{FF2B5EF4-FFF2-40B4-BE49-F238E27FC236}">
                <a16:creationId xmlns:a16="http://schemas.microsoft.com/office/drawing/2014/main" id="{D520445D-57D2-4633-8D45-49BC7B300D83}"/>
              </a:ext>
            </a:extLst>
          </p:cNvPr>
          <p:cNvSpPr>
            <a:spLocks noGrp="1"/>
          </p:cNvSpPr>
          <p:nvPr>
            <p:ph idx="1"/>
          </p:nvPr>
        </p:nvSpPr>
        <p:spPr/>
        <p:txBody>
          <a:bodyPr>
            <a:normAutofit fontScale="92500" lnSpcReduction="10000"/>
          </a:bodyPr>
          <a:lstStyle/>
          <a:p>
            <a:pPr algn="just">
              <a:lnSpc>
                <a:spcPct val="150000"/>
              </a:lnSpc>
              <a:buFont typeface="Wingdings" panose="05000000000000000000" pitchFamily="2" charset="2"/>
              <a:buChar char="q"/>
            </a:pPr>
            <a:r>
              <a:rPr lang="en-AU" dirty="0"/>
              <a:t>21st century medicine is a high-pressure environment. As the cost of care continues to increase, healthcare providers around the world are struggling to maintain standards of care while working within ever-tighter financial constraints.</a:t>
            </a:r>
          </a:p>
          <a:p>
            <a:pPr algn="just">
              <a:lnSpc>
                <a:spcPct val="150000"/>
              </a:lnSpc>
              <a:buFont typeface="Wingdings" panose="05000000000000000000" pitchFamily="2" charset="2"/>
              <a:buChar char="q"/>
            </a:pPr>
            <a:r>
              <a:rPr lang="en-AU" dirty="0"/>
              <a:t>Meanwhile, emergency rooms are overflowing with people whose problems could be solved more effectively via alternative channels, such as an online chat or video consultation. Each of these cases diverts valuable time and resources away from seriously ill patients. Many health services run campaigns to raise awareness of this issue and discourage people from coming to the ER with minor illnesses. However, it is better for people to see a doctor unnecessarily, than for them to underestimate the risks and stay home when their condition might be serious.</a:t>
            </a:r>
          </a:p>
        </p:txBody>
      </p:sp>
    </p:spTree>
    <p:extLst>
      <p:ext uri="{BB962C8B-B14F-4D97-AF65-F5344CB8AC3E}">
        <p14:creationId xmlns:p14="http://schemas.microsoft.com/office/powerpoint/2010/main" val="128044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3A63-338E-470B-B828-E25307D247AB}"/>
              </a:ext>
            </a:extLst>
          </p:cNvPr>
          <p:cNvSpPr>
            <a:spLocks noGrp="1"/>
          </p:cNvSpPr>
          <p:nvPr>
            <p:ph type="title"/>
          </p:nvPr>
        </p:nvSpPr>
        <p:spPr/>
        <p:txBody>
          <a:bodyPr/>
          <a:lstStyle/>
          <a:p>
            <a:r>
              <a:rPr lang="en-AU" dirty="0"/>
              <a:t>Mediktor: realized the problem</a:t>
            </a:r>
          </a:p>
        </p:txBody>
      </p:sp>
      <p:sp>
        <p:nvSpPr>
          <p:cNvPr id="3" name="Content Placeholder 2">
            <a:extLst>
              <a:ext uri="{FF2B5EF4-FFF2-40B4-BE49-F238E27FC236}">
                <a16:creationId xmlns:a16="http://schemas.microsoft.com/office/drawing/2014/main" id="{D520445D-57D2-4633-8D45-49BC7B300D83}"/>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err="1"/>
              <a:t>Mediktor’s</a:t>
            </a:r>
            <a:r>
              <a:rPr lang="en-AU" dirty="0"/>
              <a:t> answer is to harness artificial intelligence to </a:t>
            </a:r>
            <a:r>
              <a:rPr lang="en-AU" dirty="0" err="1"/>
              <a:t>analyze</a:t>
            </a:r>
            <a:r>
              <a:rPr lang="en-AU" dirty="0"/>
              <a:t> a person’s symptoms and provide objective information to help them decide on their next step: for example, whether they should speak to a doctor online, make a face-to-face appointment at a local clinic, go straight to the ER, or even call an ambulance.</a:t>
            </a:r>
          </a:p>
        </p:txBody>
      </p:sp>
    </p:spTree>
    <p:extLst>
      <p:ext uri="{BB962C8B-B14F-4D97-AF65-F5344CB8AC3E}">
        <p14:creationId xmlns:p14="http://schemas.microsoft.com/office/powerpoint/2010/main" val="2640481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BA7F72-0CB9-4F0B-9CE5-3FE9D521C984}"/>
              </a:ext>
            </a:extLst>
          </p:cNvPr>
          <p:cNvPicPr>
            <a:picLocks noChangeAspect="1"/>
          </p:cNvPicPr>
          <p:nvPr/>
        </p:nvPicPr>
        <p:blipFill>
          <a:blip r:embed="rId2"/>
          <a:stretch>
            <a:fillRect/>
          </a:stretch>
        </p:blipFill>
        <p:spPr>
          <a:xfrm>
            <a:off x="314325" y="1924050"/>
            <a:ext cx="11563350" cy="3009900"/>
          </a:xfrm>
          <a:prstGeom prst="rect">
            <a:avLst/>
          </a:prstGeom>
        </p:spPr>
      </p:pic>
    </p:spTree>
    <p:extLst>
      <p:ext uri="{BB962C8B-B14F-4D97-AF65-F5344CB8AC3E}">
        <p14:creationId xmlns:p14="http://schemas.microsoft.com/office/powerpoint/2010/main" val="3820130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3A63-338E-470B-B828-E25307D247AB}"/>
              </a:ext>
            </a:extLst>
          </p:cNvPr>
          <p:cNvSpPr>
            <a:spLocks noGrp="1"/>
          </p:cNvSpPr>
          <p:nvPr>
            <p:ph type="title"/>
          </p:nvPr>
        </p:nvSpPr>
        <p:spPr/>
        <p:txBody>
          <a:bodyPr/>
          <a:lstStyle/>
          <a:p>
            <a:r>
              <a:rPr lang="en-US" dirty="0"/>
              <a:t>Challenges</a:t>
            </a:r>
            <a:endParaRPr lang="en-AU" dirty="0"/>
          </a:p>
        </p:txBody>
      </p:sp>
      <p:sp>
        <p:nvSpPr>
          <p:cNvPr id="3" name="Content Placeholder 2">
            <a:extLst>
              <a:ext uri="{FF2B5EF4-FFF2-40B4-BE49-F238E27FC236}">
                <a16:creationId xmlns:a16="http://schemas.microsoft.com/office/drawing/2014/main" id="{D520445D-57D2-4633-8D45-49BC7B300D83}"/>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To bring new clients on board, there is need to be able to create servers on demand and put them into production quickly. </a:t>
            </a:r>
          </a:p>
          <a:p>
            <a:pPr algn="just">
              <a:lnSpc>
                <a:spcPct val="150000"/>
              </a:lnSpc>
              <a:buFont typeface="Wingdings" panose="05000000000000000000" pitchFamily="2" charset="2"/>
              <a:buChar char="q"/>
            </a:pPr>
            <a:r>
              <a:rPr lang="en-AU" dirty="0"/>
              <a:t>To respond to clients’ needs, we need rapid scalability, high availability, and low latency. A cloud infrastructure was the only option that would give us these properties</a:t>
            </a:r>
          </a:p>
        </p:txBody>
      </p:sp>
    </p:spTree>
    <p:extLst>
      <p:ext uri="{BB962C8B-B14F-4D97-AF65-F5344CB8AC3E}">
        <p14:creationId xmlns:p14="http://schemas.microsoft.com/office/powerpoint/2010/main" val="2197257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20445D-57D2-4633-8D45-49BC7B300D83}"/>
              </a:ext>
            </a:extLst>
          </p:cNvPr>
          <p:cNvSpPr>
            <a:spLocks noGrp="1"/>
          </p:cNvSpPr>
          <p:nvPr>
            <p:ph idx="1"/>
          </p:nvPr>
        </p:nvSpPr>
        <p:spPr/>
        <p:txBody>
          <a:bodyPr>
            <a:normAutofit/>
          </a:bodyPr>
          <a:lstStyle/>
          <a:p>
            <a:pPr marL="0" indent="0" algn="just">
              <a:lnSpc>
                <a:spcPct val="150000"/>
              </a:lnSpc>
              <a:buNone/>
            </a:pPr>
            <a:r>
              <a:rPr lang="en-AU" sz="3200" b="1" dirty="0">
                <a:latin typeface="Arial" panose="020B0604020202020204" pitchFamily="34" charset="0"/>
                <a:cs typeface="Arial" panose="020B0604020202020204" pitchFamily="34" charset="0"/>
              </a:rPr>
              <a:t>A cloud infrastructure was the only option that would give these properties</a:t>
            </a:r>
          </a:p>
        </p:txBody>
      </p:sp>
    </p:spTree>
    <p:extLst>
      <p:ext uri="{BB962C8B-B14F-4D97-AF65-F5344CB8AC3E}">
        <p14:creationId xmlns:p14="http://schemas.microsoft.com/office/powerpoint/2010/main" val="1716650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E7F85-E550-4CCE-9A1E-98B46CED840F}"/>
              </a:ext>
            </a:extLst>
          </p:cNvPr>
          <p:cNvSpPr>
            <a:spLocks noGrp="1"/>
          </p:cNvSpPr>
          <p:nvPr>
            <p:ph type="title"/>
          </p:nvPr>
        </p:nvSpPr>
        <p:spPr/>
        <p:txBody>
          <a:bodyPr/>
          <a:lstStyle/>
          <a:p>
            <a:r>
              <a:rPr lang="en-AU" dirty="0"/>
              <a:t>Infrastructure-as-a-service </a:t>
            </a:r>
          </a:p>
        </p:txBody>
      </p:sp>
      <p:sp>
        <p:nvSpPr>
          <p:cNvPr id="3" name="Content Placeholder 2">
            <a:extLst>
              <a:ext uri="{FF2B5EF4-FFF2-40B4-BE49-F238E27FC236}">
                <a16:creationId xmlns:a16="http://schemas.microsoft.com/office/drawing/2014/main" id="{25FAFC1C-C0C9-42AD-84BF-C18F1E272DC9}"/>
              </a:ext>
            </a:extLst>
          </p:cNvPr>
          <p:cNvSpPr>
            <a:spLocks noGrp="1"/>
          </p:cNvSpPr>
          <p:nvPr>
            <p:ph idx="1"/>
          </p:nvPr>
        </p:nvSpPr>
        <p:spPr/>
        <p:txBody>
          <a:bodyPr>
            <a:normAutofit lnSpcReduction="10000"/>
          </a:bodyPr>
          <a:lstStyle/>
          <a:p>
            <a:pPr algn="just">
              <a:lnSpc>
                <a:spcPct val="150000"/>
              </a:lnSpc>
              <a:buFont typeface="Wingdings" panose="05000000000000000000" pitchFamily="2" charset="2"/>
              <a:buChar char="q"/>
            </a:pPr>
            <a:r>
              <a:rPr lang="en-AU" dirty="0"/>
              <a:t>Given the complex regulations imposed on IT services in different countries, it proved difficult for Mediktor to find software-as-a-service or platform-as-a-service cloud solutions that would meet all its requirements. </a:t>
            </a:r>
          </a:p>
          <a:p>
            <a:pPr algn="just">
              <a:lnSpc>
                <a:spcPct val="150000"/>
              </a:lnSpc>
              <a:buFont typeface="Wingdings" panose="05000000000000000000" pitchFamily="2" charset="2"/>
              <a:buChar char="q"/>
            </a:pPr>
            <a:r>
              <a:rPr lang="en-AU" dirty="0"/>
              <a:t>A lower-level, infrastructure-as-a-service strategy based on IBM Cloud Virtual Servers proved to be the best option.</a:t>
            </a:r>
          </a:p>
          <a:p>
            <a:pPr algn="just">
              <a:lnSpc>
                <a:spcPct val="150000"/>
              </a:lnSpc>
              <a:buFont typeface="Wingdings" panose="05000000000000000000" pitchFamily="2" charset="2"/>
              <a:buChar char="q"/>
            </a:pPr>
            <a:r>
              <a:rPr lang="en-AU" dirty="0"/>
              <a:t>“IBM Cloud Virtual Servers offered us a high degree of visibility for the hardware, and the ability to configure and adapt this hardware to our specific needs, in ways no other software provider with the same levels of technical power can offer right now,” says Roger </a:t>
            </a:r>
            <a:r>
              <a:rPr lang="en-AU" dirty="0" err="1"/>
              <a:t>Forcada</a:t>
            </a:r>
            <a:r>
              <a:rPr lang="en-AU" dirty="0"/>
              <a:t>.</a:t>
            </a:r>
          </a:p>
        </p:txBody>
      </p:sp>
    </p:spTree>
    <p:extLst>
      <p:ext uri="{BB962C8B-B14F-4D97-AF65-F5344CB8AC3E}">
        <p14:creationId xmlns:p14="http://schemas.microsoft.com/office/powerpoint/2010/main" val="3268825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E7F85-E550-4CCE-9A1E-98B46CED840F}"/>
              </a:ext>
            </a:extLst>
          </p:cNvPr>
          <p:cNvSpPr>
            <a:spLocks noGrp="1"/>
          </p:cNvSpPr>
          <p:nvPr>
            <p:ph type="title"/>
          </p:nvPr>
        </p:nvSpPr>
        <p:spPr/>
        <p:txBody>
          <a:bodyPr/>
          <a:lstStyle/>
          <a:p>
            <a:r>
              <a:rPr lang="en-US" dirty="0"/>
              <a:t>Service Models</a:t>
            </a:r>
            <a:endParaRPr lang="en-AU" dirty="0"/>
          </a:p>
        </p:txBody>
      </p:sp>
      <p:pic>
        <p:nvPicPr>
          <p:cNvPr id="6" name="Picture 5">
            <a:extLst>
              <a:ext uri="{FF2B5EF4-FFF2-40B4-BE49-F238E27FC236}">
                <a16:creationId xmlns:a16="http://schemas.microsoft.com/office/drawing/2014/main" id="{0E1B3B08-1BAA-49A2-82FE-10DE6D87B08E}"/>
              </a:ext>
            </a:extLst>
          </p:cNvPr>
          <p:cNvPicPr>
            <a:picLocks noChangeAspect="1"/>
          </p:cNvPicPr>
          <p:nvPr/>
        </p:nvPicPr>
        <p:blipFill>
          <a:blip r:embed="rId2"/>
          <a:stretch>
            <a:fillRect/>
          </a:stretch>
        </p:blipFill>
        <p:spPr>
          <a:xfrm>
            <a:off x="3638550" y="2242926"/>
            <a:ext cx="4914900" cy="3228975"/>
          </a:xfrm>
          <a:prstGeom prst="rect">
            <a:avLst/>
          </a:prstGeom>
        </p:spPr>
      </p:pic>
      <p:sp>
        <p:nvSpPr>
          <p:cNvPr id="7" name="Rectangle 6">
            <a:extLst>
              <a:ext uri="{FF2B5EF4-FFF2-40B4-BE49-F238E27FC236}">
                <a16:creationId xmlns:a16="http://schemas.microsoft.com/office/drawing/2014/main" id="{443FAE33-47A4-49F8-AD13-0CCB126CCF27}"/>
              </a:ext>
            </a:extLst>
          </p:cNvPr>
          <p:cNvSpPr/>
          <p:nvPr/>
        </p:nvSpPr>
        <p:spPr>
          <a:xfrm>
            <a:off x="8722242" y="6168853"/>
            <a:ext cx="2576346" cy="215444"/>
          </a:xfrm>
          <a:prstGeom prst="rect">
            <a:avLst/>
          </a:prstGeom>
        </p:spPr>
        <p:txBody>
          <a:bodyPr wrap="none">
            <a:spAutoFit/>
          </a:bodyPr>
          <a:lstStyle/>
          <a:p>
            <a:r>
              <a:rPr lang="en-AU" sz="800" dirty="0"/>
              <a:t>https://www.stackscale.com/blog/cloud-service-models/</a:t>
            </a:r>
          </a:p>
        </p:txBody>
      </p:sp>
    </p:spTree>
    <p:extLst>
      <p:ext uri="{BB962C8B-B14F-4D97-AF65-F5344CB8AC3E}">
        <p14:creationId xmlns:p14="http://schemas.microsoft.com/office/powerpoint/2010/main" val="3991387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E7F85-E550-4CCE-9A1E-98B46CED840F}"/>
              </a:ext>
            </a:extLst>
          </p:cNvPr>
          <p:cNvSpPr>
            <a:spLocks noGrp="1"/>
          </p:cNvSpPr>
          <p:nvPr>
            <p:ph type="title"/>
          </p:nvPr>
        </p:nvSpPr>
        <p:spPr/>
        <p:txBody>
          <a:bodyPr/>
          <a:lstStyle/>
          <a:p>
            <a:r>
              <a:rPr lang="en-AU" dirty="0"/>
              <a:t>Results story</a:t>
            </a:r>
          </a:p>
        </p:txBody>
      </p:sp>
      <p:sp>
        <p:nvSpPr>
          <p:cNvPr id="3" name="Content Placeholder 2">
            <a:extLst>
              <a:ext uri="{FF2B5EF4-FFF2-40B4-BE49-F238E27FC236}">
                <a16:creationId xmlns:a16="http://schemas.microsoft.com/office/drawing/2014/main" id="{25FAFC1C-C0C9-42AD-84BF-C18F1E272DC9}"/>
              </a:ext>
            </a:extLst>
          </p:cNvPr>
          <p:cNvSpPr>
            <a:spLocks noGrp="1"/>
          </p:cNvSpPr>
          <p:nvPr>
            <p:ph idx="1"/>
          </p:nvPr>
        </p:nvSpPr>
        <p:spPr/>
        <p:txBody>
          <a:bodyPr/>
          <a:lstStyle/>
          <a:p>
            <a:pPr algn="just">
              <a:lnSpc>
                <a:spcPct val="150000"/>
              </a:lnSpc>
            </a:pPr>
            <a:r>
              <a:rPr lang="en-AU" dirty="0">
                <a:latin typeface="Arial" panose="020B0604020202020204" pitchFamily="34" charset="0"/>
                <a:cs typeface="Arial" panose="020B0604020202020204" pitchFamily="34" charset="0"/>
              </a:rPr>
              <a:t>Since launch, the company has also gathered valuable insight into how and when patients engage with the service. For example, across all user interactions, approximately 85 percent of cases are non-serious, 10 percent are moderate, and only 5 percent are urgent or emergency—so the vast majority of users do not need to visit a doctor or go to the ER.</a:t>
            </a:r>
          </a:p>
          <a:p>
            <a:pPr algn="just">
              <a:lnSpc>
                <a:spcPct val="150000"/>
              </a:lnSpc>
            </a:pPr>
            <a:r>
              <a:rPr lang="en-AU" i="1" u="sng" dirty="0">
                <a:latin typeface="Arial" panose="020B0604020202020204" pitchFamily="34" charset="0"/>
                <a:cs typeface="Arial" panose="020B0604020202020204" pitchFamily="34" charset="0"/>
              </a:rPr>
              <a:t>IBM Cloud provides a flexible, reliable and cost-effective platform that enables Mediktor to make its services available to clients in many countries around the world.</a:t>
            </a:r>
            <a:endParaRPr lang="en-US" i="1" u="sng" dirty="0">
              <a:latin typeface="Arial" panose="020B0604020202020204" pitchFamily="34" charset="0"/>
              <a:cs typeface="Arial" panose="020B0604020202020204" pitchFamily="34" charset="0"/>
            </a:endParaRPr>
          </a:p>
          <a:p>
            <a:pPr algn="just">
              <a:lnSpc>
                <a:spcPct val="150000"/>
              </a:lnSpc>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656147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483</TotalTime>
  <Words>622</Words>
  <Application>Microsoft Office PowerPoint</Application>
  <PresentationFormat>Widescreen</PresentationFormat>
  <Paragraphs>25</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Retrospect</vt:lpstr>
      <vt:lpstr>Notes</vt:lpstr>
      <vt:lpstr>Mediktor- Case study on cloud</vt:lpstr>
      <vt:lpstr>PowerPoint Presentation</vt:lpstr>
      <vt:lpstr>Mediktor- Case study on cloud</vt:lpstr>
      <vt:lpstr>Business challenge</vt:lpstr>
      <vt:lpstr>Mediktor: realized the problem</vt:lpstr>
      <vt:lpstr>PowerPoint Presentation</vt:lpstr>
      <vt:lpstr>Challenges</vt:lpstr>
      <vt:lpstr>PowerPoint Presentation</vt:lpstr>
      <vt:lpstr>Infrastructure-as-a-service </vt:lpstr>
      <vt:lpstr>Service Models</vt:lpstr>
      <vt:lpstr>Results story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Supriya Supriya</dc:creator>
  <cp:lastModifiedBy>Supriya Supriya</cp:lastModifiedBy>
  <cp:revision>17</cp:revision>
  <dcterms:created xsi:type="dcterms:W3CDTF">2022-04-07T23:08:01Z</dcterms:created>
  <dcterms:modified xsi:type="dcterms:W3CDTF">2022-07-22T01:15:05Z</dcterms:modified>
</cp:coreProperties>
</file>