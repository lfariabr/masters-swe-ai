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6" r:id="rId6"/>
    <p:sldId id="265" r:id="rId7"/>
    <p:sldId id="264" r:id="rId8"/>
    <p:sldId id="263" r:id="rId9"/>
    <p:sldId id="267" r:id="rId10"/>
    <p:sldId id="261"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444"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7895A-154C-47CA-ABE7-56DF4B032297}"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E28125-BB7C-49E1-B113-C65075CF921B}"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777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7895A-154C-47CA-ABE7-56DF4B032297}"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233939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47895A-154C-47CA-ABE7-56DF4B032297}"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E28125-BB7C-49E1-B113-C65075CF921B}"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85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7895A-154C-47CA-ABE7-56DF4B032297}" type="datetimeFigureOut">
              <a:rPr lang="en-AU" smtClean="0"/>
              <a:t>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387443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7895A-154C-47CA-ABE7-56DF4B032297}" type="datetimeFigureOut">
              <a:rPr lang="en-AU" smtClean="0"/>
              <a:t>1/08/2022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4209475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7895A-154C-47CA-ABE7-56DF4B032297}" type="datetimeFigureOut">
              <a:rPr lang="en-AU" smtClean="0"/>
              <a:t>1/08/2022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3641407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847895A-154C-47CA-ABE7-56DF4B032297}" type="datetimeFigureOut">
              <a:rPr lang="en-AU" smtClean="0"/>
              <a:t>1/08/2022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2339297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847895A-154C-47CA-ABE7-56DF4B032297}" type="datetimeFigureOut">
              <a:rPr lang="en-AU" smtClean="0"/>
              <a:t>1/08/2022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6E28125-BB7C-49E1-B113-C65075CF921B}" type="slidenum">
              <a:rPr lang="en-AU" smtClean="0"/>
              <a:t>‹#›</a:t>
            </a:fld>
            <a:endParaRPr lang="en-AU"/>
          </a:p>
        </p:txBody>
      </p:sp>
    </p:spTree>
    <p:extLst>
      <p:ext uri="{BB962C8B-B14F-4D97-AF65-F5344CB8AC3E}">
        <p14:creationId xmlns:p14="http://schemas.microsoft.com/office/powerpoint/2010/main" val="276777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47895A-154C-47CA-ABE7-56DF4B032297}" type="datetimeFigureOut">
              <a:rPr lang="en-AU" smtClean="0"/>
              <a:t>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2760765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7895A-154C-47CA-ABE7-56DF4B032297}"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14057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7895A-154C-47CA-ABE7-56DF4B032297}"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E28125-BB7C-49E1-B113-C65075CF921B}" type="slidenum">
              <a:rPr lang="en-AU" smtClean="0"/>
              <a:t>‹#›</a:t>
            </a:fld>
            <a:endParaRPr lang="en-AU"/>
          </a:p>
        </p:txBody>
      </p:sp>
    </p:spTree>
    <p:extLst>
      <p:ext uri="{BB962C8B-B14F-4D97-AF65-F5344CB8AC3E}">
        <p14:creationId xmlns:p14="http://schemas.microsoft.com/office/powerpoint/2010/main" val="233610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47895A-154C-47CA-ABE7-56DF4B032297}" type="datetimeFigureOut">
              <a:rPr lang="en-AU" smtClean="0"/>
              <a:t>1/08/2022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6E28125-BB7C-49E1-B113-C65075CF921B}"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1491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B9E7-5341-487E-B072-FC25533CF0D7}"/>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2567478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A4E76-DDCB-4ACF-B5AA-97E858DB6BB2}"/>
              </a:ext>
            </a:extLst>
          </p:cNvPr>
          <p:cNvSpPr>
            <a:spLocks noGrp="1"/>
          </p:cNvSpPr>
          <p:nvPr>
            <p:ph type="title"/>
          </p:nvPr>
        </p:nvSpPr>
        <p:spPr/>
        <p:txBody>
          <a:bodyPr/>
          <a:lstStyle/>
          <a:p>
            <a:r>
              <a:rPr lang="en-AU" dirty="0"/>
              <a:t>Cloud computing </a:t>
            </a:r>
          </a:p>
        </p:txBody>
      </p:sp>
      <p:sp>
        <p:nvSpPr>
          <p:cNvPr id="3" name="Content Placeholder 2">
            <a:extLst>
              <a:ext uri="{FF2B5EF4-FFF2-40B4-BE49-F238E27FC236}">
                <a16:creationId xmlns:a16="http://schemas.microsoft.com/office/drawing/2014/main" id="{D2548982-3CF3-4C62-BBBD-AB178D781C38}"/>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Cloud computing provides flexible, location-independent access to computing resources </a:t>
            </a:r>
          </a:p>
          <a:p>
            <a:pPr algn="just">
              <a:lnSpc>
                <a:spcPct val="150000"/>
              </a:lnSpc>
              <a:buFont typeface="Wingdings" panose="05000000000000000000" pitchFamily="2" charset="2"/>
              <a:buChar char="q"/>
            </a:pPr>
            <a:r>
              <a:rPr lang="en-AU" dirty="0"/>
              <a:t>Cloud computing liability issues related to contract, torts (a wrongful act or an infringement of a right leading to legal liability), intellectual property and data protection laws.</a:t>
            </a:r>
          </a:p>
          <a:p>
            <a:pPr algn="just">
              <a:lnSpc>
                <a:spcPct val="150000"/>
              </a:lnSpc>
              <a:buFont typeface="Wingdings" panose="05000000000000000000" pitchFamily="2" charset="2"/>
              <a:buChar char="q"/>
            </a:pPr>
            <a:r>
              <a:rPr lang="en-AU" dirty="0"/>
              <a:t>Intellectual property (IP).</a:t>
            </a:r>
          </a:p>
        </p:txBody>
      </p:sp>
      <p:sp>
        <p:nvSpPr>
          <p:cNvPr id="4" name="Rectangle 3">
            <a:extLst>
              <a:ext uri="{FF2B5EF4-FFF2-40B4-BE49-F238E27FC236}">
                <a16:creationId xmlns:a16="http://schemas.microsoft.com/office/drawing/2014/main" id="{4DC97949-E938-4C4B-A687-160CBF3F3C9D}"/>
              </a:ext>
            </a:extLst>
          </p:cNvPr>
          <p:cNvSpPr/>
          <p:nvPr/>
        </p:nvSpPr>
        <p:spPr>
          <a:xfrm>
            <a:off x="6400800" y="5977468"/>
            <a:ext cx="5470498" cy="338554"/>
          </a:xfrm>
          <a:prstGeom prst="rect">
            <a:avLst/>
          </a:prstGeom>
        </p:spPr>
        <p:txBody>
          <a:bodyPr wrap="square">
            <a:spAutoFit/>
          </a:bodyPr>
          <a:lstStyle/>
          <a:p>
            <a:r>
              <a:rPr lang="en-AU" sz="800" dirty="0"/>
              <a:t>https://business.gov.au/planning/protect-your-brand-idea-or-creation/intellectual-property#:~:text=Intellectual%20property%20(IP)%20is%20the,opportunity%20to%20commercialise%20their%20creations.</a:t>
            </a:r>
          </a:p>
        </p:txBody>
      </p:sp>
    </p:spTree>
    <p:extLst>
      <p:ext uri="{BB962C8B-B14F-4D97-AF65-F5344CB8AC3E}">
        <p14:creationId xmlns:p14="http://schemas.microsoft.com/office/powerpoint/2010/main" val="486946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a:xfrm>
            <a:off x="1242061" y="399123"/>
            <a:ext cx="10058400" cy="938693"/>
          </a:xfrm>
        </p:spPr>
        <p:txBody>
          <a:bodyPr>
            <a:noAutofit/>
          </a:bodyPr>
          <a:lstStyle/>
          <a:p>
            <a:r>
              <a:rPr lang="en-AU" sz="3600" dirty="0"/>
              <a:t>LEGAL FRAMEWORK FOR LIABILITY IN THE CLOUD ENVIRONMENT</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a:xfrm>
            <a:off x="1242061" y="1805935"/>
            <a:ext cx="10058400" cy="4652942"/>
          </a:xfrm>
        </p:spPr>
        <p:txBody>
          <a:bodyPr/>
          <a:lstStyle/>
          <a:p>
            <a:pPr algn="just">
              <a:lnSpc>
                <a:spcPct val="150000"/>
              </a:lnSpc>
              <a:buFont typeface="Wingdings" panose="05000000000000000000" pitchFamily="2" charset="2"/>
              <a:buChar char="q"/>
            </a:pPr>
            <a:r>
              <a:rPr lang="en-AU" sz="1800" dirty="0"/>
              <a:t>OCCURRENCE OF UNDESIRED ANOMALIES: Commonly liability manifests when the following undesired anomalies occur</a:t>
            </a:r>
            <a:r>
              <a:rPr lang="en-AU" dirty="0"/>
              <a:t>:</a:t>
            </a:r>
          </a:p>
          <a:p>
            <a:pPr algn="just">
              <a:lnSpc>
                <a:spcPct val="150000"/>
              </a:lnSpc>
              <a:buFont typeface="Wingdings" panose="05000000000000000000" pitchFamily="2" charset="2"/>
              <a:buChar char="Ø"/>
            </a:pPr>
            <a:r>
              <a:rPr lang="en-US" dirty="0"/>
              <a:t> Interruption of information access or problem of information transfer</a:t>
            </a:r>
          </a:p>
          <a:p>
            <a:pPr algn="just">
              <a:lnSpc>
                <a:spcPct val="150000"/>
              </a:lnSpc>
              <a:buFont typeface="Wingdings" panose="05000000000000000000" pitchFamily="2" charset="2"/>
              <a:buChar char="Ø"/>
            </a:pPr>
            <a:r>
              <a:rPr lang="en-US" dirty="0"/>
              <a:t>Non-compliance with privacy rules</a:t>
            </a:r>
          </a:p>
          <a:p>
            <a:pPr algn="just">
              <a:lnSpc>
                <a:spcPct val="150000"/>
              </a:lnSpc>
              <a:buFont typeface="Wingdings" panose="05000000000000000000" pitchFamily="2" charset="2"/>
              <a:buChar char="Ø"/>
            </a:pPr>
            <a:r>
              <a:rPr lang="en-US" dirty="0"/>
              <a:t>Content of the information.</a:t>
            </a:r>
          </a:p>
          <a:p>
            <a:pPr algn="just">
              <a:lnSpc>
                <a:spcPct val="150000"/>
              </a:lnSpc>
              <a:buFont typeface="Wingdings" panose="05000000000000000000" pitchFamily="2" charset="2"/>
              <a:buChar char="Ø"/>
            </a:pPr>
            <a:endParaRPr lang="en-AU" dirty="0"/>
          </a:p>
          <a:p>
            <a:pPr algn="just">
              <a:lnSpc>
                <a:spcPct val="150000"/>
              </a:lnSpc>
              <a:buFont typeface="Wingdings" panose="05000000000000000000" pitchFamily="2" charset="2"/>
              <a:buChar char="Ø"/>
            </a:pPr>
            <a:endParaRPr lang="en-AU" dirty="0"/>
          </a:p>
          <a:p>
            <a:pPr algn="just">
              <a:lnSpc>
                <a:spcPct val="150000"/>
              </a:lnSpc>
              <a:buFont typeface="Wingdings" panose="05000000000000000000" pitchFamily="2" charset="2"/>
              <a:buChar char="Ø"/>
            </a:pPr>
            <a:endParaRPr lang="en-AU" dirty="0"/>
          </a:p>
        </p:txBody>
      </p:sp>
    </p:spTree>
    <p:extLst>
      <p:ext uri="{BB962C8B-B14F-4D97-AF65-F5344CB8AC3E}">
        <p14:creationId xmlns:p14="http://schemas.microsoft.com/office/powerpoint/2010/main" val="266792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TYPES OF LIABILITY</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Liability can generally be based on civil or criminal law</a:t>
            </a:r>
          </a:p>
          <a:p>
            <a:pPr algn="just">
              <a:lnSpc>
                <a:spcPct val="150000"/>
              </a:lnSpc>
              <a:buFont typeface="Wingdings" panose="05000000000000000000" pitchFamily="2" charset="2"/>
              <a:buChar char="q"/>
            </a:pPr>
            <a:r>
              <a:rPr lang="en-AU" dirty="0"/>
              <a:t>Civil liability may be derived from a contractual relationship between the cloud computing provider and the customer. </a:t>
            </a:r>
          </a:p>
        </p:txBody>
      </p:sp>
    </p:spTree>
    <p:extLst>
      <p:ext uri="{BB962C8B-B14F-4D97-AF65-F5344CB8AC3E}">
        <p14:creationId xmlns:p14="http://schemas.microsoft.com/office/powerpoint/2010/main" val="3558484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TYPES OF LIABILITY</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Liability can also accrue from special legislation, in particular telecommunications laws, electronic commerce laws, data protection laws, copyright laws and trademark or patent laws.</a:t>
            </a:r>
          </a:p>
          <a:p>
            <a:pPr algn="just">
              <a:lnSpc>
                <a:spcPct val="150000"/>
              </a:lnSpc>
              <a:buFont typeface="Wingdings" panose="05000000000000000000" pitchFamily="2" charset="2"/>
              <a:buChar char="q"/>
            </a:pPr>
            <a:r>
              <a:rPr lang="en-AU" dirty="0"/>
              <a:t>These laws are state-based and in most parts not compatible with the technological framework of cloud computing. </a:t>
            </a:r>
          </a:p>
        </p:txBody>
      </p:sp>
    </p:spTree>
    <p:extLst>
      <p:ext uri="{BB962C8B-B14F-4D97-AF65-F5344CB8AC3E}">
        <p14:creationId xmlns:p14="http://schemas.microsoft.com/office/powerpoint/2010/main" val="229060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Cloud Computing: Legal Challenges</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a:xfrm>
            <a:off x="1097280" y="1845734"/>
            <a:ext cx="2944368" cy="4427050"/>
          </a:xfrm>
        </p:spPr>
        <p:txBody>
          <a:bodyPr>
            <a:normAutofit fontScale="92500" lnSpcReduction="20000"/>
          </a:bodyPr>
          <a:lstStyle/>
          <a:p>
            <a:pPr>
              <a:lnSpc>
                <a:spcPct val="120000"/>
              </a:lnSpc>
              <a:buFont typeface="Wingdings" panose="05000000000000000000" pitchFamily="2" charset="2"/>
              <a:buChar char="q"/>
            </a:pPr>
            <a:r>
              <a:rPr lang="en-AU" dirty="0"/>
              <a:t>Liability</a:t>
            </a:r>
          </a:p>
          <a:p>
            <a:pPr>
              <a:lnSpc>
                <a:spcPct val="120000"/>
              </a:lnSpc>
              <a:buFont typeface="Wingdings" panose="05000000000000000000" pitchFamily="2" charset="2"/>
              <a:buChar char="q"/>
            </a:pPr>
            <a:r>
              <a:rPr lang="en-AU" dirty="0"/>
              <a:t>Security</a:t>
            </a:r>
          </a:p>
          <a:p>
            <a:pPr>
              <a:lnSpc>
                <a:spcPct val="120000"/>
              </a:lnSpc>
              <a:buFont typeface="Wingdings" panose="05000000000000000000" pitchFamily="2" charset="2"/>
              <a:buChar char="q"/>
            </a:pPr>
            <a:r>
              <a:rPr lang="en-AU" dirty="0"/>
              <a:t>Risk allocation</a:t>
            </a:r>
          </a:p>
          <a:p>
            <a:pPr>
              <a:lnSpc>
                <a:spcPct val="120000"/>
              </a:lnSpc>
              <a:buFont typeface="Wingdings" panose="05000000000000000000" pitchFamily="2" charset="2"/>
              <a:buChar char="q"/>
            </a:pPr>
            <a:r>
              <a:rPr lang="en-AU" dirty="0"/>
              <a:t>Date Retention Issues</a:t>
            </a:r>
          </a:p>
          <a:p>
            <a:pPr>
              <a:lnSpc>
                <a:spcPct val="120000"/>
              </a:lnSpc>
              <a:buFont typeface="Wingdings" panose="05000000000000000000" pitchFamily="2" charset="2"/>
              <a:buChar char="q"/>
            </a:pPr>
            <a:r>
              <a:rPr lang="en-AU" dirty="0"/>
              <a:t>3rd party contractual limitations</a:t>
            </a:r>
          </a:p>
          <a:p>
            <a:pPr>
              <a:lnSpc>
                <a:spcPct val="120000"/>
              </a:lnSpc>
              <a:buFont typeface="Wingdings" panose="05000000000000000000" pitchFamily="2" charset="2"/>
              <a:buChar char="q"/>
            </a:pPr>
            <a:r>
              <a:rPr lang="en-AU" dirty="0"/>
              <a:t>Regulatory compliances</a:t>
            </a:r>
          </a:p>
          <a:p>
            <a:pPr>
              <a:lnSpc>
                <a:spcPct val="120000"/>
              </a:lnSpc>
              <a:buFont typeface="Wingdings" panose="05000000000000000000" pitchFamily="2" charset="2"/>
              <a:buChar char="q"/>
            </a:pPr>
            <a:r>
              <a:rPr lang="en-AU" dirty="0"/>
              <a:t>Control over physical location of the data</a:t>
            </a:r>
          </a:p>
          <a:p>
            <a:pPr>
              <a:lnSpc>
                <a:spcPct val="120000"/>
              </a:lnSpc>
              <a:buFont typeface="Wingdings" panose="05000000000000000000" pitchFamily="2" charset="2"/>
              <a:buChar char="q"/>
            </a:pPr>
            <a:r>
              <a:rPr lang="en-AU" dirty="0"/>
              <a:t>Security breach</a:t>
            </a:r>
          </a:p>
        </p:txBody>
      </p:sp>
      <p:sp>
        <p:nvSpPr>
          <p:cNvPr id="4" name="Rectangle 3">
            <a:extLst>
              <a:ext uri="{FF2B5EF4-FFF2-40B4-BE49-F238E27FC236}">
                <a16:creationId xmlns:a16="http://schemas.microsoft.com/office/drawing/2014/main" id="{46ACB43D-22AD-4669-8081-8C0214995F40}"/>
              </a:ext>
            </a:extLst>
          </p:cNvPr>
          <p:cNvSpPr/>
          <p:nvPr/>
        </p:nvSpPr>
        <p:spPr>
          <a:xfrm>
            <a:off x="5532122" y="2085834"/>
            <a:ext cx="6096000" cy="1732141"/>
          </a:xfrm>
          <a:prstGeom prst="rect">
            <a:avLst/>
          </a:prstGeom>
        </p:spPr>
        <p:txBody>
          <a:bodyPr>
            <a:spAutoFit/>
          </a:bodyPr>
          <a:lstStyle/>
          <a:p>
            <a:pPr algn="just">
              <a:lnSpc>
                <a:spcPct val="120000"/>
              </a:lnSpc>
              <a:buFont typeface="Wingdings" panose="05000000000000000000" pitchFamily="2" charset="2"/>
              <a:buChar char="q"/>
            </a:pPr>
            <a:r>
              <a:rPr lang="en-AU" dirty="0"/>
              <a:t>Trade secret protection</a:t>
            </a:r>
          </a:p>
          <a:p>
            <a:pPr algn="just">
              <a:lnSpc>
                <a:spcPct val="120000"/>
              </a:lnSpc>
              <a:buFont typeface="Wingdings" panose="05000000000000000000" pitchFamily="2" charset="2"/>
              <a:buChar char="q"/>
            </a:pPr>
            <a:r>
              <a:rPr lang="en-AU" dirty="0"/>
              <a:t>Hacking of cloud provider</a:t>
            </a:r>
          </a:p>
          <a:p>
            <a:pPr algn="just">
              <a:lnSpc>
                <a:spcPct val="120000"/>
              </a:lnSpc>
              <a:buFont typeface="Wingdings" panose="05000000000000000000" pitchFamily="2" charset="2"/>
              <a:buChar char="q"/>
            </a:pPr>
            <a:r>
              <a:rPr lang="en-AU" dirty="0"/>
              <a:t>Financial liability of cloud vendor</a:t>
            </a:r>
          </a:p>
          <a:p>
            <a:pPr algn="just">
              <a:lnSpc>
                <a:spcPct val="120000"/>
              </a:lnSpc>
              <a:buFont typeface="Wingdings" panose="05000000000000000000" pitchFamily="2" charset="2"/>
              <a:buChar char="q"/>
            </a:pPr>
            <a:r>
              <a:rPr lang="en-AU" dirty="0"/>
              <a:t>IPR issues</a:t>
            </a:r>
          </a:p>
          <a:p>
            <a:pPr algn="just">
              <a:lnSpc>
                <a:spcPct val="120000"/>
              </a:lnSpc>
              <a:buFont typeface="Wingdings" panose="05000000000000000000" pitchFamily="2" charset="2"/>
              <a:buChar char="q"/>
            </a:pPr>
            <a:r>
              <a:rPr lang="en-AU" dirty="0"/>
              <a:t>Jurisdiction and court of law</a:t>
            </a:r>
          </a:p>
        </p:txBody>
      </p:sp>
    </p:spTree>
    <p:extLst>
      <p:ext uri="{BB962C8B-B14F-4D97-AF65-F5344CB8AC3E}">
        <p14:creationId xmlns:p14="http://schemas.microsoft.com/office/powerpoint/2010/main" val="4093384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Cross Border Legal Issues</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Cloud inherently being stateless and serves located in different locations and countries creates issues related to conflict of laws, applicable law and jurisdiction.</a:t>
            </a:r>
          </a:p>
          <a:p>
            <a:pPr algn="just">
              <a:lnSpc>
                <a:spcPct val="150000"/>
              </a:lnSpc>
              <a:buFont typeface="Wingdings" panose="05000000000000000000" pitchFamily="2" charset="2"/>
              <a:buChar char="q"/>
            </a:pPr>
            <a:r>
              <a:rPr lang="en-AU" dirty="0"/>
              <a:t>Cross-border data flow, potentially conflicting regulations, applicable regulations</a:t>
            </a:r>
          </a:p>
          <a:p>
            <a:pPr algn="just">
              <a:lnSpc>
                <a:spcPct val="150000"/>
              </a:lnSpc>
              <a:buFont typeface="Wingdings" panose="05000000000000000000" pitchFamily="2" charset="2"/>
              <a:buChar char="q"/>
            </a:pPr>
            <a:endParaRPr lang="en-AU" dirty="0"/>
          </a:p>
        </p:txBody>
      </p:sp>
    </p:spTree>
    <p:extLst>
      <p:ext uri="{BB962C8B-B14F-4D97-AF65-F5344CB8AC3E}">
        <p14:creationId xmlns:p14="http://schemas.microsoft.com/office/powerpoint/2010/main" val="2828714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Involvement of multiple parties</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Cloud services usually involve multiple parties which makes onus and liability shift on one another. </a:t>
            </a:r>
          </a:p>
          <a:p>
            <a:pPr algn="just">
              <a:lnSpc>
                <a:spcPct val="150000"/>
              </a:lnSpc>
              <a:buFont typeface="Wingdings" panose="05000000000000000000" pitchFamily="2" charset="2"/>
              <a:buChar char="q"/>
            </a:pPr>
            <a:r>
              <a:rPr lang="en-AU" dirty="0"/>
              <a:t>Contractual privity lacks between the parties which makes it difficult for the client to bind a provider for a breach.</a:t>
            </a:r>
          </a:p>
          <a:p>
            <a:pPr algn="just">
              <a:lnSpc>
                <a:spcPct val="150000"/>
              </a:lnSpc>
              <a:buFont typeface="Wingdings" panose="05000000000000000000" pitchFamily="2" charset="2"/>
              <a:buChar char="q"/>
            </a:pPr>
            <a:r>
              <a:rPr lang="en-AU" dirty="0"/>
              <a:t>Right to conduct due diligence and to understand the model of delivery of services should be given to the customer</a:t>
            </a:r>
          </a:p>
        </p:txBody>
      </p:sp>
    </p:spTree>
    <p:extLst>
      <p:ext uri="{BB962C8B-B14F-4D97-AF65-F5344CB8AC3E}">
        <p14:creationId xmlns:p14="http://schemas.microsoft.com/office/powerpoint/2010/main" val="2299754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normAutofit/>
          </a:bodyPr>
          <a:lstStyle/>
          <a:p>
            <a:r>
              <a:rPr lang="en-AU" dirty="0"/>
              <a:t>CIVIL LAW DIFFERENTIATIONS FOR SPECIFIC TYPES OF PROVIDERS</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ACCESS AND CACHING PROVIDER: </a:t>
            </a:r>
          </a:p>
          <a:p>
            <a:pPr algn="just">
              <a:lnSpc>
                <a:spcPct val="150000"/>
              </a:lnSpc>
              <a:buFont typeface="Wingdings" panose="05000000000000000000" pitchFamily="2" charset="2"/>
              <a:buChar char="q"/>
            </a:pPr>
            <a:r>
              <a:rPr lang="en-AU" dirty="0"/>
              <a:t>HOST PROVIDER: Art. 14of the EU E-Commerce Directive as well as case law [14] suggest that a host provider is not under an extensive control obligation in regard to information available on websites/homepages or in non-moderated newsgroups. </a:t>
            </a:r>
          </a:p>
          <a:p>
            <a:pPr algn="just">
              <a:lnSpc>
                <a:spcPct val="150000"/>
              </a:lnSpc>
              <a:buFont typeface="Wingdings" panose="05000000000000000000" pitchFamily="2" charset="2"/>
              <a:buChar char="q"/>
            </a:pPr>
            <a:r>
              <a:rPr lang="en-AU" dirty="0"/>
              <a:t>CONTRACTUAL LIABILITY:</a:t>
            </a:r>
          </a:p>
          <a:p>
            <a:pPr algn="just">
              <a:lnSpc>
                <a:spcPct val="150000"/>
              </a:lnSpc>
              <a:buFont typeface="Wingdings" panose="05000000000000000000" pitchFamily="2" charset="2"/>
              <a:buChar char="q"/>
            </a:pPr>
            <a:r>
              <a:rPr lang="en-AU" dirty="0"/>
              <a:t>DATA PROTECTION LIABILITY:</a:t>
            </a:r>
          </a:p>
        </p:txBody>
      </p:sp>
    </p:spTree>
    <p:extLst>
      <p:ext uri="{BB962C8B-B14F-4D97-AF65-F5344CB8AC3E}">
        <p14:creationId xmlns:p14="http://schemas.microsoft.com/office/powerpoint/2010/main" val="2904084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TYPES OF CIVIL LIABILITY</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INTELLECTUAL PROPERTY LIABILITY: </a:t>
            </a:r>
          </a:p>
          <a:p>
            <a:pPr algn="just">
              <a:lnSpc>
                <a:spcPct val="150000"/>
              </a:lnSpc>
              <a:buFont typeface="Wingdings" panose="05000000000000000000" pitchFamily="2" charset="2"/>
              <a:buChar char="q"/>
            </a:pPr>
            <a:r>
              <a:rPr lang="en-AU" dirty="0"/>
              <a:t>FURTHER LIABILITY CASES:</a:t>
            </a:r>
          </a:p>
        </p:txBody>
      </p:sp>
    </p:spTree>
    <p:extLst>
      <p:ext uri="{BB962C8B-B14F-4D97-AF65-F5344CB8AC3E}">
        <p14:creationId xmlns:p14="http://schemas.microsoft.com/office/powerpoint/2010/main" val="365358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4E52D-7A06-4FE1-8B40-283F417B37C2}"/>
              </a:ext>
            </a:extLst>
          </p:cNvPr>
          <p:cNvSpPr>
            <a:spLocks noGrp="1"/>
          </p:cNvSpPr>
          <p:nvPr>
            <p:ph type="title"/>
          </p:nvPr>
        </p:nvSpPr>
        <p:spPr/>
        <p:txBody>
          <a:bodyPr/>
          <a:lstStyle/>
          <a:p>
            <a:r>
              <a:rPr lang="en-AU" dirty="0"/>
              <a:t>CLOUD INSURANCE</a:t>
            </a:r>
          </a:p>
        </p:txBody>
      </p:sp>
      <p:sp>
        <p:nvSpPr>
          <p:cNvPr id="3" name="Content Placeholder 2">
            <a:extLst>
              <a:ext uri="{FF2B5EF4-FFF2-40B4-BE49-F238E27FC236}">
                <a16:creationId xmlns:a16="http://schemas.microsoft.com/office/drawing/2014/main" id="{4DE4ABE7-2678-422F-8BF6-11A804BD7E2E}"/>
              </a:ext>
            </a:extLst>
          </p:cNvPr>
          <p:cNvSpPr>
            <a:spLocks noGrp="1"/>
          </p:cNvSpPr>
          <p:nvPr>
            <p:ph idx="1"/>
          </p:nvPr>
        </p:nvSpPr>
        <p:spPr>
          <a:xfrm>
            <a:off x="1097280" y="1845734"/>
            <a:ext cx="10058400" cy="4390474"/>
          </a:xfrm>
        </p:spPr>
        <p:txBody>
          <a:bodyPr>
            <a:normAutofit fontScale="92500"/>
          </a:bodyPr>
          <a:lstStyle/>
          <a:p>
            <a:pPr algn="just">
              <a:lnSpc>
                <a:spcPct val="150000"/>
              </a:lnSpc>
              <a:buFont typeface="Wingdings" panose="05000000000000000000" pitchFamily="2" charset="2"/>
              <a:buChar char="q"/>
            </a:pPr>
            <a:r>
              <a:rPr lang="en-AU" dirty="0"/>
              <a:t>Most cloud providers which retain liability through their customer contracts want to reduce this liability further by entering into insurance contracts. </a:t>
            </a:r>
          </a:p>
          <a:p>
            <a:pPr algn="just">
              <a:lnSpc>
                <a:spcPct val="150000"/>
              </a:lnSpc>
              <a:buFont typeface="Wingdings" panose="05000000000000000000" pitchFamily="2" charset="2"/>
              <a:buChar char="q"/>
            </a:pPr>
            <a:r>
              <a:rPr lang="en-AU" dirty="0"/>
              <a:t>These should be tailored to risks such as server downtime due to power outages, hacker attacks etc. </a:t>
            </a:r>
          </a:p>
          <a:p>
            <a:pPr algn="just">
              <a:lnSpc>
                <a:spcPct val="150000"/>
              </a:lnSpc>
              <a:buFont typeface="Wingdings" panose="05000000000000000000" pitchFamily="2" charset="2"/>
              <a:buChar char="q"/>
            </a:pPr>
            <a:r>
              <a:rPr lang="en-AU" dirty="0"/>
              <a:t>Potential risks can be grouped into categories such as security, data, privacy and regulatory risks, service failures, supplier risks and loss of operational control as well as the mentioned intellectual property liability. </a:t>
            </a:r>
          </a:p>
          <a:p>
            <a:pPr algn="just">
              <a:lnSpc>
                <a:spcPct val="150000"/>
              </a:lnSpc>
              <a:buFont typeface="Wingdings" panose="05000000000000000000" pitchFamily="2" charset="2"/>
              <a:buChar char="q"/>
            </a:pPr>
            <a:r>
              <a:rPr lang="en-AU" dirty="0"/>
              <a:t>The costs created by any such event are often substantial and can further be broken down into first party (direct) and third party (indirect) costs.</a:t>
            </a:r>
          </a:p>
        </p:txBody>
      </p:sp>
    </p:spTree>
    <p:extLst>
      <p:ext uri="{BB962C8B-B14F-4D97-AF65-F5344CB8AC3E}">
        <p14:creationId xmlns:p14="http://schemas.microsoft.com/office/powerpoint/2010/main" val="63996736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762</TotalTime>
  <Words>542</Words>
  <Application>Microsoft Office PowerPoint</Application>
  <PresentationFormat>Widescreen</PresentationFormat>
  <Paragraphs>52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Calibri Light</vt:lpstr>
      <vt:lpstr>Wingdings</vt:lpstr>
      <vt:lpstr>Retrospect</vt:lpstr>
      <vt:lpstr>Notes</vt:lpstr>
      <vt:lpstr>Cloud computing </vt:lpstr>
      <vt:lpstr>LEGAL FRAMEWORK FOR LIABILITY IN THE CLOUD ENVIRONMENT</vt:lpstr>
      <vt:lpstr>TYPES OF LIABILITY</vt:lpstr>
      <vt:lpstr>TYPES OF LIABILITY</vt:lpstr>
      <vt:lpstr>Cloud Computing: Legal Challenges</vt:lpstr>
      <vt:lpstr>Cross Border Legal Issues</vt:lpstr>
      <vt:lpstr>Involvement of multiple parties</vt:lpstr>
      <vt:lpstr>CIVIL LAW DIFFERENTIATIONS FOR SPECIFIC TYPES OF PROVIDERS</vt:lpstr>
      <vt:lpstr>TYPES OF CIVIL LIABILITY</vt:lpstr>
      <vt:lpstr>CLOUD INSURANCE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15</cp:revision>
  <dcterms:created xsi:type="dcterms:W3CDTF">2022-04-21T02:58:24Z</dcterms:created>
  <dcterms:modified xsi:type="dcterms:W3CDTF">2022-08-01T02:33:04Z</dcterms:modified>
</cp:coreProperties>
</file>