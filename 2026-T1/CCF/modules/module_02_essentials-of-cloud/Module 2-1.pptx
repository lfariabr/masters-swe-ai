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notesMasterIdLst>
    <p:notesMasterId r:id="rId46"/>
  </p:notesMasterIdLst>
  <p:handoutMasterIdLst>
    <p:handoutMasterId r:id="rId47"/>
  </p:handoutMasterIdLst>
  <p:sldIdLst>
    <p:sldId id="293" r:id="rId2"/>
    <p:sldId id="294" r:id="rId3"/>
    <p:sldId id="296" r:id="rId4"/>
    <p:sldId id="297" r:id="rId5"/>
    <p:sldId id="302" r:id="rId6"/>
    <p:sldId id="321" r:id="rId7"/>
    <p:sldId id="322" r:id="rId8"/>
    <p:sldId id="323" r:id="rId9"/>
    <p:sldId id="325" r:id="rId10"/>
    <p:sldId id="299" r:id="rId11"/>
    <p:sldId id="298" r:id="rId12"/>
    <p:sldId id="295" r:id="rId13"/>
    <p:sldId id="257" r:id="rId14"/>
    <p:sldId id="305" r:id="rId15"/>
    <p:sldId id="269" r:id="rId16"/>
    <p:sldId id="270" r:id="rId17"/>
    <p:sldId id="272" r:id="rId18"/>
    <p:sldId id="314" r:id="rId19"/>
    <p:sldId id="304" r:id="rId20"/>
    <p:sldId id="273" r:id="rId21"/>
    <p:sldId id="274" r:id="rId22"/>
    <p:sldId id="275" r:id="rId23"/>
    <p:sldId id="315" r:id="rId24"/>
    <p:sldId id="316" r:id="rId25"/>
    <p:sldId id="303" r:id="rId26"/>
    <p:sldId id="276" r:id="rId27"/>
    <p:sldId id="277" r:id="rId28"/>
    <p:sldId id="317" r:id="rId29"/>
    <p:sldId id="318" r:id="rId30"/>
    <p:sldId id="319" r:id="rId31"/>
    <p:sldId id="278" r:id="rId32"/>
    <p:sldId id="279" r:id="rId33"/>
    <p:sldId id="280" r:id="rId34"/>
    <p:sldId id="281" r:id="rId35"/>
    <p:sldId id="282" r:id="rId36"/>
    <p:sldId id="283" r:id="rId37"/>
    <p:sldId id="320" r:id="rId38"/>
    <p:sldId id="307" r:id="rId39"/>
    <p:sldId id="310" r:id="rId40"/>
    <p:sldId id="309" r:id="rId41"/>
    <p:sldId id="308" r:id="rId42"/>
    <p:sldId id="313" r:id="rId43"/>
    <p:sldId id="292" r:id="rId44"/>
    <p:sldId id="259"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58C018-26E6-8CBE-6DE2-3A9BEE4F1ACB}" v="9" dt="2025-06-11T07:52:12.161"/>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4660"/>
  </p:normalViewPr>
  <p:slideViewPr>
    <p:cSldViewPr snapToGrid="0">
      <p:cViewPr varScale="1">
        <p:scale>
          <a:sx n="112" d="100"/>
          <a:sy n="112"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 Leekha" userId="S::divyarahul.leekha@torrens.edu.au::9d877988-a945-4593-83be-7278bd2d3dda" providerId="AD" clId="Web-{58D55754-7D98-35C4-B353-63C0CBCB2118}"/>
    <pc:docChg chg="addSld delSld sldOrd">
      <pc:chgData name="Divya Leekha" userId="S::divyarahul.leekha@torrens.edu.au::9d877988-a945-4593-83be-7278bd2d3dda" providerId="AD" clId="Web-{58D55754-7D98-35C4-B353-63C0CBCB2118}" dt="2025-02-21T00:30:04.289" v="8"/>
      <pc:docMkLst>
        <pc:docMk/>
      </pc:docMkLst>
      <pc:sldChg chg="ord">
        <pc:chgData name="Divya Leekha" userId="S::divyarahul.leekha@torrens.edu.au::9d877988-a945-4593-83be-7278bd2d3dda" providerId="AD" clId="Web-{58D55754-7D98-35C4-B353-63C0CBCB2118}" dt="2025-02-21T00:30:04.289" v="8"/>
        <pc:sldMkLst>
          <pc:docMk/>
          <pc:sldMk cId="399255558" sldId="299"/>
        </pc:sldMkLst>
      </pc:sldChg>
      <pc:sldChg chg="add del">
        <pc:chgData name="Divya Leekha" userId="S::divyarahul.leekha@torrens.edu.au::9d877988-a945-4593-83be-7278bd2d3dda" providerId="AD" clId="Web-{58D55754-7D98-35C4-B353-63C0CBCB2118}" dt="2025-02-20T22:23:01.995" v="3"/>
        <pc:sldMkLst>
          <pc:docMk/>
          <pc:sldMk cId="1933391062" sldId="322"/>
        </pc:sldMkLst>
      </pc:sldChg>
      <pc:sldChg chg="add del">
        <pc:chgData name="Divya Leekha" userId="S::divyarahul.leekha@torrens.edu.au::9d877988-a945-4593-83be-7278bd2d3dda" providerId="AD" clId="Web-{58D55754-7D98-35C4-B353-63C0CBCB2118}" dt="2025-02-20T22:23:02.011" v="4"/>
        <pc:sldMkLst>
          <pc:docMk/>
          <pc:sldMk cId="425214204" sldId="323"/>
        </pc:sldMkLst>
      </pc:sldChg>
      <pc:sldChg chg="add del">
        <pc:chgData name="Divya Leekha" userId="S::divyarahul.leekha@torrens.edu.au::9d877988-a945-4593-83be-7278bd2d3dda" providerId="AD" clId="Web-{58D55754-7D98-35C4-B353-63C0CBCB2118}" dt="2025-02-20T22:23:02.027" v="5"/>
        <pc:sldMkLst>
          <pc:docMk/>
          <pc:sldMk cId="986368665" sldId="325"/>
        </pc:sldMkLst>
      </pc:sldChg>
    </pc:docChg>
  </pc:docChgLst>
  <pc:docChgLst>
    <pc:chgData name="Divya Leekha" userId="S::divyarahul.leekha@torrens.edu.au::9d877988-a945-4593-83be-7278bd2d3dda" providerId="AD" clId="Web-{BC58C018-26E6-8CBE-6DE2-3A9BEE4F1ACB}"/>
    <pc:docChg chg="modSld">
      <pc:chgData name="Divya Leekha" userId="S::divyarahul.leekha@torrens.edu.au::9d877988-a945-4593-83be-7278bd2d3dda" providerId="AD" clId="Web-{BC58C018-26E6-8CBE-6DE2-3A9BEE4F1ACB}" dt="2025-06-11T07:52:36.756" v="37"/>
      <pc:docMkLst>
        <pc:docMk/>
      </pc:docMkLst>
      <pc:sldChg chg="modNotes">
        <pc:chgData name="Divya Leekha" userId="S::divyarahul.leekha@torrens.edu.au::9d877988-a945-4593-83be-7278bd2d3dda" providerId="AD" clId="Web-{BC58C018-26E6-8CBE-6DE2-3A9BEE4F1ACB}" dt="2025-06-11T07:38:07.629" v="8"/>
        <pc:sldMkLst>
          <pc:docMk/>
          <pc:sldMk cId="3832818016" sldId="297"/>
        </pc:sldMkLst>
      </pc:sldChg>
      <pc:sldChg chg="addSp delSp modSp mod setBg modNotes">
        <pc:chgData name="Divya Leekha" userId="S::divyarahul.leekha@torrens.edu.au::9d877988-a945-4593-83be-7278bd2d3dda" providerId="AD" clId="Web-{BC58C018-26E6-8CBE-6DE2-3A9BEE4F1ACB}" dt="2025-06-11T07:52:36.756" v="37"/>
        <pc:sldMkLst>
          <pc:docMk/>
          <pc:sldMk cId="1114657258" sldId="298"/>
        </pc:sldMkLst>
        <pc:spChg chg="mod ord">
          <ac:chgData name="Divya Leekha" userId="S::divyarahul.leekha@torrens.edu.au::9d877988-a945-4593-83be-7278bd2d3dda" providerId="AD" clId="Web-{BC58C018-26E6-8CBE-6DE2-3A9BEE4F1ACB}" dt="2025-06-11T07:51:52.895" v="33"/>
          <ac:spMkLst>
            <pc:docMk/>
            <pc:sldMk cId="1114657258" sldId="298"/>
            <ac:spMk id="5" creationId="{06DDD34B-6704-40F1-A869-888A6FEC9C72}"/>
          </ac:spMkLst>
        </pc:spChg>
        <pc:picChg chg="add del mod">
          <ac:chgData name="Divya Leekha" userId="S::divyarahul.leekha@torrens.edu.au::9d877988-a945-4593-83be-7278bd2d3dda" providerId="AD" clId="Web-{BC58C018-26E6-8CBE-6DE2-3A9BEE4F1ACB}" dt="2025-06-11T07:51:52.895" v="33"/>
          <ac:picMkLst>
            <pc:docMk/>
            <pc:sldMk cId="1114657258" sldId="298"/>
            <ac:picMk id="2" creationId="{5D141681-EC05-C05E-7ADD-8B96669EA31B}"/>
          </ac:picMkLst>
        </pc:picChg>
        <pc:picChg chg="add del mod">
          <ac:chgData name="Divya Leekha" userId="S::divyarahul.leekha@torrens.edu.au::9d877988-a945-4593-83be-7278bd2d3dda" providerId="AD" clId="Web-{BC58C018-26E6-8CBE-6DE2-3A9BEE4F1ACB}" dt="2025-06-11T07:52:12.161" v="35"/>
          <ac:picMkLst>
            <pc:docMk/>
            <pc:sldMk cId="1114657258" sldId="298"/>
            <ac:picMk id="3" creationId="{28577682-CBD0-9DFF-37CF-5026CFD78409}"/>
          </ac:picMkLst>
        </pc:picChg>
        <pc:picChg chg="mod">
          <ac:chgData name="Divya Leekha" userId="S::divyarahul.leekha@torrens.edu.au::9d877988-a945-4593-83be-7278bd2d3dda" providerId="AD" clId="Web-{BC58C018-26E6-8CBE-6DE2-3A9BEE4F1ACB}" dt="2025-06-11T07:51:52.895" v="33"/>
          <ac:picMkLst>
            <pc:docMk/>
            <pc:sldMk cId="1114657258" sldId="298"/>
            <ac:picMk id="2050" creationId="{5A535FE1-C974-4888-BA50-6B5862026912}"/>
          </ac:picMkLst>
        </pc:picChg>
      </pc:sldChg>
      <pc:sldChg chg="modNotes">
        <pc:chgData name="Divya Leekha" userId="S::divyarahul.leekha@torrens.edu.au::9d877988-a945-4593-83be-7278bd2d3dda" providerId="AD" clId="Web-{BC58C018-26E6-8CBE-6DE2-3A9BEE4F1ACB}" dt="2025-06-11T07:44:22.300" v="25"/>
        <pc:sldMkLst>
          <pc:docMk/>
          <pc:sldMk cId="399255558" sldId="299"/>
        </pc:sldMkLst>
      </pc:sldChg>
      <pc:sldChg chg="modNotes">
        <pc:chgData name="Divya Leekha" userId="S::divyarahul.leekha@torrens.edu.au::9d877988-a945-4593-83be-7278bd2d3dda" providerId="AD" clId="Web-{BC58C018-26E6-8CBE-6DE2-3A9BEE4F1ACB}" dt="2025-06-11T07:39:09.194" v="12"/>
        <pc:sldMkLst>
          <pc:docMk/>
          <pc:sldMk cId="1751077680" sldId="302"/>
        </pc:sldMkLst>
      </pc:sldChg>
      <pc:sldChg chg="modNotes">
        <pc:chgData name="Divya Leekha" userId="S::divyarahul.leekha@torrens.edu.au::9d877988-a945-4593-83be-7278bd2d3dda" providerId="AD" clId="Web-{BC58C018-26E6-8CBE-6DE2-3A9BEE4F1ACB}" dt="2025-06-11T07:40:33.026" v="14"/>
        <pc:sldMkLst>
          <pc:docMk/>
          <pc:sldMk cId="425214204" sldId="323"/>
        </pc:sldMkLst>
      </pc:sldChg>
      <pc:sldChg chg="modNotes">
        <pc:chgData name="Divya Leekha" userId="S::divyarahul.leekha@torrens.edu.au::9d877988-a945-4593-83be-7278bd2d3dda" providerId="AD" clId="Web-{BC58C018-26E6-8CBE-6DE2-3A9BEE4F1ACB}" dt="2025-06-11T07:42:39.312" v="20"/>
        <pc:sldMkLst>
          <pc:docMk/>
          <pc:sldMk cId="986368665" sldId="32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profd\Downloads\Week%202%20Cloud%20Comput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AU"/>
              <a:t>Cloud Adoption in 2020 and 2022 by Country.</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AU"/>
        </a:p>
      </c:txPr>
    </c:title>
    <c:autoTitleDeleted val="0"/>
    <c:plotArea>
      <c:layout/>
      <c:barChart>
        <c:barDir val="bar"/>
        <c:grouping val="clustered"/>
        <c:varyColors val="0"/>
        <c:ser>
          <c:idx val="0"/>
          <c:order val="0"/>
          <c:tx>
            <c:strRef>
              <c:f>'Cloud Adoption in 2020 and 2022'!$F$5</c:f>
              <c:strCache>
                <c:ptCount val="1"/>
                <c:pt idx="0">
                  <c:v>2020 Adoption (%)</c:v>
                </c:pt>
              </c:strCache>
            </c:strRef>
          </c:tx>
          <c:spPr>
            <a:gradFill rotWithShape="1">
              <a:gsLst>
                <a:gs pos="0">
                  <a:schemeClr val="accent2">
                    <a:tint val="98000"/>
                    <a:lumMod val="114000"/>
                  </a:schemeClr>
                </a:gs>
                <a:gs pos="100000">
                  <a:schemeClr val="accent2">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cat>
            <c:strRef>
              <c:f>'Cloud Adoption in 2020 and 2022'!$E$6:$E$10</c:f>
              <c:strCache>
                <c:ptCount val="5"/>
                <c:pt idx="0">
                  <c:v>Australia/New Zealand</c:v>
                </c:pt>
                <c:pt idx="1">
                  <c:v>United States</c:v>
                </c:pt>
                <c:pt idx="2">
                  <c:v>France</c:v>
                </c:pt>
                <c:pt idx="3">
                  <c:v>Germany</c:v>
                </c:pt>
                <c:pt idx="4">
                  <c:v>U.K.</c:v>
                </c:pt>
              </c:strCache>
            </c:strRef>
          </c:cat>
          <c:val>
            <c:numRef>
              <c:f>'Cloud Adoption in 2020 and 2022'!$F$6:$F$10</c:f>
              <c:numCache>
                <c:formatCode>General</c:formatCode>
                <c:ptCount val="5"/>
                <c:pt idx="0">
                  <c:v>43</c:v>
                </c:pt>
                <c:pt idx="1">
                  <c:v>43</c:v>
                </c:pt>
                <c:pt idx="2">
                  <c:v>35</c:v>
                </c:pt>
                <c:pt idx="3">
                  <c:v>30</c:v>
                </c:pt>
                <c:pt idx="4">
                  <c:v>32</c:v>
                </c:pt>
              </c:numCache>
            </c:numRef>
          </c:val>
          <c:extLst>
            <c:ext xmlns:c16="http://schemas.microsoft.com/office/drawing/2014/chart" uri="{C3380CC4-5D6E-409C-BE32-E72D297353CC}">
              <c16:uniqueId val="{00000000-D832-4A3D-AC11-7866ED4B429B}"/>
            </c:ext>
          </c:extLst>
        </c:ser>
        <c:ser>
          <c:idx val="1"/>
          <c:order val="1"/>
          <c:tx>
            <c:strRef>
              <c:f>'Cloud Adoption in 2020 and 2022'!$G$5</c:f>
              <c:strCache>
                <c:ptCount val="1"/>
                <c:pt idx="0">
                  <c:v>2022 Projected Adoption (%)</c:v>
                </c:pt>
              </c:strCache>
            </c:strRef>
          </c:tx>
          <c:spPr>
            <a:gradFill rotWithShape="1">
              <a:gsLst>
                <a:gs pos="0">
                  <a:schemeClr val="accent4">
                    <a:tint val="98000"/>
                    <a:lumMod val="114000"/>
                  </a:schemeClr>
                </a:gs>
                <a:gs pos="100000">
                  <a:schemeClr val="accent4">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cat>
            <c:strRef>
              <c:f>'Cloud Adoption in 2020 and 2022'!$E$6:$E$10</c:f>
              <c:strCache>
                <c:ptCount val="5"/>
                <c:pt idx="0">
                  <c:v>Australia/New Zealand</c:v>
                </c:pt>
                <c:pt idx="1">
                  <c:v>United States</c:v>
                </c:pt>
                <c:pt idx="2">
                  <c:v>France</c:v>
                </c:pt>
                <c:pt idx="3">
                  <c:v>Germany</c:v>
                </c:pt>
                <c:pt idx="4">
                  <c:v>U.K.</c:v>
                </c:pt>
              </c:strCache>
            </c:strRef>
          </c:cat>
          <c:val>
            <c:numRef>
              <c:f>'Cloud Adoption in 2020 and 2022'!$G$6:$G$10</c:f>
              <c:numCache>
                <c:formatCode>General</c:formatCode>
                <c:ptCount val="5"/>
                <c:pt idx="0">
                  <c:v>52</c:v>
                </c:pt>
                <c:pt idx="1">
                  <c:v>52</c:v>
                </c:pt>
                <c:pt idx="2">
                  <c:v>45</c:v>
                </c:pt>
                <c:pt idx="3">
                  <c:v>40</c:v>
                </c:pt>
                <c:pt idx="4">
                  <c:v>42</c:v>
                </c:pt>
              </c:numCache>
            </c:numRef>
          </c:val>
          <c:extLst>
            <c:ext xmlns:c16="http://schemas.microsoft.com/office/drawing/2014/chart" uri="{C3380CC4-5D6E-409C-BE32-E72D297353CC}">
              <c16:uniqueId val="{00000001-D832-4A3D-AC11-7866ED4B429B}"/>
            </c:ext>
          </c:extLst>
        </c:ser>
        <c:dLbls>
          <c:showLegendKey val="0"/>
          <c:showVal val="0"/>
          <c:showCatName val="0"/>
          <c:showSerName val="0"/>
          <c:showPercent val="0"/>
          <c:showBubbleSize val="0"/>
        </c:dLbls>
        <c:gapWidth val="115"/>
        <c:overlap val="-20"/>
        <c:axId val="1263825487"/>
        <c:axId val="1263823087"/>
      </c:barChart>
      <c:catAx>
        <c:axId val="1263825487"/>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263823087"/>
        <c:crosses val="autoZero"/>
        <c:auto val="1"/>
        <c:lblAlgn val="ctr"/>
        <c:lblOffset val="100"/>
        <c:noMultiLvlLbl val="0"/>
      </c:catAx>
      <c:valAx>
        <c:axId val="1263823087"/>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2638254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AU"/>
              <a:t>Cloud Adoption and Performance Cohorts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'Cloud Adoption and Performance '!$C$5</c:f>
              <c:strCache>
                <c:ptCount val="1"/>
                <c:pt idx="0">
                  <c:v>Percentage</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5BC9-43A1-9862-6822A5013514}"/>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5BC9-43A1-9862-6822A5013514}"/>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5BC9-43A1-9862-6822A5013514}"/>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5BC9-43A1-9862-6822A5013514}"/>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'Cloud Adoption and Performance '!$B$6:$B$9</c:f>
              <c:strCache>
                <c:ptCount val="4"/>
                <c:pt idx="0">
                  <c:v>Exceptional Performers</c:v>
                </c:pt>
                <c:pt idx="1">
                  <c:v>Highly Effective Performers</c:v>
                </c:pt>
                <c:pt idx="2">
                  <c:v>Effective Performers</c:v>
                </c:pt>
                <c:pt idx="3">
                  <c:v>Minimally Effective Performers</c:v>
                </c:pt>
              </c:strCache>
            </c:strRef>
          </c:cat>
          <c:val>
            <c:numRef>
              <c:f>'Cloud Adoption and Performance '!$C$6:$C$9</c:f>
              <c:numCache>
                <c:formatCode>0%</c:formatCode>
                <c:ptCount val="4"/>
                <c:pt idx="0">
                  <c:v>0.16</c:v>
                </c:pt>
                <c:pt idx="1">
                  <c:v>0.19</c:v>
                </c:pt>
                <c:pt idx="2">
                  <c:v>0.33</c:v>
                </c:pt>
                <c:pt idx="3">
                  <c:v>0.32</c:v>
                </c:pt>
              </c:numCache>
            </c:numRef>
          </c:val>
          <c:extLst>
            <c:ext xmlns:c16="http://schemas.microsoft.com/office/drawing/2014/chart" uri="{C3380CC4-5D6E-409C-BE32-E72D297353CC}">
              <c16:uniqueId val="{00000008-5BC9-43A1-9862-6822A5013514}"/>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BF7164-BD4E-47A9-866D-4E8AC2B9FB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AU"/>
              <a:t>ISY503 Intelligent Systems</a:t>
            </a:r>
          </a:p>
        </p:txBody>
      </p:sp>
      <p:sp>
        <p:nvSpPr>
          <p:cNvPr id="3" name="Date Placeholder 2">
            <a:extLst>
              <a:ext uri="{FF2B5EF4-FFF2-40B4-BE49-F238E27FC236}">
                <a16:creationId xmlns:a16="http://schemas.microsoft.com/office/drawing/2014/main" id="{061DD975-F6A3-42C8-9391-682BEBF5B9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F71FA5-567C-41D2-B207-D8D003DB84CF}" type="datetimeFigureOut">
              <a:rPr lang="en-AU" smtClean="0"/>
              <a:t>11/06/2025</a:t>
            </a:fld>
            <a:endParaRPr lang="en-AU"/>
          </a:p>
        </p:txBody>
      </p:sp>
      <p:sp>
        <p:nvSpPr>
          <p:cNvPr id="4" name="Footer Placeholder 3">
            <a:extLst>
              <a:ext uri="{FF2B5EF4-FFF2-40B4-BE49-F238E27FC236}">
                <a16:creationId xmlns:a16="http://schemas.microsoft.com/office/drawing/2014/main" id="{E1BB0516-EA71-4387-8E22-64D2AE16A4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0E49DD0D-3ACB-4C8B-AB0E-7554358031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AB5A63-5D42-4E0B-8C7D-5397ED7B6FB4}" type="slidenum">
              <a:rPr lang="en-AU" smtClean="0"/>
              <a:t>‹#›</a:t>
            </a:fld>
            <a:endParaRPr lang="en-AU"/>
          </a:p>
        </p:txBody>
      </p:sp>
    </p:spTree>
    <p:extLst>
      <p:ext uri="{BB962C8B-B14F-4D97-AF65-F5344CB8AC3E}">
        <p14:creationId xmlns:p14="http://schemas.microsoft.com/office/powerpoint/2010/main" val="3365333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AU"/>
              <a:t>ISY503 Intelligent Systems</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7CC2E7-36C7-4086-BFF0-D38F59C0E642}" type="datetimeFigureOut">
              <a:rPr lang="en-AU" smtClean="0"/>
              <a:t>11/06/2025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A084AC-35BC-4CB6-A030-8A49229F1A96}" type="slidenum">
              <a:rPr lang="en-AU" smtClean="0"/>
              <a:t>‹#›</a:t>
            </a:fld>
            <a:endParaRPr lang="en-AU"/>
          </a:p>
        </p:txBody>
      </p:sp>
    </p:spTree>
    <p:extLst>
      <p:ext uri="{BB962C8B-B14F-4D97-AF65-F5344CB8AC3E}">
        <p14:creationId xmlns:p14="http://schemas.microsoft.com/office/powerpoint/2010/main" val="595606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On-Demand Self-Service</a:t>
            </a:r>
            <a:endParaRPr lang="en-US"/>
          </a:p>
          <a:p>
            <a:r>
              <a:rPr lang="en-US" b="1" dirty="0"/>
              <a:t>Example:</a:t>
            </a:r>
            <a:endParaRPr lang="en-US"/>
          </a:p>
          <a:p>
            <a:r>
              <a:rPr lang="en-US" dirty="0"/>
              <a:t>Imagine you're editing a video using </a:t>
            </a:r>
            <a:r>
              <a:rPr lang="en-US" b="1" dirty="0"/>
              <a:t>Canva or Adobe Premiere Online</a:t>
            </a:r>
            <a:r>
              <a:rPr lang="en-US" dirty="0"/>
              <a:t>. You decide you need more storage for your project or want faster processing.</a:t>
            </a:r>
            <a:br>
              <a:rPr lang="en-US" dirty="0">
                <a:cs typeface="+mn-lt"/>
              </a:rPr>
            </a:br>
            <a:r>
              <a:rPr lang="en-US" dirty="0"/>
              <a:t> With cloud, you can </a:t>
            </a:r>
            <a:r>
              <a:rPr lang="en-US" b="1" dirty="0"/>
              <a:t>instantly upgrade your plan or access more power/storage</a:t>
            </a:r>
            <a:r>
              <a:rPr lang="en-US" dirty="0"/>
              <a:t> by clicking a few buttons—</a:t>
            </a:r>
            <a:r>
              <a:rPr lang="en-US" b="1" dirty="0"/>
              <a:t>no need to call anyone or wait for approval</a:t>
            </a:r>
            <a:r>
              <a:rPr lang="en-US" dirty="0"/>
              <a:t>.</a:t>
            </a:r>
          </a:p>
          <a:p>
            <a:endParaRPr lang="en-US" dirty="0">
              <a:ea typeface="Calibri"/>
              <a:cs typeface="Calibri"/>
            </a:endParaRPr>
          </a:p>
          <a:p>
            <a:r>
              <a:rPr lang="en-US" b="1"/>
              <a:t>Broad Network Access</a:t>
            </a:r>
            <a:endParaRPr lang="en-US"/>
          </a:p>
          <a:p>
            <a:r>
              <a:rPr lang="en-US" b="1"/>
              <a:t>Example:</a:t>
            </a:r>
            <a:endParaRPr lang="en-US"/>
          </a:p>
          <a:p>
            <a:r>
              <a:rPr lang="en-US" dirty="0"/>
              <a:t>You're working on a </a:t>
            </a:r>
            <a:r>
              <a:rPr lang="en-US" b="1" dirty="0"/>
              <a:t>Google Doc</a:t>
            </a:r>
            <a:r>
              <a:rPr lang="en-US" dirty="0"/>
              <a:t> on your laptop at home. Later, you go out and open the same doc from your phone to continue editing.</a:t>
            </a:r>
            <a:br>
              <a:rPr lang="en-US" dirty="0">
                <a:cs typeface="+mn-lt"/>
              </a:rPr>
            </a:br>
            <a:r>
              <a:rPr lang="en-US" dirty="0"/>
              <a:t> You might even review it on your iPad during commute.</a:t>
            </a:r>
            <a:endParaRPr lang="en-US" dirty="0">
              <a:ea typeface="Calibri"/>
              <a:cs typeface="Calibri"/>
            </a:endParaRPr>
          </a:p>
          <a:p>
            <a:r>
              <a:rPr lang="en-US"/>
              <a:t>🔹 </a:t>
            </a:r>
            <a:r>
              <a:rPr lang="en-US" i="1"/>
              <a:t>The cloud lets you access the same data or app on any internet-connected device, anytime, anywhere.</a:t>
            </a:r>
            <a:endParaRPr lang="en-US"/>
          </a:p>
          <a:p>
            <a:endParaRPr lang="en-US" dirty="0">
              <a:ea typeface="Calibri"/>
              <a:cs typeface="Calibri"/>
            </a:endParaRPr>
          </a:p>
          <a:p>
            <a:r>
              <a:rPr lang="en-US" b="1"/>
              <a:t>Resource Pooling</a:t>
            </a:r>
            <a:endParaRPr lang="en-US"/>
          </a:p>
          <a:p>
            <a:r>
              <a:rPr lang="en-US" b="1"/>
              <a:t>Example:</a:t>
            </a:r>
            <a:br>
              <a:rPr lang="en-US" b="1" dirty="0"/>
            </a:br>
            <a:r>
              <a:rPr lang="en-US" b="1"/>
              <a:t> Think of Netflix</a:t>
            </a:r>
            <a:r>
              <a:rPr lang="en-US"/>
              <a:t>. Millions of users stream shows at the same time, but the system doesn’t crash.</a:t>
            </a:r>
            <a:br>
              <a:rPr lang="en-US" dirty="0"/>
            </a:br>
            <a:r>
              <a:rPr lang="en-US"/>
              <a:t> That’s because </a:t>
            </a:r>
            <a:r>
              <a:rPr lang="en-US" b="1"/>
              <a:t>Netflix uses pooled cloud resources</a:t>
            </a:r>
            <a:r>
              <a:rPr lang="en-US"/>
              <a:t> to handle all that demand. The system adjusts and assigns resources dynamically so no one notices slowdowns.</a:t>
            </a:r>
          </a:p>
          <a:p>
            <a:r>
              <a:rPr lang="en-US" dirty="0"/>
              <a:t>🔹 </a:t>
            </a:r>
            <a:r>
              <a:rPr lang="en-US" i="1" dirty="0"/>
              <a:t>It’s like a power grid—everyone gets electricity, but the same underlying infrastructure is shared efficiently.</a:t>
            </a:r>
            <a:endParaRPr lang="en-US"/>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7A084AC-35BC-4CB6-A030-8A49229F1A96}" type="slidenum">
              <a:rPr lang="en-AU" smtClean="0"/>
              <a:t>4</a:t>
            </a:fld>
            <a:endParaRPr lang="en-AU"/>
          </a:p>
        </p:txBody>
      </p:sp>
    </p:spTree>
    <p:extLst>
      <p:ext uri="{BB962C8B-B14F-4D97-AF65-F5344CB8AC3E}">
        <p14:creationId xmlns:p14="http://schemas.microsoft.com/office/powerpoint/2010/main" val="2094966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Rapid Elasticity</a:t>
            </a:r>
            <a:endParaRPr lang="en-US" dirty="0"/>
          </a:p>
          <a:p>
            <a:r>
              <a:rPr lang="en-US" b="1" dirty="0"/>
              <a:t>Example:</a:t>
            </a:r>
            <a:br>
              <a:rPr lang="en-US" b="1" dirty="0">
                <a:cs typeface="+mn-lt"/>
              </a:rPr>
            </a:br>
            <a:r>
              <a:rPr lang="en-US" b="1" dirty="0"/>
              <a:t> Imagine you run an online clothing store</a:t>
            </a:r>
            <a:r>
              <a:rPr lang="en-US" dirty="0"/>
              <a:t>. During normal days, you get 100 visitors per day, but during a </a:t>
            </a:r>
            <a:r>
              <a:rPr lang="en-US" b="1" dirty="0"/>
              <a:t>flash sale or festival season</a:t>
            </a:r>
            <a:r>
              <a:rPr lang="en-US" dirty="0"/>
              <a:t>, you suddenly get 10,000 visitors.</a:t>
            </a:r>
            <a:endParaRPr lang="en-US" dirty="0">
              <a:ea typeface="Calibri"/>
              <a:cs typeface="Calibri"/>
            </a:endParaRPr>
          </a:p>
          <a:p>
            <a:r>
              <a:rPr lang="en-US" dirty="0"/>
              <a:t>With cloud hosting, your website can </a:t>
            </a:r>
            <a:r>
              <a:rPr lang="en-US" b="1" dirty="0"/>
              <a:t>automatically scale up its computing resources</a:t>
            </a:r>
            <a:r>
              <a:rPr lang="en-US" dirty="0"/>
              <a:t> to handle the surge in traffic—and when the sale ends, it </a:t>
            </a:r>
            <a:r>
              <a:rPr lang="en-US" b="1" dirty="0"/>
              <a:t>scales back down</a:t>
            </a:r>
            <a:r>
              <a:rPr lang="en-US" dirty="0"/>
              <a:t> to normal.</a:t>
            </a:r>
            <a:br>
              <a:rPr lang="en-US" dirty="0">
                <a:cs typeface="+mn-lt"/>
              </a:rPr>
            </a:br>
            <a:r>
              <a:rPr lang="en-US" dirty="0"/>
              <a:t> You don’t need to manually upgrade or downgrade hardware.</a:t>
            </a:r>
            <a:endParaRPr lang="en-US" dirty="0">
              <a:ea typeface="Calibri"/>
              <a:cs typeface="Calibri"/>
            </a:endParaRPr>
          </a:p>
          <a:p>
            <a:r>
              <a:rPr lang="en-US" dirty="0"/>
              <a:t>🔹 </a:t>
            </a:r>
            <a:r>
              <a:rPr lang="en-US" i="1" dirty="0"/>
              <a:t>It’s like Uber sending more drivers when demand increases and fewer during quiet hours—resources grow and shrink automatically.</a:t>
            </a:r>
            <a:endParaRPr lang="en-US" dirty="0"/>
          </a:p>
          <a:p>
            <a:endParaRPr lang="en-US" dirty="0">
              <a:ea typeface="Calibri"/>
              <a:cs typeface="Calibri"/>
            </a:endParaRPr>
          </a:p>
          <a:p>
            <a:r>
              <a:rPr lang="en-US" b="1"/>
              <a:t>2. Measured Service</a:t>
            </a:r>
            <a:endParaRPr lang="en-US"/>
          </a:p>
          <a:p>
            <a:r>
              <a:rPr lang="en-US" b="1"/>
              <a:t>Example:</a:t>
            </a:r>
            <a:br>
              <a:rPr lang="en-US" b="1" dirty="0"/>
            </a:br>
            <a:r>
              <a:rPr lang="en-US" b="1"/>
              <a:t> Think of Google Drive or Dropbox</a:t>
            </a:r>
            <a:r>
              <a:rPr lang="en-US"/>
              <a:t>. If you use 5 GB of storage, you pay nothing (free tier). If you need 100 GB, you pay more. If next month you reduce your files to 20 GB, your charges drop again.</a:t>
            </a:r>
          </a:p>
          <a:p>
            <a:r>
              <a:rPr lang="en-US"/>
              <a:t>Cloud providers </a:t>
            </a:r>
            <a:r>
              <a:rPr lang="en-US" b="1"/>
              <a:t>track how much you use</a:t>
            </a:r>
            <a:r>
              <a:rPr lang="en-US"/>
              <a:t> (storage, bandwidth, etc.) and charge you </a:t>
            </a:r>
            <a:r>
              <a:rPr lang="en-US" b="1"/>
              <a:t>only for that</a:t>
            </a:r>
            <a:r>
              <a:rPr lang="en-US"/>
              <a:t>—no flat rates or wasted money.</a:t>
            </a:r>
          </a:p>
          <a:p>
            <a:r>
              <a:rPr lang="en-US"/>
              <a:t>🔹 </a:t>
            </a:r>
            <a:r>
              <a:rPr lang="en-US" i="1"/>
              <a:t>It’s like paying your electricity bill—you’re billed for the units you consume, not a fixed amount.</a:t>
            </a:r>
            <a:endParaRPr lang="en-US"/>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7A084AC-35BC-4CB6-A030-8A49229F1A96}" type="slidenum">
              <a:rPr lang="en-AU" smtClean="0"/>
              <a:t>5</a:t>
            </a:fld>
            <a:endParaRPr lang="en-AU"/>
          </a:p>
        </p:txBody>
      </p:sp>
    </p:spTree>
    <p:extLst>
      <p:ext uri="{BB962C8B-B14F-4D97-AF65-F5344CB8AC3E}">
        <p14:creationId xmlns:p14="http://schemas.microsoft.com/office/powerpoint/2010/main" val="182530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Conclusion / Key Learnings:</a:t>
            </a:r>
            <a:endParaRPr lang="en-US" dirty="0"/>
          </a:p>
          <a:p>
            <a:r>
              <a:rPr lang="en-US" dirty="0"/>
              <a:t>This comparison highlights the </a:t>
            </a:r>
            <a:r>
              <a:rPr lang="en-US" b="1" dirty="0"/>
              <a:t>diverse capabilities and strengths of cloud services</a:t>
            </a:r>
            <a:r>
              <a:rPr lang="en-US" dirty="0"/>
              <a:t> across different layers of the cloud stack. </a:t>
            </a:r>
            <a:r>
              <a:rPr lang="en-US" b="1" dirty="0"/>
              <a:t>AWS EC2</a:t>
            </a:r>
            <a:r>
              <a:rPr lang="en-US" dirty="0"/>
              <a:t>, as an </a:t>
            </a:r>
            <a:r>
              <a:rPr lang="en-US" b="1" dirty="0"/>
              <a:t>Infrastructure as a Service (IaaS)</a:t>
            </a:r>
            <a:r>
              <a:rPr lang="en-US" dirty="0"/>
              <a:t>, offers highly scalable and customizable virtual servers ideal for businesses needing computing power for applications, data processing, and hosting. It provides flexibility, control, and integration with other AWS services, following a pay-as-you-go model.</a:t>
            </a:r>
            <a:endParaRPr lang="en-US" dirty="0">
              <a:ea typeface="Calibri"/>
              <a:cs typeface="Calibri"/>
            </a:endParaRPr>
          </a:p>
          <a:p>
            <a:r>
              <a:rPr lang="en-US" dirty="0"/>
              <a:t>In contrast, </a:t>
            </a:r>
            <a:r>
              <a:rPr lang="en-US" b="1" dirty="0"/>
              <a:t>Azure AI &amp; Machine Learning</a:t>
            </a:r>
            <a:r>
              <a:rPr lang="en-US" dirty="0"/>
              <a:t> represents </a:t>
            </a:r>
            <a:r>
              <a:rPr lang="en-US" b="1" dirty="0"/>
              <a:t>Platform as a Service (PaaS)</a:t>
            </a:r>
            <a:r>
              <a:rPr lang="en-US" dirty="0"/>
              <a:t>, streamlining the development and deployment of intelligent applications. It caters to businesses focused on </a:t>
            </a:r>
            <a:r>
              <a:rPr lang="en-US" b="1" dirty="0"/>
              <a:t>AI-driven innovation</a:t>
            </a:r>
            <a:r>
              <a:rPr lang="en-US" dirty="0"/>
              <a:t>, offering scalability, pre-built models, and user-friendly interfaces—even for those with limited AI expertise.</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7A084AC-35BC-4CB6-A030-8A49229F1A96}" type="slidenum">
              <a:rPr lang="en-AU" smtClean="0"/>
              <a:t>8</a:t>
            </a:fld>
            <a:endParaRPr lang="en-AU"/>
          </a:p>
        </p:txBody>
      </p:sp>
    </p:spTree>
    <p:extLst>
      <p:ext uri="{BB962C8B-B14F-4D97-AF65-F5344CB8AC3E}">
        <p14:creationId xmlns:p14="http://schemas.microsoft.com/office/powerpoint/2010/main" val="1561409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1. Amazon Web Services (AWS) – Amazon S3 (Simple Storage Service)</a:t>
            </a:r>
            <a:endParaRPr lang="en-US"/>
          </a:p>
          <a:p>
            <a:r>
              <a:rPr lang="en-US" b="1" dirty="0"/>
              <a:t>Key Service:</a:t>
            </a:r>
            <a:br>
              <a:rPr lang="en-US" b="1" dirty="0">
                <a:cs typeface="+mn-lt"/>
              </a:rPr>
            </a:br>
            <a:r>
              <a:rPr lang="en-US" b="1" dirty="0"/>
              <a:t> Amazon S3 is a highly scalable, durable, and secure object storage service that allows users to store and retrieve any amount of data at any time, from anywhere on the web.</a:t>
            </a:r>
            <a:endParaRPr lang="en-US" dirty="0"/>
          </a:p>
          <a:p>
            <a:r>
              <a:rPr lang="en-US" b="1" dirty="0"/>
              <a:t>Why It Unlocks Value:</a:t>
            </a:r>
            <a:endParaRPr lang="en-US" dirty="0"/>
          </a:p>
          <a:p>
            <a:pPr marL="285750" indent="-285750">
              <a:buFont typeface="Arial"/>
              <a:buChar char="•"/>
            </a:pPr>
            <a:r>
              <a:rPr lang="en-US" b="1" dirty="0"/>
              <a:t>Scalability:</a:t>
            </a:r>
            <a:r>
              <a:rPr lang="en-US" dirty="0"/>
              <a:t> Automatically scales with the customer’s needs, from a few megabytes to petabytes.</a:t>
            </a:r>
            <a:endParaRPr lang="en-US" dirty="0">
              <a:ea typeface="Calibri"/>
              <a:cs typeface="Calibri"/>
            </a:endParaRPr>
          </a:p>
          <a:p>
            <a:pPr marL="285750" indent="-285750">
              <a:buFont typeface="Arial"/>
              <a:buChar char="•"/>
            </a:pPr>
            <a:r>
              <a:rPr lang="en-US" b="1" dirty="0"/>
              <a:t>Durability &amp; Reliability:</a:t>
            </a:r>
            <a:r>
              <a:rPr lang="en-US" dirty="0"/>
              <a:t> Provides 99.999999999% (11 9s) durability by automatically replicating data across multiple facilities.</a:t>
            </a:r>
            <a:endParaRPr lang="en-US" dirty="0">
              <a:ea typeface="Calibri"/>
              <a:cs typeface="Calibri"/>
            </a:endParaRPr>
          </a:p>
          <a:p>
            <a:pPr marL="285750" indent="-285750">
              <a:buFont typeface="Arial"/>
              <a:buChar char="•"/>
            </a:pPr>
            <a:r>
              <a:rPr lang="en-US" b="1" dirty="0"/>
              <a:t>Cost-Effective:</a:t>
            </a:r>
            <a:r>
              <a:rPr lang="en-US" dirty="0"/>
              <a:t> Offers a pay-as-you-go model, so businesses only pay for the storage they use.</a:t>
            </a:r>
            <a:endParaRPr lang="en-US" dirty="0">
              <a:ea typeface="Calibri"/>
              <a:cs typeface="Calibri"/>
            </a:endParaRPr>
          </a:p>
          <a:p>
            <a:pPr marL="285750" indent="-285750">
              <a:buFont typeface="Arial"/>
              <a:buChar char="•"/>
            </a:pPr>
            <a:r>
              <a:rPr lang="en-US" b="1" dirty="0"/>
              <a:t>Integration:</a:t>
            </a:r>
            <a:r>
              <a:rPr lang="en-US" dirty="0"/>
              <a:t> Easily integrates with other AWS services like EC2, Lambda, and analytics tools like Athena and Redshift.</a:t>
            </a:r>
            <a:br>
              <a:rPr lang="en-US" dirty="0">
                <a:cs typeface="+mn-lt"/>
              </a:rPr>
            </a:br>
            <a:r>
              <a:rPr lang="en-US" dirty="0"/>
              <a:t> This service </a:t>
            </a:r>
            <a:r>
              <a:rPr lang="en-US" b="1" dirty="0"/>
              <a:t>unlocks value by giving businesses a secure, flexible, and cost-efficient way to store and manage massive volumes of data</a:t>
            </a:r>
            <a:r>
              <a:rPr lang="en-US" dirty="0"/>
              <a:t>—essential for backup, disaster recovery, big data analytics, and content distribution.</a:t>
            </a:r>
            <a:endParaRPr lang="en-US" dirty="0">
              <a:ea typeface="Calibri"/>
              <a:cs typeface="Calibri"/>
            </a:endParaRPr>
          </a:p>
          <a:p>
            <a:br>
              <a:rPr lang="en-US" dirty="0"/>
            </a:br>
            <a:endParaRPr lang="en-US" dirty="0"/>
          </a:p>
          <a:p>
            <a:r>
              <a:rPr lang="en-US" b="1" dirty="0"/>
              <a:t>2. Microsoft Azure – Azure Virtual Machines</a:t>
            </a:r>
            <a:endParaRPr lang="en-US" dirty="0"/>
          </a:p>
          <a:p>
            <a:r>
              <a:rPr lang="en-US" b="1" dirty="0"/>
              <a:t>Key Service:</a:t>
            </a:r>
            <a:br>
              <a:rPr lang="en-US" b="1" dirty="0">
                <a:cs typeface="+mn-lt"/>
              </a:rPr>
            </a:br>
            <a:r>
              <a:rPr lang="en-US" b="1" dirty="0"/>
              <a:t> Azure Virtual Machines (VMs) provide on-demand, scalable computing resources for running applications just like on a physical computer.</a:t>
            </a:r>
            <a:endParaRPr lang="en-US" dirty="0"/>
          </a:p>
          <a:p>
            <a:r>
              <a:rPr lang="en-US" b="1" dirty="0"/>
              <a:t>Why It Unlocks Value:</a:t>
            </a:r>
            <a:endParaRPr lang="en-US" dirty="0"/>
          </a:p>
          <a:p>
            <a:pPr marL="285750" indent="-285750">
              <a:buFont typeface="Arial"/>
              <a:buChar char="•"/>
            </a:pPr>
            <a:r>
              <a:rPr lang="en-US" b="1" dirty="0"/>
              <a:t>Flexibility:</a:t>
            </a:r>
            <a:r>
              <a:rPr lang="en-US" dirty="0"/>
              <a:t> Supports Windows, Linux, and many other platforms with full control over VM configurations.</a:t>
            </a:r>
            <a:endParaRPr lang="en-US" dirty="0">
              <a:ea typeface="Calibri"/>
              <a:cs typeface="Calibri"/>
            </a:endParaRPr>
          </a:p>
          <a:p>
            <a:pPr marL="285750" indent="-285750">
              <a:buFont typeface="Arial"/>
              <a:buChar char="•"/>
            </a:pPr>
            <a:r>
              <a:rPr lang="en-US" b="1" dirty="0"/>
              <a:t>Scalability:</a:t>
            </a:r>
            <a:r>
              <a:rPr lang="en-US" dirty="0"/>
              <a:t> VMs can be scaled up or down based on workload requirements.</a:t>
            </a:r>
            <a:endParaRPr lang="en-US" dirty="0">
              <a:ea typeface="Calibri"/>
              <a:cs typeface="Calibri"/>
            </a:endParaRPr>
          </a:p>
          <a:p>
            <a:pPr marL="285750" indent="-285750">
              <a:buFont typeface="Arial"/>
              <a:buChar char="•"/>
            </a:pPr>
            <a:r>
              <a:rPr lang="en-US" b="1" dirty="0"/>
              <a:t>Global Reach:</a:t>
            </a:r>
            <a:r>
              <a:rPr lang="en-US" dirty="0"/>
              <a:t> Offers VMs in many data center regions globally, enabling low-latency performance.</a:t>
            </a:r>
            <a:endParaRPr lang="en-US" dirty="0">
              <a:ea typeface="Calibri"/>
              <a:cs typeface="Calibri"/>
            </a:endParaRPr>
          </a:p>
          <a:p>
            <a:pPr marL="285750" indent="-285750">
              <a:buFont typeface="Arial"/>
              <a:buChar char="•"/>
            </a:pPr>
            <a:r>
              <a:rPr lang="en-US" b="1" dirty="0"/>
              <a:t>Business Continuity:</a:t>
            </a:r>
            <a:r>
              <a:rPr lang="en-US" dirty="0"/>
              <a:t> VMs can be backed up and configured with failover and disaster recovery options.</a:t>
            </a:r>
            <a:br>
              <a:rPr lang="en-US" dirty="0">
                <a:cs typeface="+mn-lt"/>
              </a:rPr>
            </a:br>
            <a:r>
              <a:rPr lang="en-US" dirty="0"/>
              <a:t> Azure VMs </a:t>
            </a:r>
            <a:r>
              <a:rPr lang="en-US" b="1" dirty="0"/>
              <a:t>unlock value by providing reliable, customizable computing environments</a:t>
            </a:r>
            <a:r>
              <a:rPr lang="en-US" dirty="0"/>
              <a:t>, ideal for hosting websites, running business-critical apps, or testing software—without the need for investing in physical servers.</a:t>
            </a:r>
            <a:endParaRPr lang="en-US" dirty="0">
              <a:ea typeface="Calibri"/>
              <a:cs typeface="Calibri"/>
            </a:endParaRPr>
          </a:p>
          <a:p>
            <a:endParaRPr lang="en-US" dirty="0">
              <a:ea typeface="Calibri"/>
              <a:cs typeface="Calibri"/>
            </a:endParaRPr>
          </a:p>
          <a:p>
            <a:r>
              <a:rPr lang="en-US" b="1"/>
              <a:t>Key Cloud Computing Services by Two Major Cloud Providers</a:t>
            </a:r>
            <a:endParaRPr lang="en-US"/>
          </a:p>
          <a:p>
            <a:r>
              <a:rPr lang="en-US" b="1"/>
              <a:t>3. Google Cloud Platform (GCP) – BigQuery</a:t>
            </a:r>
            <a:endParaRPr lang="en-US"/>
          </a:p>
          <a:p>
            <a:r>
              <a:rPr lang="en-US" b="1"/>
              <a:t>Key Service:</a:t>
            </a:r>
            <a:br>
              <a:rPr lang="en-US" b="1" dirty="0">
                <a:cs typeface="+mn-lt"/>
              </a:rPr>
            </a:br>
            <a:r>
              <a:rPr lang="en-US" b="1" dirty="0"/>
              <a:t> </a:t>
            </a:r>
            <a:r>
              <a:rPr lang="en-US" b="1" err="1"/>
              <a:t>BigQuery</a:t>
            </a:r>
            <a:r>
              <a:rPr lang="en-US"/>
              <a:t> is GCP’s fully-managed, serverless data warehouse that allows users to run lightning-fast SQL queries on large datasets.</a:t>
            </a:r>
          </a:p>
          <a:p>
            <a:r>
              <a:rPr lang="en-US" b="1"/>
              <a:t>Why It Unlocks Value:</a:t>
            </a:r>
            <a:endParaRPr lang="en-US"/>
          </a:p>
          <a:p>
            <a:pPr marL="171450" indent="-171450">
              <a:buFont typeface="Arial"/>
              <a:buChar char="•"/>
            </a:pPr>
            <a:r>
              <a:rPr lang="en-US" b="1"/>
              <a:t>Speed &amp; Performance:</a:t>
            </a:r>
            <a:r>
              <a:rPr lang="en-US"/>
              <a:t> Processes terabytes of data in seconds, thanks to its highly optimized architecture.</a:t>
            </a:r>
          </a:p>
          <a:p>
            <a:pPr marL="171450" indent="-171450">
              <a:buFont typeface="Arial"/>
              <a:buChar char="•"/>
            </a:pPr>
            <a:r>
              <a:rPr lang="en-US" b="1"/>
              <a:t>Serverless:</a:t>
            </a:r>
            <a:r>
              <a:rPr lang="en-US"/>
              <a:t> No infrastructure to manage—users focus solely on querying and analyzing data.</a:t>
            </a:r>
          </a:p>
          <a:p>
            <a:pPr marL="171450" indent="-171450">
              <a:buFont typeface="Arial"/>
              <a:buChar char="•"/>
            </a:pPr>
            <a:r>
              <a:rPr lang="en-US" b="1"/>
              <a:t>Real-Time Analytics:</a:t>
            </a:r>
            <a:r>
              <a:rPr lang="en-US"/>
              <a:t> Supports real-time data ingestion and querying, ideal for live dashboards and decision-making.</a:t>
            </a:r>
          </a:p>
          <a:p>
            <a:pPr marL="171450" indent="-171450">
              <a:buFont typeface="Arial"/>
              <a:buChar char="•"/>
            </a:pPr>
            <a:r>
              <a:rPr lang="en-US" b="1"/>
              <a:t>Scalable &amp; Cost-Efficient:</a:t>
            </a:r>
            <a:r>
              <a:rPr lang="en-US"/>
              <a:t> Automatically scales with data volume and charges only for the queries run.</a:t>
            </a:r>
          </a:p>
          <a:p>
            <a:r>
              <a:rPr lang="en-US" err="1"/>
              <a:t>BigQuery</a:t>
            </a:r>
            <a:r>
              <a:rPr lang="en-US"/>
              <a:t> </a:t>
            </a:r>
            <a:r>
              <a:rPr lang="en-US" b="1"/>
              <a:t>unlocks value by making advanced analytics accessible without deep infrastructure knowledge</a:t>
            </a:r>
            <a:r>
              <a:rPr lang="en-US"/>
              <a:t>, helping businesses make data-driven decisions quickly and at scale.</a:t>
            </a:r>
          </a:p>
          <a:p>
            <a:br>
              <a:rPr lang="en-US" dirty="0"/>
            </a:br>
            <a:endParaRPr lang="en-US" dirty="0"/>
          </a:p>
          <a:p>
            <a:r>
              <a:rPr lang="en-US" b="1"/>
              <a:t>4. IBM Cloud – Watson AI</a:t>
            </a:r>
            <a:endParaRPr lang="en-US"/>
          </a:p>
          <a:p>
            <a:r>
              <a:rPr lang="en-US" b="1"/>
              <a:t>Key Service:</a:t>
            </a:r>
            <a:br>
              <a:rPr lang="en-US" b="1" dirty="0"/>
            </a:br>
            <a:r>
              <a:rPr lang="en-US" b="1"/>
              <a:t> IBM Watson</a:t>
            </a:r>
            <a:r>
              <a:rPr lang="en-US"/>
              <a:t> is IBM Cloud’s AI platform that offers tools for building, training, and deploying AI models, including natural language processing, computer vision, and machine learning.</a:t>
            </a:r>
          </a:p>
          <a:p>
            <a:r>
              <a:rPr lang="en-US" b="1"/>
              <a:t>Why It Unlocks Value:</a:t>
            </a:r>
            <a:endParaRPr lang="en-US"/>
          </a:p>
          <a:p>
            <a:pPr marL="171450" indent="-171450">
              <a:buFont typeface="Arial"/>
              <a:buChar char="•"/>
            </a:pPr>
            <a:r>
              <a:rPr lang="en-US" b="1"/>
              <a:t>AI Made Accessible:</a:t>
            </a:r>
            <a:r>
              <a:rPr lang="en-US"/>
              <a:t> Offers pre-built models and APIs for common AI tasks like chatbots, language understanding, and visual recognition.</a:t>
            </a:r>
          </a:p>
          <a:p>
            <a:pPr marL="171450" indent="-171450">
              <a:buFont typeface="Arial"/>
              <a:buChar char="•"/>
            </a:pPr>
            <a:r>
              <a:rPr lang="en-US" b="1"/>
              <a:t>Industry-Specific Solutions:</a:t>
            </a:r>
            <a:r>
              <a:rPr lang="en-US"/>
              <a:t> Tailored AI services for healthcare, finance, and customer service.</a:t>
            </a:r>
          </a:p>
          <a:p>
            <a:pPr marL="171450" indent="-171450">
              <a:buFont typeface="Arial"/>
              <a:buChar char="•"/>
            </a:pPr>
            <a:r>
              <a:rPr lang="en-US" b="1"/>
              <a:t>Integration &amp; Security:</a:t>
            </a:r>
            <a:r>
              <a:rPr lang="en-US"/>
              <a:t> Easily integrates with existing IBM systems and emphasizes enterprise-grade security.</a:t>
            </a:r>
          </a:p>
          <a:p>
            <a:pPr marL="171450" indent="-171450">
              <a:buFont typeface="Arial"/>
              <a:buChar char="•"/>
            </a:pPr>
            <a:r>
              <a:rPr lang="en-US" b="1"/>
              <a:t>Low-Code Tools:</a:t>
            </a:r>
            <a:r>
              <a:rPr lang="en-US"/>
              <a:t> Enables non-technical users to build intelligent solutions using Watson Studio and </a:t>
            </a:r>
            <a:r>
              <a:rPr lang="en-US" err="1"/>
              <a:t>AutoAI</a:t>
            </a:r>
            <a:r>
              <a:rPr lang="en-US"/>
              <a:t>.</a:t>
            </a:r>
          </a:p>
          <a:p>
            <a:r>
              <a:rPr lang="en-US"/>
              <a:t>Watson AI </a:t>
            </a:r>
            <a:r>
              <a:rPr lang="en-US" b="1"/>
              <a:t>unlocks value by empowering businesses to innovate with AI without needing a team of data scientists</a:t>
            </a:r>
            <a:r>
              <a:rPr lang="en-US"/>
              <a:t>, improving efficiency, customer experience, and decision-making.</a:t>
            </a:r>
          </a:p>
          <a:p>
            <a:pPr>
              <a:buFont typeface="Arial"/>
            </a:pP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7A084AC-35BC-4CB6-A030-8A49229F1A96}" type="slidenum">
              <a:rPr lang="en-AU" smtClean="0"/>
              <a:t>9</a:t>
            </a:fld>
            <a:endParaRPr lang="en-AU"/>
          </a:p>
        </p:txBody>
      </p:sp>
    </p:spTree>
    <p:extLst>
      <p:ext uri="{BB962C8B-B14F-4D97-AF65-F5344CB8AC3E}">
        <p14:creationId xmlns:p14="http://schemas.microsoft.com/office/powerpoint/2010/main" val="647022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hypervisor</a:t>
            </a:r>
            <a:r>
              <a:rPr lang="en-US" dirty="0"/>
              <a:t> is software that </a:t>
            </a:r>
            <a:r>
              <a:rPr lang="en-US" b="1" dirty="0"/>
              <a:t>creates and runs virtual machines (VMs)</a:t>
            </a:r>
            <a:r>
              <a:rPr lang="en-US" dirty="0"/>
              <a:t> on a single physical machine by dividing its resources (CPU, memory, storage) among multiple users or systems. It enables virtualization, which is fundamental to cloud computing.</a:t>
            </a:r>
          </a:p>
          <a:p>
            <a:endParaRPr lang="en-US" dirty="0">
              <a:ea typeface="Calibri"/>
              <a:cs typeface="Calibri"/>
            </a:endParaRPr>
          </a:p>
          <a:p>
            <a:r>
              <a:rPr lang="en-US" dirty="0"/>
              <a:t>Why It’s Important:</a:t>
            </a:r>
            <a:endParaRPr lang="en-US" dirty="0">
              <a:ea typeface="Calibri"/>
              <a:cs typeface="Calibri"/>
            </a:endParaRPr>
          </a:p>
          <a:p>
            <a:r>
              <a:rPr lang="en-US" dirty="0"/>
              <a:t>Without hypervisors, </a:t>
            </a:r>
            <a:r>
              <a:rPr lang="en-US" b="1" dirty="0"/>
              <a:t>cloud providers couldn’t host multiple users on the same physical machine efficiently.</a:t>
            </a:r>
            <a:r>
              <a:rPr lang="en-US" dirty="0"/>
              <a:t> Hypervisors make </a:t>
            </a:r>
            <a:r>
              <a:rPr lang="en-US" b="1" dirty="0"/>
              <a:t>resource sharing, isolation, and scalability</a:t>
            </a:r>
            <a:r>
              <a:rPr lang="en-US" dirty="0"/>
              <a:t> possible in cloud environments.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7A084AC-35BC-4CB6-A030-8A49229F1A96}" type="slidenum">
              <a:rPr lang="en-AU" smtClean="0"/>
              <a:t>10</a:t>
            </a:fld>
            <a:endParaRPr lang="en-AU"/>
          </a:p>
        </p:txBody>
      </p:sp>
    </p:spTree>
    <p:extLst>
      <p:ext uri="{BB962C8B-B14F-4D97-AF65-F5344CB8AC3E}">
        <p14:creationId xmlns:p14="http://schemas.microsoft.com/office/powerpoint/2010/main" val="4052302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Tenant vs Multi-Tenant Architecture</a:t>
            </a:r>
          </a:p>
          <a:p>
            <a:r>
              <a:rPr lang="en-US" dirty="0"/>
              <a:t>Feature</a:t>
            </a:r>
            <a:endParaRPr lang="en-US" dirty="0">
              <a:ea typeface="Calibri"/>
              <a:cs typeface="Calibri"/>
            </a:endParaRPr>
          </a:p>
          <a:p>
            <a:r>
              <a:rPr lang="en-US" dirty="0"/>
              <a:t>Single Tenant</a:t>
            </a:r>
            <a:endParaRPr lang="en-US" dirty="0">
              <a:ea typeface="Calibri"/>
              <a:cs typeface="Calibri"/>
            </a:endParaRPr>
          </a:p>
          <a:p>
            <a:r>
              <a:rPr lang="en-US" dirty="0"/>
              <a:t>Multi-Tenant</a:t>
            </a:r>
            <a:endParaRPr lang="en-US" dirty="0">
              <a:ea typeface="Calibri"/>
              <a:cs typeface="Calibri"/>
            </a:endParaRPr>
          </a:p>
          <a:p>
            <a:r>
              <a:rPr lang="en-US" dirty="0"/>
              <a:t>Definition</a:t>
            </a:r>
            <a:endParaRPr lang="en-US" dirty="0">
              <a:ea typeface="Calibri"/>
              <a:cs typeface="Calibri"/>
            </a:endParaRPr>
          </a:p>
          <a:p>
            <a:r>
              <a:rPr lang="en-US" dirty="0"/>
              <a:t>One customer (tenant) has a dedicated instance of the application or system.</a:t>
            </a:r>
            <a:endParaRPr lang="en-US" dirty="0">
              <a:ea typeface="Calibri"/>
              <a:cs typeface="Calibri"/>
            </a:endParaRPr>
          </a:p>
          <a:p>
            <a:r>
              <a:rPr lang="en-US" dirty="0"/>
              <a:t>Multiple customers share the same instance of the application, but with isolated data.</a:t>
            </a:r>
            <a:endParaRPr lang="en-US" dirty="0">
              <a:ea typeface="Calibri"/>
              <a:cs typeface="Calibri"/>
            </a:endParaRPr>
          </a:p>
          <a:p>
            <a:r>
              <a:rPr lang="en-US" dirty="0"/>
              <a:t>Resources</a:t>
            </a:r>
            <a:endParaRPr lang="en-US" dirty="0">
              <a:ea typeface="Calibri"/>
              <a:cs typeface="Calibri"/>
            </a:endParaRPr>
          </a:p>
          <a:p>
            <a:r>
              <a:rPr lang="en-US" dirty="0"/>
              <a:t>Resources (e.g., database, storage) are not shared with others.</a:t>
            </a:r>
            <a:endParaRPr lang="en-US" dirty="0">
              <a:ea typeface="Calibri"/>
              <a:cs typeface="Calibri"/>
            </a:endParaRPr>
          </a:p>
          <a:p>
            <a:r>
              <a:rPr lang="en-US" dirty="0"/>
              <a:t>Resources are shared among multiple users/organizations.</a:t>
            </a:r>
            <a:endParaRPr lang="en-US" dirty="0">
              <a:ea typeface="Calibri"/>
              <a:cs typeface="Calibri"/>
            </a:endParaRPr>
          </a:p>
          <a:p>
            <a:r>
              <a:rPr lang="en-US" dirty="0" err="1"/>
              <a:t>Customisation</a:t>
            </a:r>
            <a:endParaRPr lang="en-US" dirty="0" err="1">
              <a:ea typeface="Calibri"/>
              <a:cs typeface="Calibri"/>
            </a:endParaRPr>
          </a:p>
          <a:p>
            <a:r>
              <a:rPr lang="en-US" dirty="0"/>
              <a:t>Easier to </a:t>
            </a:r>
            <a:r>
              <a:rPr lang="en-US" dirty="0" err="1"/>
              <a:t>customise</a:t>
            </a:r>
            <a:r>
              <a:rPr lang="en-US" dirty="0"/>
              <a:t> for specific business needs.</a:t>
            </a:r>
            <a:endParaRPr lang="en-US" dirty="0">
              <a:ea typeface="Calibri"/>
              <a:cs typeface="Calibri"/>
            </a:endParaRPr>
          </a:p>
          <a:p>
            <a:r>
              <a:rPr lang="en-US" dirty="0"/>
              <a:t>Limited </a:t>
            </a:r>
            <a:r>
              <a:rPr lang="en-US" dirty="0" err="1"/>
              <a:t>customisation</a:t>
            </a:r>
            <a:r>
              <a:rPr lang="en-US" dirty="0"/>
              <a:t> due to shared architecture.</a:t>
            </a:r>
            <a:endParaRPr lang="en-US" dirty="0">
              <a:ea typeface="Calibri"/>
              <a:cs typeface="Calibri"/>
            </a:endParaRPr>
          </a:p>
          <a:p>
            <a:r>
              <a:rPr lang="en-US" dirty="0"/>
              <a:t>Security</a:t>
            </a:r>
            <a:endParaRPr lang="en-US" dirty="0">
              <a:ea typeface="Calibri"/>
              <a:cs typeface="Calibri"/>
            </a:endParaRPr>
          </a:p>
          <a:p>
            <a:r>
              <a:rPr lang="en-US" dirty="0"/>
              <a:t>Higher isolation and greater control over security.</a:t>
            </a:r>
            <a:endParaRPr lang="en-US" dirty="0">
              <a:ea typeface="Calibri"/>
              <a:cs typeface="Calibri"/>
            </a:endParaRPr>
          </a:p>
          <a:p>
            <a:r>
              <a:rPr lang="en-US" dirty="0"/>
              <a:t>Still secure, but shared environment may increase perceived risks.</a:t>
            </a:r>
            <a:endParaRPr lang="en-US" dirty="0">
              <a:ea typeface="Calibri"/>
              <a:cs typeface="Calibri"/>
            </a:endParaRPr>
          </a:p>
          <a:p>
            <a:r>
              <a:rPr lang="en-US" dirty="0"/>
              <a:t>Cost</a:t>
            </a:r>
            <a:endParaRPr lang="en-US" dirty="0">
              <a:ea typeface="Calibri"/>
              <a:cs typeface="Calibri"/>
            </a:endParaRPr>
          </a:p>
          <a:p>
            <a:r>
              <a:rPr lang="en-US" dirty="0"/>
              <a:t>Generally more expensive due to dedicated infrastructure.</a:t>
            </a:r>
            <a:endParaRPr lang="en-US" dirty="0">
              <a:ea typeface="Calibri"/>
              <a:cs typeface="Calibri"/>
            </a:endParaRPr>
          </a:p>
          <a:p>
            <a:r>
              <a:rPr lang="en-US" dirty="0"/>
              <a:t>Cost-effective, as infrastructure is shared.</a:t>
            </a:r>
            <a:endParaRPr lang="en-US" dirty="0">
              <a:ea typeface="Calibri"/>
              <a:cs typeface="Calibri"/>
            </a:endParaRPr>
          </a:p>
          <a:p>
            <a:r>
              <a:rPr lang="en-US" dirty="0"/>
              <a:t>Maintenance</a:t>
            </a:r>
            <a:endParaRPr lang="en-US" dirty="0">
              <a:ea typeface="Calibri"/>
              <a:cs typeface="Calibri"/>
            </a:endParaRPr>
          </a:p>
          <a:p>
            <a:r>
              <a:rPr lang="en-US" dirty="0"/>
              <a:t>Upgrades and patches are customer-controlled.</a:t>
            </a:r>
            <a:endParaRPr lang="en-US" dirty="0">
              <a:ea typeface="Calibri"/>
              <a:cs typeface="Calibri"/>
            </a:endParaRPr>
          </a:p>
          <a:p>
            <a:r>
              <a:rPr lang="en-US" dirty="0"/>
              <a:t>Upgrades are centrally managed by the provider and applied to all users.</a:t>
            </a:r>
            <a:endParaRPr lang="en-US" dirty="0">
              <a:ea typeface="Calibri"/>
              <a:cs typeface="Calibri"/>
            </a:endParaRPr>
          </a:p>
          <a:p>
            <a:r>
              <a:rPr lang="en-US" dirty="0"/>
              <a:t>Examples</a:t>
            </a:r>
            <a:endParaRPr lang="en-US" dirty="0">
              <a:ea typeface="Calibri"/>
              <a:cs typeface="Calibri"/>
            </a:endParaRPr>
          </a:p>
          <a:p>
            <a:r>
              <a:rPr lang="en-US" dirty="0"/>
              <a:t>Private cloud setup, large enterprises with strict compliance needs.</a:t>
            </a:r>
            <a:endParaRPr lang="en-US" dirty="0">
              <a:ea typeface="Calibri"/>
              <a:cs typeface="Calibri"/>
            </a:endParaRPr>
          </a:p>
          <a:p>
            <a:r>
              <a:rPr lang="en-US" dirty="0"/>
              <a:t>SaaS apps like Gmail, Salesforce, Microsoft 365. </a:t>
            </a:r>
            <a:endParaRPr lang="en-US" dirty="0">
              <a:ea typeface="Calibri"/>
              <a:cs typeface="Calibri"/>
            </a:endParaRPr>
          </a:p>
          <a:p>
            <a:endParaRPr lang="en-US" b="1" dirty="0">
              <a:ea typeface="Calibri"/>
              <a:cs typeface="Calibri"/>
            </a:endParaRPr>
          </a:p>
        </p:txBody>
      </p:sp>
      <p:sp>
        <p:nvSpPr>
          <p:cNvPr id="4" name="Slide Number Placeholder 3"/>
          <p:cNvSpPr>
            <a:spLocks noGrp="1"/>
          </p:cNvSpPr>
          <p:nvPr>
            <p:ph type="sldNum" sz="quarter" idx="5"/>
          </p:nvPr>
        </p:nvSpPr>
        <p:spPr/>
        <p:txBody>
          <a:bodyPr/>
          <a:lstStyle/>
          <a:p>
            <a:fld id="{27A084AC-35BC-4CB6-A030-8A49229F1A96}" type="slidenum">
              <a:rPr lang="en-AU" smtClean="0"/>
              <a:t>11</a:t>
            </a:fld>
            <a:endParaRPr lang="en-AU"/>
          </a:p>
        </p:txBody>
      </p:sp>
    </p:spTree>
    <p:extLst>
      <p:ext uri="{BB962C8B-B14F-4D97-AF65-F5344CB8AC3E}">
        <p14:creationId xmlns:p14="http://schemas.microsoft.com/office/powerpoint/2010/main" val="21838643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12192000" cy="6858000"/>
            <a:chOff x="0" y="0"/>
            <a:chExt cx="12192000" cy="6858000"/>
          </a:xfrm>
        </p:grpSpPr>
        <p:sp>
          <p:nvSpPr>
            <p:cNvPr id="8" name="Rectangle 7"/>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Oval 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Oval 10"/>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76279" y="1792223"/>
            <a:ext cx="990599" cy="304799"/>
          </a:xfrm>
        </p:spPr>
        <p:txBody>
          <a:bodyPr anchor="t"/>
          <a:lstStyle>
            <a:lvl1pPr algn="l">
              <a:defRPr b="0" i="0">
                <a:solidFill>
                  <a:schemeClr val="bg1"/>
                </a:solidFill>
              </a:defRPr>
            </a:lvl1pPr>
          </a:lstStyle>
          <a:p>
            <a:fld id="{7FC5A26D-81AB-412C-B732-1A4D2BAF38D6}" type="datetime1">
              <a:rPr lang="en-AU" smtClean="0"/>
              <a:t>11/06/2025</a:t>
            </a:fld>
            <a:endParaRPr lang="en-AU"/>
          </a:p>
        </p:txBody>
      </p:sp>
      <p:sp>
        <p:nvSpPr>
          <p:cNvPr id="5" name="Footer Placeholder 4"/>
          <p:cNvSpPr>
            <a:spLocks noGrp="1"/>
          </p:cNvSpPr>
          <p:nvPr>
            <p:ph type="ftr" sz="quarter" idx="11"/>
          </p:nvPr>
        </p:nvSpPr>
        <p:spPr bwMode="gray">
          <a:xfrm rot="5400000">
            <a:off x="8963575" y="3226820"/>
            <a:ext cx="3859795" cy="304801"/>
          </a:xfrm>
        </p:spPr>
        <p:txBody>
          <a:bodyPr anchor="b"/>
          <a:lstStyle>
            <a:lvl1pPr>
              <a:defRPr b="0" i="0">
                <a:solidFill>
                  <a:schemeClr val="bg1"/>
                </a:solidFill>
              </a:defRPr>
            </a:lvl1pPr>
          </a:lstStyle>
          <a:p>
            <a:r>
              <a:rPr lang="en-AU"/>
              <a:t>ISY503 Intelligent Systems</a:t>
            </a:r>
          </a:p>
        </p:txBody>
      </p:sp>
      <p:sp>
        <p:nvSpPr>
          <p:cNvPr id="17" name="Rectangle 16"/>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vl1pPr>
          </a:lstStyle>
          <a:p>
            <a:fld id="{AA9B4DDF-D983-43F6-9690-D9255D65AFD2}" type="slidenum">
              <a:rPr lang="en-AU" smtClean="0"/>
              <a:t>‹#›</a:t>
            </a:fld>
            <a:endParaRPr lang="en-AU"/>
          </a:p>
        </p:txBody>
      </p:sp>
    </p:spTree>
    <p:extLst>
      <p:ext uri="{BB962C8B-B14F-4D97-AF65-F5344CB8AC3E}">
        <p14:creationId xmlns:p14="http://schemas.microsoft.com/office/powerpoint/2010/main" val="2710055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405500-3963-4EC7-834F-054336A58502}" type="datetime1">
              <a:rPr lang="en-AU" smtClean="0"/>
              <a:t>11/06/2025</a:t>
            </a:fld>
            <a:endParaRPr lang="en-AU"/>
          </a:p>
        </p:txBody>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068739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4"/>
            <a:ext cx="4351023" cy="2283823"/>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69856D7-4F97-489E-A7C1-18DB3F2652F8}" type="datetime1">
              <a:rPr lang="en-AU" smtClean="0"/>
              <a:t>11/06/2025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3502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1368" y="2603500"/>
            <a:ext cx="4828744"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1" y="2603500"/>
            <a:ext cx="4825159" cy="3377705"/>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A8F445-C2AE-43A2-9057-3E7B59312F27}" type="datetime1">
              <a:rPr lang="en-AU" smtClean="0"/>
              <a:t>11/06/2025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02496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36063"/>
            <a:ext cx="482515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212326"/>
            <a:ext cx="4825158" cy="280747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1" y="2603499"/>
            <a:ext cx="4825160" cy="608825"/>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212327"/>
            <a:ext cx="4825159" cy="280747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85BC00-77C4-492A-90D3-EE26D75A1452}" type="datetime1">
              <a:rPr lang="en-AU" smtClean="0"/>
              <a:t>11/06/2025</a:t>
            </a:fld>
            <a:endParaRPr lang="en-AU"/>
          </a:p>
        </p:txBody>
      </p:sp>
      <p:sp>
        <p:nvSpPr>
          <p:cNvPr id="8" name="Footer Placeholder 7"/>
          <p:cNvSpPr>
            <a:spLocks noGrp="1"/>
          </p:cNvSpPr>
          <p:nvPr>
            <p:ph type="ftr" sz="quarter" idx="11"/>
          </p:nvPr>
        </p:nvSpPr>
        <p:spPr/>
        <p:txBody>
          <a:bodyPr/>
          <a:lstStyle/>
          <a:p>
            <a:r>
              <a:rPr lang="en-AU"/>
              <a:t>ISY503 Intelligent Systems</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077596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27E394-6979-4D7F-92C2-2F2F55FDF7E4}" type="datetime1">
              <a:rPr lang="en-AU" smtClean="0"/>
              <a:t>11/06/2025</a:t>
            </a:fld>
            <a:endParaRPr lang="en-AU"/>
          </a:p>
        </p:txBody>
      </p:sp>
      <p:sp>
        <p:nvSpPr>
          <p:cNvPr id="4" name="Footer Placeholder 3"/>
          <p:cNvSpPr>
            <a:spLocks noGrp="1"/>
          </p:cNvSpPr>
          <p:nvPr>
            <p:ph type="ftr" sz="quarter" idx="11"/>
          </p:nvPr>
        </p:nvSpPr>
        <p:spPr/>
        <p:txBody>
          <a:bodyPr/>
          <a:lstStyle/>
          <a:p>
            <a:r>
              <a:rPr lang="en-AU"/>
              <a:t>ISY503 Intelligent Systems</a:t>
            </a:r>
          </a:p>
        </p:txBody>
      </p:sp>
      <p:sp>
        <p:nvSpPr>
          <p:cNvPr id="5" name="Slide Number Placeholder 4"/>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87294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CA3CE3-99F0-48D3-92D3-2A2892B08603}" type="datetime1">
              <a:rPr lang="en-AU" smtClean="0"/>
              <a:t>11/06/2025</a:t>
            </a:fld>
            <a:endParaRPr lang="en-AU"/>
          </a:p>
        </p:txBody>
      </p:sp>
      <p:sp>
        <p:nvSpPr>
          <p:cNvPr id="3" name="Footer Placeholder 2"/>
          <p:cNvSpPr>
            <a:spLocks noGrp="1"/>
          </p:cNvSpPr>
          <p:nvPr>
            <p:ph type="ftr" sz="quarter" idx="11"/>
          </p:nvPr>
        </p:nvSpPr>
        <p:spPr/>
        <p:txBody>
          <a:bodyPr/>
          <a:lstStyle/>
          <a:p>
            <a:r>
              <a:rPr lang="en-AU"/>
              <a:t>ISY503 Intelligent Systems</a:t>
            </a:r>
          </a:p>
        </p:txBody>
      </p:sp>
      <p:sp>
        <p:nvSpPr>
          <p:cNvPr id="6" name="Rectangle 5"/>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229603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3129280"/>
            <a:ext cx="2793158" cy="289559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83CAC5B-16F5-4ACB-B176-42A6F6B8D3A9}" type="datetime1">
              <a:rPr lang="en-AU" smtClean="0"/>
              <a:t>11/06/2025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521227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8" name="Rectangle 7"/>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2" y="1143000"/>
            <a:ext cx="3227192"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D10E27D-76B5-4E2B-95EE-0FFC6A20D5FC}" type="datetime1">
              <a:rPr lang="en-AU" smtClean="0"/>
              <a:t>11/06/2025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721459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5945"/>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2683"/>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355B9D4-69FA-41B3-B1D1-C92E4F6425E1}" type="datetime1">
              <a:rPr lang="en-AU" smtClean="0"/>
              <a:t>11/06/2025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181118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nchor="ct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65E244E-F67C-4EEC-A78A-929ACF8B7407}" type="datetime1">
              <a:rPr lang="en-AU" smtClean="0"/>
              <a:t>11/06/2025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037164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6" name="Rectangle 15"/>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TextBox 10"/>
          <p:cNvSpPr txBox="1"/>
          <p:nvPr/>
        </p:nvSpPr>
        <p:spPr bwMode="gray">
          <a:xfrm>
            <a:off x="898295" y="603589"/>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13" name="TextBox 12"/>
          <p:cNvSpPr txBox="1"/>
          <p:nvPr/>
        </p:nvSpPr>
        <p:spPr bwMode="gray">
          <a:xfrm>
            <a:off x="9705137" y="2613787"/>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74801" y="980517"/>
            <a:ext cx="8460983" cy="2705034"/>
          </a:xfrm>
        </p:spPr>
        <p:txBody>
          <a:bodyPr anchor="ct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86515"/>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14393"/>
            <a:ext cx="8825659" cy="1012664"/>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F24EA32-C4AD-4585-858E-50C32A6EC535}" type="datetime1">
              <a:rPr lang="en-AU" smtClean="0"/>
              <a:t>11/06/2025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24" name="Rectangle 23"/>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7409953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2404477"/>
            <a:ext cx="8825659" cy="178870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38587" y="5024967"/>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2509D63-062A-41A4-979D-8BB968091D12}" type="datetime1">
              <a:rPr lang="en-AU" smtClean="0"/>
              <a:t>11/06/2025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2" name="Rectangle 11"/>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76034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7"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109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87261"/>
            <a:ext cx="3129168" cy="28397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10999"/>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87261"/>
            <a:ext cx="3145380" cy="28397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1" y="2603500"/>
            <a:ext cx="315744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87261"/>
            <a:ext cx="3161029" cy="283979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49C0C68-C03C-47CA-ADAD-B423882E496B}" type="datetime1">
              <a:rPr lang="en-AU" smtClean="0"/>
              <a:t>11/06/2025</a:t>
            </a:fld>
            <a:endParaRPr lang="en-AU"/>
          </a:p>
        </p:txBody>
      </p:sp>
      <p:sp>
        <p:nvSpPr>
          <p:cNvPr id="8" name="Footer Placeholder 7"/>
          <p:cNvSpPr>
            <a:spLocks noGrp="1"/>
          </p:cNvSpPr>
          <p:nvPr>
            <p:ph type="ftr" sz="quarter" idx="11"/>
          </p:nvPr>
        </p:nvSpPr>
        <p:spPr/>
        <p:txBody>
          <a:bodyPr/>
          <a:lstStyle/>
          <a:p>
            <a:r>
              <a:rPr lang="en-AU"/>
              <a:t>ISY503 Intelligent Systems</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062679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20744" cy="576263"/>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11246"/>
            <a:ext cx="2691242" cy="158376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20745"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42840"/>
            <a:ext cx="2691242" cy="155217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7"/>
            <a:ext cx="3050438" cy="92140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4"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18992"/>
            <a:ext cx="2691242" cy="157601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09107"/>
            <a:ext cx="3054127" cy="89634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1" name="Straight Connector 20"/>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2F0141F-CD48-4406-8788-EB456238023F}" type="datetime1">
              <a:rPr lang="en-AU" smtClean="0"/>
              <a:t>11/06/2025</a:t>
            </a:fld>
            <a:endParaRPr lang="en-AU"/>
          </a:p>
        </p:txBody>
      </p:sp>
      <p:sp>
        <p:nvSpPr>
          <p:cNvPr id="8" name="Footer Placeholder 7"/>
          <p:cNvSpPr>
            <a:spLocks noGrp="1"/>
          </p:cNvSpPr>
          <p:nvPr>
            <p:ph type="ftr" sz="quarter" idx="11"/>
          </p:nvPr>
        </p:nvSpPr>
        <p:spPr/>
        <p:txBody>
          <a:bodyPr/>
          <a:lstStyle/>
          <a:p>
            <a:r>
              <a:rPr lang="en-AU"/>
              <a:t>ISY503 Intelligent Systems</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709566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C308B-B178-4A76-BECD-4E5C1BF42566}" type="datetime1">
              <a:rPr lang="en-AU" smtClean="0"/>
              <a:t>11/06/2025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252427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97430"/>
            <a:ext cx="1409965" cy="4729626"/>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97429"/>
            <a:ext cx="6247546" cy="472962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F43F16-E8CE-49C3-9F39-DFE3269AC97B}" type="datetime1">
              <a:rPr lang="en-AU" smtClean="0"/>
              <a:t>11/06/2025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8" name="Rectangle 17"/>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757806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5" name="Rectangle 14"/>
            <p:cNvSpPr/>
            <p:nvPr/>
          </p:nvSpPr>
          <p:spPr>
            <a:xfrm>
              <a:off x="0" y="0"/>
              <a:ext cx="12192000" cy="6858000"/>
            </a:xfrm>
            <a:prstGeom prst="rect">
              <a:avLst/>
            </a:prstGeom>
            <a:blipFill>
              <a:blip r:embed="rId19">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Oval 4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9" name="Oval 3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8" name="Oval 3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9" name="Oval 48"/>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61110" y="6391839"/>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AU"/>
              <a:t>ISY503 Intelligent Systems</a:t>
            </a:r>
          </a:p>
        </p:txBody>
      </p:sp>
      <p:sp>
        <p:nvSpPr>
          <p:cNvPr id="4" name="Date Placeholder 3"/>
          <p:cNvSpPr>
            <a:spLocks noGrp="1"/>
          </p:cNvSpPr>
          <p:nvPr>
            <p:ph type="dt" sz="half" idx="2"/>
          </p:nvPr>
        </p:nvSpPr>
        <p:spPr>
          <a:xfrm>
            <a:off x="10650938" y="6394407"/>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2C611C3-CD3B-4CFA-A3D9-74FF438EDE2C}" type="datetime1">
              <a:rPr lang="en-AU" smtClean="0"/>
              <a:t>11/06/2025</a:t>
            </a:fld>
            <a:endParaRPr lang="en-AU"/>
          </a:p>
        </p:txBody>
      </p:sp>
      <p:sp>
        <p:nvSpPr>
          <p:cNvPr id="20" name="Rectangle 19"/>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A9B4DDF-D983-43F6-9690-D9255D65AFD2}" type="slidenum">
              <a:rPr lang="en-AU" smtClean="0"/>
              <a:t>‹#›</a:t>
            </a:fld>
            <a:endParaRPr lang="en-AU"/>
          </a:p>
        </p:txBody>
      </p:sp>
    </p:spTree>
    <p:extLst>
      <p:ext uri="{BB962C8B-B14F-4D97-AF65-F5344CB8AC3E}">
        <p14:creationId xmlns:p14="http://schemas.microsoft.com/office/powerpoint/2010/main" val="3503548824"/>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mylearn.torrens.edu.au/courses/14223/discussion_topic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linkedin.com/learning/choosing-a-cloud-platform-for-developers-aws-azure-and-gcp/current-major-cloud-providers-14489110?u=72036930"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mylearn.torrens.edu.au/courses/14223/discussion_topics"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014F5-3F35-488F-BD70-0304EDE614E9}"/>
              </a:ext>
            </a:extLst>
          </p:cNvPr>
          <p:cNvSpPr>
            <a:spLocks noGrp="1"/>
          </p:cNvSpPr>
          <p:nvPr>
            <p:ph type="title"/>
          </p:nvPr>
        </p:nvSpPr>
        <p:spPr>
          <a:xfrm>
            <a:off x="1532641" y="3710998"/>
            <a:ext cx="8761413" cy="728480"/>
          </a:xfrm>
        </p:spPr>
        <p:txBody>
          <a:bodyPr/>
          <a:lstStyle/>
          <a:p>
            <a:pPr algn="ctr">
              <a:spcBef>
                <a:spcPts val="2250"/>
              </a:spcBef>
              <a:spcAft>
                <a:spcPts val="1875"/>
              </a:spcAft>
            </a:pPr>
            <a:r>
              <a:rPr lang="en-US" dirty="0">
                <a:ln w="0"/>
                <a:solidFill>
                  <a:schemeClr val="tx2"/>
                </a:solidFill>
                <a:effectLst>
                  <a:reflection blurRad="6350" stA="53000" endA="300" endPos="35500" dir="5400000" sy="-90000" algn="bl" rotWithShape="0"/>
                </a:effectLst>
                <a:latin typeface="Lato Extended"/>
              </a:rPr>
              <a:t>Module 2: Essentials of Cloud Computing and Characteristics</a:t>
            </a:r>
            <a:br>
              <a:rPr lang="en-US" b="0" dirty="0">
                <a:effectLst/>
                <a:latin typeface="Lato Extended"/>
              </a:rPr>
            </a:br>
            <a:r>
              <a:rPr lang="en-US" b="1" i="0" dirty="0">
                <a:solidFill>
                  <a:srgbClr val="FFFFFF"/>
                </a:solidFill>
                <a:effectLst/>
                <a:latin typeface="Lato Extended"/>
              </a:rPr>
              <a:t> Learning Activities</a:t>
            </a:r>
            <a:br>
              <a:rPr lang="en-US" b="1" i="0" dirty="0">
                <a:solidFill>
                  <a:srgbClr val="FFFFFF"/>
                </a:solidFill>
                <a:effectLst/>
                <a:latin typeface="Lato Extended"/>
              </a:rPr>
            </a:br>
            <a:br>
              <a:rPr lang="en-US" b="0" i="0" dirty="0">
                <a:solidFill>
                  <a:srgbClr val="2D3B45"/>
                </a:solidFill>
                <a:effectLst/>
                <a:latin typeface="Inter"/>
              </a:rPr>
            </a:br>
            <a:br>
              <a:rPr lang="en-US" b="0" i="0" dirty="0">
                <a:solidFill>
                  <a:srgbClr val="2D3B45"/>
                </a:solidFill>
                <a:effectLst/>
                <a:latin typeface="Inter"/>
              </a:rPr>
            </a:br>
            <a:endParaRPr lang="en-AU" b="1" dirty="0">
              <a:solidFill>
                <a:srgbClr val="FF0000"/>
              </a:solidFill>
            </a:endParaRPr>
          </a:p>
        </p:txBody>
      </p:sp>
      <p:sp>
        <p:nvSpPr>
          <p:cNvPr id="3" name="Slide Number Placeholder 2">
            <a:extLst>
              <a:ext uri="{FF2B5EF4-FFF2-40B4-BE49-F238E27FC236}">
                <a16:creationId xmlns:a16="http://schemas.microsoft.com/office/drawing/2014/main" id="{ACEBB796-3031-1257-4BCD-C468389E2E5E}"/>
              </a:ext>
            </a:extLst>
          </p:cNvPr>
          <p:cNvSpPr>
            <a:spLocks noGrp="1"/>
          </p:cNvSpPr>
          <p:nvPr>
            <p:ph type="sldNum" sz="quarter" idx="12"/>
          </p:nvPr>
        </p:nvSpPr>
        <p:spPr/>
        <p:txBody>
          <a:bodyPr/>
          <a:lstStyle/>
          <a:p>
            <a:fld id="{AA9B4DDF-D983-43F6-9690-D9255D65AFD2}" type="slidenum">
              <a:rPr lang="en-AU" smtClean="0"/>
              <a:t>1</a:t>
            </a:fld>
            <a:endParaRPr lang="en-AU"/>
          </a:p>
        </p:txBody>
      </p:sp>
    </p:spTree>
    <p:extLst>
      <p:ext uri="{BB962C8B-B14F-4D97-AF65-F5344CB8AC3E}">
        <p14:creationId xmlns:p14="http://schemas.microsoft.com/office/powerpoint/2010/main" val="2163813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CCFD-A91A-470B-9422-ADF4EAB896B9}"/>
              </a:ext>
            </a:extLst>
          </p:cNvPr>
          <p:cNvSpPr>
            <a:spLocks noGrp="1"/>
          </p:cNvSpPr>
          <p:nvPr>
            <p:ph type="title"/>
          </p:nvPr>
        </p:nvSpPr>
        <p:spPr/>
        <p:txBody>
          <a:bodyPr/>
          <a:lstStyle/>
          <a:p>
            <a:r>
              <a:rPr lang="en-AU" dirty="0"/>
              <a:t>Cloud Computing</a:t>
            </a:r>
          </a:p>
        </p:txBody>
      </p:sp>
      <p:sp>
        <p:nvSpPr>
          <p:cNvPr id="3" name="Content Placeholder 2">
            <a:extLst>
              <a:ext uri="{FF2B5EF4-FFF2-40B4-BE49-F238E27FC236}">
                <a16:creationId xmlns:a16="http://schemas.microsoft.com/office/drawing/2014/main" id="{470E4AE0-2602-4659-A24A-80BBAB95921B}"/>
              </a:ext>
            </a:extLst>
          </p:cNvPr>
          <p:cNvSpPr>
            <a:spLocks noGrp="1"/>
          </p:cNvSpPr>
          <p:nvPr>
            <p:ph idx="1"/>
          </p:nvPr>
        </p:nvSpPr>
        <p:spPr>
          <a:xfrm>
            <a:off x="844826" y="2603500"/>
            <a:ext cx="10306878" cy="3416300"/>
          </a:xfrm>
        </p:spPr>
        <p:txBody>
          <a:bodyPr>
            <a:normAutofit/>
          </a:bodyPr>
          <a:lstStyle/>
          <a:p>
            <a:pPr algn="just">
              <a:lnSpc>
                <a:spcPct val="150000"/>
              </a:lnSpc>
            </a:pPr>
            <a:r>
              <a:rPr lang="en-AU" sz="2000" dirty="0">
                <a:latin typeface="Arial" panose="020B0604020202020204" pitchFamily="34" charset="0"/>
                <a:cs typeface="Arial" panose="020B0604020202020204" pitchFamily="34" charset="0"/>
              </a:rPr>
              <a:t>Cloud computing is the delivery of computing services—including servers, storage, databases, networking, software, analytics, and intelligence—over the Internet (“the cloud”) to offer faster innovation, flexible resources, and economies of scale. </a:t>
            </a:r>
          </a:p>
          <a:p>
            <a:pPr algn="just">
              <a:lnSpc>
                <a:spcPct val="150000"/>
              </a:lnSpc>
            </a:pPr>
            <a:r>
              <a:rPr lang="en-AU" sz="2000" dirty="0">
                <a:latin typeface="Arial" panose="020B0604020202020204" pitchFamily="34" charset="0"/>
                <a:cs typeface="Arial" panose="020B0604020202020204" pitchFamily="34" charset="0"/>
              </a:rPr>
              <a:t>You typically pay only for cloud services you use, helping you lower your operating costs, run your infrastructure more efficiently, and scale as your business needs change.</a:t>
            </a:r>
          </a:p>
        </p:txBody>
      </p:sp>
      <p:sp>
        <p:nvSpPr>
          <p:cNvPr id="4" name="Rectangle 3">
            <a:extLst>
              <a:ext uri="{FF2B5EF4-FFF2-40B4-BE49-F238E27FC236}">
                <a16:creationId xmlns:a16="http://schemas.microsoft.com/office/drawing/2014/main" id="{8D4F828E-F8C0-4C42-AEF3-14C7E773CA89}"/>
              </a:ext>
            </a:extLst>
          </p:cNvPr>
          <p:cNvSpPr/>
          <p:nvPr/>
        </p:nvSpPr>
        <p:spPr>
          <a:xfrm>
            <a:off x="7331766" y="6412252"/>
            <a:ext cx="4336774" cy="213446"/>
          </a:xfrm>
          <a:prstGeom prst="rect">
            <a:avLst/>
          </a:prstGeom>
        </p:spPr>
        <p:txBody>
          <a:bodyPr wrap="square">
            <a:spAutoFit/>
          </a:bodyPr>
          <a:lstStyle/>
          <a:p>
            <a:r>
              <a:rPr lang="en-AU" sz="800" dirty="0"/>
              <a:t>https://azure.microsoft.com/en-au/overview/what-is-cloud-computing/#benefits</a:t>
            </a:r>
          </a:p>
        </p:txBody>
      </p:sp>
    </p:spTree>
    <p:extLst>
      <p:ext uri="{BB962C8B-B14F-4D97-AF65-F5344CB8AC3E}">
        <p14:creationId xmlns:p14="http://schemas.microsoft.com/office/powerpoint/2010/main" val="1716339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09AA-0DF0-4FFB-983D-F9CB5D05157E}"/>
              </a:ext>
            </a:extLst>
          </p:cNvPr>
          <p:cNvSpPr>
            <a:spLocks noGrp="1"/>
          </p:cNvSpPr>
          <p:nvPr>
            <p:ph type="title"/>
          </p:nvPr>
        </p:nvSpPr>
        <p:spPr>
          <a:xfrm>
            <a:off x="1154954" y="947920"/>
            <a:ext cx="9082350" cy="728480"/>
          </a:xfrm>
        </p:spPr>
        <p:txBody>
          <a:bodyPr/>
          <a:lstStyle/>
          <a:p>
            <a:r>
              <a:rPr lang="en-AU" dirty="0"/>
              <a:t>The NIST Definition of Cloud Computing</a:t>
            </a:r>
          </a:p>
        </p:txBody>
      </p:sp>
      <p:sp>
        <p:nvSpPr>
          <p:cNvPr id="3" name="Content Placeholder 2">
            <a:extLst>
              <a:ext uri="{FF2B5EF4-FFF2-40B4-BE49-F238E27FC236}">
                <a16:creationId xmlns:a16="http://schemas.microsoft.com/office/drawing/2014/main" id="{8CB49B55-1046-4997-907D-B573402139F2}"/>
              </a:ext>
            </a:extLst>
          </p:cNvPr>
          <p:cNvSpPr>
            <a:spLocks noGrp="1"/>
          </p:cNvSpPr>
          <p:nvPr>
            <p:ph idx="1"/>
          </p:nvPr>
        </p:nvSpPr>
        <p:spPr>
          <a:xfrm>
            <a:off x="738379" y="2404717"/>
            <a:ext cx="10731377" cy="3956326"/>
          </a:xfrm>
        </p:spPr>
        <p:txBody>
          <a:bodyPr/>
          <a:lstStyle/>
          <a:p>
            <a:pPr algn="just">
              <a:lnSpc>
                <a:spcPct val="150000"/>
              </a:lnSpc>
            </a:pPr>
            <a:r>
              <a:rPr lang="en-AU" dirty="0">
                <a:latin typeface="Arial" panose="020B0604020202020204" pitchFamily="34" charset="0"/>
                <a:cs typeface="Arial" panose="020B0604020202020204" pitchFamily="34" charset="0"/>
              </a:rPr>
              <a:t>According to National Institute of Standards and Technology: Cloud computing is a model for enabling ubiquitous, convenient, on-demand network access to a shared pool of configurable computing resources (e.g., networks, servers, storage, applications, and services) that can be rapidly provisioned and released with minimal management effort or service provider interaction.</a:t>
            </a:r>
          </a:p>
          <a:p>
            <a:pPr algn="just">
              <a:lnSpc>
                <a:spcPct val="150000"/>
              </a:lnSpc>
            </a:pPr>
            <a:r>
              <a:rPr lang="en-AU" dirty="0">
                <a:latin typeface="Arial" panose="020B0604020202020204" pitchFamily="34" charset="0"/>
                <a:cs typeface="Arial" panose="020B0604020202020204" pitchFamily="34" charset="0"/>
              </a:rPr>
              <a:t>This cloud model is composed of five essential characteristics, three service models, and four deployment models.</a:t>
            </a:r>
          </a:p>
        </p:txBody>
      </p:sp>
    </p:spTree>
    <p:extLst>
      <p:ext uri="{BB962C8B-B14F-4D97-AF65-F5344CB8AC3E}">
        <p14:creationId xmlns:p14="http://schemas.microsoft.com/office/powerpoint/2010/main" val="2368641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09AA-0DF0-4FFB-983D-F9CB5D05157E}"/>
              </a:ext>
            </a:extLst>
          </p:cNvPr>
          <p:cNvSpPr>
            <a:spLocks noGrp="1"/>
          </p:cNvSpPr>
          <p:nvPr>
            <p:ph type="title"/>
          </p:nvPr>
        </p:nvSpPr>
        <p:spPr>
          <a:xfrm>
            <a:off x="1154954" y="947920"/>
            <a:ext cx="9082350" cy="728480"/>
          </a:xfrm>
        </p:spPr>
        <p:txBody>
          <a:bodyPr/>
          <a:lstStyle/>
          <a:p>
            <a:r>
              <a:rPr lang="en-AU" dirty="0"/>
              <a:t>Essential Characteristics</a:t>
            </a:r>
          </a:p>
        </p:txBody>
      </p:sp>
      <p:sp>
        <p:nvSpPr>
          <p:cNvPr id="4" name="Rectangle 1">
            <a:extLst>
              <a:ext uri="{FF2B5EF4-FFF2-40B4-BE49-F238E27FC236}">
                <a16:creationId xmlns:a16="http://schemas.microsoft.com/office/drawing/2014/main" id="{2C5F457F-B0B9-2007-8EC4-C21D8A9E3043}"/>
              </a:ext>
            </a:extLst>
          </p:cNvPr>
          <p:cNvSpPr>
            <a:spLocks noGrp="1" noChangeArrowheads="1"/>
          </p:cNvSpPr>
          <p:nvPr>
            <p:ph idx="1"/>
          </p:nvPr>
        </p:nvSpPr>
        <p:spPr bwMode="auto">
          <a:xfrm>
            <a:off x="681925" y="2491199"/>
            <a:ext cx="10368368" cy="4037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fontAlgn="base">
              <a:lnSpc>
                <a:spcPct val="150000"/>
              </a:lnSpc>
              <a:tabLst/>
            </a:pPr>
            <a:r>
              <a:rPr lang="en-US" altLang="en-US" b="1" dirty="0">
                <a:latin typeface="Arial" panose="020B0604020202020204" pitchFamily="34" charset="0"/>
                <a:cs typeface="Arial" panose="020B0604020202020204" pitchFamily="34" charset="0"/>
              </a:rPr>
              <a:t>On-Demand Self-Service:</a:t>
            </a:r>
            <a:br>
              <a:rPr lang="en-US" altLang="en-US" b="1"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Cloud computing allows users to automatically provision resources like computing power, storage, and networking without human intervention from the service provider.</a:t>
            </a:r>
          </a:p>
          <a:p>
            <a:pPr marR="0" lvl="0" fontAlgn="base">
              <a:lnSpc>
                <a:spcPct val="150000"/>
              </a:lnSpc>
              <a:tabLst/>
            </a:pPr>
            <a:r>
              <a:rPr lang="en-US" altLang="en-US" b="1" dirty="0">
                <a:latin typeface="Arial" panose="020B0604020202020204" pitchFamily="34" charset="0"/>
                <a:cs typeface="Arial" panose="020B0604020202020204" pitchFamily="34" charset="0"/>
              </a:rPr>
              <a:t>Broad Network Access:</a:t>
            </a:r>
            <a:br>
              <a:rPr lang="en-US" altLang="en-US" b="1"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Cloud services are accessible over the network (internet) using a variety of devices such as smartphones, laptops, and tablets. This ensures flexibility and availability.</a:t>
            </a:r>
          </a:p>
          <a:p>
            <a:pPr marR="0" lvl="0" fontAlgn="base">
              <a:lnSpc>
                <a:spcPct val="150000"/>
              </a:lnSpc>
              <a:tabLst/>
            </a:pPr>
            <a:r>
              <a:rPr lang="en-US" altLang="en-US" b="1" dirty="0">
                <a:latin typeface="Arial" panose="020B0604020202020204" pitchFamily="34" charset="0"/>
                <a:cs typeface="Arial" panose="020B0604020202020204" pitchFamily="34" charset="0"/>
              </a:rPr>
              <a:t>Resource Pooling:</a:t>
            </a:r>
            <a:br>
              <a:rPr lang="en-US" altLang="en-US" b="1"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Cloud providers use multi-tenant models to pool resources and distribute them dynamically across different users. This helps in efficient resource management and cost reduction.</a:t>
            </a:r>
          </a:p>
        </p:txBody>
      </p:sp>
    </p:spTree>
    <p:extLst>
      <p:ext uri="{BB962C8B-B14F-4D97-AF65-F5344CB8AC3E}">
        <p14:creationId xmlns:p14="http://schemas.microsoft.com/office/powerpoint/2010/main" val="3832818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81E0-8720-45B0-8945-B25345D222DD}"/>
              </a:ext>
            </a:extLst>
          </p:cNvPr>
          <p:cNvSpPr>
            <a:spLocks noGrp="1"/>
          </p:cNvSpPr>
          <p:nvPr>
            <p:ph type="title"/>
          </p:nvPr>
        </p:nvSpPr>
        <p:spPr/>
        <p:txBody>
          <a:bodyPr/>
          <a:lstStyle/>
          <a:p>
            <a:r>
              <a:rPr lang="en-AU" dirty="0"/>
              <a:t>Essential Characteristics</a:t>
            </a:r>
          </a:p>
        </p:txBody>
      </p:sp>
      <p:sp>
        <p:nvSpPr>
          <p:cNvPr id="3" name="Content Placeholder 2">
            <a:extLst>
              <a:ext uri="{FF2B5EF4-FFF2-40B4-BE49-F238E27FC236}">
                <a16:creationId xmlns:a16="http://schemas.microsoft.com/office/drawing/2014/main" id="{26BE8A7D-AA07-4B47-AE63-439F4968B303}"/>
              </a:ext>
            </a:extLst>
          </p:cNvPr>
          <p:cNvSpPr>
            <a:spLocks noGrp="1"/>
          </p:cNvSpPr>
          <p:nvPr>
            <p:ph idx="1"/>
          </p:nvPr>
        </p:nvSpPr>
        <p:spPr>
          <a:xfrm>
            <a:off x="695739" y="2493779"/>
            <a:ext cx="10992678" cy="4165437"/>
          </a:xfrm>
        </p:spPr>
        <p:txBody>
          <a:bodyPr>
            <a:normAutofit/>
          </a:bodyPr>
          <a:lstStyle/>
          <a:p>
            <a:pPr marR="0" lvl="0" fontAlgn="base">
              <a:lnSpc>
                <a:spcPct val="150000"/>
              </a:lnSpc>
              <a:tabLst/>
            </a:pPr>
            <a:r>
              <a:rPr lang="en-US" altLang="en-US" b="1" dirty="0">
                <a:latin typeface="Arial" panose="020B0604020202020204" pitchFamily="34" charset="0"/>
                <a:cs typeface="Arial" panose="020B0604020202020204" pitchFamily="34" charset="0"/>
              </a:rPr>
              <a:t>Rapid Elasticity:</a:t>
            </a:r>
            <a:br>
              <a:rPr lang="en-US" altLang="en-US" b="1"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Cloud systems can quickly scale resources up or down according to demand. This elasticity ensures that users only pay for what they use, adjusting dynamically as needed.</a:t>
            </a:r>
          </a:p>
          <a:p>
            <a:pPr marR="0" lvl="0" fontAlgn="base">
              <a:lnSpc>
                <a:spcPct val="150000"/>
              </a:lnSpc>
              <a:tabLst/>
            </a:pPr>
            <a:r>
              <a:rPr lang="en-US" altLang="en-US" b="1" dirty="0">
                <a:latin typeface="Arial" panose="020B0604020202020204" pitchFamily="34" charset="0"/>
                <a:cs typeface="Arial" panose="020B0604020202020204" pitchFamily="34" charset="0"/>
              </a:rPr>
              <a:t>Measured Service:</a:t>
            </a:r>
            <a:br>
              <a:rPr lang="en-US" altLang="en-US" b="1"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Cloud computing resources are metered and billed based on usage. This pay-as-you-go model ensures that users only pay for the services they use, often based on usage metrics like compute time or storage space.</a:t>
            </a:r>
          </a:p>
        </p:txBody>
      </p:sp>
    </p:spTree>
    <p:extLst>
      <p:ext uri="{BB962C8B-B14F-4D97-AF65-F5344CB8AC3E}">
        <p14:creationId xmlns:p14="http://schemas.microsoft.com/office/powerpoint/2010/main" val="1751077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8009-A97A-BBD7-BA37-4B1C8462B357}"/>
              </a:ext>
            </a:extLst>
          </p:cNvPr>
          <p:cNvSpPr>
            <a:spLocks noGrp="1"/>
          </p:cNvSpPr>
          <p:nvPr>
            <p:ph type="title"/>
          </p:nvPr>
        </p:nvSpPr>
        <p:spPr/>
        <p:txBody>
          <a:bodyPr/>
          <a:lstStyle/>
          <a:p>
            <a:r>
              <a:rPr lang="en-US" dirty="0"/>
              <a:t>Learning Activity 1:</a:t>
            </a:r>
            <a:br>
              <a:rPr lang="en-US" dirty="0"/>
            </a:br>
            <a:r>
              <a:rPr lang="en-US" sz="2400" b="1" dirty="0">
                <a:solidFill>
                  <a:schemeClr val="tx1"/>
                </a:solidFill>
                <a:latin typeface="+mn-lt"/>
                <a:ea typeface="+mn-ea"/>
                <a:cs typeface="+mn-cs"/>
              </a:rPr>
              <a:t>Race to Fill In the Five Essentials of Cloud</a:t>
            </a:r>
            <a:br>
              <a:rPr lang="en-US" sz="2400" b="1" i="0" dirty="0">
                <a:solidFill>
                  <a:schemeClr val="tx1"/>
                </a:solidFill>
                <a:effectLst/>
                <a:latin typeface="Lato Extended"/>
              </a:rPr>
            </a:br>
            <a:br>
              <a:rPr lang="en-US" sz="2400" b="1" dirty="0">
                <a:solidFill>
                  <a:schemeClr val="tx1"/>
                </a:solidFill>
              </a:rPr>
            </a:br>
            <a:endParaRPr lang="en-AU" sz="2400" b="1" dirty="0">
              <a:solidFill>
                <a:schemeClr val="tx1"/>
              </a:solidFill>
            </a:endParaRPr>
          </a:p>
        </p:txBody>
      </p:sp>
      <p:sp>
        <p:nvSpPr>
          <p:cNvPr id="9" name="Content Placeholder 8">
            <a:extLst>
              <a:ext uri="{FF2B5EF4-FFF2-40B4-BE49-F238E27FC236}">
                <a16:creationId xmlns:a16="http://schemas.microsoft.com/office/drawing/2014/main" id="{9BCB39A8-1767-5978-2B0F-D527D1FEE66F}"/>
              </a:ext>
            </a:extLst>
          </p:cNvPr>
          <p:cNvSpPr>
            <a:spLocks noGrp="1"/>
          </p:cNvSpPr>
          <p:nvPr>
            <p:ph idx="1"/>
          </p:nvPr>
        </p:nvSpPr>
        <p:spPr>
          <a:xfrm>
            <a:off x="1154954" y="2603500"/>
            <a:ext cx="8595797" cy="1507027"/>
          </a:xfrm>
        </p:spPr>
        <p:txBody>
          <a:bodyPr/>
          <a:lstStyle/>
          <a:p>
            <a:pPr algn="l">
              <a:spcBef>
                <a:spcPts val="900"/>
              </a:spcBef>
              <a:spcAft>
                <a:spcPts val="900"/>
              </a:spcAft>
            </a:pPr>
            <a:r>
              <a:rPr lang="en-US" b="0" i="0" dirty="0">
                <a:solidFill>
                  <a:srgbClr val="2D3B45"/>
                </a:solidFill>
                <a:effectLst/>
                <a:latin typeface="Inter"/>
              </a:rPr>
              <a:t>Post your reflection in the Module 2 discussion forum.</a:t>
            </a:r>
          </a:p>
          <a:p>
            <a:pPr algn="l">
              <a:spcBef>
                <a:spcPts val="900"/>
              </a:spcBef>
              <a:spcAft>
                <a:spcPts val="900"/>
              </a:spcAft>
            </a:pPr>
            <a:r>
              <a:rPr lang="en-US" b="0" i="0" u="sng" dirty="0">
                <a:solidFill>
                  <a:srgbClr val="2D3B45"/>
                </a:solidFill>
                <a:effectLst/>
                <a:latin typeface="Inter"/>
                <a:hlinkClick r:id="rId2" tooltip="Module 2: Learning Activity 1: Race to Fill In the Five Essentials of Cloud—Discussion Forum"/>
              </a:rPr>
              <a:t>Access Module 2: Learning Activity 1 - Discussion Forum</a:t>
            </a:r>
            <a:endParaRPr lang="en-US" b="0" i="0" dirty="0">
              <a:solidFill>
                <a:srgbClr val="2D3B45"/>
              </a:solidFill>
              <a:effectLst/>
              <a:latin typeface="Inter"/>
            </a:endParaRPr>
          </a:p>
          <a:p>
            <a:pPr marL="0" indent="0">
              <a:buNone/>
            </a:pPr>
            <a:endParaRPr lang="en-AU" dirty="0"/>
          </a:p>
        </p:txBody>
      </p:sp>
    </p:spTree>
    <p:extLst>
      <p:ext uri="{BB962C8B-B14F-4D97-AF65-F5344CB8AC3E}">
        <p14:creationId xmlns:p14="http://schemas.microsoft.com/office/powerpoint/2010/main" val="165244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6B405-71E2-3EBD-231F-67A1337A8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F3D1E-CA34-DA66-C451-71940DEF1F7E}"/>
              </a:ext>
            </a:extLst>
          </p:cNvPr>
          <p:cNvSpPr>
            <a:spLocks noGrp="1"/>
          </p:cNvSpPr>
          <p:nvPr>
            <p:ph type="title"/>
          </p:nvPr>
        </p:nvSpPr>
        <p:spPr/>
        <p:txBody>
          <a:bodyPr/>
          <a:lstStyle/>
          <a:p>
            <a:r>
              <a:rPr lang="en-US" dirty="0"/>
              <a:t>Learning Activity 2:</a:t>
            </a:r>
            <a:br>
              <a:rPr lang="en-US" dirty="0"/>
            </a:br>
            <a:r>
              <a:rPr lang="en-US" sz="2000" dirty="0"/>
              <a:t>📌 Cloud Adoption in Australia &amp; New Zealand: Insights &amp; Challenges</a:t>
            </a:r>
            <a:br>
              <a:rPr lang="en-US" sz="2000" dirty="0"/>
            </a:br>
            <a:endParaRPr lang="en-AU" sz="2000" dirty="0"/>
          </a:p>
        </p:txBody>
      </p:sp>
      <p:sp>
        <p:nvSpPr>
          <p:cNvPr id="3" name="Content Placeholder 2">
            <a:extLst>
              <a:ext uri="{FF2B5EF4-FFF2-40B4-BE49-F238E27FC236}">
                <a16:creationId xmlns:a16="http://schemas.microsoft.com/office/drawing/2014/main" id="{8A6AA353-408A-9084-C06B-5A6458653B67}"/>
              </a:ext>
            </a:extLst>
          </p:cNvPr>
          <p:cNvSpPr>
            <a:spLocks noGrp="1"/>
          </p:cNvSpPr>
          <p:nvPr>
            <p:ph idx="1"/>
          </p:nvPr>
        </p:nvSpPr>
        <p:spPr>
          <a:xfrm>
            <a:off x="326013" y="2468251"/>
            <a:ext cx="3511049" cy="3802878"/>
          </a:xfrm>
        </p:spPr>
        <p:txBody>
          <a:bodyPr>
            <a:normAutofit lnSpcReduction="10000"/>
          </a:bodyPr>
          <a:lstStyle/>
          <a:p>
            <a:r>
              <a:rPr lang="en-AU" dirty="0"/>
              <a:t>🎯 Key Takeaways from the Article:</a:t>
            </a:r>
          </a:p>
          <a:p>
            <a:r>
              <a:rPr lang="en-AU" dirty="0"/>
              <a:t>- 🌏 Australia &amp; NZ are cloud leaders but still face adoption challenges.</a:t>
            </a:r>
          </a:p>
          <a:p>
            <a:r>
              <a:rPr lang="en-AU" dirty="0"/>
              <a:t>- 🏛️ Government policies encourage cloud growth.</a:t>
            </a:r>
          </a:p>
          <a:p>
            <a:r>
              <a:rPr lang="en-AU" dirty="0"/>
              <a:t>- 🔒 Security, compliance &amp; cost remain top concerns.</a:t>
            </a:r>
          </a:p>
          <a:p>
            <a:r>
              <a:rPr lang="en-AU" dirty="0"/>
              <a:t>- 🤖 AI &amp; automation are shaping cloud usage.</a:t>
            </a:r>
          </a:p>
          <a:p>
            <a:endParaRPr lang="en-AU" dirty="0"/>
          </a:p>
        </p:txBody>
      </p:sp>
      <p:graphicFrame>
        <p:nvGraphicFramePr>
          <p:cNvPr id="6" name="Chart 5">
            <a:extLst>
              <a:ext uri="{FF2B5EF4-FFF2-40B4-BE49-F238E27FC236}">
                <a16:creationId xmlns:a16="http://schemas.microsoft.com/office/drawing/2014/main" id="{50095FB0-F707-E99E-99E0-6BE0724496FA}"/>
              </a:ext>
            </a:extLst>
          </p:cNvPr>
          <p:cNvGraphicFramePr>
            <a:graphicFrameLocks/>
          </p:cNvGraphicFramePr>
          <p:nvPr/>
        </p:nvGraphicFramePr>
        <p:xfrm>
          <a:off x="3810000" y="233579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63F8A61D-8AE3-02FF-9050-8DF14A0F8135}"/>
              </a:ext>
            </a:extLst>
          </p:cNvPr>
          <p:cNvGraphicFramePr>
            <a:graphicFrameLocks/>
          </p:cNvGraphicFramePr>
          <p:nvPr/>
        </p:nvGraphicFramePr>
        <p:xfrm>
          <a:off x="8554340" y="4289988"/>
          <a:ext cx="3416892" cy="24512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33391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C82-6F40-9405-87CD-487D17861FF6}"/>
              </a:ext>
            </a:extLst>
          </p:cNvPr>
          <p:cNvSpPr>
            <a:spLocks noGrp="1"/>
          </p:cNvSpPr>
          <p:nvPr>
            <p:ph type="title"/>
          </p:nvPr>
        </p:nvSpPr>
        <p:spPr>
          <a:xfrm>
            <a:off x="1154955" y="973667"/>
            <a:ext cx="2942210" cy="4833745"/>
          </a:xfrm>
        </p:spPr>
        <p:txBody>
          <a:bodyPr>
            <a:normAutofit/>
          </a:bodyPr>
          <a:lstStyle/>
          <a:p>
            <a:r>
              <a:rPr lang="en-US" dirty="0">
                <a:solidFill>
                  <a:srgbClr val="EBEBEB"/>
                </a:solidFill>
              </a:rPr>
              <a:t>Difference between </a:t>
            </a:r>
            <a:endParaRPr lang="en-AU" dirty="0">
              <a:solidFill>
                <a:srgbClr val="EBEBEB"/>
              </a:solidFill>
            </a:endParaRPr>
          </a:p>
        </p:txBody>
      </p:sp>
      <p:graphicFrame>
        <p:nvGraphicFramePr>
          <p:cNvPr id="7" name="Content Placeholder 6">
            <a:extLst>
              <a:ext uri="{FF2B5EF4-FFF2-40B4-BE49-F238E27FC236}">
                <a16:creationId xmlns:a16="http://schemas.microsoft.com/office/drawing/2014/main" id="{16E2F065-8983-DAC2-195F-DFEDC2511F42}"/>
              </a:ext>
            </a:extLst>
          </p:cNvPr>
          <p:cNvGraphicFramePr>
            <a:graphicFrameLocks noGrp="1"/>
          </p:cNvGraphicFramePr>
          <p:nvPr>
            <p:ph idx="1"/>
          </p:nvPr>
        </p:nvGraphicFramePr>
        <p:xfrm>
          <a:off x="5194300" y="1660286"/>
          <a:ext cx="6391277" cy="4071917"/>
        </p:xfrm>
        <a:graphic>
          <a:graphicData uri="http://schemas.openxmlformats.org/drawingml/2006/table">
            <a:tbl>
              <a:tblPr firstRow="1" bandRow="1">
                <a:tableStyleId>{5DA37D80-6434-44D0-A028-1B22A696006F}</a:tableStyleId>
              </a:tblPr>
              <a:tblGrid>
                <a:gridCol w="1070003">
                  <a:extLst>
                    <a:ext uri="{9D8B030D-6E8A-4147-A177-3AD203B41FA5}">
                      <a16:colId xmlns:a16="http://schemas.microsoft.com/office/drawing/2014/main" val="3788020050"/>
                    </a:ext>
                  </a:extLst>
                </a:gridCol>
                <a:gridCol w="2589563">
                  <a:extLst>
                    <a:ext uri="{9D8B030D-6E8A-4147-A177-3AD203B41FA5}">
                      <a16:colId xmlns:a16="http://schemas.microsoft.com/office/drawing/2014/main" val="3472275919"/>
                    </a:ext>
                  </a:extLst>
                </a:gridCol>
                <a:gridCol w="2731711">
                  <a:extLst>
                    <a:ext uri="{9D8B030D-6E8A-4147-A177-3AD203B41FA5}">
                      <a16:colId xmlns:a16="http://schemas.microsoft.com/office/drawing/2014/main" val="308772189"/>
                    </a:ext>
                  </a:extLst>
                </a:gridCol>
              </a:tblGrid>
              <a:tr h="309612">
                <a:tc>
                  <a:txBody>
                    <a:bodyPr/>
                    <a:lstStyle/>
                    <a:p>
                      <a:pPr algn="ctr" fontAlgn="ctr"/>
                      <a:r>
                        <a:rPr lang="en-AU" sz="900" u="none" strike="noStrike" dirty="0">
                          <a:effectLst/>
                        </a:rPr>
                        <a:t>Parameter</a:t>
                      </a:r>
                      <a:endParaRPr lang="en-AU" sz="900" b="1" i="0" u="none" strike="noStrike" dirty="0">
                        <a:solidFill>
                          <a:srgbClr val="000000"/>
                        </a:solidFill>
                        <a:effectLst/>
                        <a:latin typeface="Calibri" panose="020F0502020204030204" pitchFamily="34" charset="0"/>
                      </a:endParaRPr>
                    </a:p>
                  </a:txBody>
                  <a:tcPr marL="3937" marR="3937" marT="3937" marB="0" anchor="ctr"/>
                </a:tc>
                <a:tc>
                  <a:txBody>
                    <a:bodyPr/>
                    <a:lstStyle/>
                    <a:p>
                      <a:pPr algn="ctr" fontAlgn="ctr"/>
                      <a:r>
                        <a:rPr lang="en-US" sz="900" u="none" strike="noStrike">
                          <a:effectLst/>
                        </a:rPr>
                        <a:t>Amazon Web Services (AWS) – Elastic Compute Cloud (EC2)</a:t>
                      </a:r>
                      <a:endParaRPr lang="en-US" sz="900" b="1" i="0" u="none" strike="noStrike">
                        <a:solidFill>
                          <a:srgbClr val="000000"/>
                        </a:solidFill>
                        <a:effectLst/>
                        <a:latin typeface="Calibri" panose="020F0502020204030204" pitchFamily="34" charset="0"/>
                      </a:endParaRPr>
                    </a:p>
                  </a:txBody>
                  <a:tcPr marL="3937" marR="3937" marT="3937" marB="0" anchor="ctr"/>
                </a:tc>
                <a:tc>
                  <a:txBody>
                    <a:bodyPr/>
                    <a:lstStyle/>
                    <a:p>
                      <a:pPr algn="ctr" fontAlgn="ctr"/>
                      <a:r>
                        <a:rPr lang="it-IT" sz="900" u="none" strike="noStrike">
                          <a:effectLst/>
                        </a:rPr>
                        <a:t>Microsoft Azure – Azure AI &amp; Machine Learning</a:t>
                      </a:r>
                      <a:endParaRPr lang="it-IT" sz="900" b="1" i="0" u="none" strike="noStrike">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1624549269"/>
                  </a:ext>
                </a:extLst>
              </a:tr>
              <a:tr h="173150">
                <a:tc>
                  <a:txBody>
                    <a:bodyPr/>
                    <a:lstStyle/>
                    <a:p>
                      <a:pPr algn="l" fontAlgn="ctr"/>
                      <a:r>
                        <a:rPr lang="en-AU" sz="900" u="none" strike="noStrike">
                          <a:effectLst/>
                        </a:rPr>
                        <a:t>Service Type</a:t>
                      </a:r>
                      <a:endParaRPr lang="en-AU" sz="900" b="1"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AU" sz="900" u="none" strike="noStrike">
                          <a:effectLst/>
                        </a:rPr>
                        <a:t>Infrastructure as a Service (IaaS)</a:t>
                      </a:r>
                      <a:endParaRPr lang="en-AU" sz="900" b="0"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AU" sz="900" u="none" strike="noStrike">
                          <a:effectLst/>
                        </a:rPr>
                        <a:t>Platform as a Service (PaaS)</a:t>
                      </a:r>
                      <a:endParaRPr lang="en-AU" sz="900" b="0" i="0" u="none" strike="noStrike">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1447075161"/>
                  </a:ext>
                </a:extLst>
              </a:tr>
              <a:tr h="309612">
                <a:tc>
                  <a:txBody>
                    <a:bodyPr/>
                    <a:lstStyle/>
                    <a:p>
                      <a:pPr algn="l" fontAlgn="ctr"/>
                      <a:r>
                        <a:rPr lang="en-AU" sz="900" u="none" strike="noStrike">
                          <a:effectLst/>
                        </a:rPr>
                        <a:t>Primary Function</a:t>
                      </a:r>
                      <a:endParaRPr lang="en-AU" sz="900" b="1"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Provides scalable virtual computing instances for running applications and workloads.</a:t>
                      </a:r>
                      <a:endParaRPr lang="en-US" sz="900" b="0"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Offers machine learning and AI tools for building and deploying intelligent applications.</a:t>
                      </a:r>
                      <a:endParaRPr lang="en-US" sz="900" b="0" i="0" u="none" strike="noStrike">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1240615070"/>
                  </a:ext>
                </a:extLst>
              </a:tr>
              <a:tr h="309612">
                <a:tc>
                  <a:txBody>
                    <a:bodyPr/>
                    <a:lstStyle/>
                    <a:p>
                      <a:pPr algn="l" fontAlgn="ctr"/>
                      <a:r>
                        <a:rPr lang="en-AU" sz="900" u="none" strike="noStrike" dirty="0">
                          <a:effectLst/>
                        </a:rPr>
                        <a:t>Target Customers</a:t>
                      </a:r>
                      <a:endParaRPr lang="en-AU" sz="900" b="1" i="0" u="none" strike="noStrike" dirty="0">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Businesses needing compute power for applications, websites, and big data processing.</a:t>
                      </a:r>
                      <a:endParaRPr lang="en-US" sz="900" b="0"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Businesses looking to implement AI, automation, and data-driven decision-making in their operations.</a:t>
                      </a:r>
                      <a:endParaRPr lang="en-US" sz="900" b="0" i="0" u="none" strike="noStrike">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1374180919"/>
                  </a:ext>
                </a:extLst>
              </a:tr>
              <a:tr h="309612">
                <a:tc>
                  <a:txBody>
                    <a:bodyPr/>
                    <a:lstStyle/>
                    <a:p>
                      <a:pPr algn="l" fontAlgn="ctr"/>
                      <a:r>
                        <a:rPr lang="en-AU" sz="900" u="none" strike="noStrike">
                          <a:effectLst/>
                        </a:rPr>
                        <a:t>Scalability</a:t>
                      </a:r>
                      <a:endParaRPr lang="en-AU" sz="900" b="1"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High scalability for computing power with instant provisioning of virtual servers (instances).</a:t>
                      </a:r>
                      <a:endParaRPr lang="en-US" sz="900" b="0"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Scalable resources for AI model training, inference, and deployment across cloud infrastructure.</a:t>
                      </a:r>
                      <a:endParaRPr lang="en-US" sz="900" b="0" i="0" u="none" strike="noStrike">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1641849048"/>
                  </a:ext>
                </a:extLst>
              </a:tr>
              <a:tr h="309612">
                <a:tc>
                  <a:txBody>
                    <a:bodyPr/>
                    <a:lstStyle/>
                    <a:p>
                      <a:pPr algn="l" fontAlgn="ctr"/>
                      <a:r>
                        <a:rPr lang="en-AU" sz="900" u="none" strike="noStrike">
                          <a:effectLst/>
                        </a:rPr>
                        <a:t>Core Benefit</a:t>
                      </a:r>
                      <a:endParaRPr lang="en-AU" sz="900" b="1"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Flexible and cost-efficient cloud compute capacity with a pay-as-you-go model.</a:t>
                      </a:r>
                      <a:endParaRPr lang="en-US" sz="900" b="0"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Simplifies AI model development and deployment, even for those with limited expertise in AI.</a:t>
                      </a:r>
                      <a:endParaRPr lang="en-US" sz="900" b="0" i="0" u="none" strike="noStrike">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2802988442"/>
                  </a:ext>
                </a:extLst>
              </a:tr>
              <a:tr h="309612">
                <a:tc>
                  <a:txBody>
                    <a:bodyPr/>
                    <a:lstStyle/>
                    <a:p>
                      <a:pPr algn="l" fontAlgn="ctr"/>
                      <a:r>
                        <a:rPr lang="en-AU" sz="900" u="none" strike="noStrike">
                          <a:effectLst/>
                        </a:rPr>
                        <a:t>Cost Model</a:t>
                      </a:r>
                      <a:endParaRPr lang="en-AU" sz="900" b="1"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Pay-as-you-go pricing based on the instance type and usage.</a:t>
                      </a:r>
                      <a:endParaRPr lang="en-US" sz="900" b="0"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Consumption-based pricing based on resource usage for training, inferencing, and storage.</a:t>
                      </a:r>
                      <a:endParaRPr lang="en-US" sz="900" b="0" i="0" u="none" strike="noStrike">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1320197186"/>
                  </a:ext>
                </a:extLst>
              </a:tr>
              <a:tr h="309612">
                <a:tc>
                  <a:txBody>
                    <a:bodyPr/>
                    <a:lstStyle/>
                    <a:p>
                      <a:pPr algn="l" fontAlgn="ctr"/>
                      <a:r>
                        <a:rPr lang="en-AU" sz="900" u="none" strike="noStrike">
                          <a:effectLst/>
                        </a:rPr>
                        <a:t>Popular Use Cases</a:t>
                      </a:r>
                      <a:endParaRPr lang="en-AU" sz="900" b="1"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Web hosting, app development, data processing, and high-performance computing.</a:t>
                      </a:r>
                      <a:endParaRPr lang="en-US" sz="900" b="0"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Predictive analytics, data-driven decision-making, and automation via AI-powered apps.</a:t>
                      </a:r>
                      <a:endParaRPr lang="en-US" sz="900" b="0" i="0" u="none" strike="noStrike">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4036582718"/>
                  </a:ext>
                </a:extLst>
              </a:tr>
              <a:tr h="446074">
                <a:tc>
                  <a:txBody>
                    <a:bodyPr/>
                    <a:lstStyle/>
                    <a:p>
                      <a:pPr algn="l" fontAlgn="ctr"/>
                      <a:r>
                        <a:rPr lang="en-AU" sz="900" u="none" strike="noStrike">
                          <a:effectLst/>
                        </a:rPr>
                        <a:t>Integration with Other Services</a:t>
                      </a:r>
                      <a:endParaRPr lang="en-AU" sz="900" b="1"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Can be integrated with AWS services like S3 for storage, RDS for databases, and Lambda for serverless functions.</a:t>
                      </a:r>
                      <a:endParaRPr lang="en-US" sz="900" b="0"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Integrates with Azure services like Power BI for data analysis, Azure Databricks for data engineering, and Cognitive Services for pre-built AI models.</a:t>
                      </a:r>
                      <a:endParaRPr lang="en-US" sz="900" b="0" i="0" u="none" strike="noStrike">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3544152413"/>
                  </a:ext>
                </a:extLst>
              </a:tr>
              <a:tr h="309612">
                <a:tc>
                  <a:txBody>
                    <a:bodyPr/>
                    <a:lstStyle/>
                    <a:p>
                      <a:pPr algn="l" fontAlgn="ctr"/>
                      <a:r>
                        <a:rPr lang="en-AU" sz="900" u="none" strike="noStrike">
                          <a:effectLst/>
                        </a:rPr>
                        <a:t>Global Availability</a:t>
                      </a:r>
                      <a:endParaRPr lang="en-AU" sz="900" b="1"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Available in multiple AWS regions worldwide with low latency and high redundancy.</a:t>
                      </a:r>
                      <a:endParaRPr lang="en-US" sz="900" b="0"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Available globally, with data centers in multiple regions supporting hybrid cloud solutions.</a:t>
                      </a:r>
                      <a:endParaRPr lang="en-US" sz="900" b="0" i="0" u="none" strike="noStrike">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52339947"/>
                  </a:ext>
                </a:extLst>
              </a:tr>
              <a:tr h="446074">
                <a:tc>
                  <a:txBody>
                    <a:bodyPr/>
                    <a:lstStyle/>
                    <a:p>
                      <a:pPr algn="l" fontAlgn="ctr"/>
                      <a:r>
                        <a:rPr lang="en-AU" sz="900" u="none" strike="noStrike">
                          <a:effectLst/>
                        </a:rPr>
                        <a:t>Customer Experience</a:t>
                      </a:r>
                      <a:endParaRPr lang="en-AU" sz="900" b="1"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a:effectLst/>
                        </a:rPr>
                        <a:t>Self-service management via AWS Management Console, providing deep customization and flexibility.</a:t>
                      </a:r>
                      <a:endParaRPr lang="en-US" sz="900" b="0" i="0" u="none" strike="noStrike">
                        <a:solidFill>
                          <a:srgbClr val="000000"/>
                        </a:solidFill>
                        <a:effectLst/>
                        <a:latin typeface="Calibri" panose="020F0502020204030204" pitchFamily="34" charset="0"/>
                      </a:endParaRPr>
                    </a:p>
                  </a:txBody>
                  <a:tcPr marL="3937" marR="3937" marT="3937" marB="0" anchor="ctr"/>
                </a:tc>
                <a:tc>
                  <a:txBody>
                    <a:bodyPr/>
                    <a:lstStyle/>
                    <a:p>
                      <a:pPr algn="l" fontAlgn="ctr"/>
                      <a:r>
                        <a:rPr lang="en-US" sz="900" u="none" strike="noStrike" dirty="0">
                          <a:effectLst/>
                        </a:rPr>
                        <a:t>Easy-to-use interfaces and pre-built models to accelerate AI application development, available through Azure Studio and APIs.</a:t>
                      </a:r>
                      <a:endParaRPr lang="en-US" sz="900" b="0" i="0" u="none" strike="noStrike" dirty="0">
                        <a:solidFill>
                          <a:srgbClr val="000000"/>
                        </a:solidFill>
                        <a:effectLst/>
                        <a:latin typeface="Calibri" panose="020F0502020204030204" pitchFamily="34" charset="0"/>
                      </a:endParaRPr>
                    </a:p>
                  </a:txBody>
                  <a:tcPr marL="3937" marR="3937" marT="3937" marB="0" anchor="ctr"/>
                </a:tc>
                <a:extLst>
                  <a:ext uri="{0D108BD9-81ED-4DB2-BD59-A6C34878D82A}">
                    <a16:rowId xmlns:a16="http://schemas.microsoft.com/office/drawing/2014/main" val="1350485845"/>
                  </a:ext>
                </a:extLst>
              </a:tr>
            </a:tbl>
          </a:graphicData>
        </a:graphic>
      </p:graphicFrame>
    </p:spTree>
    <p:extLst>
      <p:ext uri="{BB962C8B-B14F-4D97-AF65-F5344CB8AC3E}">
        <p14:creationId xmlns:p14="http://schemas.microsoft.com/office/powerpoint/2010/main" val="425214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8EE40-B0E6-1E68-C34B-E35264B23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6199E-F100-2CE2-1CC8-E0B1EB6758E3}"/>
              </a:ext>
            </a:extLst>
          </p:cNvPr>
          <p:cNvSpPr>
            <a:spLocks noGrp="1"/>
          </p:cNvSpPr>
          <p:nvPr>
            <p:ph type="title"/>
          </p:nvPr>
        </p:nvSpPr>
        <p:spPr/>
        <p:txBody>
          <a:bodyPr/>
          <a:lstStyle/>
          <a:p>
            <a:r>
              <a:rPr lang="en-US" dirty="0"/>
              <a:t>Learning Activity 3:</a:t>
            </a:r>
            <a:br>
              <a:rPr lang="en-US" dirty="0"/>
            </a:br>
            <a:r>
              <a:rPr lang="en-US" sz="2400" b="1" i="0" dirty="0">
                <a:solidFill>
                  <a:srgbClr val="000000"/>
                </a:solidFill>
                <a:effectLst/>
                <a:latin typeface="Lato Extended"/>
              </a:rPr>
              <a:t>Key Cloud Computing Services Offered by the Cloud Service Provider</a:t>
            </a:r>
            <a:br>
              <a:rPr lang="en-US" sz="1100" b="1" i="0" dirty="0">
                <a:solidFill>
                  <a:srgbClr val="000000"/>
                </a:solidFill>
                <a:effectLst/>
                <a:latin typeface="Lato Extended"/>
              </a:rPr>
            </a:br>
            <a:endParaRPr lang="en-AU" sz="2000" dirty="0"/>
          </a:p>
        </p:txBody>
      </p:sp>
      <p:sp>
        <p:nvSpPr>
          <p:cNvPr id="5" name="Content Placeholder 4">
            <a:extLst>
              <a:ext uri="{FF2B5EF4-FFF2-40B4-BE49-F238E27FC236}">
                <a16:creationId xmlns:a16="http://schemas.microsoft.com/office/drawing/2014/main" id="{8AEE6068-D8CD-5EA2-5402-03DA37FE9FD9}"/>
              </a:ext>
            </a:extLst>
          </p:cNvPr>
          <p:cNvSpPr>
            <a:spLocks noGrp="1"/>
          </p:cNvSpPr>
          <p:nvPr>
            <p:ph idx="1"/>
          </p:nvPr>
        </p:nvSpPr>
        <p:spPr>
          <a:xfrm>
            <a:off x="1154954" y="2324456"/>
            <a:ext cx="9322190" cy="4255806"/>
          </a:xfrm>
        </p:spPr>
        <p:txBody>
          <a:bodyPr>
            <a:normAutofit fontScale="85000" lnSpcReduction="20000"/>
          </a:bodyPr>
          <a:lstStyle/>
          <a:p>
            <a:pPr algn="l">
              <a:spcBef>
                <a:spcPts val="900"/>
              </a:spcBef>
              <a:spcAft>
                <a:spcPts val="900"/>
              </a:spcAft>
            </a:pPr>
            <a:r>
              <a:rPr lang="en-US" b="0" i="0" dirty="0">
                <a:solidFill>
                  <a:srgbClr val="2D3B45"/>
                </a:solidFill>
                <a:effectLst/>
                <a:latin typeface="Inter"/>
              </a:rPr>
              <a:t>Cloud service providers are generally those companies that:</a:t>
            </a:r>
          </a:p>
          <a:p>
            <a:pPr algn="l">
              <a:spcAft>
                <a:spcPts val="450"/>
              </a:spcAft>
              <a:buFont typeface="Arial" panose="020B0604020202020204" pitchFamily="34" charset="0"/>
              <a:buChar char="•"/>
            </a:pPr>
            <a:r>
              <a:rPr lang="en-US" b="0" i="0" dirty="0">
                <a:solidFill>
                  <a:srgbClr val="2D3B45"/>
                </a:solidFill>
                <a:effectLst/>
                <a:latin typeface="Inter"/>
              </a:rPr>
              <a:t>Establish and manage public clouds</a:t>
            </a:r>
          </a:p>
          <a:p>
            <a:pPr algn="l">
              <a:spcAft>
                <a:spcPts val="450"/>
              </a:spcAft>
              <a:buFont typeface="Arial" panose="020B0604020202020204" pitchFamily="34" charset="0"/>
              <a:buChar char="•"/>
            </a:pPr>
            <a:r>
              <a:rPr lang="en-US" b="0" i="0" dirty="0">
                <a:solidFill>
                  <a:srgbClr val="2D3B45"/>
                </a:solidFill>
                <a:effectLst/>
                <a:latin typeface="Inter"/>
              </a:rPr>
              <a:t>Manage private clouds</a:t>
            </a:r>
          </a:p>
          <a:p>
            <a:pPr algn="l">
              <a:spcAft>
                <a:spcPts val="450"/>
              </a:spcAft>
              <a:buFont typeface="Arial" panose="020B0604020202020204" pitchFamily="34" charset="0"/>
              <a:buChar char="•"/>
            </a:pPr>
            <a:r>
              <a:rPr lang="en-US" b="0" i="0" dirty="0">
                <a:solidFill>
                  <a:srgbClr val="2D3B45"/>
                </a:solidFill>
                <a:effectLst/>
                <a:latin typeface="Inter"/>
              </a:rPr>
              <a:t>Offer on-demand cloud computing services such as Infrastructure-as-a-Service (IaaS), Platform-as-a-Service (PaaS) and Software-as-a-Service(SaaS)</a:t>
            </a:r>
          </a:p>
          <a:p>
            <a:pPr algn="l">
              <a:spcBef>
                <a:spcPts val="900"/>
              </a:spcBef>
              <a:spcAft>
                <a:spcPts val="900"/>
              </a:spcAft>
            </a:pPr>
            <a:r>
              <a:rPr lang="en-US" b="0" i="0" dirty="0">
                <a:solidFill>
                  <a:srgbClr val="2D3B45"/>
                </a:solidFill>
                <a:effectLst/>
                <a:latin typeface="Inter"/>
              </a:rPr>
              <a:t>For example, Amazon Web Services (AWS), Microsoft Azure and Google Cloud Platform (GCP) are some of the well-known service providers. To get an appropriate understanding of cloud services, please watch this video about </a:t>
            </a:r>
            <a:r>
              <a:rPr lang="en-US" b="0" i="0" u="sng" dirty="0">
                <a:solidFill>
                  <a:srgbClr val="2D3B45"/>
                </a:solidFill>
                <a:effectLst/>
                <a:latin typeface="Inter"/>
                <a:hlinkClick r:id="rId3"/>
              </a:rPr>
              <a:t>Current Major Cloud </a:t>
            </a:r>
            <a:r>
              <a:rPr lang="en-US" b="0" i="0" u="sng" dirty="0" err="1">
                <a:solidFill>
                  <a:srgbClr val="2D3B45"/>
                </a:solidFill>
                <a:effectLst/>
                <a:latin typeface="Inter"/>
                <a:hlinkClick r:id="rId3"/>
              </a:rPr>
              <a:t>ProvidersLinks</a:t>
            </a:r>
            <a:r>
              <a:rPr lang="en-US" b="0" i="0" u="sng" dirty="0">
                <a:solidFill>
                  <a:srgbClr val="2D3B45"/>
                </a:solidFill>
                <a:effectLst/>
                <a:latin typeface="Inter"/>
                <a:hlinkClick r:id="rId3"/>
              </a:rPr>
              <a:t> to an external site.</a:t>
            </a:r>
            <a:r>
              <a:rPr lang="en-US" b="0" i="0" dirty="0">
                <a:solidFill>
                  <a:srgbClr val="2D3B45"/>
                </a:solidFill>
                <a:effectLst/>
                <a:latin typeface="Inter"/>
              </a:rPr>
              <a:t>.</a:t>
            </a:r>
          </a:p>
          <a:p>
            <a:pPr algn="l">
              <a:spcBef>
                <a:spcPts val="900"/>
              </a:spcBef>
              <a:spcAft>
                <a:spcPts val="900"/>
              </a:spcAft>
            </a:pPr>
            <a:r>
              <a:rPr lang="en-US" b="0" i="0" dirty="0">
                <a:solidFill>
                  <a:srgbClr val="2D3B45"/>
                </a:solidFill>
                <a:effectLst/>
                <a:latin typeface="Inter"/>
              </a:rPr>
              <a:t>Now that you are more familiar with cloud service providers and services, select any two cloud service providers from AWS, Microsoft Azure, IBM Cloud or GCP and discuss at least one key service offered by them. Why do you think this key service unlocks so much value for the customer?</a:t>
            </a:r>
          </a:p>
          <a:p>
            <a:pPr algn="l">
              <a:spcBef>
                <a:spcPts val="900"/>
              </a:spcBef>
              <a:spcAft>
                <a:spcPts val="900"/>
              </a:spcAft>
            </a:pPr>
            <a:r>
              <a:rPr lang="en-US" b="0" i="0" dirty="0">
                <a:solidFill>
                  <a:srgbClr val="2D3B45"/>
                </a:solidFill>
                <a:effectLst/>
                <a:latin typeface="Inter"/>
              </a:rPr>
              <a:t>Post your reflection in the Module 2 discussion forum.</a:t>
            </a:r>
          </a:p>
          <a:p>
            <a:pPr algn="l">
              <a:spcBef>
                <a:spcPts val="900"/>
              </a:spcBef>
              <a:spcAft>
                <a:spcPts val="900"/>
              </a:spcAft>
            </a:pPr>
            <a:r>
              <a:rPr lang="en-US" b="0" i="0" u="sng" dirty="0">
                <a:solidFill>
                  <a:srgbClr val="2D3B45"/>
                </a:solidFill>
                <a:effectLst/>
                <a:latin typeface="Inter"/>
                <a:hlinkClick r:id="rId4" tooltip="Module 2: Learning Activity 3 - Key Cloud Computing Services Offered by the Cloud Service Provider—Discussion Forum"/>
              </a:rPr>
              <a:t>Access Module 2: Learning Activity 3 - Discussion Forum</a:t>
            </a:r>
            <a:endParaRPr lang="en-US" b="0" i="0" dirty="0">
              <a:solidFill>
                <a:srgbClr val="2D3B45"/>
              </a:solidFill>
              <a:effectLst/>
              <a:latin typeface="Inter"/>
            </a:endParaRPr>
          </a:p>
          <a:p>
            <a:endParaRPr lang="en-AU" dirty="0"/>
          </a:p>
        </p:txBody>
      </p:sp>
    </p:spTree>
    <p:extLst>
      <p:ext uri="{BB962C8B-B14F-4D97-AF65-F5344CB8AC3E}">
        <p14:creationId xmlns:p14="http://schemas.microsoft.com/office/powerpoint/2010/main" val="986368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09AA-0DF0-4FFB-983D-F9CB5D05157E}"/>
              </a:ext>
            </a:extLst>
          </p:cNvPr>
          <p:cNvSpPr>
            <a:spLocks noGrp="1"/>
          </p:cNvSpPr>
          <p:nvPr>
            <p:ph type="title"/>
          </p:nvPr>
        </p:nvSpPr>
        <p:spPr>
          <a:xfrm>
            <a:off x="1154954" y="947920"/>
            <a:ext cx="9082350" cy="728480"/>
          </a:xfrm>
        </p:spPr>
        <p:txBody>
          <a:bodyPr/>
          <a:lstStyle/>
          <a:p>
            <a:r>
              <a:rPr lang="en-AU" dirty="0"/>
              <a:t>Essential Characteristics</a:t>
            </a:r>
          </a:p>
        </p:txBody>
      </p:sp>
      <p:pic>
        <p:nvPicPr>
          <p:cNvPr id="3074" name="Picture 2" descr="A Study on Resource Pooling, Allocation and Virtualization Tools used for  Cloud Computing | Semantic Scholar">
            <a:extLst>
              <a:ext uri="{FF2B5EF4-FFF2-40B4-BE49-F238E27FC236}">
                <a16:creationId xmlns:a16="http://schemas.microsoft.com/office/drawing/2014/main" id="{7E04779F-704E-499C-AC35-01722E4C81F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50041" y="3090680"/>
            <a:ext cx="7062924" cy="28194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27F9AF9-95D7-4CA7-BB9B-052D419A55D3}"/>
              </a:ext>
            </a:extLst>
          </p:cNvPr>
          <p:cNvSpPr/>
          <p:nvPr/>
        </p:nvSpPr>
        <p:spPr>
          <a:xfrm>
            <a:off x="1017484" y="2319995"/>
            <a:ext cx="2265364" cy="369332"/>
          </a:xfrm>
          <a:prstGeom prst="rect">
            <a:avLst/>
          </a:prstGeom>
        </p:spPr>
        <p:txBody>
          <a:bodyPr wrap="none">
            <a:spAutoFit/>
          </a:bodyPr>
          <a:lstStyle/>
          <a:p>
            <a:r>
              <a:rPr lang="en-AU" dirty="0"/>
              <a:t>Resource pooling. </a:t>
            </a:r>
          </a:p>
        </p:txBody>
      </p:sp>
      <p:sp>
        <p:nvSpPr>
          <p:cNvPr id="5" name="Rectangle 4">
            <a:extLst>
              <a:ext uri="{FF2B5EF4-FFF2-40B4-BE49-F238E27FC236}">
                <a16:creationId xmlns:a16="http://schemas.microsoft.com/office/drawing/2014/main" id="{2830BBDA-18B6-4FCA-976A-91F6BCBA8DD6}"/>
              </a:ext>
            </a:extLst>
          </p:cNvPr>
          <p:cNvSpPr/>
          <p:nvPr/>
        </p:nvSpPr>
        <p:spPr>
          <a:xfrm>
            <a:off x="3932582" y="6228018"/>
            <a:ext cx="7815470" cy="351686"/>
          </a:xfrm>
          <a:prstGeom prst="rect">
            <a:avLst/>
          </a:prstGeom>
        </p:spPr>
        <p:txBody>
          <a:bodyPr wrap="square">
            <a:spAutoFit/>
          </a:bodyPr>
          <a:lstStyle/>
          <a:p>
            <a:r>
              <a:rPr lang="en-AU" sz="800" dirty="0">
                <a:solidFill>
                  <a:srgbClr val="2E414F"/>
                </a:solidFill>
                <a:latin typeface="Roboto"/>
              </a:rPr>
              <a:t>Rashid, A., &amp; Chaturvedi, A.K. (2017). A Study on Resource Pooling, Allocation and Virtualization Tools used for Cloud Computing. </a:t>
            </a:r>
            <a:r>
              <a:rPr lang="en-AU" sz="800" i="1" dirty="0">
                <a:solidFill>
                  <a:srgbClr val="2E414F"/>
                </a:solidFill>
                <a:latin typeface="Roboto"/>
              </a:rPr>
              <a:t>International Journal of Computer Applications, 168</a:t>
            </a:r>
            <a:r>
              <a:rPr lang="en-AU" sz="800" dirty="0">
                <a:solidFill>
                  <a:srgbClr val="2E414F"/>
                </a:solidFill>
                <a:latin typeface="Roboto"/>
              </a:rPr>
              <a:t>, 7-11.</a:t>
            </a:r>
            <a:endParaRPr lang="en-AU" sz="800" dirty="0"/>
          </a:p>
        </p:txBody>
      </p:sp>
    </p:spTree>
    <p:extLst>
      <p:ext uri="{BB962C8B-B14F-4D97-AF65-F5344CB8AC3E}">
        <p14:creationId xmlns:p14="http://schemas.microsoft.com/office/powerpoint/2010/main" val="399255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portant Multi-tenancy issues in cloud computing - EES Corporation">
            <a:extLst>
              <a:ext uri="{FF2B5EF4-FFF2-40B4-BE49-F238E27FC236}">
                <a16:creationId xmlns:a16="http://schemas.microsoft.com/office/drawing/2014/main" id="{5A535FE1-C974-4888-BA50-6B586202691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29227" y="2355368"/>
            <a:ext cx="7912100" cy="39560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DDD34B-6704-40F1-A869-888A6FEC9C72}"/>
              </a:ext>
            </a:extLst>
          </p:cNvPr>
          <p:cNvSpPr/>
          <p:nvPr/>
        </p:nvSpPr>
        <p:spPr>
          <a:xfrm>
            <a:off x="7093226" y="6534834"/>
            <a:ext cx="4257261" cy="215444"/>
          </a:xfrm>
          <a:prstGeom prst="rect">
            <a:avLst/>
          </a:prstGeom>
        </p:spPr>
        <p:txBody>
          <a:bodyPr wrap="square">
            <a:spAutoFit/>
          </a:bodyPr>
          <a:lstStyle/>
          <a:p>
            <a:r>
              <a:rPr lang="en-AU" sz="800" dirty="0"/>
              <a:t>https://www.eescorporation.com/multi-tenancy-issues-in-cloud-computing/</a:t>
            </a:r>
          </a:p>
        </p:txBody>
      </p:sp>
      <p:pic>
        <p:nvPicPr>
          <p:cNvPr id="2" name="Picture 1" descr="A list of information on a table&#10;&#10;AI-generated content may be incorrect.">
            <a:extLst>
              <a:ext uri="{FF2B5EF4-FFF2-40B4-BE49-F238E27FC236}">
                <a16:creationId xmlns:a16="http://schemas.microsoft.com/office/drawing/2014/main" id="{5D141681-EC05-C05E-7ADD-8B96669EA31B}"/>
              </a:ext>
            </a:extLst>
          </p:cNvPr>
          <p:cNvPicPr>
            <a:picLocks noChangeAspect="1"/>
          </p:cNvPicPr>
          <p:nvPr/>
        </p:nvPicPr>
        <p:blipFill>
          <a:blip r:embed="rId4"/>
          <a:stretch>
            <a:fillRect/>
          </a:stretch>
        </p:blipFill>
        <p:spPr>
          <a:xfrm>
            <a:off x="-2766024" y="8911446"/>
            <a:ext cx="7372350" cy="3009900"/>
          </a:xfrm>
          <a:prstGeom prst="rect">
            <a:avLst/>
          </a:prstGeom>
        </p:spPr>
      </p:pic>
    </p:spTree>
    <p:extLst>
      <p:ext uri="{BB962C8B-B14F-4D97-AF65-F5344CB8AC3E}">
        <p14:creationId xmlns:p14="http://schemas.microsoft.com/office/powerpoint/2010/main" val="1114657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0FA5-F36B-4FD8-8CBA-E8820D64197B}"/>
              </a:ext>
            </a:extLst>
          </p:cNvPr>
          <p:cNvSpPr>
            <a:spLocks noGrp="1"/>
          </p:cNvSpPr>
          <p:nvPr>
            <p:ph type="title"/>
          </p:nvPr>
        </p:nvSpPr>
        <p:spPr>
          <a:xfrm>
            <a:off x="1154954" y="947920"/>
            <a:ext cx="9122107" cy="728480"/>
          </a:xfrm>
        </p:spPr>
        <p:txBody>
          <a:bodyPr/>
          <a:lstStyle/>
          <a:p>
            <a:r>
              <a:rPr lang="en-AU" dirty="0"/>
              <a:t>Layered cloud computing architecture</a:t>
            </a:r>
          </a:p>
        </p:txBody>
      </p:sp>
      <p:pic>
        <p:nvPicPr>
          <p:cNvPr id="1026" name="Picture 2" descr="Layered cloud computing architecture [9]. | Download Scientific Diagram">
            <a:extLst>
              <a:ext uri="{FF2B5EF4-FFF2-40B4-BE49-F238E27FC236}">
                <a16:creationId xmlns:a16="http://schemas.microsoft.com/office/drawing/2014/main" id="{1E1BDC07-0D6C-4242-9EA3-62EF8E25DD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5867" y="2376305"/>
            <a:ext cx="7845516" cy="35337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39FE8B5-4B77-48C9-980F-564E8B498E12}"/>
              </a:ext>
            </a:extLst>
          </p:cNvPr>
          <p:cNvSpPr/>
          <p:nvPr/>
        </p:nvSpPr>
        <p:spPr>
          <a:xfrm>
            <a:off x="5383696" y="6502263"/>
            <a:ext cx="6096000" cy="215444"/>
          </a:xfrm>
          <a:prstGeom prst="rect">
            <a:avLst/>
          </a:prstGeom>
        </p:spPr>
        <p:txBody>
          <a:bodyPr>
            <a:spAutoFit/>
          </a:bodyPr>
          <a:lstStyle/>
          <a:p>
            <a:r>
              <a:rPr lang="en-AU" sz="800" dirty="0"/>
              <a:t>https://www.researchgate.net/figure/Layered-cloud-computing-architecture-9_fig4_265793878</a:t>
            </a:r>
          </a:p>
        </p:txBody>
      </p:sp>
    </p:spTree>
    <p:extLst>
      <p:ext uri="{BB962C8B-B14F-4D97-AF65-F5344CB8AC3E}">
        <p14:creationId xmlns:p14="http://schemas.microsoft.com/office/powerpoint/2010/main" val="158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Cloud service models</a:t>
            </a:r>
          </a:p>
        </p:txBody>
      </p:sp>
      <p:pic>
        <p:nvPicPr>
          <p:cNvPr id="5" name="Content Placeholder 4">
            <a:extLst>
              <a:ext uri="{FF2B5EF4-FFF2-40B4-BE49-F238E27FC236}">
                <a16:creationId xmlns:a16="http://schemas.microsoft.com/office/drawing/2014/main" id="{FF540C40-5F01-493C-A94F-ED4AE6A97332}"/>
              </a:ext>
            </a:extLst>
          </p:cNvPr>
          <p:cNvPicPr>
            <a:picLocks noGrp="1" noChangeAspect="1"/>
          </p:cNvPicPr>
          <p:nvPr>
            <p:ph idx="1"/>
          </p:nvPr>
        </p:nvPicPr>
        <p:blipFill>
          <a:blip r:embed="rId2"/>
          <a:stretch>
            <a:fillRect/>
          </a:stretch>
        </p:blipFill>
        <p:spPr>
          <a:xfrm>
            <a:off x="1348033" y="2286000"/>
            <a:ext cx="9728462" cy="3733800"/>
          </a:xfrm>
          <a:prstGeom prst="rect">
            <a:avLst/>
          </a:prstGeom>
        </p:spPr>
      </p:pic>
    </p:spTree>
    <p:extLst>
      <p:ext uri="{BB962C8B-B14F-4D97-AF65-F5344CB8AC3E}">
        <p14:creationId xmlns:p14="http://schemas.microsoft.com/office/powerpoint/2010/main" val="1518456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81E0-8720-45B0-8945-B25345D222DD}"/>
              </a:ext>
            </a:extLst>
          </p:cNvPr>
          <p:cNvSpPr>
            <a:spLocks noGrp="1"/>
          </p:cNvSpPr>
          <p:nvPr>
            <p:ph type="title"/>
          </p:nvPr>
        </p:nvSpPr>
        <p:spPr/>
        <p:txBody>
          <a:bodyPr/>
          <a:lstStyle/>
          <a:p>
            <a:r>
              <a:rPr lang="en-AU" dirty="0"/>
              <a:t>Service Models:</a:t>
            </a:r>
          </a:p>
        </p:txBody>
      </p:sp>
      <p:pic>
        <p:nvPicPr>
          <p:cNvPr id="4" name="Content Placeholder 3">
            <a:extLst>
              <a:ext uri="{FF2B5EF4-FFF2-40B4-BE49-F238E27FC236}">
                <a16:creationId xmlns:a16="http://schemas.microsoft.com/office/drawing/2014/main" id="{4ACC242B-C804-428B-AF16-1D9602B75BD9}"/>
              </a:ext>
            </a:extLst>
          </p:cNvPr>
          <p:cNvPicPr>
            <a:picLocks noGrp="1" noChangeAspect="1"/>
          </p:cNvPicPr>
          <p:nvPr>
            <p:ph idx="1"/>
          </p:nvPr>
        </p:nvPicPr>
        <p:blipFill>
          <a:blip r:embed="rId2"/>
          <a:stretch>
            <a:fillRect/>
          </a:stretch>
        </p:blipFill>
        <p:spPr>
          <a:xfrm>
            <a:off x="1154954" y="2773017"/>
            <a:ext cx="9370965" cy="2544418"/>
          </a:xfrm>
          <a:prstGeom prst="rect">
            <a:avLst/>
          </a:prstGeom>
        </p:spPr>
      </p:pic>
    </p:spTree>
    <p:extLst>
      <p:ext uri="{BB962C8B-B14F-4D97-AF65-F5344CB8AC3E}">
        <p14:creationId xmlns:p14="http://schemas.microsoft.com/office/powerpoint/2010/main" val="3066203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Software as a Service | SaaS</a:t>
            </a:r>
          </a:p>
        </p:txBody>
      </p:sp>
      <p:sp>
        <p:nvSpPr>
          <p:cNvPr id="6" name="Content Placeholder 5">
            <a:extLst>
              <a:ext uri="{FF2B5EF4-FFF2-40B4-BE49-F238E27FC236}">
                <a16:creationId xmlns:a16="http://schemas.microsoft.com/office/drawing/2014/main" id="{628D44FA-DB80-4EEC-99C6-2E627907AE5C}"/>
              </a:ext>
            </a:extLst>
          </p:cNvPr>
          <p:cNvSpPr>
            <a:spLocks noGrp="1"/>
          </p:cNvSpPr>
          <p:nvPr>
            <p:ph idx="1"/>
          </p:nvPr>
        </p:nvSpPr>
        <p:spPr>
          <a:xfrm>
            <a:off x="561110" y="2375555"/>
            <a:ext cx="10986725" cy="3644245"/>
          </a:xfrm>
        </p:spPr>
        <p:txBody>
          <a:bodyPr>
            <a:normAutofit/>
          </a:bodyPr>
          <a:lstStyle/>
          <a:p>
            <a:pPr algn="just">
              <a:lnSpc>
                <a:spcPct val="150000"/>
              </a:lnSpc>
            </a:pPr>
            <a:r>
              <a:rPr lang="en-AU" dirty="0">
                <a:latin typeface="Arial" panose="020B0604020202020204" pitchFamily="34" charset="0"/>
                <a:cs typeface="Arial" panose="020B0604020202020204" pitchFamily="34" charset="0"/>
              </a:rPr>
              <a:t>It is a software distribution model in which services are hosted by a cloud service provider.</a:t>
            </a:r>
          </a:p>
          <a:p>
            <a:pPr algn="just">
              <a:lnSpc>
                <a:spcPct val="150000"/>
              </a:lnSpc>
            </a:pPr>
            <a:r>
              <a:rPr lang="en-AU" dirty="0">
                <a:latin typeface="Arial" panose="020B0604020202020204" pitchFamily="34" charset="0"/>
                <a:cs typeface="Arial" panose="020B0604020202020204" pitchFamily="34" charset="0"/>
              </a:rPr>
              <a:t>following services provided by SaaS providers </a:t>
            </a:r>
          </a:p>
          <a:p>
            <a:pPr algn="just">
              <a:lnSpc>
                <a:spcPct val="150000"/>
              </a:lnSpc>
            </a:pPr>
            <a:endParaRPr lang="en-AU"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6D368B85-D545-4912-A2D8-D3BDFF27848E}"/>
              </a:ext>
            </a:extLst>
          </p:cNvPr>
          <p:cNvSpPr txBox="1"/>
          <p:nvPr/>
        </p:nvSpPr>
        <p:spPr>
          <a:xfrm>
            <a:off x="2928593" y="5599522"/>
            <a:ext cx="6862714" cy="2189425"/>
          </a:xfrm>
          <a:prstGeom prst="rect">
            <a:avLst/>
          </a:prstGeom>
          <a:noFill/>
        </p:spPr>
        <p:txBody>
          <a:bodyPr wrap="square" rtlCol="0">
            <a:spAutoFit/>
          </a:bodyPr>
          <a:lstStyle/>
          <a:p>
            <a:endParaRPr lang="en-AU" dirty="0"/>
          </a:p>
        </p:txBody>
      </p:sp>
      <p:pic>
        <p:nvPicPr>
          <p:cNvPr id="1032" name="Picture 8" descr="Software as a Service">
            <a:extLst>
              <a:ext uri="{FF2B5EF4-FFF2-40B4-BE49-F238E27FC236}">
                <a16:creationId xmlns:a16="http://schemas.microsoft.com/office/drawing/2014/main" id="{76B78DD4-3F45-4A8A-9ED6-A58E6B5B5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0461" y="3429000"/>
            <a:ext cx="4762500" cy="309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289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Popular SaaS Providers</a:t>
            </a:r>
          </a:p>
        </p:txBody>
      </p:sp>
      <p:pic>
        <p:nvPicPr>
          <p:cNvPr id="3" name="Content Placeholder 2" descr="Software as a Service">
            <a:extLst>
              <a:ext uri="{FF2B5EF4-FFF2-40B4-BE49-F238E27FC236}">
                <a16:creationId xmlns:a16="http://schemas.microsoft.com/office/drawing/2014/main" id="{1F368269-FB6E-40CA-9836-FDE5532E9E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09568" y="2603500"/>
            <a:ext cx="5734708" cy="34163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213E18B-3E64-4D50-864A-5240E5CAD4F2}"/>
              </a:ext>
            </a:extLst>
          </p:cNvPr>
          <p:cNvSpPr/>
          <p:nvPr/>
        </p:nvSpPr>
        <p:spPr>
          <a:xfrm>
            <a:off x="2309568" y="6586356"/>
            <a:ext cx="4784130" cy="215444"/>
          </a:xfrm>
          <a:prstGeom prst="rect">
            <a:avLst/>
          </a:prstGeom>
        </p:spPr>
        <p:txBody>
          <a:bodyPr wrap="square">
            <a:spAutoFit/>
          </a:bodyPr>
          <a:lstStyle/>
          <a:p>
            <a:r>
              <a:rPr lang="en-AU" sz="800" dirty="0"/>
              <a:t>https://www.javatpoint.com/software-as-a-service</a:t>
            </a:r>
          </a:p>
        </p:txBody>
      </p:sp>
    </p:spTree>
    <p:extLst>
      <p:ext uri="{BB962C8B-B14F-4D97-AF65-F5344CB8AC3E}">
        <p14:creationId xmlns:p14="http://schemas.microsoft.com/office/powerpoint/2010/main" val="849012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Popular SaaS Providers</a:t>
            </a:r>
          </a:p>
        </p:txBody>
      </p:sp>
      <p:sp>
        <p:nvSpPr>
          <p:cNvPr id="4" name="Rectangle 3">
            <a:extLst>
              <a:ext uri="{FF2B5EF4-FFF2-40B4-BE49-F238E27FC236}">
                <a16:creationId xmlns:a16="http://schemas.microsoft.com/office/drawing/2014/main" id="{7213E18B-3E64-4D50-864A-5240E5CAD4F2}"/>
              </a:ext>
            </a:extLst>
          </p:cNvPr>
          <p:cNvSpPr/>
          <p:nvPr/>
        </p:nvSpPr>
        <p:spPr>
          <a:xfrm>
            <a:off x="2309568" y="6586356"/>
            <a:ext cx="4784130" cy="215444"/>
          </a:xfrm>
          <a:prstGeom prst="rect">
            <a:avLst/>
          </a:prstGeom>
        </p:spPr>
        <p:txBody>
          <a:bodyPr wrap="square">
            <a:spAutoFit/>
          </a:bodyPr>
          <a:lstStyle/>
          <a:p>
            <a:r>
              <a:rPr lang="en-AU" sz="800" dirty="0"/>
              <a:t>https://www.javatpoint.com/software-as-a-service</a:t>
            </a:r>
          </a:p>
        </p:txBody>
      </p:sp>
      <p:graphicFrame>
        <p:nvGraphicFramePr>
          <p:cNvPr id="7" name="Content Placeholder 6">
            <a:extLst>
              <a:ext uri="{FF2B5EF4-FFF2-40B4-BE49-F238E27FC236}">
                <a16:creationId xmlns:a16="http://schemas.microsoft.com/office/drawing/2014/main" id="{AD895ED7-26F1-404C-A359-739A32EF0427}"/>
              </a:ext>
            </a:extLst>
          </p:cNvPr>
          <p:cNvGraphicFramePr>
            <a:graphicFrameLocks noGrp="1"/>
          </p:cNvGraphicFramePr>
          <p:nvPr>
            <p:ph idx="1"/>
            <p:extLst>
              <p:ext uri="{D42A27DB-BD31-4B8C-83A1-F6EECF244321}">
                <p14:modId xmlns:p14="http://schemas.microsoft.com/office/powerpoint/2010/main" val="2500408677"/>
              </p:ext>
            </p:extLst>
          </p:nvPr>
        </p:nvGraphicFramePr>
        <p:xfrm>
          <a:off x="2018906" y="2401902"/>
          <a:ext cx="8842342" cy="3868346"/>
        </p:xfrm>
        <a:graphic>
          <a:graphicData uri="http://schemas.openxmlformats.org/drawingml/2006/table">
            <a:tbl>
              <a:tblPr>
                <a:tableStyleId>{284E427A-3D55-4303-BF80-6455036E1DE7}</a:tableStyleId>
              </a:tblPr>
              <a:tblGrid>
                <a:gridCol w="2366128">
                  <a:extLst>
                    <a:ext uri="{9D8B030D-6E8A-4147-A177-3AD203B41FA5}">
                      <a16:colId xmlns:a16="http://schemas.microsoft.com/office/drawing/2014/main" val="93068601"/>
                    </a:ext>
                  </a:extLst>
                </a:gridCol>
                <a:gridCol w="6476214">
                  <a:extLst>
                    <a:ext uri="{9D8B030D-6E8A-4147-A177-3AD203B41FA5}">
                      <a16:colId xmlns:a16="http://schemas.microsoft.com/office/drawing/2014/main" val="2564906611"/>
                    </a:ext>
                  </a:extLst>
                </a:gridCol>
              </a:tblGrid>
              <a:tr h="205467">
                <a:tc>
                  <a:txBody>
                    <a:bodyPr/>
                    <a:lstStyle/>
                    <a:p>
                      <a:pPr algn="l" fontAlgn="t"/>
                      <a:r>
                        <a:rPr lang="en-AU" sz="1400" b="1">
                          <a:effectLst/>
                        </a:rPr>
                        <a:t>Provider</a:t>
                      </a:r>
                      <a:endParaRPr lang="en-AU" sz="1400" b="1">
                        <a:solidFill>
                          <a:srgbClr val="000000"/>
                        </a:solidFill>
                        <a:effectLst/>
                        <a:latin typeface="times new roman" panose="02020603050405020304" pitchFamily="18" charset="0"/>
                      </a:endParaRPr>
                    </a:p>
                  </a:txBody>
                  <a:tcPr marL="34485" marR="34485" marT="34485" marB="34485"/>
                </a:tc>
                <a:tc>
                  <a:txBody>
                    <a:bodyPr/>
                    <a:lstStyle/>
                    <a:p>
                      <a:pPr algn="l" fontAlgn="t"/>
                      <a:r>
                        <a:rPr lang="en-AU" sz="1400" b="1" dirty="0">
                          <a:effectLst/>
                        </a:rPr>
                        <a:t>Services</a:t>
                      </a:r>
                      <a:endParaRPr lang="en-AU" sz="1400" b="1" dirty="0">
                        <a:solidFill>
                          <a:srgbClr val="000000"/>
                        </a:solidFill>
                        <a:effectLst/>
                        <a:latin typeface="times new roman" panose="02020603050405020304" pitchFamily="18" charset="0"/>
                      </a:endParaRPr>
                    </a:p>
                  </a:txBody>
                  <a:tcPr marL="34485" marR="34485" marT="34485" marB="34485"/>
                </a:tc>
                <a:extLst>
                  <a:ext uri="{0D108BD9-81ED-4DB2-BD59-A6C34878D82A}">
                    <a16:rowId xmlns:a16="http://schemas.microsoft.com/office/drawing/2014/main" val="655943151"/>
                  </a:ext>
                </a:extLst>
              </a:tr>
              <a:tr h="313094">
                <a:tc>
                  <a:txBody>
                    <a:bodyPr/>
                    <a:lstStyle/>
                    <a:p>
                      <a:pPr algn="just" fontAlgn="t"/>
                      <a:r>
                        <a:rPr lang="en-AU" sz="1400">
                          <a:effectLst/>
                        </a:rPr>
                        <a:t>Salseforce.com</a:t>
                      </a:r>
                      <a:endParaRPr lang="en-AU" sz="1400">
                        <a:solidFill>
                          <a:srgbClr val="333333"/>
                        </a:solidFill>
                        <a:effectLst/>
                        <a:latin typeface="inter-regular"/>
                      </a:endParaRPr>
                    </a:p>
                  </a:txBody>
                  <a:tcPr marL="22990" marR="22990" marT="22990" marB="22990"/>
                </a:tc>
                <a:tc>
                  <a:txBody>
                    <a:bodyPr/>
                    <a:lstStyle/>
                    <a:p>
                      <a:pPr algn="just" fontAlgn="t"/>
                      <a:r>
                        <a:rPr lang="en-AU" sz="1400">
                          <a:effectLst/>
                        </a:rPr>
                        <a:t>On-demand CRM solutions</a:t>
                      </a:r>
                      <a:endParaRPr lang="en-AU" sz="1400">
                        <a:solidFill>
                          <a:srgbClr val="333333"/>
                        </a:solidFill>
                        <a:effectLst/>
                        <a:latin typeface="inter-regular"/>
                      </a:endParaRPr>
                    </a:p>
                  </a:txBody>
                  <a:tcPr marL="22990" marR="22990" marT="22990" marB="22990"/>
                </a:tc>
                <a:extLst>
                  <a:ext uri="{0D108BD9-81ED-4DB2-BD59-A6C34878D82A}">
                    <a16:rowId xmlns:a16="http://schemas.microsoft.com/office/drawing/2014/main" val="283810147"/>
                  </a:ext>
                </a:extLst>
              </a:tr>
              <a:tr h="181007">
                <a:tc>
                  <a:txBody>
                    <a:bodyPr/>
                    <a:lstStyle/>
                    <a:p>
                      <a:pPr algn="just" fontAlgn="t"/>
                      <a:r>
                        <a:rPr lang="en-AU" sz="1400">
                          <a:effectLst/>
                        </a:rPr>
                        <a:t>Microsoft Office 365</a:t>
                      </a:r>
                      <a:endParaRPr lang="en-AU" sz="1400">
                        <a:solidFill>
                          <a:srgbClr val="333333"/>
                        </a:solidFill>
                        <a:effectLst/>
                        <a:latin typeface="inter-regular"/>
                      </a:endParaRPr>
                    </a:p>
                  </a:txBody>
                  <a:tcPr marL="22990" marR="22990" marT="22990" marB="22990"/>
                </a:tc>
                <a:tc>
                  <a:txBody>
                    <a:bodyPr/>
                    <a:lstStyle/>
                    <a:p>
                      <a:pPr algn="just" fontAlgn="t"/>
                      <a:r>
                        <a:rPr lang="en-AU" sz="1400">
                          <a:effectLst/>
                        </a:rPr>
                        <a:t>Online office suite</a:t>
                      </a:r>
                      <a:endParaRPr lang="en-AU" sz="1400">
                        <a:solidFill>
                          <a:srgbClr val="333333"/>
                        </a:solidFill>
                        <a:effectLst/>
                        <a:latin typeface="inter-regular"/>
                      </a:endParaRPr>
                    </a:p>
                  </a:txBody>
                  <a:tcPr marL="22990" marR="22990" marT="22990" marB="22990"/>
                </a:tc>
                <a:extLst>
                  <a:ext uri="{0D108BD9-81ED-4DB2-BD59-A6C34878D82A}">
                    <a16:rowId xmlns:a16="http://schemas.microsoft.com/office/drawing/2014/main" val="2506406007"/>
                  </a:ext>
                </a:extLst>
              </a:tr>
              <a:tr h="445179">
                <a:tc>
                  <a:txBody>
                    <a:bodyPr/>
                    <a:lstStyle/>
                    <a:p>
                      <a:pPr algn="just" fontAlgn="t"/>
                      <a:r>
                        <a:rPr lang="en-AU" sz="1400">
                          <a:effectLst/>
                        </a:rPr>
                        <a:t>Google Apps</a:t>
                      </a:r>
                      <a:endParaRPr lang="en-AU" sz="1400">
                        <a:solidFill>
                          <a:srgbClr val="333333"/>
                        </a:solidFill>
                        <a:effectLst/>
                        <a:latin typeface="inter-regular"/>
                      </a:endParaRPr>
                    </a:p>
                  </a:txBody>
                  <a:tcPr marL="22990" marR="22990" marT="22990" marB="22990"/>
                </a:tc>
                <a:tc>
                  <a:txBody>
                    <a:bodyPr/>
                    <a:lstStyle/>
                    <a:p>
                      <a:pPr algn="just" fontAlgn="t"/>
                      <a:r>
                        <a:rPr lang="en-AU" sz="1400">
                          <a:effectLst/>
                        </a:rPr>
                        <a:t>Gmail, Google Calendar, Docs, and sites</a:t>
                      </a:r>
                      <a:endParaRPr lang="en-AU" sz="1400">
                        <a:solidFill>
                          <a:srgbClr val="333333"/>
                        </a:solidFill>
                        <a:effectLst/>
                        <a:latin typeface="inter-regular"/>
                      </a:endParaRPr>
                    </a:p>
                  </a:txBody>
                  <a:tcPr marL="22990" marR="22990" marT="22990" marB="22990"/>
                </a:tc>
                <a:extLst>
                  <a:ext uri="{0D108BD9-81ED-4DB2-BD59-A6C34878D82A}">
                    <a16:rowId xmlns:a16="http://schemas.microsoft.com/office/drawing/2014/main" val="138972168"/>
                  </a:ext>
                </a:extLst>
              </a:tr>
              <a:tr h="841439">
                <a:tc>
                  <a:txBody>
                    <a:bodyPr/>
                    <a:lstStyle/>
                    <a:p>
                      <a:pPr algn="just" fontAlgn="t"/>
                      <a:r>
                        <a:rPr lang="en-AU" sz="1400" dirty="0">
                          <a:effectLst/>
                        </a:rPr>
                        <a:t>NetSuite</a:t>
                      </a:r>
                      <a:endParaRPr lang="en-AU" sz="1400" dirty="0">
                        <a:solidFill>
                          <a:srgbClr val="333333"/>
                        </a:solidFill>
                        <a:effectLst/>
                        <a:latin typeface="inter-regular"/>
                      </a:endParaRPr>
                    </a:p>
                  </a:txBody>
                  <a:tcPr marL="22990" marR="22990" marT="22990" marB="22990"/>
                </a:tc>
                <a:tc>
                  <a:txBody>
                    <a:bodyPr/>
                    <a:lstStyle/>
                    <a:p>
                      <a:pPr algn="just" fontAlgn="t"/>
                      <a:r>
                        <a:rPr lang="en-AU" sz="1400" dirty="0">
                          <a:effectLst/>
                        </a:rPr>
                        <a:t>ERP, accounting, order management, CRM, Professionals Services Automation (PSA), and e-commerce applications.</a:t>
                      </a:r>
                      <a:endParaRPr lang="en-AU" sz="1400" dirty="0">
                        <a:solidFill>
                          <a:srgbClr val="333333"/>
                        </a:solidFill>
                        <a:effectLst/>
                        <a:latin typeface="inter-regular"/>
                      </a:endParaRPr>
                    </a:p>
                  </a:txBody>
                  <a:tcPr marL="22990" marR="22990" marT="22990" marB="22990"/>
                </a:tc>
                <a:extLst>
                  <a:ext uri="{0D108BD9-81ED-4DB2-BD59-A6C34878D82A}">
                    <a16:rowId xmlns:a16="http://schemas.microsoft.com/office/drawing/2014/main" val="1492990165"/>
                  </a:ext>
                </a:extLst>
              </a:tr>
              <a:tr h="445179">
                <a:tc>
                  <a:txBody>
                    <a:bodyPr/>
                    <a:lstStyle/>
                    <a:p>
                      <a:pPr algn="just" fontAlgn="t"/>
                      <a:r>
                        <a:rPr lang="en-AU" sz="1400">
                          <a:effectLst/>
                        </a:rPr>
                        <a:t>GoToMeeting</a:t>
                      </a:r>
                      <a:endParaRPr lang="en-AU" sz="1400">
                        <a:solidFill>
                          <a:srgbClr val="333333"/>
                        </a:solidFill>
                        <a:effectLst/>
                        <a:latin typeface="inter-regular"/>
                      </a:endParaRPr>
                    </a:p>
                  </a:txBody>
                  <a:tcPr marL="22990" marR="22990" marT="22990" marB="22990"/>
                </a:tc>
                <a:tc>
                  <a:txBody>
                    <a:bodyPr/>
                    <a:lstStyle/>
                    <a:p>
                      <a:pPr algn="just" fontAlgn="t"/>
                      <a:r>
                        <a:rPr lang="en-AU" sz="1400">
                          <a:effectLst/>
                        </a:rPr>
                        <a:t>Online meeting and video-conferencing software</a:t>
                      </a:r>
                      <a:endParaRPr lang="en-AU" sz="1400">
                        <a:solidFill>
                          <a:srgbClr val="333333"/>
                        </a:solidFill>
                        <a:effectLst/>
                        <a:latin typeface="inter-regular"/>
                      </a:endParaRPr>
                    </a:p>
                  </a:txBody>
                  <a:tcPr marL="22990" marR="22990" marT="22990" marB="22990"/>
                </a:tc>
                <a:extLst>
                  <a:ext uri="{0D108BD9-81ED-4DB2-BD59-A6C34878D82A}">
                    <a16:rowId xmlns:a16="http://schemas.microsoft.com/office/drawing/2014/main" val="650632504"/>
                  </a:ext>
                </a:extLst>
              </a:tr>
              <a:tr h="445179">
                <a:tc>
                  <a:txBody>
                    <a:bodyPr/>
                    <a:lstStyle/>
                    <a:p>
                      <a:pPr algn="just" fontAlgn="t"/>
                      <a:r>
                        <a:rPr lang="en-AU" sz="1400">
                          <a:effectLst/>
                        </a:rPr>
                        <a:t>Constant Contact</a:t>
                      </a:r>
                      <a:endParaRPr lang="en-AU" sz="1400">
                        <a:solidFill>
                          <a:srgbClr val="333333"/>
                        </a:solidFill>
                        <a:effectLst/>
                        <a:latin typeface="inter-regular"/>
                      </a:endParaRPr>
                    </a:p>
                  </a:txBody>
                  <a:tcPr marL="22990" marR="22990" marT="22990" marB="22990"/>
                </a:tc>
                <a:tc>
                  <a:txBody>
                    <a:bodyPr/>
                    <a:lstStyle/>
                    <a:p>
                      <a:pPr algn="just" fontAlgn="t"/>
                      <a:r>
                        <a:rPr lang="en-AU" sz="1400">
                          <a:effectLst/>
                        </a:rPr>
                        <a:t>E-mail marketing, online survey, and event marketing</a:t>
                      </a:r>
                      <a:endParaRPr lang="en-AU" sz="1400">
                        <a:solidFill>
                          <a:srgbClr val="333333"/>
                        </a:solidFill>
                        <a:effectLst/>
                        <a:latin typeface="inter-regular"/>
                      </a:endParaRPr>
                    </a:p>
                  </a:txBody>
                  <a:tcPr marL="22990" marR="22990" marT="22990" marB="22990"/>
                </a:tc>
                <a:extLst>
                  <a:ext uri="{0D108BD9-81ED-4DB2-BD59-A6C34878D82A}">
                    <a16:rowId xmlns:a16="http://schemas.microsoft.com/office/drawing/2014/main" val="3389965320"/>
                  </a:ext>
                </a:extLst>
              </a:tr>
              <a:tr h="181007">
                <a:tc>
                  <a:txBody>
                    <a:bodyPr/>
                    <a:lstStyle/>
                    <a:p>
                      <a:pPr algn="just" fontAlgn="t"/>
                      <a:r>
                        <a:rPr lang="en-AU" sz="1400">
                          <a:effectLst/>
                        </a:rPr>
                        <a:t>Oracle CRM</a:t>
                      </a:r>
                      <a:endParaRPr lang="en-AU" sz="1400">
                        <a:solidFill>
                          <a:srgbClr val="333333"/>
                        </a:solidFill>
                        <a:effectLst/>
                        <a:latin typeface="inter-regular"/>
                      </a:endParaRPr>
                    </a:p>
                  </a:txBody>
                  <a:tcPr marL="22990" marR="22990" marT="22990" marB="22990"/>
                </a:tc>
                <a:tc>
                  <a:txBody>
                    <a:bodyPr/>
                    <a:lstStyle/>
                    <a:p>
                      <a:pPr algn="just" fontAlgn="t"/>
                      <a:r>
                        <a:rPr lang="en-AU" sz="1400">
                          <a:effectLst/>
                        </a:rPr>
                        <a:t>CRM applications</a:t>
                      </a:r>
                      <a:endParaRPr lang="en-AU" sz="1400">
                        <a:solidFill>
                          <a:srgbClr val="333333"/>
                        </a:solidFill>
                        <a:effectLst/>
                        <a:latin typeface="inter-regular"/>
                      </a:endParaRPr>
                    </a:p>
                  </a:txBody>
                  <a:tcPr marL="22990" marR="22990" marT="22990" marB="22990"/>
                </a:tc>
                <a:extLst>
                  <a:ext uri="{0D108BD9-81ED-4DB2-BD59-A6C34878D82A}">
                    <a16:rowId xmlns:a16="http://schemas.microsoft.com/office/drawing/2014/main" val="4199317743"/>
                  </a:ext>
                </a:extLst>
              </a:tr>
              <a:tr h="577266">
                <a:tc>
                  <a:txBody>
                    <a:bodyPr/>
                    <a:lstStyle/>
                    <a:p>
                      <a:pPr algn="just" fontAlgn="t"/>
                      <a:r>
                        <a:rPr lang="en-AU" sz="1400">
                          <a:effectLst/>
                        </a:rPr>
                        <a:t>Workday, Inc</a:t>
                      </a:r>
                      <a:endParaRPr lang="en-AU" sz="1400">
                        <a:solidFill>
                          <a:srgbClr val="333333"/>
                        </a:solidFill>
                        <a:effectLst/>
                        <a:latin typeface="inter-regular"/>
                      </a:endParaRPr>
                    </a:p>
                  </a:txBody>
                  <a:tcPr marL="22990" marR="22990" marT="22990" marB="22990"/>
                </a:tc>
                <a:tc>
                  <a:txBody>
                    <a:bodyPr/>
                    <a:lstStyle/>
                    <a:p>
                      <a:pPr algn="just" fontAlgn="t"/>
                      <a:r>
                        <a:rPr lang="en-AU" sz="1400" dirty="0">
                          <a:effectLst/>
                        </a:rPr>
                        <a:t>Human capital management, payroll, and financial management.</a:t>
                      </a:r>
                      <a:endParaRPr lang="en-AU" sz="1400" dirty="0">
                        <a:solidFill>
                          <a:srgbClr val="333333"/>
                        </a:solidFill>
                        <a:effectLst/>
                        <a:latin typeface="inter-regular"/>
                      </a:endParaRPr>
                    </a:p>
                  </a:txBody>
                  <a:tcPr marL="22990" marR="22990" marT="22990" marB="22990"/>
                </a:tc>
                <a:extLst>
                  <a:ext uri="{0D108BD9-81ED-4DB2-BD59-A6C34878D82A}">
                    <a16:rowId xmlns:a16="http://schemas.microsoft.com/office/drawing/2014/main" val="692048939"/>
                  </a:ext>
                </a:extLst>
              </a:tr>
            </a:tbl>
          </a:graphicData>
        </a:graphic>
      </p:graphicFrame>
    </p:spTree>
    <p:extLst>
      <p:ext uri="{BB962C8B-B14F-4D97-AF65-F5344CB8AC3E}">
        <p14:creationId xmlns:p14="http://schemas.microsoft.com/office/powerpoint/2010/main" val="2899768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41DA-C98D-4AD8-A4C8-2488A21820CC}"/>
              </a:ext>
            </a:extLst>
          </p:cNvPr>
          <p:cNvSpPr>
            <a:spLocks noGrp="1"/>
          </p:cNvSpPr>
          <p:nvPr>
            <p:ph type="title"/>
          </p:nvPr>
        </p:nvSpPr>
        <p:spPr/>
        <p:txBody>
          <a:bodyPr/>
          <a:lstStyle/>
          <a:p>
            <a:r>
              <a:rPr lang="en-AU" dirty="0"/>
              <a:t>Benefits of SaaS</a:t>
            </a:r>
          </a:p>
        </p:txBody>
      </p:sp>
      <p:sp>
        <p:nvSpPr>
          <p:cNvPr id="3" name="Content Placeholder 2">
            <a:extLst>
              <a:ext uri="{FF2B5EF4-FFF2-40B4-BE49-F238E27FC236}">
                <a16:creationId xmlns:a16="http://schemas.microsoft.com/office/drawing/2014/main" id="{63B99BED-2AFE-46B7-95D9-DBB411E9DDB1}"/>
              </a:ext>
            </a:extLst>
          </p:cNvPr>
          <p:cNvSpPr>
            <a:spLocks noGrp="1"/>
          </p:cNvSpPr>
          <p:nvPr>
            <p:ph idx="1"/>
          </p:nvPr>
        </p:nvSpPr>
        <p:spPr>
          <a:xfrm>
            <a:off x="594360" y="2386584"/>
            <a:ext cx="11091672" cy="4050792"/>
          </a:xfrm>
        </p:spPr>
        <p:txBody>
          <a:bodyPr>
            <a:normAutofit fontScale="92500" lnSpcReduction="20000"/>
          </a:bodyPr>
          <a:lstStyle/>
          <a:p>
            <a:pPr algn="just">
              <a:lnSpc>
                <a:spcPct val="150000"/>
              </a:lnSpc>
            </a:pPr>
            <a:r>
              <a:rPr lang="en-AU" dirty="0">
                <a:latin typeface="Calibri" panose="020F0502020204030204" pitchFamily="34" charset="0"/>
                <a:cs typeface="Calibri" panose="020F0502020204030204" pitchFamily="34" charset="0"/>
              </a:rPr>
              <a:t>The main benefit of SaaS is that it </a:t>
            </a:r>
            <a:r>
              <a:rPr lang="en-AU" dirty="0">
                <a:solidFill>
                  <a:srgbClr val="FF0000"/>
                </a:solidFill>
                <a:latin typeface="Calibri" panose="020F0502020204030204" pitchFamily="34" charset="0"/>
                <a:cs typeface="Calibri" panose="020F0502020204030204" pitchFamily="34" charset="0"/>
              </a:rPr>
              <a:t>offloads all infrastructure and application management to the SaaS vendor</a:t>
            </a:r>
            <a:r>
              <a:rPr lang="en-AU" dirty="0">
                <a:latin typeface="Calibri" panose="020F0502020204030204" pitchFamily="34" charset="0"/>
                <a:cs typeface="Calibri" panose="020F0502020204030204" pitchFamily="34" charset="0"/>
              </a:rPr>
              <a:t>. All the user has to do is create an account, pay the fee and start using the application. The vendor handles everything else, from maintaining the server hardware and software to managing user access and security, storing and managing data, implementing upgrades and patches and more.</a:t>
            </a:r>
          </a:p>
          <a:p>
            <a:pPr algn="just">
              <a:lnSpc>
                <a:spcPct val="150000"/>
              </a:lnSpc>
            </a:pPr>
            <a:r>
              <a:rPr lang="en-AU" dirty="0">
                <a:solidFill>
                  <a:srgbClr val="FF0000"/>
                </a:solidFill>
                <a:latin typeface="Calibri" panose="020F0502020204030204" pitchFamily="34" charset="0"/>
                <a:cs typeface="Calibri" panose="020F0502020204030204" pitchFamily="34" charset="0"/>
              </a:rPr>
              <a:t>Minimal risk: </a:t>
            </a:r>
            <a:r>
              <a:rPr lang="en-AU" dirty="0">
                <a:latin typeface="Calibri" panose="020F0502020204030204" pitchFamily="34" charset="0"/>
                <a:cs typeface="Calibri" panose="020F0502020204030204" pitchFamily="34" charset="0"/>
              </a:rPr>
              <a:t>Many SaaS products offer a free trial period, or low monthly fees that let customers try the software to see if it will meet their needs, with little or no financial risk.</a:t>
            </a:r>
          </a:p>
          <a:p>
            <a:pPr algn="just">
              <a:lnSpc>
                <a:spcPct val="150000"/>
              </a:lnSpc>
            </a:pPr>
            <a:r>
              <a:rPr lang="en-AU" dirty="0">
                <a:solidFill>
                  <a:srgbClr val="FF0000"/>
                </a:solidFill>
                <a:latin typeface="Calibri" panose="020F0502020204030204" pitchFamily="34" charset="0"/>
                <a:cs typeface="Calibri" panose="020F0502020204030204" pitchFamily="34" charset="0"/>
              </a:rPr>
              <a:t>Anytime/anywhere productivity: </a:t>
            </a:r>
            <a:r>
              <a:rPr lang="en-AU" dirty="0">
                <a:latin typeface="Calibri" panose="020F0502020204030204" pitchFamily="34" charset="0"/>
                <a:cs typeface="Calibri" panose="020F0502020204030204" pitchFamily="34" charset="0"/>
              </a:rPr>
              <a:t>Users can work with SaaS apps on any device with a browser and an internet connection. </a:t>
            </a:r>
          </a:p>
          <a:p>
            <a:pPr algn="just">
              <a:lnSpc>
                <a:spcPct val="150000"/>
              </a:lnSpc>
            </a:pPr>
            <a:r>
              <a:rPr lang="en-AU" dirty="0">
                <a:solidFill>
                  <a:srgbClr val="FF0000"/>
                </a:solidFill>
                <a:latin typeface="Calibri" panose="020F0502020204030204" pitchFamily="34" charset="0"/>
                <a:cs typeface="Calibri" panose="020F0502020204030204" pitchFamily="34" charset="0"/>
              </a:rPr>
              <a:t>Easy scalability: </a:t>
            </a:r>
            <a:r>
              <a:rPr lang="en-AU" dirty="0">
                <a:latin typeface="Calibri" panose="020F0502020204030204" pitchFamily="34" charset="0"/>
                <a:cs typeface="Calibri" panose="020F0502020204030204" pitchFamily="34" charset="0"/>
              </a:rPr>
              <a:t>Adding users is as simple as registering and paying for new seats; customers can purchase more data storage for a nominal charge.</a:t>
            </a:r>
          </a:p>
          <a:p>
            <a:pPr algn="just">
              <a:lnSpc>
                <a:spcPct val="150000"/>
              </a:lnSpc>
            </a:pPr>
            <a:endParaRPr lang="en-AU"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EF3A838A-1A1B-4317-BC94-86B536470361}"/>
              </a:ext>
            </a:extLst>
          </p:cNvPr>
          <p:cNvSpPr/>
          <p:nvPr/>
        </p:nvSpPr>
        <p:spPr>
          <a:xfrm>
            <a:off x="9168268" y="6514540"/>
            <a:ext cx="2691763" cy="215444"/>
          </a:xfrm>
          <a:prstGeom prst="rect">
            <a:avLst/>
          </a:prstGeom>
        </p:spPr>
        <p:txBody>
          <a:bodyPr wrap="none">
            <a:spAutoFit/>
          </a:bodyPr>
          <a:lstStyle/>
          <a:p>
            <a:r>
              <a:rPr lang="en-AU" sz="800" dirty="0"/>
              <a:t>https://www.ibm.com/cloud/learn/iaas-paas-saas</a:t>
            </a:r>
          </a:p>
        </p:txBody>
      </p:sp>
    </p:spTree>
    <p:extLst>
      <p:ext uri="{BB962C8B-B14F-4D97-AF65-F5344CB8AC3E}">
        <p14:creationId xmlns:p14="http://schemas.microsoft.com/office/powerpoint/2010/main" val="841006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81E0-8720-45B0-8945-B25345D222DD}"/>
              </a:ext>
            </a:extLst>
          </p:cNvPr>
          <p:cNvSpPr>
            <a:spLocks noGrp="1"/>
          </p:cNvSpPr>
          <p:nvPr>
            <p:ph type="title"/>
          </p:nvPr>
        </p:nvSpPr>
        <p:spPr/>
        <p:txBody>
          <a:bodyPr/>
          <a:lstStyle/>
          <a:p>
            <a:r>
              <a:rPr lang="en-AU" dirty="0"/>
              <a:t>Service Models:</a:t>
            </a:r>
          </a:p>
        </p:txBody>
      </p:sp>
      <p:sp>
        <p:nvSpPr>
          <p:cNvPr id="3" name="Content Placeholder 2">
            <a:extLst>
              <a:ext uri="{FF2B5EF4-FFF2-40B4-BE49-F238E27FC236}">
                <a16:creationId xmlns:a16="http://schemas.microsoft.com/office/drawing/2014/main" id="{26BE8A7D-AA07-4B47-AE63-439F4968B303}"/>
              </a:ext>
            </a:extLst>
          </p:cNvPr>
          <p:cNvSpPr>
            <a:spLocks noGrp="1"/>
          </p:cNvSpPr>
          <p:nvPr>
            <p:ph idx="1"/>
          </p:nvPr>
        </p:nvSpPr>
        <p:spPr>
          <a:xfrm>
            <a:off x="695739" y="2493780"/>
            <a:ext cx="10992678" cy="3416300"/>
          </a:xfrm>
        </p:spPr>
        <p:txBody>
          <a:bodyPr/>
          <a:lstStyle/>
          <a:p>
            <a:pPr algn="just">
              <a:lnSpc>
                <a:spcPct val="150000"/>
              </a:lnSpc>
            </a:pPr>
            <a:r>
              <a:rPr lang="en-AU" b="1" dirty="0">
                <a:latin typeface="Arial" panose="020B0604020202020204" pitchFamily="34" charset="0"/>
                <a:cs typeface="Arial" panose="020B0604020202020204" pitchFamily="34" charset="0"/>
              </a:rPr>
              <a:t>Platform as a Service (PaaS). </a:t>
            </a:r>
            <a:r>
              <a:rPr lang="en-AU" dirty="0">
                <a:latin typeface="Arial" panose="020B0604020202020204" pitchFamily="34" charset="0"/>
                <a:cs typeface="Arial" panose="020B0604020202020204" pitchFamily="34" charset="0"/>
              </a:rPr>
              <a:t>The capability provided to the consumer is to deploy onto the cloud infrastructure consumer-created or acquired applications created using programming languages, libraries, services, and tools supported by the provider. The consumer does not manage or control the underlying cloud infrastructure including network, servers, operating systems, or storage, but has control over the deployed applications and possibly configuration settings for the application-hosting environment.</a:t>
            </a:r>
          </a:p>
        </p:txBody>
      </p:sp>
    </p:spTree>
    <p:extLst>
      <p:ext uri="{BB962C8B-B14F-4D97-AF65-F5344CB8AC3E}">
        <p14:creationId xmlns:p14="http://schemas.microsoft.com/office/powerpoint/2010/main" val="3819325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74340-C0AF-4065-B477-93A2EFDA1EC4}"/>
              </a:ext>
            </a:extLst>
          </p:cNvPr>
          <p:cNvSpPr>
            <a:spLocks noGrp="1"/>
          </p:cNvSpPr>
          <p:nvPr>
            <p:ph type="title"/>
          </p:nvPr>
        </p:nvSpPr>
        <p:spPr/>
        <p:txBody>
          <a:bodyPr/>
          <a:lstStyle/>
          <a:p>
            <a:r>
              <a:rPr lang="en-AU" dirty="0"/>
              <a:t>Platform as a Service | PaaS</a:t>
            </a:r>
          </a:p>
        </p:txBody>
      </p:sp>
      <p:sp>
        <p:nvSpPr>
          <p:cNvPr id="3" name="Content Placeholder 2">
            <a:extLst>
              <a:ext uri="{FF2B5EF4-FFF2-40B4-BE49-F238E27FC236}">
                <a16:creationId xmlns:a16="http://schemas.microsoft.com/office/drawing/2014/main" id="{64B3CFDD-9BA8-448A-B651-4FF78439FEDB}"/>
              </a:ext>
            </a:extLst>
          </p:cNvPr>
          <p:cNvSpPr>
            <a:spLocks noGrp="1"/>
          </p:cNvSpPr>
          <p:nvPr>
            <p:ph idx="1"/>
          </p:nvPr>
        </p:nvSpPr>
        <p:spPr>
          <a:xfrm>
            <a:off x="730748" y="2355850"/>
            <a:ext cx="10440015" cy="3416300"/>
          </a:xfrm>
        </p:spPr>
        <p:txBody>
          <a:bodyPr/>
          <a:lstStyle/>
          <a:p>
            <a:r>
              <a:rPr lang="en-AU" dirty="0"/>
              <a:t>Platform as a Service (PaaS) provides a runtime environment. It allows programmers to easily create, test, run, and deploy web applications. </a:t>
            </a:r>
          </a:p>
          <a:p>
            <a:endParaRPr lang="en-AU" dirty="0"/>
          </a:p>
        </p:txBody>
      </p:sp>
      <p:pic>
        <p:nvPicPr>
          <p:cNvPr id="4098" name="Picture 2" descr="Platform as a Service">
            <a:extLst>
              <a:ext uri="{FF2B5EF4-FFF2-40B4-BE49-F238E27FC236}">
                <a16:creationId xmlns:a16="http://schemas.microsoft.com/office/drawing/2014/main" id="{453B2A9B-407B-4E69-A1BD-63AD89A7F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9971" y="3072095"/>
            <a:ext cx="4762500"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152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24A6F-AE9A-4534-B312-FBAE80595F10}"/>
              </a:ext>
            </a:extLst>
          </p:cNvPr>
          <p:cNvSpPr>
            <a:spLocks noGrp="1"/>
          </p:cNvSpPr>
          <p:nvPr>
            <p:ph type="title"/>
          </p:nvPr>
        </p:nvSpPr>
        <p:spPr/>
        <p:txBody>
          <a:bodyPr/>
          <a:lstStyle/>
          <a:p>
            <a:r>
              <a:rPr lang="en-AU" dirty="0"/>
              <a:t>Popular PaaS Providers</a:t>
            </a:r>
          </a:p>
        </p:txBody>
      </p:sp>
      <p:pic>
        <p:nvPicPr>
          <p:cNvPr id="5122" name="Picture 2" descr="Platform as a Service">
            <a:extLst>
              <a:ext uri="{FF2B5EF4-FFF2-40B4-BE49-F238E27FC236}">
                <a16:creationId xmlns:a16="http://schemas.microsoft.com/office/drawing/2014/main" id="{5FB0CC43-E0A3-49F9-9F15-43AF191B107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83703" y="2603500"/>
            <a:ext cx="7880808"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8760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B5DBF-A478-40A2-9831-EBFF62C24D20}"/>
              </a:ext>
            </a:extLst>
          </p:cNvPr>
          <p:cNvSpPr>
            <a:spLocks noGrp="1"/>
          </p:cNvSpPr>
          <p:nvPr>
            <p:ph type="title"/>
          </p:nvPr>
        </p:nvSpPr>
        <p:spPr/>
        <p:txBody>
          <a:bodyPr/>
          <a:lstStyle/>
          <a:p>
            <a:r>
              <a:rPr lang="en-AU" dirty="0"/>
              <a:t>Popular PaaS Providers</a:t>
            </a:r>
          </a:p>
        </p:txBody>
      </p:sp>
      <p:graphicFrame>
        <p:nvGraphicFramePr>
          <p:cNvPr id="5" name="Content Placeholder 4">
            <a:extLst>
              <a:ext uri="{FF2B5EF4-FFF2-40B4-BE49-F238E27FC236}">
                <a16:creationId xmlns:a16="http://schemas.microsoft.com/office/drawing/2014/main" id="{514CECEC-8CBC-4ED1-A288-C64AB80802D8}"/>
              </a:ext>
            </a:extLst>
          </p:cNvPr>
          <p:cNvGraphicFramePr>
            <a:graphicFrameLocks noGrp="1"/>
          </p:cNvGraphicFramePr>
          <p:nvPr>
            <p:ph idx="1"/>
            <p:extLst>
              <p:ext uri="{D42A27DB-BD31-4B8C-83A1-F6EECF244321}">
                <p14:modId xmlns:p14="http://schemas.microsoft.com/office/powerpoint/2010/main" val="3910792936"/>
              </p:ext>
            </p:extLst>
          </p:nvPr>
        </p:nvGraphicFramePr>
        <p:xfrm>
          <a:off x="1395167" y="2603500"/>
          <a:ext cx="9954704" cy="3472788"/>
        </p:xfrm>
        <a:graphic>
          <a:graphicData uri="http://schemas.openxmlformats.org/drawingml/2006/table">
            <a:tbl>
              <a:tblPr>
                <a:tableStyleId>{284E427A-3D55-4303-BF80-6455036E1DE7}</a:tableStyleId>
              </a:tblPr>
              <a:tblGrid>
                <a:gridCol w="3516198">
                  <a:extLst>
                    <a:ext uri="{9D8B030D-6E8A-4147-A177-3AD203B41FA5}">
                      <a16:colId xmlns:a16="http://schemas.microsoft.com/office/drawing/2014/main" val="3777969927"/>
                    </a:ext>
                  </a:extLst>
                </a:gridCol>
                <a:gridCol w="6438506">
                  <a:extLst>
                    <a:ext uri="{9D8B030D-6E8A-4147-A177-3AD203B41FA5}">
                      <a16:colId xmlns:a16="http://schemas.microsoft.com/office/drawing/2014/main" val="1517790481"/>
                    </a:ext>
                  </a:extLst>
                </a:gridCol>
              </a:tblGrid>
              <a:tr h="244021">
                <a:tc>
                  <a:txBody>
                    <a:bodyPr/>
                    <a:lstStyle/>
                    <a:p>
                      <a:pPr algn="l" fontAlgn="t"/>
                      <a:r>
                        <a:rPr lang="en-AU" sz="1400" b="1" dirty="0">
                          <a:effectLst/>
                        </a:rPr>
                        <a:t>Providers</a:t>
                      </a:r>
                      <a:endParaRPr lang="en-AU" sz="1400" b="1" dirty="0">
                        <a:solidFill>
                          <a:srgbClr val="000000"/>
                        </a:solidFill>
                        <a:effectLst/>
                        <a:latin typeface="times new roman" panose="02020603050405020304" pitchFamily="18" charset="0"/>
                      </a:endParaRPr>
                    </a:p>
                  </a:txBody>
                  <a:tcPr marL="43575" marR="43575" marT="43575" marB="43575"/>
                </a:tc>
                <a:tc>
                  <a:txBody>
                    <a:bodyPr/>
                    <a:lstStyle/>
                    <a:p>
                      <a:pPr algn="l" fontAlgn="t"/>
                      <a:r>
                        <a:rPr lang="en-AU" sz="1400" b="1" dirty="0">
                          <a:effectLst/>
                        </a:rPr>
                        <a:t>Services</a:t>
                      </a:r>
                      <a:endParaRPr lang="en-AU" sz="1400" b="1" dirty="0">
                        <a:solidFill>
                          <a:srgbClr val="000000"/>
                        </a:solidFill>
                        <a:effectLst/>
                        <a:latin typeface="times new roman" panose="02020603050405020304" pitchFamily="18" charset="0"/>
                      </a:endParaRPr>
                    </a:p>
                  </a:txBody>
                  <a:tcPr marL="43575" marR="43575" marT="43575" marB="43575"/>
                </a:tc>
                <a:extLst>
                  <a:ext uri="{0D108BD9-81ED-4DB2-BD59-A6C34878D82A}">
                    <a16:rowId xmlns:a16="http://schemas.microsoft.com/office/drawing/2014/main" val="2970019890"/>
                  </a:ext>
                </a:extLst>
              </a:tr>
              <a:tr h="685584">
                <a:tc>
                  <a:txBody>
                    <a:bodyPr/>
                    <a:lstStyle/>
                    <a:p>
                      <a:pPr algn="just" fontAlgn="t"/>
                      <a:r>
                        <a:rPr lang="en-AU" sz="1600">
                          <a:effectLst/>
                        </a:rPr>
                        <a:t>Google App Engine (GAE)</a:t>
                      </a:r>
                      <a:endParaRPr lang="en-AU" sz="1600">
                        <a:solidFill>
                          <a:srgbClr val="333333"/>
                        </a:solidFill>
                        <a:effectLst/>
                        <a:latin typeface="inter-regular"/>
                      </a:endParaRPr>
                    </a:p>
                  </a:txBody>
                  <a:tcPr marL="29050" marR="29050" marT="29050" marB="29050"/>
                </a:tc>
                <a:tc>
                  <a:txBody>
                    <a:bodyPr/>
                    <a:lstStyle/>
                    <a:p>
                      <a:pPr algn="just" fontAlgn="t"/>
                      <a:r>
                        <a:rPr lang="en-AU" sz="1600">
                          <a:effectLst/>
                        </a:rPr>
                        <a:t>App Identity, URL Fetch, Cloud storage client library, Logservice</a:t>
                      </a:r>
                      <a:endParaRPr lang="en-AU" sz="1600">
                        <a:solidFill>
                          <a:srgbClr val="333333"/>
                        </a:solidFill>
                        <a:effectLst/>
                        <a:latin typeface="inter-regular"/>
                      </a:endParaRPr>
                    </a:p>
                  </a:txBody>
                  <a:tcPr marL="29050" marR="29050" marT="29050" marB="29050"/>
                </a:tc>
                <a:extLst>
                  <a:ext uri="{0D108BD9-81ED-4DB2-BD59-A6C34878D82A}">
                    <a16:rowId xmlns:a16="http://schemas.microsoft.com/office/drawing/2014/main" val="1650605031"/>
                  </a:ext>
                </a:extLst>
              </a:tr>
              <a:tr h="999326">
                <a:tc>
                  <a:txBody>
                    <a:bodyPr/>
                    <a:lstStyle/>
                    <a:p>
                      <a:pPr algn="just" fontAlgn="t"/>
                      <a:r>
                        <a:rPr lang="en-AU" sz="1600">
                          <a:effectLst/>
                        </a:rPr>
                        <a:t>Salesforce.com</a:t>
                      </a:r>
                      <a:endParaRPr lang="en-AU" sz="1600">
                        <a:solidFill>
                          <a:srgbClr val="333333"/>
                        </a:solidFill>
                        <a:effectLst/>
                        <a:latin typeface="inter-regular"/>
                      </a:endParaRPr>
                    </a:p>
                  </a:txBody>
                  <a:tcPr marL="29050" marR="29050" marT="29050" marB="29050"/>
                </a:tc>
                <a:tc>
                  <a:txBody>
                    <a:bodyPr/>
                    <a:lstStyle/>
                    <a:p>
                      <a:pPr algn="just" fontAlgn="t"/>
                      <a:r>
                        <a:rPr lang="en-AU" sz="1600" dirty="0">
                          <a:effectLst/>
                        </a:rPr>
                        <a:t>Faster implementation, Rapid scalability, CRM Services, Sales cloud, Mobile connectivity, Chatter.</a:t>
                      </a:r>
                      <a:endParaRPr lang="en-AU" sz="1600" dirty="0">
                        <a:solidFill>
                          <a:srgbClr val="333333"/>
                        </a:solidFill>
                        <a:effectLst/>
                        <a:latin typeface="inter-regular"/>
                      </a:endParaRPr>
                    </a:p>
                  </a:txBody>
                  <a:tcPr marL="29050" marR="29050" marT="29050" marB="29050"/>
                </a:tc>
                <a:extLst>
                  <a:ext uri="{0D108BD9-81ED-4DB2-BD59-A6C34878D82A}">
                    <a16:rowId xmlns:a16="http://schemas.microsoft.com/office/drawing/2014/main" val="1475137731"/>
                  </a:ext>
                </a:extLst>
              </a:tr>
              <a:tr h="371842">
                <a:tc>
                  <a:txBody>
                    <a:bodyPr/>
                    <a:lstStyle/>
                    <a:p>
                      <a:pPr algn="just" fontAlgn="t"/>
                      <a:r>
                        <a:rPr lang="en-AU" sz="1600">
                          <a:effectLst/>
                        </a:rPr>
                        <a:t>Windows Azure</a:t>
                      </a:r>
                      <a:endParaRPr lang="en-AU" sz="1600">
                        <a:solidFill>
                          <a:srgbClr val="333333"/>
                        </a:solidFill>
                        <a:effectLst/>
                        <a:latin typeface="inter-regular"/>
                      </a:endParaRPr>
                    </a:p>
                  </a:txBody>
                  <a:tcPr marL="29050" marR="29050" marT="29050" marB="29050"/>
                </a:tc>
                <a:tc>
                  <a:txBody>
                    <a:bodyPr/>
                    <a:lstStyle/>
                    <a:p>
                      <a:pPr algn="just" fontAlgn="t"/>
                      <a:r>
                        <a:rPr lang="en-AU" sz="1600">
                          <a:effectLst/>
                        </a:rPr>
                        <a:t>Compute, security, IoT, Data Storage.</a:t>
                      </a:r>
                      <a:endParaRPr lang="en-AU" sz="1600">
                        <a:solidFill>
                          <a:srgbClr val="333333"/>
                        </a:solidFill>
                        <a:effectLst/>
                        <a:latin typeface="inter-regular"/>
                      </a:endParaRPr>
                    </a:p>
                  </a:txBody>
                  <a:tcPr marL="29050" marR="29050" marT="29050" marB="29050"/>
                </a:tc>
                <a:extLst>
                  <a:ext uri="{0D108BD9-81ED-4DB2-BD59-A6C34878D82A}">
                    <a16:rowId xmlns:a16="http://schemas.microsoft.com/office/drawing/2014/main" val="4085067192"/>
                  </a:ext>
                </a:extLst>
              </a:tr>
              <a:tr h="371842">
                <a:tc>
                  <a:txBody>
                    <a:bodyPr/>
                    <a:lstStyle/>
                    <a:p>
                      <a:pPr algn="just" fontAlgn="t"/>
                      <a:r>
                        <a:rPr lang="en-AU" sz="1600">
                          <a:effectLst/>
                        </a:rPr>
                        <a:t>AppFog</a:t>
                      </a:r>
                      <a:endParaRPr lang="en-AU" sz="1600">
                        <a:solidFill>
                          <a:srgbClr val="333333"/>
                        </a:solidFill>
                        <a:effectLst/>
                        <a:latin typeface="inter-regular"/>
                      </a:endParaRPr>
                    </a:p>
                  </a:txBody>
                  <a:tcPr marL="29050" marR="29050" marT="29050" marB="29050"/>
                </a:tc>
                <a:tc>
                  <a:txBody>
                    <a:bodyPr/>
                    <a:lstStyle/>
                    <a:p>
                      <a:pPr algn="just" fontAlgn="t"/>
                      <a:r>
                        <a:rPr lang="en-AU" sz="1600">
                          <a:effectLst/>
                        </a:rPr>
                        <a:t>Justcloud.com, SkyDrive, GoogleDocs</a:t>
                      </a:r>
                      <a:endParaRPr lang="en-AU" sz="1600">
                        <a:solidFill>
                          <a:srgbClr val="333333"/>
                        </a:solidFill>
                        <a:effectLst/>
                        <a:latin typeface="inter-regular"/>
                      </a:endParaRPr>
                    </a:p>
                  </a:txBody>
                  <a:tcPr marL="29050" marR="29050" marT="29050" marB="29050"/>
                </a:tc>
                <a:extLst>
                  <a:ext uri="{0D108BD9-81ED-4DB2-BD59-A6C34878D82A}">
                    <a16:rowId xmlns:a16="http://schemas.microsoft.com/office/drawing/2014/main" val="2297364859"/>
                  </a:ext>
                </a:extLst>
              </a:tr>
              <a:tr h="371842">
                <a:tc>
                  <a:txBody>
                    <a:bodyPr/>
                    <a:lstStyle/>
                    <a:p>
                      <a:pPr algn="just" fontAlgn="t"/>
                      <a:r>
                        <a:rPr lang="en-AU" sz="1600">
                          <a:effectLst/>
                        </a:rPr>
                        <a:t>Openshift</a:t>
                      </a:r>
                      <a:endParaRPr lang="en-AU" sz="1600">
                        <a:solidFill>
                          <a:srgbClr val="333333"/>
                        </a:solidFill>
                        <a:effectLst/>
                        <a:latin typeface="inter-regular"/>
                      </a:endParaRPr>
                    </a:p>
                  </a:txBody>
                  <a:tcPr marL="29050" marR="29050" marT="29050" marB="29050"/>
                </a:tc>
                <a:tc>
                  <a:txBody>
                    <a:bodyPr/>
                    <a:lstStyle/>
                    <a:p>
                      <a:pPr algn="just" fontAlgn="t"/>
                      <a:r>
                        <a:rPr lang="en-AU" sz="1600">
                          <a:effectLst/>
                        </a:rPr>
                        <a:t>RedHat, Microsoft Azure.</a:t>
                      </a:r>
                      <a:endParaRPr lang="en-AU" sz="1600">
                        <a:solidFill>
                          <a:srgbClr val="333333"/>
                        </a:solidFill>
                        <a:effectLst/>
                        <a:latin typeface="inter-regular"/>
                      </a:endParaRPr>
                    </a:p>
                  </a:txBody>
                  <a:tcPr marL="29050" marR="29050" marT="29050" marB="29050"/>
                </a:tc>
                <a:extLst>
                  <a:ext uri="{0D108BD9-81ED-4DB2-BD59-A6C34878D82A}">
                    <a16:rowId xmlns:a16="http://schemas.microsoft.com/office/drawing/2014/main" val="2954455049"/>
                  </a:ext>
                </a:extLst>
              </a:tr>
              <a:tr h="371842">
                <a:tc>
                  <a:txBody>
                    <a:bodyPr/>
                    <a:lstStyle/>
                    <a:p>
                      <a:pPr algn="just" fontAlgn="t"/>
                      <a:r>
                        <a:rPr lang="en-AU" sz="1600">
                          <a:effectLst/>
                        </a:rPr>
                        <a:t>Cloud Foundry from VMware</a:t>
                      </a:r>
                      <a:endParaRPr lang="en-AU" sz="1600">
                        <a:solidFill>
                          <a:srgbClr val="333333"/>
                        </a:solidFill>
                        <a:effectLst/>
                        <a:latin typeface="inter-regular"/>
                      </a:endParaRPr>
                    </a:p>
                  </a:txBody>
                  <a:tcPr marL="29050" marR="29050" marT="29050" marB="29050"/>
                </a:tc>
                <a:tc>
                  <a:txBody>
                    <a:bodyPr/>
                    <a:lstStyle/>
                    <a:p>
                      <a:pPr algn="just" fontAlgn="t"/>
                      <a:r>
                        <a:rPr lang="en-AU" sz="1600" dirty="0">
                          <a:effectLst/>
                        </a:rPr>
                        <a:t>Data, Messaging, and other services.</a:t>
                      </a:r>
                      <a:endParaRPr lang="en-AU" sz="1600" dirty="0">
                        <a:solidFill>
                          <a:srgbClr val="333333"/>
                        </a:solidFill>
                        <a:effectLst/>
                        <a:latin typeface="inter-regular"/>
                      </a:endParaRPr>
                    </a:p>
                  </a:txBody>
                  <a:tcPr marL="29050" marR="29050" marT="29050" marB="29050"/>
                </a:tc>
                <a:extLst>
                  <a:ext uri="{0D108BD9-81ED-4DB2-BD59-A6C34878D82A}">
                    <a16:rowId xmlns:a16="http://schemas.microsoft.com/office/drawing/2014/main" val="1309997490"/>
                  </a:ext>
                </a:extLst>
              </a:tr>
            </a:tbl>
          </a:graphicData>
        </a:graphic>
      </p:graphicFrame>
    </p:spTree>
    <p:extLst>
      <p:ext uri="{BB962C8B-B14F-4D97-AF65-F5344CB8AC3E}">
        <p14:creationId xmlns:p14="http://schemas.microsoft.com/office/powerpoint/2010/main" val="1221025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41DA-C98D-4AD8-A4C8-2488A21820CC}"/>
              </a:ext>
            </a:extLst>
          </p:cNvPr>
          <p:cNvSpPr>
            <a:spLocks noGrp="1"/>
          </p:cNvSpPr>
          <p:nvPr>
            <p:ph type="title"/>
          </p:nvPr>
        </p:nvSpPr>
        <p:spPr/>
        <p:txBody>
          <a:bodyPr/>
          <a:lstStyle/>
          <a:p>
            <a:r>
              <a:rPr lang="en-AU" dirty="0"/>
              <a:t>Benefits of PaaS</a:t>
            </a:r>
          </a:p>
        </p:txBody>
      </p:sp>
      <p:sp>
        <p:nvSpPr>
          <p:cNvPr id="3" name="Content Placeholder 2">
            <a:extLst>
              <a:ext uri="{FF2B5EF4-FFF2-40B4-BE49-F238E27FC236}">
                <a16:creationId xmlns:a16="http://schemas.microsoft.com/office/drawing/2014/main" id="{63B99BED-2AFE-46B7-95D9-DBB411E9DDB1}"/>
              </a:ext>
            </a:extLst>
          </p:cNvPr>
          <p:cNvSpPr>
            <a:spLocks noGrp="1"/>
          </p:cNvSpPr>
          <p:nvPr>
            <p:ph idx="1"/>
          </p:nvPr>
        </p:nvSpPr>
        <p:spPr>
          <a:xfrm>
            <a:off x="594360" y="2386584"/>
            <a:ext cx="11091672" cy="4032504"/>
          </a:xfrm>
        </p:spPr>
        <p:txBody>
          <a:bodyPr>
            <a:normAutofit/>
          </a:bodyPr>
          <a:lstStyle/>
          <a:p>
            <a:pPr algn="just">
              <a:lnSpc>
                <a:spcPct val="150000"/>
              </a:lnSpc>
            </a:pPr>
            <a:r>
              <a:rPr lang="en-AU" dirty="0">
                <a:latin typeface="Calibri" panose="020F0502020204030204" pitchFamily="34" charset="0"/>
                <a:cs typeface="Calibri" panose="020F0502020204030204" pitchFamily="34" charset="0"/>
              </a:rPr>
              <a:t>The primary benefit of PaaS  is that it allows customers to build, test, deploy run, update and scale applications more quickly and cost-effectively than they could if they had to build out and manage their own on-premises platform. </a:t>
            </a:r>
          </a:p>
          <a:p>
            <a:pPr algn="just">
              <a:lnSpc>
                <a:spcPct val="150000"/>
              </a:lnSpc>
            </a:pPr>
            <a:r>
              <a:rPr lang="en-AU" dirty="0">
                <a:solidFill>
                  <a:srgbClr val="FF0000"/>
                </a:solidFill>
                <a:latin typeface="Calibri" panose="020F0502020204030204" pitchFamily="34" charset="0"/>
                <a:cs typeface="Calibri" panose="020F0502020204030204" pitchFamily="34" charset="0"/>
              </a:rPr>
              <a:t>Faster time to market: </a:t>
            </a:r>
            <a:r>
              <a:rPr lang="en-AU" dirty="0">
                <a:latin typeface="Calibri" panose="020F0502020204030204" pitchFamily="34" charset="0"/>
                <a:cs typeface="Calibri" panose="020F0502020204030204" pitchFamily="34" charset="0"/>
              </a:rPr>
              <a:t>PaaS enables development teams to spin-up development, testing and production environments in minutes, vs. weeks or months.</a:t>
            </a:r>
          </a:p>
          <a:p>
            <a:pPr algn="just">
              <a:lnSpc>
                <a:spcPct val="150000"/>
              </a:lnSpc>
            </a:pPr>
            <a:r>
              <a:rPr lang="en-AU" dirty="0">
                <a:solidFill>
                  <a:srgbClr val="FF0000"/>
                </a:solidFill>
                <a:latin typeface="Calibri" panose="020F0502020204030204" pitchFamily="34" charset="0"/>
                <a:cs typeface="Calibri" panose="020F0502020204030204" pitchFamily="34" charset="0"/>
              </a:rPr>
              <a:t>Low- to no-risk testing and adoption of new technologies: </a:t>
            </a:r>
            <a:r>
              <a:rPr lang="en-AU" dirty="0">
                <a:latin typeface="Calibri" panose="020F0502020204030204" pitchFamily="34" charset="0"/>
                <a:cs typeface="Calibri" panose="020F0502020204030204" pitchFamily="34" charset="0"/>
              </a:rPr>
              <a:t>PaaS platforms typically include access to a wide range of the latest resources up and down the application stack. This allows companies to test new operating systems, languages, and other tools without having to make substantial investments in them, or in the infrastructure required to run them.</a:t>
            </a:r>
          </a:p>
        </p:txBody>
      </p:sp>
      <p:sp>
        <p:nvSpPr>
          <p:cNvPr id="4" name="Rectangle 3">
            <a:extLst>
              <a:ext uri="{FF2B5EF4-FFF2-40B4-BE49-F238E27FC236}">
                <a16:creationId xmlns:a16="http://schemas.microsoft.com/office/drawing/2014/main" id="{EF3A838A-1A1B-4317-BC94-86B536470361}"/>
              </a:ext>
            </a:extLst>
          </p:cNvPr>
          <p:cNvSpPr/>
          <p:nvPr/>
        </p:nvSpPr>
        <p:spPr>
          <a:xfrm>
            <a:off x="9168268" y="6514540"/>
            <a:ext cx="2691763" cy="215444"/>
          </a:xfrm>
          <a:prstGeom prst="rect">
            <a:avLst/>
          </a:prstGeom>
        </p:spPr>
        <p:txBody>
          <a:bodyPr wrap="none">
            <a:spAutoFit/>
          </a:bodyPr>
          <a:lstStyle/>
          <a:p>
            <a:r>
              <a:rPr lang="en-AU" sz="800" dirty="0"/>
              <a:t>https://www.ibm.com/cloud/learn/iaas-paas-saas</a:t>
            </a:r>
          </a:p>
        </p:txBody>
      </p:sp>
    </p:spTree>
    <p:extLst>
      <p:ext uri="{BB962C8B-B14F-4D97-AF65-F5344CB8AC3E}">
        <p14:creationId xmlns:p14="http://schemas.microsoft.com/office/powerpoint/2010/main" val="38239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41DA-C98D-4AD8-A4C8-2488A21820CC}"/>
              </a:ext>
            </a:extLst>
          </p:cNvPr>
          <p:cNvSpPr>
            <a:spLocks noGrp="1"/>
          </p:cNvSpPr>
          <p:nvPr>
            <p:ph type="title"/>
          </p:nvPr>
        </p:nvSpPr>
        <p:spPr/>
        <p:txBody>
          <a:bodyPr/>
          <a:lstStyle/>
          <a:p>
            <a:r>
              <a:rPr lang="en-AU" dirty="0"/>
              <a:t>Benefits of SaaS</a:t>
            </a:r>
          </a:p>
        </p:txBody>
      </p:sp>
      <p:sp>
        <p:nvSpPr>
          <p:cNvPr id="3" name="Content Placeholder 2">
            <a:extLst>
              <a:ext uri="{FF2B5EF4-FFF2-40B4-BE49-F238E27FC236}">
                <a16:creationId xmlns:a16="http://schemas.microsoft.com/office/drawing/2014/main" id="{63B99BED-2AFE-46B7-95D9-DBB411E9DDB1}"/>
              </a:ext>
            </a:extLst>
          </p:cNvPr>
          <p:cNvSpPr>
            <a:spLocks noGrp="1"/>
          </p:cNvSpPr>
          <p:nvPr>
            <p:ph idx="1"/>
          </p:nvPr>
        </p:nvSpPr>
        <p:spPr>
          <a:xfrm>
            <a:off x="594360" y="2386584"/>
            <a:ext cx="11091672" cy="3633216"/>
          </a:xfrm>
        </p:spPr>
        <p:txBody>
          <a:bodyPr/>
          <a:lstStyle/>
          <a:p>
            <a:pPr algn="just">
              <a:lnSpc>
                <a:spcPct val="150000"/>
              </a:lnSpc>
            </a:pPr>
            <a:r>
              <a:rPr lang="en-AU" dirty="0">
                <a:solidFill>
                  <a:srgbClr val="FF0000"/>
                </a:solidFill>
                <a:latin typeface="Calibri" panose="020F0502020204030204" pitchFamily="34" charset="0"/>
                <a:cs typeface="Calibri" panose="020F0502020204030204" pitchFamily="34" charset="0"/>
              </a:rPr>
              <a:t>Simplified collaboration: </a:t>
            </a:r>
            <a:r>
              <a:rPr lang="en-AU" dirty="0">
                <a:latin typeface="Calibri" panose="020F0502020204030204" pitchFamily="34" charset="0"/>
                <a:cs typeface="Calibri" panose="020F0502020204030204" pitchFamily="34" charset="0"/>
              </a:rPr>
              <a:t>As a cloud-based service, PaaS provides a shared software development environment, giving development and operations teams access to all the tools they need, from anywhere with an Internet connection.</a:t>
            </a:r>
          </a:p>
          <a:p>
            <a:pPr algn="just">
              <a:lnSpc>
                <a:spcPct val="150000"/>
              </a:lnSpc>
            </a:pPr>
            <a:r>
              <a:rPr lang="en-AU" dirty="0">
                <a:solidFill>
                  <a:srgbClr val="FF0000"/>
                </a:solidFill>
                <a:latin typeface="Calibri" panose="020F0502020204030204" pitchFamily="34" charset="0"/>
                <a:cs typeface="Calibri" panose="020F0502020204030204" pitchFamily="34" charset="0"/>
              </a:rPr>
              <a:t>A more scalable approach: </a:t>
            </a:r>
            <a:r>
              <a:rPr lang="en-AU" dirty="0">
                <a:latin typeface="Calibri" panose="020F0502020204030204" pitchFamily="34" charset="0"/>
                <a:cs typeface="Calibri" panose="020F0502020204030204" pitchFamily="34" charset="0"/>
              </a:rPr>
              <a:t>With PaaS, organizations can purchase additional capacity for building, testing, staging and running applications whenever they need it.</a:t>
            </a:r>
          </a:p>
          <a:p>
            <a:pPr algn="just">
              <a:lnSpc>
                <a:spcPct val="150000"/>
              </a:lnSpc>
            </a:pPr>
            <a:r>
              <a:rPr lang="en-AU" dirty="0">
                <a:solidFill>
                  <a:srgbClr val="FF0000"/>
                </a:solidFill>
                <a:latin typeface="Calibri" panose="020F0502020204030204" pitchFamily="34" charset="0"/>
                <a:cs typeface="Calibri" panose="020F0502020204030204" pitchFamily="34" charset="0"/>
              </a:rPr>
              <a:t>Less to manage: </a:t>
            </a:r>
            <a:r>
              <a:rPr lang="en-AU" dirty="0">
                <a:latin typeface="Calibri" panose="020F0502020204030204" pitchFamily="34" charset="0"/>
                <a:cs typeface="Calibri" panose="020F0502020204030204" pitchFamily="34" charset="0"/>
              </a:rPr>
              <a:t>PaaS  offloads infrastructure management, patches, updates and other administrative tasks to the cloud service provider. </a:t>
            </a:r>
          </a:p>
        </p:txBody>
      </p:sp>
      <p:sp>
        <p:nvSpPr>
          <p:cNvPr id="4" name="Rectangle 3">
            <a:extLst>
              <a:ext uri="{FF2B5EF4-FFF2-40B4-BE49-F238E27FC236}">
                <a16:creationId xmlns:a16="http://schemas.microsoft.com/office/drawing/2014/main" id="{EF3A838A-1A1B-4317-BC94-86B536470361}"/>
              </a:ext>
            </a:extLst>
          </p:cNvPr>
          <p:cNvSpPr/>
          <p:nvPr/>
        </p:nvSpPr>
        <p:spPr>
          <a:xfrm>
            <a:off x="9168268" y="6514540"/>
            <a:ext cx="2691763" cy="215444"/>
          </a:xfrm>
          <a:prstGeom prst="rect">
            <a:avLst/>
          </a:prstGeom>
        </p:spPr>
        <p:txBody>
          <a:bodyPr wrap="none">
            <a:spAutoFit/>
          </a:bodyPr>
          <a:lstStyle/>
          <a:p>
            <a:r>
              <a:rPr lang="en-AU" sz="800" dirty="0"/>
              <a:t>https://www.ibm.com/cloud/learn/iaas-paas-saas</a:t>
            </a:r>
          </a:p>
        </p:txBody>
      </p:sp>
    </p:spTree>
    <p:extLst>
      <p:ext uri="{BB962C8B-B14F-4D97-AF65-F5344CB8AC3E}">
        <p14:creationId xmlns:p14="http://schemas.microsoft.com/office/powerpoint/2010/main" val="1705563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81E0-8720-45B0-8945-B25345D222DD}"/>
              </a:ext>
            </a:extLst>
          </p:cNvPr>
          <p:cNvSpPr>
            <a:spLocks noGrp="1"/>
          </p:cNvSpPr>
          <p:nvPr>
            <p:ph type="title"/>
          </p:nvPr>
        </p:nvSpPr>
        <p:spPr/>
        <p:txBody>
          <a:bodyPr/>
          <a:lstStyle/>
          <a:p>
            <a:r>
              <a:rPr lang="en-AU" dirty="0"/>
              <a:t>Service Models:</a:t>
            </a:r>
          </a:p>
        </p:txBody>
      </p:sp>
      <p:pic>
        <p:nvPicPr>
          <p:cNvPr id="4" name="Content Placeholder 3">
            <a:extLst>
              <a:ext uri="{FF2B5EF4-FFF2-40B4-BE49-F238E27FC236}">
                <a16:creationId xmlns:a16="http://schemas.microsoft.com/office/drawing/2014/main" id="{2BFF92ED-2B34-41C2-BC47-8F68983BC59C}"/>
              </a:ext>
            </a:extLst>
          </p:cNvPr>
          <p:cNvPicPr>
            <a:picLocks noGrp="1" noChangeAspect="1"/>
          </p:cNvPicPr>
          <p:nvPr>
            <p:ph idx="1"/>
          </p:nvPr>
        </p:nvPicPr>
        <p:blipFill>
          <a:blip r:embed="rId2"/>
          <a:stretch>
            <a:fillRect/>
          </a:stretch>
        </p:blipFill>
        <p:spPr>
          <a:xfrm>
            <a:off x="915194" y="3149600"/>
            <a:ext cx="10553700" cy="2105025"/>
          </a:xfrm>
          <a:prstGeom prst="rect">
            <a:avLst/>
          </a:prstGeom>
        </p:spPr>
      </p:pic>
    </p:spTree>
    <p:extLst>
      <p:ext uri="{BB962C8B-B14F-4D97-AF65-F5344CB8AC3E}">
        <p14:creationId xmlns:p14="http://schemas.microsoft.com/office/powerpoint/2010/main" val="2842599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F60B3-CBD3-4C81-8456-6D0CD28FCF10}"/>
              </a:ext>
            </a:extLst>
          </p:cNvPr>
          <p:cNvSpPr>
            <a:spLocks noGrp="1"/>
          </p:cNvSpPr>
          <p:nvPr>
            <p:ph type="title"/>
          </p:nvPr>
        </p:nvSpPr>
        <p:spPr/>
        <p:txBody>
          <a:bodyPr/>
          <a:lstStyle/>
          <a:p>
            <a:r>
              <a:rPr lang="en-AU" dirty="0"/>
              <a:t>Infrastructure as a Service | IaaS</a:t>
            </a:r>
          </a:p>
        </p:txBody>
      </p:sp>
      <p:sp>
        <p:nvSpPr>
          <p:cNvPr id="3" name="Content Placeholder 2">
            <a:extLst>
              <a:ext uri="{FF2B5EF4-FFF2-40B4-BE49-F238E27FC236}">
                <a16:creationId xmlns:a16="http://schemas.microsoft.com/office/drawing/2014/main" id="{F211993F-A7BB-472C-BB73-2D8C3AD00E47}"/>
              </a:ext>
            </a:extLst>
          </p:cNvPr>
          <p:cNvSpPr>
            <a:spLocks noGrp="1"/>
          </p:cNvSpPr>
          <p:nvPr>
            <p:ph idx="1"/>
          </p:nvPr>
        </p:nvSpPr>
        <p:spPr>
          <a:xfrm>
            <a:off x="1154954" y="2603500"/>
            <a:ext cx="10506003" cy="3416300"/>
          </a:xfrm>
        </p:spPr>
        <p:txBody>
          <a:bodyPr/>
          <a:lstStyle/>
          <a:p>
            <a:pPr algn="just"/>
            <a:r>
              <a:rPr lang="en-AU" dirty="0"/>
              <a:t>It allows customers to outsource their IT infrastructures such as servers, networking, processing, storage, virtual machines, and other resources. Customers access these resources on the Internet using a pay-as-per use model.</a:t>
            </a:r>
          </a:p>
        </p:txBody>
      </p:sp>
      <p:pic>
        <p:nvPicPr>
          <p:cNvPr id="7170" name="Picture 2" descr="Infrastructure as a Service">
            <a:extLst>
              <a:ext uri="{FF2B5EF4-FFF2-40B4-BE49-F238E27FC236}">
                <a16:creationId xmlns:a16="http://schemas.microsoft.com/office/drawing/2014/main" id="{8657104E-BE3C-4A0D-9194-5446BB41BA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7662" y="3543864"/>
            <a:ext cx="5781184" cy="300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765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DF26E-9B45-4405-9BEE-6665DC3E0A09}"/>
              </a:ext>
            </a:extLst>
          </p:cNvPr>
          <p:cNvSpPr>
            <a:spLocks noGrp="1"/>
          </p:cNvSpPr>
          <p:nvPr>
            <p:ph type="title"/>
          </p:nvPr>
        </p:nvSpPr>
        <p:spPr/>
        <p:txBody>
          <a:bodyPr/>
          <a:lstStyle/>
          <a:p>
            <a:r>
              <a:rPr lang="en-AU" dirty="0" err="1"/>
              <a:t>Iaas</a:t>
            </a:r>
            <a:r>
              <a:rPr lang="en-AU" dirty="0"/>
              <a:t> Providers</a:t>
            </a:r>
          </a:p>
        </p:txBody>
      </p:sp>
      <p:pic>
        <p:nvPicPr>
          <p:cNvPr id="8194" name="Picture 2" descr="Infrastructure as a Service">
            <a:extLst>
              <a:ext uri="{FF2B5EF4-FFF2-40B4-BE49-F238E27FC236}">
                <a16:creationId xmlns:a16="http://schemas.microsoft.com/office/drawing/2014/main" id="{47996ABC-4E4C-4982-9F2D-EC40982667A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12472" y="2232647"/>
            <a:ext cx="7767056" cy="239270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A5EC5ACC-8E07-44D5-9F7C-FE2C6973B686}"/>
              </a:ext>
            </a:extLst>
          </p:cNvPr>
          <p:cNvGraphicFramePr>
            <a:graphicFrameLocks noGrp="1"/>
          </p:cNvGraphicFramePr>
          <p:nvPr>
            <p:extLst>
              <p:ext uri="{D42A27DB-BD31-4B8C-83A1-F6EECF244321}">
                <p14:modId xmlns:p14="http://schemas.microsoft.com/office/powerpoint/2010/main" val="2871425491"/>
              </p:ext>
            </p:extLst>
          </p:nvPr>
        </p:nvGraphicFramePr>
        <p:xfrm>
          <a:off x="1094161" y="4791321"/>
          <a:ext cx="10341204" cy="1559603"/>
        </p:xfrm>
        <a:graphic>
          <a:graphicData uri="http://schemas.openxmlformats.org/drawingml/2006/table">
            <a:tbl>
              <a:tblPr>
                <a:tableStyleId>{284E427A-3D55-4303-BF80-6455036E1DE7}</a:tableStyleId>
              </a:tblPr>
              <a:tblGrid>
                <a:gridCol w="2375554">
                  <a:extLst>
                    <a:ext uri="{9D8B030D-6E8A-4147-A177-3AD203B41FA5}">
                      <a16:colId xmlns:a16="http://schemas.microsoft.com/office/drawing/2014/main" val="2121620537"/>
                    </a:ext>
                  </a:extLst>
                </a:gridCol>
                <a:gridCol w="3695307">
                  <a:extLst>
                    <a:ext uri="{9D8B030D-6E8A-4147-A177-3AD203B41FA5}">
                      <a16:colId xmlns:a16="http://schemas.microsoft.com/office/drawing/2014/main" val="635018047"/>
                    </a:ext>
                  </a:extLst>
                </a:gridCol>
                <a:gridCol w="4270343">
                  <a:extLst>
                    <a:ext uri="{9D8B030D-6E8A-4147-A177-3AD203B41FA5}">
                      <a16:colId xmlns:a16="http://schemas.microsoft.com/office/drawing/2014/main" val="4178815621"/>
                    </a:ext>
                  </a:extLst>
                </a:gridCol>
              </a:tblGrid>
              <a:tr h="298322">
                <a:tc>
                  <a:txBody>
                    <a:bodyPr/>
                    <a:lstStyle/>
                    <a:p>
                      <a:pPr algn="l" fontAlgn="t"/>
                      <a:r>
                        <a:rPr lang="en-AU" sz="1500" b="1" dirty="0">
                          <a:effectLst/>
                        </a:rPr>
                        <a:t>IaaS Vendor</a:t>
                      </a:r>
                      <a:endParaRPr lang="en-AU" sz="1500" b="1" dirty="0">
                        <a:solidFill>
                          <a:srgbClr val="000000"/>
                        </a:solidFill>
                        <a:effectLst/>
                        <a:latin typeface="times new roman" panose="02020603050405020304" pitchFamily="18" charset="0"/>
                      </a:endParaRPr>
                    </a:p>
                  </a:txBody>
                  <a:tcPr marL="63579" marR="63579" marT="63579" marB="63579"/>
                </a:tc>
                <a:tc>
                  <a:txBody>
                    <a:bodyPr/>
                    <a:lstStyle/>
                    <a:p>
                      <a:pPr algn="l" fontAlgn="t"/>
                      <a:r>
                        <a:rPr lang="en-AU" sz="1500" b="1">
                          <a:effectLst/>
                        </a:rPr>
                        <a:t>Iaas Solution</a:t>
                      </a:r>
                      <a:endParaRPr lang="en-AU" sz="1500" b="1">
                        <a:solidFill>
                          <a:srgbClr val="000000"/>
                        </a:solidFill>
                        <a:effectLst/>
                        <a:latin typeface="times new roman" panose="02020603050405020304" pitchFamily="18" charset="0"/>
                      </a:endParaRPr>
                    </a:p>
                  </a:txBody>
                  <a:tcPr marL="63579" marR="63579" marT="63579" marB="63579"/>
                </a:tc>
                <a:tc>
                  <a:txBody>
                    <a:bodyPr/>
                    <a:lstStyle/>
                    <a:p>
                      <a:pPr algn="l" fontAlgn="t"/>
                      <a:r>
                        <a:rPr lang="en-AU" sz="1500" b="1" dirty="0">
                          <a:effectLst/>
                        </a:rPr>
                        <a:t>Details</a:t>
                      </a:r>
                      <a:endParaRPr lang="en-AU" sz="1500" b="1" dirty="0">
                        <a:solidFill>
                          <a:srgbClr val="000000"/>
                        </a:solidFill>
                        <a:effectLst/>
                        <a:latin typeface="times new roman" panose="02020603050405020304" pitchFamily="18" charset="0"/>
                      </a:endParaRPr>
                    </a:p>
                  </a:txBody>
                  <a:tcPr marL="63579" marR="63579" marT="63579" marB="63579"/>
                </a:tc>
                <a:extLst>
                  <a:ext uri="{0D108BD9-81ED-4DB2-BD59-A6C34878D82A}">
                    <a16:rowId xmlns:a16="http://schemas.microsoft.com/office/drawing/2014/main" val="4006152193"/>
                  </a:ext>
                </a:extLst>
              </a:tr>
              <a:tr h="1203845">
                <a:tc>
                  <a:txBody>
                    <a:bodyPr/>
                    <a:lstStyle/>
                    <a:p>
                      <a:pPr algn="just" fontAlgn="t"/>
                      <a:r>
                        <a:rPr lang="en-AU" sz="1500">
                          <a:effectLst/>
                        </a:rPr>
                        <a:t>Amazon Web Services</a:t>
                      </a:r>
                      <a:endParaRPr lang="en-AU" sz="1500">
                        <a:solidFill>
                          <a:srgbClr val="333333"/>
                        </a:solidFill>
                        <a:effectLst/>
                        <a:latin typeface="inter-regular"/>
                      </a:endParaRPr>
                    </a:p>
                  </a:txBody>
                  <a:tcPr marL="42386" marR="42386" marT="42386" marB="42386"/>
                </a:tc>
                <a:tc>
                  <a:txBody>
                    <a:bodyPr/>
                    <a:lstStyle/>
                    <a:p>
                      <a:pPr algn="just" fontAlgn="t"/>
                      <a:r>
                        <a:rPr lang="en-AU" sz="1500">
                          <a:effectLst/>
                        </a:rPr>
                        <a:t>Elastic, Elastic Compute Cloud (EC2) MapReduce, Route 53, Virtual Private Cloud, etc.</a:t>
                      </a:r>
                      <a:endParaRPr lang="en-AU" sz="1500">
                        <a:solidFill>
                          <a:srgbClr val="333333"/>
                        </a:solidFill>
                        <a:effectLst/>
                        <a:latin typeface="inter-regular"/>
                      </a:endParaRPr>
                    </a:p>
                  </a:txBody>
                  <a:tcPr marL="42386" marR="42386" marT="42386" marB="42386"/>
                </a:tc>
                <a:tc>
                  <a:txBody>
                    <a:bodyPr/>
                    <a:lstStyle/>
                    <a:p>
                      <a:pPr algn="just" fontAlgn="t"/>
                      <a:r>
                        <a:rPr lang="en-AU" sz="1500" dirty="0">
                          <a:effectLst/>
                        </a:rPr>
                        <a:t>The cloud computing platform pioneer, Amazon offers auto scaling, cloud monitoring, and load balancing features as part of its portfolio.</a:t>
                      </a:r>
                      <a:endParaRPr lang="en-AU" sz="1500" dirty="0">
                        <a:solidFill>
                          <a:srgbClr val="333333"/>
                        </a:solidFill>
                        <a:effectLst/>
                        <a:latin typeface="inter-regular"/>
                      </a:endParaRPr>
                    </a:p>
                  </a:txBody>
                  <a:tcPr marL="42386" marR="42386" marT="42386" marB="42386"/>
                </a:tc>
                <a:extLst>
                  <a:ext uri="{0D108BD9-81ED-4DB2-BD59-A6C34878D82A}">
                    <a16:rowId xmlns:a16="http://schemas.microsoft.com/office/drawing/2014/main" val="1912603999"/>
                  </a:ext>
                </a:extLst>
              </a:tr>
            </a:tbl>
          </a:graphicData>
        </a:graphic>
      </p:graphicFrame>
    </p:spTree>
    <p:extLst>
      <p:ext uri="{BB962C8B-B14F-4D97-AF65-F5344CB8AC3E}">
        <p14:creationId xmlns:p14="http://schemas.microsoft.com/office/powerpoint/2010/main" val="17753561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41DA-C98D-4AD8-A4C8-2488A21820CC}"/>
              </a:ext>
            </a:extLst>
          </p:cNvPr>
          <p:cNvSpPr>
            <a:spLocks noGrp="1"/>
          </p:cNvSpPr>
          <p:nvPr>
            <p:ph type="title"/>
          </p:nvPr>
        </p:nvSpPr>
        <p:spPr/>
        <p:txBody>
          <a:bodyPr/>
          <a:lstStyle/>
          <a:p>
            <a:r>
              <a:rPr lang="en-AU" dirty="0"/>
              <a:t>Benefits of IaaS</a:t>
            </a:r>
          </a:p>
        </p:txBody>
      </p:sp>
      <p:sp>
        <p:nvSpPr>
          <p:cNvPr id="3" name="Content Placeholder 2">
            <a:extLst>
              <a:ext uri="{FF2B5EF4-FFF2-40B4-BE49-F238E27FC236}">
                <a16:creationId xmlns:a16="http://schemas.microsoft.com/office/drawing/2014/main" id="{63B99BED-2AFE-46B7-95D9-DBB411E9DDB1}"/>
              </a:ext>
            </a:extLst>
          </p:cNvPr>
          <p:cNvSpPr>
            <a:spLocks noGrp="1"/>
          </p:cNvSpPr>
          <p:nvPr>
            <p:ph idx="1"/>
          </p:nvPr>
        </p:nvSpPr>
        <p:spPr>
          <a:xfrm>
            <a:off x="594360" y="2386584"/>
            <a:ext cx="11091672" cy="3633216"/>
          </a:xfrm>
        </p:spPr>
        <p:txBody>
          <a:bodyPr/>
          <a:lstStyle/>
          <a:p>
            <a:pPr algn="just">
              <a:lnSpc>
                <a:spcPct val="150000"/>
              </a:lnSpc>
            </a:pPr>
            <a:r>
              <a:rPr lang="en-AU" dirty="0">
                <a:latin typeface="Calibri" panose="020F0502020204030204" pitchFamily="34" charset="0"/>
                <a:cs typeface="Calibri" panose="020F0502020204030204" pitchFamily="34" charset="0"/>
              </a:rPr>
              <a:t>Compared to traditional IT, IaaS gives customers more flexibility build out computing resources as needed, and to scale them up or down in response to spikes or slow-downs in traffic. </a:t>
            </a:r>
          </a:p>
          <a:p>
            <a:pPr algn="just">
              <a:lnSpc>
                <a:spcPct val="150000"/>
              </a:lnSpc>
            </a:pPr>
            <a:r>
              <a:rPr lang="en-AU" dirty="0">
                <a:latin typeface="Calibri" panose="020F0502020204030204" pitchFamily="34" charset="0"/>
                <a:cs typeface="Calibri" panose="020F0502020204030204" pitchFamily="34" charset="0"/>
              </a:rPr>
              <a:t>IaaS lets customers avoid the up-front expense and overhead of purchasing and maintaining its own on-premises data </a:t>
            </a:r>
            <a:r>
              <a:rPr lang="en-AU" dirty="0" err="1">
                <a:latin typeface="Calibri" panose="020F0502020204030204" pitchFamily="34" charset="0"/>
                <a:cs typeface="Calibri" panose="020F0502020204030204" pitchFamily="34" charset="0"/>
              </a:rPr>
              <a:t>center</a:t>
            </a:r>
            <a:r>
              <a:rPr lang="en-AU" dirty="0">
                <a:latin typeface="Calibri" panose="020F0502020204030204" pitchFamily="34" charset="0"/>
                <a:cs typeface="Calibri" panose="020F0502020204030204" pitchFamily="34" charset="0"/>
              </a:rPr>
              <a:t>.</a:t>
            </a:r>
          </a:p>
          <a:p>
            <a:pPr algn="just">
              <a:lnSpc>
                <a:spcPct val="150000"/>
              </a:lnSpc>
            </a:pPr>
            <a:r>
              <a:rPr lang="en-AU" dirty="0">
                <a:latin typeface="Calibri" panose="020F0502020204030204" pitchFamily="34" charset="0"/>
                <a:cs typeface="Calibri" panose="020F0502020204030204" pitchFamily="34" charset="0"/>
              </a:rPr>
              <a:t> It also eliminates the constant trade-off between the waste of purchasing excess on-premises capacity to accommodate spikes, versus the poor performance or outages that can result from not having enough capacity for unanticipated traffic bursts or growth.</a:t>
            </a:r>
          </a:p>
        </p:txBody>
      </p:sp>
      <p:sp>
        <p:nvSpPr>
          <p:cNvPr id="4" name="Rectangle 3">
            <a:extLst>
              <a:ext uri="{FF2B5EF4-FFF2-40B4-BE49-F238E27FC236}">
                <a16:creationId xmlns:a16="http://schemas.microsoft.com/office/drawing/2014/main" id="{EF3A838A-1A1B-4317-BC94-86B536470361}"/>
              </a:ext>
            </a:extLst>
          </p:cNvPr>
          <p:cNvSpPr/>
          <p:nvPr/>
        </p:nvSpPr>
        <p:spPr>
          <a:xfrm>
            <a:off x="9168268" y="6514540"/>
            <a:ext cx="2691763" cy="215444"/>
          </a:xfrm>
          <a:prstGeom prst="rect">
            <a:avLst/>
          </a:prstGeom>
        </p:spPr>
        <p:txBody>
          <a:bodyPr wrap="none">
            <a:spAutoFit/>
          </a:bodyPr>
          <a:lstStyle/>
          <a:p>
            <a:r>
              <a:rPr lang="en-AU" sz="800" dirty="0"/>
              <a:t>https://www.ibm.com/cloud/learn/iaas-paas-saas</a:t>
            </a:r>
          </a:p>
        </p:txBody>
      </p:sp>
    </p:spTree>
    <p:extLst>
      <p:ext uri="{BB962C8B-B14F-4D97-AF65-F5344CB8AC3E}">
        <p14:creationId xmlns:p14="http://schemas.microsoft.com/office/powerpoint/2010/main" val="3735823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41DA-C98D-4AD8-A4C8-2488A21820CC}"/>
              </a:ext>
            </a:extLst>
          </p:cNvPr>
          <p:cNvSpPr>
            <a:spLocks noGrp="1"/>
          </p:cNvSpPr>
          <p:nvPr>
            <p:ph type="title"/>
          </p:nvPr>
        </p:nvSpPr>
        <p:spPr/>
        <p:txBody>
          <a:bodyPr/>
          <a:lstStyle/>
          <a:p>
            <a:r>
              <a:rPr lang="en-AU" dirty="0"/>
              <a:t>Benefits of IaaS</a:t>
            </a:r>
          </a:p>
        </p:txBody>
      </p:sp>
      <p:sp>
        <p:nvSpPr>
          <p:cNvPr id="3" name="Content Placeholder 2">
            <a:extLst>
              <a:ext uri="{FF2B5EF4-FFF2-40B4-BE49-F238E27FC236}">
                <a16:creationId xmlns:a16="http://schemas.microsoft.com/office/drawing/2014/main" id="{63B99BED-2AFE-46B7-95D9-DBB411E9DDB1}"/>
              </a:ext>
            </a:extLst>
          </p:cNvPr>
          <p:cNvSpPr>
            <a:spLocks noGrp="1"/>
          </p:cNvSpPr>
          <p:nvPr>
            <p:ph idx="1"/>
          </p:nvPr>
        </p:nvSpPr>
        <p:spPr>
          <a:xfrm>
            <a:off x="594360" y="2386584"/>
            <a:ext cx="11091672" cy="3633216"/>
          </a:xfrm>
        </p:spPr>
        <p:txBody>
          <a:bodyPr/>
          <a:lstStyle/>
          <a:p>
            <a:pPr algn="just">
              <a:lnSpc>
                <a:spcPct val="150000"/>
              </a:lnSpc>
            </a:pPr>
            <a:r>
              <a:rPr lang="en-AU" dirty="0">
                <a:solidFill>
                  <a:srgbClr val="FF0000"/>
                </a:solidFill>
                <a:latin typeface="Calibri" panose="020F0502020204030204" pitchFamily="34" charset="0"/>
                <a:cs typeface="Calibri" panose="020F0502020204030204" pitchFamily="34" charset="0"/>
              </a:rPr>
              <a:t>Higher availability: </a:t>
            </a:r>
            <a:r>
              <a:rPr lang="en-AU" dirty="0">
                <a:latin typeface="Calibri" panose="020F0502020204030204" pitchFamily="34" charset="0"/>
                <a:cs typeface="Calibri" panose="020F0502020204030204" pitchFamily="34" charset="0"/>
              </a:rPr>
              <a:t>With IaaS a company can create redundant servers easily, and even create them in other geographies to ensure availability during local power outages or physical disasters.</a:t>
            </a:r>
          </a:p>
          <a:p>
            <a:pPr algn="just">
              <a:lnSpc>
                <a:spcPct val="150000"/>
              </a:lnSpc>
            </a:pPr>
            <a:r>
              <a:rPr lang="en-AU" dirty="0">
                <a:solidFill>
                  <a:srgbClr val="FF0000"/>
                </a:solidFill>
                <a:latin typeface="Calibri" panose="020F0502020204030204" pitchFamily="34" charset="0"/>
                <a:cs typeface="Calibri" panose="020F0502020204030204" pitchFamily="34" charset="0"/>
              </a:rPr>
              <a:t>Lower latency, improved performance:</a:t>
            </a:r>
            <a:r>
              <a:rPr lang="en-AU" dirty="0">
                <a:latin typeface="Calibri" panose="020F0502020204030204" pitchFamily="34" charset="0"/>
                <a:cs typeface="Calibri" panose="020F0502020204030204" pitchFamily="34" charset="0"/>
              </a:rPr>
              <a:t> Because  IaaS providers typically operate data </a:t>
            </a:r>
            <a:r>
              <a:rPr lang="en-AU" dirty="0" err="1">
                <a:latin typeface="Calibri" panose="020F0502020204030204" pitchFamily="34" charset="0"/>
                <a:cs typeface="Calibri" panose="020F0502020204030204" pitchFamily="34" charset="0"/>
              </a:rPr>
              <a:t>centers</a:t>
            </a:r>
            <a:r>
              <a:rPr lang="en-AU" dirty="0">
                <a:latin typeface="Calibri" panose="020F0502020204030204" pitchFamily="34" charset="0"/>
                <a:cs typeface="Calibri" panose="020F0502020204030204" pitchFamily="34" charset="0"/>
              </a:rPr>
              <a:t> in multiple geographies, IaaS customers can locate apps and services closer to users to minimize latency and maximize performance.</a:t>
            </a:r>
          </a:p>
          <a:p>
            <a:pPr algn="just">
              <a:lnSpc>
                <a:spcPct val="150000"/>
              </a:lnSpc>
            </a:pPr>
            <a:r>
              <a:rPr lang="en-AU" dirty="0">
                <a:solidFill>
                  <a:srgbClr val="FF0000"/>
                </a:solidFill>
                <a:latin typeface="Calibri" panose="020F0502020204030204" pitchFamily="34" charset="0"/>
                <a:cs typeface="Calibri" panose="020F0502020204030204" pitchFamily="34" charset="0"/>
              </a:rPr>
              <a:t>Improved responsiveness. </a:t>
            </a:r>
            <a:r>
              <a:rPr lang="en-AU" dirty="0">
                <a:latin typeface="Calibri" panose="020F0502020204030204" pitchFamily="34" charset="0"/>
                <a:cs typeface="Calibri" panose="020F0502020204030204" pitchFamily="34" charset="0"/>
              </a:rPr>
              <a:t>Customers can provision resources in a matter of minutes, test new ideas quickly and quickly roll out new ideas to more users.</a:t>
            </a:r>
          </a:p>
        </p:txBody>
      </p:sp>
      <p:sp>
        <p:nvSpPr>
          <p:cNvPr id="4" name="Rectangle 3">
            <a:extLst>
              <a:ext uri="{FF2B5EF4-FFF2-40B4-BE49-F238E27FC236}">
                <a16:creationId xmlns:a16="http://schemas.microsoft.com/office/drawing/2014/main" id="{EF3A838A-1A1B-4317-BC94-86B536470361}"/>
              </a:ext>
            </a:extLst>
          </p:cNvPr>
          <p:cNvSpPr/>
          <p:nvPr/>
        </p:nvSpPr>
        <p:spPr>
          <a:xfrm>
            <a:off x="9168268" y="6514540"/>
            <a:ext cx="2691763" cy="215444"/>
          </a:xfrm>
          <a:prstGeom prst="rect">
            <a:avLst/>
          </a:prstGeom>
        </p:spPr>
        <p:txBody>
          <a:bodyPr wrap="none">
            <a:spAutoFit/>
          </a:bodyPr>
          <a:lstStyle/>
          <a:p>
            <a:r>
              <a:rPr lang="en-AU" sz="800" dirty="0"/>
              <a:t>https://www.ibm.com/cloud/learn/iaas-paas-saas</a:t>
            </a:r>
          </a:p>
        </p:txBody>
      </p:sp>
    </p:spTree>
    <p:extLst>
      <p:ext uri="{BB962C8B-B14F-4D97-AF65-F5344CB8AC3E}">
        <p14:creationId xmlns:p14="http://schemas.microsoft.com/office/powerpoint/2010/main" val="735696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41DA-C98D-4AD8-A4C8-2488A21820CC}"/>
              </a:ext>
            </a:extLst>
          </p:cNvPr>
          <p:cNvSpPr>
            <a:spLocks noGrp="1"/>
          </p:cNvSpPr>
          <p:nvPr>
            <p:ph type="title"/>
          </p:nvPr>
        </p:nvSpPr>
        <p:spPr/>
        <p:txBody>
          <a:bodyPr/>
          <a:lstStyle/>
          <a:p>
            <a:r>
              <a:rPr lang="en-AU" dirty="0"/>
              <a:t>Benefits of IaaS</a:t>
            </a:r>
          </a:p>
        </p:txBody>
      </p:sp>
      <p:sp>
        <p:nvSpPr>
          <p:cNvPr id="3" name="Content Placeholder 2">
            <a:extLst>
              <a:ext uri="{FF2B5EF4-FFF2-40B4-BE49-F238E27FC236}">
                <a16:creationId xmlns:a16="http://schemas.microsoft.com/office/drawing/2014/main" id="{63B99BED-2AFE-46B7-95D9-DBB411E9DDB1}"/>
              </a:ext>
            </a:extLst>
          </p:cNvPr>
          <p:cNvSpPr>
            <a:spLocks noGrp="1"/>
          </p:cNvSpPr>
          <p:nvPr>
            <p:ph idx="1"/>
          </p:nvPr>
        </p:nvSpPr>
        <p:spPr>
          <a:xfrm>
            <a:off x="594360" y="2386584"/>
            <a:ext cx="11091672" cy="3633216"/>
          </a:xfrm>
        </p:spPr>
        <p:txBody>
          <a:bodyPr/>
          <a:lstStyle/>
          <a:p>
            <a:pPr algn="just">
              <a:lnSpc>
                <a:spcPct val="150000"/>
              </a:lnSpc>
            </a:pPr>
            <a:r>
              <a:rPr lang="en-AU" dirty="0">
                <a:solidFill>
                  <a:srgbClr val="FF0000"/>
                </a:solidFill>
                <a:latin typeface="Calibri" panose="020F0502020204030204" pitchFamily="34" charset="0"/>
                <a:cs typeface="Calibri" panose="020F0502020204030204" pitchFamily="34" charset="0"/>
              </a:rPr>
              <a:t>Comprehensive security. </a:t>
            </a:r>
            <a:r>
              <a:rPr lang="en-AU" dirty="0">
                <a:latin typeface="Calibri" panose="020F0502020204030204" pitchFamily="34" charset="0"/>
                <a:cs typeface="Calibri" panose="020F0502020204030204" pitchFamily="34" charset="0"/>
              </a:rPr>
              <a:t>With a high-level of security on-site, at data </a:t>
            </a:r>
            <a:r>
              <a:rPr lang="en-AU" dirty="0" err="1">
                <a:latin typeface="Calibri" panose="020F0502020204030204" pitchFamily="34" charset="0"/>
                <a:cs typeface="Calibri" panose="020F0502020204030204" pitchFamily="34" charset="0"/>
              </a:rPr>
              <a:t>centers</a:t>
            </a:r>
            <a:r>
              <a:rPr lang="en-AU" dirty="0">
                <a:latin typeface="Calibri" panose="020F0502020204030204" pitchFamily="34" charset="0"/>
                <a:cs typeface="Calibri" panose="020F0502020204030204" pitchFamily="34" charset="0"/>
              </a:rPr>
              <a:t>, and via encryption, organizations can often take advantage of more advanced security and protection they could provide if they hosted the cloud infrastructure in-house.</a:t>
            </a:r>
          </a:p>
          <a:p>
            <a:pPr algn="just">
              <a:lnSpc>
                <a:spcPct val="150000"/>
              </a:lnSpc>
            </a:pPr>
            <a:r>
              <a:rPr lang="en-AU" dirty="0">
                <a:solidFill>
                  <a:srgbClr val="FF0000"/>
                </a:solidFill>
                <a:latin typeface="Calibri" panose="020F0502020204030204" pitchFamily="34" charset="0"/>
                <a:cs typeface="Calibri" panose="020F0502020204030204" pitchFamily="34" charset="0"/>
              </a:rPr>
              <a:t>Faster access to best-of-breed technology. </a:t>
            </a:r>
            <a:r>
              <a:rPr lang="en-AU" dirty="0">
                <a:latin typeface="Calibri" panose="020F0502020204030204" pitchFamily="34" charset="0"/>
                <a:cs typeface="Calibri" panose="020F0502020204030204" pitchFamily="34" charset="0"/>
              </a:rPr>
              <a:t>Cloud providers compete with each other by providing the latest technologies to their users, IaaS customers can take advantage of these technologies much earlier (and at far less cost) than they can implement them on premises.</a:t>
            </a:r>
          </a:p>
        </p:txBody>
      </p:sp>
      <p:sp>
        <p:nvSpPr>
          <p:cNvPr id="4" name="Rectangle 3">
            <a:extLst>
              <a:ext uri="{FF2B5EF4-FFF2-40B4-BE49-F238E27FC236}">
                <a16:creationId xmlns:a16="http://schemas.microsoft.com/office/drawing/2014/main" id="{EF3A838A-1A1B-4317-BC94-86B536470361}"/>
              </a:ext>
            </a:extLst>
          </p:cNvPr>
          <p:cNvSpPr/>
          <p:nvPr/>
        </p:nvSpPr>
        <p:spPr>
          <a:xfrm>
            <a:off x="9168268" y="6514540"/>
            <a:ext cx="2691763" cy="215444"/>
          </a:xfrm>
          <a:prstGeom prst="rect">
            <a:avLst/>
          </a:prstGeom>
        </p:spPr>
        <p:txBody>
          <a:bodyPr wrap="none">
            <a:spAutoFit/>
          </a:bodyPr>
          <a:lstStyle/>
          <a:p>
            <a:r>
              <a:rPr lang="en-AU" sz="800" dirty="0"/>
              <a:t>https://www.ibm.com/cloud/learn/iaas-paas-saas</a:t>
            </a:r>
          </a:p>
        </p:txBody>
      </p:sp>
    </p:spTree>
    <p:extLst>
      <p:ext uri="{BB962C8B-B14F-4D97-AF65-F5344CB8AC3E}">
        <p14:creationId xmlns:p14="http://schemas.microsoft.com/office/powerpoint/2010/main" val="3430358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8A74A-F7EF-4BB7-A975-9A6DB9DA813A}"/>
              </a:ext>
            </a:extLst>
          </p:cNvPr>
          <p:cNvSpPr>
            <a:spLocks noGrp="1"/>
          </p:cNvSpPr>
          <p:nvPr>
            <p:ph type="title"/>
          </p:nvPr>
        </p:nvSpPr>
        <p:spPr/>
        <p:txBody>
          <a:bodyPr/>
          <a:lstStyle/>
          <a:p>
            <a:r>
              <a:rPr lang="en-AU" dirty="0"/>
              <a:t>Deployment Models</a:t>
            </a:r>
          </a:p>
        </p:txBody>
      </p:sp>
      <p:pic>
        <p:nvPicPr>
          <p:cNvPr id="9218" name="Picture 2" descr="Types of Cloud">
            <a:extLst>
              <a:ext uri="{FF2B5EF4-FFF2-40B4-BE49-F238E27FC236}">
                <a16:creationId xmlns:a16="http://schemas.microsoft.com/office/drawing/2014/main" id="{27EFAA44-D80F-48F3-90A0-3132C8D440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65380" y="2500594"/>
            <a:ext cx="6115050" cy="30670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94AE955A-FECC-49EE-BB7B-EBAAAF6B2765}"/>
              </a:ext>
            </a:extLst>
          </p:cNvPr>
          <p:cNvSpPr/>
          <p:nvPr/>
        </p:nvSpPr>
        <p:spPr>
          <a:xfrm>
            <a:off x="9266140" y="6436517"/>
            <a:ext cx="2364750" cy="215444"/>
          </a:xfrm>
          <a:prstGeom prst="rect">
            <a:avLst/>
          </a:prstGeom>
        </p:spPr>
        <p:txBody>
          <a:bodyPr wrap="none">
            <a:spAutoFit/>
          </a:bodyPr>
          <a:lstStyle/>
          <a:p>
            <a:r>
              <a:rPr lang="en-AU" sz="800" dirty="0"/>
              <a:t>https://www.javatpoint.com/types-of-cloud</a:t>
            </a:r>
          </a:p>
        </p:txBody>
      </p:sp>
    </p:spTree>
    <p:extLst>
      <p:ext uri="{BB962C8B-B14F-4D97-AF65-F5344CB8AC3E}">
        <p14:creationId xmlns:p14="http://schemas.microsoft.com/office/powerpoint/2010/main" val="4031827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69FBC-196C-47BF-A248-58DB7504EE1A}"/>
              </a:ext>
            </a:extLst>
          </p:cNvPr>
          <p:cNvSpPr>
            <a:spLocks noGrp="1"/>
          </p:cNvSpPr>
          <p:nvPr>
            <p:ph type="title"/>
          </p:nvPr>
        </p:nvSpPr>
        <p:spPr/>
        <p:txBody>
          <a:bodyPr/>
          <a:lstStyle/>
          <a:p>
            <a:r>
              <a:rPr lang="en-AU" dirty="0"/>
              <a:t>Public Cloud</a:t>
            </a:r>
          </a:p>
        </p:txBody>
      </p:sp>
      <p:sp>
        <p:nvSpPr>
          <p:cNvPr id="3" name="Content Placeholder 2">
            <a:extLst>
              <a:ext uri="{FF2B5EF4-FFF2-40B4-BE49-F238E27FC236}">
                <a16:creationId xmlns:a16="http://schemas.microsoft.com/office/drawing/2014/main" id="{636F9D62-E200-4533-B0BD-CBD44552C81A}"/>
              </a:ext>
            </a:extLst>
          </p:cNvPr>
          <p:cNvSpPr>
            <a:spLocks noGrp="1"/>
          </p:cNvSpPr>
          <p:nvPr>
            <p:ph idx="1"/>
          </p:nvPr>
        </p:nvSpPr>
        <p:spPr>
          <a:xfrm>
            <a:off x="1154954" y="2551263"/>
            <a:ext cx="10571990" cy="3568831"/>
          </a:xfrm>
        </p:spPr>
        <p:txBody>
          <a:bodyPr/>
          <a:lstStyle/>
          <a:p>
            <a:r>
              <a:rPr lang="en-AU" dirty="0"/>
              <a:t>Public cloud is open to all to store and access information via the Internet using the pay-per-usage method.</a:t>
            </a:r>
          </a:p>
          <a:p>
            <a:r>
              <a:rPr lang="en-AU" dirty="0"/>
              <a:t>Example: Amazon elastic compute cloud (EC2), IBM </a:t>
            </a:r>
            <a:r>
              <a:rPr lang="en-AU" dirty="0" err="1"/>
              <a:t>SmartCloud</a:t>
            </a:r>
            <a:r>
              <a:rPr lang="en-AU" dirty="0"/>
              <a:t> Enterprise, Microsoft, Google App Engine, Windows Azure Services Platform.</a:t>
            </a:r>
          </a:p>
        </p:txBody>
      </p:sp>
      <p:pic>
        <p:nvPicPr>
          <p:cNvPr id="10242" name="Picture 2" descr="Public Cloud">
            <a:extLst>
              <a:ext uri="{FF2B5EF4-FFF2-40B4-BE49-F238E27FC236}">
                <a16:creationId xmlns:a16="http://schemas.microsoft.com/office/drawing/2014/main" id="{236B347A-9C90-4DCC-A205-F281BBC0F3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0855" y="3972581"/>
            <a:ext cx="5715000" cy="2283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2875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A1C70-D78E-4754-80F2-94F3EDEEFF4E}"/>
              </a:ext>
            </a:extLst>
          </p:cNvPr>
          <p:cNvSpPr>
            <a:spLocks noGrp="1"/>
          </p:cNvSpPr>
          <p:nvPr>
            <p:ph type="title"/>
          </p:nvPr>
        </p:nvSpPr>
        <p:spPr/>
        <p:txBody>
          <a:bodyPr/>
          <a:lstStyle/>
          <a:p>
            <a:r>
              <a:rPr lang="en-AU" dirty="0"/>
              <a:t>Private Cloud</a:t>
            </a:r>
          </a:p>
        </p:txBody>
      </p:sp>
      <p:sp>
        <p:nvSpPr>
          <p:cNvPr id="3" name="Content Placeholder 2">
            <a:extLst>
              <a:ext uri="{FF2B5EF4-FFF2-40B4-BE49-F238E27FC236}">
                <a16:creationId xmlns:a16="http://schemas.microsoft.com/office/drawing/2014/main" id="{033F8FF9-BB13-4992-90C7-D853E52A6CDD}"/>
              </a:ext>
            </a:extLst>
          </p:cNvPr>
          <p:cNvSpPr>
            <a:spLocks noGrp="1"/>
          </p:cNvSpPr>
          <p:nvPr>
            <p:ph idx="1"/>
          </p:nvPr>
        </p:nvSpPr>
        <p:spPr>
          <a:xfrm>
            <a:off x="1154954" y="2603500"/>
            <a:ext cx="10430588" cy="3416300"/>
          </a:xfrm>
        </p:spPr>
        <p:txBody>
          <a:bodyPr/>
          <a:lstStyle/>
          <a:p>
            <a:pPr algn="just"/>
            <a:r>
              <a:rPr lang="en-AU" dirty="0"/>
              <a:t>Private cloud is also known as an internal cloud or corporate cloud. It is used by organizations to build and manage their own data </a:t>
            </a:r>
            <a:r>
              <a:rPr lang="en-AU" dirty="0" err="1"/>
              <a:t>centers</a:t>
            </a:r>
            <a:r>
              <a:rPr lang="en-AU" dirty="0"/>
              <a:t> internally or by the third party</a:t>
            </a:r>
          </a:p>
          <a:p>
            <a:pPr algn="just"/>
            <a:endParaRPr lang="en-AU" dirty="0"/>
          </a:p>
        </p:txBody>
      </p:sp>
      <p:pic>
        <p:nvPicPr>
          <p:cNvPr id="11266" name="Picture 2" descr="Private Cloud">
            <a:extLst>
              <a:ext uri="{FF2B5EF4-FFF2-40B4-BE49-F238E27FC236}">
                <a16:creationId xmlns:a16="http://schemas.microsoft.com/office/drawing/2014/main" id="{18ABE90F-B135-4E79-BCF2-6EB23C025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3317078"/>
            <a:ext cx="4762500" cy="3074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513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E71B2-4AE9-4F22-A3F0-1992776A9987}"/>
              </a:ext>
            </a:extLst>
          </p:cNvPr>
          <p:cNvSpPr>
            <a:spLocks noGrp="1"/>
          </p:cNvSpPr>
          <p:nvPr>
            <p:ph type="title"/>
          </p:nvPr>
        </p:nvSpPr>
        <p:spPr/>
        <p:txBody>
          <a:bodyPr/>
          <a:lstStyle/>
          <a:p>
            <a:r>
              <a:rPr lang="en-AU" dirty="0"/>
              <a:t>Hybrid Cloud</a:t>
            </a:r>
          </a:p>
        </p:txBody>
      </p:sp>
      <p:sp>
        <p:nvSpPr>
          <p:cNvPr id="3" name="Content Placeholder 2">
            <a:extLst>
              <a:ext uri="{FF2B5EF4-FFF2-40B4-BE49-F238E27FC236}">
                <a16:creationId xmlns:a16="http://schemas.microsoft.com/office/drawing/2014/main" id="{652B81EB-C2BA-49BC-9A98-69339B429AEF}"/>
              </a:ext>
            </a:extLst>
          </p:cNvPr>
          <p:cNvSpPr>
            <a:spLocks noGrp="1"/>
          </p:cNvSpPr>
          <p:nvPr>
            <p:ph idx="1"/>
          </p:nvPr>
        </p:nvSpPr>
        <p:spPr>
          <a:xfrm>
            <a:off x="1154954" y="2603500"/>
            <a:ext cx="10204345" cy="3416300"/>
          </a:xfrm>
        </p:spPr>
        <p:txBody>
          <a:bodyPr/>
          <a:lstStyle/>
          <a:p>
            <a:r>
              <a:rPr lang="en-AU" dirty="0"/>
              <a:t>Hybrid Cloud = Public Cloud + Private Cloud</a:t>
            </a:r>
          </a:p>
          <a:p>
            <a:r>
              <a:rPr lang="en-AU" dirty="0"/>
              <a:t>Example: Google Application Suite (Gmail, Google Apps, and Google Drive), Office 365 (MS Office on the Web and One Drive), Amazon Web Services.</a:t>
            </a:r>
          </a:p>
        </p:txBody>
      </p:sp>
      <p:pic>
        <p:nvPicPr>
          <p:cNvPr id="12290" name="Picture 2" descr="Hybrid Cloud">
            <a:extLst>
              <a:ext uri="{FF2B5EF4-FFF2-40B4-BE49-F238E27FC236}">
                <a16:creationId xmlns:a16="http://schemas.microsoft.com/office/drawing/2014/main" id="{2BCE191E-707C-48D9-A627-D753ABF008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4239" y="3465540"/>
            <a:ext cx="4762500" cy="2740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179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81D13-1D95-4407-9DC6-8401FD19CCFB}"/>
              </a:ext>
            </a:extLst>
          </p:cNvPr>
          <p:cNvSpPr>
            <a:spLocks noGrp="1"/>
          </p:cNvSpPr>
          <p:nvPr>
            <p:ph type="title"/>
          </p:nvPr>
        </p:nvSpPr>
        <p:spPr/>
        <p:txBody>
          <a:bodyPr/>
          <a:lstStyle/>
          <a:p>
            <a:r>
              <a:rPr lang="en-AU" dirty="0"/>
              <a:t>Community Cloud</a:t>
            </a:r>
          </a:p>
        </p:txBody>
      </p:sp>
      <p:sp>
        <p:nvSpPr>
          <p:cNvPr id="3" name="Content Placeholder 2">
            <a:extLst>
              <a:ext uri="{FF2B5EF4-FFF2-40B4-BE49-F238E27FC236}">
                <a16:creationId xmlns:a16="http://schemas.microsoft.com/office/drawing/2014/main" id="{7ED8CC16-28A7-4A1E-9EF4-F78D57A310BA}"/>
              </a:ext>
            </a:extLst>
          </p:cNvPr>
          <p:cNvSpPr>
            <a:spLocks noGrp="1"/>
          </p:cNvSpPr>
          <p:nvPr>
            <p:ph idx="1"/>
          </p:nvPr>
        </p:nvSpPr>
        <p:spPr>
          <a:xfrm>
            <a:off x="1154954" y="2603500"/>
            <a:ext cx="10138357" cy="3416300"/>
          </a:xfrm>
        </p:spPr>
        <p:txBody>
          <a:bodyPr/>
          <a:lstStyle/>
          <a:p>
            <a:pPr algn="just"/>
            <a:r>
              <a:rPr lang="en-AU" dirty="0"/>
              <a:t>Community cloud allows systems and services to be accessible by a group of several organizations to share the information between the organization and a specific community.</a:t>
            </a:r>
          </a:p>
          <a:p>
            <a:pPr algn="just"/>
            <a:r>
              <a:rPr lang="en-AU" dirty="0"/>
              <a:t>It is owned, managed, and operated by one or more organizations in the community, a third party, or a combination of them. Example: Health Care community cloud</a:t>
            </a:r>
          </a:p>
        </p:txBody>
      </p:sp>
      <p:pic>
        <p:nvPicPr>
          <p:cNvPr id="13314" name="Picture 2" descr="Community Cloud">
            <a:extLst>
              <a:ext uri="{FF2B5EF4-FFF2-40B4-BE49-F238E27FC236}">
                <a16:creationId xmlns:a16="http://schemas.microsoft.com/office/drawing/2014/main" id="{247E370C-0547-4F6E-AE25-1F57549E0B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22" y="4413623"/>
            <a:ext cx="4762500" cy="2283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5686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08C4D-7A94-4239-97C9-FFCBC19CEF49}"/>
              </a:ext>
            </a:extLst>
          </p:cNvPr>
          <p:cNvSpPr>
            <a:spLocks noGrp="1"/>
          </p:cNvSpPr>
          <p:nvPr>
            <p:ph type="title"/>
          </p:nvPr>
        </p:nvSpPr>
        <p:spPr/>
        <p:txBody>
          <a:bodyPr/>
          <a:lstStyle/>
          <a:p>
            <a:r>
              <a:rPr lang="en-AU" dirty="0"/>
              <a:t>virtual private cloud (VPC)?</a:t>
            </a:r>
          </a:p>
        </p:txBody>
      </p:sp>
      <p:sp>
        <p:nvSpPr>
          <p:cNvPr id="3" name="Content Placeholder 2">
            <a:extLst>
              <a:ext uri="{FF2B5EF4-FFF2-40B4-BE49-F238E27FC236}">
                <a16:creationId xmlns:a16="http://schemas.microsoft.com/office/drawing/2014/main" id="{F092DC31-753D-49CF-9ED9-56B2B9CCCDA6}"/>
              </a:ext>
            </a:extLst>
          </p:cNvPr>
          <p:cNvSpPr>
            <a:spLocks noGrp="1"/>
          </p:cNvSpPr>
          <p:nvPr>
            <p:ph idx="1"/>
          </p:nvPr>
        </p:nvSpPr>
        <p:spPr>
          <a:xfrm>
            <a:off x="1154954" y="2603500"/>
            <a:ext cx="10553137" cy="3416300"/>
          </a:xfrm>
        </p:spPr>
        <p:txBody>
          <a:bodyPr/>
          <a:lstStyle/>
          <a:p>
            <a:pPr algn="just"/>
            <a:r>
              <a:rPr lang="en-AU" dirty="0">
                <a:latin typeface="Arial" panose="020B0604020202020204" pitchFamily="34" charset="0"/>
                <a:cs typeface="Arial" panose="020B0604020202020204" pitchFamily="34" charset="0"/>
              </a:rPr>
              <a:t>A virtual private cloud (VPC) is a secure, isolated private cloud hosted within a public cloud. VPC customers can run code, store data, host websites, and do anything else they could do in an ordinary private cloud, but the private cloud is hosted remotely by a public cloud provider</a:t>
            </a:r>
          </a:p>
        </p:txBody>
      </p:sp>
      <p:sp>
        <p:nvSpPr>
          <p:cNvPr id="5" name="AutoShape 2" descr="virtual private cloud">
            <a:extLst>
              <a:ext uri="{FF2B5EF4-FFF2-40B4-BE49-F238E27FC236}">
                <a16:creationId xmlns:a16="http://schemas.microsoft.com/office/drawing/2014/main" id="{37B76AF8-D21A-4070-BF3F-3A1184C8BD9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 name="AutoShape 4" descr="virtual private cloud">
            <a:extLst>
              <a:ext uri="{FF2B5EF4-FFF2-40B4-BE49-F238E27FC236}">
                <a16:creationId xmlns:a16="http://schemas.microsoft.com/office/drawing/2014/main" id="{BE1B1B68-5713-4BD4-9819-463AF7B0AB9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AutoShape 6" descr="virtual private cloud">
            <a:extLst>
              <a:ext uri="{FF2B5EF4-FFF2-40B4-BE49-F238E27FC236}">
                <a16:creationId xmlns:a16="http://schemas.microsoft.com/office/drawing/2014/main" id="{5219193C-BEF8-433D-A27F-F47E55056175}"/>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8" name="Picture 7">
            <a:extLst>
              <a:ext uri="{FF2B5EF4-FFF2-40B4-BE49-F238E27FC236}">
                <a16:creationId xmlns:a16="http://schemas.microsoft.com/office/drawing/2014/main" id="{9F2B1F2F-0AA6-4076-83FA-1DDF9724166B}"/>
              </a:ext>
            </a:extLst>
          </p:cNvPr>
          <p:cNvPicPr>
            <a:picLocks noChangeAspect="1"/>
          </p:cNvPicPr>
          <p:nvPr/>
        </p:nvPicPr>
        <p:blipFill>
          <a:blip r:embed="rId2"/>
          <a:stretch>
            <a:fillRect/>
          </a:stretch>
        </p:blipFill>
        <p:spPr>
          <a:xfrm>
            <a:off x="2635688" y="3539585"/>
            <a:ext cx="6920624" cy="3004654"/>
          </a:xfrm>
          <a:prstGeom prst="rect">
            <a:avLst/>
          </a:prstGeom>
        </p:spPr>
      </p:pic>
    </p:spTree>
    <p:extLst>
      <p:ext uri="{BB962C8B-B14F-4D97-AF65-F5344CB8AC3E}">
        <p14:creationId xmlns:p14="http://schemas.microsoft.com/office/powerpoint/2010/main" val="32639416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C5AAC-9BA4-423A-A0CE-0035951440D2}"/>
              </a:ext>
            </a:extLst>
          </p:cNvPr>
          <p:cNvSpPr>
            <a:spLocks noGrp="1"/>
          </p:cNvSpPr>
          <p:nvPr>
            <p:ph type="title"/>
          </p:nvPr>
        </p:nvSpPr>
        <p:spPr/>
        <p:txBody>
          <a:bodyPr/>
          <a:lstStyle/>
          <a:p>
            <a:r>
              <a:rPr lang="en-AU" dirty="0"/>
              <a:t>Cloud Support Services</a:t>
            </a:r>
          </a:p>
        </p:txBody>
      </p:sp>
      <p:sp>
        <p:nvSpPr>
          <p:cNvPr id="3" name="Content Placeholder 2">
            <a:extLst>
              <a:ext uri="{FF2B5EF4-FFF2-40B4-BE49-F238E27FC236}">
                <a16:creationId xmlns:a16="http://schemas.microsoft.com/office/drawing/2014/main" id="{E8610D70-AE28-4911-8C37-8A8028FFDC6D}"/>
              </a:ext>
            </a:extLst>
          </p:cNvPr>
          <p:cNvSpPr>
            <a:spLocks noGrp="1"/>
          </p:cNvSpPr>
          <p:nvPr>
            <p:ph idx="1"/>
          </p:nvPr>
        </p:nvSpPr>
        <p:spPr>
          <a:xfrm>
            <a:off x="576072" y="2603500"/>
            <a:ext cx="11055096" cy="3416300"/>
          </a:xfrm>
        </p:spPr>
        <p:txBody>
          <a:bodyPr/>
          <a:lstStyle/>
          <a:p>
            <a:pPr algn="just">
              <a:lnSpc>
                <a:spcPct val="150000"/>
              </a:lnSpc>
            </a:pPr>
            <a:r>
              <a:rPr lang="en-AU" dirty="0">
                <a:latin typeface="Calibri" panose="020F0502020204030204" pitchFamily="34" charset="0"/>
                <a:cs typeface="Calibri" panose="020F0502020204030204" pitchFamily="34" charset="0"/>
              </a:rPr>
              <a:t>To facilitate transition to the cloud, a cloud ecosystem is emerging that aims to offer a spectrum of new cloud support services that augment, complement, or assist the popular SaaS, IaaS, and PaaS offerings. </a:t>
            </a:r>
          </a:p>
          <a:p>
            <a:pPr algn="just">
              <a:lnSpc>
                <a:spcPct val="150000"/>
              </a:lnSpc>
            </a:pPr>
            <a:r>
              <a:rPr lang="en-AU" dirty="0">
                <a:latin typeface="Calibri" panose="020F0502020204030204" pitchFamily="34" charset="0"/>
                <a:cs typeface="Calibri" panose="020F0502020204030204" pitchFamily="34" charset="0"/>
              </a:rPr>
              <a:t>Examples of such cloud support services are data storage as a service (</a:t>
            </a:r>
            <a:r>
              <a:rPr lang="en-AU" dirty="0" err="1">
                <a:latin typeface="Calibri" panose="020F0502020204030204" pitchFamily="34" charset="0"/>
                <a:cs typeface="Calibri" panose="020F0502020204030204" pitchFamily="34" charset="0"/>
              </a:rPr>
              <a:t>DSaaS</a:t>
            </a:r>
            <a:r>
              <a:rPr lang="en-AU" dirty="0">
                <a:latin typeface="Calibri" panose="020F0502020204030204" pitchFamily="34" charset="0"/>
                <a:cs typeface="Calibri" panose="020F0502020204030204" pitchFamily="34" charset="0"/>
              </a:rPr>
              <a:t>), analytics as service (</a:t>
            </a:r>
            <a:r>
              <a:rPr lang="en-AU" dirty="0" err="1">
                <a:latin typeface="Calibri" panose="020F0502020204030204" pitchFamily="34" charset="0"/>
                <a:cs typeface="Calibri" panose="020F0502020204030204" pitchFamily="34" charset="0"/>
              </a:rPr>
              <a:t>AaaS</a:t>
            </a:r>
            <a:r>
              <a:rPr lang="en-AU" dirty="0">
                <a:latin typeface="Calibri" panose="020F0502020204030204" pitchFamily="34" charset="0"/>
                <a:cs typeface="Calibri" panose="020F0502020204030204" pitchFamily="34" charset="0"/>
              </a:rPr>
              <a:t>), desktop as a service (DAAS), security as a service (</a:t>
            </a:r>
            <a:r>
              <a:rPr lang="en-AU" dirty="0" err="1">
                <a:latin typeface="Calibri" panose="020F0502020204030204" pitchFamily="34" charset="0"/>
                <a:cs typeface="Calibri" panose="020F0502020204030204" pitchFamily="34" charset="0"/>
              </a:rPr>
              <a:t>SecaaS</a:t>
            </a:r>
            <a:r>
              <a:rPr lang="en-AU" dirty="0">
                <a:latin typeface="Calibri" panose="020F0502020204030204" pitchFamily="34" charset="0"/>
                <a:cs typeface="Calibri" panose="020F0502020204030204" pitchFamily="34" charset="0"/>
              </a:rPr>
              <a:t>), identity and access management as a service (</a:t>
            </a:r>
            <a:r>
              <a:rPr lang="en-AU" dirty="0" err="1">
                <a:latin typeface="Calibri" panose="020F0502020204030204" pitchFamily="34" charset="0"/>
                <a:cs typeface="Calibri" panose="020F0502020204030204" pitchFamily="34" charset="0"/>
              </a:rPr>
              <a:t>IAMaaS</a:t>
            </a:r>
            <a:r>
              <a:rPr lang="en-AU" dirty="0">
                <a:latin typeface="Calibri" panose="020F0502020204030204" pitchFamily="34" charset="0"/>
                <a:cs typeface="Calibri" panose="020F0502020204030204" pitchFamily="34" charset="0"/>
              </a:rPr>
              <a:t>), and monitoring as a service (</a:t>
            </a:r>
            <a:r>
              <a:rPr lang="en-AU" dirty="0" err="1">
                <a:latin typeface="Calibri" panose="020F0502020204030204" pitchFamily="34" charset="0"/>
                <a:cs typeface="Calibri" panose="020F0502020204030204" pitchFamily="34" charset="0"/>
              </a:rPr>
              <a:t>MaaS</a:t>
            </a:r>
            <a:r>
              <a:rPr lang="en-AU"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3650621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81E0-8720-45B0-8945-B25345D222DD}"/>
              </a:ext>
            </a:extLst>
          </p:cNvPr>
          <p:cNvSpPr>
            <a:spLocks noGrp="1"/>
          </p:cNvSpPr>
          <p:nvPr>
            <p:ph type="title"/>
          </p:nvPr>
        </p:nvSpPr>
        <p:spPr/>
        <p:txBody>
          <a:bodyPr/>
          <a:lstStyle/>
          <a:p>
            <a:r>
              <a:rPr lang="en-AU" dirty="0"/>
              <a:t>Advantages of cloud computing</a:t>
            </a:r>
          </a:p>
        </p:txBody>
      </p:sp>
      <p:pic>
        <p:nvPicPr>
          <p:cNvPr id="5" name="Content Placeholder 4">
            <a:extLst>
              <a:ext uri="{FF2B5EF4-FFF2-40B4-BE49-F238E27FC236}">
                <a16:creationId xmlns:a16="http://schemas.microsoft.com/office/drawing/2014/main" id="{521DCB2C-C909-42D4-A16F-FB5648ECDEA0}"/>
              </a:ext>
            </a:extLst>
          </p:cNvPr>
          <p:cNvPicPr>
            <a:picLocks noGrp="1" noChangeAspect="1"/>
          </p:cNvPicPr>
          <p:nvPr>
            <p:ph idx="1"/>
          </p:nvPr>
        </p:nvPicPr>
        <p:blipFill>
          <a:blip r:embed="rId2"/>
          <a:stretch>
            <a:fillRect/>
          </a:stretch>
        </p:blipFill>
        <p:spPr>
          <a:xfrm>
            <a:off x="1154954" y="2461729"/>
            <a:ext cx="8379620" cy="1314450"/>
          </a:xfrm>
          <a:prstGeom prst="rect">
            <a:avLst/>
          </a:prstGeom>
        </p:spPr>
      </p:pic>
      <p:pic>
        <p:nvPicPr>
          <p:cNvPr id="6" name="Picture 5">
            <a:extLst>
              <a:ext uri="{FF2B5EF4-FFF2-40B4-BE49-F238E27FC236}">
                <a16:creationId xmlns:a16="http://schemas.microsoft.com/office/drawing/2014/main" id="{CD1956E4-C649-42A0-AD34-F45B10E9587A}"/>
              </a:ext>
            </a:extLst>
          </p:cNvPr>
          <p:cNvPicPr>
            <a:picLocks noChangeAspect="1"/>
          </p:cNvPicPr>
          <p:nvPr/>
        </p:nvPicPr>
        <p:blipFill>
          <a:blip r:embed="rId3"/>
          <a:stretch>
            <a:fillRect/>
          </a:stretch>
        </p:blipFill>
        <p:spPr>
          <a:xfrm>
            <a:off x="1134317" y="3761408"/>
            <a:ext cx="8782050" cy="1600200"/>
          </a:xfrm>
          <a:prstGeom prst="rect">
            <a:avLst/>
          </a:prstGeom>
        </p:spPr>
      </p:pic>
    </p:spTree>
    <p:extLst>
      <p:ext uri="{BB962C8B-B14F-4D97-AF65-F5344CB8AC3E}">
        <p14:creationId xmlns:p14="http://schemas.microsoft.com/office/powerpoint/2010/main" val="2915419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81E0-8720-45B0-8945-B25345D222DD}"/>
              </a:ext>
            </a:extLst>
          </p:cNvPr>
          <p:cNvSpPr>
            <a:spLocks noGrp="1"/>
          </p:cNvSpPr>
          <p:nvPr>
            <p:ph type="title"/>
          </p:nvPr>
        </p:nvSpPr>
        <p:spPr/>
        <p:txBody>
          <a:bodyPr/>
          <a:lstStyle/>
          <a:p>
            <a:r>
              <a:rPr lang="en-AU" dirty="0"/>
              <a:t>Advantages of cloud computing</a:t>
            </a:r>
          </a:p>
        </p:txBody>
      </p:sp>
      <p:pic>
        <p:nvPicPr>
          <p:cNvPr id="4" name="Content Placeholder 3">
            <a:extLst>
              <a:ext uri="{FF2B5EF4-FFF2-40B4-BE49-F238E27FC236}">
                <a16:creationId xmlns:a16="http://schemas.microsoft.com/office/drawing/2014/main" id="{AA3C9886-6334-475D-8BCD-6986FE21A32F}"/>
              </a:ext>
            </a:extLst>
          </p:cNvPr>
          <p:cNvPicPr>
            <a:picLocks noGrp="1" noChangeAspect="1"/>
          </p:cNvPicPr>
          <p:nvPr>
            <p:ph idx="1"/>
          </p:nvPr>
        </p:nvPicPr>
        <p:blipFill>
          <a:blip r:embed="rId2"/>
          <a:stretch>
            <a:fillRect/>
          </a:stretch>
        </p:blipFill>
        <p:spPr>
          <a:xfrm>
            <a:off x="1234467" y="2370591"/>
            <a:ext cx="8761413" cy="2638731"/>
          </a:xfrm>
          <a:prstGeom prst="rect">
            <a:avLst/>
          </a:prstGeom>
        </p:spPr>
      </p:pic>
      <p:pic>
        <p:nvPicPr>
          <p:cNvPr id="5" name="Picture 4">
            <a:extLst>
              <a:ext uri="{FF2B5EF4-FFF2-40B4-BE49-F238E27FC236}">
                <a16:creationId xmlns:a16="http://schemas.microsoft.com/office/drawing/2014/main" id="{A23E7916-BBCC-4CA6-9450-A1DF1AF25C5D}"/>
              </a:ext>
            </a:extLst>
          </p:cNvPr>
          <p:cNvPicPr>
            <a:picLocks noChangeAspect="1"/>
          </p:cNvPicPr>
          <p:nvPr/>
        </p:nvPicPr>
        <p:blipFill>
          <a:blip r:embed="rId3"/>
          <a:stretch>
            <a:fillRect/>
          </a:stretch>
        </p:blipFill>
        <p:spPr>
          <a:xfrm>
            <a:off x="1323768" y="5081405"/>
            <a:ext cx="8848725" cy="1657350"/>
          </a:xfrm>
          <a:prstGeom prst="rect">
            <a:avLst/>
          </a:prstGeom>
        </p:spPr>
      </p:pic>
    </p:spTree>
    <p:extLst>
      <p:ext uri="{BB962C8B-B14F-4D97-AF65-F5344CB8AC3E}">
        <p14:creationId xmlns:p14="http://schemas.microsoft.com/office/powerpoint/2010/main" val="3252294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81E0-8720-45B0-8945-B25345D222DD}"/>
              </a:ext>
            </a:extLst>
          </p:cNvPr>
          <p:cNvSpPr>
            <a:spLocks noGrp="1"/>
          </p:cNvSpPr>
          <p:nvPr>
            <p:ph type="title"/>
          </p:nvPr>
        </p:nvSpPr>
        <p:spPr/>
        <p:txBody>
          <a:bodyPr/>
          <a:lstStyle/>
          <a:p>
            <a:r>
              <a:rPr lang="en-AU" dirty="0"/>
              <a:t>Advantages of cloud computing</a:t>
            </a:r>
          </a:p>
        </p:txBody>
      </p:sp>
      <p:pic>
        <p:nvPicPr>
          <p:cNvPr id="4" name="Content Placeholder 3">
            <a:extLst>
              <a:ext uri="{FF2B5EF4-FFF2-40B4-BE49-F238E27FC236}">
                <a16:creationId xmlns:a16="http://schemas.microsoft.com/office/drawing/2014/main" id="{11F47DF5-1538-4D95-B207-D0F305273872}"/>
              </a:ext>
            </a:extLst>
          </p:cNvPr>
          <p:cNvPicPr>
            <a:picLocks noGrp="1" noChangeAspect="1"/>
          </p:cNvPicPr>
          <p:nvPr>
            <p:ph idx="1"/>
          </p:nvPr>
        </p:nvPicPr>
        <p:blipFill>
          <a:blip r:embed="rId2"/>
          <a:stretch>
            <a:fillRect/>
          </a:stretch>
        </p:blipFill>
        <p:spPr>
          <a:xfrm>
            <a:off x="860667" y="2211595"/>
            <a:ext cx="1400175" cy="323850"/>
          </a:xfrm>
          <a:prstGeom prst="rect">
            <a:avLst/>
          </a:prstGeom>
        </p:spPr>
      </p:pic>
      <p:pic>
        <p:nvPicPr>
          <p:cNvPr id="5" name="Picture 4">
            <a:extLst>
              <a:ext uri="{FF2B5EF4-FFF2-40B4-BE49-F238E27FC236}">
                <a16:creationId xmlns:a16="http://schemas.microsoft.com/office/drawing/2014/main" id="{54555345-BCF1-485A-89C9-6634A239C14B}"/>
              </a:ext>
            </a:extLst>
          </p:cNvPr>
          <p:cNvPicPr>
            <a:picLocks noChangeAspect="1"/>
          </p:cNvPicPr>
          <p:nvPr/>
        </p:nvPicPr>
        <p:blipFill>
          <a:blip r:embed="rId3"/>
          <a:stretch>
            <a:fillRect/>
          </a:stretch>
        </p:blipFill>
        <p:spPr>
          <a:xfrm>
            <a:off x="860667" y="2692953"/>
            <a:ext cx="9344025" cy="3000375"/>
          </a:xfrm>
          <a:prstGeom prst="rect">
            <a:avLst/>
          </a:prstGeom>
        </p:spPr>
      </p:pic>
    </p:spTree>
    <p:extLst>
      <p:ext uri="{BB962C8B-B14F-4D97-AF65-F5344CB8AC3E}">
        <p14:creationId xmlns:p14="http://schemas.microsoft.com/office/powerpoint/2010/main" val="647752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81E0-8720-45B0-8945-B25345D222DD}"/>
              </a:ext>
            </a:extLst>
          </p:cNvPr>
          <p:cNvSpPr>
            <a:spLocks noGrp="1"/>
          </p:cNvSpPr>
          <p:nvPr>
            <p:ph type="title"/>
          </p:nvPr>
        </p:nvSpPr>
        <p:spPr/>
        <p:txBody>
          <a:bodyPr/>
          <a:lstStyle/>
          <a:p>
            <a:r>
              <a:rPr lang="en-AU" dirty="0"/>
              <a:t>Advantages of cloud computing</a:t>
            </a:r>
          </a:p>
        </p:txBody>
      </p:sp>
      <p:pic>
        <p:nvPicPr>
          <p:cNvPr id="5" name="Content Placeholder 3">
            <a:extLst>
              <a:ext uri="{FF2B5EF4-FFF2-40B4-BE49-F238E27FC236}">
                <a16:creationId xmlns:a16="http://schemas.microsoft.com/office/drawing/2014/main" id="{01E96B3A-3DA1-4377-90CB-CCD16D31E052}"/>
              </a:ext>
            </a:extLst>
          </p:cNvPr>
          <p:cNvPicPr>
            <a:picLocks noChangeAspect="1"/>
          </p:cNvPicPr>
          <p:nvPr/>
        </p:nvPicPr>
        <p:blipFill>
          <a:blip r:embed="rId2"/>
          <a:stretch>
            <a:fillRect/>
          </a:stretch>
        </p:blipFill>
        <p:spPr>
          <a:xfrm>
            <a:off x="787206" y="5011559"/>
            <a:ext cx="8761413" cy="1581921"/>
          </a:xfrm>
          <a:prstGeom prst="rect">
            <a:avLst/>
          </a:prstGeom>
        </p:spPr>
      </p:pic>
      <p:pic>
        <p:nvPicPr>
          <p:cNvPr id="8" name="Content Placeholder 7">
            <a:extLst>
              <a:ext uri="{FF2B5EF4-FFF2-40B4-BE49-F238E27FC236}">
                <a16:creationId xmlns:a16="http://schemas.microsoft.com/office/drawing/2014/main" id="{2AA4108F-EDE4-4B3B-8563-910040B27515}"/>
              </a:ext>
            </a:extLst>
          </p:cNvPr>
          <p:cNvPicPr>
            <a:picLocks noGrp="1" noChangeAspect="1"/>
          </p:cNvPicPr>
          <p:nvPr>
            <p:ph idx="1"/>
          </p:nvPr>
        </p:nvPicPr>
        <p:blipFill>
          <a:blip r:embed="rId3"/>
          <a:stretch>
            <a:fillRect/>
          </a:stretch>
        </p:blipFill>
        <p:spPr>
          <a:xfrm>
            <a:off x="787206" y="2466237"/>
            <a:ext cx="8761413" cy="2398737"/>
          </a:xfrm>
          <a:prstGeom prst="rect">
            <a:avLst/>
          </a:prstGeom>
        </p:spPr>
      </p:pic>
    </p:spTree>
    <p:extLst>
      <p:ext uri="{BB962C8B-B14F-4D97-AF65-F5344CB8AC3E}">
        <p14:creationId xmlns:p14="http://schemas.microsoft.com/office/powerpoint/2010/main" val="24654720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81E0-8720-45B0-8945-B25345D222DD}"/>
              </a:ext>
            </a:extLst>
          </p:cNvPr>
          <p:cNvSpPr>
            <a:spLocks noGrp="1"/>
          </p:cNvSpPr>
          <p:nvPr>
            <p:ph type="title"/>
          </p:nvPr>
        </p:nvSpPr>
        <p:spPr/>
        <p:txBody>
          <a:bodyPr/>
          <a:lstStyle/>
          <a:p>
            <a:r>
              <a:rPr lang="en-AU" dirty="0"/>
              <a:t>Disadvantages of cloud computing</a:t>
            </a:r>
          </a:p>
        </p:txBody>
      </p:sp>
      <p:pic>
        <p:nvPicPr>
          <p:cNvPr id="4" name="Content Placeholder 3">
            <a:extLst>
              <a:ext uri="{FF2B5EF4-FFF2-40B4-BE49-F238E27FC236}">
                <a16:creationId xmlns:a16="http://schemas.microsoft.com/office/drawing/2014/main" id="{626A5A20-664A-491D-BBA9-3D48DDCB58D6}"/>
              </a:ext>
            </a:extLst>
          </p:cNvPr>
          <p:cNvPicPr>
            <a:picLocks noGrp="1" noChangeAspect="1"/>
          </p:cNvPicPr>
          <p:nvPr>
            <p:ph idx="1"/>
          </p:nvPr>
        </p:nvPicPr>
        <p:blipFill>
          <a:blip r:embed="rId2"/>
          <a:stretch>
            <a:fillRect/>
          </a:stretch>
        </p:blipFill>
        <p:spPr>
          <a:xfrm>
            <a:off x="1154953" y="2449229"/>
            <a:ext cx="8761413" cy="1959541"/>
          </a:xfrm>
          <a:prstGeom prst="rect">
            <a:avLst/>
          </a:prstGeom>
        </p:spPr>
      </p:pic>
      <p:pic>
        <p:nvPicPr>
          <p:cNvPr id="5" name="Picture 4">
            <a:extLst>
              <a:ext uri="{FF2B5EF4-FFF2-40B4-BE49-F238E27FC236}">
                <a16:creationId xmlns:a16="http://schemas.microsoft.com/office/drawing/2014/main" id="{16E4A8DD-6619-4CC6-91E1-A51AE0E8EF2A}"/>
              </a:ext>
            </a:extLst>
          </p:cNvPr>
          <p:cNvPicPr>
            <a:picLocks noChangeAspect="1"/>
          </p:cNvPicPr>
          <p:nvPr/>
        </p:nvPicPr>
        <p:blipFill>
          <a:blip r:embed="rId3"/>
          <a:stretch>
            <a:fillRect/>
          </a:stretch>
        </p:blipFill>
        <p:spPr>
          <a:xfrm>
            <a:off x="1058909" y="4521062"/>
            <a:ext cx="8953500" cy="1771650"/>
          </a:xfrm>
          <a:prstGeom prst="rect">
            <a:avLst/>
          </a:prstGeom>
        </p:spPr>
      </p:pic>
    </p:spTree>
    <p:extLst>
      <p:ext uri="{BB962C8B-B14F-4D97-AF65-F5344CB8AC3E}">
        <p14:creationId xmlns:p14="http://schemas.microsoft.com/office/powerpoint/2010/main" val="3853783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50EC2-DD95-430A-8F98-22C9DCDFE4B7}"/>
              </a:ext>
            </a:extLst>
          </p:cNvPr>
          <p:cNvSpPr>
            <a:spLocks noGrp="1"/>
          </p:cNvSpPr>
          <p:nvPr>
            <p:ph type="title"/>
          </p:nvPr>
        </p:nvSpPr>
        <p:spPr/>
        <p:txBody>
          <a:bodyPr/>
          <a:lstStyle/>
          <a:p>
            <a:r>
              <a:rPr lang="en-AU" dirty="0"/>
              <a:t>ADDITIONAL SERVICE MODELS</a:t>
            </a:r>
          </a:p>
        </p:txBody>
      </p:sp>
      <p:sp>
        <p:nvSpPr>
          <p:cNvPr id="3" name="Content Placeholder 2">
            <a:extLst>
              <a:ext uri="{FF2B5EF4-FFF2-40B4-BE49-F238E27FC236}">
                <a16:creationId xmlns:a16="http://schemas.microsoft.com/office/drawing/2014/main" id="{3A114204-85B5-466B-B301-FB04BAE325B2}"/>
              </a:ext>
            </a:extLst>
          </p:cNvPr>
          <p:cNvSpPr>
            <a:spLocks noGrp="1"/>
          </p:cNvSpPr>
          <p:nvPr>
            <p:ph idx="1"/>
          </p:nvPr>
        </p:nvSpPr>
        <p:spPr>
          <a:xfrm>
            <a:off x="561110" y="2603500"/>
            <a:ext cx="10996152" cy="3416300"/>
          </a:xfrm>
        </p:spPr>
        <p:txBody>
          <a:bodyPr/>
          <a:lstStyle/>
          <a:p>
            <a:r>
              <a:rPr lang="en-AU" b="1" dirty="0"/>
              <a:t>Database as a Service:</a:t>
            </a:r>
          </a:p>
          <a:p>
            <a:pPr>
              <a:buFont typeface="Wingdings" panose="05000000000000000000" pitchFamily="2" charset="2"/>
              <a:buChar char="q"/>
            </a:pPr>
            <a:r>
              <a:rPr lang="en-AU" dirty="0" err="1"/>
              <a:t>DbaaS</a:t>
            </a:r>
            <a:r>
              <a:rPr lang="en-AU" dirty="0"/>
              <a:t> provides a database platform organizations can use to store their data.</a:t>
            </a:r>
          </a:p>
          <a:p>
            <a:pPr>
              <a:buFont typeface="Wingdings" panose="05000000000000000000" pitchFamily="2" charset="2"/>
              <a:buChar char="q"/>
            </a:pPr>
            <a:r>
              <a:rPr lang="en-AU" dirty="0"/>
              <a:t>Many PaaS providers also provide database services.</a:t>
            </a:r>
          </a:p>
          <a:p>
            <a:pPr>
              <a:buFont typeface="Wingdings" panose="05000000000000000000" pitchFamily="2" charset="2"/>
              <a:buChar char="Ø"/>
            </a:pPr>
            <a:r>
              <a:rPr lang="en-AU" b="1" dirty="0"/>
              <a:t>Desktop as a Service</a:t>
            </a:r>
          </a:p>
          <a:p>
            <a:pPr>
              <a:buFont typeface="Wingdings" panose="05000000000000000000" pitchFamily="2" charset="2"/>
              <a:buChar char="q"/>
            </a:pPr>
            <a:r>
              <a:rPr lang="en-AU" dirty="0" err="1"/>
              <a:t>DaaS</a:t>
            </a:r>
            <a:r>
              <a:rPr lang="en-AU" dirty="0"/>
              <a:t> provides users with a virtual desktop that can be used to perform desktop computing.</a:t>
            </a:r>
          </a:p>
        </p:txBody>
      </p:sp>
    </p:spTree>
    <p:extLst>
      <p:ext uri="{BB962C8B-B14F-4D97-AF65-F5344CB8AC3E}">
        <p14:creationId xmlns:p14="http://schemas.microsoft.com/office/powerpoint/2010/main" val="25703196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ny Questions Blue PowerPoint template background in Symbols PowerPoint ppt  slide design category | The best PowerPoint templates and backgrounds at  PresentationPro.com">
            <a:extLst>
              <a:ext uri="{FF2B5EF4-FFF2-40B4-BE49-F238E27FC236}">
                <a16:creationId xmlns:a16="http://schemas.microsoft.com/office/drawing/2014/main" id="{49C45B30-F235-4008-81EC-347170CAA5E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38084" y="2603500"/>
            <a:ext cx="4646428"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3672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F1C4790-FE3C-4020-8CA7-00621DA7BB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1456</TotalTime>
  <Words>2645</Words>
  <Application>Microsoft Office PowerPoint</Application>
  <PresentationFormat>Widescreen</PresentationFormat>
  <Paragraphs>192</Paragraphs>
  <Slides>44</Slides>
  <Notes>6</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Ion Boardroom</vt:lpstr>
      <vt:lpstr>Module 2: Essentials of Cloud Computing and Characteristics  Learning Activities   </vt:lpstr>
      <vt:lpstr>Cloud Computing</vt:lpstr>
      <vt:lpstr>The NIST Definition of Cloud Computing</vt:lpstr>
      <vt:lpstr>Essential Characteristics</vt:lpstr>
      <vt:lpstr>Essential Characteristics</vt:lpstr>
      <vt:lpstr>Learning Activity 1: Race to Fill In the Five Essentials of Cloud  </vt:lpstr>
      <vt:lpstr>Learning Activity 2: 📌 Cloud Adoption in Australia &amp; New Zealand: Insights &amp; Challenges </vt:lpstr>
      <vt:lpstr>Difference between </vt:lpstr>
      <vt:lpstr>Learning Activity 3: Key Cloud Computing Services Offered by the Cloud Service Provider </vt:lpstr>
      <vt:lpstr>Essential Characteristics</vt:lpstr>
      <vt:lpstr>PowerPoint Presentation</vt:lpstr>
      <vt:lpstr>Layered cloud computing architecture</vt:lpstr>
      <vt:lpstr>Cloud service models</vt:lpstr>
      <vt:lpstr>Service Models:</vt:lpstr>
      <vt:lpstr>Software as a Service | SaaS</vt:lpstr>
      <vt:lpstr>Popular SaaS Providers</vt:lpstr>
      <vt:lpstr>Popular SaaS Providers</vt:lpstr>
      <vt:lpstr>Benefits of SaaS</vt:lpstr>
      <vt:lpstr>Service Models:</vt:lpstr>
      <vt:lpstr>Platform as a Service | PaaS</vt:lpstr>
      <vt:lpstr>Popular PaaS Providers</vt:lpstr>
      <vt:lpstr>Popular PaaS Providers</vt:lpstr>
      <vt:lpstr>Benefits of PaaS</vt:lpstr>
      <vt:lpstr>Benefits of SaaS</vt:lpstr>
      <vt:lpstr>Service Models:</vt:lpstr>
      <vt:lpstr>Infrastructure as a Service | IaaS</vt:lpstr>
      <vt:lpstr>Iaas Providers</vt:lpstr>
      <vt:lpstr>Benefits of IaaS</vt:lpstr>
      <vt:lpstr>Benefits of IaaS</vt:lpstr>
      <vt:lpstr>Benefits of IaaS</vt:lpstr>
      <vt:lpstr>Deployment Models</vt:lpstr>
      <vt:lpstr>Public Cloud</vt:lpstr>
      <vt:lpstr>Private Cloud</vt:lpstr>
      <vt:lpstr>Hybrid Cloud</vt:lpstr>
      <vt:lpstr>Community Cloud</vt:lpstr>
      <vt:lpstr>virtual private cloud (VPC)?</vt:lpstr>
      <vt:lpstr>Cloud Support Services</vt:lpstr>
      <vt:lpstr>Advantages of cloud computing</vt:lpstr>
      <vt:lpstr>Advantages of cloud computing</vt:lpstr>
      <vt:lpstr>Advantages of cloud computing</vt:lpstr>
      <vt:lpstr>Advantages of cloud computing</vt:lpstr>
      <vt:lpstr>Disadvantages of cloud computing</vt:lpstr>
      <vt:lpstr>ADDITIONAL SERVICE MODELS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Supriya Supriya</dc:creator>
  <cp:lastModifiedBy>Divya Leekha</cp:lastModifiedBy>
  <cp:revision>148</cp:revision>
  <dcterms:created xsi:type="dcterms:W3CDTF">2022-02-13T05:22:10Z</dcterms:created>
  <dcterms:modified xsi:type="dcterms:W3CDTF">2025-06-11T07:52:37Z</dcterms:modified>
</cp:coreProperties>
</file>