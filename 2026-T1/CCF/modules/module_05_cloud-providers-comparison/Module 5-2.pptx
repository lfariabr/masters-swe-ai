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5" r:id="rId3"/>
    <p:sldId id="270" r:id="rId4"/>
    <p:sldId id="275" r:id="rId5"/>
    <p:sldId id="277" r:id="rId6"/>
    <p:sldId id="280" r:id="rId7"/>
    <p:sldId id="279" r:id="rId8"/>
    <p:sldId id="296" r:id="rId9"/>
    <p:sldId id="278" r:id="rId10"/>
    <p:sldId id="281" r:id="rId11"/>
    <p:sldId id="282" r:id="rId12"/>
    <p:sldId id="274" r:id="rId13"/>
    <p:sldId id="273" r:id="rId14"/>
    <p:sldId id="283" r:id="rId15"/>
    <p:sldId id="272" r:id="rId16"/>
    <p:sldId id="284" r:id="rId17"/>
    <p:sldId id="271" r:id="rId18"/>
    <p:sldId id="285" r:id="rId19"/>
    <p:sldId id="286" r:id="rId20"/>
    <p:sldId id="294" r:id="rId21"/>
    <p:sldId id="290" r:id="rId22"/>
    <p:sldId id="291" r:id="rId23"/>
    <p:sldId id="293" r:id="rId24"/>
    <p:sldId id="292" r:id="rId25"/>
    <p:sldId id="269" r:id="rId26"/>
    <p:sldId id="289" r:id="rId27"/>
    <p:sldId id="295" r:id="rId28"/>
    <p:sldId id="288"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60"/>
  </p:normalViewPr>
  <p:slideViewPr>
    <p:cSldViewPr snapToGrid="0">
      <p:cViewPr varScale="1">
        <p:scale>
          <a:sx n="60" d="100"/>
          <a:sy n="60" d="100"/>
        </p:scale>
        <p:origin x="8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C3CC91E-EC0F-4670-9E10-A32248F01262}" type="datetimeFigureOut">
              <a:rPr lang="en-AU" smtClean="0"/>
              <a:t>30/06/2022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1100229-4E84-4CE9-9A2D-1E242D84FE19}" type="slidenum">
              <a:rPr lang="en-AU" smtClean="0"/>
              <a:t>‹#›</a:t>
            </a:fld>
            <a:endParaRPr lang="en-AU"/>
          </a:p>
        </p:txBody>
      </p:sp>
    </p:spTree>
    <p:extLst>
      <p:ext uri="{BB962C8B-B14F-4D97-AF65-F5344CB8AC3E}">
        <p14:creationId xmlns:p14="http://schemas.microsoft.com/office/powerpoint/2010/main" val="1633286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3CC91E-EC0F-4670-9E10-A32248F01262}" type="datetimeFigureOut">
              <a:rPr lang="en-AU" smtClean="0"/>
              <a:t>30/06/2022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1100229-4E84-4CE9-9A2D-1E242D84FE19}" type="slidenum">
              <a:rPr lang="en-AU" smtClean="0"/>
              <a:t>‹#›</a:t>
            </a:fld>
            <a:endParaRPr lang="en-AU"/>
          </a:p>
        </p:txBody>
      </p:sp>
    </p:spTree>
    <p:extLst>
      <p:ext uri="{BB962C8B-B14F-4D97-AF65-F5344CB8AC3E}">
        <p14:creationId xmlns:p14="http://schemas.microsoft.com/office/powerpoint/2010/main" val="12058694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C3CC91E-EC0F-4670-9E10-A32248F01262}" type="datetimeFigureOut">
              <a:rPr lang="en-AU" smtClean="0"/>
              <a:t>30/06/2022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1100229-4E84-4CE9-9A2D-1E242D84FE19}" type="slidenum">
              <a:rPr lang="en-AU" smtClean="0"/>
              <a:t>‹#›</a:t>
            </a:fld>
            <a:endParaRPr lang="en-AU"/>
          </a:p>
        </p:txBody>
      </p:sp>
    </p:spTree>
    <p:extLst>
      <p:ext uri="{BB962C8B-B14F-4D97-AF65-F5344CB8AC3E}">
        <p14:creationId xmlns:p14="http://schemas.microsoft.com/office/powerpoint/2010/main" val="381728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C3CC91E-EC0F-4670-9E10-A32248F01262}" type="datetimeFigureOut">
              <a:rPr lang="en-AU" smtClean="0"/>
              <a:t>30/06/2022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61100229-4E84-4CE9-9A2D-1E242D84FE19}" type="slidenum">
              <a:rPr lang="en-AU" smtClean="0"/>
              <a:t>‹#›</a:t>
            </a:fld>
            <a:endParaRPr lang="en-AU"/>
          </a:p>
        </p:txBody>
      </p:sp>
    </p:spTree>
    <p:extLst>
      <p:ext uri="{BB962C8B-B14F-4D97-AF65-F5344CB8AC3E}">
        <p14:creationId xmlns:p14="http://schemas.microsoft.com/office/powerpoint/2010/main" val="572720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C3CC91E-EC0F-4670-9E10-A32248F01262}" type="datetimeFigureOut">
              <a:rPr lang="en-AU" smtClean="0"/>
              <a:t>30/06/2022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61100229-4E84-4CE9-9A2D-1E242D84FE19}" type="slidenum">
              <a:rPr lang="en-AU" smtClean="0"/>
              <a:t>‹#›</a:t>
            </a:fld>
            <a:endParaRPr lang="en-AU"/>
          </a:p>
        </p:txBody>
      </p:sp>
    </p:spTree>
    <p:extLst>
      <p:ext uri="{BB962C8B-B14F-4D97-AF65-F5344CB8AC3E}">
        <p14:creationId xmlns:p14="http://schemas.microsoft.com/office/powerpoint/2010/main" val="40338237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C3CC91E-EC0F-4670-9E10-A32248F01262}" type="datetimeFigureOut">
              <a:rPr lang="en-AU" smtClean="0"/>
              <a:t>30/06/2022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61100229-4E84-4CE9-9A2D-1E242D84FE19}" type="slidenum">
              <a:rPr lang="en-AU" smtClean="0"/>
              <a:t>‹#›</a:t>
            </a:fld>
            <a:endParaRPr lang="en-AU"/>
          </a:p>
        </p:txBody>
      </p:sp>
    </p:spTree>
    <p:extLst>
      <p:ext uri="{BB962C8B-B14F-4D97-AF65-F5344CB8AC3E}">
        <p14:creationId xmlns:p14="http://schemas.microsoft.com/office/powerpoint/2010/main" val="2126581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3CC91E-EC0F-4670-9E10-A32248F01262}" type="datetimeFigureOut">
              <a:rPr lang="en-AU" smtClean="0"/>
              <a:t>30/06/2022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61100229-4E84-4CE9-9A2D-1E242D84FE19}" type="slidenum">
              <a:rPr lang="en-AU" smtClean="0"/>
              <a:t>‹#›</a:t>
            </a:fld>
            <a:endParaRPr lang="en-AU"/>
          </a:p>
        </p:txBody>
      </p:sp>
    </p:spTree>
    <p:extLst>
      <p:ext uri="{BB962C8B-B14F-4D97-AF65-F5344CB8AC3E}">
        <p14:creationId xmlns:p14="http://schemas.microsoft.com/office/powerpoint/2010/main" val="836439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C3CC91E-EC0F-4670-9E10-A32248F01262}" type="datetimeFigureOut">
              <a:rPr lang="en-AU" smtClean="0"/>
              <a:t>30/06/2022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61100229-4E84-4CE9-9A2D-1E242D84FE19}" type="slidenum">
              <a:rPr lang="en-AU" smtClean="0"/>
              <a:t>‹#›</a:t>
            </a:fld>
            <a:endParaRPr lang="en-AU"/>
          </a:p>
        </p:txBody>
      </p:sp>
    </p:spTree>
    <p:extLst>
      <p:ext uri="{BB962C8B-B14F-4D97-AF65-F5344CB8AC3E}">
        <p14:creationId xmlns:p14="http://schemas.microsoft.com/office/powerpoint/2010/main" val="3917901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C3CC91E-EC0F-4670-9E10-A32248F01262}" type="datetimeFigureOut">
              <a:rPr lang="en-AU" smtClean="0"/>
              <a:t>30/06/2022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61100229-4E84-4CE9-9A2D-1E242D84FE19}" type="slidenum">
              <a:rPr lang="en-AU" smtClean="0"/>
              <a:t>‹#›</a:t>
            </a:fld>
            <a:endParaRPr lang="en-AU"/>
          </a:p>
        </p:txBody>
      </p:sp>
    </p:spTree>
    <p:extLst>
      <p:ext uri="{BB962C8B-B14F-4D97-AF65-F5344CB8AC3E}">
        <p14:creationId xmlns:p14="http://schemas.microsoft.com/office/powerpoint/2010/main" val="3923118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C3CC91E-EC0F-4670-9E10-A32248F01262}" type="datetimeFigureOut">
              <a:rPr lang="en-AU" smtClean="0"/>
              <a:t>30/06/2022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1100229-4E84-4CE9-9A2D-1E242D84FE19}" type="slidenum">
              <a:rPr lang="en-AU" smtClean="0"/>
              <a:t>‹#›</a:t>
            </a:fld>
            <a:endParaRPr lang="en-AU"/>
          </a:p>
        </p:txBody>
      </p:sp>
    </p:spTree>
    <p:extLst>
      <p:ext uri="{BB962C8B-B14F-4D97-AF65-F5344CB8AC3E}">
        <p14:creationId xmlns:p14="http://schemas.microsoft.com/office/powerpoint/2010/main" val="540702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C3CC91E-EC0F-4670-9E10-A32248F01262}" type="datetimeFigureOut">
              <a:rPr lang="en-AU" smtClean="0"/>
              <a:t>30/06/2022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1100229-4E84-4CE9-9A2D-1E242D84FE19}" type="slidenum">
              <a:rPr lang="en-AU" smtClean="0"/>
              <a:t>‹#›</a:t>
            </a:fld>
            <a:endParaRPr lang="en-AU"/>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5340007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C3CC91E-EC0F-4670-9E10-A32248F01262}" type="datetimeFigureOut">
              <a:rPr lang="en-AU" smtClean="0"/>
              <a:t>30/06/2022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1100229-4E84-4CE9-9A2D-1E242D84FE19}" type="slidenum">
              <a:rPr lang="en-AU" smtClean="0"/>
              <a:t>‹#›</a:t>
            </a:fld>
            <a:endParaRPr lang="en-AU"/>
          </a:p>
        </p:txBody>
      </p:sp>
    </p:spTree>
    <p:extLst>
      <p:ext uri="{BB962C8B-B14F-4D97-AF65-F5344CB8AC3E}">
        <p14:creationId xmlns:p14="http://schemas.microsoft.com/office/powerpoint/2010/main" val="40890173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C3CC91E-EC0F-4670-9E10-A32248F01262}" type="datetimeFigureOut">
              <a:rPr lang="en-AU" smtClean="0"/>
              <a:t>30/06/2022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1100229-4E84-4CE9-9A2D-1E242D84FE19}" type="slidenum">
              <a:rPr lang="en-AU" smtClean="0"/>
              <a:t>‹#›</a:t>
            </a:fld>
            <a:endParaRPr lang="en-AU"/>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540500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C3CC91E-EC0F-4670-9E10-A32248F01262}" type="datetimeFigureOut">
              <a:rPr lang="en-AU" smtClean="0"/>
              <a:t>30/06/2022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1100229-4E84-4CE9-9A2D-1E242D84FE19}" type="slidenum">
              <a:rPr lang="en-AU" smtClean="0"/>
              <a:t>‹#›</a:t>
            </a:fld>
            <a:endParaRPr lang="en-AU"/>
          </a:p>
        </p:txBody>
      </p:sp>
    </p:spTree>
    <p:extLst>
      <p:ext uri="{BB962C8B-B14F-4D97-AF65-F5344CB8AC3E}">
        <p14:creationId xmlns:p14="http://schemas.microsoft.com/office/powerpoint/2010/main" val="29916826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3CC91E-EC0F-4670-9E10-A32248F01262}" type="datetimeFigureOut">
              <a:rPr lang="en-AU" smtClean="0"/>
              <a:t>30/06/2022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1100229-4E84-4CE9-9A2D-1E242D84FE19}" type="slidenum">
              <a:rPr lang="en-AU" smtClean="0"/>
              <a:t>‹#›</a:t>
            </a:fld>
            <a:endParaRPr lang="en-AU"/>
          </a:p>
        </p:txBody>
      </p:sp>
    </p:spTree>
    <p:extLst>
      <p:ext uri="{BB962C8B-B14F-4D97-AF65-F5344CB8AC3E}">
        <p14:creationId xmlns:p14="http://schemas.microsoft.com/office/powerpoint/2010/main" val="529442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3CC91E-EC0F-4670-9E10-A32248F01262}" type="datetimeFigureOut">
              <a:rPr lang="en-AU" smtClean="0"/>
              <a:t>30/06/2022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1100229-4E84-4CE9-9A2D-1E242D84FE19}" type="slidenum">
              <a:rPr lang="en-AU" smtClean="0"/>
              <a:t>‹#›</a:t>
            </a:fld>
            <a:endParaRPr lang="en-AU"/>
          </a:p>
        </p:txBody>
      </p:sp>
    </p:spTree>
    <p:extLst>
      <p:ext uri="{BB962C8B-B14F-4D97-AF65-F5344CB8AC3E}">
        <p14:creationId xmlns:p14="http://schemas.microsoft.com/office/powerpoint/2010/main" val="14942129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C3CC91E-EC0F-4670-9E10-A32248F01262}" type="datetimeFigureOut">
              <a:rPr lang="en-AU" smtClean="0"/>
              <a:t>30/06/2022</a:t>
            </a:fld>
            <a:endParaRPr lang="en-AU"/>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1100229-4E84-4CE9-9A2D-1E242D84FE19}" type="slidenum">
              <a:rPr lang="en-AU" smtClean="0"/>
              <a:t>‹#›</a:t>
            </a:fld>
            <a:endParaRPr lang="en-AU"/>
          </a:p>
        </p:txBody>
      </p:sp>
    </p:spTree>
    <p:extLst>
      <p:ext uri="{BB962C8B-B14F-4D97-AF65-F5344CB8AC3E}">
        <p14:creationId xmlns:p14="http://schemas.microsoft.com/office/powerpoint/2010/main" val="694304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63543-7C02-4412-8282-FA6C8B4C3B9A}"/>
              </a:ext>
            </a:extLst>
          </p:cNvPr>
          <p:cNvSpPr>
            <a:spLocks noGrp="1"/>
          </p:cNvSpPr>
          <p:nvPr>
            <p:ph type="ctrTitle"/>
          </p:nvPr>
        </p:nvSpPr>
        <p:spPr/>
        <p:txBody>
          <a:bodyPr/>
          <a:lstStyle/>
          <a:p>
            <a:r>
              <a:rPr lang="en-US" dirty="0"/>
              <a:t>NOTES</a:t>
            </a:r>
            <a:endParaRPr lang="en-AU" dirty="0"/>
          </a:p>
        </p:txBody>
      </p:sp>
    </p:spTree>
    <p:extLst>
      <p:ext uri="{BB962C8B-B14F-4D97-AF65-F5344CB8AC3E}">
        <p14:creationId xmlns:p14="http://schemas.microsoft.com/office/powerpoint/2010/main" val="3183594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8FFF1-12D1-45ED-B79E-2005CEE9C7F3}"/>
              </a:ext>
            </a:extLst>
          </p:cNvPr>
          <p:cNvSpPr>
            <a:spLocks noGrp="1"/>
          </p:cNvSpPr>
          <p:nvPr>
            <p:ph type="title"/>
          </p:nvPr>
        </p:nvSpPr>
        <p:spPr/>
        <p:txBody>
          <a:bodyPr/>
          <a:lstStyle/>
          <a:p>
            <a:r>
              <a:rPr lang="en-AU" dirty="0"/>
              <a:t>Cloud computing</a:t>
            </a:r>
          </a:p>
        </p:txBody>
      </p:sp>
      <p:sp>
        <p:nvSpPr>
          <p:cNvPr id="3" name="Content Placeholder 2">
            <a:extLst>
              <a:ext uri="{FF2B5EF4-FFF2-40B4-BE49-F238E27FC236}">
                <a16:creationId xmlns:a16="http://schemas.microsoft.com/office/drawing/2014/main" id="{F44AC6E9-832A-48C1-A478-42E48C32AEA2}"/>
              </a:ext>
            </a:extLst>
          </p:cNvPr>
          <p:cNvSpPr>
            <a:spLocks noGrp="1"/>
          </p:cNvSpPr>
          <p:nvPr>
            <p:ph idx="1"/>
          </p:nvPr>
        </p:nvSpPr>
        <p:spPr>
          <a:xfrm>
            <a:off x="677334" y="1520457"/>
            <a:ext cx="9455494" cy="5092994"/>
          </a:xfrm>
        </p:spPr>
        <p:txBody>
          <a:bodyPr/>
          <a:lstStyle/>
          <a:p>
            <a:pPr algn="just">
              <a:lnSpc>
                <a:spcPct val="150000"/>
              </a:lnSpc>
            </a:pPr>
            <a:r>
              <a:rPr lang="en-AU" dirty="0"/>
              <a:t>It provides resources to consumers in the form of different services, such as software, infrastructure, platforms, and security.</a:t>
            </a:r>
          </a:p>
          <a:p>
            <a:pPr algn="just">
              <a:lnSpc>
                <a:spcPct val="150000"/>
              </a:lnSpc>
            </a:pPr>
            <a:r>
              <a:rPr lang="en-AU" dirty="0"/>
              <a:t>Cloud services can be broadly classified into three major types: software as a service (SaaS), platform as a service (PaaS), and infrastructure as a service (IaaS). Many other services, such as security as a service (</a:t>
            </a:r>
            <a:r>
              <a:rPr lang="en-AU" dirty="0" err="1"/>
              <a:t>SeaaS</a:t>
            </a:r>
            <a:r>
              <a:rPr lang="en-AU" dirty="0"/>
              <a:t>), knowledge as a service, and analytics as a service (</a:t>
            </a:r>
            <a:r>
              <a:rPr lang="en-AU" dirty="0" err="1"/>
              <a:t>AaaS</a:t>
            </a:r>
            <a:r>
              <a:rPr lang="en-AU" dirty="0"/>
              <a:t>) are emerging.</a:t>
            </a:r>
          </a:p>
        </p:txBody>
      </p:sp>
    </p:spTree>
    <p:extLst>
      <p:ext uri="{BB962C8B-B14F-4D97-AF65-F5344CB8AC3E}">
        <p14:creationId xmlns:p14="http://schemas.microsoft.com/office/powerpoint/2010/main" val="799041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8FFF1-12D1-45ED-B79E-2005CEE9C7F3}"/>
              </a:ext>
            </a:extLst>
          </p:cNvPr>
          <p:cNvSpPr>
            <a:spLocks noGrp="1"/>
          </p:cNvSpPr>
          <p:nvPr>
            <p:ph type="title"/>
          </p:nvPr>
        </p:nvSpPr>
        <p:spPr/>
        <p:txBody>
          <a:bodyPr/>
          <a:lstStyle/>
          <a:p>
            <a:r>
              <a:rPr lang="en-AU" dirty="0"/>
              <a:t>Providers of Infrastructure as a Service</a:t>
            </a:r>
          </a:p>
        </p:txBody>
      </p:sp>
      <p:sp>
        <p:nvSpPr>
          <p:cNvPr id="3" name="Content Placeholder 2">
            <a:extLst>
              <a:ext uri="{FF2B5EF4-FFF2-40B4-BE49-F238E27FC236}">
                <a16:creationId xmlns:a16="http://schemas.microsoft.com/office/drawing/2014/main" id="{F44AC6E9-832A-48C1-A478-42E48C32AEA2}"/>
              </a:ext>
            </a:extLst>
          </p:cNvPr>
          <p:cNvSpPr>
            <a:spLocks noGrp="1"/>
          </p:cNvSpPr>
          <p:nvPr>
            <p:ph idx="1"/>
          </p:nvPr>
        </p:nvSpPr>
        <p:spPr>
          <a:xfrm>
            <a:off x="677334" y="1520457"/>
            <a:ext cx="9455494" cy="5092994"/>
          </a:xfrm>
        </p:spPr>
        <p:txBody>
          <a:bodyPr/>
          <a:lstStyle/>
          <a:p>
            <a:pPr algn="just">
              <a:lnSpc>
                <a:spcPct val="150000"/>
              </a:lnSpc>
            </a:pPr>
            <a:r>
              <a:rPr lang="en-AU" dirty="0"/>
              <a:t>Infrastructure as a service (IaaS) is a provision model in which an organization offers storage, hardware, servers, and networking components to users for their use on demand. </a:t>
            </a:r>
          </a:p>
          <a:p>
            <a:pPr algn="just">
              <a:lnSpc>
                <a:spcPct val="150000"/>
              </a:lnSpc>
            </a:pPr>
            <a:r>
              <a:rPr lang="en-AU" dirty="0"/>
              <a:t>The client typically pays on a per‐use basis.</a:t>
            </a:r>
          </a:p>
          <a:p>
            <a:pPr algn="just">
              <a:lnSpc>
                <a:spcPct val="150000"/>
              </a:lnSpc>
            </a:pPr>
            <a:r>
              <a:rPr lang="en-AU" dirty="0"/>
              <a:t>The service provider owns the infrastructure and is responsible for housing, running, and maintaining it.</a:t>
            </a:r>
          </a:p>
          <a:p>
            <a:pPr algn="just">
              <a:lnSpc>
                <a:spcPct val="150000"/>
              </a:lnSpc>
            </a:pPr>
            <a:r>
              <a:rPr lang="en-AU" dirty="0"/>
              <a:t>few major IaaS providers such as Amazon and </a:t>
            </a:r>
            <a:r>
              <a:rPr lang="en-AU" dirty="0" err="1"/>
              <a:t>Rackspace</a:t>
            </a:r>
            <a:endParaRPr lang="en-AU" dirty="0"/>
          </a:p>
        </p:txBody>
      </p:sp>
    </p:spTree>
    <p:extLst>
      <p:ext uri="{BB962C8B-B14F-4D97-AF65-F5344CB8AC3E}">
        <p14:creationId xmlns:p14="http://schemas.microsoft.com/office/powerpoint/2010/main" val="2025929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8FFF1-12D1-45ED-B79E-2005CEE9C7F3}"/>
              </a:ext>
            </a:extLst>
          </p:cNvPr>
          <p:cNvSpPr>
            <a:spLocks noGrp="1"/>
          </p:cNvSpPr>
          <p:nvPr>
            <p:ph type="title"/>
          </p:nvPr>
        </p:nvSpPr>
        <p:spPr/>
        <p:txBody>
          <a:bodyPr/>
          <a:lstStyle/>
          <a:p>
            <a:r>
              <a:rPr lang="en-AU" dirty="0"/>
              <a:t>Amazon Elastic Compute Cloud</a:t>
            </a:r>
          </a:p>
        </p:txBody>
      </p:sp>
      <p:sp>
        <p:nvSpPr>
          <p:cNvPr id="3" name="Content Placeholder 2">
            <a:extLst>
              <a:ext uri="{FF2B5EF4-FFF2-40B4-BE49-F238E27FC236}">
                <a16:creationId xmlns:a16="http://schemas.microsoft.com/office/drawing/2014/main" id="{F44AC6E9-832A-48C1-A478-42E48C32AEA2}"/>
              </a:ext>
            </a:extLst>
          </p:cNvPr>
          <p:cNvSpPr>
            <a:spLocks noGrp="1"/>
          </p:cNvSpPr>
          <p:nvPr>
            <p:ph idx="1"/>
          </p:nvPr>
        </p:nvSpPr>
        <p:spPr>
          <a:xfrm>
            <a:off x="677334" y="1520457"/>
            <a:ext cx="9242843" cy="5092994"/>
          </a:xfrm>
        </p:spPr>
        <p:txBody>
          <a:bodyPr/>
          <a:lstStyle/>
          <a:p>
            <a:pPr algn="just">
              <a:lnSpc>
                <a:spcPct val="150000"/>
              </a:lnSpc>
            </a:pPr>
            <a:r>
              <a:rPr lang="en-AU" dirty="0"/>
              <a:t>Amazon Elastic Compute Cloud (EC2) provides scalable computing capacity in the Amazon Web Services (AWS) Cloud. </a:t>
            </a:r>
          </a:p>
          <a:p>
            <a:pPr algn="just">
              <a:lnSpc>
                <a:spcPct val="150000"/>
              </a:lnSpc>
            </a:pPr>
            <a:r>
              <a:rPr lang="en-AU" dirty="0"/>
              <a:t>Using Amazon EC2 eliminates your need to invest in hardware up front, so you can develop and deploy applications faster. </a:t>
            </a:r>
          </a:p>
          <a:p>
            <a:pPr algn="just">
              <a:lnSpc>
                <a:spcPct val="150000"/>
              </a:lnSpc>
            </a:pPr>
            <a:r>
              <a:rPr lang="en-AU" dirty="0"/>
              <a:t>You can use Amazon EC2 to launch as many or as few virtual servers as you need, configure security and networking, and manage storage. </a:t>
            </a:r>
          </a:p>
          <a:p>
            <a:pPr algn="just">
              <a:lnSpc>
                <a:spcPct val="150000"/>
              </a:lnSpc>
            </a:pPr>
            <a:r>
              <a:rPr lang="en-AU" dirty="0"/>
              <a:t>Amazon EC2 enables you to scale up or down to handle changes in requirements or spikes in popularity, reducing your need to forecast traffic.</a:t>
            </a:r>
          </a:p>
        </p:txBody>
      </p:sp>
    </p:spTree>
    <p:extLst>
      <p:ext uri="{BB962C8B-B14F-4D97-AF65-F5344CB8AC3E}">
        <p14:creationId xmlns:p14="http://schemas.microsoft.com/office/powerpoint/2010/main" val="4242643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8FFF1-12D1-45ED-B79E-2005CEE9C7F3}"/>
              </a:ext>
            </a:extLst>
          </p:cNvPr>
          <p:cNvSpPr>
            <a:spLocks noGrp="1"/>
          </p:cNvSpPr>
          <p:nvPr>
            <p:ph type="title"/>
          </p:nvPr>
        </p:nvSpPr>
        <p:spPr/>
        <p:txBody>
          <a:bodyPr/>
          <a:lstStyle/>
          <a:p>
            <a:r>
              <a:rPr lang="en-AU" dirty="0"/>
              <a:t>Features of Amazon EC2</a:t>
            </a:r>
          </a:p>
        </p:txBody>
      </p:sp>
      <p:sp>
        <p:nvSpPr>
          <p:cNvPr id="3" name="Content Placeholder 2">
            <a:extLst>
              <a:ext uri="{FF2B5EF4-FFF2-40B4-BE49-F238E27FC236}">
                <a16:creationId xmlns:a16="http://schemas.microsoft.com/office/drawing/2014/main" id="{F44AC6E9-832A-48C1-A478-42E48C32AEA2}"/>
              </a:ext>
            </a:extLst>
          </p:cNvPr>
          <p:cNvSpPr>
            <a:spLocks noGrp="1"/>
          </p:cNvSpPr>
          <p:nvPr>
            <p:ph idx="1"/>
          </p:nvPr>
        </p:nvSpPr>
        <p:spPr>
          <a:xfrm>
            <a:off x="677334" y="1520457"/>
            <a:ext cx="9242843" cy="5092994"/>
          </a:xfrm>
        </p:spPr>
        <p:txBody>
          <a:bodyPr>
            <a:normAutofit/>
          </a:bodyPr>
          <a:lstStyle/>
          <a:p>
            <a:pPr algn="just">
              <a:lnSpc>
                <a:spcPct val="150000"/>
              </a:lnSpc>
            </a:pPr>
            <a:r>
              <a:rPr lang="en-AU" dirty="0"/>
              <a:t>Virtual computing environments, known as instances</a:t>
            </a:r>
          </a:p>
          <a:p>
            <a:pPr algn="just">
              <a:lnSpc>
                <a:spcPct val="150000"/>
              </a:lnSpc>
            </a:pPr>
            <a:r>
              <a:rPr lang="en-AU" dirty="0"/>
              <a:t>Preconfigured templates for your instances, known as Amazon Machine Images (AMIs), that package the bits you need for your server (including the operating system and additional software)</a:t>
            </a:r>
          </a:p>
          <a:p>
            <a:pPr algn="just">
              <a:lnSpc>
                <a:spcPct val="150000"/>
              </a:lnSpc>
            </a:pPr>
            <a:r>
              <a:rPr lang="en-AU" dirty="0"/>
              <a:t>Various configurations of CPU, memory, storage, and networking capacity for your instances, known as instance types</a:t>
            </a:r>
          </a:p>
          <a:p>
            <a:pPr algn="just">
              <a:lnSpc>
                <a:spcPct val="150000"/>
              </a:lnSpc>
            </a:pPr>
            <a:r>
              <a:rPr lang="en-AU" dirty="0"/>
              <a:t>Secure login information for your instances using key pairs (AWS stores the public key, and you store the private key in a secure place)</a:t>
            </a:r>
          </a:p>
          <a:p>
            <a:pPr algn="just">
              <a:lnSpc>
                <a:spcPct val="150000"/>
              </a:lnSpc>
            </a:pPr>
            <a:r>
              <a:rPr lang="en-AU" dirty="0"/>
              <a:t>Storage volumes for temporary data that's deleted when you stop, hibernate, or terminate your instance, known as instance store volumes</a:t>
            </a:r>
          </a:p>
        </p:txBody>
      </p:sp>
    </p:spTree>
    <p:extLst>
      <p:ext uri="{BB962C8B-B14F-4D97-AF65-F5344CB8AC3E}">
        <p14:creationId xmlns:p14="http://schemas.microsoft.com/office/powerpoint/2010/main" val="2694655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8FFF1-12D1-45ED-B79E-2005CEE9C7F3}"/>
              </a:ext>
            </a:extLst>
          </p:cNvPr>
          <p:cNvSpPr>
            <a:spLocks noGrp="1"/>
          </p:cNvSpPr>
          <p:nvPr>
            <p:ph type="title"/>
          </p:nvPr>
        </p:nvSpPr>
        <p:spPr/>
        <p:txBody>
          <a:bodyPr/>
          <a:lstStyle/>
          <a:p>
            <a:r>
              <a:rPr lang="en-AU" dirty="0"/>
              <a:t>Features of Amazon EC2</a:t>
            </a:r>
          </a:p>
        </p:txBody>
      </p:sp>
      <p:sp>
        <p:nvSpPr>
          <p:cNvPr id="3" name="Content Placeholder 2">
            <a:extLst>
              <a:ext uri="{FF2B5EF4-FFF2-40B4-BE49-F238E27FC236}">
                <a16:creationId xmlns:a16="http://schemas.microsoft.com/office/drawing/2014/main" id="{F44AC6E9-832A-48C1-A478-42E48C32AEA2}"/>
              </a:ext>
            </a:extLst>
          </p:cNvPr>
          <p:cNvSpPr>
            <a:spLocks noGrp="1"/>
          </p:cNvSpPr>
          <p:nvPr>
            <p:ph idx="1"/>
          </p:nvPr>
        </p:nvSpPr>
        <p:spPr>
          <a:xfrm>
            <a:off x="677334" y="1520457"/>
            <a:ext cx="9242843" cy="5092994"/>
          </a:xfrm>
        </p:spPr>
        <p:txBody>
          <a:bodyPr>
            <a:normAutofit/>
          </a:bodyPr>
          <a:lstStyle/>
          <a:p>
            <a:pPr algn="just">
              <a:lnSpc>
                <a:spcPct val="150000"/>
              </a:lnSpc>
            </a:pPr>
            <a:r>
              <a:rPr lang="en-AU" dirty="0"/>
              <a:t>Persistent storage volumes for your data using Amazon Elastic Block Store (Amazon EBS), known as Amazon EBS volumes</a:t>
            </a:r>
          </a:p>
          <a:p>
            <a:pPr algn="just">
              <a:lnSpc>
                <a:spcPct val="150000"/>
              </a:lnSpc>
            </a:pPr>
            <a:r>
              <a:rPr lang="en-AU" dirty="0"/>
              <a:t>Multiple physical locations for your resources, such as instances and Amazon EBS volumes, known as Regions and Availability Zones</a:t>
            </a:r>
          </a:p>
          <a:p>
            <a:pPr algn="just">
              <a:lnSpc>
                <a:spcPct val="150000"/>
              </a:lnSpc>
            </a:pPr>
            <a:r>
              <a:rPr lang="en-AU" dirty="0"/>
              <a:t>A firewall that enables you to specify the protocols, ports, and source IP ranges that can reach your instances using security groups</a:t>
            </a:r>
          </a:p>
          <a:p>
            <a:pPr>
              <a:lnSpc>
                <a:spcPct val="150000"/>
              </a:lnSpc>
            </a:pPr>
            <a:r>
              <a:rPr lang="en-AU" dirty="0"/>
              <a:t>Amazon EC2 enables the user to instantiate virtual machines of his choice through a Web‐service interface. </a:t>
            </a:r>
          </a:p>
          <a:p>
            <a:pPr>
              <a:lnSpc>
                <a:spcPct val="150000"/>
              </a:lnSpc>
            </a:pPr>
            <a:r>
              <a:rPr lang="en-AU" dirty="0"/>
              <a:t>An instance can be obtained on demand on an hourly basis, thus eliminating the need for estimating computing needs in advance.</a:t>
            </a:r>
          </a:p>
        </p:txBody>
      </p:sp>
      <p:sp>
        <p:nvSpPr>
          <p:cNvPr id="4" name="Rectangle 3">
            <a:extLst>
              <a:ext uri="{FF2B5EF4-FFF2-40B4-BE49-F238E27FC236}">
                <a16:creationId xmlns:a16="http://schemas.microsoft.com/office/drawing/2014/main" id="{AD26FA3E-4E45-4384-B47D-0F6E8F38E6B5}"/>
              </a:ext>
            </a:extLst>
          </p:cNvPr>
          <p:cNvSpPr/>
          <p:nvPr/>
        </p:nvSpPr>
        <p:spPr>
          <a:xfrm>
            <a:off x="5418666" y="6613451"/>
            <a:ext cx="6096000" cy="215444"/>
          </a:xfrm>
          <a:prstGeom prst="rect">
            <a:avLst/>
          </a:prstGeom>
        </p:spPr>
        <p:txBody>
          <a:bodyPr>
            <a:spAutoFit/>
          </a:bodyPr>
          <a:lstStyle/>
          <a:p>
            <a:r>
              <a:rPr lang="en-AU" sz="800" dirty="0"/>
              <a:t>https://docs.aws.amazon.com/AWSEC2/latest/UserGuide/concepts.html</a:t>
            </a:r>
          </a:p>
        </p:txBody>
      </p:sp>
    </p:spTree>
    <p:extLst>
      <p:ext uri="{BB962C8B-B14F-4D97-AF65-F5344CB8AC3E}">
        <p14:creationId xmlns:p14="http://schemas.microsoft.com/office/powerpoint/2010/main" val="2997460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8FFF1-12D1-45ED-B79E-2005CEE9C7F3}"/>
              </a:ext>
            </a:extLst>
          </p:cNvPr>
          <p:cNvSpPr>
            <a:spLocks noGrp="1"/>
          </p:cNvSpPr>
          <p:nvPr>
            <p:ph type="title"/>
          </p:nvPr>
        </p:nvSpPr>
        <p:spPr/>
        <p:txBody>
          <a:bodyPr/>
          <a:lstStyle/>
          <a:p>
            <a:r>
              <a:rPr lang="en-AU" dirty="0"/>
              <a:t>Features of Amazon EC2</a:t>
            </a:r>
          </a:p>
        </p:txBody>
      </p:sp>
      <p:sp>
        <p:nvSpPr>
          <p:cNvPr id="3" name="Content Placeholder 2">
            <a:extLst>
              <a:ext uri="{FF2B5EF4-FFF2-40B4-BE49-F238E27FC236}">
                <a16:creationId xmlns:a16="http://schemas.microsoft.com/office/drawing/2014/main" id="{F44AC6E9-832A-48C1-A478-42E48C32AEA2}"/>
              </a:ext>
            </a:extLst>
          </p:cNvPr>
          <p:cNvSpPr>
            <a:spLocks noGrp="1"/>
          </p:cNvSpPr>
          <p:nvPr>
            <p:ph idx="1"/>
          </p:nvPr>
        </p:nvSpPr>
        <p:spPr>
          <a:xfrm>
            <a:off x="677334" y="1520457"/>
            <a:ext cx="9242843" cy="5092994"/>
          </a:xfrm>
        </p:spPr>
        <p:txBody>
          <a:bodyPr/>
          <a:lstStyle/>
          <a:p>
            <a:pPr algn="just">
              <a:lnSpc>
                <a:spcPct val="150000"/>
              </a:lnSpc>
            </a:pPr>
            <a:r>
              <a:rPr lang="en-AU" dirty="0"/>
              <a:t>AWS provides Amazon Cloud Watch, a Web service that provides monitoring for AWS cloud resources, starting with Amazon EC2. It enables customers to observe resource utilization, operational performance, and overall demand patterns – including metrics such as CPU utilization, disk reads and writes, and network traffic.</a:t>
            </a:r>
          </a:p>
          <a:p>
            <a:pPr algn="just">
              <a:lnSpc>
                <a:spcPct val="150000"/>
              </a:lnSpc>
            </a:pPr>
            <a:endParaRPr lang="en-AU" dirty="0"/>
          </a:p>
        </p:txBody>
      </p:sp>
    </p:spTree>
    <p:extLst>
      <p:ext uri="{BB962C8B-B14F-4D97-AF65-F5344CB8AC3E}">
        <p14:creationId xmlns:p14="http://schemas.microsoft.com/office/powerpoint/2010/main" val="4237012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D4660-2592-4351-B43B-5FE6333CD0DF}"/>
              </a:ext>
            </a:extLst>
          </p:cNvPr>
          <p:cNvSpPr>
            <a:spLocks noGrp="1"/>
          </p:cNvSpPr>
          <p:nvPr>
            <p:ph type="title"/>
          </p:nvPr>
        </p:nvSpPr>
        <p:spPr/>
        <p:txBody>
          <a:bodyPr/>
          <a:lstStyle/>
          <a:p>
            <a:r>
              <a:rPr lang="en-AU" dirty="0"/>
              <a:t>Different instance types</a:t>
            </a:r>
          </a:p>
        </p:txBody>
      </p:sp>
      <p:sp>
        <p:nvSpPr>
          <p:cNvPr id="3" name="Content Placeholder 2">
            <a:extLst>
              <a:ext uri="{FF2B5EF4-FFF2-40B4-BE49-F238E27FC236}">
                <a16:creationId xmlns:a16="http://schemas.microsoft.com/office/drawing/2014/main" id="{72CB9248-878A-4F89-A1D0-4D2869A37D62}"/>
              </a:ext>
            </a:extLst>
          </p:cNvPr>
          <p:cNvSpPr>
            <a:spLocks noGrp="1"/>
          </p:cNvSpPr>
          <p:nvPr>
            <p:ph idx="1"/>
          </p:nvPr>
        </p:nvSpPr>
        <p:spPr/>
        <p:txBody>
          <a:bodyPr/>
          <a:lstStyle/>
          <a:p>
            <a:pPr algn="just">
              <a:lnSpc>
                <a:spcPct val="200000"/>
              </a:lnSpc>
            </a:pPr>
            <a:r>
              <a:rPr lang="en-AU" dirty="0"/>
              <a:t>standard instances – suitable for most applications;</a:t>
            </a:r>
          </a:p>
          <a:p>
            <a:pPr algn="just">
              <a:lnSpc>
                <a:spcPct val="200000"/>
              </a:lnSpc>
            </a:pPr>
            <a:r>
              <a:rPr lang="en-AU" dirty="0" err="1"/>
              <a:t>microinstances</a:t>
            </a:r>
            <a:r>
              <a:rPr lang="en-AU" dirty="0"/>
              <a:t> – suitable for low‐throughput applications;</a:t>
            </a:r>
          </a:p>
          <a:p>
            <a:pPr algn="just">
              <a:lnSpc>
                <a:spcPct val="200000"/>
              </a:lnSpc>
            </a:pPr>
            <a:r>
              <a:rPr lang="en-AU" dirty="0"/>
              <a:t>high‐memory instances – suitable for high‐throughput applications;</a:t>
            </a:r>
          </a:p>
          <a:p>
            <a:pPr algn="just">
              <a:lnSpc>
                <a:spcPct val="200000"/>
              </a:lnSpc>
            </a:pPr>
            <a:r>
              <a:rPr lang="en-AU" dirty="0"/>
              <a:t>high‐CPU instances – suitable for compute‐intensive applications;</a:t>
            </a:r>
          </a:p>
          <a:p>
            <a:pPr algn="just">
              <a:lnSpc>
                <a:spcPct val="200000"/>
              </a:lnSpc>
            </a:pPr>
            <a:r>
              <a:rPr lang="en-AU" dirty="0"/>
              <a:t>cluster compute instances – suitable for high‐performance computing (HPC) applications.</a:t>
            </a:r>
          </a:p>
        </p:txBody>
      </p:sp>
    </p:spTree>
    <p:extLst>
      <p:ext uri="{BB962C8B-B14F-4D97-AF65-F5344CB8AC3E}">
        <p14:creationId xmlns:p14="http://schemas.microsoft.com/office/powerpoint/2010/main" val="3170781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8FFF1-12D1-45ED-B79E-2005CEE9C7F3}"/>
              </a:ext>
            </a:extLst>
          </p:cNvPr>
          <p:cNvSpPr>
            <a:spLocks noGrp="1"/>
          </p:cNvSpPr>
          <p:nvPr>
            <p:ph type="title"/>
          </p:nvPr>
        </p:nvSpPr>
        <p:spPr/>
        <p:txBody>
          <a:bodyPr/>
          <a:lstStyle/>
          <a:p>
            <a:r>
              <a:rPr lang="en-AU" dirty="0" err="1"/>
              <a:t>Rackspace</a:t>
            </a:r>
            <a:r>
              <a:rPr lang="en-AU" dirty="0"/>
              <a:t> Cloud</a:t>
            </a:r>
          </a:p>
        </p:txBody>
      </p:sp>
      <p:sp>
        <p:nvSpPr>
          <p:cNvPr id="3" name="Content Placeholder 2">
            <a:extLst>
              <a:ext uri="{FF2B5EF4-FFF2-40B4-BE49-F238E27FC236}">
                <a16:creationId xmlns:a16="http://schemas.microsoft.com/office/drawing/2014/main" id="{F44AC6E9-832A-48C1-A478-42E48C32AEA2}"/>
              </a:ext>
            </a:extLst>
          </p:cNvPr>
          <p:cNvSpPr>
            <a:spLocks noGrp="1"/>
          </p:cNvSpPr>
          <p:nvPr>
            <p:ph idx="1"/>
          </p:nvPr>
        </p:nvSpPr>
        <p:spPr>
          <a:xfrm>
            <a:off x="677334" y="1520457"/>
            <a:ext cx="9242843" cy="5092994"/>
          </a:xfrm>
        </p:spPr>
        <p:txBody>
          <a:bodyPr/>
          <a:lstStyle/>
          <a:p>
            <a:pPr algn="just">
              <a:lnSpc>
                <a:spcPct val="150000"/>
              </a:lnSpc>
            </a:pPr>
            <a:r>
              <a:rPr lang="en-AU" dirty="0" err="1"/>
              <a:t>Rackspace</a:t>
            </a:r>
            <a:r>
              <a:rPr lang="en-AU" dirty="0"/>
              <a:t> Cloud offers IaaS to clients. It offers three cloud computing solutions – cloud servers, cloud files, and cloud sites. </a:t>
            </a:r>
          </a:p>
          <a:p>
            <a:pPr algn="just">
              <a:lnSpc>
                <a:spcPct val="150000"/>
              </a:lnSpc>
            </a:pPr>
            <a:r>
              <a:rPr lang="en-AU" dirty="0"/>
              <a:t>Cloud servers provide computational power on demand in minutes. </a:t>
            </a:r>
          </a:p>
          <a:p>
            <a:pPr algn="just">
              <a:lnSpc>
                <a:spcPct val="150000"/>
              </a:lnSpc>
            </a:pPr>
            <a:r>
              <a:rPr lang="en-AU" dirty="0"/>
              <a:t>Cloud files are for elastic online file storage and content delivery</a:t>
            </a:r>
          </a:p>
          <a:p>
            <a:pPr algn="just">
              <a:lnSpc>
                <a:spcPct val="150000"/>
              </a:lnSpc>
            </a:pPr>
            <a:r>
              <a:rPr lang="en-AU" dirty="0"/>
              <a:t>Cloud sites are for robust and scalable Web hosting.</a:t>
            </a:r>
          </a:p>
        </p:txBody>
      </p:sp>
    </p:spTree>
    <p:extLst>
      <p:ext uri="{BB962C8B-B14F-4D97-AF65-F5344CB8AC3E}">
        <p14:creationId xmlns:p14="http://schemas.microsoft.com/office/powerpoint/2010/main" val="3924283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8FFF1-12D1-45ED-B79E-2005CEE9C7F3}"/>
              </a:ext>
            </a:extLst>
          </p:cNvPr>
          <p:cNvSpPr>
            <a:spLocks noGrp="1"/>
          </p:cNvSpPr>
          <p:nvPr>
            <p:ph type="title"/>
          </p:nvPr>
        </p:nvSpPr>
        <p:spPr/>
        <p:txBody>
          <a:bodyPr/>
          <a:lstStyle/>
          <a:p>
            <a:r>
              <a:rPr lang="en-AU" dirty="0" err="1"/>
              <a:t>Rackspace</a:t>
            </a:r>
            <a:r>
              <a:rPr lang="en-AU" dirty="0"/>
              <a:t> Cloud</a:t>
            </a:r>
          </a:p>
        </p:txBody>
      </p:sp>
      <p:sp>
        <p:nvSpPr>
          <p:cNvPr id="3" name="Content Placeholder 2">
            <a:extLst>
              <a:ext uri="{FF2B5EF4-FFF2-40B4-BE49-F238E27FC236}">
                <a16:creationId xmlns:a16="http://schemas.microsoft.com/office/drawing/2014/main" id="{F44AC6E9-832A-48C1-A478-42E48C32AEA2}"/>
              </a:ext>
            </a:extLst>
          </p:cNvPr>
          <p:cNvSpPr>
            <a:spLocks noGrp="1"/>
          </p:cNvSpPr>
          <p:nvPr>
            <p:ph idx="1"/>
          </p:nvPr>
        </p:nvSpPr>
        <p:spPr>
          <a:xfrm>
            <a:off x="677334" y="1520457"/>
            <a:ext cx="9242843" cy="5092994"/>
          </a:xfrm>
        </p:spPr>
        <p:txBody>
          <a:bodyPr>
            <a:normAutofit/>
          </a:bodyPr>
          <a:lstStyle/>
          <a:p>
            <a:pPr algn="just">
              <a:lnSpc>
                <a:spcPct val="150000"/>
              </a:lnSpc>
            </a:pPr>
            <a:r>
              <a:rPr lang="en-AU" sz="1600" dirty="0"/>
              <a:t>Cloud servers is an implementation of IaaS where computing capacity is provided as virtual machines, which run in the cloud servers’ systems. The virtual machine instances are configured with different amounts of capacity. </a:t>
            </a:r>
          </a:p>
          <a:p>
            <a:pPr algn="just">
              <a:lnSpc>
                <a:spcPct val="150000"/>
              </a:lnSpc>
            </a:pPr>
            <a:r>
              <a:rPr lang="en-AU" sz="1600" dirty="0"/>
              <a:t>The instances come in different </a:t>
            </a:r>
            <a:r>
              <a:rPr lang="en-AU" sz="1600" dirty="0" err="1"/>
              <a:t>flavors</a:t>
            </a:r>
            <a:r>
              <a:rPr lang="en-AU" sz="1600" dirty="0"/>
              <a:t> and images. A </a:t>
            </a:r>
            <a:r>
              <a:rPr lang="en-AU" sz="1600" dirty="0" err="1"/>
              <a:t>flavor</a:t>
            </a:r>
            <a:r>
              <a:rPr lang="en-AU" sz="1600" dirty="0"/>
              <a:t> is an available hardware configuration for a server. Each </a:t>
            </a:r>
            <a:r>
              <a:rPr lang="en-AU" sz="1600" dirty="0" err="1"/>
              <a:t>flavor</a:t>
            </a:r>
            <a:r>
              <a:rPr lang="en-AU" sz="1600" dirty="0"/>
              <a:t> has a unique combination of disk space, memory capacity, and priority for CPU time. </a:t>
            </a:r>
          </a:p>
          <a:p>
            <a:pPr algn="just">
              <a:lnSpc>
                <a:spcPct val="150000"/>
              </a:lnSpc>
            </a:pPr>
            <a:r>
              <a:rPr lang="en-AU" sz="1600" dirty="0"/>
              <a:t>Virtual machines are instantiated using images. An image is a collection of files used to create or rebuild a server. </a:t>
            </a:r>
          </a:p>
          <a:p>
            <a:pPr algn="just">
              <a:lnSpc>
                <a:spcPct val="150000"/>
              </a:lnSpc>
            </a:pPr>
            <a:r>
              <a:rPr lang="en-AU" sz="1600" dirty="0"/>
              <a:t>A variety of prebuilt operating system images is provided by </a:t>
            </a:r>
            <a:r>
              <a:rPr lang="en-AU" sz="1600" dirty="0" err="1"/>
              <a:t>Rackspace</a:t>
            </a:r>
            <a:r>
              <a:rPr lang="en-AU" sz="1600" dirty="0"/>
              <a:t> Cloud – 64‐bit Linux Distributions (Ubuntu, Debian, Gentoo, CentOS, Fedora, Arch and Red Hat Enterprise Linux) or Windows Images (Windows Server 2003 and Windows Server 2008). These images can be customized to the user’s choice</a:t>
            </a:r>
          </a:p>
        </p:txBody>
      </p:sp>
    </p:spTree>
    <p:extLst>
      <p:ext uri="{BB962C8B-B14F-4D97-AF65-F5344CB8AC3E}">
        <p14:creationId xmlns:p14="http://schemas.microsoft.com/office/powerpoint/2010/main" val="35201657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8FFF1-12D1-45ED-B79E-2005CEE9C7F3}"/>
              </a:ext>
            </a:extLst>
          </p:cNvPr>
          <p:cNvSpPr>
            <a:spLocks noGrp="1"/>
          </p:cNvSpPr>
          <p:nvPr>
            <p:ph type="title"/>
          </p:nvPr>
        </p:nvSpPr>
        <p:spPr/>
        <p:txBody>
          <a:bodyPr/>
          <a:lstStyle/>
          <a:p>
            <a:r>
              <a:rPr lang="en-AU" dirty="0"/>
              <a:t>Providers of Platform as a Service</a:t>
            </a:r>
          </a:p>
        </p:txBody>
      </p:sp>
      <p:sp>
        <p:nvSpPr>
          <p:cNvPr id="3" name="Content Placeholder 2">
            <a:extLst>
              <a:ext uri="{FF2B5EF4-FFF2-40B4-BE49-F238E27FC236}">
                <a16:creationId xmlns:a16="http://schemas.microsoft.com/office/drawing/2014/main" id="{F44AC6E9-832A-48C1-A478-42E48C32AEA2}"/>
              </a:ext>
            </a:extLst>
          </p:cNvPr>
          <p:cNvSpPr>
            <a:spLocks noGrp="1"/>
          </p:cNvSpPr>
          <p:nvPr>
            <p:ph idx="1"/>
          </p:nvPr>
        </p:nvSpPr>
        <p:spPr>
          <a:xfrm>
            <a:off x="677334" y="1520457"/>
            <a:ext cx="9242843" cy="5092994"/>
          </a:xfrm>
        </p:spPr>
        <p:txBody>
          <a:bodyPr/>
          <a:lstStyle/>
          <a:p>
            <a:pPr algn="just">
              <a:lnSpc>
                <a:spcPct val="150000"/>
              </a:lnSpc>
            </a:pPr>
            <a:r>
              <a:rPr lang="en-AU" dirty="0"/>
              <a:t>Platform as a service (PaaS) is a category of cloud computing services that provides a computing platform for development of applications. </a:t>
            </a:r>
          </a:p>
          <a:p>
            <a:pPr algn="just">
              <a:lnSpc>
                <a:spcPct val="150000"/>
              </a:lnSpc>
            </a:pPr>
            <a:r>
              <a:rPr lang="en-AU" dirty="0"/>
              <a:t>Its offerings facilitate the deployment of applications without the cost and complexity of buying and managing the underlying hardware and software and provisioning hosting capabilities.</a:t>
            </a:r>
          </a:p>
          <a:p>
            <a:pPr algn="just">
              <a:lnSpc>
                <a:spcPct val="150000"/>
              </a:lnSpc>
            </a:pPr>
            <a:r>
              <a:rPr lang="en-AU" dirty="0"/>
              <a:t>It may also include facilities for application design, development, testing, and deployment. </a:t>
            </a:r>
          </a:p>
          <a:p>
            <a:pPr algn="just">
              <a:lnSpc>
                <a:spcPct val="150000"/>
              </a:lnSpc>
            </a:pPr>
            <a:r>
              <a:rPr lang="en-AU" dirty="0"/>
              <a:t>It also offers services such as Web‐service integration, security, database integration, storage, and so forth.</a:t>
            </a:r>
          </a:p>
        </p:txBody>
      </p:sp>
    </p:spTree>
    <p:extLst>
      <p:ext uri="{BB962C8B-B14F-4D97-AF65-F5344CB8AC3E}">
        <p14:creationId xmlns:p14="http://schemas.microsoft.com/office/powerpoint/2010/main" val="23858533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8FFF1-12D1-45ED-B79E-2005CEE9C7F3}"/>
              </a:ext>
            </a:extLst>
          </p:cNvPr>
          <p:cNvSpPr>
            <a:spLocks noGrp="1"/>
          </p:cNvSpPr>
          <p:nvPr>
            <p:ph type="title"/>
          </p:nvPr>
        </p:nvSpPr>
        <p:spPr>
          <a:xfrm>
            <a:off x="836822" y="244549"/>
            <a:ext cx="8596668" cy="1320800"/>
          </a:xfrm>
        </p:spPr>
        <p:txBody>
          <a:bodyPr/>
          <a:lstStyle/>
          <a:p>
            <a:r>
              <a:rPr lang="en-AU" b="1" dirty="0"/>
              <a:t>Google Cloud Platform</a:t>
            </a:r>
            <a:endParaRPr lang="en-AU" dirty="0"/>
          </a:p>
        </p:txBody>
      </p:sp>
      <p:sp>
        <p:nvSpPr>
          <p:cNvPr id="3" name="Content Placeholder 2">
            <a:extLst>
              <a:ext uri="{FF2B5EF4-FFF2-40B4-BE49-F238E27FC236}">
                <a16:creationId xmlns:a16="http://schemas.microsoft.com/office/drawing/2014/main" id="{F44AC6E9-832A-48C1-A478-42E48C32AEA2}"/>
              </a:ext>
            </a:extLst>
          </p:cNvPr>
          <p:cNvSpPr>
            <a:spLocks noGrp="1"/>
          </p:cNvSpPr>
          <p:nvPr>
            <p:ph idx="1"/>
          </p:nvPr>
        </p:nvSpPr>
        <p:spPr>
          <a:xfrm>
            <a:off x="634804" y="882502"/>
            <a:ext cx="9455494" cy="5975497"/>
          </a:xfrm>
        </p:spPr>
        <p:txBody>
          <a:bodyPr>
            <a:normAutofit/>
          </a:bodyPr>
          <a:lstStyle/>
          <a:p>
            <a:pPr marL="288000" indent="-252000">
              <a:lnSpc>
                <a:spcPct val="150000"/>
              </a:lnSpc>
              <a:spcBef>
                <a:spcPts val="0"/>
              </a:spcBef>
            </a:pPr>
            <a:r>
              <a:rPr lang="en-AU" dirty="0"/>
              <a:t>Google Cloud Platform enables developers to build, test and deploy applications on Google’s highly scalable and reliable infrastructure. </a:t>
            </a:r>
          </a:p>
          <a:p>
            <a:pPr marL="288000" indent="-252000">
              <a:lnSpc>
                <a:spcPct val="150000"/>
              </a:lnSpc>
              <a:spcBef>
                <a:spcPts val="0"/>
              </a:spcBef>
            </a:pPr>
            <a:r>
              <a:rPr lang="en-AU" dirty="0"/>
              <a:t>Google has one of the largest and most advanced networks across the globe and offers software infrastructure such as MapReduce, </a:t>
            </a:r>
            <a:r>
              <a:rPr lang="en-AU" dirty="0" err="1"/>
              <a:t>BigTable</a:t>
            </a:r>
            <a:r>
              <a:rPr lang="en-AU" dirty="0"/>
              <a:t>, and Dremel.</a:t>
            </a:r>
          </a:p>
          <a:p>
            <a:pPr marL="288000" indent="-252000">
              <a:lnSpc>
                <a:spcPct val="150000"/>
              </a:lnSpc>
              <a:spcBef>
                <a:spcPts val="0"/>
              </a:spcBef>
            </a:pPr>
            <a:r>
              <a:rPr lang="en-AU" dirty="0"/>
              <a:t>Google Cloud Platform includes virtual machines, block storage, NoSQL datastore, big data Analytics, and so forth.</a:t>
            </a:r>
          </a:p>
          <a:p>
            <a:pPr marL="288000" indent="-252000">
              <a:lnSpc>
                <a:spcPct val="150000"/>
              </a:lnSpc>
              <a:spcBef>
                <a:spcPts val="0"/>
              </a:spcBef>
            </a:pPr>
            <a:r>
              <a:rPr lang="en-AU" dirty="0"/>
              <a:t> It provides a range of storage services that allows easy maintenance and quick access to users’ data.</a:t>
            </a:r>
          </a:p>
          <a:p>
            <a:pPr marL="288000" indent="-252000">
              <a:lnSpc>
                <a:spcPct val="150000"/>
              </a:lnSpc>
              <a:spcBef>
                <a:spcPts val="0"/>
              </a:spcBef>
            </a:pPr>
            <a:r>
              <a:rPr lang="en-AU" dirty="0"/>
              <a:t> Cloud Platform offers a fully managed platform as well as flexible virtual machines allowing users to choose according to their requirements. </a:t>
            </a:r>
          </a:p>
          <a:p>
            <a:pPr marL="288000" indent="-252000">
              <a:lnSpc>
                <a:spcPct val="150000"/>
              </a:lnSpc>
              <a:spcBef>
                <a:spcPts val="0"/>
              </a:spcBef>
            </a:pPr>
            <a:r>
              <a:rPr lang="en-AU" dirty="0"/>
              <a:t>Google also provides easy integration of the user’s application within Cloud Platform</a:t>
            </a:r>
          </a:p>
          <a:p>
            <a:pPr marL="288000" indent="-252000">
              <a:lnSpc>
                <a:spcPct val="150000"/>
              </a:lnSpc>
              <a:spcBef>
                <a:spcPts val="0"/>
              </a:spcBef>
            </a:pPr>
            <a:r>
              <a:rPr lang="en-AU" dirty="0"/>
              <a:t>Managed services such as App Engine or Cloud Datastore provide autoscaling, which enables the application to grow with the users. The user has to pay only for what he uses</a:t>
            </a:r>
          </a:p>
        </p:txBody>
      </p:sp>
    </p:spTree>
    <p:extLst>
      <p:ext uri="{BB962C8B-B14F-4D97-AF65-F5344CB8AC3E}">
        <p14:creationId xmlns:p14="http://schemas.microsoft.com/office/powerpoint/2010/main" val="29260913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8FFF1-12D1-45ED-B79E-2005CEE9C7F3}"/>
              </a:ext>
            </a:extLst>
          </p:cNvPr>
          <p:cNvSpPr>
            <a:spLocks noGrp="1"/>
          </p:cNvSpPr>
          <p:nvPr>
            <p:ph type="title"/>
          </p:nvPr>
        </p:nvSpPr>
        <p:spPr/>
        <p:txBody>
          <a:bodyPr/>
          <a:lstStyle/>
          <a:p>
            <a:r>
              <a:rPr lang="en-AU" b="1" dirty="0"/>
              <a:t>Google App Engine</a:t>
            </a:r>
            <a:endParaRPr lang="en-AU" dirty="0"/>
          </a:p>
        </p:txBody>
      </p:sp>
      <p:sp>
        <p:nvSpPr>
          <p:cNvPr id="3" name="Content Placeholder 2">
            <a:extLst>
              <a:ext uri="{FF2B5EF4-FFF2-40B4-BE49-F238E27FC236}">
                <a16:creationId xmlns:a16="http://schemas.microsoft.com/office/drawing/2014/main" id="{F44AC6E9-832A-48C1-A478-42E48C32AEA2}"/>
              </a:ext>
            </a:extLst>
          </p:cNvPr>
          <p:cNvSpPr>
            <a:spLocks noGrp="1"/>
          </p:cNvSpPr>
          <p:nvPr>
            <p:ph idx="1"/>
          </p:nvPr>
        </p:nvSpPr>
        <p:spPr>
          <a:xfrm>
            <a:off x="677334" y="1520457"/>
            <a:ext cx="9455494" cy="5092994"/>
          </a:xfrm>
        </p:spPr>
        <p:txBody>
          <a:bodyPr/>
          <a:lstStyle/>
          <a:p>
            <a:pPr algn="just">
              <a:lnSpc>
                <a:spcPct val="150000"/>
              </a:lnSpc>
            </a:pPr>
            <a:r>
              <a:rPr lang="en-AU" dirty="0"/>
              <a:t>Google App Engine lets the user run Web applications on Google’s infrastructure. App Engine applications are easy to build, easy to maintain, and easy to scale as traffic and data storage needs grow. </a:t>
            </a:r>
          </a:p>
          <a:p>
            <a:pPr algn="just">
              <a:lnSpc>
                <a:spcPct val="150000"/>
              </a:lnSpc>
            </a:pPr>
            <a:r>
              <a:rPr lang="en-AU" dirty="0"/>
              <a:t>There are no servers to maintain App Engine. App can be served from the user’s own domain name (such as http://www.example.com/) using Google Apps. </a:t>
            </a:r>
          </a:p>
          <a:p>
            <a:pPr algn="just">
              <a:lnSpc>
                <a:spcPct val="150000"/>
              </a:lnSpc>
            </a:pPr>
            <a:r>
              <a:rPr lang="en-AU" dirty="0"/>
              <a:t>Otherwise it can be served using a free name on the appspot.com domain. An application can be shared with the world, or it can limit access to members of organization.</a:t>
            </a:r>
          </a:p>
        </p:txBody>
      </p:sp>
    </p:spTree>
    <p:extLst>
      <p:ext uri="{BB962C8B-B14F-4D97-AF65-F5344CB8AC3E}">
        <p14:creationId xmlns:p14="http://schemas.microsoft.com/office/powerpoint/2010/main" val="13423926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8FFF1-12D1-45ED-B79E-2005CEE9C7F3}"/>
              </a:ext>
            </a:extLst>
          </p:cNvPr>
          <p:cNvSpPr>
            <a:spLocks noGrp="1"/>
          </p:cNvSpPr>
          <p:nvPr>
            <p:ph type="title"/>
          </p:nvPr>
        </p:nvSpPr>
        <p:spPr/>
        <p:txBody>
          <a:bodyPr/>
          <a:lstStyle/>
          <a:p>
            <a:r>
              <a:rPr lang="en-AU" b="1" dirty="0"/>
              <a:t>Google App Engine</a:t>
            </a:r>
            <a:endParaRPr lang="en-AU" dirty="0"/>
          </a:p>
        </p:txBody>
      </p:sp>
      <p:sp>
        <p:nvSpPr>
          <p:cNvPr id="3" name="Content Placeholder 2">
            <a:extLst>
              <a:ext uri="{FF2B5EF4-FFF2-40B4-BE49-F238E27FC236}">
                <a16:creationId xmlns:a16="http://schemas.microsoft.com/office/drawing/2014/main" id="{F44AC6E9-832A-48C1-A478-42E48C32AEA2}"/>
              </a:ext>
            </a:extLst>
          </p:cNvPr>
          <p:cNvSpPr>
            <a:spLocks noGrp="1"/>
          </p:cNvSpPr>
          <p:nvPr>
            <p:ph idx="1"/>
          </p:nvPr>
        </p:nvSpPr>
        <p:spPr>
          <a:xfrm>
            <a:off x="677334" y="1520457"/>
            <a:ext cx="9455494" cy="5092994"/>
          </a:xfrm>
        </p:spPr>
        <p:txBody>
          <a:bodyPr/>
          <a:lstStyle/>
          <a:p>
            <a:pPr>
              <a:lnSpc>
                <a:spcPct val="150000"/>
              </a:lnSpc>
            </a:pPr>
            <a:r>
              <a:rPr lang="en-AU" dirty="0"/>
              <a:t>Google App Engine supports apps written in several programming languages.</a:t>
            </a:r>
          </a:p>
          <a:p>
            <a:pPr>
              <a:lnSpc>
                <a:spcPct val="150000"/>
              </a:lnSpc>
            </a:pPr>
            <a:r>
              <a:rPr lang="en-AU" dirty="0"/>
              <a:t> Apps can be built using standard Java technologies, including the JVM, Java servlets, and the Java programming language, JavaScript or Ruby, Python, or PHP—or bring your own language runtime.</a:t>
            </a:r>
          </a:p>
          <a:p>
            <a:pPr>
              <a:lnSpc>
                <a:spcPct val="150000"/>
              </a:lnSpc>
            </a:pPr>
            <a:r>
              <a:rPr lang="en-AU" dirty="0"/>
              <a:t>A fully managed environment lets you focus on code while App Engine manages infrastructure concerns.</a:t>
            </a:r>
          </a:p>
          <a:p>
            <a:pPr>
              <a:lnSpc>
                <a:spcPct val="150000"/>
              </a:lnSpc>
            </a:pPr>
            <a:r>
              <a:rPr lang="en-AU" dirty="0"/>
              <a:t>Use Cloud Monitoring and Cloud Logging to monitor the health and performance of your app and Cloud Debugger and Error Reporting to diagnose and fix bugs quickly.</a:t>
            </a:r>
          </a:p>
          <a:p>
            <a:pPr>
              <a:lnSpc>
                <a:spcPct val="150000"/>
              </a:lnSpc>
            </a:pPr>
            <a:r>
              <a:rPr lang="en-AU" dirty="0"/>
              <a:t>Easily host different versions of your app, and easily create development, test, staging, and production environments.</a:t>
            </a:r>
          </a:p>
        </p:txBody>
      </p:sp>
    </p:spTree>
    <p:extLst>
      <p:ext uri="{BB962C8B-B14F-4D97-AF65-F5344CB8AC3E}">
        <p14:creationId xmlns:p14="http://schemas.microsoft.com/office/powerpoint/2010/main" val="34943001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8FFF1-12D1-45ED-B79E-2005CEE9C7F3}"/>
              </a:ext>
            </a:extLst>
          </p:cNvPr>
          <p:cNvSpPr>
            <a:spLocks noGrp="1"/>
          </p:cNvSpPr>
          <p:nvPr>
            <p:ph type="title"/>
          </p:nvPr>
        </p:nvSpPr>
        <p:spPr/>
        <p:txBody>
          <a:bodyPr/>
          <a:lstStyle/>
          <a:p>
            <a:r>
              <a:rPr lang="en-AU" b="1" dirty="0"/>
              <a:t>SAP HANA Cloud Platform</a:t>
            </a:r>
            <a:endParaRPr lang="en-AU" dirty="0"/>
          </a:p>
        </p:txBody>
      </p:sp>
      <p:sp>
        <p:nvSpPr>
          <p:cNvPr id="3" name="Content Placeholder 2">
            <a:extLst>
              <a:ext uri="{FF2B5EF4-FFF2-40B4-BE49-F238E27FC236}">
                <a16:creationId xmlns:a16="http://schemas.microsoft.com/office/drawing/2014/main" id="{F44AC6E9-832A-48C1-A478-42E48C32AEA2}"/>
              </a:ext>
            </a:extLst>
          </p:cNvPr>
          <p:cNvSpPr>
            <a:spLocks noGrp="1"/>
          </p:cNvSpPr>
          <p:nvPr>
            <p:ph idx="1"/>
          </p:nvPr>
        </p:nvSpPr>
        <p:spPr>
          <a:xfrm>
            <a:off x="677334" y="1520457"/>
            <a:ext cx="9455494" cy="5092994"/>
          </a:xfrm>
        </p:spPr>
        <p:txBody>
          <a:bodyPr/>
          <a:lstStyle/>
          <a:p>
            <a:pPr algn="just">
              <a:lnSpc>
                <a:spcPct val="150000"/>
              </a:lnSpc>
            </a:pPr>
            <a:r>
              <a:rPr lang="en-AU" dirty="0"/>
              <a:t>The SAP HANA Cloud Platform is an open‐standard, Eclipse‐based, modular platform as a service.</a:t>
            </a:r>
          </a:p>
          <a:p>
            <a:pPr algn="just">
              <a:lnSpc>
                <a:spcPct val="150000"/>
              </a:lnSpc>
            </a:pPr>
            <a:r>
              <a:rPr lang="en-AU" dirty="0"/>
              <a:t>The applications run within the Java‐based SAP HANA Cloud Platform runtime environment powered by SAP HANA, and can be maintained using Web‐based management tools.</a:t>
            </a:r>
          </a:p>
          <a:p>
            <a:pPr algn="just">
              <a:lnSpc>
                <a:spcPct val="150000"/>
              </a:lnSpc>
            </a:pPr>
            <a:r>
              <a:rPr lang="en-AU" dirty="0"/>
              <a:t>The main features of the SAP HANA Cloud Platform are as follows:</a:t>
            </a:r>
          </a:p>
          <a:p>
            <a:pPr algn="just">
              <a:lnSpc>
                <a:spcPct val="150000"/>
              </a:lnSpc>
              <a:buFont typeface="Wingdings" panose="05000000000000000000" pitchFamily="2" charset="2"/>
              <a:buChar char="q"/>
            </a:pPr>
            <a:r>
              <a:rPr lang="en-AU" dirty="0"/>
              <a:t>an enterprise platform built for developers;</a:t>
            </a:r>
          </a:p>
          <a:p>
            <a:pPr algn="just">
              <a:lnSpc>
                <a:spcPct val="150000"/>
              </a:lnSpc>
              <a:buFont typeface="Wingdings" panose="05000000000000000000" pitchFamily="2" charset="2"/>
              <a:buChar char="q"/>
            </a:pPr>
            <a:r>
              <a:rPr lang="en-AU" dirty="0"/>
              <a:t>native integration with SAP and non‐SAP software;</a:t>
            </a:r>
          </a:p>
          <a:p>
            <a:pPr algn="just">
              <a:lnSpc>
                <a:spcPct val="150000"/>
              </a:lnSpc>
              <a:buFont typeface="Wingdings" panose="05000000000000000000" pitchFamily="2" charset="2"/>
              <a:buChar char="q"/>
            </a:pPr>
            <a:r>
              <a:rPr lang="en-AU" dirty="0"/>
              <a:t>in‐memory persistence;</a:t>
            </a:r>
          </a:p>
          <a:p>
            <a:pPr algn="just">
              <a:lnSpc>
                <a:spcPct val="150000"/>
              </a:lnSpc>
              <a:buFont typeface="Wingdings" panose="05000000000000000000" pitchFamily="2" charset="2"/>
              <a:buChar char="q"/>
            </a:pPr>
            <a:r>
              <a:rPr lang="en-AU" dirty="0"/>
              <a:t>a secure data platform</a:t>
            </a:r>
          </a:p>
        </p:txBody>
      </p:sp>
    </p:spTree>
    <p:extLst>
      <p:ext uri="{BB962C8B-B14F-4D97-AF65-F5344CB8AC3E}">
        <p14:creationId xmlns:p14="http://schemas.microsoft.com/office/powerpoint/2010/main" val="4175803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8FFF1-12D1-45ED-B79E-2005CEE9C7F3}"/>
              </a:ext>
            </a:extLst>
          </p:cNvPr>
          <p:cNvSpPr>
            <a:spLocks noGrp="1"/>
          </p:cNvSpPr>
          <p:nvPr>
            <p:ph type="title"/>
          </p:nvPr>
        </p:nvSpPr>
        <p:spPr/>
        <p:txBody>
          <a:bodyPr/>
          <a:lstStyle/>
          <a:p>
            <a:r>
              <a:rPr lang="en-AU" b="1" dirty="0"/>
              <a:t>SAP HANA Cloud Platform</a:t>
            </a:r>
            <a:endParaRPr lang="en-AU" dirty="0"/>
          </a:p>
        </p:txBody>
      </p:sp>
      <p:sp>
        <p:nvSpPr>
          <p:cNvPr id="3" name="Content Placeholder 2">
            <a:extLst>
              <a:ext uri="{FF2B5EF4-FFF2-40B4-BE49-F238E27FC236}">
                <a16:creationId xmlns:a16="http://schemas.microsoft.com/office/drawing/2014/main" id="{F44AC6E9-832A-48C1-A478-42E48C32AEA2}"/>
              </a:ext>
            </a:extLst>
          </p:cNvPr>
          <p:cNvSpPr>
            <a:spLocks noGrp="1"/>
          </p:cNvSpPr>
          <p:nvPr>
            <p:ph idx="1"/>
          </p:nvPr>
        </p:nvSpPr>
        <p:spPr>
          <a:xfrm>
            <a:off x="677334" y="1520457"/>
            <a:ext cx="9455494" cy="5092994"/>
          </a:xfrm>
        </p:spPr>
        <p:txBody>
          <a:bodyPr/>
          <a:lstStyle/>
          <a:p>
            <a:pPr algn="just">
              <a:lnSpc>
                <a:spcPct val="150000"/>
              </a:lnSpc>
            </a:pPr>
            <a:r>
              <a:rPr lang="en-AU" dirty="0"/>
              <a:t>The SAP HANA Cloud Platform lets the users quickly build and deploy business and consumer applications that deliver critical new functionality to meet emerging business needs. </a:t>
            </a:r>
          </a:p>
          <a:p>
            <a:pPr algn="just">
              <a:lnSpc>
                <a:spcPct val="150000"/>
              </a:lnSpc>
            </a:pPr>
            <a:r>
              <a:rPr lang="en-AU" dirty="0"/>
              <a:t>It also helps connecting users with customers in more engaging experiences.</a:t>
            </a:r>
          </a:p>
          <a:p>
            <a:pPr algn="just">
              <a:lnSpc>
                <a:spcPct val="150000"/>
              </a:lnSpc>
            </a:pPr>
            <a:r>
              <a:rPr lang="en-AU" dirty="0"/>
              <a:t>Support for open programming standards provides a low barrier to entry for developers</a:t>
            </a:r>
          </a:p>
        </p:txBody>
      </p:sp>
    </p:spTree>
    <p:extLst>
      <p:ext uri="{BB962C8B-B14F-4D97-AF65-F5344CB8AC3E}">
        <p14:creationId xmlns:p14="http://schemas.microsoft.com/office/powerpoint/2010/main" val="23373639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8FFF1-12D1-45ED-B79E-2005CEE9C7F3}"/>
              </a:ext>
            </a:extLst>
          </p:cNvPr>
          <p:cNvSpPr>
            <a:spLocks noGrp="1"/>
          </p:cNvSpPr>
          <p:nvPr>
            <p:ph type="title"/>
          </p:nvPr>
        </p:nvSpPr>
        <p:spPr/>
        <p:txBody>
          <a:bodyPr/>
          <a:lstStyle/>
          <a:p>
            <a:r>
              <a:rPr lang="en-AU" b="1" dirty="0"/>
              <a:t>Captiva Cloud Toolkit</a:t>
            </a:r>
            <a:endParaRPr lang="en-AU" dirty="0"/>
          </a:p>
        </p:txBody>
      </p:sp>
      <p:sp>
        <p:nvSpPr>
          <p:cNvPr id="3" name="Content Placeholder 2">
            <a:extLst>
              <a:ext uri="{FF2B5EF4-FFF2-40B4-BE49-F238E27FC236}">
                <a16:creationId xmlns:a16="http://schemas.microsoft.com/office/drawing/2014/main" id="{F44AC6E9-832A-48C1-A478-42E48C32AEA2}"/>
              </a:ext>
            </a:extLst>
          </p:cNvPr>
          <p:cNvSpPr>
            <a:spLocks noGrp="1"/>
          </p:cNvSpPr>
          <p:nvPr>
            <p:ph idx="1"/>
          </p:nvPr>
        </p:nvSpPr>
        <p:spPr>
          <a:xfrm>
            <a:off x="677334" y="1520457"/>
            <a:ext cx="9455494" cy="5092994"/>
          </a:xfrm>
        </p:spPr>
        <p:txBody>
          <a:bodyPr>
            <a:normAutofit/>
          </a:bodyPr>
          <a:lstStyle/>
          <a:p>
            <a:pPr algn="just">
              <a:lnSpc>
                <a:spcPct val="150000"/>
              </a:lnSpc>
            </a:pPr>
            <a:r>
              <a:rPr lang="en-AU" dirty="0"/>
              <a:t>A tool called Captiva Cloud Toolkit to assist software development is offered by EMC.</a:t>
            </a:r>
          </a:p>
          <a:p>
            <a:pPr algn="just">
              <a:lnSpc>
                <a:spcPct val="150000"/>
              </a:lnSpc>
            </a:pPr>
            <a:r>
              <a:rPr lang="en-AU" dirty="0"/>
              <a:t> The EMC Captiva Cloud Toolkit is a software developer kit (SDK) comprised of modules that help Web application developers to add scanning and imaging functionality quickly and directly to their Web‐based business applications.</a:t>
            </a:r>
          </a:p>
          <a:p>
            <a:pPr algn="just">
              <a:lnSpc>
                <a:spcPct val="150000"/>
              </a:lnSpc>
            </a:pPr>
            <a:r>
              <a:rPr lang="en-AU" dirty="0"/>
              <a:t>Using the Captiva Cloud Toolkit, developers can quickly create a working scan‐enabled Web‐based business application</a:t>
            </a:r>
          </a:p>
          <a:p>
            <a:pPr algn="just">
              <a:lnSpc>
                <a:spcPct val="150000"/>
              </a:lnSpc>
            </a:pPr>
            <a:r>
              <a:rPr lang="en-AU" dirty="0"/>
              <a:t>Scan. Basically scanning happens at page level to bring images page by page into Captiva. Scanning is the entry point to Captiva where one can import any kind of document like pdf, tiff, or jpg.</a:t>
            </a:r>
          </a:p>
        </p:txBody>
      </p:sp>
    </p:spTree>
    <p:extLst>
      <p:ext uri="{BB962C8B-B14F-4D97-AF65-F5344CB8AC3E}">
        <p14:creationId xmlns:p14="http://schemas.microsoft.com/office/powerpoint/2010/main" val="42591191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8FFF1-12D1-45ED-B79E-2005CEE9C7F3}"/>
              </a:ext>
            </a:extLst>
          </p:cNvPr>
          <p:cNvSpPr>
            <a:spLocks noGrp="1"/>
          </p:cNvSpPr>
          <p:nvPr>
            <p:ph type="title"/>
          </p:nvPr>
        </p:nvSpPr>
        <p:spPr/>
        <p:txBody>
          <a:bodyPr/>
          <a:lstStyle/>
          <a:p>
            <a:r>
              <a:rPr lang="en-AU" b="1" dirty="0"/>
              <a:t>Captiva Cloud Toolkit</a:t>
            </a:r>
            <a:endParaRPr lang="en-AU" dirty="0"/>
          </a:p>
        </p:txBody>
      </p:sp>
      <p:sp>
        <p:nvSpPr>
          <p:cNvPr id="3" name="Content Placeholder 2">
            <a:extLst>
              <a:ext uri="{FF2B5EF4-FFF2-40B4-BE49-F238E27FC236}">
                <a16:creationId xmlns:a16="http://schemas.microsoft.com/office/drawing/2014/main" id="{F44AC6E9-832A-48C1-A478-42E48C32AEA2}"/>
              </a:ext>
            </a:extLst>
          </p:cNvPr>
          <p:cNvSpPr>
            <a:spLocks noGrp="1"/>
          </p:cNvSpPr>
          <p:nvPr>
            <p:ph idx="1"/>
          </p:nvPr>
        </p:nvSpPr>
        <p:spPr>
          <a:xfrm>
            <a:off x="677334" y="1520457"/>
            <a:ext cx="9455494" cy="5092994"/>
          </a:xfrm>
        </p:spPr>
        <p:txBody>
          <a:bodyPr>
            <a:normAutofit/>
          </a:bodyPr>
          <a:lstStyle/>
          <a:p>
            <a:pPr algn="just">
              <a:lnSpc>
                <a:spcPct val="150000"/>
              </a:lnSpc>
            </a:pPr>
            <a:r>
              <a:rPr lang="en-AU" dirty="0"/>
              <a:t>IE: Image enhancement is a kind of filter or repairing tool for images that are not clear. It enhances image quality so it can be processed easily. One can configure IE in accordance with business requirements and images being received. The main functions of IE include deskewing and noise removal</a:t>
            </a:r>
          </a:p>
        </p:txBody>
      </p:sp>
    </p:spTree>
    <p:extLst>
      <p:ext uri="{BB962C8B-B14F-4D97-AF65-F5344CB8AC3E}">
        <p14:creationId xmlns:p14="http://schemas.microsoft.com/office/powerpoint/2010/main" val="40000602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DFBB6-B8A7-430C-BABD-ABFB9C18B835}"/>
              </a:ext>
            </a:extLst>
          </p:cNvPr>
          <p:cNvSpPr>
            <a:spLocks noGrp="1"/>
          </p:cNvSpPr>
          <p:nvPr>
            <p:ph type="title"/>
          </p:nvPr>
        </p:nvSpPr>
        <p:spPr/>
        <p:txBody>
          <a:bodyPr/>
          <a:lstStyle/>
          <a:p>
            <a:r>
              <a:rPr lang="en-AU" dirty="0"/>
              <a:t>Providers of Software as a Service</a:t>
            </a:r>
          </a:p>
        </p:txBody>
      </p:sp>
      <p:sp>
        <p:nvSpPr>
          <p:cNvPr id="3" name="Content Placeholder 2">
            <a:extLst>
              <a:ext uri="{FF2B5EF4-FFF2-40B4-BE49-F238E27FC236}">
                <a16:creationId xmlns:a16="http://schemas.microsoft.com/office/drawing/2014/main" id="{0AFD1FBB-B86A-4A53-8C60-417BD2DB38E6}"/>
              </a:ext>
            </a:extLst>
          </p:cNvPr>
          <p:cNvSpPr>
            <a:spLocks noGrp="1"/>
          </p:cNvSpPr>
          <p:nvPr>
            <p:ph idx="1"/>
          </p:nvPr>
        </p:nvSpPr>
        <p:spPr>
          <a:xfrm>
            <a:off x="677334" y="1297172"/>
            <a:ext cx="9423596" cy="5061097"/>
          </a:xfrm>
        </p:spPr>
        <p:txBody>
          <a:bodyPr/>
          <a:lstStyle/>
          <a:p>
            <a:pPr algn="just">
              <a:lnSpc>
                <a:spcPct val="150000"/>
              </a:lnSpc>
            </a:pPr>
            <a:r>
              <a:rPr lang="en-AU" dirty="0"/>
              <a:t>Software as a service (SaaS) is a software distribution model in which applications are hosted by a vendor or service provider and made available to customers over a network.</a:t>
            </a:r>
          </a:p>
          <a:p>
            <a:pPr algn="just">
              <a:lnSpc>
                <a:spcPct val="150000"/>
              </a:lnSpc>
            </a:pPr>
            <a:endParaRPr lang="en-AU" dirty="0"/>
          </a:p>
        </p:txBody>
      </p:sp>
    </p:spTree>
    <p:extLst>
      <p:ext uri="{BB962C8B-B14F-4D97-AF65-F5344CB8AC3E}">
        <p14:creationId xmlns:p14="http://schemas.microsoft.com/office/powerpoint/2010/main" val="2477470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DFBB6-B8A7-430C-BABD-ABFB9C18B835}"/>
              </a:ext>
            </a:extLst>
          </p:cNvPr>
          <p:cNvSpPr>
            <a:spLocks noGrp="1"/>
          </p:cNvSpPr>
          <p:nvPr>
            <p:ph type="title"/>
          </p:nvPr>
        </p:nvSpPr>
        <p:spPr/>
        <p:txBody>
          <a:bodyPr/>
          <a:lstStyle/>
          <a:p>
            <a:r>
              <a:rPr lang="en-AU" dirty="0"/>
              <a:t>Microsoft SharePoint</a:t>
            </a:r>
          </a:p>
        </p:txBody>
      </p:sp>
      <p:sp>
        <p:nvSpPr>
          <p:cNvPr id="3" name="Content Placeholder 2">
            <a:extLst>
              <a:ext uri="{FF2B5EF4-FFF2-40B4-BE49-F238E27FC236}">
                <a16:creationId xmlns:a16="http://schemas.microsoft.com/office/drawing/2014/main" id="{0AFD1FBB-B86A-4A53-8C60-417BD2DB38E6}"/>
              </a:ext>
            </a:extLst>
          </p:cNvPr>
          <p:cNvSpPr>
            <a:spLocks noGrp="1"/>
          </p:cNvSpPr>
          <p:nvPr>
            <p:ph idx="1"/>
          </p:nvPr>
        </p:nvSpPr>
        <p:spPr>
          <a:xfrm>
            <a:off x="677334" y="1297172"/>
            <a:ext cx="9423596" cy="5061097"/>
          </a:xfrm>
        </p:spPr>
        <p:txBody>
          <a:bodyPr/>
          <a:lstStyle/>
          <a:p>
            <a:pPr algn="just">
              <a:lnSpc>
                <a:spcPct val="150000"/>
              </a:lnSpc>
            </a:pPr>
            <a:r>
              <a:rPr lang="en-AU" dirty="0"/>
              <a:t>Microsoft offers its own online collaboration tool called SharePoint. Microsoft SharePoint is a Web application platform that comprises a multipurpose set of Web technologies backed by a common technical infrastructure.</a:t>
            </a:r>
          </a:p>
          <a:p>
            <a:pPr algn="just">
              <a:lnSpc>
                <a:spcPct val="150000"/>
              </a:lnSpc>
            </a:pPr>
            <a:r>
              <a:rPr lang="en-AU" dirty="0"/>
              <a:t>By default, SharePoint has a Microsoft Office‐like interface, and it is closely integrated with the Office suite.</a:t>
            </a:r>
          </a:p>
          <a:p>
            <a:pPr algn="just">
              <a:lnSpc>
                <a:spcPct val="150000"/>
              </a:lnSpc>
            </a:pPr>
            <a:r>
              <a:rPr lang="en-AU" dirty="0"/>
              <a:t>Unlike Google Cloud Connect, Microsoft SharePoint is not a free tool but it has additional features that cannot be matched by Google or any other company.</a:t>
            </a:r>
          </a:p>
        </p:txBody>
      </p:sp>
    </p:spTree>
    <p:extLst>
      <p:ext uri="{BB962C8B-B14F-4D97-AF65-F5344CB8AC3E}">
        <p14:creationId xmlns:p14="http://schemas.microsoft.com/office/powerpoint/2010/main" val="3546193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DFBB6-B8A7-430C-BABD-ABFB9C18B835}"/>
              </a:ext>
            </a:extLst>
          </p:cNvPr>
          <p:cNvSpPr>
            <a:spLocks noGrp="1"/>
          </p:cNvSpPr>
          <p:nvPr>
            <p:ph type="title"/>
          </p:nvPr>
        </p:nvSpPr>
        <p:spPr/>
        <p:txBody>
          <a:bodyPr/>
          <a:lstStyle/>
          <a:p>
            <a:r>
              <a:rPr lang="en-AU" dirty="0"/>
              <a:t>Google Cloud Connect</a:t>
            </a:r>
          </a:p>
        </p:txBody>
      </p:sp>
      <p:sp>
        <p:nvSpPr>
          <p:cNvPr id="3" name="Content Placeholder 2">
            <a:extLst>
              <a:ext uri="{FF2B5EF4-FFF2-40B4-BE49-F238E27FC236}">
                <a16:creationId xmlns:a16="http://schemas.microsoft.com/office/drawing/2014/main" id="{0AFD1FBB-B86A-4A53-8C60-417BD2DB38E6}"/>
              </a:ext>
            </a:extLst>
          </p:cNvPr>
          <p:cNvSpPr>
            <a:spLocks noGrp="1"/>
          </p:cNvSpPr>
          <p:nvPr>
            <p:ph idx="1"/>
          </p:nvPr>
        </p:nvSpPr>
        <p:spPr>
          <a:xfrm>
            <a:off x="677334" y="1297172"/>
            <a:ext cx="9423596" cy="5369442"/>
          </a:xfrm>
        </p:spPr>
        <p:txBody>
          <a:bodyPr>
            <a:normAutofit/>
          </a:bodyPr>
          <a:lstStyle/>
          <a:p>
            <a:pPr algn="just">
              <a:lnSpc>
                <a:spcPct val="150000"/>
              </a:lnSpc>
            </a:pPr>
            <a:r>
              <a:rPr lang="en-AU" dirty="0"/>
              <a:t>Google Cloud Connect is a feature provided by Google Cloud by integrating cloud and API for Microsoft Office. </a:t>
            </a:r>
          </a:p>
          <a:p>
            <a:pPr algn="just">
              <a:lnSpc>
                <a:spcPct val="150000"/>
              </a:lnSpc>
            </a:pPr>
            <a:r>
              <a:rPr lang="en-AU" dirty="0"/>
              <a:t>After installing a plug‐in for the Microsoft Office suite of programs, one can save files to the cloud.</a:t>
            </a:r>
          </a:p>
          <a:p>
            <a:pPr algn="just">
              <a:lnSpc>
                <a:spcPct val="150000"/>
              </a:lnSpc>
            </a:pPr>
            <a:r>
              <a:rPr lang="en-AU" dirty="0"/>
              <a:t>The cloud copy of the file becomes the master document that everyone uses. </a:t>
            </a:r>
          </a:p>
          <a:p>
            <a:pPr algn="just">
              <a:lnSpc>
                <a:spcPct val="150000"/>
              </a:lnSpc>
            </a:pPr>
            <a:r>
              <a:rPr lang="en-AU" dirty="0"/>
              <a:t>Google Cloud Connect assigns each file a unique URL, which can be shared to let others view the document.</a:t>
            </a:r>
          </a:p>
          <a:p>
            <a:pPr algn="just">
              <a:lnSpc>
                <a:spcPct val="150000"/>
              </a:lnSpc>
            </a:pPr>
            <a:r>
              <a:rPr lang="en-AU" dirty="0"/>
              <a:t>If changes are made to the document, those changes will show up for everyone else viewing it. </a:t>
            </a:r>
          </a:p>
          <a:p>
            <a:pPr algn="just">
              <a:lnSpc>
                <a:spcPct val="150000"/>
              </a:lnSpc>
            </a:pPr>
            <a:r>
              <a:rPr lang="en-AU" dirty="0"/>
              <a:t>When Multiple people make changes to the same section of a document, Cloud Connect gives the user a chance to choose which set of changes to keep.</a:t>
            </a:r>
          </a:p>
          <a:p>
            <a:pPr algn="just">
              <a:lnSpc>
                <a:spcPct val="150000"/>
              </a:lnSpc>
            </a:pPr>
            <a:endParaRPr lang="en-AU" dirty="0"/>
          </a:p>
        </p:txBody>
      </p:sp>
    </p:spTree>
    <p:extLst>
      <p:ext uri="{BB962C8B-B14F-4D97-AF65-F5344CB8AC3E}">
        <p14:creationId xmlns:p14="http://schemas.microsoft.com/office/powerpoint/2010/main" val="18026874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DFBB6-B8A7-430C-BABD-ABFB9C18B835}"/>
              </a:ext>
            </a:extLst>
          </p:cNvPr>
          <p:cNvSpPr>
            <a:spLocks noGrp="1"/>
          </p:cNvSpPr>
          <p:nvPr>
            <p:ph type="title"/>
          </p:nvPr>
        </p:nvSpPr>
        <p:spPr/>
        <p:txBody>
          <a:bodyPr/>
          <a:lstStyle/>
          <a:p>
            <a:r>
              <a:rPr lang="en-AU" dirty="0"/>
              <a:t>Google Cloud Print</a:t>
            </a:r>
          </a:p>
        </p:txBody>
      </p:sp>
      <p:sp>
        <p:nvSpPr>
          <p:cNvPr id="3" name="Content Placeholder 2">
            <a:extLst>
              <a:ext uri="{FF2B5EF4-FFF2-40B4-BE49-F238E27FC236}">
                <a16:creationId xmlns:a16="http://schemas.microsoft.com/office/drawing/2014/main" id="{0AFD1FBB-B86A-4A53-8C60-417BD2DB38E6}"/>
              </a:ext>
            </a:extLst>
          </p:cNvPr>
          <p:cNvSpPr>
            <a:spLocks noGrp="1"/>
          </p:cNvSpPr>
          <p:nvPr>
            <p:ph idx="1"/>
          </p:nvPr>
        </p:nvSpPr>
        <p:spPr>
          <a:xfrm>
            <a:off x="677334" y="1297172"/>
            <a:ext cx="9423596" cy="5061097"/>
          </a:xfrm>
        </p:spPr>
        <p:txBody>
          <a:bodyPr>
            <a:normAutofit fontScale="92500" lnSpcReduction="10000"/>
          </a:bodyPr>
          <a:lstStyle/>
          <a:p>
            <a:pPr algn="just">
              <a:lnSpc>
                <a:spcPct val="150000"/>
              </a:lnSpc>
            </a:pPr>
            <a:r>
              <a:rPr lang="en-AU" dirty="0"/>
              <a:t>Google Cloud Print is a service that extends the printer’s function to any device that can connect to the Internet. </a:t>
            </a:r>
          </a:p>
          <a:p>
            <a:pPr algn="just">
              <a:lnSpc>
                <a:spcPct val="150000"/>
              </a:lnSpc>
            </a:pPr>
            <a:r>
              <a:rPr lang="en-AU" dirty="0"/>
              <a:t>To use Google Cloud Print, the user needs to have a free Google profile, an app program or web site that incorporates the Google Cloud Print feature, a cloud‐ready printer, or printer connected to a computer logged onto the Internet.</a:t>
            </a:r>
          </a:p>
          <a:p>
            <a:pPr algn="just">
              <a:lnSpc>
                <a:spcPct val="150000"/>
              </a:lnSpc>
            </a:pPr>
            <a:r>
              <a:rPr lang="en-AU" dirty="0"/>
              <a:t>When Google Cloud Print is used through an app or Web site, the print request goes through the Google servers. </a:t>
            </a:r>
          </a:p>
          <a:p>
            <a:pPr algn="just">
              <a:lnSpc>
                <a:spcPct val="150000"/>
              </a:lnSpc>
            </a:pPr>
            <a:r>
              <a:rPr lang="en-AU" dirty="0"/>
              <a:t>Google routes the request to the appropriate printer associated with the user’s Google account.</a:t>
            </a:r>
          </a:p>
          <a:p>
            <a:pPr algn="just">
              <a:lnSpc>
                <a:spcPct val="150000"/>
              </a:lnSpc>
            </a:pPr>
            <a:r>
              <a:rPr lang="en-AU" dirty="0"/>
              <a:t>Assuming the respective printer is on and has an active Internet connection, paper and ink, the print job should execute on the machine. The printer can be shared with other people for receiving documents through Google Cloud Print.</a:t>
            </a:r>
          </a:p>
        </p:txBody>
      </p:sp>
    </p:spTree>
    <p:extLst>
      <p:ext uri="{BB962C8B-B14F-4D97-AF65-F5344CB8AC3E}">
        <p14:creationId xmlns:p14="http://schemas.microsoft.com/office/powerpoint/2010/main" val="37071358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DFBB6-B8A7-430C-BABD-ABFB9C18B835}"/>
              </a:ext>
            </a:extLst>
          </p:cNvPr>
          <p:cNvSpPr>
            <a:spLocks noGrp="1"/>
          </p:cNvSpPr>
          <p:nvPr>
            <p:ph type="title"/>
          </p:nvPr>
        </p:nvSpPr>
        <p:spPr/>
        <p:txBody>
          <a:bodyPr/>
          <a:lstStyle/>
          <a:p>
            <a:r>
              <a:rPr lang="en-AU" dirty="0"/>
              <a:t>Sales Cloud</a:t>
            </a:r>
          </a:p>
        </p:txBody>
      </p:sp>
      <p:sp>
        <p:nvSpPr>
          <p:cNvPr id="3" name="Content Placeholder 2">
            <a:extLst>
              <a:ext uri="{FF2B5EF4-FFF2-40B4-BE49-F238E27FC236}">
                <a16:creationId xmlns:a16="http://schemas.microsoft.com/office/drawing/2014/main" id="{0AFD1FBB-B86A-4A53-8C60-417BD2DB38E6}"/>
              </a:ext>
            </a:extLst>
          </p:cNvPr>
          <p:cNvSpPr>
            <a:spLocks noGrp="1"/>
          </p:cNvSpPr>
          <p:nvPr>
            <p:ph idx="1"/>
          </p:nvPr>
        </p:nvSpPr>
        <p:spPr>
          <a:xfrm>
            <a:off x="677334" y="1297172"/>
            <a:ext cx="9423596" cy="5061097"/>
          </a:xfrm>
        </p:spPr>
        <p:txBody>
          <a:bodyPr>
            <a:normAutofit/>
          </a:bodyPr>
          <a:lstStyle/>
          <a:p>
            <a:pPr algn="just">
              <a:lnSpc>
                <a:spcPct val="150000"/>
              </a:lnSpc>
            </a:pPr>
            <a:r>
              <a:rPr lang="en-AU" dirty="0"/>
              <a:t>Salesforce.com is a cloud computing and social enterprise SaaS provider. Of its cloud platforms and applications, the company is best known for its Salesforce customer relationship management (CRM) product.</a:t>
            </a:r>
          </a:p>
          <a:p>
            <a:pPr algn="just">
              <a:lnSpc>
                <a:spcPct val="150000"/>
              </a:lnSpc>
            </a:pPr>
            <a:r>
              <a:rPr lang="en-AU" dirty="0"/>
              <a:t>Sales Cloud refers to the “sales” module in salesforce.com. It includes Leads, Accounts, Contacts, Contracts, Opportunities, Products, </a:t>
            </a:r>
            <a:r>
              <a:rPr lang="en-AU" dirty="0" err="1"/>
              <a:t>Pricebooks</a:t>
            </a:r>
            <a:r>
              <a:rPr lang="en-AU" dirty="0"/>
              <a:t>, Quotes, and Campaigns.</a:t>
            </a:r>
          </a:p>
          <a:p>
            <a:pPr algn="just">
              <a:lnSpc>
                <a:spcPct val="150000"/>
              </a:lnSpc>
            </a:pPr>
            <a:r>
              <a:rPr lang="en-AU" dirty="0"/>
              <a:t>The Sales Cloud gives a platform to connect with customers from complete, up‐to‐date account information to social insights, all in one place and available anytime, anywhere.</a:t>
            </a:r>
          </a:p>
          <a:p>
            <a:pPr algn="just">
              <a:lnSpc>
                <a:spcPct val="150000"/>
              </a:lnSpc>
            </a:pPr>
            <a:r>
              <a:rPr lang="en-AU" dirty="0"/>
              <a:t>Everything occurs automatically in real time, from contact information to deal updates and discount approvals.</a:t>
            </a:r>
          </a:p>
        </p:txBody>
      </p:sp>
    </p:spTree>
    <p:extLst>
      <p:ext uri="{BB962C8B-B14F-4D97-AF65-F5344CB8AC3E}">
        <p14:creationId xmlns:p14="http://schemas.microsoft.com/office/powerpoint/2010/main" val="22531596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DFBB6-B8A7-430C-BABD-ABFB9C18B835}"/>
              </a:ext>
            </a:extLst>
          </p:cNvPr>
          <p:cNvSpPr>
            <a:spLocks noGrp="1"/>
          </p:cNvSpPr>
          <p:nvPr>
            <p:ph type="title"/>
          </p:nvPr>
        </p:nvSpPr>
        <p:spPr/>
        <p:txBody>
          <a:bodyPr/>
          <a:lstStyle/>
          <a:p>
            <a:r>
              <a:rPr lang="en-AU" dirty="0"/>
              <a:t>Providers of Data Storage as a Service</a:t>
            </a:r>
          </a:p>
        </p:txBody>
      </p:sp>
      <p:sp>
        <p:nvSpPr>
          <p:cNvPr id="3" name="Content Placeholder 2">
            <a:extLst>
              <a:ext uri="{FF2B5EF4-FFF2-40B4-BE49-F238E27FC236}">
                <a16:creationId xmlns:a16="http://schemas.microsoft.com/office/drawing/2014/main" id="{0AFD1FBB-B86A-4A53-8C60-417BD2DB38E6}"/>
              </a:ext>
            </a:extLst>
          </p:cNvPr>
          <p:cNvSpPr>
            <a:spLocks noGrp="1"/>
          </p:cNvSpPr>
          <p:nvPr>
            <p:ph idx="1"/>
          </p:nvPr>
        </p:nvSpPr>
        <p:spPr>
          <a:xfrm>
            <a:off x="677334" y="1297172"/>
            <a:ext cx="9423596" cy="5061097"/>
          </a:xfrm>
        </p:spPr>
        <p:txBody>
          <a:bodyPr>
            <a:normAutofit/>
          </a:bodyPr>
          <a:lstStyle/>
          <a:p>
            <a:pPr algn="just">
              <a:lnSpc>
                <a:spcPct val="150000"/>
              </a:lnSpc>
            </a:pPr>
            <a:r>
              <a:rPr lang="en-AU" dirty="0"/>
              <a:t>Data Storage as a service (</a:t>
            </a:r>
            <a:r>
              <a:rPr lang="en-AU" dirty="0" err="1"/>
              <a:t>DSaaS</a:t>
            </a:r>
            <a:r>
              <a:rPr lang="en-AU" dirty="0"/>
              <a:t>) is another important service in the field of cloud computing. One need not buy large‐sized hard drives. Instead, one can use this service and pay rent to the company, which provides this service.</a:t>
            </a:r>
          </a:p>
          <a:p>
            <a:pPr algn="just">
              <a:lnSpc>
                <a:spcPct val="150000"/>
              </a:lnSpc>
            </a:pPr>
            <a:r>
              <a:rPr lang="en-AU" dirty="0"/>
              <a:t>Amazon Storage as a Service</a:t>
            </a:r>
          </a:p>
          <a:p>
            <a:pPr algn="just">
              <a:lnSpc>
                <a:spcPct val="150000"/>
              </a:lnSpc>
            </a:pPr>
            <a:r>
              <a:rPr lang="en-AU" dirty="0"/>
              <a:t>Amazon Storage as a Service known as Amazon S3 is storage for the Internet.</a:t>
            </a:r>
          </a:p>
          <a:p>
            <a:pPr algn="just">
              <a:lnSpc>
                <a:spcPct val="150000"/>
              </a:lnSpc>
            </a:pPr>
            <a:r>
              <a:rPr lang="en-AU" dirty="0"/>
              <a:t>Amazon S3 provides a highly durable and available store for a variety of content, ranging from Web applications to media files. It allows users to offload storage where they can take advantage of scalability and pay‐as–you‐go pricing. For sharing content that is either easily reproduced or where one needs to store an original copy elsewhere, Amazon S3’s Reduced Redundancy Storage (RRS) feature provides a compelling solution. It also provides a better solution with Storage for Data Analytics</a:t>
            </a:r>
          </a:p>
        </p:txBody>
      </p:sp>
    </p:spTree>
    <p:extLst>
      <p:ext uri="{BB962C8B-B14F-4D97-AF65-F5344CB8AC3E}">
        <p14:creationId xmlns:p14="http://schemas.microsoft.com/office/powerpoint/2010/main" val="6884582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DFBB6-B8A7-430C-BABD-ABFB9C18B835}"/>
              </a:ext>
            </a:extLst>
          </p:cNvPr>
          <p:cNvSpPr>
            <a:spLocks noGrp="1"/>
          </p:cNvSpPr>
          <p:nvPr>
            <p:ph type="title"/>
          </p:nvPr>
        </p:nvSpPr>
        <p:spPr/>
        <p:txBody>
          <a:bodyPr/>
          <a:lstStyle/>
          <a:p>
            <a:r>
              <a:rPr lang="en-AU" dirty="0"/>
              <a:t>Google Cloud Storage</a:t>
            </a:r>
          </a:p>
        </p:txBody>
      </p:sp>
      <p:sp>
        <p:nvSpPr>
          <p:cNvPr id="3" name="Content Placeholder 2">
            <a:extLst>
              <a:ext uri="{FF2B5EF4-FFF2-40B4-BE49-F238E27FC236}">
                <a16:creationId xmlns:a16="http://schemas.microsoft.com/office/drawing/2014/main" id="{0AFD1FBB-B86A-4A53-8C60-417BD2DB38E6}"/>
              </a:ext>
            </a:extLst>
          </p:cNvPr>
          <p:cNvSpPr>
            <a:spLocks noGrp="1"/>
          </p:cNvSpPr>
          <p:nvPr>
            <p:ph idx="1"/>
          </p:nvPr>
        </p:nvSpPr>
        <p:spPr>
          <a:xfrm>
            <a:off x="263870" y="1796903"/>
            <a:ext cx="9423596" cy="5061097"/>
          </a:xfrm>
        </p:spPr>
        <p:txBody>
          <a:bodyPr/>
          <a:lstStyle/>
          <a:p>
            <a:pPr algn="just">
              <a:lnSpc>
                <a:spcPct val="150000"/>
              </a:lnSpc>
              <a:buFont typeface="Wingdings" panose="05000000000000000000" pitchFamily="2" charset="2"/>
              <a:buChar char="Ø"/>
            </a:pPr>
            <a:r>
              <a:rPr lang="en-AU" dirty="0"/>
              <a:t>Google Cloud Storage is an Internet service to store data in Google’s cloud</a:t>
            </a:r>
          </a:p>
          <a:p>
            <a:pPr algn="just">
              <a:lnSpc>
                <a:spcPct val="150000"/>
              </a:lnSpc>
              <a:buFont typeface="Wingdings" panose="05000000000000000000" pitchFamily="2" charset="2"/>
              <a:buChar char="Ø"/>
            </a:pPr>
            <a:r>
              <a:rPr lang="en-AU" dirty="0"/>
              <a:t>The service combines the performance and scalability of Google’s cloud with advanced security and sharing capabilities.</a:t>
            </a:r>
          </a:p>
          <a:p>
            <a:pPr algn="just">
              <a:lnSpc>
                <a:spcPct val="150000"/>
              </a:lnSpc>
              <a:buFont typeface="Wingdings" panose="05000000000000000000" pitchFamily="2" charset="2"/>
              <a:buChar char="Ø"/>
            </a:pPr>
            <a:r>
              <a:rPr lang="en-AU" dirty="0"/>
              <a:t> It is safe and secure. </a:t>
            </a:r>
          </a:p>
          <a:p>
            <a:pPr algn="just">
              <a:lnSpc>
                <a:spcPct val="150000"/>
              </a:lnSpc>
              <a:buFont typeface="Wingdings" panose="05000000000000000000" pitchFamily="2" charset="2"/>
              <a:buChar char="Ø"/>
            </a:pPr>
            <a:r>
              <a:rPr lang="en-AU" dirty="0"/>
              <a:t>Data is protected through redundant storage at multiple physical locations.</a:t>
            </a:r>
          </a:p>
          <a:p>
            <a:pPr algn="just">
              <a:lnSpc>
                <a:spcPct val="150000"/>
              </a:lnSpc>
              <a:buFont typeface="Wingdings" panose="05000000000000000000" pitchFamily="2" charset="2"/>
              <a:buChar char="Ø"/>
            </a:pPr>
            <a:r>
              <a:rPr lang="en-AU" dirty="0"/>
              <a:t> It is different from Google Drive as Google Drive is for users whereas Google Cloud Storage is for developers.</a:t>
            </a:r>
          </a:p>
        </p:txBody>
      </p:sp>
    </p:spTree>
    <p:extLst>
      <p:ext uri="{BB962C8B-B14F-4D97-AF65-F5344CB8AC3E}">
        <p14:creationId xmlns:p14="http://schemas.microsoft.com/office/powerpoint/2010/main" val="15883204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DFBB6-B8A7-430C-BABD-ABFB9C18B835}"/>
              </a:ext>
            </a:extLst>
          </p:cNvPr>
          <p:cNvSpPr>
            <a:spLocks noGrp="1"/>
          </p:cNvSpPr>
          <p:nvPr>
            <p:ph type="title"/>
          </p:nvPr>
        </p:nvSpPr>
        <p:spPr/>
        <p:txBody>
          <a:bodyPr/>
          <a:lstStyle/>
          <a:p>
            <a:r>
              <a:rPr lang="en-AU" dirty="0"/>
              <a:t>IBM </a:t>
            </a:r>
            <a:r>
              <a:rPr lang="en-AU" dirty="0" err="1"/>
              <a:t>SmartCloud</a:t>
            </a:r>
            <a:endParaRPr lang="en-AU" dirty="0"/>
          </a:p>
        </p:txBody>
      </p:sp>
      <p:sp>
        <p:nvSpPr>
          <p:cNvPr id="3" name="Content Placeholder 2">
            <a:extLst>
              <a:ext uri="{FF2B5EF4-FFF2-40B4-BE49-F238E27FC236}">
                <a16:creationId xmlns:a16="http://schemas.microsoft.com/office/drawing/2014/main" id="{0AFD1FBB-B86A-4A53-8C60-417BD2DB38E6}"/>
              </a:ext>
            </a:extLst>
          </p:cNvPr>
          <p:cNvSpPr>
            <a:spLocks noGrp="1"/>
          </p:cNvSpPr>
          <p:nvPr>
            <p:ph idx="1"/>
          </p:nvPr>
        </p:nvSpPr>
        <p:spPr>
          <a:xfrm>
            <a:off x="677334" y="1297172"/>
            <a:ext cx="9423596" cy="5061097"/>
          </a:xfrm>
        </p:spPr>
        <p:txBody>
          <a:bodyPr/>
          <a:lstStyle/>
          <a:p>
            <a:pPr algn="just">
              <a:lnSpc>
                <a:spcPct val="150000"/>
              </a:lnSpc>
              <a:buFont typeface="Wingdings" panose="05000000000000000000" pitchFamily="2" charset="2"/>
              <a:buChar char="Ø"/>
            </a:pPr>
            <a:r>
              <a:rPr lang="en-AU" dirty="0"/>
              <a:t>IBM </a:t>
            </a:r>
            <a:r>
              <a:rPr lang="en-AU" dirty="0" err="1"/>
              <a:t>SmartCloud</a:t>
            </a:r>
            <a:r>
              <a:rPr lang="en-AU" dirty="0"/>
              <a:t> is a branded ecosystem of cloud computing products and solutions from IBM. </a:t>
            </a:r>
          </a:p>
          <a:p>
            <a:pPr algn="just">
              <a:lnSpc>
                <a:spcPct val="150000"/>
              </a:lnSpc>
              <a:buFont typeface="Wingdings" panose="05000000000000000000" pitchFamily="2" charset="2"/>
              <a:buChar char="Ø"/>
            </a:pPr>
            <a:r>
              <a:rPr lang="en-AU" dirty="0"/>
              <a:t>It include IaaS, PaaS, and SaaS offered through public, private, and hybrid cloud delivery models. </a:t>
            </a:r>
          </a:p>
          <a:p>
            <a:pPr algn="just">
              <a:lnSpc>
                <a:spcPct val="150000"/>
              </a:lnSpc>
              <a:buFont typeface="Wingdings" panose="05000000000000000000" pitchFamily="2" charset="2"/>
              <a:buChar char="Ø"/>
            </a:pPr>
            <a:r>
              <a:rPr lang="en-AU" dirty="0"/>
              <a:t>IBM places these offerings under three umbrellas: </a:t>
            </a:r>
            <a:r>
              <a:rPr lang="en-AU" dirty="0" err="1"/>
              <a:t>SmartCloud</a:t>
            </a:r>
            <a:r>
              <a:rPr lang="en-AU" dirty="0"/>
              <a:t> Foundation, </a:t>
            </a:r>
            <a:r>
              <a:rPr lang="en-AU" dirty="0" err="1"/>
              <a:t>SmartCloud</a:t>
            </a:r>
            <a:r>
              <a:rPr lang="en-AU" dirty="0"/>
              <a:t> Services, and </a:t>
            </a:r>
            <a:r>
              <a:rPr lang="en-AU" dirty="0" err="1"/>
              <a:t>SmartCloud</a:t>
            </a:r>
            <a:r>
              <a:rPr lang="en-AU" dirty="0"/>
              <a:t> Solutions.</a:t>
            </a:r>
          </a:p>
          <a:p>
            <a:pPr algn="just">
              <a:lnSpc>
                <a:spcPct val="150000"/>
              </a:lnSpc>
            </a:pPr>
            <a:r>
              <a:rPr lang="en-AU" dirty="0" err="1"/>
              <a:t>SmartCloud</a:t>
            </a:r>
            <a:r>
              <a:rPr lang="en-AU" dirty="0"/>
              <a:t> Foundation consists of the infrastructure, hardware, provisioning, management, integration, and security that serve as the underpinnings of a private or hybrid cloud</a:t>
            </a:r>
          </a:p>
        </p:txBody>
      </p:sp>
    </p:spTree>
    <p:extLst>
      <p:ext uri="{BB962C8B-B14F-4D97-AF65-F5344CB8AC3E}">
        <p14:creationId xmlns:p14="http://schemas.microsoft.com/office/powerpoint/2010/main" val="35831009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D82EF79-BEE6-4100-863A-CAE009328427}"/>
              </a:ext>
            </a:extLst>
          </p:cNvPr>
          <p:cNvPicPr>
            <a:picLocks noGrp="1" noChangeAspect="1"/>
          </p:cNvPicPr>
          <p:nvPr>
            <p:ph idx="1"/>
          </p:nvPr>
        </p:nvPicPr>
        <p:blipFill>
          <a:blip r:embed="rId2"/>
          <a:stretch>
            <a:fillRect/>
          </a:stretch>
        </p:blipFill>
        <p:spPr>
          <a:xfrm>
            <a:off x="835296" y="967564"/>
            <a:ext cx="9148676" cy="5074462"/>
          </a:xfrm>
          <a:prstGeom prst="rect">
            <a:avLst/>
          </a:prstGeom>
        </p:spPr>
      </p:pic>
    </p:spTree>
    <p:extLst>
      <p:ext uri="{BB962C8B-B14F-4D97-AF65-F5344CB8AC3E}">
        <p14:creationId xmlns:p14="http://schemas.microsoft.com/office/powerpoint/2010/main" val="6537573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DFBB6-B8A7-430C-BABD-ABFB9C18B835}"/>
              </a:ext>
            </a:extLst>
          </p:cNvPr>
          <p:cNvSpPr>
            <a:spLocks noGrp="1"/>
          </p:cNvSpPr>
          <p:nvPr>
            <p:ph type="title"/>
          </p:nvPr>
        </p:nvSpPr>
        <p:spPr>
          <a:xfrm>
            <a:off x="677334" y="2551814"/>
            <a:ext cx="8596668" cy="2286000"/>
          </a:xfrm>
        </p:spPr>
        <p:txBody>
          <a:bodyPr/>
          <a:lstStyle/>
          <a:p>
            <a:pPr algn="ctr"/>
            <a:r>
              <a:rPr lang="en-US" dirty="0"/>
              <a:t>Thank you</a:t>
            </a:r>
            <a:endParaRPr lang="en-AU" dirty="0"/>
          </a:p>
        </p:txBody>
      </p:sp>
    </p:spTree>
    <p:extLst>
      <p:ext uri="{BB962C8B-B14F-4D97-AF65-F5344CB8AC3E}">
        <p14:creationId xmlns:p14="http://schemas.microsoft.com/office/powerpoint/2010/main" val="347767475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316</TotalTime>
  <Words>2486</Words>
  <Application>Microsoft Office PowerPoint</Application>
  <PresentationFormat>Widescreen</PresentationFormat>
  <Paragraphs>128</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Trebuchet MS</vt:lpstr>
      <vt:lpstr>Wingdings</vt:lpstr>
      <vt:lpstr>Wingdings 3</vt:lpstr>
      <vt:lpstr>Facet</vt:lpstr>
      <vt:lpstr>NOTES</vt:lpstr>
      <vt:lpstr>Cloud computing</vt:lpstr>
      <vt:lpstr>Providers of Infrastructure as a Service</vt:lpstr>
      <vt:lpstr>Amazon Elastic Compute Cloud</vt:lpstr>
      <vt:lpstr>Features of Amazon EC2</vt:lpstr>
      <vt:lpstr>Features of Amazon EC2</vt:lpstr>
      <vt:lpstr>Features of Amazon EC2</vt:lpstr>
      <vt:lpstr>Different instance types</vt:lpstr>
      <vt:lpstr>Rackspace Cloud</vt:lpstr>
      <vt:lpstr>Rackspace Cloud</vt:lpstr>
      <vt:lpstr>Providers of Platform as a Service</vt:lpstr>
      <vt:lpstr>Google Cloud Platform</vt:lpstr>
      <vt:lpstr>Google App Engine</vt:lpstr>
      <vt:lpstr>Google App Engine</vt:lpstr>
      <vt:lpstr>SAP HANA Cloud Platform</vt:lpstr>
      <vt:lpstr>SAP HANA Cloud Platform</vt:lpstr>
      <vt:lpstr>Captiva Cloud Toolkit</vt:lpstr>
      <vt:lpstr>Captiva Cloud Toolkit</vt:lpstr>
      <vt:lpstr>Providers of Software as a Service</vt:lpstr>
      <vt:lpstr>Microsoft SharePoint</vt:lpstr>
      <vt:lpstr>Google Cloud Connect</vt:lpstr>
      <vt:lpstr>Google Cloud Print</vt:lpstr>
      <vt:lpstr>Sales Cloud</vt:lpstr>
      <vt:lpstr>Providers of Data Storage as a Service</vt:lpstr>
      <vt:lpstr>Google Cloud Storage</vt:lpstr>
      <vt:lpstr>IBM SmartCloud</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NOTES</dc:title>
  <dc:creator>Supriya Supriya</dc:creator>
  <cp:lastModifiedBy>Supriya Supriya</cp:lastModifiedBy>
  <cp:revision>46</cp:revision>
  <dcterms:created xsi:type="dcterms:W3CDTF">2022-03-15T20:58:35Z</dcterms:created>
  <dcterms:modified xsi:type="dcterms:W3CDTF">2022-06-30T00:22:41Z</dcterms:modified>
</cp:coreProperties>
</file>