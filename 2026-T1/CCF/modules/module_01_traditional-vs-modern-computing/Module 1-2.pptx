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sldIdLst>
    <p:sldId id="293" r:id="rId2"/>
    <p:sldId id="313" r:id="rId3"/>
    <p:sldId id="307" r:id="rId4"/>
    <p:sldId id="295" r:id="rId5"/>
    <p:sldId id="296" r:id="rId6"/>
    <p:sldId id="298" r:id="rId7"/>
    <p:sldId id="299" r:id="rId8"/>
    <p:sldId id="297" r:id="rId9"/>
    <p:sldId id="303" r:id="rId10"/>
    <p:sldId id="304" r:id="rId11"/>
    <p:sldId id="300" r:id="rId12"/>
    <p:sldId id="305" r:id="rId13"/>
    <p:sldId id="301" r:id="rId14"/>
    <p:sldId id="310" r:id="rId15"/>
    <p:sldId id="309" r:id="rId16"/>
    <p:sldId id="311" r:id="rId17"/>
    <p:sldId id="308" r:id="rId18"/>
    <p:sldId id="314" r:id="rId19"/>
    <p:sldId id="315" r:id="rId20"/>
    <p:sldId id="312" r:id="rId21"/>
    <p:sldId id="31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86B303-74F5-BD3A-8352-6591D958E1FC}" v="17" dt="2025-02-12T04:44:59.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sorterViewPr>
    <p:cViewPr>
      <p:scale>
        <a:sx n="100" d="100"/>
        <a:sy n="100" d="100"/>
      </p:scale>
      <p:origin x="0" y="-2106"/>
    </p:cViewPr>
  </p:sorterViewPr>
  <p:notesViewPr>
    <p:cSldViewPr snapToGrid="0">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Leekha" userId="S::divyarahul.leekha@torrens.edu.au::9d877988-a945-4593-83be-7278bd2d3dda" providerId="AD" clId="Web-{FF86B303-74F5-BD3A-8352-6591D958E1FC}"/>
    <pc:docChg chg="addSld delSld modSld">
      <pc:chgData name="Divya Leekha" userId="S::divyarahul.leekha@torrens.edu.au::9d877988-a945-4593-83be-7278bd2d3dda" providerId="AD" clId="Web-{FF86B303-74F5-BD3A-8352-6591D958E1FC}" dt="2025-02-12T04:44:59.149" v="14"/>
      <pc:docMkLst>
        <pc:docMk/>
      </pc:docMkLst>
      <pc:sldChg chg="addSp delSp modSp">
        <pc:chgData name="Divya Leekha" userId="S::divyarahul.leekha@torrens.edu.au::9d877988-a945-4593-83be-7278bd2d3dda" providerId="AD" clId="Web-{FF86B303-74F5-BD3A-8352-6591D958E1FC}" dt="2025-02-12T04:43:34.849" v="7" actId="1076"/>
        <pc:sldMkLst>
          <pc:docMk/>
          <pc:sldMk cId="2727490680" sldId="307"/>
        </pc:sldMkLst>
        <pc:picChg chg="add mod">
          <ac:chgData name="Divya Leekha" userId="S::divyarahul.leekha@torrens.edu.au::9d877988-a945-4593-83be-7278bd2d3dda" providerId="AD" clId="Web-{FF86B303-74F5-BD3A-8352-6591D958E1FC}" dt="2025-02-12T04:43:34.849" v="7" actId="1076"/>
          <ac:picMkLst>
            <pc:docMk/>
            <pc:sldMk cId="2727490680" sldId="307"/>
            <ac:picMk id="2" creationId="{B034BAF4-1E44-B47F-7ED5-FEDC37BA6351}"/>
          </ac:picMkLst>
        </pc:picChg>
        <pc:picChg chg="del">
          <ac:chgData name="Divya Leekha" userId="S::divyarahul.leekha@torrens.edu.au::9d877988-a945-4593-83be-7278bd2d3dda" providerId="AD" clId="Web-{FF86B303-74F5-BD3A-8352-6591D958E1FC}" dt="2025-02-12T04:42:54.129" v="0"/>
          <ac:picMkLst>
            <pc:docMk/>
            <pc:sldMk cId="2727490680" sldId="307"/>
            <ac:picMk id="5" creationId="{C4D029E6-599B-4F8C-A3B6-5AA520D75988}"/>
          </ac:picMkLst>
        </pc:picChg>
      </pc:sldChg>
      <pc:sldChg chg="modSp new del">
        <pc:chgData name="Divya Leekha" userId="S::divyarahul.leekha@torrens.edu.au::9d877988-a945-4593-83be-7278bd2d3dda" providerId="AD" clId="Web-{FF86B303-74F5-BD3A-8352-6591D958E1FC}" dt="2025-02-12T04:44:59.149" v="14"/>
        <pc:sldMkLst>
          <pc:docMk/>
          <pc:sldMk cId="2946446708" sldId="316"/>
        </pc:sldMkLst>
        <pc:spChg chg="mod">
          <ac:chgData name="Divya Leekha" userId="S::divyarahul.leekha@torrens.edu.au::9d877988-a945-4593-83be-7278bd2d3dda" providerId="AD" clId="Web-{FF86B303-74F5-BD3A-8352-6591D958E1FC}" dt="2025-02-12T04:44:53.993" v="13" actId="20577"/>
          <ac:spMkLst>
            <pc:docMk/>
            <pc:sldMk cId="2946446708" sldId="316"/>
            <ac:spMk id="3" creationId="{A2F3D732-4FC8-9135-2783-2B51C2F8EB4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AE9E6C-C2F4-49A4-B98A-5B3668C6790E}" type="datetimeFigureOut">
              <a:rPr lang="en-AU" smtClean="0"/>
              <a:t>16/02/2025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5DE707-733F-4536-9621-4A4F70E769FA}" type="slidenum">
              <a:rPr lang="en-AU" smtClean="0"/>
              <a:t>‹#›</a:t>
            </a:fld>
            <a:endParaRPr lang="en-AU"/>
          </a:p>
        </p:txBody>
      </p:sp>
    </p:spTree>
    <p:extLst>
      <p:ext uri="{BB962C8B-B14F-4D97-AF65-F5344CB8AC3E}">
        <p14:creationId xmlns:p14="http://schemas.microsoft.com/office/powerpoint/2010/main" val="185086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1</a:t>
            </a:fld>
            <a:endParaRPr lang="en-AU"/>
          </a:p>
        </p:txBody>
      </p:sp>
    </p:spTree>
    <p:extLst>
      <p:ext uri="{BB962C8B-B14F-4D97-AF65-F5344CB8AC3E}">
        <p14:creationId xmlns:p14="http://schemas.microsoft.com/office/powerpoint/2010/main" val="2524915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2</a:t>
            </a:fld>
            <a:endParaRPr lang="en-AU"/>
          </a:p>
        </p:txBody>
      </p:sp>
    </p:spTree>
    <p:extLst>
      <p:ext uri="{BB962C8B-B14F-4D97-AF65-F5344CB8AC3E}">
        <p14:creationId xmlns:p14="http://schemas.microsoft.com/office/powerpoint/2010/main" val="3907173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3</a:t>
            </a:fld>
            <a:endParaRPr lang="en-AU"/>
          </a:p>
        </p:txBody>
      </p:sp>
    </p:spTree>
    <p:extLst>
      <p:ext uri="{BB962C8B-B14F-4D97-AF65-F5344CB8AC3E}">
        <p14:creationId xmlns:p14="http://schemas.microsoft.com/office/powerpoint/2010/main" val="290423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storage farm</a:t>
            </a:r>
            <a:r>
              <a:rPr lang="en-US" dirty="0"/>
              <a:t> (also called a </a:t>
            </a:r>
            <a:r>
              <a:rPr lang="en-US" b="1" dirty="0"/>
              <a:t>data farm</a:t>
            </a:r>
            <a:r>
              <a:rPr lang="en-US" dirty="0"/>
              <a:t> or </a:t>
            </a:r>
            <a:r>
              <a:rPr lang="en-US" b="1" dirty="0"/>
              <a:t>server farm</a:t>
            </a:r>
            <a:r>
              <a:rPr lang="en-US" dirty="0"/>
              <a:t>) is a </a:t>
            </a:r>
            <a:r>
              <a:rPr lang="en-US" b="1" dirty="0"/>
              <a:t>large collection of storage servers</a:t>
            </a:r>
            <a:r>
              <a:rPr lang="en-US" dirty="0"/>
              <a:t> used to store, manage, and process massive amounts of data. These farms are typically maintained by </a:t>
            </a:r>
            <a:r>
              <a:rPr lang="en-US" b="1" dirty="0"/>
              <a:t>cloud service providers</a:t>
            </a:r>
            <a:r>
              <a:rPr lang="en-US" dirty="0"/>
              <a:t> like </a:t>
            </a:r>
            <a:r>
              <a:rPr lang="en-US" b="1" dirty="0"/>
              <a:t>Google, Amazon (AWS), and Microsoft (Azure)</a:t>
            </a:r>
            <a:r>
              <a:rPr lang="en-US" dirty="0"/>
              <a:t> to offer cloud storage services to businesses and individuals. </a:t>
            </a:r>
            <a:r>
              <a:rPr lang="en-AU" b="1" dirty="0"/>
              <a:t>Real-World Examples of Storage Farms:</a:t>
            </a:r>
          </a:p>
          <a:p>
            <a:r>
              <a:rPr lang="en-AU" b="1" dirty="0"/>
              <a:t>Google Drive, Dropbox, OneDrive</a:t>
            </a:r>
            <a:r>
              <a:rPr lang="en-AU" dirty="0"/>
              <a:t> → Store user files in cloud-based storage farms.</a:t>
            </a:r>
            <a:br>
              <a:rPr lang="en-AU" dirty="0"/>
            </a:br>
            <a:r>
              <a:rPr lang="en-AU" b="1" dirty="0"/>
              <a:t>Netflix, YouTube, Spotify</a:t>
            </a:r>
            <a:r>
              <a:rPr lang="en-AU" dirty="0"/>
              <a:t> → Use massive data farms to store and stream videos and music.</a:t>
            </a:r>
          </a:p>
          <a:p>
            <a:endParaRPr lang="en-AU" dirty="0"/>
          </a:p>
          <a:p>
            <a:r>
              <a:rPr lang="en-US" dirty="0"/>
              <a:t>The phrase </a:t>
            </a:r>
            <a:r>
              <a:rPr lang="en-US" b="1" dirty="0"/>
              <a:t>"within epsilon of zero"</a:t>
            </a:r>
            <a:r>
              <a:rPr lang="en-US" dirty="0"/>
              <a:t> is a mathematical way of saying </a:t>
            </a:r>
            <a:r>
              <a:rPr lang="en-US" b="1" dirty="0"/>
              <a:t>"very close to zero"</a:t>
            </a:r>
            <a:r>
              <a:rPr lang="en-US" dirty="0"/>
              <a:t> but </a:t>
            </a:r>
            <a:r>
              <a:rPr lang="en-US" b="1" dirty="0"/>
              <a:t>not exactly zero</a:t>
            </a:r>
            <a:r>
              <a:rPr lang="en-US" dirty="0"/>
              <a:t>.</a:t>
            </a:r>
          </a:p>
          <a:p>
            <a:r>
              <a:rPr lang="en-US" b="1" dirty="0"/>
              <a:t>What Does It Mean in Computing?</a:t>
            </a:r>
          </a:p>
          <a:p>
            <a:r>
              <a:rPr lang="en-US" dirty="0"/>
              <a:t>The cost of computing infrastructure (hardware, storage, computation, networking) is </a:t>
            </a:r>
            <a:r>
              <a:rPr lang="en-US" b="1" dirty="0"/>
              <a:t>becoming so cheap</a:t>
            </a:r>
            <a:r>
              <a:rPr lang="en-US" dirty="0"/>
              <a:t> that it is </a:t>
            </a:r>
            <a:r>
              <a:rPr lang="en-US" b="1" dirty="0"/>
              <a:t>almost negligible</a:t>
            </a:r>
            <a:r>
              <a:rPr lang="en-US" dirty="0"/>
              <a:t>—but not entirely free.</a:t>
            </a:r>
          </a:p>
          <a:p>
            <a:r>
              <a:rPr lang="en-US" b="1" dirty="0"/>
              <a:t>Example:</a:t>
            </a:r>
          </a:p>
          <a:p>
            <a:r>
              <a:rPr lang="en-US" dirty="0"/>
              <a:t>Think of </a:t>
            </a:r>
            <a:r>
              <a:rPr lang="en-US" b="1" dirty="0"/>
              <a:t>cloud storage</a:t>
            </a:r>
            <a:r>
              <a:rPr lang="en-US" dirty="0"/>
              <a:t>. Years ago, storing large amounts of data required expensive physical servers. Now, companies like Google and AWS offer </a:t>
            </a:r>
            <a:r>
              <a:rPr lang="en-US" b="1" dirty="0"/>
              <a:t>gigabytes of free storage</a:t>
            </a:r>
            <a:r>
              <a:rPr lang="en-US" dirty="0"/>
              <a:t> and charge very little for extra space. While the cost isn’t exactly zero, it’s so small that many businesses </a:t>
            </a:r>
            <a:r>
              <a:rPr lang="en-US" b="1" dirty="0"/>
              <a:t>barely notice it</a:t>
            </a:r>
            <a:r>
              <a:rPr lang="en-US" dirty="0"/>
              <a:t> compared to traditional IT expenses.</a:t>
            </a:r>
          </a:p>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4</a:t>
            </a:fld>
            <a:endParaRPr lang="en-AU"/>
          </a:p>
        </p:txBody>
      </p:sp>
    </p:spTree>
    <p:extLst>
      <p:ext uri="{BB962C8B-B14F-4D97-AF65-F5344CB8AC3E}">
        <p14:creationId xmlns:p14="http://schemas.microsoft.com/office/powerpoint/2010/main" val="1576400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47663"/>
            <a:ext cx="5486400" cy="3086100"/>
          </a:xfrm>
        </p:spPr>
      </p:sp>
      <p:sp>
        <p:nvSpPr>
          <p:cNvPr id="3" name="Notes Placeholder 2"/>
          <p:cNvSpPr>
            <a:spLocks noGrp="1"/>
          </p:cNvSpPr>
          <p:nvPr>
            <p:ph type="body" idx="1"/>
          </p:nvPr>
        </p:nvSpPr>
        <p:spPr>
          <a:xfrm>
            <a:off x="685800" y="3599039"/>
            <a:ext cx="5486400" cy="3600450"/>
          </a:xfrm>
        </p:spPr>
        <p:txBody>
          <a:bodyPr/>
          <a:lstStyle/>
          <a:p>
            <a:pPr>
              <a:buFont typeface="+mj-lt"/>
              <a:buAutoNum type="arabicPeriod"/>
            </a:pPr>
            <a:r>
              <a:rPr lang="en-US" b="1" dirty="0"/>
              <a:t>"The First Age of computing began with a focus on large infrastructure like mainframes, centralized databases, and batch processing"</a:t>
            </a:r>
            <a:endParaRPr lang="en-US" dirty="0"/>
          </a:p>
          <a:p>
            <a:pPr marL="742950" lvl="1" indent="-285750">
              <a:buFont typeface="+mj-lt"/>
              <a:buAutoNum type="arabicPeriod"/>
            </a:pPr>
            <a:r>
              <a:rPr lang="en-US" dirty="0"/>
              <a:t>In the early days of computing, businesses and organizations relied on </a:t>
            </a:r>
            <a:r>
              <a:rPr lang="en-US" b="1" dirty="0"/>
              <a:t>mainframes</a:t>
            </a:r>
            <a:r>
              <a:rPr lang="en-US" dirty="0"/>
              <a:t>—large, powerful computers that handled all processing.</a:t>
            </a:r>
          </a:p>
          <a:p>
            <a:pPr marL="742950" lvl="1" indent="-285750">
              <a:buFont typeface="+mj-lt"/>
              <a:buAutoNum type="arabicPeriod"/>
            </a:pPr>
            <a:r>
              <a:rPr lang="en-US" dirty="0"/>
              <a:t>Data was stored in </a:t>
            </a:r>
            <a:r>
              <a:rPr lang="en-US" b="1" dirty="0"/>
              <a:t>centralized databases</a:t>
            </a:r>
            <a:r>
              <a:rPr lang="en-US" dirty="0"/>
              <a:t>, meaning all information was kept in one place rather than distributed across multiple systems.</a:t>
            </a:r>
          </a:p>
          <a:p>
            <a:pPr marL="742950" lvl="1" indent="-285750">
              <a:buFont typeface="+mj-lt"/>
              <a:buAutoNum type="arabicPeriod"/>
            </a:pPr>
            <a:r>
              <a:rPr lang="en-US" b="1" dirty="0"/>
              <a:t>Batch processing</a:t>
            </a:r>
            <a:r>
              <a:rPr lang="en-US" dirty="0"/>
              <a:t> was common, where computers executed tasks in bulk rather than interactively responding to users in real-time.</a:t>
            </a:r>
          </a:p>
          <a:p>
            <a:pPr>
              <a:buFont typeface="+mj-lt"/>
              <a:buAutoNum type="arabicPeriod"/>
            </a:pPr>
            <a:r>
              <a:rPr lang="en-US" b="1" dirty="0"/>
              <a:t>"Later transitioning to decentralized networks with personal computers"</a:t>
            </a:r>
            <a:endParaRPr lang="en-US" dirty="0"/>
          </a:p>
          <a:p>
            <a:pPr marL="742950" lvl="1" indent="-285750">
              <a:buFont typeface="+mj-lt"/>
              <a:buAutoNum type="arabicPeriod"/>
            </a:pPr>
            <a:r>
              <a:rPr lang="en-US" dirty="0"/>
              <a:t>Over time, computing shifted from a </a:t>
            </a:r>
            <a:r>
              <a:rPr lang="en-US" b="1" dirty="0"/>
              <a:t>centralized model</a:t>
            </a:r>
            <a:r>
              <a:rPr lang="en-US" dirty="0"/>
              <a:t> (where one mainframe controlled multiple terminals) to a </a:t>
            </a:r>
            <a:r>
              <a:rPr lang="en-US" b="1" dirty="0"/>
              <a:t>decentralized model</a:t>
            </a:r>
            <a:r>
              <a:rPr lang="en-US" dirty="0"/>
              <a:t> (where multiple smaller computers, like personal computers (PCs), handled processing independently).</a:t>
            </a:r>
          </a:p>
          <a:p>
            <a:pPr marL="742950" lvl="1" indent="-285750">
              <a:buFont typeface="+mj-lt"/>
              <a:buAutoNum type="arabicPeriod"/>
            </a:pPr>
            <a:r>
              <a:rPr lang="en-US" dirty="0"/>
              <a:t>This meant users had more control over their own machines rather than relying on a central mainframe.</a:t>
            </a:r>
          </a:p>
          <a:p>
            <a:pPr>
              <a:buFont typeface="+mj-lt"/>
              <a:buAutoNum type="arabicPeriod"/>
            </a:pPr>
            <a:r>
              <a:rPr lang="en-US" b="1" dirty="0"/>
              <a:t>"Interactive programs, and more visual interfaces"</a:t>
            </a:r>
            <a:endParaRPr lang="en-US" dirty="0"/>
          </a:p>
          <a:p>
            <a:pPr marL="742950" lvl="1" indent="-285750">
              <a:buFont typeface="+mj-lt"/>
              <a:buAutoNum type="arabicPeriod"/>
            </a:pPr>
            <a:r>
              <a:rPr lang="en-US" dirty="0"/>
              <a:t>Initially, most computing was done through </a:t>
            </a:r>
            <a:r>
              <a:rPr lang="en-US" b="1" dirty="0"/>
              <a:t>text-based batch jobs</a:t>
            </a:r>
            <a:r>
              <a:rPr lang="en-US" dirty="0"/>
              <a:t>—users submitted tasks, and the computer processed them in bulk.</a:t>
            </a:r>
          </a:p>
          <a:p>
            <a:pPr marL="742950" lvl="1" indent="-285750">
              <a:buFont typeface="+mj-lt"/>
              <a:buAutoNum type="arabicPeriod"/>
            </a:pPr>
            <a:r>
              <a:rPr lang="en-US" dirty="0"/>
              <a:t>Eventually, computers began supporting </a:t>
            </a:r>
            <a:r>
              <a:rPr lang="en-US" b="1" dirty="0"/>
              <a:t>interactive programs</a:t>
            </a:r>
            <a:r>
              <a:rPr lang="en-US" dirty="0"/>
              <a:t>, meaning users could input commands and get immediate responses.</a:t>
            </a:r>
          </a:p>
          <a:p>
            <a:pPr marL="742950" lvl="1" indent="-285750">
              <a:buFont typeface="+mj-lt"/>
              <a:buAutoNum type="arabicPeriod"/>
            </a:pPr>
            <a:r>
              <a:rPr lang="en-US" dirty="0"/>
              <a:t>This led to the development of </a:t>
            </a:r>
            <a:r>
              <a:rPr lang="en-US" b="1" dirty="0"/>
              <a:t>graphical user interfaces (GUIs)</a:t>
            </a:r>
            <a:r>
              <a:rPr lang="en-US" dirty="0"/>
              <a:t>, making computers more user-friendly with icons, windows, and visual elements instead of just text-based commands.</a:t>
            </a:r>
          </a:p>
          <a:p>
            <a:r>
              <a:rPr lang="en-US" dirty="0"/>
              <a:t>So, the </a:t>
            </a:r>
            <a:r>
              <a:rPr lang="en-US" b="1" dirty="0"/>
              <a:t>First Age of computing</a:t>
            </a:r>
            <a:r>
              <a:rPr lang="en-US" dirty="0"/>
              <a:t> was a transition from centralized, batch-based computing to more decentralized, interactive, and visually rich computing environments.</a:t>
            </a:r>
          </a:p>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5</a:t>
            </a:fld>
            <a:endParaRPr lang="en-AU"/>
          </a:p>
        </p:txBody>
      </p:sp>
    </p:spTree>
    <p:extLst>
      <p:ext uri="{BB962C8B-B14F-4D97-AF65-F5344CB8AC3E}">
        <p14:creationId xmlns:p14="http://schemas.microsoft.com/office/powerpoint/2010/main" val="3630462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6</a:t>
            </a:fld>
            <a:endParaRPr lang="en-AU"/>
          </a:p>
        </p:txBody>
      </p:sp>
    </p:spTree>
    <p:extLst>
      <p:ext uri="{BB962C8B-B14F-4D97-AF65-F5344CB8AC3E}">
        <p14:creationId xmlns:p14="http://schemas.microsoft.com/office/powerpoint/2010/main" val="1930512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50825"/>
            <a:ext cx="5486400" cy="3086100"/>
          </a:xfrm>
        </p:spPr>
      </p:sp>
      <p:sp>
        <p:nvSpPr>
          <p:cNvPr id="3" name="Notes Placeholder 2"/>
          <p:cNvSpPr>
            <a:spLocks noGrp="1"/>
          </p:cNvSpPr>
          <p:nvPr>
            <p:ph type="body" idx="1"/>
          </p:nvPr>
        </p:nvSpPr>
        <p:spPr>
          <a:xfrm>
            <a:off x="764822" y="3723216"/>
            <a:ext cx="5486400" cy="360045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second age of computing, marked by the rise of the Internet and the development of accessible, visually attractive devices, saw the emergence of companies like Sun, Cisco, and Yahoo, the explosion of Web 1.0 and eBay, and the first Internet Bubble, all fueled by the connectivity of the Internet and the demand for scalable computing infrastructures and cost reduction.</a:t>
            </a:r>
            <a:endParaRPr lang="en-AU" dirty="0"/>
          </a:p>
          <a:p>
            <a:endParaRPr lang="en-US" dirty="0"/>
          </a:p>
          <a:p>
            <a:r>
              <a:rPr lang="en-US" dirty="0"/>
              <a:t>The second age of computing refers to the period when the Internet became central to technological progress, particularly from the mid-1990s onward. This era saw the rise of major companies like Sun Microsystems, Cisco, and Yahoo, and key innovations such as Netscape (which evolved from Mosaic), Web 1.0, and eBay. The two main drivers of this age were the development of the Internet itself, which allowed global, always-on connectivity between individuals, and the creation of easy-to-use, visually appealing devices that made it possible for almost anyone to access and use the web.</a:t>
            </a:r>
          </a:p>
          <a:p>
            <a:r>
              <a:rPr lang="en-US" dirty="0"/>
              <a:t>Before this age, most computing was done on large, individual machines or in small clusters of computers. However, as the web grew, particularly in the mid-1990s when the number of websites was increasing rapidly, there was a need for computing infrastructure that could scale to accommodate the massive and accelerating growth of the web. This prompted the development of systems that could handle huge amounts of data and ensure services ran smoothly.</a:t>
            </a:r>
          </a:p>
          <a:p>
            <a:r>
              <a:rPr lang="en-US" dirty="0"/>
              <a:t>In addition, the constant drive to reduce costs in technology—from acquisition and deployment to operation—remained a key theme in this age, as companies aimed to make technology more affordable and accessible.</a:t>
            </a:r>
          </a:p>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7</a:t>
            </a:fld>
            <a:endParaRPr lang="en-AU"/>
          </a:p>
        </p:txBody>
      </p:sp>
    </p:spTree>
    <p:extLst>
      <p:ext uri="{BB962C8B-B14F-4D97-AF65-F5344CB8AC3E}">
        <p14:creationId xmlns:p14="http://schemas.microsoft.com/office/powerpoint/2010/main" val="1881374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8</a:t>
            </a:fld>
            <a:endParaRPr lang="en-AU"/>
          </a:p>
        </p:txBody>
      </p:sp>
    </p:spTree>
    <p:extLst>
      <p:ext uri="{BB962C8B-B14F-4D97-AF65-F5344CB8AC3E}">
        <p14:creationId xmlns:p14="http://schemas.microsoft.com/office/powerpoint/2010/main" val="1821771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9</a:t>
            </a:fld>
            <a:endParaRPr lang="en-AU"/>
          </a:p>
        </p:txBody>
      </p:sp>
    </p:spTree>
    <p:extLst>
      <p:ext uri="{BB962C8B-B14F-4D97-AF65-F5344CB8AC3E}">
        <p14:creationId xmlns:p14="http://schemas.microsoft.com/office/powerpoint/2010/main" val="35197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06375"/>
            <a:ext cx="5486400" cy="3086100"/>
          </a:xfrm>
        </p:spPr>
      </p:sp>
      <p:sp>
        <p:nvSpPr>
          <p:cNvPr id="3" name="Notes Placeholder 2"/>
          <p:cNvSpPr>
            <a:spLocks noGrp="1"/>
          </p:cNvSpPr>
          <p:nvPr>
            <p:ph type="body" idx="1"/>
          </p:nvPr>
        </p:nvSpPr>
        <p:spPr>
          <a:xfrm>
            <a:off x="685800" y="3452283"/>
            <a:ext cx="5486400" cy="3600450"/>
          </a:xfrm>
        </p:spPr>
        <p:txBody>
          <a:bodyPr/>
          <a:lstStyle/>
          <a:p>
            <a:r>
              <a:rPr lang="en-US" dirty="0"/>
              <a:t>The third age of computing saw the evolution from manual indexing of the Internet by companies like Yahoo to the rise of Google, which automated data collection and processing, while also driving the development of public cloud services like Salesforce, requiring enterprises to store sensitive data externally, and the creation of scalable infrastructure using commodity components, new application development architectures like map-reduce, and automated operations to ensure reliability despite occasional outages.</a:t>
            </a:r>
          </a:p>
          <a:p>
            <a:r>
              <a:rPr lang="en-US" dirty="0"/>
              <a:t>The third age of computing is defined by significant advancements in how data is processed, stored, and accessed. In the early stages of the second age, Yahoo made a name for itself by manually indexing the Internet, but this process quickly evolved with the rise of more advanced search engines like AltaVista and Google. Google ultimately became the dominant force by automating the indexing process, which made it more efficient and scalable.</a:t>
            </a:r>
          </a:p>
          <a:p>
            <a:r>
              <a:rPr lang="en-US" dirty="0"/>
              <a:t>Around this time, the concept of the public cloud also emerged, with companies like Salesforce offering cloud services aimed at enterprise customers, requiring them to store sensitive data outside their own facilities. To support this massive scale, new infrastructure models were developed that focused on using inexpensive, commodity components, often referred to as “cheap stuff that breaks,” which helped reduce costs.</a:t>
            </a:r>
          </a:p>
          <a:p>
            <a:r>
              <a:rPr lang="en-US" dirty="0"/>
              <a:t>Another important innovation was the creation of new data storage systems like the Google File System (GFS), which didn’t rely on traditional databases but instead used a more reliable and scalable method. Additionally, the emergence of new application development frameworks, such as the map-reduce model (which later inspired Hadoop), allowed for large-scale data processing.</a:t>
            </a:r>
          </a:p>
          <a:p>
            <a:r>
              <a:rPr lang="en-US" dirty="0"/>
              <a:t>With these innovations, operations became highly automated to reduce human intervention and ensure systems could handle large-scale data efficiently, even if some downtime occurred. In the context of search engines, a brief outage might not be critical because users could still get most of the search results they needed.</a:t>
            </a:r>
          </a:p>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10</a:t>
            </a:fld>
            <a:endParaRPr lang="en-AU"/>
          </a:p>
        </p:txBody>
      </p:sp>
    </p:spTree>
    <p:extLst>
      <p:ext uri="{BB962C8B-B14F-4D97-AF65-F5344CB8AC3E}">
        <p14:creationId xmlns:p14="http://schemas.microsoft.com/office/powerpoint/2010/main" val="2069189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11</a:t>
            </a:fld>
            <a:endParaRPr lang="en-AU"/>
          </a:p>
        </p:txBody>
      </p:sp>
    </p:spTree>
    <p:extLst>
      <p:ext uri="{BB962C8B-B14F-4D97-AF65-F5344CB8AC3E}">
        <p14:creationId xmlns:p14="http://schemas.microsoft.com/office/powerpoint/2010/main" val="78523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12</a:t>
            </a:fld>
            <a:endParaRPr lang="en-AU"/>
          </a:p>
        </p:txBody>
      </p:sp>
    </p:spTree>
    <p:extLst>
      <p:ext uri="{BB962C8B-B14F-4D97-AF65-F5344CB8AC3E}">
        <p14:creationId xmlns:p14="http://schemas.microsoft.com/office/powerpoint/2010/main" val="318954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13</a:t>
            </a:fld>
            <a:endParaRPr lang="en-AU"/>
          </a:p>
        </p:txBody>
      </p:sp>
    </p:spTree>
    <p:extLst>
      <p:ext uri="{BB962C8B-B14F-4D97-AF65-F5344CB8AC3E}">
        <p14:creationId xmlns:p14="http://schemas.microsoft.com/office/powerpoint/2010/main" val="3483121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5486400" cy="3086100"/>
          </a:xfrm>
        </p:spPr>
      </p:sp>
      <p:sp>
        <p:nvSpPr>
          <p:cNvPr id="3" name="Notes Placeholder 2"/>
          <p:cNvSpPr>
            <a:spLocks noGrp="1"/>
          </p:cNvSpPr>
          <p:nvPr>
            <p:ph type="body" idx="1"/>
          </p:nvPr>
        </p:nvSpPr>
        <p:spPr>
          <a:xfrm>
            <a:off x="685800" y="4118327"/>
            <a:ext cx="5486400" cy="3600450"/>
          </a:xfrm>
        </p:spPr>
        <p:txBody>
          <a:bodyPr/>
          <a:lstStyle/>
          <a:p>
            <a:r>
              <a:rPr lang="en-US" dirty="0"/>
              <a:t>Key advances in the 1980s and 1990s, such as improvements in commodity hardware, network speed, virtualization, application architectures, and the widespread availability of high-quality, always-connected devices, collectively enabled the transition to cloud computing, enhancing both IT capacity and utilization for organizations seeking scalable, efficient solutions.</a:t>
            </a:r>
          </a:p>
          <a:p>
            <a:endParaRPr lang="en-US" dirty="0"/>
          </a:p>
          <a:p>
            <a:r>
              <a:rPr lang="en-US" dirty="0"/>
              <a:t>The transition to cloud computing was made possible by several technological advancements in the 1980s and 1990s. These included improvements in the hardware used in computing (such as processors, memory, and storage), faster networks (both within data centers and for remote connections), and the rise of virtualization, which allowed more efficient use of expensive mainframes. Additionally, software architecture improvements made it easier to reuse code and build applications, while the availability of high-quality, widely accessible devices with constant internet connectivity expanded the potential customer base for cloud services.</a:t>
            </a:r>
          </a:p>
          <a:p>
            <a:r>
              <a:rPr lang="en-US" dirty="0"/>
              <a:t>These advances allowed businesses to manage and scale their IT resources—like storage, processing power, and network bandwidth—more effectively. IT capacity refers to the total amount of these resources available, while IT utilization focuses on how much of that capacity is actually being used during the time it’s available. Together, these developments helped businesses optimize both the performance and efficiency of their IT systems through cloud computing.</a:t>
            </a:r>
          </a:p>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14</a:t>
            </a:fld>
            <a:endParaRPr lang="en-AU"/>
          </a:p>
        </p:txBody>
      </p:sp>
    </p:spTree>
    <p:extLst>
      <p:ext uri="{BB962C8B-B14F-4D97-AF65-F5344CB8AC3E}">
        <p14:creationId xmlns:p14="http://schemas.microsoft.com/office/powerpoint/2010/main" val="2033612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15</a:t>
            </a:fld>
            <a:endParaRPr lang="en-AU"/>
          </a:p>
        </p:txBody>
      </p:sp>
    </p:spTree>
    <p:extLst>
      <p:ext uri="{BB962C8B-B14F-4D97-AF65-F5344CB8AC3E}">
        <p14:creationId xmlns:p14="http://schemas.microsoft.com/office/powerpoint/2010/main" val="994139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16</a:t>
            </a:fld>
            <a:endParaRPr lang="en-AU"/>
          </a:p>
        </p:txBody>
      </p:sp>
    </p:spTree>
    <p:extLst>
      <p:ext uri="{BB962C8B-B14F-4D97-AF65-F5344CB8AC3E}">
        <p14:creationId xmlns:p14="http://schemas.microsoft.com/office/powerpoint/2010/main" val="893956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285750"/>
            <a:ext cx="5486400" cy="3086100"/>
          </a:xfrm>
        </p:spPr>
      </p:sp>
      <p:sp>
        <p:nvSpPr>
          <p:cNvPr id="3" name="Notes Placeholder 2"/>
          <p:cNvSpPr>
            <a:spLocks noGrp="1"/>
          </p:cNvSpPr>
          <p:nvPr>
            <p:ph type="body" idx="1"/>
          </p:nvPr>
        </p:nvSpPr>
        <p:spPr>
          <a:xfrm>
            <a:off x="685800" y="3565173"/>
            <a:ext cx="5486400" cy="3600450"/>
          </a:xfrm>
        </p:spPr>
        <p:txBody>
          <a:bodyPr/>
          <a:lstStyle/>
          <a:p>
            <a:r>
              <a:rPr lang="en-US" dirty="0"/>
              <a:t>Building ROI from cloud computing" refers to the process of generating a return on investment (ROI) by leveraging cloud computing technologies. This involves using the cloud to reduce costs, improve efficiency, scale operations, and unlock new business opportunities, ultimately leading to greater financial returns. The idea is that by shifting IT resources and services to the cloud, businesses can save on infrastructure costs, improve performance, and increase flexibility, resulting in a positive financial impact over time.</a:t>
            </a:r>
          </a:p>
          <a:p>
            <a:endParaRPr lang="en-US" dirty="0"/>
          </a:p>
          <a:p>
            <a:r>
              <a:rPr lang="en-US" dirty="0"/>
              <a:t>Eight business metrics that translate the capacity-utilization curve into benefits for businesses include speed and rate of change, optimizing total cost of ownership (TCO), rapid provisioning, increased margins and cost control, access to business skills and capability improvement, dynamic usage, risk and compliance improvement, and enhanced capacity utilization, all enabled by cloud computing's flexibility, scalability, and cost-efficiency.</a:t>
            </a:r>
          </a:p>
          <a:p>
            <a:endParaRPr lang="en-US" dirty="0"/>
          </a:p>
          <a:p>
            <a:r>
              <a:rPr lang="en-US" b="1" dirty="0"/>
              <a:t>Speed and rate of change</a:t>
            </a:r>
            <a:r>
              <a:rPr lang="en-US" dirty="0"/>
              <a:t>: Cloud computing allows for faster cost reduction because businesses can quickly scale services up or down, transferring responsibility for IT management to service providers, even though some challenges in portability still exist.</a:t>
            </a:r>
          </a:p>
          <a:p>
            <a:r>
              <a:rPr lang="en-US" b="1" dirty="0"/>
              <a:t>Optimizing total cost of ownership (TCO)</a:t>
            </a:r>
            <a:r>
              <a:rPr lang="en-US" dirty="0"/>
              <a:t>: Cloud services let businesses select the right hardware, software, and configurations, streamlining both the design and runtime stages to improve service performance and reduce costs.</a:t>
            </a:r>
          </a:p>
          <a:p>
            <a:r>
              <a:rPr lang="en-US" b="1" dirty="0"/>
              <a:t>Rapid provisioning</a:t>
            </a:r>
            <a:r>
              <a:rPr lang="en-US" dirty="0"/>
              <a:t>: Cloud computing enables businesses to scale their IT resources quickly to meet actual demand, cutting down provisioning times from weeks to hours and redefining business operations with faster, more flexible deployment.</a:t>
            </a:r>
          </a:p>
          <a:p>
            <a:r>
              <a:rPr lang="en-US" b="1" dirty="0"/>
              <a:t>Increase margin and cost control</a:t>
            </a:r>
            <a:r>
              <a:rPr lang="en-US" dirty="0"/>
              <a:t>: By using cloud services, companies can lower costs and increase margins, while also entering new markets more easily with low-cost cloud offerings.</a:t>
            </a:r>
          </a:p>
          <a:p>
            <a:r>
              <a:rPr lang="en-US" b="1" dirty="0"/>
              <a:t>Access to business skills and capability improvement</a:t>
            </a:r>
            <a:r>
              <a:rPr lang="en-US" dirty="0"/>
              <a:t>: Cloud computing provides on-demand access to new skills and solutions through cloud sourcing, improving business capabilities without the need for in-house expertise.</a:t>
            </a:r>
          </a:p>
          <a:p>
            <a:r>
              <a:rPr lang="en-US" b="1" dirty="0"/>
              <a:t>Dynamic usage</a:t>
            </a:r>
            <a:r>
              <a:rPr lang="en-US" dirty="0"/>
              <a:t>: Cloud services can be adjusted to meet real business needs, whether usage is fixed or variable, allowing businesses to be more agile and flexible in their IT consumption.</a:t>
            </a:r>
          </a:p>
          <a:p>
            <a:r>
              <a:rPr lang="en-US" b="1" dirty="0"/>
              <a:t>Risk and compliance improvement</a:t>
            </a:r>
            <a:r>
              <a:rPr lang="en-US" dirty="0"/>
              <a:t>: Cloud computing enables better risk management and compliance, especially with environmentally sustainable (green) solutions offered through shared services.</a:t>
            </a:r>
          </a:p>
          <a:p>
            <a:r>
              <a:rPr lang="en-US" b="1" dirty="0"/>
              <a:t>Enhanced capacity utilization</a:t>
            </a:r>
            <a:r>
              <a:rPr lang="en-US" dirty="0"/>
              <a:t>: Cloud computing ensures that IT services are better matched to actual demand, avoiding over-provisioning or under-provisioning, which improves overall service efficiency and smarter business decisions</a:t>
            </a:r>
          </a:p>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17</a:t>
            </a:fld>
            <a:endParaRPr lang="en-AU"/>
          </a:p>
        </p:txBody>
      </p:sp>
    </p:spTree>
    <p:extLst>
      <p:ext uri="{BB962C8B-B14F-4D97-AF65-F5344CB8AC3E}">
        <p14:creationId xmlns:p14="http://schemas.microsoft.com/office/powerpoint/2010/main" val="4164508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18</a:t>
            </a:fld>
            <a:endParaRPr lang="en-AU"/>
          </a:p>
        </p:txBody>
      </p:sp>
    </p:spTree>
    <p:extLst>
      <p:ext uri="{BB962C8B-B14F-4D97-AF65-F5344CB8AC3E}">
        <p14:creationId xmlns:p14="http://schemas.microsoft.com/office/powerpoint/2010/main" val="809824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387350"/>
            <a:ext cx="5486400" cy="3086100"/>
          </a:xfrm>
        </p:spPr>
      </p:sp>
      <p:sp>
        <p:nvSpPr>
          <p:cNvPr id="3" name="Notes Placeholder 2"/>
          <p:cNvSpPr>
            <a:spLocks noGrp="1"/>
          </p:cNvSpPr>
          <p:nvPr>
            <p:ph type="body" idx="1"/>
          </p:nvPr>
        </p:nvSpPr>
        <p:spPr>
          <a:xfrm>
            <a:off x="685800" y="3723217"/>
            <a:ext cx="5486400" cy="3600450"/>
          </a:xfrm>
        </p:spPr>
        <p:txBody>
          <a:bodyPr/>
          <a:lstStyle/>
          <a:p>
            <a:r>
              <a:rPr lang="en-US" dirty="0"/>
              <a:t>The five main benefits of cloud services are cost efficiency through shared infrastructure and consumption-based pricing, ease of use with out-of-the-box services, constant updates to software, scalability to quickly adapt to business growth or contraction, and mobile accessibility for a productive, remote workforce.</a:t>
            </a:r>
          </a:p>
          <a:p>
            <a:endParaRPr lang="en-US" dirty="0"/>
          </a:p>
          <a:p>
            <a:r>
              <a:rPr lang="en-US" b="1" dirty="0"/>
              <a:t>Cost efficiency</a:t>
            </a:r>
            <a:r>
              <a:rPr lang="en-US" dirty="0"/>
              <a:t>: By using shared infrastructure, businesses can share the costs with other users, meaning they only pay for what they use, which is often based on consumption. This could be charged per user, device, server, or instance, making it more affordable and flexible.</a:t>
            </a:r>
          </a:p>
          <a:p>
            <a:r>
              <a:rPr lang="en-US" b="1" dirty="0"/>
              <a:t>Easy to use</a:t>
            </a:r>
            <a:r>
              <a:rPr lang="en-US" dirty="0"/>
              <a:t>: Many cloud services are designed to work straight away, requiring minimal setup. For more complex needs, like databases or software solutions, cloud computing eliminates the need for businesses to buy hardware and go through lengthy capital expenditure processes, allowing them to start implementation immediately.</a:t>
            </a:r>
          </a:p>
          <a:p>
            <a:r>
              <a:rPr lang="en-US" b="1" dirty="0"/>
              <a:t>Up-to-date software</a:t>
            </a:r>
            <a:r>
              <a:rPr lang="en-US" dirty="0"/>
              <a:t>: Cloud providers continuously update their software offerings, meaning businesses benefit from the latest features and improvements without having to manually upgrade or maintain systems.</a:t>
            </a:r>
          </a:p>
          <a:p>
            <a:r>
              <a:rPr lang="en-US" b="1" dirty="0"/>
              <a:t>Scalability</a:t>
            </a:r>
            <a:r>
              <a:rPr lang="en-US" dirty="0"/>
              <a:t>: Cloud systems are designed to handle sudden changes in demand, so businesses can quickly scale their operations up or down. This flexibility helps companies avoid the financial burden of fixed IT costs when they need to adjust based on business needs.</a:t>
            </a:r>
          </a:p>
          <a:p>
            <a:r>
              <a:rPr lang="en-US" b="1" dirty="0"/>
              <a:t>Mobile accessibility</a:t>
            </a:r>
            <a:r>
              <a:rPr lang="en-US" dirty="0"/>
              <a:t>: Cloud services are built for remote access, so employees can work from anywhere. This is particularly beneficial for companies with mobile or distributed workforces, allowing staff to stay productive while on the go.</a:t>
            </a:r>
          </a:p>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FF5DE707-733F-4536-9621-4A4F70E769FA}" type="slidenum">
              <a:rPr lang="en-AU" smtClean="0"/>
              <a:t>19</a:t>
            </a:fld>
            <a:endParaRPr lang="en-AU"/>
          </a:p>
        </p:txBody>
      </p:sp>
    </p:spTree>
    <p:extLst>
      <p:ext uri="{BB962C8B-B14F-4D97-AF65-F5344CB8AC3E}">
        <p14:creationId xmlns:p14="http://schemas.microsoft.com/office/powerpoint/2010/main" val="4048709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20</a:t>
            </a:fld>
            <a:endParaRPr lang="en-AU"/>
          </a:p>
        </p:txBody>
      </p:sp>
    </p:spTree>
    <p:extLst>
      <p:ext uri="{BB962C8B-B14F-4D97-AF65-F5344CB8AC3E}">
        <p14:creationId xmlns:p14="http://schemas.microsoft.com/office/powerpoint/2010/main" val="34936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F5DE707-733F-4536-9621-4A4F70E769FA}" type="slidenum">
              <a:rPr lang="en-AU" smtClean="0"/>
              <a:t>21</a:t>
            </a:fld>
            <a:endParaRPr lang="en-AU"/>
          </a:p>
        </p:txBody>
      </p:sp>
    </p:spTree>
    <p:extLst>
      <p:ext uri="{BB962C8B-B14F-4D97-AF65-F5344CB8AC3E}">
        <p14:creationId xmlns:p14="http://schemas.microsoft.com/office/powerpoint/2010/main" val="41537905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12192000" cy="6858000"/>
            <a:chOff x="0" y="0"/>
            <a:chExt cx="12192000" cy="6858000"/>
          </a:xfrm>
        </p:grpSpPr>
        <p:sp>
          <p:nvSpPr>
            <p:cNvPr id="8" name="Rectangle 7"/>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Oval 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76279" y="1792223"/>
            <a:ext cx="990599" cy="304799"/>
          </a:xfrm>
        </p:spPr>
        <p:txBody>
          <a:bodyPr anchor="t"/>
          <a:lstStyle>
            <a:lvl1pPr algn="l">
              <a:defRPr b="0" i="0">
                <a:solidFill>
                  <a:schemeClr val="bg1"/>
                </a:solidFill>
              </a:defRPr>
            </a:lvl1pPr>
          </a:lstStyle>
          <a:p>
            <a:fld id="{7FC5A26D-81AB-412C-B732-1A4D2BAF38D6}" type="datetime1">
              <a:rPr lang="en-AU" smtClean="0"/>
              <a:t>16/02/2025</a:t>
            </a:fld>
            <a:endParaRPr lang="en-AU"/>
          </a:p>
        </p:txBody>
      </p:sp>
      <p:sp>
        <p:nvSpPr>
          <p:cNvPr id="5" name="Footer Placeholder 4"/>
          <p:cNvSpPr>
            <a:spLocks noGrp="1"/>
          </p:cNvSpPr>
          <p:nvPr>
            <p:ph type="ftr" sz="quarter" idx="11"/>
          </p:nvPr>
        </p:nvSpPr>
        <p:spPr bwMode="gray">
          <a:xfrm rot="5400000">
            <a:off x="8963575" y="3226820"/>
            <a:ext cx="3859795" cy="304801"/>
          </a:xfrm>
        </p:spPr>
        <p:txBody>
          <a:bodyPr anchor="b"/>
          <a:lstStyle>
            <a:lvl1pPr>
              <a:defRPr b="0" i="0">
                <a:solidFill>
                  <a:schemeClr val="bg1"/>
                </a:solidFill>
              </a:defRPr>
            </a:lvl1pPr>
          </a:lstStyle>
          <a:p>
            <a:r>
              <a:rPr lang="en-AU"/>
              <a:t>ISY503 Intelligent Systems</a:t>
            </a:r>
          </a:p>
        </p:txBody>
      </p:sp>
      <p:sp>
        <p:nvSpPr>
          <p:cNvPr id="17" name="Rectangle 16"/>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vl1pPr>
          </a:lstStyle>
          <a:p>
            <a:fld id="{AA9B4DDF-D983-43F6-9690-D9255D65AFD2}" type="slidenum">
              <a:rPr lang="en-AU" smtClean="0"/>
              <a:t>‹#›</a:t>
            </a:fld>
            <a:endParaRPr lang="en-AU"/>
          </a:p>
        </p:txBody>
      </p:sp>
    </p:spTree>
    <p:extLst>
      <p:ext uri="{BB962C8B-B14F-4D97-AF65-F5344CB8AC3E}">
        <p14:creationId xmlns:p14="http://schemas.microsoft.com/office/powerpoint/2010/main" val="2576034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405500-3963-4EC7-834F-054336A58502}" type="datetime1">
              <a:rPr lang="en-AU" smtClean="0"/>
              <a:t>16/02/2025</a:t>
            </a:fld>
            <a:endParaRPr lang="en-AU"/>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934442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4"/>
            <a:ext cx="4351023" cy="2283823"/>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69856D7-4F97-489E-A7C1-18DB3F2652F8}" type="datetime1">
              <a:rPr lang="en-AU" smtClean="0"/>
              <a:t>16/02/2025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761786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1368" y="2603500"/>
            <a:ext cx="4828744"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1" y="2603500"/>
            <a:ext cx="4825159" cy="3377705"/>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A8F445-C2AE-43A2-9057-3E7B59312F27}" type="datetime1">
              <a:rPr lang="en-AU" smtClean="0"/>
              <a:t>16/02/2025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681385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36063"/>
            <a:ext cx="48251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212326"/>
            <a:ext cx="4825158" cy="28074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1" y="2603499"/>
            <a:ext cx="4825160" cy="608825"/>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212327"/>
            <a:ext cx="4825159" cy="280747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85BC00-77C4-492A-90D3-EE26D75A1452}" type="datetime1">
              <a:rPr lang="en-AU" smtClean="0"/>
              <a:t>16/02/2025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291405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27E394-6979-4D7F-92C2-2F2F55FDF7E4}" type="datetime1">
              <a:rPr lang="en-AU" smtClean="0"/>
              <a:t>16/02/2025</a:t>
            </a:fld>
            <a:endParaRPr lang="en-AU"/>
          </a:p>
        </p:txBody>
      </p:sp>
      <p:sp>
        <p:nvSpPr>
          <p:cNvPr id="4" name="Footer Placeholder 3"/>
          <p:cNvSpPr>
            <a:spLocks noGrp="1"/>
          </p:cNvSpPr>
          <p:nvPr>
            <p:ph type="ftr" sz="quarter" idx="11"/>
          </p:nvPr>
        </p:nvSpPr>
        <p:spPr/>
        <p:txBody>
          <a:bodyPr/>
          <a:lstStyle/>
          <a:p>
            <a:r>
              <a:rPr lang="en-AU"/>
              <a:t>ISY503 Intelligent Systems</a:t>
            </a:r>
          </a:p>
        </p:txBody>
      </p:sp>
      <p:sp>
        <p:nvSpPr>
          <p:cNvPr id="5" name="Slide Number Placeholder 4"/>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226758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CA3CE3-99F0-48D3-92D3-2A2892B08603}" type="datetime1">
              <a:rPr lang="en-AU" smtClean="0"/>
              <a:t>16/02/2025</a:t>
            </a:fld>
            <a:endParaRPr lang="en-AU"/>
          </a:p>
        </p:txBody>
      </p:sp>
      <p:sp>
        <p:nvSpPr>
          <p:cNvPr id="3" name="Footer Placeholder 2"/>
          <p:cNvSpPr>
            <a:spLocks noGrp="1"/>
          </p:cNvSpPr>
          <p:nvPr>
            <p:ph type="ftr" sz="quarter" idx="11"/>
          </p:nvPr>
        </p:nvSpPr>
        <p:spPr/>
        <p:txBody>
          <a:bodyPr/>
          <a:lstStyle/>
          <a:p>
            <a:r>
              <a:rPr lang="en-AU"/>
              <a:t>ISY503 Intelligent Systems</a:t>
            </a:r>
          </a:p>
        </p:txBody>
      </p:sp>
      <p:sp>
        <p:nvSpPr>
          <p:cNvPr id="6" name="Rectangle 5"/>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584226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3129280"/>
            <a:ext cx="2793158" cy="289559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83CAC5B-16F5-4ACB-B176-42A6F6B8D3A9}" type="datetime1">
              <a:rPr lang="en-AU" smtClean="0"/>
              <a:t>16/02/2025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104415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8" name="Rectangle 7"/>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2" y="1143000"/>
            <a:ext cx="3227192"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D10E27D-76B5-4E2B-95EE-0FFC6A20D5FC}" type="datetime1">
              <a:rPr lang="en-AU" smtClean="0"/>
              <a:t>16/02/2025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2326663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5945"/>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2683"/>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355B9D4-69FA-41B3-B1D1-C92E4F6425E1}" type="datetime1">
              <a:rPr lang="en-AU" smtClean="0"/>
              <a:t>16/02/2025</a:t>
            </a:fld>
            <a:endParaRPr lang="en-AU"/>
          </a:p>
        </p:txBody>
      </p:sp>
      <p:sp>
        <p:nvSpPr>
          <p:cNvPr id="6" name="Footer Placeholder 5"/>
          <p:cNvSpPr>
            <a:spLocks noGrp="1"/>
          </p:cNvSpPr>
          <p:nvPr>
            <p:ph type="ftr" sz="quarter" idx="11"/>
          </p:nvPr>
        </p:nvSpPr>
        <p:spPr/>
        <p:txBody>
          <a:bodyPr/>
          <a:lstStyle/>
          <a:p>
            <a:r>
              <a:rPr lang="en-AU"/>
              <a:t>ISY503 Intelligent Systems</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37039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nchor="ct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65E244E-F67C-4EEC-A78A-929ACF8B7407}" type="datetime1">
              <a:rPr lang="en-AU" smtClean="0"/>
              <a:t>16/02/2025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873472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6" name="Rectangle 15"/>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TextBox 10"/>
          <p:cNvSpPr txBox="1"/>
          <p:nvPr/>
        </p:nvSpPr>
        <p:spPr bwMode="gray">
          <a:xfrm>
            <a:off x="898295" y="603589"/>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13" name="TextBox 12"/>
          <p:cNvSpPr txBox="1"/>
          <p:nvPr/>
        </p:nvSpPr>
        <p:spPr bwMode="gray">
          <a:xfrm>
            <a:off x="9705137" y="2613787"/>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74801" y="980517"/>
            <a:ext cx="8460983" cy="2705034"/>
          </a:xfrm>
        </p:spPr>
        <p:txBody>
          <a:bodyPr anchor="ct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86515"/>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14393"/>
            <a:ext cx="8825659" cy="1012664"/>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EF24EA32-C4AD-4585-858E-50C32A6EC535}" type="datetime1">
              <a:rPr lang="en-AU" smtClean="0"/>
              <a:t>16/02/2025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24" name="Rectangle 23"/>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310384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2404477"/>
            <a:ext cx="8825659" cy="178870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38587" y="5024967"/>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2509D63-062A-41A4-979D-8BB968091D12}" type="datetime1">
              <a:rPr lang="en-AU" smtClean="0"/>
              <a:t>16/02/2025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2" name="Rectangle 11"/>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494351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7"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109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87261"/>
            <a:ext cx="3129168" cy="28397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10999"/>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87261"/>
            <a:ext cx="3145380" cy="28397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1" y="2603500"/>
            <a:ext cx="315744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87261"/>
            <a:ext cx="3161029" cy="283979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9C0C68-C03C-47CA-ADAD-B423882E496B}" type="datetime1">
              <a:rPr lang="en-AU" smtClean="0"/>
              <a:t>16/02/2025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126766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20744" cy="576263"/>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1246"/>
            <a:ext cx="2691242" cy="158376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20745"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42840"/>
            <a:ext cx="2691242" cy="1552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7"/>
            <a:ext cx="3050438" cy="92140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18992"/>
            <a:ext cx="2691242" cy="157601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09107"/>
            <a:ext cx="3054127" cy="89634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2F0141F-CD48-4406-8788-EB456238023F}" type="datetime1">
              <a:rPr lang="en-AU" smtClean="0"/>
              <a:t>16/02/2025</a:t>
            </a:fld>
            <a:endParaRPr lang="en-AU"/>
          </a:p>
        </p:txBody>
      </p:sp>
      <p:sp>
        <p:nvSpPr>
          <p:cNvPr id="8" name="Footer Placeholder 7"/>
          <p:cNvSpPr>
            <a:spLocks noGrp="1"/>
          </p:cNvSpPr>
          <p:nvPr>
            <p:ph type="ftr" sz="quarter" idx="11"/>
          </p:nvPr>
        </p:nvSpPr>
        <p:spPr/>
        <p:txBody>
          <a:bodyPr/>
          <a:lstStyle/>
          <a:p>
            <a:r>
              <a:rPr lang="en-AU"/>
              <a:t>ISY503 Intelligent Systems</a:t>
            </a:r>
          </a:p>
        </p:txBody>
      </p:sp>
      <p:sp>
        <p:nvSpPr>
          <p:cNvPr id="9" name="Slide Number Placeholder 8"/>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759017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EC308B-B178-4A76-BECD-4E5C1BF42566}" type="datetime1">
              <a:rPr lang="en-AU" smtClean="0"/>
              <a:t>16/02/2025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307238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97430"/>
            <a:ext cx="1409965" cy="4729626"/>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97429"/>
            <a:ext cx="6247546" cy="472962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F43F16-E8CE-49C3-9F39-DFE3269AC97B}" type="datetime1">
              <a:rPr lang="en-AU" smtClean="0"/>
              <a:t>16/02/2025</a:t>
            </a:fld>
            <a:endParaRPr lang="en-AU"/>
          </a:p>
        </p:txBody>
      </p:sp>
      <p:sp>
        <p:nvSpPr>
          <p:cNvPr id="5" name="Footer Placeholder 4"/>
          <p:cNvSpPr>
            <a:spLocks noGrp="1"/>
          </p:cNvSpPr>
          <p:nvPr>
            <p:ph type="ftr" sz="quarter" idx="11"/>
          </p:nvPr>
        </p:nvSpPr>
        <p:spPr/>
        <p:txBody>
          <a:bodyPr/>
          <a:lstStyle/>
          <a:p>
            <a:r>
              <a:rPr lang="en-AU"/>
              <a:t>ISY503 Intelligent Systems</a:t>
            </a:r>
          </a:p>
        </p:txBody>
      </p:sp>
      <p:sp>
        <p:nvSpPr>
          <p:cNvPr id="18" name="Rectangle 17"/>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A9B4DDF-D983-43F6-9690-D9255D65AFD2}" type="slidenum">
              <a:rPr lang="en-AU" smtClean="0"/>
              <a:t>‹#›</a:t>
            </a:fld>
            <a:endParaRPr lang="en-AU"/>
          </a:p>
        </p:txBody>
      </p:sp>
    </p:spTree>
    <p:extLst>
      <p:ext uri="{BB962C8B-B14F-4D97-AF65-F5344CB8AC3E}">
        <p14:creationId xmlns:p14="http://schemas.microsoft.com/office/powerpoint/2010/main" val="489140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5" name="Rectangle 14"/>
            <p:cNvSpPr/>
            <p:nvPr/>
          </p:nvSpPr>
          <p:spPr>
            <a:xfrm>
              <a:off x="0" y="0"/>
              <a:ext cx="12192000" cy="6858000"/>
            </a:xfrm>
            <a:prstGeom prst="rect">
              <a:avLst/>
            </a:prstGeom>
            <a:blipFill>
              <a:blip r:embed="rId19">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Oval 4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9" name="Oval 48"/>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61110" y="6391839"/>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AU"/>
              <a:t>ISY503 Intelligent Systems</a:t>
            </a:r>
          </a:p>
        </p:txBody>
      </p:sp>
      <p:sp>
        <p:nvSpPr>
          <p:cNvPr id="4" name="Date Placeholder 3"/>
          <p:cNvSpPr>
            <a:spLocks noGrp="1"/>
          </p:cNvSpPr>
          <p:nvPr>
            <p:ph type="dt" sz="half" idx="2"/>
          </p:nvPr>
        </p:nvSpPr>
        <p:spPr>
          <a:xfrm>
            <a:off x="10650938" y="6394407"/>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2C611C3-CD3B-4CFA-A3D9-74FF438EDE2C}" type="datetime1">
              <a:rPr lang="en-AU" smtClean="0"/>
              <a:t>16/02/2025</a:t>
            </a:fld>
            <a:endParaRPr lang="en-AU"/>
          </a:p>
        </p:txBody>
      </p:sp>
      <p:sp>
        <p:nvSpPr>
          <p:cNvPr id="20" name="Rectangle 19"/>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A9B4DDF-D983-43F6-9690-D9255D65AFD2}" type="slidenum">
              <a:rPr lang="en-AU" smtClean="0"/>
              <a:t>‹#›</a:t>
            </a:fld>
            <a:endParaRPr lang="en-AU"/>
          </a:p>
        </p:txBody>
      </p:sp>
    </p:spTree>
    <p:extLst>
      <p:ext uri="{BB962C8B-B14F-4D97-AF65-F5344CB8AC3E}">
        <p14:creationId xmlns:p14="http://schemas.microsoft.com/office/powerpoint/2010/main" val="26760549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014F5-3F35-488F-BD70-0304EDE614E9}"/>
              </a:ext>
            </a:extLst>
          </p:cNvPr>
          <p:cNvSpPr>
            <a:spLocks noGrp="1"/>
          </p:cNvSpPr>
          <p:nvPr>
            <p:ph type="title"/>
          </p:nvPr>
        </p:nvSpPr>
        <p:spPr>
          <a:xfrm>
            <a:off x="1532641" y="3710998"/>
            <a:ext cx="8761413" cy="728480"/>
          </a:xfrm>
        </p:spPr>
        <p:txBody>
          <a:bodyPr/>
          <a:lstStyle/>
          <a:p>
            <a:pPr algn="ctr"/>
            <a:r>
              <a:rPr lang="en-US" b="1" dirty="0">
                <a:solidFill>
                  <a:srgbClr val="FF0000"/>
                </a:solidFill>
              </a:rPr>
              <a:t>CCF501 Cloud Computing Fundamentals </a:t>
            </a:r>
            <a:br>
              <a:rPr lang="en-US" b="1" dirty="0">
                <a:solidFill>
                  <a:srgbClr val="FF0000"/>
                </a:solidFill>
              </a:rPr>
            </a:br>
            <a:endParaRPr lang="en-AU" b="1" dirty="0">
              <a:solidFill>
                <a:srgbClr val="FF0000"/>
              </a:solidFill>
            </a:endParaRPr>
          </a:p>
        </p:txBody>
      </p:sp>
    </p:spTree>
    <p:extLst>
      <p:ext uri="{BB962C8B-B14F-4D97-AF65-F5344CB8AC3E}">
        <p14:creationId xmlns:p14="http://schemas.microsoft.com/office/powerpoint/2010/main" val="2163813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473A4-5743-414D-B031-F70335F33E0F}"/>
              </a:ext>
            </a:extLst>
          </p:cNvPr>
          <p:cNvSpPr>
            <a:spLocks noGrp="1"/>
          </p:cNvSpPr>
          <p:nvPr>
            <p:ph type="title"/>
          </p:nvPr>
        </p:nvSpPr>
        <p:spPr/>
        <p:txBody>
          <a:bodyPr/>
          <a:lstStyle/>
          <a:p>
            <a:r>
              <a:rPr lang="en-AU" dirty="0"/>
              <a:t>Subject Descriptor</a:t>
            </a:r>
          </a:p>
        </p:txBody>
      </p:sp>
      <p:sp>
        <p:nvSpPr>
          <p:cNvPr id="3" name="Content Placeholder 2">
            <a:extLst>
              <a:ext uri="{FF2B5EF4-FFF2-40B4-BE49-F238E27FC236}">
                <a16:creationId xmlns:a16="http://schemas.microsoft.com/office/drawing/2014/main" id="{71237AD4-A5B0-4956-9550-64014327B7FA}"/>
              </a:ext>
            </a:extLst>
          </p:cNvPr>
          <p:cNvSpPr>
            <a:spLocks noGrp="1"/>
          </p:cNvSpPr>
          <p:nvPr>
            <p:ph idx="1"/>
          </p:nvPr>
        </p:nvSpPr>
        <p:spPr>
          <a:xfrm>
            <a:off x="1154954" y="2603500"/>
            <a:ext cx="9775316" cy="3416300"/>
          </a:xfrm>
        </p:spPr>
        <p:txBody>
          <a:bodyPr>
            <a:noAutofit/>
          </a:bodyPr>
          <a:lstStyle/>
          <a:p>
            <a:pPr algn="just">
              <a:lnSpc>
                <a:spcPct val="150000"/>
              </a:lnSpc>
            </a:pPr>
            <a:r>
              <a:rPr lang="en-AU" sz="2400" dirty="0">
                <a:latin typeface="Calibri" panose="020F0502020204030204" pitchFamily="34" charset="0"/>
                <a:cs typeface="Calibri" panose="020F0502020204030204" pitchFamily="34" charset="0"/>
              </a:rPr>
              <a:t>This subject provides a fundamental understanding of cloud computing.</a:t>
            </a:r>
          </a:p>
          <a:p>
            <a:pPr algn="just">
              <a:lnSpc>
                <a:spcPct val="150000"/>
              </a:lnSpc>
            </a:pPr>
            <a:r>
              <a:rPr lang="en-AU" sz="2400" dirty="0">
                <a:latin typeface="Calibri" panose="020F0502020204030204" pitchFamily="34" charset="0"/>
                <a:cs typeface="Calibri" panose="020F0502020204030204" pitchFamily="34" charset="0"/>
              </a:rPr>
              <a:t> Students will explore how cloud computing infrastructure has evolved from traditional IT infrastructure and the business advantages this brings. </a:t>
            </a:r>
          </a:p>
          <a:p>
            <a:pPr algn="just">
              <a:lnSpc>
                <a:spcPct val="150000"/>
              </a:lnSpc>
            </a:pPr>
            <a:r>
              <a:rPr lang="en-AU" sz="2400" dirty="0">
                <a:latin typeface="Calibri" panose="020F0502020204030204" pitchFamily="34" charset="0"/>
                <a:cs typeface="Calibri" panose="020F0502020204030204" pitchFamily="34" charset="0"/>
              </a:rPr>
              <a:t>Additionally, the different cloud segments and cloud deployment models and the key players in the market will be covered. </a:t>
            </a:r>
          </a:p>
          <a:p>
            <a:pPr algn="just">
              <a:lnSpc>
                <a:spcPct val="150000"/>
              </a:lnSpc>
            </a:pPr>
            <a:r>
              <a:rPr lang="en-AU" sz="2400" dirty="0">
                <a:latin typeface="Calibri" panose="020F0502020204030204" pitchFamily="34" charset="0"/>
                <a:cs typeface="Calibri" panose="020F0502020204030204" pitchFamily="34" charset="0"/>
              </a:rPr>
              <a:t>The subject also provides knowledge of cloud services and cloud security. </a:t>
            </a:r>
          </a:p>
          <a:p>
            <a:endParaRPr lang="en-AU" sz="2400" dirty="0"/>
          </a:p>
        </p:txBody>
      </p:sp>
    </p:spTree>
    <p:extLst>
      <p:ext uri="{BB962C8B-B14F-4D97-AF65-F5344CB8AC3E}">
        <p14:creationId xmlns:p14="http://schemas.microsoft.com/office/powerpoint/2010/main" val="281958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report&#10;&#10;AI-generated content may be incorrect.">
            <a:extLst>
              <a:ext uri="{FF2B5EF4-FFF2-40B4-BE49-F238E27FC236}">
                <a16:creationId xmlns:a16="http://schemas.microsoft.com/office/drawing/2014/main" id="{B034BAF4-1E44-B47F-7ED5-FEDC37BA6351}"/>
              </a:ext>
            </a:extLst>
          </p:cNvPr>
          <p:cNvPicPr>
            <a:picLocks noChangeAspect="1"/>
          </p:cNvPicPr>
          <p:nvPr/>
        </p:nvPicPr>
        <p:blipFill>
          <a:blip r:embed="rId3"/>
          <a:stretch>
            <a:fillRect/>
          </a:stretch>
        </p:blipFill>
        <p:spPr>
          <a:xfrm>
            <a:off x="1254661" y="345137"/>
            <a:ext cx="7910798" cy="6176905"/>
          </a:xfrm>
          <a:prstGeom prst="rect">
            <a:avLst/>
          </a:prstGeom>
        </p:spPr>
      </p:pic>
    </p:spTree>
    <p:extLst>
      <p:ext uri="{BB962C8B-B14F-4D97-AF65-F5344CB8AC3E}">
        <p14:creationId xmlns:p14="http://schemas.microsoft.com/office/powerpoint/2010/main" val="2727490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ECCFD-A91A-470B-9422-ADF4EAB896B9}"/>
              </a:ext>
            </a:extLst>
          </p:cNvPr>
          <p:cNvSpPr>
            <a:spLocks noGrp="1"/>
          </p:cNvSpPr>
          <p:nvPr>
            <p:ph type="title"/>
          </p:nvPr>
        </p:nvSpPr>
        <p:spPr/>
        <p:txBody>
          <a:bodyPr/>
          <a:lstStyle/>
          <a:p>
            <a:r>
              <a:rPr lang="en-AU" dirty="0"/>
              <a:t>Computing</a:t>
            </a:r>
          </a:p>
        </p:txBody>
      </p:sp>
      <p:sp>
        <p:nvSpPr>
          <p:cNvPr id="3" name="Content Placeholder 2">
            <a:extLst>
              <a:ext uri="{FF2B5EF4-FFF2-40B4-BE49-F238E27FC236}">
                <a16:creationId xmlns:a16="http://schemas.microsoft.com/office/drawing/2014/main" id="{470E4AE0-2602-4659-A24A-80BBAB95921B}"/>
              </a:ext>
            </a:extLst>
          </p:cNvPr>
          <p:cNvSpPr>
            <a:spLocks noGrp="1"/>
          </p:cNvSpPr>
          <p:nvPr>
            <p:ph idx="1"/>
          </p:nvPr>
        </p:nvSpPr>
        <p:spPr>
          <a:xfrm>
            <a:off x="844826" y="2603500"/>
            <a:ext cx="10306878" cy="3416300"/>
          </a:xfrm>
        </p:spPr>
        <p:txBody>
          <a:bodyPr>
            <a:normAutofit fontScale="92500"/>
          </a:bodyPr>
          <a:lstStyle/>
          <a:p>
            <a:pPr algn="just">
              <a:lnSpc>
                <a:spcPct val="150000"/>
              </a:lnSpc>
            </a:pPr>
            <a:r>
              <a:rPr lang="en-AU" sz="2000" dirty="0">
                <a:latin typeface="Calibri" panose="020F0502020204030204" pitchFamily="34" charset="0"/>
                <a:cs typeface="Calibri" panose="020F0502020204030204" pitchFamily="34" charset="0"/>
              </a:rPr>
              <a:t>Computing—computation, storage, communication—is relatively free, scales up or down as needed, scales as much as needed, operates itself, and always works.</a:t>
            </a:r>
          </a:p>
          <a:p>
            <a:pPr algn="just">
              <a:lnSpc>
                <a:spcPct val="150000"/>
              </a:lnSpc>
            </a:pPr>
            <a:r>
              <a:rPr lang="en-AU" sz="2000" dirty="0">
                <a:latin typeface="Calibri" panose="020F0502020204030204" pitchFamily="34" charset="0"/>
                <a:cs typeface="Calibri" panose="020F0502020204030204" pitchFamily="34" charset="0"/>
              </a:rPr>
              <a:t>For most of computing history the costs of infrastructure have dominated decisions about what to deploy when: How much will those servers cost? How about that storage farm? That network. </a:t>
            </a:r>
          </a:p>
          <a:p>
            <a:pPr algn="just">
              <a:lnSpc>
                <a:spcPct val="150000"/>
              </a:lnSpc>
            </a:pPr>
            <a:r>
              <a:rPr lang="en-AU" sz="2000" dirty="0">
                <a:latin typeface="Calibri" panose="020F0502020204030204" pitchFamily="34" charset="0"/>
                <a:cs typeface="Calibri" panose="020F0502020204030204" pitchFamily="34" charset="0"/>
              </a:rPr>
              <a:t>Now, however, we can start thinking about those costs being “within epsilon of zero”; that is, over time the computing infrastructure comes closer and closer to being free. That leaves other costs as the new, more significant considerations</a:t>
            </a:r>
          </a:p>
        </p:txBody>
      </p:sp>
    </p:spTree>
    <p:extLst>
      <p:ext uri="{BB962C8B-B14F-4D97-AF65-F5344CB8AC3E}">
        <p14:creationId xmlns:p14="http://schemas.microsoft.com/office/powerpoint/2010/main" val="1336392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Three Ages of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603500"/>
            <a:ext cx="10611293" cy="3988686"/>
          </a:xfrm>
        </p:spPr>
        <p:txBody>
          <a:bodyPr>
            <a:normAutofit/>
          </a:bodyPr>
          <a:lstStyle/>
          <a:p>
            <a:pPr marL="0" indent="0" algn="just">
              <a:lnSpc>
                <a:spcPct val="150000"/>
              </a:lnSpc>
              <a:buNone/>
            </a:pPr>
            <a:r>
              <a:rPr lang="en-AU" sz="2000" dirty="0">
                <a:solidFill>
                  <a:srgbClr val="FF0000"/>
                </a:solidFill>
                <a:latin typeface="Arial" panose="020B0604020202020204" pitchFamily="34" charset="0"/>
                <a:cs typeface="Arial" panose="020B0604020202020204" pitchFamily="34" charset="0"/>
              </a:rPr>
              <a:t>First Age</a:t>
            </a:r>
          </a:p>
          <a:p>
            <a:pPr algn="just">
              <a:lnSpc>
                <a:spcPct val="150000"/>
              </a:lnSpc>
            </a:pPr>
            <a:r>
              <a:rPr lang="en-AU" sz="1900" dirty="0">
                <a:latin typeface="Calibri" panose="020F0502020204030204" pitchFamily="34" charset="0"/>
                <a:cs typeface="Calibri" panose="020F0502020204030204" pitchFamily="34" charset="0"/>
              </a:rPr>
              <a:t>At the beginning of the first age the focus was on big infrastructure—mainframes, big point-to-point networks, centralized databases, and big batch jobs. </a:t>
            </a:r>
          </a:p>
          <a:p>
            <a:pPr algn="just">
              <a:lnSpc>
                <a:spcPct val="150000"/>
              </a:lnSpc>
            </a:pPr>
            <a:r>
              <a:rPr lang="en-AU" sz="1900" dirty="0">
                <a:latin typeface="Calibri" panose="020F0502020204030204" pitchFamily="34" charset="0"/>
                <a:cs typeface="Calibri" panose="020F0502020204030204" pitchFamily="34" charset="0"/>
              </a:rPr>
              <a:t>Toward the end, terminals evolved into personal computers, networks went from hierarchical (with the mainframes at the </a:t>
            </a:r>
            <a:r>
              <a:rPr lang="en-AU" sz="1900" dirty="0" err="1">
                <a:latin typeface="Calibri" panose="020F0502020204030204" pitchFamily="34" charset="0"/>
                <a:cs typeface="Calibri" panose="020F0502020204030204" pitchFamily="34" charset="0"/>
              </a:rPr>
              <a:t>center</a:t>
            </a:r>
            <a:r>
              <a:rPr lang="en-AU" sz="1900" dirty="0">
                <a:latin typeface="Calibri" panose="020F0502020204030204" pitchFamily="34" charset="0"/>
                <a:cs typeface="Calibri" panose="020F0502020204030204" pitchFamily="34" charset="0"/>
              </a:rPr>
              <a:t> of each network) to decentralized, with a broader, generally more numerous collection of servers and storage scattered throughout an organization. </a:t>
            </a:r>
          </a:p>
          <a:p>
            <a:pPr algn="just">
              <a:lnSpc>
                <a:spcPct val="150000"/>
              </a:lnSpc>
            </a:pPr>
            <a:r>
              <a:rPr lang="en-AU" sz="1900" dirty="0">
                <a:latin typeface="Calibri" panose="020F0502020204030204" pitchFamily="34" charset="0"/>
                <a:cs typeface="Calibri" panose="020F0502020204030204" pitchFamily="34" charset="0"/>
              </a:rPr>
              <a:t>While batch work still existed, many programs became interactive through this first age, eventually gaining much more visual interfaces along the way.</a:t>
            </a:r>
          </a:p>
          <a:p>
            <a:pPr algn="just">
              <a:lnSpc>
                <a:spcPct val="150000"/>
              </a:lnSpc>
            </a:pPr>
            <a:endParaRPr lang="en-AU" dirty="0"/>
          </a:p>
        </p:txBody>
      </p:sp>
    </p:spTree>
    <p:extLst>
      <p:ext uri="{BB962C8B-B14F-4D97-AF65-F5344CB8AC3E}">
        <p14:creationId xmlns:p14="http://schemas.microsoft.com/office/powerpoint/2010/main" val="3715686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Three Ages of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317898"/>
            <a:ext cx="10611293" cy="4274288"/>
          </a:xfrm>
        </p:spPr>
        <p:txBody>
          <a:bodyPr>
            <a:normAutofit fontScale="92500"/>
          </a:bodyPr>
          <a:lstStyle/>
          <a:p>
            <a:pPr marL="0" indent="0" algn="just">
              <a:lnSpc>
                <a:spcPct val="150000"/>
              </a:lnSpc>
              <a:buNone/>
            </a:pPr>
            <a:r>
              <a:rPr lang="en-AU" sz="2000" dirty="0">
                <a:solidFill>
                  <a:srgbClr val="FF0000"/>
                </a:solidFill>
                <a:latin typeface="Calibri" panose="020F0502020204030204" pitchFamily="34" charset="0"/>
                <a:cs typeface="Calibri" panose="020F0502020204030204" pitchFamily="34" charset="0"/>
              </a:rPr>
              <a:t>Second Age</a:t>
            </a:r>
          </a:p>
          <a:p>
            <a:pPr algn="just">
              <a:lnSpc>
                <a:spcPct val="150000"/>
              </a:lnSpc>
            </a:pPr>
            <a:r>
              <a:rPr lang="en-AU" dirty="0">
                <a:latin typeface="Calibri" panose="020F0502020204030204" pitchFamily="34" charset="0"/>
                <a:cs typeface="Calibri" panose="020F0502020204030204" pitchFamily="34" charset="0"/>
              </a:rPr>
              <a:t>The second age of computing is really the story of the rise of the Internet—Sun, Cisco, Mosaic (which became Netscape), web 1.0, eBay, Yahoo, , and the first Internet Bubble.</a:t>
            </a:r>
          </a:p>
          <a:p>
            <a:pPr algn="just">
              <a:lnSpc>
                <a:spcPct val="150000"/>
              </a:lnSpc>
            </a:pPr>
            <a:r>
              <a:rPr lang="en-AU" dirty="0">
                <a:latin typeface="Calibri" panose="020F0502020204030204" pitchFamily="34" charset="0"/>
                <a:cs typeface="Calibri" panose="020F0502020204030204" pitchFamily="34" charset="0"/>
              </a:rPr>
              <a:t>While many advances contributed to the beginning of the second age, the two most crucial were the development of the Internet itself, and the development and near-ubiquity of easy-to-use, visually attractive devices that could be used by nearly everyone.</a:t>
            </a:r>
          </a:p>
          <a:p>
            <a:pPr algn="just">
              <a:lnSpc>
                <a:spcPct val="150000"/>
              </a:lnSpc>
            </a:pPr>
            <a:r>
              <a:rPr lang="en-AU" dirty="0">
                <a:latin typeface="Calibri" panose="020F0502020204030204" pitchFamily="34" charset="0"/>
                <a:cs typeface="Calibri" panose="020F0502020204030204" pitchFamily="34" charset="0"/>
              </a:rPr>
              <a:t>It is hard to overestimate the importance of two fundamental realities: (1) with the Internet it was now true that everyone was connected to everyone else, anytime, anywhere; and (2) with the ubiquity of visually attractive devices, the data and services available over that pervasive network could actually be used by mere mortals.</a:t>
            </a:r>
          </a:p>
          <a:p>
            <a:pPr>
              <a:lnSpc>
                <a:spcPct val="150000"/>
              </a:lnSpc>
            </a:pPr>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64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Three Ages of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317898"/>
            <a:ext cx="10611293" cy="4274288"/>
          </a:xfrm>
        </p:spPr>
        <p:txBody>
          <a:bodyPr>
            <a:normAutofit fontScale="92500" lnSpcReduction="10000"/>
          </a:bodyPr>
          <a:lstStyle/>
          <a:p>
            <a:pPr marL="0" indent="0" algn="just">
              <a:lnSpc>
                <a:spcPct val="150000"/>
              </a:lnSpc>
              <a:buNone/>
            </a:pPr>
            <a:r>
              <a:rPr lang="en-AU" sz="2000" dirty="0">
                <a:solidFill>
                  <a:srgbClr val="FF0000"/>
                </a:solidFill>
                <a:latin typeface="Calibri" panose="020F0502020204030204" pitchFamily="34" charset="0"/>
                <a:cs typeface="Calibri" panose="020F0502020204030204" pitchFamily="34" charset="0"/>
              </a:rPr>
              <a:t>Second Age</a:t>
            </a:r>
          </a:p>
          <a:p>
            <a:pPr algn="just">
              <a:lnSpc>
                <a:spcPct val="150000"/>
              </a:lnSpc>
            </a:pPr>
            <a:r>
              <a:rPr lang="en-AU" dirty="0">
                <a:latin typeface="Calibri" panose="020F0502020204030204" pitchFamily="34" charset="0"/>
                <a:cs typeface="Calibri" panose="020F0502020204030204" pitchFamily="34" charset="0"/>
              </a:rPr>
              <a:t>1970s and 1980s—most computing was done on relatively mundane, large-scale individual computers, or perhaps in small clusters of relatively big machines.</a:t>
            </a:r>
          </a:p>
          <a:p>
            <a:pPr algn="just">
              <a:lnSpc>
                <a:spcPct val="150000"/>
              </a:lnSpc>
            </a:pPr>
            <a:r>
              <a:rPr lang="en-AU" dirty="0">
                <a:latin typeface="Calibri" panose="020F0502020204030204" pitchFamily="34" charset="0"/>
                <a:cs typeface="Calibri" panose="020F0502020204030204" pitchFamily="34" charset="0"/>
              </a:rPr>
              <a:t>Whereas an early (circa 1994) Yahoo index might have had less than a hundred, or at most a few hundred entries, and could be manually created, by the beginning of 1995 the number of web sites was doubling every 53 days and was passing anyone’s ability to manually index. This growth then created the need for computing infrastructures that could scale at the same rates or faster, as well as application and data storage architectures that could also scale apace.</a:t>
            </a:r>
          </a:p>
          <a:p>
            <a:pPr algn="just">
              <a:lnSpc>
                <a:spcPct val="150000"/>
              </a:lnSpc>
            </a:pPr>
            <a:r>
              <a:rPr lang="en-AU" dirty="0">
                <a:latin typeface="Calibri" panose="020F0502020204030204" pitchFamily="34" charset="0"/>
                <a:cs typeface="Calibri" panose="020F0502020204030204" pitchFamily="34" charset="0"/>
              </a:rPr>
              <a:t>Of course one drive that remains true in every age and in every domain is the drive to reduce costs—cost to acquire, cost to deploy, cost to operate, cost here, cost there, cost anywhere—just reduce them all.</a:t>
            </a:r>
          </a:p>
        </p:txBody>
      </p:sp>
    </p:spTree>
    <p:extLst>
      <p:ext uri="{BB962C8B-B14F-4D97-AF65-F5344CB8AC3E}">
        <p14:creationId xmlns:p14="http://schemas.microsoft.com/office/powerpoint/2010/main" val="3467504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Three Ages of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459736"/>
            <a:ext cx="10611293" cy="4132450"/>
          </a:xfrm>
        </p:spPr>
        <p:txBody>
          <a:bodyPr>
            <a:normAutofit/>
          </a:bodyPr>
          <a:lstStyle/>
          <a:p>
            <a:pPr marL="0" indent="0" algn="just">
              <a:lnSpc>
                <a:spcPct val="150000"/>
              </a:lnSpc>
              <a:buNone/>
            </a:pPr>
            <a:r>
              <a:rPr lang="en-AU" sz="2000" dirty="0">
                <a:solidFill>
                  <a:srgbClr val="FF0000"/>
                </a:solidFill>
                <a:latin typeface="Calibri" panose="020F0502020204030204" pitchFamily="34" charset="0"/>
                <a:cs typeface="Calibri" panose="020F0502020204030204" pitchFamily="34" charset="0"/>
              </a:rPr>
              <a:t>Third Age</a:t>
            </a:r>
          </a:p>
          <a:p>
            <a:pPr algn="just">
              <a:lnSpc>
                <a:spcPct val="150000"/>
              </a:lnSpc>
            </a:pPr>
            <a:r>
              <a:rPr lang="en-AU" sz="1900" dirty="0">
                <a:latin typeface="Calibri" panose="020F0502020204030204" pitchFamily="34" charset="0"/>
                <a:cs typeface="Calibri" panose="020F0502020204030204" pitchFamily="34" charset="0"/>
              </a:rPr>
              <a:t>Early in the second age Yahoo had made a name for itself by “indexing the Internet,” which for some time was mostly manually done.</a:t>
            </a:r>
          </a:p>
          <a:p>
            <a:pPr algn="just">
              <a:lnSpc>
                <a:spcPct val="150000"/>
              </a:lnSpc>
            </a:pPr>
            <a:r>
              <a:rPr lang="en-AU" sz="1900" dirty="0">
                <a:latin typeface="Calibri" panose="020F0502020204030204" pitchFamily="34" charset="0"/>
                <a:cs typeface="Calibri" panose="020F0502020204030204" pitchFamily="34" charset="0"/>
              </a:rPr>
              <a:t>Several other indexing efforts began, including AltaVista, Google, and others, but it was Google that brought everything together.</a:t>
            </a:r>
          </a:p>
          <a:p>
            <a:pPr marL="0" indent="0" algn="just">
              <a:lnSpc>
                <a:spcPct val="150000"/>
              </a:lnSpc>
              <a:buNone/>
            </a:pPr>
            <a:r>
              <a:rPr lang="en-AU" sz="1900" dirty="0">
                <a:solidFill>
                  <a:srgbClr val="0070C0"/>
                </a:solidFill>
                <a:latin typeface="Calibri" panose="020F0502020204030204" pitchFamily="34" charset="0"/>
                <a:cs typeface="Calibri" panose="020F0502020204030204" pitchFamily="34" charset="0"/>
              </a:rPr>
              <a:t>Others offered public cloud services that made certain unique contributions, including , which Salesforce.com was probably the first public cloud service that was targeted at the enterprise customer and required those customers to store very sensitive data outside of their own facilities.</a:t>
            </a:r>
          </a:p>
          <a:p>
            <a:pPr algn="just">
              <a:lnSpc>
                <a:spcPct val="150000"/>
              </a:lnSpc>
            </a:pPr>
            <a:endParaRPr lang="en-AU" sz="1900" dirty="0">
              <a:solidFill>
                <a:srgbClr val="0070C0"/>
              </a:solidFill>
              <a:latin typeface="Calibri" panose="020F0502020204030204" pitchFamily="34" charset="0"/>
              <a:cs typeface="Calibri" panose="020F0502020204030204" pitchFamily="34" charset="0"/>
            </a:endParaRPr>
          </a:p>
          <a:p>
            <a:pPr algn="just">
              <a:lnSpc>
                <a:spcPct val="150000"/>
              </a:lnSpc>
            </a:pPr>
            <a:endParaRPr lang="en-AU" dirty="0"/>
          </a:p>
        </p:txBody>
      </p:sp>
    </p:spTree>
    <p:extLst>
      <p:ext uri="{BB962C8B-B14F-4D97-AF65-F5344CB8AC3E}">
        <p14:creationId xmlns:p14="http://schemas.microsoft.com/office/powerpoint/2010/main" val="3108374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Three Ages of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459736"/>
            <a:ext cx="10611293" cy="4132450"/>
          </a:xfrm>
        </p:spPr>
        <p:txBody>
          <a:bodyPr>
            <a:normAutofit/>
          </a:bodyPr>
          <a:lstStyle/>
          <a:p>
            <a:pPr marL="0" indent="0" algn="just">
              <a:lnSpc>
                <a:spcPct val="150000"/>
              </a:lnSpc>
              <a:buNone/>
            </a:pPr>
            <a:r>
              <a:rPr lang="en-AU" sz="2000" dirty="0">
                <a:solidFill>
                  <a:srgbClr val="FF0000"/>
                </a:solidFill>
                <a:latin typeface="Calibri" panose="020F0502020204030204" pitchFamily="34" charset="0"/>
                <a:cs typeface="Calibri" panose="020F0502020204030204" pitchFamily="34" charset="0"/>
              </a:rPr>
              <a:t>Third Age</a:t>
            </a:r>
          </a:p>
          <a:p>
            <a:pPr algn="just">
              <a:lnSpc>
                <a:spcPct val="150000"/>
              </a:lnSpc>
            </a:pPr>
            <a:r>
              <a:rPr lang="en-AU" sz="1900" dirty="0">
                <a:latin typeface="Calibri" panose="020F0502020204030204" pitchFamily="34" charset="0"/>
                <a:cs typeface="Calibri" panose="020F0502020204030204" pitchFamily="34" charset="0"/>
              </a:rPr>
              <a:t>Several key factors can be easily understood.</a:t>
            </a:r>
          </a:p>
          <a:p>
            <a:pPr algn="just">
              <a:lnSpc>
                <a:spcPct val="150000"/>
              </a:lnSpc>
              <a:buFont typeface="Wingdings" panose="05000000000000000000" pitchFamily="2" charset="2"/>
              <a:buChar char="§"/>
            </a:pPr>
            <a:r>
              <a:rPr lang="en-AU" sz="1900" dirty="0">
                <a:latin typeface="Calibri" panose="020F0502020204030204" pitchFamily="34" charset="0"/>
                <a:cs typeface="Calibri" panose="020F0502020204030204" pitchFamily="34" charset="0"/>
              </a:rPr>
              <a:t>First, the collection of data about the current state of the Internet, and the processing of that data had to be as absolutely automated as possible.</a:t>
            </a:r>
          </a:p>
          <a:p>
            <a:pPr algn="just">
              <a:lnSpc>
                <a:spcPct val="150000"/>
              </a:lnSpc>
              <a:buFont typeface="Wingdings" panose="05000000000000000000" pitchFamily="2" charset="2"/>
              <a:buChar char="§"/>
            </a:pPr>
            <a:r>
              <a:rPr lang="en-AU" sz="1900" dirty="0">
                <a:latin typeface="Calibri" panose="020F0502020204030204" pitchFamily="34" charset="0"/>
                <a:cs typeface="Calibri" panose="020F0502020204030204" pitchFamily="34" charset="0"/>
              </a:rPr>
              <a:t>In order to save as much money as possible, the infrastructure would be constructed out of commodity components, out of “cheap stuff that breaks.”</a:t>
            </a:r>
          </a:p>
          <a:p>
            <a:pPr algn="just">
              <a:lnSpc>
                <a:spcPct val="150000"/>
              </a:lnSpc>
              <a:buFont typeface="Wingdings" panose="05000000000000000000" pitchFamily="2" charset="2"/>
              <a:buChar char="§"/>
            </a:pPr>
            <a:r>
              <a:rPr lang="en-AU" sz="1900" dirty="0">
                <a:latin typeface="Calibri" panose="020F0502020204030204" pitchFamily="34" charset="0"/>
                <a:cs typeface="Calibri" panose="020F0502020204030204" pitchFamily="34" charset="0"/>
              </a:rPr>
              <a:t>Data storage needed to be done in a simple, yet fairly reliable manner to facilitate scaling (the Google File System, or GFS—notice the lack of a traditional database, but more on that later).</a:t>
            </a:r>
          </a:p>
        </p:txBody>
      </p:sp>
    </p:spTree>
    <p:extLst>
      <p:ext uri="{BB962C8B-B14F-4D97-AF65-F5344CB8AC3E}">
        <p14:creationId xmlns:p14="http://schemas.microsoft.com/office/powerpoint/2010/main" val="1259788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Three Ages of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459736"/>
            <a:ext cx="10611293" cy="4132450"/>
          </a:xfrm>
        </p:spPr>
        <p:txBody>
          <a:bodyPr>
            <a:normAutofit/>
          </a:bodyPr>
          <a:lstStyle/>
          <a:p>
            <a:pPr marL="0" indent="0" algn="just">
              <a:lnSpc>
                <a:spcPct val="150000"/>
              </a:lnSpc>
              <a:buNone/>
            </a:pPr>
            <a:r>
              <a:rPr lang="en-AU" sz="2000" dirty="0">
                <a:solidFill>
                  <a:srgbClr val="FF0000"/>
                </a:solidFill>
                <a:latin typeface="Calibri" panose="020F0502020204030204" pitchFamily="34" charset="0"/>
                <a:cs typeface="Calibri" panose="020F0502020204030204" pitchFamily="34" charset="0"/>
              </a:rPr>
              <a:t>Third Age</a:t>
            </a:r>
          </a:p>
          <a:p>
            <a:pPr algn="just">
              <a:lnSpc>
                <a:spcPct val="150000"/>
              </a:lnSpc>
            </a:pPr>
            <a:r>
              <a:rPr lang="en-AU" sz="1900" dirty="0">
                <a:latin typeface="Calibri" panose="020F0502020204030204" pitchFamily="34" charset="0"/>
                <a:cs typeface="Calibri" panose="020F0502020204030204" pitchFamily="34" charset="0"/>
              </a:rPr>
              <a:t>Several key factors can be easily understood.</a:t>
            </a:r>
          </a:p>
          <a:p>
            <a:pPr algn="just">
              <a:lnSpc>
                <a:spcPct val="150000"/>
              </a:lnSpc>
              <a:buFont typeface="Wingdings" panose="05000000000000000000" pitchFamily="2" charset="2"/>
              <a:buChar char="§"/>
            </a:pPr>
            <a:r>
              <a:rPr lang="en-AU" sz="1900" dirty="0">
                <a:latin typeface="Calibri" panose="020F0502020204030204" pitchFamily="34" charset="0"/>
                <a:cs typeface="Calibri" panose="020F0502020204030204" pitchFamily="34" charset="0"/>
              </a:rPr>
              <a:t>New types of application development architecture(s) would be required, which came to include the so-called map-reduce family (which inspired open source descendants such as Hadoop) among others.</a:t>
            </a:r>
          </a:p>
          <a:p>
            <a:pPr algn="just">
              <a:lnSpc>
                <a:spcPct val="150000"/>
              </a:lnSpc>
              <a:buFont typeface="Wingdings" panose="05000000000000000000" pitchFamily="2" charset="2"/>
              <a:buChar char="§"/>
            </a:pPr>
            <a:r>
              <a:rPr lang="en-AU" sz="1900" dirty="0">
                <a:latin typeface="Calibri" panose="020F0502020204030204" pitchFamily="34" charset="0"/>
                <a:cs typeface="Calibri" panose="020F0502020204030204" pitchFamily="34" charset="0"/>
              </a:rPr>
              <a:t>Operations needed to be as automatic and dependable as possible.</a:t>
            </a:r>
          </a:p>
          <a:p>
            <a:pPr algn="just">
              <a:lnSpc>
                <a:spcPct val="150000"/>
              </a:lnSpc>
              <a:buFont typeface="Wingdings" panose="05000000000000000000" pitchFamily="2" charset="2"/>
              <a:buChar char="§"/>
            </a:pPr>
            <a:r>
              <a:rPr lang="en-AU" sz="1900" dirty="0">
                <a:latin typeface="Calibri" panose="020F0502020204030204" pitchFamily="34" charset="0"/>
                <a:cs typeface="Calibri" panose="020F0502020204030204" pitchFamily="34" charset="0"/>
              </a:rPr>
              <a:t>Outages in the application were tolerable; after all this was search, and who would miss a few results if an outage occurred?</a:t>
            </a:r>
          </a:p>
        </p:txBody>
      </p:sp>
    </p:spTree>
    <p:extLst>
      <p:ext uri="{BB962C8B-B14F-4D97-AF65-F5344CB8AC3E}">
        <p14:creationId xmlns:p14="http://schemas.microsoft.com/office/powerpoint/2010/main" val="3230212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Broad Enablers</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603500"/>
            <a:ext cx="10611293" cy="3988686"/>
          </a:xfrm>
        </p:spPr>
        <p:txBody>
          <a:bodyPr>
            <a:normAutofit/>
          </a:bodyPr>
          <a:lstStyle/>
          <a:p>
            <a:pPr algn="just">
              <a:lnSpc>
                <a:spcPct val="150000"/>
              </a:lnSpc>
            </a:pPr>
            <a:r>
              <a:rPr lang="en-AU" sz="1900" dirty="0">
                <a:latin typeface="Calibri" panose="020F0502020204030204" pitchFamily="34" charset="0"/>
                <a:cs typeface="Calibri" panose="020F0502020204030204" pitchFamily="34" charset="0"/>
              </a:rPr>
              <a:t>Over the course of the 1980s and 1990s there were key advances that came together to enable the transition to the cloud computing, these are some of the more notable enablers:</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Commodity Hardware. etc.): </a:t>
            </a:r>
            <a:r>
              <a:rPr lang="en-AU" dirty="0">
                <a:solidFill>
                  <a:schemeClr val="tx1"/>
                </a:solidFill>
                <a:latin typeface="Calibri" panose="020F0502020204030204" pitchFamily="34" charset="0"/>
                <a:cs typeface="Calibri" panose="020F0502020204030204" pitchFamily="34" charset="0"/>
              </a:rPr>
              <a:t>In the three basic areas of computing components—chips (processors, memory, etc.), storage (mostly disc drives), and network (both within a </a:t>
            </a:r>
            <a:r>
              <a:rPr lang="en-AU" dirty="0" err="1">
                <a:solidFill>
                  <a:schemeClr val="tx1"/>
                </a:solidFill>
                <a:latin typeface="Calibri" panose="020F0502020204030204" pitchFamily="34" charset="0"/>
                <a:cs typeface="Calibri" panose="020F0502020204030204" pitchFamily="34" charset="0"/>
              </a:rPr>
              <a:t>datacenter</a:t>
            </a:r>
            <a:r>
              <a:rPr lang="en-AU" dirty="0">
                <a:solidFill>
                  <a:schemeClr val="tx1"/>
                </a:solidFill>
                <a:latin typeface="Calibri" panose="020F0502020204030204" pitchFamily="34" charset="0"/>
                <a:cs typeface="Calibri" panose="020F0502020204030204" pitchFamily="34" charset="0"/>
              </a:rPr>
              <a:t>,</a:t>
            </a:r>
            <a:r>
              <a:rPr lang="en-AU" dirty="0">
                <a:latin typeface="Calibri" panose="020F0502020204030204" pitchFamily="34" charset="0"/>
                <a:cs typeface="Calibri" panose="020F0502020204030204" pitchFamily="34" charset="0"/>
              </a:rPr>
              <a:t> wide area, and wireless)—there have been large strides made in the capabilities of what is by historical standards throw-away equipment.</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Network Speed. </a:t>
            </a:r>
            <a:r>
              <a:rPr lang="en-AU" dirty="0">
                <a:latin typeface="Calibri" panose="020F0502020204030204" pitchFamily="34" charset="0"/>
                <a:cs typeface="Calibri" panose="020F0502020204030204" pitchFamily="34" charset="0"/>
              </a:rPr>
              <a:t>While network performance has not increased at the same rate as either processor or storage performance huge strides have been made in both the connections within a </a:t>
            </a:r>
            <a:r>
              <a:rPr lang="en-AU" dirty="0" err="1">
                <a:latin typeface="Calibri" panose="020F0502020204030204" pitchFamily="34" charset="0"/>
                <a:cs typeface="Calibri" panose="020F0502020204030204" pitchFamily="34" charset="0"/>
              </a:rPr>
              <a:t>datacenter</a:t>
            </a:r>
            <a:r>
              <a:rPr lang="en-AU" dirty="0">
                <a:latin typeface="Calibri" panose="020F0502020204030204" pitchFamily="34" charset="0"/>
                <a:cs typeface="Calibri" panose="020F0502020204030204" pitchFamily="34" charset="0"/>
              </a:rPr>
              <a:t> and those outside.</a:t>
            </a:r>
          </a:p>
        </p:txBody>
      </p:sp>
    </p:spTree>
    <p:extLst>
      <p:ext uri="{BB962C8B-B14F-4D97-AF65-F5344CB8AC3E}">
        <p14:creationId xmlns:p14="http://schemas.microsoft.com/office/powerpoint/2010/main" val="1586784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AU" dirty="0"/>
              <a:t>Broad Enablers</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603500"/>
            <a:ext cx="10611293" cy="3988686"/>
          </a:xfrm>
        </p:spPr>
        <p:txBody>
          <a:bodyPr>
            <a:normAutofit lnSpcReduction="10000"/>
          </a:bodyPr>
          <a:lstStyle/>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Virtualization:</a:t>
            </a:r>
            <a:r>
              <a:rPr lang="en-AU" dirty="0">
                <a:latin typeface="Calibri" panose="020F0502020204030204" pitchFamily="34" charset="0"/>
                <a:cs typeface="Calibri" panose="020F0502020204030204" pitchFamily="34" charset="0"/>
              </a:rPr>
              <a:t> Virtualization started as a way to share the use of very expensive mainframes among otherwise incompatible operating systems.</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Application Architectures: </a:t>
            </a:r>
            <a:r>
              <a:rPr lang="en-AU" dirty="0">
                <a:latin typeface="Calibri" panose="020F0502020204030204" pitchFamily="34" charset="0"/>
                <a:cs typeface="Calibri" panose="020F0502020204030204" pitchFamily="34" charset="0"/>
              </a:rPr>
              <a:t>Software architectures have made many strides toward the eternal goal of software reusability, itself driven by the desire to make it easier to construct software.</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Pervasive High Quality Access: </a:t>
            </a:r>
            <a:r>
              <a:rPr lang="en-AU" dirty="0">
                <a:latin typeface="Calibri" panose="020F0502020204030204" pitchFamily="34" charset="0"/>
                <a:cs typeface="Calibri" panose="020F0502020204030204" pitchFamily="34" charset="0"/>
              </a:rPr>
              <a:t>The reality—quality, variety, quantity—of high quality, visually attractive, widely available devices has had a tremendous impact on the development of cloud computing. high quality, pervasive, always-connected devices has greatly increased the number of customers for services and content—the data and applications sold on the cloud—and has also increased each customer’s appetite for even more services and data.</a:t>
            </a:r>
          </a:p>
        </p:txBody>
      </p:sp>
    </p:spTree>
    <p:extLst>
      <p:ext uri="{BB962C8B-B14F-4D97-AF65-F5344CB8AC3E}">
        <p14:creationId xmlns:p14="http://schemas.microsoft.com/office/powerpoint/2010/main" val="3324846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a:xfrm>
            <a:off x="886968" y="947920"/>
            <a:ext cx="9427464" cy="728480"/>
          </a:xfrm>
        </p:spPr>
        <p:txBody>
          <a:bodyPr/>
          <a:lstStyle/>
          <a:p>
            <a:r>
              <a:rPr lang="en-AU" dirty="0"/>
              <a:t>BUILDING ROI FROM CLOUD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603500"/>
            <a:ext cx="10611293" cy="3988686"/>
          </a:xfrm>
        </p:spPr>
        <p:txBody>
          <a:bodyPr>
            <a:normAutofit lnSpcReduction="10000"/>
          </a:bodyPr>
          <a:lstStyle/>
          <a:p>
            <a:pPr algn="just">
              <a:lnSpc>
                <a:spcPct val="150000"/>
              </a:lnSpc>
            </a:pPr>
            <a:r>
              <a:rPr lang="en-AU" dirty="0">
                <a:latin typeface="Calibri" panose="020F0502020204030204" pitchFamily="34" charset="0"/>
                <a:cs typeface="Calibri" panose="020F0502020204030204" pitchFamily="34" charset="0"/>
              </a:rPr>
              <a:t>By examining the benefits that cloud computing offers organisations and by showing the potential return it can provide from the beginning, companies may find it easier to gain buy-in for cloud initiatives from the executive team, as well as from the IT department.</a:t>
            </a:r>
          </a:p>
          <a:p>
            <a:pPr algn="just">
              <a:lnSpc>
                <a:spcPct val="150000"/>
              </a:lnSpc>
            </a:pPr>
            <a:r>
              <a:rPr lang="en-AU" dirty="0">
                <a:latin typeface="Calibri" panose="020F0502020204030204" pitchFamily="34" charset="0"/>
                <a:cs typeface="Calibri" panose="020F0502020204030204" pitchFamily="34" charset="0"/>
              </a:rPr>
              <a:t>But how do organisations go beyond the initial capacity and utilisation benefits described in cloud computing? In particular it is orientated around two areas:</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IT capacity </a:t>
            </a:r>
            <a:r>
              <a:rPr lang="en-AU" dirty="0">
                <a:latin typeface="Calibri" panose="020F0502020204030204" pitchFamily="34" charset="0"/>
                <a:cs typeface="Calibri" panose="020F0502020204030204" pitchFamily="34" charset="0"/>
              </a:rPr>
              <a:t>– As measured by storage, CPU cycles, network bandwidth or workload memory, capacity is an indicator of performance.</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IT utilisation </a:t>
            </a:r>
            <a:r>
              <a:rPr lang="en-AU" dirty="0">
                <a:latin typeface="Calibri" panose="020F0502020204030204" pitchFamily="34" charset="0"/>
                <a:cs typeface="Calibri" panose="020F0502020204030204" pitchFamily="34" charset="0"/>
              </a:rPr>
              <a:t>– As measured by uptime availability and volume of usage, utilisation is an indicator of activity and usability.</a:t>
            </a:r>
          </a:p>
        </p:txBody>
      </p:sp>
    </p:spTree>
    <p:extLst>
      <p:ext uri="{BB962C8B-B14F-4D97-AF65-F5344CB8AC3E}">
        <p14:creationId xmlns:p14="http://schemas.microsoft.com/office/powerpoint/2010/main" val="1941879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a:xfrm>
            <a:off x="886968" y="947920"/>
            <a:ext cx="9427464" cy="728480"/>
          </a:xfrm>
        </p:spPr>
        <p:txBody>
          <a:bodyPr/>
          <a:lstStyle/>
          <a:p>
            <a:r>
              <a:rPr lang="en-AU" dirty="0"/>
              <a:t>BUILDING ROI FROM CLOUD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603500"/>
            <a:ext cx="10611293" cy="3988686"/>
          </a:xfrm>
        </p:spPr>
        <p:txBody>
          <a:bodyPr>
            <a:normAutofit/>
          </a:bodyPr>
          <a:lstStyle/>
          <a:p>
            <a:pPr algn="just">
              <a:lnSpc>
                <a:spcPct val="150000"/>
              </a:lnSpc>
            </a:pPr>
            <a:r>
              <a:rPr lang="en-AU" dirty="0">
                <a:solidFill>
                  <a:srgbClr val="FF0000"/>
                </a:solidFill>
                <a:latin typeface="Calibri" panose="020F0502020204030204" pitchFamily="34" charset="0"/>
                <a:cs typeface="Calibri" panose="020F0502020204030204" pitchFamily="34" charset="0"/>
              </a:rPr>
              <a:t>IT capacity </a:t>
            </a:r>
            <a:r>
              <a:rPr lang="en-AU" dirty="0">
                <a:latin typeface="Calibri" panose="020F0502020204030204" pitchFamily="34" charset="0"/>
                <a:cs typeface="Calibri" panose="020F0502020204030204" pitchFamily="34" charset="0"/>
              </a:rPr>
              <a:t>refers to the amount of IT resources available, defined by units of that resource which may be a physical capacity or virtual capacity. This typically includes storage volume, compute power (gigahertz), memory size, database size, number of disk input/output operations, network bandwidth, type of chip set and operating system.</a:t>
            </a:r>
          </a:p>
          <a:p>
            <a:pPr algn="just">
              <a:lnSpc>
                <a:spcPct val="150000"/>
              </a:lnSpc>
            </a:pPr>
            <a:r>
              <a:rPr lang="en-AU" dirty="0">
                <a:solidFill>
                  <a:srgbClr val="FF0000"/>
                </a:solidFill>
                <a:latin typeface="Calibri" panose="020F0502020204030204" pitchFamily="34" charset="0"/>
                <a:cs typeface="Calibri" panose="020F0502020204030204" pitchFamily="34" charset="0"/>
              </a:rPr>
              <a:t>IT utilisation </a:t>
            </a:r>
            <a:r>
              <a:rPr lang="en-AU" dirty="0">
                <a:latin typeface="Calibri" panose="020F0502020204030204" pitchFamily="34" charset="0"/>
                <a:cs typeface="Calibri" panose="020F0502020204030204" pitchFamily="34" charset="0"/>
              </a:rPr>
              <a:t>refers to the level of planned and actual use of IT resources that may be physical or virtual. This is different to availability, which is the level of planned or actual uptime an IT resource capacity is available for use. Utilisation refers to the level of use of the IT resource capacity during the uptime period.</a:t>
            </a:r>
          </a:p>
        </p:txBody>
      </p:sp>
    </p:spTree>
    <p:extLst>
      <p:ext uri="{BB962C8B-B14F-4D97-AF65-F5344CB8AC3E}">
        <p14:creationId xmlns:p14="http://schemas.microsoft.com/office/powerpoint/2010/main" val="1424567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a:xfrm>
            <a:off x="988828" y="947920"/>
            <a:ext cx="9569302" cy="728480"/>
          </a:xfrm>
        </p:spPr>
        <p:txBody>
          <a:bodyPr/>
          <a:lstStyle/>
          <a:p>
            <a:r>
              <a:rPr lang="en-AU" dirty="0"/>
              <a:t>BUILDING ROI FROM CLOUD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603500"/>
            <a:ext cx="10611293" cy="3988686"/>
          </a:xfrm>
        </p:spPr>
        <p:txBody>
          <a:bodyPr>
            <a:normAutofit fontScale="92500" lnSpcReduction="10000"/>
          </a:bodyPr>
          <a:lstStyle/>
          <a:p>
            <a:pPr algn="just">
              <a:lnSpc>
                <a:spcPct val="150000"/>
              </a:lnSpc>
            </a:pPr>
            <a:r>
              <a:rPr lang="en-AU" dirty="0">
                <a:latin typeface="Calibri" panose="020F0502020204030204" pitchFamily="34" charset="0"/>
                <a:cs typeface="Calibri" panose="020F0502020204030204" pitchFamily="34" charset="0"/>
              </a:rPr>
              <a:t>Eight business metrics that translate the indicators of the capacity–utilisation curve to direct and indirect benefits to the business.</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Speed and rate of change – </a:t>
            </a:r>
            <a:r>
              <a:rPr lang="en-AU" dirty="0">
                <a:latin typeface="Calibri" panose="020F0502020204030204" pitchFamily="34" charset="0"/>
                <a:cs typeface="Calibri" panose="020F0502020204030204" pitchFamily="34" charset="0"/>
              </a:rPr>
              <a:t>The speed and rate of change of cost reduction can be much faster using cloud computing than traditional investment and divestment of IT assets because the responsibility is transferred to the service provider. While there are challenges today in the portability of cloud service providers, users do have greater flexibility to adopt and remove the service either at the point of use (to scale up and down) or to make choices to use new services or change service provider.</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Optimising total cost of ownership (TCO) </a:t>
            </a:r>
            <a:r>
              <a:rPr lang="en-AU" dirty="0">
                <a:latin typeface="Calibri" panose="020F0502020204030204" pitchFamily="34" charset="0"/>
                <a:cs typeface="Calibri" panose="020F0502020204030204" pitchFamily="34" charset="0"/>
              </a:rPr>
              <a:t>– A key aspect of moving to cloud computing is the ability to select hardware, software and services from defined design configurations to run in production. Cloud computing bridges the design time and run-time divide and optimises service performance</a:t>
            </a:r>
          </a:p>
        </p:txBody>
      </p:sp>
    </p:spTree>
    <p:extLst>
      <p:ext uri="{BB962C8B-B14F-4D97-AF65-F5344CB8AC3E}">
        <p14:creationId xmlns:p14="http://schemas.microsoft.com/office/powerpoint/2010/main" val="2538847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a:xfrm>
            <a:off x="1154954" y="947920"/>
            <a:ext cx="9477604" cy="728480"/>
          </a:xfrm>
        </p:spPr>
        <p:txBody>
          <a:bodyPr/>
          <a:lstStyle/>
          <a:p>
            <a:r>
              <a:rPr lang="en-AU" dirty="0"/>
              <a:t>BUILDING ROI FROM CLOUD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360428"/>
            <a:ext cx="10611293" cy="4231758"/>
          </a:xfrm>
        </p:spPr>
        <p:txBody>
          <a:bodyPr>
            <a:normAutofit/>
          </a:bodyPr>
          <a:lstStyle/>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Rapid provisioning </a:t>
            </a:r>
            <a:r>
              <a:rPr lang="en-AU" dirty="0">
                <a:latin typeface="Calibri" panose="020F0502020204030204" pitchFamily="34" charset="0"/>
                <a:cs typeface="Calibri" panose="020F0502020204030204" pitchFamily="34" charset="0"/>
              </a:rPr>
              <a:t>– Elastic provisioning to scale up and down to actual demand creates a new way for enterprises to match their IT to enable business to expand. The provisioning time compression from a week to hours, for example, demonstrated by cloud computing providers is a means to rapid provisioning that is not just about saving time, but is also defining a new business operating model.</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Increase margin and cost control </a:t>
            </a:r>
            <a:r>
              <a:rPr lang="en-AU" dirty="0">
                <a:latin typeface="Calibri" panose="020F0502020204030204" pitchFamily="34" charset="0"/>
                <a:cs typeface="Calibri" panose="020F0502020204030204" pitchFamily="34" charset="0"/>
              </a:rPr>
              <a:t>– Cloud computing offers the opportunity for cost, revenue and margin advantages. It also allows organisations the potential to enter and exploit new markets through rapid deployment of low-cost cloud services.</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Access to business skills and capability improvement </a:t>
            </a:r>
            <a:r>
              <a:rPr lang="en-AU" dirty="0">
                <a:latin typeface="Calibri" panose="020F0502020204030204" pitchFamily="34" charset="0"/>
                <a:cs typeface="Calibri" panose="020F0502020204030204" pitchFamily="34" charset="0"/>
              </a:rPr>
              <a:t>– Cloud computing enables access to new skills and solutions through cloud sourcing on-demand systems.</a:t>
            </a:r>
          </a:p>
        </p:txBody>
      </p:sp>
    </p:spTree>
    <p:extLst>
      <p:ext uri="{BB962C8B-B14F-4D97-AF65-F5344CB8AC3E}">
        <p14:creationId xmlns:p14="http://schemas.microsoft.com/office/powerpoint/2010/main" val="2499348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a:xfrm>
            <a:off x="1154954" y="947920"/>
            <a:ext cx="9690255" cy="728480"/>
          </a:xfrm>
        </p:spPr>
        <p:txBody>
          <a:bodyPr/>
          <a:lstStyle/>
          <a:p>
            <a:r>
              <a:rPr lang="en-AU" dirty="0"/>
              <a:t>BUILDING ROI FROM CLOUD COMPUTING</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360428"/>
            <a:ext cx="10611293" cy="4231758"/>
          </a:xfrm>
        </p:spPr>
        <p:txBody>
          <a:bodyPr>
            <a:normAutofit/>
          </a:bodyPr>
          <a:lstStyle/>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Dynamic usage </a:t>
            </a:r>
            <a:r>
              <a:rPr lang="en-AU" dirty="0">
                <a:latin typeface="Calibri" panose="020F0502020204030204" pitchFamily="34" charset="0"/>
                <a:cs typeface="Calibri" panose="020F0502020204030204" pitchFamily="34" charset="0"/>
              </a:rPr>
              <a:t>– Elastic computing and service management targets real end users and real business needs for functionality as the scope of users and services evolves seeking new solutions. With either fixed usage volumes or variable functional usage, new innovative consumption models enabled by cloud computing allow businesses to consider using IT in a flexible and agile way.</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Risk and compliance improvement </a:t>
            </a:r>
            <a:r>
              <a:rPr lang="en-AU" dirty="0">
                <a:latin typeface="Calibri" panose="020F0502020204030204" pitchFamily="34" charset="0"/>
                <a:cs typeface="Calibri" panose="020F0502020204030204" pitchFamily="34" charset="0"/>
              </a:rPr>
              <a:t>– Cloud computing green capabilities can be leveraged through shared services.</a:t>
            </a:r>
          </a:p>
          <a:p>
            <a:pPr algn="just">
              <a:lnSpc>
                <a:spcPct val="150000"/>
              </a:lnSpc>
              <a:buFont typeface="Wingdings" panose="05000000000000000000" pitchFamily="2" charset="2"/>
              <a:buChar char="q"/>
            </a:pPr>
            <a:r>
              <a:rPr lang="en-AU" dirty="0">
                <a:solidFill>
                  <a:srgbClr val="FF0000"/>
                </a:solidFill>
                <a:latin typeface="Calibri" panose="020F0502020204030204" pitchFamily="34" charset="0"/>
                <a:cs typeface="Calibri" panose="020F0502020204030204" pitchFamily="34" charset="0"/>
              </a:rPr>
              <a:t>Enhanced capacity utilisation </a:t>
            </a:r>
            <a:r>
              <a:rPr lang="en-AU" dirty="0">
                <a:latin typeface="Calibri" panose="020F0502020204030204" pitchFamily="34" charset="0"/>
                <a:cs typeface="Calibri" panose="020F0502020204030204" pitchFamily="34" charset="0"/>
              </a:rPr>
              <a:t>– IT avoids over- and under-provisioning of IT services to improve smarter business services.</a:t>
            </a:r>
          </a:p>
          <a:p>
            <a:pPr algn="just">
              <a:lnSpc>
                <a:spcPct val="150000"/>
              </a:lnSpc>
              <a:buFont typeface="Wingdings" panose="05000000000000000000" pitchFamily="2" charset="2"/>
              <a:buChar char="q"/>
            </a:pPr>
            <a:endParaRPr lang="en-AU"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9639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a:xfrm>
            <a:off x="1154954" y="947920"/>
            <a:ext cx="9690255" cy="728480"/>
          </a:xfrm>
        </p:spPr>
        <p:txBody>
          <a:bodyPr/>
          <a:lstStyle/>
          <a:p>
            <a:r>
              <a:rPr lang="en-AU" dirty="0"/>
              <a:t>FIVE MAIN BENEFITS ATTACHED TO CLOUD SERVICES</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360428"/>
            <a:ext cx="10611293" cy="4231758"/>
          </a:xfrm>
        </p:spPr>
        <p:txBody>
          <a:bodyPr>
            <a:noAutofit/>
          </a:bodyPr>
          <a:lstStyle/>
          <a:p>
            <a:pPr algn="just">
              <a:lnSpc>
                <a:spcPct val="150000"/>
              </a:lnSpc>
              <a:buFont typeface="Wingdings" panose="05000000000000000000" pitchFamily="2" charset="2"/>
              <a:buChar char="q"/>
            </a:pPr>
            <a:r>
              <a:rPr lang="en-AU" sz="1700" dirty="0">
                <a:solidFill>
                  <a:srgbClr val="FF0000"/>
                </a:solidFill>
                <a:latin typeface="Calibri" panose="020F0502020204030204" pitchFamily="34" charset="0"/>
                <a:cs typeface="Calibri" panose="020F0502020204030204" pitchFamily="34" charset="0"/>
              </a:rPr>
              <a:t>Cost efficiency </a:t>
            </a:r>
            <a:r>
              <a:rPr lang="en-AU" sz="1700" dirty="0">
                <a:latin typeface="Calibri" panose="020F0502020204030204" pitchFamily="34" charset="0"/>
                <a:cs typeface="Calibri" panose="020F0502020204030204" pitchFamily="34" charset="0"/>
              </a:rPr>
              <a:t>– Shared infrastructure means shared costs. You also pay only for what you use, because most pricing models are consumption-based. This can be ‘per user’, ‘per device’, ‘per server’ or ‘per instance’.</a:t>
            </a:r>
          </a:p>
          <a:p>
            <a:pPr algn="just">
              <a:lnSpc>
                <a:spcPct val="150000"/>
              </a:lnSpc>
              <a:buFont typeface="Wingdings" panose="05000000000000000000" pitchFamily="2" charset="2"/>
              <a:buChar char="q"/>
            </a:pPr>
            <a:r>
              <a:rPr lang="en-AU" sz="1700" dirty="0">
                <a:solidFill>
                  <a:srgbClr val="FF0000"/>
                </a:solidFill>
                <a:latin typeface="Calibri" panose="020F0502020204030204" pitchFamily="34" charset="0"/>
                <a:cs typeface="Calibri" panose="020F0502020204030204" pitchFamily="34" charset="0"/>
              </a:rPr>
              <a:t>Easy to use </a:t>
            </a:r>
            <a:r>
              <a:rPr lang="en-AU" sz="1700" dirty="0">
                <a:latin typeface="Calibri" panose="020F0502020204030204" pitchFamily="34" charset="0"/>
                <a:cs typeface="Calibri" panose="020F0502020204030204" pitchFamily="34" charset="0"/>
              </a:rPr>
              <a:t>– Basic cloud services work ‘out of the box’. For more complex software and database solutions, cloud computing allows you to skip the hardware procurement and capital expenditure phase and just get on with the implementation.</a:t>
            </a:r>
          </a:p>
          <a:p>
            <a:pPr algn="just">
              <a:lnSpc>
                <a:spcPct val="150000"/>
              </a:lnSpc>
              <a:buFont typeface="Wingdings" panose="05000000000000000000" pitchFamily="2" charset="2"/>
              <a:buChar char="q"/>
            </a:pPr>
            <a:r>
              <a:rPr lang="en-AU" sz="1700" dirty="0">
                <a:solidFill>
                  <a:srgbClr val="FF0000"/>
                </a:solidFill>
                <a:latin typeface="Calibri" panose="020F0502020204030204" pitchFamily="34" charset="0"/>
                <a:cs typeface="Calibri" panose="020F0502020204030204" pitchFamily="34" charset="0"/>
              </a:rPr>
              <a:t>Up to date</a:t>
            </a:r>
            <a:r>
              <a:rPr lang="en-AU" sz="1700" dirty="0">
                <a:latin typeface="Calibri" panose="020F0502020204030204" pitchFamily="34" charset="0"/>
                <a:cs typeface="Calibri" panose="020F0502020204030204" pitchFamily="34" charset="0"/>
              </a:rPr>
              <a:t> – Most providers constantly update their software offering, adding new features as they become available.</a:t>
            </a:r>
          </a:p>
          <a:p>
            <a:pPr algn="just">
              <a:lnSpc>
                <a:spcPct val="150000"/>
              </a:lnSpc>
              <a:buFont typeface="Wingdings" panose="05000000000000000000" pitchFamily="2" charset="2"/>
              <a:buChar char="q"/>
            </a:pPr>
            <a:r>
              <a:rPr lang="en-AU" sz="1700" dirty="0">
                <a:solidFill>
                  <a:srgbClr val="FF0000"/>
                </a:solidFill>
                <a:latin typeface="Calibri" panose="020F0502020204030204" pitchFamily="34" charset="0"/>
                <a:cs typeface="Calibri" panose="020F0502020204030204" pitchFamily="34" charset="0"/>
              </a:rPr>
              <a:t>Scalability</a:t>
            </a:r>
            <a:r>
              <a:rPr lang="en-AU" sz="1700" dirty="0">
                <a:latin typeface="Calibri" panose="020F0502020204030204" pitchFamily="34" charset="0"/>
                <a:cs typeface="Calibri" panose="020F0502020204030204" pitchFamily="34" charset="0"/>
              </a:rPr>
              <a:t> – Depending on business growth, you can grow or contract quickly as cloud systems are built to cope with sharp increases and reductions in workload. Pricing models are built to support software reductions should businesses need to scale down, which removes the business pressures associated with fixed costs</a:t>
            </a:r>
          </a:p>
        </p:txBody>
      </p:sp>
    </p:spTree>
    <p:extLst>
      <p:ext uri="{BB962C8B-B14F-4D97-AF65-F5344CB8AC3E}">
        <p14:creationId xmlns:p14="http://schemas.microsoft.com/office/powerpoint/2010/main" val="312273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a:xfrm>
            <a:off x="1154954" y="947920"/>
            <a:ext cx="9690255" cy="728480"/>
          </a:xfrm>
        </p:spPr>
        <p:txBody>
          <a:bodyPr/>
          <a:lstStyle/>
          <a:p>
            <a:r>
              <a:rPr lang="en-AU" dirty="0"/>
              <a:t>FIVE MAIN BENEFITS ATTACHED TO CLOUD SERVICES</a:t>
            </a:r>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360428"/>
            <a:ext cx="10611293" cy="4231758"/>
          </a:xfrm>
        </p:spPr>
        <p:txBody>
          <a:bodyPr>
            <a:noAutofit/>
          </a:bodyPr>
          <a:lstStyle/>
          <a:p>
            <a:pPr algn="just">
              <a:lnSpc>
                <a:spcPct val="150000"/>
              </a:lnSpc>
              <a:buFont typeface="Wingdings" panose="05000000000000000000" pitchFamily="2" charset="2"/>
              <a:buChar char="q"/>
            </a:pPr>
            <a:r>
              <a:rPr lang="en-AU" sz="1700" dirty="0">
                <a:solidFill>
                  <a:srgbClr val="FF0000"/>
                </a:solidFill>
                <a:latin typeface="Calibri" panose="020F0502020204030204" pitchFamily="34" charset="0"/>
                <a:cs typeface="Calibri" panose="020F0502020204030204" pitchFamily="34" charset="0"/>
              </a:rPr>
              <a:t>Mobile </a:t>
            </a:r>
            <a:r>
              <a:rPr lang="en-AU" sz="1700" dirty="0">
                <a:latin typeface="Calibri" panose="020F0502020204030204" pitchFamily="34" charset="0"/>
                <a:cs typeface="Calibri" panose="020F0502020204030204" pitchFamily="34" charset="0"/>
              </a:rPr>
              <a:t>– Cloud services are designed to be used from a distance, so if you have a mobile workforce, staff can access most of your systems ‘on the go’, increasing productivity.</a:t>
            </a:r>
          </a:p>
        </p:txBody>
      </p:sp>
    </p:spTree>
    <p:extLst>
      <p:ext uri="{BB962C8B-B14F-4D97-AF65-F5344CB8AC3E}">
        <p14:creationId xmlns:p14="http://schemas.microsoft.com/office/powerpoint/2010/main" val="2159568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4315A-EDFE-45C3-B11C-97C94B594FF8}"/>
              </a:ext>
            </a:extLst>
          </p:cNvPr>
          <p:cNvSpPr>
            <a:spLocks noGrp="1"/>
          </p:cNvSpPr>
          <p:nvPr>
            <p:ph type="title"/>
          </p:nvPr>
        </p:nvSpPr>
        <p:spPr/>
        <p:txBody>
          <a:bodyPr/>
          <a:lstStyle/>
          <a:p>
            <a:r>
              <a:rPr lang="en-US" dirty="0"/>
              <a:t>CLOUD</a:t>
            </a:r>
            <a:endParaRPr lang="en-AU" dirty="0"/>
          </a:p>
        </p:txBody>
      </p:sp>
      <p:sp>
        <p:nvSpPr>
          <p:cNvPr id="3" name="Content Placeholder 2">
            <a:extLst>
              <a:ext uri="{FF2B5EF4-FFF2-40B4-BE49-F238E27FC236}">
                <a16:creationId xmlns:a16="http://schemas.microsoft.com/office/drawing/2014/main" id="{0BFDB3D0-B715-43BA-A25D-7EC9DED99EC3}"/>
              </a:ext>
            </a:extLst>
          </p:cNvPr>
          <p:cNvSpPr>
            <a:spLocks noGrp="1"/>
          </p:cNvSpPr>
          <p:nvPr>
            <p:ph idx="1"/>
          </p:nvPr>
        </p:nvSpPr>
        <p:spPr>
          <a:xfrm>
            <a:off x="680484" y="2603500"/>
            <a:ext cx="10611293" cy="3988686"/>
          </a:xfrm>
        </p:spPr>
        <p:txBody>
          <a:bodyPr>
            <a:normAutofit/>
          </a:bodyPr>
          <a:lstStyle/>
          <a:p>
            <a:pPr algn="just">
              <a:lnSpc>
                <a:spcPct val="150000"/>
              </a:lnSpc>
            </a:pPr>
            <a:r>
              <a:rPr lang="en-AU" sz="2000" dirty="0">
                <a:latin typeface="Calibri" panose="020F0502020204030204" pitchFamily="34" charset="0"/>
                <a:cs typeface="Calibri" panose="020F0502020204030204" pitchFamily="34" charset="0"/>
              </a:rPr>
              <a:t>The core difference between cloud and traditional IT is that in a true cloud model you don’t own the IT: you don’t buy a server and an application licence, but instead the IT gets delivered to you as a service via the internet when you need it. </a:t>
            </a:r>
          </a:p>
        </p:txBody>
      </p:sp>
    </p:spTree>
    <p:extLst>
      <p:ext uri="{BB962C8B-B14F-4D97-AF65-F5344CB8AC3E}">
        <p14:creationId xmlns:p14="http://schemas.microsoft.com/office/powerpoint/2010/main" val="3657010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DCF6162-C90D-43BF-B7E4-A7B29A1619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5" name="Rectangle 14">
              <a:extLst>
                <a:ext uri="{FF2B5EF4-FFF2-40B4-BE49-F238E27FC236}">
                  <a16:creationId xmlns:a16="http://schemas.microsoft.com/office/drawing/2014/main" id="{A6895F9A-4951-41A7-988E-E4426D51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6" name="Oval 15">
              <a:extLst>
                <a:ext uri="{FF2B5EF4-FFF2-40B4-BE49-F238E27FC236}">
                  <a16:creationId xmlns:a16="http://schemas.microsoft.com/office/drawing/2014/main" id="{973CCBF7-E635-45F0-9262-B1378FECE0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7" name="Oval 16">
              <a:extLst>
                <a:ext uri="{FF2B5EF4-FFF2-40B4-BE49-F238E27FC236}">
                  <a16:creationId xmlns:a16="http://schemas.microsoft.com/office/drawing/2014/main" id="{A95F2453-17DE-4864-ADA2-6D234F95C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8" name="Oval 17">
              <a:extLst>
                <a:ext uri="{FF2B5EF4-FFF2-40B4-BE49-F238E27FC236}">
                  <a16:creationId xmlns:a16="http://schemas.microsoft.com/office/drawing/2014/main" id="{044DD539-16E2-48D1-9557-24281434BA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19" name="Oval 18">
              <a:extLst>
                <a:ext uri="{FF2B5EF4-FFF2-40B4-BE49-F238E27FC236}">
                  <a16:creationId xmlns:a16="http://schemas.microsoft.com/office/drawing/2014/main" id="{025EA950-BF18-4722-B2FD-04D357983F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0" name="Oval 19">
              <a:extLst>
                <a:ext uri="{FF2B5EF4-FFF2-40B4-BE49-F238E27FC236}">
                  <a16:creationId xmlns:a16="http://schemas.microsoft.com/office/drawing/2014/main" id="{7E71AB5E-77FB-4315-8B22-845D24C70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1" name="Oval 20">
              <a:extLst>
                <a:ext uri="{FF2B5EF4-FFF2-40B4-BE49-F238E27FC236}">
                  <a16:creationId xmlns:a16="http://schemas.microsoft.com/office/drawing/2014/main" id="{27ED4165-1756-4A80-90B1-FFF8AD7F2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2" name="Freeform 5">
              <a:extLst>
                <a:ext uri="{FF2B5EF4-FFF2-40B4-BE49-F238E27FC236}">
                  <a16:creationId xmlns:a16="http://schemas.microsoft.com/office/drawing/2014/main" id="{0C1FF9ED-0EB6-4CEF-83F7-B579129778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AU"/>
            </a:p>
          </p:txBody>
        </p:sp>
      </p:grpSp>
      <p:sp>
        <p:nvSpPr>
          <p:cNvPr id="24" name="Rectangle 23">
            <a:extLst>
              <a:ext uri="{FF2B5EF4-FFF2-40B4-BE49-F238E27FC236}">
                <a16:creationId xmlns:a16="http://schemas.microsoft.com/office/drawing/2014/main" id="{3F4860A4-6A75-4E92-905D-FA03EEDB8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 name="Title 1">
            <a:extLst>
              <a:ext uri="{FF2B5EF4-FFF2-40B4-BE49-F238E27FC236}">
                <a16:creationId xmlns:a16="http://schemas.microsoft.com/office/drawing/2014/main" id="{F47AFDC0-9B86-C05E-FF98-B664FDE9AAF5}"/>
              </a:ext>
            </a:extLst>
          </p:cNvPr>
          <p:cNvSpPr>
            <a:spLocks noGrp="1"/>
          </p:cNvSpPr>
          <p:nvPr>
            <p:ph type="title"/>
          </p:nvPr>
        </p:nvSpPr>
        <p:spPr>
          <a:xfrm>
            <a:off x="8382055" y="1241266"/>
            <a:ext cx="3161016" cy="3153753"/>
          </a:xfrm>
        </p:spPr>
        <p:txBody>
          <a:bodyPr vert="horz" lIns="91440" tIns="45720" rIns="91440" bIns="45720" rtlCol="0" anchor="b">
            <a:normAutofit fontScale="90000"/>
          </a:bodyPr>
          <a:lstStyle/>
          <a:p>
            <a:pPr>
              <a:lnSpc>
                <a:spcPct val="90000"/>
              </a:lnSpc>
            </a:pPr>
            <a:r>
              <a:rPr lang="en-US" sz="3400" b="0" i="0" kern="1200" dirty="0">
                <a:solidFill>
                  <a:schemeClr val="bg2"/>
                </a:solidFill>
                <a:latin typeface="+mj-lt"/>
                <a:ea typeface="+mj-ea"/>
                <a:cs typeface="+mj-cs"/>
              </a:rPr>
              <a:t>In class activity: Timeline Exploration of Computing Evolution</a:t>
            </a:r>
            <a:br>
              <a:rPr lang="en-US" sz="3400" b="0" i="0" kern="1200" dirty="0">
                <a:solidFill>
                  <a:schemeClr val="bg2"/>
                </a:solidFill>
                <a:latin typeface="+mj-lt"/>
                <a:ea typeface="+mj-ea"/>
                <a:cs typeface="+mj-cs"/>
              </a:rPr>
            </a:br>
            <a:endParaRPr lang="en-US" sz="3400" b="0" i="0" kern="1200" dirty="0">
              <a:solidFill>
                <a:schemeClr val="bg2"/>
              </a:solidFill>
              <a:latin typeface="+mj-lt"/>
              <a:ea typeface="+mj-ea"/>
              <a:cs typeface="+mj-cs"/>
            </a:endParaRPr>
          </a:p>
        </p:txBody>
      </p:sp>
      <p:grpSp>
        <p:nvGrpSpPr>
          <p:cNvPr id="26" name="Group 25">
            <a:extLst>
              <a:ext uri="{FF2B5EF4-FFF2-40B4-BE49-F238E27FC236}">
                <a16:creationId xmlns:a16="http://schemas.microsoft.com/office/drawing/2014/main" id="{1BCDA284-4169-467B-80C1-BBDF26B202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27" name="Rectangle 26">
              <a:extLst>
                <a:ext uri="{FF2B5EF4-FFF2-40B4-BE49-F238E27FC236}">
                  <a16:creationId xmlns:a16="http://schemas.microsoft.com/office/drawing/2014/main" id="{CD5268F1-2FCC-42C8-B308-9F8744796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U"/>
            </a:p>
          </p:txBody>
        </p:sp>
        <p:sp>
          <p:nvSpPr>
            <p:cNvPr id="28" name="Freeform 5">
              <a:extLst>
                <a:ext uri="{FF2B5EF4-FFF2-40B4-BE49-F238E27FC236}">
                  <a16:creationId xmlns:a16="http://schemas.microsoft.com/office/drawing/2014/main" id="{71C38273-377C-4D45-98FA-F4BAFBCA8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AU"/>
            </a:p>
          </p:txBody>
        </p:sp>
        <p:sp>
          <p:nvSpPr>
            <p:cNvPr id="29" name="Freeform 5">
              <a:extLst>
                <a:ext uri="{FF2B5EF4-FFF2-40B4-BE49-F238E27FC236}">
                  <a16:creationId xmlns:a16="http://schemas.microsoft.com/office/drawing/2014/main" id="{A4617A93-13E2-4F76-AB78-7A0210391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AU"/>
            </a:p>
          </p:txBody>
        </p:sp>
      </p:grpSp>
      <p:pic>
        <p:nvPicPr>
          <p:cNvPr id="9" name="Picture 8">
            <a:extLst>
              <a:ext uri="{FF2B5EF4-FFF2-40B4-BE49-F238E27FC236}">
                <a16:creationId xmlns:a16="http://schemas.microsoft.com/office/drawing/2014/main" id="{49B733E4-D4D5-F73A-28EF-EFA164D1CAEA}"/>
              </a:ext>
            </a:extLst>
          </p:cNvPr>
          <p:cNvPicPr>
            <a:picLocks noChangeAspect="1"/>
          </p:cNvPicPr>
          <p:nvPr/>
        </p:nvPicPr>
        <p:blipFill>
          <a:blip r:embed="rId4"/>
          <a:stretch>
            <a:fillRect/>
          </a:stretch>
        </p:blipFill>
        <p:spPr>
          <a:xfrm>
            <a:off x="271336" y="1337912"/>
            <a:ext cx="7720689" cy="3919888"/>
          </a:xfrm>
          <a:prstGeom prst="rect">
            <a:avLst/>
          </a:prstGeom>
        </p:spPr>
      </p:pic>
    </p:spTree>
    <p:extLst>
      <p:ext uri="{BB962C8B-B14F-4D97-AF65-F5344CB8AC3E}">
        <p14:creationId xmlns:p14="http://schemas.microsoft.com/office/powerpoint/2010/main" val="36795836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318</TotalTime>
  <Words>4172</Words>
  <Application>Microsoft Office PowerPoint</Application>
  <PresentationFormat>Widescreen</PresentationFormat>
  <Paragraphs>155</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Calibri</vt:lpstr>
      <vt:lpstr>Century Gothic</vt:lpstr>
      <vt:lpstr>Wingdings</vt:lpstr>
      <vt:lpstr>Wingdings 3</vt:lpstr>
      <vt:lpstr>Ion Boardroom</vt:lpstr>
      <vt:lpstr>CCF501 Cloud Computing Fundamentals  </vt:lpstr>
      <vt:lpstr>Subject Descriptor</vt:lpstr>
      <vt:lpstr>PowerPoint Presentation</vt:lpstr>
      <vt:lpstr>Computing</vt:lpstr>
      <vt:lpstr>Three Ages of Computing</vt:lpstr>
      <vt:lpstr>Three Ages of Computing</vt:lpstr>
      <vt:lpstr>Three Ages of Computing</vt:lpstr>
      <vt:lpstr>Three Ages of Computing</vt:lpstr>
      <vt:lpstr>Three Ages of Computing</vt:lpstr>
      <vt:lpstr>Three Ages of Computing</vt:lpstr>
      <vt:lpstr>Broad Enablers</vt:lpstr>
      <vt:lpstr>Broad Enablers</vt:lpstr>
      <vt:lpstr>BUILDING ROI FROM CLOUD COMPUTING</vt:lpstr>
      <vt:lpstr>BUILDING ROI FROM CLOUD COMPUTING</vt:lpstr>
      <vt:lpstr>BUILDING ROI FROM CLOUD COMPUTING</vt:lpstr>
      <vt:lpstr>BUILDING ROI FROM CLOUD COMPUTING</vt:lpstr>
      <vt:lpstr>BUILDING ROI FROM CLOUD COMPUTING</vt:lpstr>
      <vt:lpstr>FIVE MAIN BENEFITS ATTACHED TO CLOUD SERVICES</vt:lpstr>
      <vt:lpstr>FIVE MAIN BENEFITS ATTACHED TO CLOUD SERVICES</vt:lpstr>
      <vt:lpstr>CLOUD</vt:lpstr>
      <vt:lpstr>In class activity: Timeline Exploration of Computing Evolution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CCF501</dc:title>
  <dc:creator>Supriya Supriya</dc:creator>
  <cp:lastModifiedBy>Divya Leekha</cp:lastModifiedBy>
  <cp:revision>34</cp:revision>
  <dcterms:created xsi:type="dcterms:W3CDTF">2022-05-31T22:29:44Z</dcterms:created>
  <dcterms:modified xsi:type="dcterms:W3CDTF">2025-02-16T03:15:57Z</dcterms:modified>
</cp:coreProperties>
</file>