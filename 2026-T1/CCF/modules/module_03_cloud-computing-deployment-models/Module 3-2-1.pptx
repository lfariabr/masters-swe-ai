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339" r:id="rId2"/>
    <p:sldId id="340" r:id="rId3"/>
    <p:sldId id="341" r:id="rId4"/>
    <p:sldId id="265" r:id="rId5"/>
    <p:sldId id="303" r:id="rId6"/>
    <p:sldId id="302" r:id="rId7"/>
    <p:sldId id="328" r:id="rId8"/>
    <p:sldId id="304" r:id="rId9"/>
    <p:sldId id="306" r:id="rId10"/>
    <p:sldId id="308" r:id="rId11"/>
    <p:sldId id="310" r:id="rId12"/>
    <p:sldId id="313" r:id="rId13"/>
    <p:sldId id="312" r:id="rId14"/>
    <p:sldId id="314" r:id="rId15"/>
    <p:sldId id="315" r:id="rId16"/>
    <p:sldId id="316" r:id="rId17"/>
    <p:sldId id="329" r:id="rId18"/>
    <p:sldId id="259" r:id="rId19"/>
    <p:sldId id="317" r:id="rId20"/>
    <p:sldId id="263" r:id="rId21"/>
    <p:sldId id="261" r:id="rId22"/>
    <p:sldId id="322" r:id="rId23"/>
    <p:sldId id="324" r:id="rId24"/>
    <p:sldId id="318" r:id="rId25"/>
    <p:sldId id="321" r:id="rId26"/>
    <p:sldId id="319" r:id="rId27"/>
    <p:sldId id="330" r:id="rId28"/>
    <p:sldId id="331" r:id="rId29"/>
    <p:sldId id="334" r:id="rId30"/>
    <p:sldId id="333" r:id="rId31"/>
    <p:sldId id="33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838380-08B6-A7FE-05D5-281B2CD16881}" v="43" dt="2025-09-28T00:17:42.8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Leekha" userId="S::divyarahul.leekha@torrens.edu.au::9d877988-a945-4593-83be-7278bd2d3dda" providerId="AD" clId="Web-{29838380-08B6-A7FE-05D5-281B2CD16881}"/>
    <pc:docChg chg="addSld modSld">
      <pc:chgData name="Divya Leekha" userId="S::divyarahul.leekha@torrens.edu.au::9d877988-a945-4593-83be-7278bd2d3dda" providerId="AD" clId="Web-{29838380-08B6-A7FE-05D5-281B2CD16881}" dt="2025-09-28T00:22:11.313" v="61"/>
      <pc:docMkLst>
        <pc:docMk/>
      </pc:docMkLst>
      <pc:sldChg chg="addSp delSp modSp new modNotes">
        <pc:chgData name="Divya Leekha" userId="S::divyarahul.leekha@torrens.edu.au::9d877988-a945-4593-83be-7278bd2d3dda" providerId="AD" clId="Web-{29838380-08B6-A7FE-05D5-281B2CD16881}" dt="2025-09-28T00:21:13.902" v="51"/>
        <pc:sldMkLst>
          <pc:docMk/>
          <pc:sldMk cId="191316580" sldId="340"/>
        </pc:sldMkLst>
        <pc:spChg chg="mod">
          <ac:chgData name="Divya Leekha" userId="S::divyarahul.leekha@torrens.edu.au::9d877988-a945-4593-83be-7278bd2d3dda" providerId="AD" clId="Web-{29838380-08B6-A7FE-05D5-281B2CD16881}" dt="2025-09-28T00:15:57.952" v="31" actId="14100"/>
          <ac:spMkLst>
            <pc:docMk/>
            <pc:sldMk cId="191316580" sldId="340"/>
            <ac:spMk id="2" creationId="{8E8C8A3D-BDBD-0753-B6E9-E9C8A5D0D495}"/>
          </ac:spMkLst>
        </pc:spChg>
        <pc:spChg chg="del mod">
          <ac:chgData name="Divya Leekha" userId="S::divyarahul.leekha@torrens.edu.au::9d877988-a945-4593-83be-7278bd2d3dda" providerId="AD" clId="Web-{29838380-08B6-A7FE-05D5-281B2CD16881}" dt="2025-09-28T00:15:39.108" v="28"/>
          <ac:spMkLst>
            <pc:docMk/>
            <pc:sldMk cId="191316580" sldId="340"/>
            <ac:spMk id="3" creationId="{24887B1C-62BE-9A63-C3BA-E6E9AE1640B0}"/>
          </ac:spMkLst>
        </pc:spChg>
        <pc:spChg chg="add del mod">
          <ac:chgData name="Divya Leekha" userId="S::divyarahul.leekha@torrens.edu.au::9d877988-a945-4593-83be-7278bd2d3dda" providerId="AD" clId="Web-{29838380-08B6-A7FE-05D5-281B2CD16881}" dt="2025-09-28T00:15:44.671" v="29"/>
          <ac:spMkLst>
            <pc:docMk/>
            <pc:sldMk cId="191316580" sldId="340"/>
            <ac:spMk id="5" creationId="{C67200D2-9612-AC47-F9AD-9308004AFA74}"/>
          </ac:spMkLst>
        </pc:spChg>
        <pc:picChg chg="add mod ord">
          <ac:chgData name="Divya Leekha" userId="S::divyarahul.leekha@torrens.edu.au::9d877988-a945-4593-83be-7278bd2d3dda" providerId="AD" clId="Web-{29838380-08B6-A7FE-05D5-281B2CD16881}" dt="2025-09-28T00:16:17.625" v="33" actId="14100"/>
          <ac:picMkLst>
            <pc:docMk/>
            <pc:sldMk cId="191316580" sldId="340"/>
            <ac:picMk id="6" creationId="{C0B2E857-0059-2338-BAB8-56BC13ACF171}"/>
          </ac:picMkLst>
        </pc:picChg>
      </pc:sldChg>
      <pc:sldChg chg="addSp delSp modSp new modNotes">
        <pc:chgData name="Divya Leekha" userId="S::divyarahul.leekha@torrens.edu.au::9d877988-a945-4593-83be-7278bd2d3dda" providerId="AD" clId="Web-{29838380-08B6-A7FE-05D5-281B2CD16881}" dt="2025-09-28T00:22:11.313" v="61"/>
        <pc:sldMkLst>
          <pc:docMk/>
          <pc:sldMk cId="324642339" sldId="341"/>
        </pc:sldMkLst>
        <pc:spChg chg="mod">
          <ac:chgData name="Divya Leekha" userId="S::divyarahul.leekha@torrens.edu.au::9d877988-a945-4593-83be-7278bd2d3dda" providerId="AD" clId="Web-{29838380-08B6-A7FE-05D5-281B2CD16881}" dt="2025-09-28T00:17:35.299" v="40" actId="14100"/>
          <ac:spMkLst>
            <pc:docMk/>
            <pc:sldMk cId="324642339" sldId="341"/>
            <ac:spMk id="2" creationId="{88934538-4D36-2C06-3AD7-CF45EE0F88D8}"/>
          </ac:spMkLst>
        </pc:spChg>
        <pc:spChg chg="del">
          <ac:chgData name="Divya Leekha" userId="S::divyarahul.leekha@torrens.edu.au::9d877988-a945-4593-83be-7278bd2d3dda" providerId="AD" clId="Web-{29838380-08B6-A7FE-05D5-281B2CD16881}" dt="2025-09-28T00:17:05.939" v="34"/>
          <ac:spMkLst>
            <pc:docMk/>
            <pc:sldMk cId="324642339" sldId="341"/>
            <ac:spMk id="3" creationId="{BC41D9AF-B813-FD9F-4081-DF9746BD88CC}"/>
          </ac:spMkLst>
        </pc:spChg>
        <pc:picChg chg="add mod">
          <ac:chgData name="Divya Leekha" userId="S::divyarahul.leekha@torrens.edu.au::9d877988-a945-4593-83be-7278bd2d3dda" providerId="AD" clId="Web-{29838380-08B6-A7FE-05D5-281B2CD16881}" dt="2025-09-28T00:17:42.815" v="41" actId="1076"/>
          <ac:picMkLst>
            <pc:docMk/>
            <pc:sldMk cId="324642339" sldId="341"/>
            <ac:picMk id="4" creationId="{A82F6A29-4516-0A95-63E2-0AED32707CB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F9394-7C1B-4133-881F-8FF2FFCD45DE}" type="datetimeFigureOut">
              <a:t>9/27/2025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15DDD-8274-4C6C-912B-D92906913F15}" type="slidenum">
              <a:t>‹#›</a:t>
            </a:fld>
            <a:endParaRPr lang="en-US"/>
          </a:p>
        </p:txBody>
      </p:sp>
    </p:spTree>
    <p:extLst>
      <p:ext uri="{BB962C8B-B14F-4D97-AF65-F5344CB8AC3E}">
        <p14:creationId xmlns:p14="http://schemas.microsoft.com/office/powerpoint/2010/main" val="2779888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Q1.</a:t>
            </a:r>
            <a:endParaRPr lang="en-US"/>
          </a:p>
          <a:p>
            <a:r>
              <a:rPr lang="en-US"/>
              <a:t>Cloud computing is often described as the evolution of traditional IT. Which of the following best explains this shift?</a:t>
            </a:r>
          </a:p>
          <a:p>
            <a:r>
              <a:rPr lang="en-US" b="1" dirty="0"/>
              <a:t>Correct Answer: b) Organizations replaced owned infrastructure with on-demand, shared resources available over the internet.</a:t>
            </a:r>
            <a:endParaRPr lang="en-US" dirty="0"/>
          </a:p>
          <a:p>
            <a:pPr marL="285750" indent="-285750">
              <a:buFont typeface="Arial"/>
              <a:buChar char="•"/>
            </a:pPr>
            <a:r>
              <a:rPr lang="en-US"/>
              <a:t>This reflects the fundamental change: moving from capital-intensive, owned IT to cloud-based, service-oriented IT.</a:t>
            </a:r>
          </a:p>
          <a:p>
            <a:r>
              <a:rPr lang="en-US" b="1"/>
              <a:t>Why others are incorrect:</a:t>
            </a:r>
            <a:endParaRPr lang="en-US"/>
          </a:p>
          <a:p>
            <a:pPr marL="285750" indent="-285750">
              <a:buFont typeface="Arial"/>
              <a:buChar char="•"/>
            </a:pPr>
            <a:r>
              <a:rPr lang="en-US"/>
              <a:t>a) IT systems moved from manual operations to purely automated scripts → Automation is important, but it predates cloud. This does not capture the essence of cloud adoption.</a:t>
            </a:r>
          </a:p>
          <a:p>
            <a:pPr marL="285750" indent="-285750">
              <a:buFont typeface="Arial"/>
              <a:buChar char="•"/>
            </a:pPr>
            <a:r>
              <a:rPr lang="en-US"/>
              <a:t>c) IT departments started using laptops instead of desktops → Hardware choices are unrelated to the definition of cloud computing.</a:t>
            </a:r>
          </a:p>
          <a:p>
            <a:pPr marL="285750" indent="-285750">
              <a:buFont typeface="Arial"/>
              <a:buChar char="•"/>
            </a:pPr>
            <a:r>
              <a:rPr lang="en-US"/>
              <a:t>d) Programming languages evolved to include cloud-specific keywords → Language changes are incidental, not the defining shift.</a:t>
            </a:r>
          </a:p>
          <a:p>
            <a:br>
              <a:rPr lang="en-US" dirty="0"/>
            </a:br>
            <a:endParaRPr lang="en-US" dirty="0"/>
          </a:p>
          <a:p>
            <a:r>
              <a:rPr lang="en-US" b="1" dirty="0"/>
              <a:t>Q2.</a:t>
            </a:r>
            <a:endParaRPr lang="en-US" dirty="0"/>
          </a:p>
          <a:p>
            <a:r>
              <a:rPr lang="en-US" dirty="0"/>
              <a:t>The NIST (National Institute of Standards and Technology) definition of cloud computing emphasizes five essential characteristics. Which of the following is </a:t>
            </a:r>
            <a:r>
              <a:rPr lang="en-US" b="1" dirty="0"/>
              <a:t>NOT</a:t>
            </a:r>
            <a:r>
              <a:rPr lang="en-US" dirty="0"/>
              <a:t> one of them?</a:t>
            </a:r>
            <a:endParaRPr lang="en-US" dirty="0">
              <a:ea typeface="Calibri"/>
              <a:cs typeface="Calibri"/>
            </a:endParaRPr>
          </a:p>
          <a:p>
            <a:r>
              <a:rPr lang="en-US" b="1" dirty="0"/>
              <a:t>Correct Answer: c) Virtual reality integration</a:t>
            </a:r>
            <a:endParaRPr lang="en-US" dirty="0"/>
          </a:p>
          <a:p>
            <a:pPr marL="285750" indent="-285750">
              <a:buFont typeface="Arial"/>
              <a:buChar char="•"/>
            </a:pPr>
            <a:r>
              <a:rPr lang="en-US" dirty="0"/>
              <a:t>VR is a separate technology domain, not a NIST-defined cloud characteristic.</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a) On-demand self-service → A core NIST characteristic (users can provision services without provider intervention).</a:t>
            </a:r>
            <a:endParaRPr lang="en-US" dirty="0">
              <a:ea typeface="Calibri"/>
              <a:cs typeface="Calibri"/>
            </a:endParaRPr>
          </a:p>
          <a:p>
            <a:pPr marL="285750" indent="-285750">
              <a:buFont typeface="Arial"/>
              <a:buChar char="•"/>
            </a:pPr>
            <a:r>
              <a:rPr lang="en-US" dirty="0"/>
              <a:t>b) Broad network access → Also a NIST characteristic (services available over the internet or network).</a:t>
            </a:r>
            <a:endParaRPr lang="en-US" dirty="0">
              <a:ea typeface="Calibri"/>
              <a:cs typeface="Calibri"/>
            </a:endParaRPr>
          </a:p>
          <a:p>
            <a:pPr marL="285750" indent="-285750">
              <a:buFont typeface="Arial"/>
              <a:buChar char="•"/>
            </a:pPr>
            <a:r>
              <a:rPr lang="en-US" dirty="0"/>
              <a:t>d) Resource pooling → Another NIST characteristic (multi-tenancy, resources shared dynamically).</a:t>
            </a:r>
            <a:endParaRPr lang="en-US" dirty="0">
              <a:ea typeface="Calibri"/>
              <a:cs typeface="Calibri"/>
            </a:endParaRPr>
          </a:p>
          <a:p>
            <a:br>
              <a:rPr lang="en-US" dirty="0"/>
            </a:br>
            <a:endParaRPr lang="en-US" dirty="0"/>
          </a:p>
          <a:p>
            <a:r>
              <a:rPr lang="en-US" b="1" dirty="0"/>
              <a:t>Q3.</a:t>
            </a:r>
            <a:endParaRPr lang="en-US" dirty="0"/>
          </a:p>
          <a:p>
            <a:r>
              <a:rPr lang="en-US" dirty="0"/>
              <a:t>In traditional IT, scaling resources was costly and slow. In cloud computing, “elasticity” addresses this challenge by:</a:t>
            </a:r>
            <a:endParaRPr lang="en-US" dirty="0">
              <a:ea typeface="Calibri"/>
              <a:cs typeface="Calibri"/>
            </a:endParaRPr>
          </a:p>
          <a:p>
            <a:r>
              <a:rPr lang="en-US" b="1" dirty="0"/>
              <a:t>Correct Answer: a) Allowing automatic and rapid adjustment of resources to match demand.</a:t>
            </a:r>
            <a:endParaRPr lang="en-US" dirty="0"/>
          </a:p>
          <a:p>
            <a:pPr marL="285750" indent="-285750">
              <a:buFont typeface="Arial"/>
              <a:buChar char="•"/>
            </a:pPr>
            <a:r>
              <a:rPr lang="en-US" dirty="0"/>
              <a:t>Elasticity means resources can grow or shrink automatically with workload changes.</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b) Guaranteeing that servers never fail → High availability is important but not elasticity.</a:t>
            </a:r>
            <a:endParaRPr lang="en-US" dirty="0">
              <a:ea typeface="Calibri"/>
              <a:cs typeface="Calibri"/>
            </a:endParaRPr>
          </a:p>
          <a:p>
            <a:pPr marL="285750" indent="-285750">
              <a:buFont typeface="Arial"/>
              <a:buChar char="•"/>
            </a:pPr>
            <a:r>
              <a:rPr lang="en-US" dirty="0"/>
              <a:t>c) Offering unlimited free storage to all users → Storage is scalable, but not unlimited or free.</a:t>
            </a:r>
            <a:endParaRPr lang="en-US" dirty="0">
              <a:ea typeface="Calibri"/>
              <a:cs typeface="Calibri"/>
            </a:endParaRPr>
          </a:p>
          <a:p>
            <a:pPr marL="285750" indent="-285750">
              <a:buFont typeface="Arial"/>
              <a:buChar char="•"/>
            </a:pPr>
            <a:r>
              <a:rPr lang="en-US" dirty="0"/>
              <a:t>d) Ensuring that resources are permanently fixed once allocated → This is the opposite of elasticity.</a:t>
            </a:r>
            <a:endParaRPr lang="en-US" dirty="0">
              <a:ea typeface="Calibri"/>
              <a:cs typeface="Calibri"/>
            </a:endParaRPr>
          </a:p>
          <a:p>
            <a:br>
              <a:rPr lang="en-US" dirty="0"/>
            </a:br>
            <a:endParaRPr lang="en-US" dirty="0"/>
          </a:p>
          <a:p>
            <a:r>
              <a:rPr lang="en-US" b="1" dirty="0"/>
              <a:t>Q4.</a:t>
            </a:r>
            <a:endParaRPr lang="en-US" dirty="0"/>
          </a:p>
          <a:p>
            <a:r>
              <a:rPr lang="en-US" dirty="0"/>
              <a:t>Why is the distinction between cloud computing and traditional outsourcing important in defining the cloud?</a:t>
            </a:r>
            <a:endParaRPr lang="en-US" dirty="0">
              <a:ea typeface="Calibri"/>
              <a:cs typeface="Calibri"/>
            </a:endParaRPr>
          </a:p>
          <a:p>
            <a:r>
              <a:rPr lang="en-US" dirty="0"/>
              <a:t> </a:t>
            </a:r>
            <a:r>
              <a:rPr lang="en-US" b="1" dirty="0"/>
              <a:t>Correct Answer: b) Outsourcing refers to contract-based service delivery, while cloud requires standardized, on-demand, and elastic characteristics.</a:t>
            </a:r>
            <a:endParaRPr lang="en-US" dirty="0"/>
          </a:p>
          <a:p>
            <a:pPr marL="285750" indent="-285750">
              <a:buFont typeface="Arial"/>
              <a:buChar char="•"/>
            </a:pPr>
            <a:r>
              <a:rPr lang="en-US" dirty="0"/>
              <a:t>Cloud is defined by specific characteristics, not just external service delivery.</a:t>
            </a:r>
            <a:endParaRPr lang="en-US" dirty="0">
              <a:ea typeface="Calibri" panose="020F0502020204030204"/>
              <a:cs typeface="Calibri" panose="020F0502020204030204"/>
            </a:endParaRPr>
          </a:p>
          <a:p>
            <a:r>
              <a:rPr lang="en-US" b="1" dirty="0"/>
              <a:t>Why others are incorrect:</a:t>
            </a:r>
            <a:endParaRPr lang="en-US" dirty="0"/>
          </a:p>
          <a:p>
            <a:pPr marL="285750" indent="-285750">
              <a:buFont typeface="Arial"/>
              <a:buChar char="•"/>
            </a:pPr>
            <a:r>
              <a:rPr lang="en-US" dirty="0"/>
              <a:t>a) Outsourcing always includes security, while cloud does not → Both may include security, so this is misleading.</a:t>
            </a:r>
            <a:endParaRPr lang="en-US" dirty="0">
              <a:ea typeface="Calibri"/>
              <a:cs typeface="Calibri"/>
            </a:endParaRPr>
          </a:p>
          <a:p>
            <a:pPr marL="285750" indent="-285750">
              <a:buFont typeface="Arial"/>
              <a:buChar char="•"/>
            </a:pPr>
            <a:r>
              <a:rPr lang="en-US" dirty="0"/>
              <a:t>c) Cloud is only for individuals, outsourcing is for enterprises → False; both models can serve any type of customer.</a:t>
            </a:r>
            <a:endParaRPr lang="en-US" dirty="0">
              <a:ea typeface="Calibri"/>
              <a:cs typeface="Calibri"/>
            </a:endParaRPr>
          </a:p>
          <a:p>
            <a:pPr marL="285750" indent="-285750">
              <a:buFont typeface="Arial"/>
              <a:buChar char="•"/>
            </a:pPr>
            <a:r>
              <a:rPr lang="en-US" dirty="0"/>
              <a:t>d) There is no real distinction; the terms are interchangeable → Incorrect; cloud has formal definitions and unique characteristics.</a:t>
            </a:r>
            <a:endParaRPr lang="en-US" dirty="0">
              <a:ea typeface="Calibri"/>
              <a:cs typeface="Calibri"/>
            </a:endParaRPr>
          </a:p>
          <a:p>
            <a:br>
              <a:rPr lang="en-US" dirty="0"/>
            </a:br>
            <a:endParaRPr lang="en-US" dirty="0"/>
          </a:p>
          <a:p>
            <a:r>
              <a:rPr lang="en-US" b="1" dirty="0"/>
              <a:t>Q5.</a:t>
            </a:r>
            <a:endParaRPr lang="en-US" dirty="0"/>
          </a:p>
          <a:p>
            <a:r>
              <a:rPr lang="en-US" dirty="0"/>
              <a:t>Which of the following scenarios best reflects the strategic advantage of adopting cloud computing?</a:t>
            </a:r>
            <a:endParaRPr lang="en-US" dirty="0">
              <a:ea typeface="Calibri"/>
              <a:cs typeface="Calibri"/>
            </a:endParaRPr>
          </a:p>
          <a:p>
            <a:r>
              <a:rPr lang="en-US" b="1" dirty="0"/>
              <a:t>Correct Answer: b) A startup quickly scales its services to millions of users without purchasing physical servers.</a:t>
            </a:r>
            <a:endParaRPr lang="en-US" dirty="0"/>
          </a:p>
          <a:p>
            <a:pPr marL="285750" indent="-285750">
              <a:buFont typeface="Arial"/>
              <a:buChar char="•"/>
            </a:pPr>
            <a:r>
              <a:rPr lang="en-US" dirty="0"/>
              <a:t>This demonstrates agility, scalability, and the key business benefit of cloud.</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a) A company delays IT investments until hardware prices drop → This is cost control, not a cloud-enabled strategy.</a:t>
            </a:r>
            <a:endParaRPr lang="en-US" dirty="0">
              <a:ea typeface="Calibri"/>
              <a:cs typeface="Calibri"/>
            </a:endParaRPr>
          </a:p>
          <a:p>
            <a:pPr marL="285750" indent="-285750">
              <a:buFont typeface="Arial"/>
              <a:buChar char="•"/>
            </a:pPr>
            <a:r>
              <a:rPr lang="en-US" dirty="0"/>
              <a:t>c) An enterprise limits employees’ internet use to reduce network costs → Irrelevant to cloud benefits.</a:t>
            </a:r>
            <a:endParaRPr lang="en-US" dirty="0">
              <a:ea typeface="Calibri"/>
              <a:cs typeface="Calibri"/>
            </a:endParaRPr>
          </a:p>
          <a:p>
            <a:pPr marL="285750" indent="-285750">
              <a:buFont typeface="Arial"/>
              <a:buChar char="•"/>
            </a:pPr>
            <a:r>
              <a:rPr lang="en-US" dirty="0"/>
              <a:t>d) A government agency outsources IT helpdesk support to a third-party vendor → Outsourcing is not the same as cloud computing.</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B915DDD-8274-4C6C-912B-D92906913F15}" type="slidenum">
              <a:t>2</a:t>
            </a:fld>
            <a:endParaRPr lang="en-US"/>
          </a:p>
        </p:txBody>
      </p:sp>
    </p:spTree>
    <p:extLst>
      <p:ext uri="{BB962C8B-B14F-4D97-AF65-F5344CB8AC3E}">
        <p14:creationId xmlns:p14="http://schemas.microsoft.com/office/powerpoint/2010/main" val="2706614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Q6.</a:t>
            </a:r>
            <a:endParaRPr lang="en-US" dirty="0"/>
          </a:p>
          <a:p>
            <a:r>
              <a:rPr lang="en-US" dirty="0"/>
              <a:t>Cloud service models differ in their level of abstraction. Which model provides the highest degree of control over infrastructure resources?</a:t>
            </a:r>
            <a:endParaRPr lang="en-US" dirty="0">
              <a:ea typeface="Calibri"/>
              <a:cs typeface="Calibri"/>
            </a:endParaRPr>
          </a:p>
          <a:p>
            <a:r>
              <a:rPr lang="en-US" b="1" dirty="0"/>
              <a:t>Correct Answer: c) Infrastructure as a Service (IaaS)</a:t>
            </a:r>
            <a:endParaRPr lang="en-US" dirty="0"/>
          </a:p>
          <a:p>
            <a:pPr marL="285750" indent="-285750">
              <a:buFont typeface="Arial"/>
              <a:buChar char="•"/>
            </a:pPr>
            <a:r>
              <a:rPr lang="en-US" dirty="0"/>
              <a:t>IaaS provides direct access to virtualized servers, storage, and networking.</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a) SaaS → Least control (vendor manages application, platform, and infrastructure).</a:t>
            </a:r>
            <a:endParaRPr lang="en-US" dirty="0">
              <a:ea typeface="Calibri"/>
              <a:cs typeface="Calibri"/>
            </a:endParaRPr>
          </a:p>
          <a:p>
            <a:pPr marL="285750" indent="-285750">
              <a:buFont typeface="Arial"/>
              <a:buChar char="•"/>
            </a:pPr>
            <a:r>
              <a:rPr lang="en-US" dirty="0"/>
              <a:t>b) PaaS → Developers control apps but not the underlying infrastructure.</a:t>
            </a:r>
            <a:endParaRPr lang="en-US" dirty="0">
              <a:ea typeface="Calibri"/>
              <a:cs typeface="Calibri"/>
            </a:endParaRPr>
          </a:p>
          <a:p>
            <a:pPr marL="285750" indent="-285750">
              <a:buFont typeface="Arial"/>
              <a:buChar char="•"/>
            </a:pPr>
            <a:r>
              <a:rPr lang="en-US" dirty="0"/>
              <a:t>d) </a:t>
            </a:r>
            <a:r>
              <a:rPr lang="en-US" dirty="0" err="1"/>
              <a:t>FaaS</a:t>
            </a:r>
            <a:r>
              <a:rPr lang="en-US" dirty="0"/>
              <a:t> → Even more abstract, where only functions are deployed.</a:t>
            </a:r>
            <a:endParaRPr lang="en-US" dirty="0">
              <a:ea typeface="Calibri"/>
              <a:cs typeface="Calibri"/>
            </a:endParaRPr>
          </a:p>
          <a:p>
            <a:br>
              <a:rPr lang="en-US" dirty="0"/>
            </a:br>
            <a:endParaRPr lang="en-US" dirty="0"/>
          </a:p>
          <a:p>
            <a:r>
              <a:rPr lang="en-US" b="1" dirty="0"/>
              <a:t>Q7.</a:t>
            </a:r>
            <a:endParaRPr lang="en-US" dirty="0"/>
          </a:p>
          <a:p>
            <a:r>
              <a:rPr lang="en-US" dirty="0"/>
              <a:t>One critical enabler of cloud computing is virtualization. Its primary contribution is:</a:t>
            </a:r>
            <a:endParaRPr lang="en-US" dirty="0">
              <a:ea typeface="Calibri"/>
              <a:cs typeface="Calibri"/>
            </a:endParaRPr>
          </a:p>
          <a:p>
            <a:r>
              <a:rPr lang="en-US" b="1" dirty="0"/>
              <a:t>Correct Answer: b) Allowing multiple virtual machines to share the same physical hardware efficiently.</a:t>
            </a:r>
            <a:endParaRPr lang="en-US" dirty="0"/>
          </a:p>
          <a:p>
            <a:pPr marL="285750" indent="-285750">
              <a:buFont typeface="Arial"/>
              <a:buChar char="•"/>
            </a:pPr>
            <a:r>
              <a:rPr lang="en-US" dirty="0"/>
              <a:t>Virtualization maximizes hardware utilization and enables multi-tenancy.</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a) Making cloud systems immune to cyberattacks → Virtualization doesn’t guarantee immunity.</a:t>
            </a:r>
            <a:endParaRPr lang="en-US" dirty="0">
              <a:ea typeface="Calibri"/>
              <a:cs typeface="Calibri"/>
            </a:endParaRPr>
          </a:p>
          <a:p>
            <a:pPr marL="285750" indent="-285750">
              <a:buFont typeface="Arial"/>
              <a:buChar char="•"/>
            </a:pPr>
            <a:r>
              <a:rPr lang="en-US" dirty="0"/>
              <a:t>c) Ensuring applications can run without internet connectivity → Connectivity is usually essential.</a:t>
            </a:r>
            <a:endParaRPr lang="en-US" dirty="0">
              <a:ea typeface="Calibri"/>
              <a:cs typeface="Calibri"/>
            </a:endParaRPr>
          </a:p>
          <a:p>
            <a:pPr marL="285750" indent="-285750">
              <a:buFont typeface="Arial"/>
              <a:buChar char="•"/>
            </a:pPr>
            <a:r>
              <a:rPr lang="en-US" dirty="0"/>
              <a:t>d) Replacing operating systems with browser-based interfaces → OSs still exist in virtual machines; browsers are just clients.</a:t>
            </a:r>
            <a:endParaRPr lang="en-US" dirty="0">
              <a:ea typeface="Calibri"/>
              <a:cs typeface="Calibri"/>
            </a:endParaRPr>
          </a:p>
          <a:p>
            <a:br>
              <a:rPr lang="en-US" dirty="0"/>
            </a:br>
            <a:endParaRPr lang="en-US" dirty="0"/>
          </a:p>
          <a:p>
            <a:r>
              <a:rPr lang="en-US" b="1" dirty="0"/>
              <a:t>Q8.</a:t>
            </a:r>
            <a:endParaRPr lang="en-US" dirty="0"/>
          </a:p>
          <a:p>
            <a:r>
              <a:rPr lang="en-US" dirty="0"/>
              <a:t>Which scenario best demonstrates the “measured service” characteristic of cloud computing?</a:t>
            </a:r>
            <a:endParaRPr lang="en-US" dirty="0">
              <a:ea typeface="Calibri"/>
              <a:cs typeface="Calibri"/>
            </a:endParaRPr>
          </a:p>
          <a:p>
            <a:r>
              <a:rPr lang="en-US" b="1" dirty="0"/>
              <a:t>Correct Answer: a) A company is billed monthly based on the exact CPU, storage, and bandwidth it consumed.</a:t>
            </a:r>
            <a:endParaRPr lang="en-US" dirty="0"/>
          </a:p>
          <a:p>
            <a:pPr marL="285750" indent="-285750">
              <a:buFont typeface="Arial"/>
              <a:buChar char="•"/>
            </a:pPr>
            <a:r>
              <a:rPr lang="en-US" dirty="0"/>
              <a:t>Measured service means resources are tracked and billed based on usage.</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b) An employee requests IT support through a ticketing system → This is helpdesk, not measured service.</a:t>
            </a:r>
            <a:endParaRPr lang="en-US" dirty="0">
              <a:ea typeface="Calibri"/>
              <a:cs typeface="Calibri"/>
            </a:endParaRPr>
          </a:p>
          <a:p>
            <a:pPr marL="285750" indent="-285750">
              <a:buFont typeface="Arial"/>
              <a:buChar char="•"/>
            </a:pPr>
            <a:r>
              <a:rPr lang="en-US" dirty="0"/>
              <a:t>c) A server is manually upgraded → That’s hardware management, not usage-based billing.</a:t>
            </a:r>
            <a:endParaRPr lang="en-US" dirty="0">
              <a:ea typeface="Calibri"/>
              <a:cs typeface="Calibri"/>
            </a:endParaRPr>
          </a:p>
          <a:p>
            <a:pPr marL="285750" indent="-285750">
              <a:buFont typeface="Arial"/>
              <a:buChar char="•"/>
            </a:pPr>
            <a:r>
              <a:rPr lang="en-US" dirty="0"/>
              <a:t>d) A fixed price contract → Opposite of usage-based billing.</a:t>
            </a:r>
            <a:endParaRPr lang="en-US" dirty="0">
              <a:ea typeface="Calibri"/>
              <a:cs typeface="Calibri"/>
            </a:endParaRPr>
          </a:p>
          <a:p>
            <a:br>
              <a:rPr lang="en-US" dirty="0"/>
            </a:br>
            <a:endParaRPr lang="en-US" dirty="0"/>
          </a:p>
          <a:p>
            <a:r>
              <a:rPr lang="en-US" b="1" dirty="0"/>
              <a:t>Q9.</a:t>
            </a:r>
            <a:endParaRPr lang="en-US" dirty="0"/>
          </a:p>
          <a:p>
            <a:r>
              <a:rPr lang="en-US" dirty="0"/>
              <a:t>From a strategic perspective, why do many enterprises adopt a multi-cloud approach?</a:t>
            </a:r>
            <a:endParaRPr lang="en-US" dirty="0">
              <a:ea typeface="Calibri"/>
              <a:cs typeface="Calibri"/>
            </a:endParaRPr>
          </a:p>
          <a:p>
            <a:r>
              <a:rPr lang="en-US" b="1" dirty="0"/>
              <a:t>Correct Answer: b) To reduce dependency on a single provider and optimize cost-performance balance.</a:t>
            </a:r>
            <a:endParaRPr lang="en-US" dirty="0"/>
          </a:p>
          <a:p>
            <a:pPr marL="285750" indent="-285750">
              <a:buFont typeface="Arial"/>
              <a:buChar char="•"/>
            </a:pPr>
            <a:r>
              <a:rPr lang="en-US" dirty="0"/>
              <a:t>Multi-cloud strategy prevents vendor lock-in and increases resilience.</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a) To comply with the NIST cloud definition → NIST doesn’t mandate multi-cloud.</a:t>
            </a:r>
            <a:endParaRPr lang="en-US" dirty="0">
              <a:ea typeface="Calibri"/>
              <a:cs typeface="Calibri"/>
            </a:endParaRPr>
          </a:p>
          <a:p>
            <a:pPr marL="285750" indent="-285750">
              <a:buFont typeface="Arial"/>
              <a:buChar char="•"/>
            </a:pPr>
            <a:r>
              <a:rPr lang="en-US" dirty="0"/>
              <a:t>c) Because single-cloud architectures are illegal → No such legal restriction.</a:t>
            </a:r>
            <a:endParaRPr lang="en-US" dirty="0">
              <a:ea typeface="Calibri"/>
              <a:cs typeface="Calibri"/>
            </a:endParaRPr>
          </a:p>
          <a:p>
            <a:pPr marL="285750" indent="-285750">
              <a:buFont typeface="Arial"/>
              <a:buChar char="•"/>
            </a:pPr>
            <a:r>
              <a:rPr lang="en-US" dirty="0"/>
              <a:t>d) To eliminate the need for disaster recovery → DR planning is still essential.</a:t>
            </a:r>
            <a:endParaRPr lang="en-US" dirty="0">
              <a:ea typeface="Calibri"/>
              <a:cs typeface="Calibri"/>
            </a:endParaRPr>
          </a:p>
          <a:p>
            <a:br>
              <a:rPr lang="en-US" dirty="0"/>
            </a:br>
            <a:endParaRPr lang="en-US" dirty="0"/>
          </a:p>
          <a:p>
            <a:r>
              <a:rPr lang="en-US" b="1" dirty="0"/>
              <a:t>Q10.</a:t>
            </a:r>
            <a:endParaRPr lang="en-US" dirty="0"/>
          </a:p>
          <a:p>
            <a:r>
              <a:rPr lang="en-US" dirty="0"/>
              <a:t>Which of the following reflects a core offering of leading cloud providers such as AWS, Azure, or Google Cloud?</a:t>
            </a:r>
            <a:endParaRPr lang="en-US" dirty="0">
              <a:ea typeface="Calibri"/>
              <a:cs typeface="Calibri"/>
            </a:endParaRPr>
          </a:p>
          <a:p>
            <a:r>
              <a:rPr lang="en-US" b="1" dirty="0"/>
              <a:t>Correct Answer: b) Infrastructure, platform, and software solutions delivered as services.</a:t>
            </a:r>
            <a:endParaRPr lang="en-US" dirty="0"/>
          </a:p>
          <a:p>
            <a:pPr marL="285750" indent="-285750">
              <a:buFont typeface="Arial"/>
              <a:buChar char="•"/>
            </a:pPr>
            <a:r>
              <a:rPr lang="en-US" dirty="0"/>
              <a:t>These are the three foundational models: IaaS, PaaS, SaaS.</a:t>
            </a:r>
            <a:endParaRPr lang="en-US" dirty="0">
              <a:ea typeface="Calibri"/>
              <a:cs typeface="Calibri"/>
            </a:endParaRPr>
          </a:p>
          <a:p>
            <a:r>
              <a:rPr lang="en-US" b="1" dirty="0"/>
              <a:t>Why others are incorrect:</a:t>
            </a:r>
            <a:endParaRPr lang="en-US" dirty="0"/>
          </a:p>
          <a:p>
            <a:pPr marL="285750" indent="-285750">
              <a:buFont typeface="Arial"/>
              <a:buChar char="•"/>
            </a:pPr>
            <a:r>
              <a:rPr lang="en-US" dirty="0"/>
              <a:t>a) Automated payroll services → This is an application, not a cloud service model.</a:t>
            </a:r>
            <a:endParaRPr lang="en-US" dirty="0">
              <a:ea typeface="Calibri"/>
              <a:cs typeface="Calibri"/>
            </a:endParaRPr>
          </a:p>
          <a:p>
            <a:pPr marL="285750" indent="-285750">
              <a:buFont typeface="Arial"/>
              <a:buChar char="•"/>
            </a:pPr>
            <a:r>
              <a:rPr lang="en-US" dirty="0"/>
              <a:t>c) Hardware leasing for on-premises data centers → Cloud avoids physical ownership.</a:t>
            </a:r>
            <a:endParaRPr lang="en-US" dirty="0">
              <a:ea typeface="Calibri"/>
              <a:cs typeface="Calibri"/>
            </a:endParaRPr>
          </a:p>
          <a:p>
            <a:pPr marL="285750" indent="-285750">
              <a:buFont typeface="Arial"/>
              <a:buChar char="•"/>
            </a:pPr>
            <a:r>
              <a:rPr lang="en-US" dirty="0"/>
              <a:t>d) Unlimited free internet access → Internet is required but not provided as a free service.</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B915DDD-8274-4C6C-912B-D92906913F15}" type="slidenum">
              <a:t>3</a:t>
            </a:fld>
            <a:endParaRPr lang="en-US"/>
          </a:p>
        </p:txBody>
      </p:sp>
    </p:spTree>
    <p:extLst>
      <p:ext uri="{BB962C8B-B14F-4D97-AF65-F5344CB8AC3E}">
        <p14:creationId xmlns:p14="http://schemas.microsoft.com/office/powerpoint/2010/main" val="2735718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C5C220-CAE2-4152-96E5-82D6DDDE3BA4}" type="datetimeFigureOut">
              <a:rPr lang="en-AU" smtClean="0"/>
              <a:t>27/09/2025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1205E0B-FCEE-42D4-91AE-6BA933BF1DDF}"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148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9259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1C5C220-CAE2-4152-96E5-82D6DDDE3BA4}" type="datetimeFigureOut">
              <a:rPr lang="en-AU" smtClean="0"/>
              <a:t>27/09/2025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1205E0B-FCEE-42D4-91AE-6BA933BF1DDF}"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057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C5C220-CAE2-4152-96E5-82D6DDDE3BA4}" type="datetimeFigureOut">
              <a:rPr lang="en-AU" smtClean="0"/>
              <a:t>27/09/2025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1828989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C5C220-CAE2-4152-96E5-82D6DDDE3BA4}" type="datetimeFigureOut">
              <a:rPr lang="en-AU" smtClean="0"/>
              <a:t>27/09/2025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386949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C5C220-CAE2-4152-96E5-82D6DDDE3BA4}" type="datetimeFigureOut">
              <a:rPr lang="en-AU" smtClean="0"/>
              <a:t>27/09/2025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188592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1C5C220-CAE2-4152-96E5-82D6DDDE3BA4}" type="datetimeFigureOut">
              <a:rPr lang="en-AU" smtClean="0"/>
              <a:t>27/09/2025</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3748841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1C5C220-CAE2-4152-96E5-82D6DDDE3BA4}" type="datetimeFigureOut">
              <a:rPr lang="en-AU" smtClean="0"/>
              <a:t>27/09/2025</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1205E0B-FCEE-42D4-91AE-6BA933BF1DDF}" type="slidenum">
              <a:rPr lang="en-AU" smtClean="0"/>
              <a:t>‹#›</a:t>
            </a:fld>
            <a:endParaRPr lang="en-AU"/>
          </a:p>
        </p:txBody>
      </p:sp>
    </p:spTree>
    <p:extLst>
      <p:ext uri="{BB962C8B-B14F-4D97-AF65-F5344CB8AC3E}">
        <p14:creationId xmlns:p14="http://schemas.microsoft.com/office/powerpoint/2010/main" val="2829296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1C5C220-CAE2-4152-96E5-82D6DDDE3BA4}" type="datetimeFigureOut">
              <a:rPr lang="en-AU" smtClean="0"/>
              <a:t>27/09/2025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960656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5C220-CAE2-4152-96E5-82D6DDDE3BA4}" type="datetimeFigureOut">
              <a:rPr lang="en-AU" smtClean="0"/>
              <a:t>27/09/2025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338999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5C220-CAE2-4152-96E5-82D6DDDE3BA4}" type="datetimeFigureOut">
              <a:rPr lang="en-AU" smtClean="0"/>
              <a:t>27/09/2025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1205E0B-FCEE-42D4-91AE-6BA933BF1DDF}" type="slidenum">
              <a:rPr lang="en-AU" smtClean="0"/>
              <a:t>‹#›</a:t>
            </a:fld>
            <a:endParaRPr lang="en-AU"/>
          </a:p>
        </p:txBody>
      </p:sp>
    </p:spTree>
    <p:extLst>
      <p:ext uri="{BB962C8B-B14F-4D97-AF65-F5344CB8AC3E}">
        <p14:creationId xmlns:p14="http://schemas.microsoft.com/office/powerpoint/2010/main" val="3501324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1C5C220-CAE2-4152-96E5-82D6DDDE3BA4}" type="datetimeFigureOut">
              <a:rPr lang="en-AU" smtClean="0"/>
              <a:t>27/09/2025</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1205E0B-FCEE-42D4-91AE-6BA933BF1DDF}"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002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aws.amazon.com/solutions/case-studies/airbnb-case-study/?utm_source=chatgpt.com"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A51E5-BAB7-1F1C-2972-895A66C552F2}"/>
              </a:ext>
            </a:extLst>
          </p:cNvPr>
          <p:cNvSpPr>
            <a:spLocks noGrp="1"/>
          </p:cNvSpPr>
          <p:nvPr>
            <p:ph type="ctrTitle"/>
          </p:nvPr>
        </p:nvSpPr>
        <p:spPr/>
        <p:style>
          <a:lnRef idx="2">
            <a:schemeClr val="accent1"/>
          </a:lnRef>
          <a:fillRef idx="1">
            <a:schemeClr val="lt1"/>
          </a:fillRef>
          <a:effectRef idx="0">
            <a:schemeClr val="accent1"/>
          </a:effectRef>
          <a:fontRef idx="minor">
            <a:schemeClr val="dk1"/>
          </a:fontRef>
        </p:style>
        <p:txBody>
          <a:bodyPr/>
          <a:lstStyle/>
          <a:p>
            <a:r>
              <a:rPr lang="en-US" sz="3600" dirty="0">
                <a:solidFill>
                  <a:srgbClr val="FF0000"/>
                </a:solidFill>
                <a:ea typeface="+mj-lt"/>
                <a:cs typeface="+mj-lt"/>
              </a:rPr>
              <a:t>Module 3: Cloud Computing Deployment Models</a:t>
            </a:r>
            <a:endParaRPr lang="en-US" dirty="0">
              <a:solidFill>
                <a:srgbClr val="FF0000"/>
              </a:solidFill>
              <a:ea typeface="Calibri Light"/>
              <a:cs typeface="Calibri Light"/>
            </a:endParaRPr>
          </a:p>
        </p:txBody>
      </p:sp>
    </p:spTree>
    <p:extLst>
      <p:ext uri="{BB962C8B-B14F-4D97-AF65-F5344CB8AC3E}">
        <p14:creationId xmlns:p14="http://schemas.microsoft.com/office/powerpoint/2010/main" val="4092775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C8A3D-BDBD-0753-B6E9-E9C8A5D0D495}"/>
              </a:ext>
            </a:extLst>
          </p:cNvPr>
          <p:cNvSpPr>
            <a:spLocks noGrp="1"/>
          </p:cNvSpPr>
          <p:nvPr>
            <p:ph type="title"/>
          </p:nvPr>
        </p:nvSpPr>
        <p:spPr>
          <a:xfrm>
            <a:off x="1097280" y="286603"/>
            <a:ext cx="10164725" cy="662176"/>
          </a:xfrm>
        </p:spPr>
        <p:txBody>
          <a:bodyPr>
            <a:normAutofit fontScale="90000"/>
          </a:bodyPr>
          <a:lstStyle/>
          <a:p>
            <a:r>
              <a:rPr lang="en-US" dirty="0">
                <a:ea typeface="Calibri Light"/>
                <a:cs typeface="Calibri Light"/>
              </a:rPr>
              <a:t>Quiz for revising on previous work</a:t>
            </a:r>
            <a:endParaRPr lang="en-US" dirty="0"/>
          </a:p>
        </p:txBody>
      </p:sp>
      <p:pic>
        <p:nvPicPr>
          <p:cNvPr id="6" name="Content Placeholder 5" descr="A white paper with black text&#10;&#10;AI-generated content may be incorrect.">
            <a:extLst>
              <a:ext uri="{FF2B5EF4-FFF2-40B4-BE49-F238E27FC236}">
                <a16:creationId xmlns:a16="http://schemas.microsoft.com/office/drawing/2014/main" id="{C0B2E857-0059-2338-BAB8-56BC13ACF171}"/>
              </a:ext>
            </a:extLst>
          </p:cNvPr>
          <p:cNvPicPr>
            <a:picLocks noGrp="1" noChangeAspect="1"/>
          </p:cNvPicPr>
          <p:nvPr>
            <p:ph idx="1"/>
          </p:nvPr>
        </p:nvPicPr>
        <p:blipFill>
          <a:blip r:embed="rId3"/>
          <a:stretch>
            <a:fillRect/>
          </a:stretch>
        </p:blipFill>
        <p:spPr>
          <a:xfrm>
            <a:off x="1439716" y="888804"/>
            <a:ext cx="9125435" cy="5520778"/>
          </a:xfrm>
          <a:prstGeom prst="rect">
            <a:avLst/>
          </a:prstGeom>
        </p:spPr>
      </p:pic>
    </p:spTree>
    <p:extLst>
      <p:ext uri="{BB962C8B-B14F-4D97-AF65-F5344CB8AC3E}">
        <p14:creationId xmlns:p14="http://schemas.microsoft.com/office/powerpoint/2010/main" val="191316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34538-4D36-2C06-3AD7-CF45EE0F88D8}"/>
              </a:ext>
            </a:extLst>
          </p:cNvPr>
          <p:cNvSpPr>
            <a:spLocks noGrp="1"/>
          </p:cNvSpPr>
          <p:nvPr>
            <p:ph type="title"/>
          </p:nvPr>
        </p:nvSpPr>
        <p:spPr>
          <a:xfrm>
            <a:off x="1097280" y="286603"/>
            <a:ext cx="9721703" cy="892548"/>
          </a:xfrm>
        </p:spPr>
        <p:txBody>
          <a:bodyPr>
            <a:normAutofit fontScale="90000"/>
          </a:bodyPr>
          <a:lstStyle/>
          <a:p>
            <a:r>
              <a:rPr lang="en-US" dirty="0">
                <a:ea typeface="Calibri Light"/>
                <a:cs typeface="Calibri Light"/>
              </a:rPr>
              <a:t>Continued . . . . </a:t>
            </a:r>
            <a:br>
              <a:rPr lang="en-US" dirty="0">
                <a:ea typeface="Calibri Light"/>
                <a:cs typeface="Calibri Light"/>
              </a:rPr>
            </a:br>
            <a:endParaRPr lang="en-US"/>
          </a:p>
        </p:txBody>
      </p:sp>
      <p:pic>
        <p:nvPicPr>
          <p:cNvPr id="4" name="Picture 3" descr="A close-up of a question&#10;&#10;AI-generated content may be incorrect.">
            <a:extLst>
              <a:ext uri="{FF2B5EF4-FFF2-40B4-BE49-F238E27FC236}">
                <a16:creationId xmlns:a16="http://schemas.microsoft.com/office/drawing/2014/main" id="{A82F6A29-4516-0A95-63E2-0AED32707CB1}"/>
              </a:ext>
            </a:extLst>
          </p:cNvPr>
          <p:cNvPicPr>
            <a:picLocks noChangeAspect="1"/>
          </p:cNvPicPr>
          <p:nvPr/>
        </p:nvPicPr>
        <p:blipFill>
          <a:blip r:embed="rId3"/>
          <a:stretch>
            <a:fillRect/>
          </a:stretch>
        </p:blipFill>
        <p:spPr>
          <a:xfrm>
            <a:off x="901280" y="567070"/>
            <a:ext cx="10389441" cy="6007396"/>
          </a:xfrm>
          <a:prstGeom prst="rect">
            <a:avLst/>
          </a:prstGeom>
        </p:spPr>
      </p:pic>
    </p:spTree>
    <p:extLst>
      <p:ext uri="{BB962C8B-B14F-4D97-AF65-F5344CB8AC3E}">
        <p14:creationId xmlns:p14="http://schemas.microsoft.com/office/powerpoint/2010/main" val="324642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1A21-5A37-4ED2-9F06-3FD9A61FA204}"/>
              </a:ext>
            </a:extLst>
          </p:cNvPr>
          <p:cNvSpPr>
            <a:spLocks noGrp="1"/>
          </p:cNvSpPr>
          <p:nvPr>
            <p:ph type="title"/>
          </p:nvPr>
        </p:nvSpPr>
        <p:spPr/>
        <p:txBody>
          <a:bodyPr/>
          <a:lstStyle/>
          <a:p>
            <a:r>
              <a:rPr lang="en-AU" dirty="0"/>
              <a:t> off-premises versus on-premises cloud computing </a:t>
            </a:r>
          </a:p>
        </p:txBody>
      </p:sp>
      <p:pic>
        <p:nvPicPr>
          <p:cNvPr id="2050" name="Picture 2" descr="SoA deployed on off-premises versus on-premises cloud computing | Download  Scientific Diagram">
            <a:extLst>
              <a:ext uri="{FF2B5EF4-FFF2-40B4-BE49-F238E27FC236}">
                <a16:creationId xmlns:a16="http://schemas.microsoft.com/office/drawing/2014/main" id="{461CD766-03F1-4C3E-B8B6-D7CC5EA66F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3392" y="1819656"/>
            <a:ext cx="8001000" cy="383133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9834740-2551-4248-BD1C-2B0EC2CE15D6}"/>
              </a:ext>
            </a:extLst>
          </p:cNvPr>
          <p:cNvSpPr/>
          <p:nvPr/>
        </p:nvSpPr>
        <p:spPr>
          <a:xfrm>
            <a:off x="6096000" y="6062472"/>
            <a:ext cx="5471160" cy="215444"/>
          </a:xfrm>
          <a:prstGeom prst="rect">
            <a:avLst/>
          </a:prstGeom>
        </p:spPr>
        <p:txBody>
          <a:bodyPr wrap="square">
            <a:spAutoFit/>
          </a:bodyPr>
          <a:lstStyle/>
          <a:p>
            <a:r>
              <a:rPr lang="en-AU" sz="800" dirty="0"/>
              <a:t>https://www.researchgate.net/figure/SoA-deployed-on-off-premises-versus-on-premises-cloud-computing_fig1_262374267</a:t>
            </a:r>
          </a:p>
        </p:txBody>
      </p:sp>
    </p:spTree>
    <p:extLst>
      <p:ext uri="{BB962C8B-B14F-4D97-AF65-F5344CB8AC3E}">
        <p14:creationId xmlns:p14="http://schemas.microsoft.com/office/powerpoint/2010/main" val="565306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Deployment Models</a:t>
            </a:r>
          </a:p>
        </p:txBody>
      </p:sp>
      <p:sp>
        <p:nvSpPr>
          <p:cNvPr id="6" name="Content Placeholder 5">
            <a:extLst>
              <a:ext uri="{FF2B5EF4-FFF2-40B4-BE49-F238E27FC236}">
                <a16:creationId xmlns:a16="http://schemas.microsoft.com/office/drawing/2014/main" id="{5E509CF4-196E-4526-A204-B1662E019EC6}"/>
              </a:ext>
            </a:extLst>
          </p:cNvPr>
          <p:cNvSpPr>
            <a:spLocks noGrp="1"/>
          </p:cNvSpPr>
          <p:nvPr>
            <p:ph idx="1"/>
          </p:nvPr>
        </p:nvSpPr>
        <p:spPr>
          <a:xfrm>
            <a:off x="570538" y="2325757"/>
            <a:ext cx="11068184" cy="4283765"/>
          </a:xfrm>
        </p:spPr>
        <p:txBody>
          <a:bodyPr/>
          <a:lstStyle/>
          <a:p>
            <a:pPr algn="just">
              <a:lnSpc>
                <a:spcPct val="150000"/>
              </a:lnSpc>
            </a:pPr>
            <a:r>
              <a:rPr lang="en-AU" dirty="0">
                <a:latin typeface="Arial" panose="020B0604020202020204" pitchFamily="34" charset="0"/>
                <a:cs typeface="Arial" panose="020B0604020202020204" pitchFamily="34" charset="0"/>
              </a:rPr>
              <a:t>Following Fig. shows the NIST visual model of cloud computing.</a:t>
            </a:r>
          </a:p>
        </p:txBody>
      </p:sp>
      <p:pic>
        <p:nvPicPr>
          <p:cNvPr id="3" name="Picture 2">
            <a:extLst>
              <a:ext uri="{FF2B5EF4-FFF2-40B4-BE49-F238E27FC236}">
                <a16:creationId xmlns:a16="http://schemas.microsoft.com/office/drawing/2014/main" id="{8F4FAE1A-01F3-4D2A-B724-2E57A16AB391}"/>
              </a:ext>
            </a:extLst>
          </p:cNvPr>
          <p:cNvPicPr>
            <a:picLocks noChangeAspect="1"/>
          </p:cNvPicPr>
          <p:nvPr/>
        </p:nvPicPr>
        <p:blipFill>
          <a:blip r:embed="rId2"/>
          <a:stretch>
            <a:fillRect/>
          </a:stretch>
        </p:blipFill>
        <p:spPr>
          <a:xfrm>
            <a:off x="2175567" y="2773017"/>
            <a:ext cx="7266607" cy="3349488"/>
          </a:xfrm>
          <a:prstGeom prst="rect">
            <a:avLst/>
          </a:prstGeom>
        </p:spPr>
      </p:pic>
    </p:spTree>
    <p:extLst>
      <p:ext uri="{BB962C8B-B14F-4D97-AF65-F5344CB8AC3E}">
        <p14:creationId xmlns:p14="http://schemas.microsoft.com/office/powerpoint/2010/main" val="943413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Public cloud</a:t>
            </a:r>
          </a:p>
        </p:txBody>
      </p:sp>
      <p:sp>
        <p:nvSpPr>
          <p:cNvPr id="6" name="Content Placeholder 5">
            <a:extLst>
              <a:ext uri="{FF2B5EF4-FFF2-40B4-BE49-F238E27FC236}">
                <a16:creationId xmlns:a16="http://schemas.microsoft.com/office/drawing/2014/main" id="{5E509CF4-196E-4526-A204-B1662E019EC6}"/>
              </a:ext>
            </a:extLst>
          </p:cNvPr>
          <p:cNvSpPr>
            <a:spLocks noGrp="1"/>
          </p:cNvSpPr>
          <p:nvPr>
            <p:ph idx="1"/>
          </p:nvPr>
        </p:nvSpPr>
        <p:spPr>
          <a:xfrm>
            <a:off x="570538" y="2325757"/>
            <a:ext cx="11068184" cy="3694043"/>
          </a:xfrm>
        </p:spPr>
        <p:txBody>
          <a:bodyPr/>
          <a:lstStyle/>
          <a:p>
            <a:pPr algn="just">
              <a:lnSpc>
                <a:spcPct val="150000"/>
              </a:lnSpc>
            </a:pPr>
            <a:r>
              <a:rPr lang="en-AU" dirty="0">
                <a:latin typeface="Arial" panose="020B0604020202020204" pitchFamily="34" charset="0"/>
                <a:cs typeface="Arial" panose="020B0604020202020204" pitchFamily="34" charset="0"/>
              </a:rPr>
              <a:t>A public cloud is a multitenant environment where the end user pays for usage of resources on a shared grid of commodity resources alongside other customers.</a:t>
            </a:r>
          </a:p>
          <a:p>
            <a:pPr algn="just">
              <a:lnSpc>
                <a:spcPct val="150000"/>
              </a:lnSpc>
            </a:pPr>
            <a:r>
              <a:rPr lang="en-AU" dirty="0">
                <a:latin typeface="Arial" panose="020B0604020202020204" pitchFamily="34" charset="0"/>
                <a:cs typeface="Arial" panose="020B0604020202020204" pitchFamily="34" charset="0"/>
              </a:rPr>
              <a:t>The end users have no visibility into the physical location of where their software is running other than where the data centre is located.</a:t>
            </a:r>
          </a:p>
        </p:txBody>
      </p:sp>
    </p:spTree>
    <p:extLst>
      <p:ext uri="{BB962C8B-B14F-4D97-AF65-F5344CB8AC3E}">
        <p14:creationId xmlns:p14="http://schemas.microsoft.com/office/powerpoint/2010/main" val="162684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Public cloud</a:t>
            </a:r>
          </a:p>
        </p:txBody>
      </p:sp>
      <p:sp>
        <p:nvSpPr>
          <p:cNvPr id="6" name="Content Placeholder 5">
            <a:extLst>
              <a:ext uri="{FF2B5EF4-FFF2-40B4-BE49-F238E27FC236}">
                <a16:creationId xmlns:a16="http://schemas.microsoft.com/office/drawing/2014/main" id="{5E509CF4-196E-4526-A204-B1662E019EC6}"/>
              </a:ext>
            </a:extLst>
          </p:cNvPr>
          <p:cNvSpPr>
            <a:spLocks noGrp="1"/>
          </p:cNvSpPr>
          <p:nvPr>
            <p:ph idx="1"/>
          </p:nvPr>
        </p:nvSpPr>
        <p:spPr>
          <a:xfrm>
            <a:off x="570538" y="1860699"/>
            <a:ext cx="11068184" cy="4359348"/>
          </a:xfrm>
        </p:spPr>
        <p:txBody>
          <a:bodyPr>
            <a:normAutofit fontScale="92500" lnSpcReduction="10000"/>
          </a:bodyPr>
          <a:lstStyle/>
          <a:p>
            <a:pPr algn="just">
              <a:lnSpc>
                <a:spcPct val="150000"/>
              </a:lnSpc>
              <a:buFont typeface="Wingdings" panose="05000000000000000000" pitchFamily="2" charset="2"/>
              <a:buChar char="q"/>
            </a:pPr>
            <a:r>
              <a:rPr lang="en-AU" dirty="0">
                <a:latin typeface="Arial" panose="020B0604020202020204" pitchFamily="34" charset="0"/>
                <a:cs typeface="Arial" panose="020B0604020202020204" pitchFamily="34" charset="0"/>
              </a:rPr>
              <a:t>Gmail, Google Drive are examples of public cloud services. Here we are listing various services provided by public cloud companies in the market:</a:t>
            </a:r>
          </a:p>
          <a:p>
            <a:pPr algn="just">
              <a:lnSpc>
                <a:spcPct val="150000"/>
              </a:lnSpc>
              <a:buFont typeface="Wingdings" panose="05000000000000000000" pitchFamily="2" charset="2"/>
              <a:buChar char="Ø"/>
            </a:pPr>
            <a:r>
              <a:rPr lang="en-AU" dirty="0">
                <a:latin typeface="Arial" panose="020B0604020202020204" pitchFamily="34" charset="0"/>
                <a:cs typeface="Arial" panose="020B0604020202020204" pitchFamily="34" charset="0"/>
              </a:rPr>
              <a:t>Microsoft Azure ExpressRoute</a:t>
            </a:r>
          </a:p>
          <a:p>
            <a:pPr algn="just">
              <a:lnSpc>
                <a:spcPct val="150000"/>
              </a:lnSpc>
              <a:buFont typeface="Wingdings" panose="05000000000000000000" pitchFamily="2" charset="2"/>
              <a:buChar char="Ø"/>
            </a:pPr>
            <a:r>
              <a:rPr lang="en-AU" dirty="0">
                <a:latin typeface="Arial" panose="020B0604020202020204" pitchFamily="34" charset="0"/>
                <a:cs typeface="Arial" panose="020B0604020202020204" pitchFamily="34" charset="0"/>
              </a:rPr>
              <a:t>Google Cloud Interconnect</a:t>
            </a:r>
          </a:p>
          <a:p>
            <a:pPr algn="just">
              <a:lnSpc>
                <a:spcPct val="150000"/>
              </a:lnSpc>
              <a:buFont typeface="Wingdings" panose="05000000000000000000" pitchFamily="2" charset="2"/>
              <a:buChar char="Ø"/>
            </a:pPr>
            <a:r>
              <a:rPr lang="en-AU" dirty="0">
                <a:latin typeface="Arial" panose="020B0604020202020204" pitchFamily="34" charset="0"/>
                <a:cs typeface="Arial" panose="020B0604020202020204" pitchFamily="34" charset="0"/>
              </a:rPr>
              <a:t>AWS Direct Connect</a:t>
            </a:r>
          </a:p>
          <a:p>
            <a:pPr algn="just">
              <a:lnSpc>
                <a:spcPct val="150000"/>
              </a:lnSpc>
              <a:buFont typeface="Wingdings" panose="05000000000000000000" pitchFamily="2" charset="2"/>
              <a:buChar char="Ø"/>
            </a:pPr>
            <a:r>
              <a:rPr lang="en-AU" dirty="0">
                <a:latin typeface="Arial" panose="020B0604020202020204" pitchFamily="34" charset="0"/>
                <a:cs typeface="Arial" panose="020B0604020202020204" pitchFamily="34" charset="0"/>
              </a:rPr>
              <a:t>Blue cloud by IBM</a:t>
            </a:r>
          </a:p>
          <a:p>
            <a:pPr algn="just">
              <a:lnSpc>
                <a:spcPct val="150000"/>
              </a:lnSpc>
              <a:buFont typeface="Wingdings" panose="05000000000000000000" pitchFamily="2" charset="2"/>
              <a:buChar char="Ø"/>
            </a:pPr>
            <a:r>
              <a:rPr lang="en-AU" dirty="0">
                <a:latin typeface="Arial" panose="020B0604020202020204" pitchFamily="34" charset="0"/>
                <a:cs typeface="Arial" panose="020B0604020202020204" pitchFamily="34" charset="0"/>
              </a:rPr>
              <a:t>Alibaba Cloud</a:t>
            </a:r>
          </a:p>
          <a:p>
            <a:pPr algn="just">
              <a:lnSpc>
                <a:spcPct val="150000"/>
              </a:lnSpc>
              <a:buFont typeface="Wingdings" panose="05000000000000000000" pitchFamily="2" charset="2"/>
              <a:buChar char="Ø"/>
            </a:pPr>
            <a:r>
              <a:rPr lang="en-AU" dirty="0">
                <a:latin typeface="Arial" panose="020B0604020202020204" pitchFamily="34" charset="0"/>
                <a:cs typeface="Arial" panose="020B0604020202020204" pitchFamily="34" charset="0"/>
              </a:rPr>
              <a:t>Oracle Cloud </a:t>
            </a:r>
            <a:r>
              <a:rPr lang="en-AU" dirty="0" err="1">
                <a:latin typeface="Arial" panose="020B0604020202020204" pitchFamily="34" charset="0"/>
                <a:cs typeface="Arial" panose="020B0604020202020204" pitchFamily="34" charset="0"/>
              </a:rPr>
              <a:t>FastConnect</a:t>
            </a:r>
            <a:r>
              <a:rPr lang="en-AU"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273209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00075-CC8B-4758-9C84-22BDD3812684}"/>
              </a:ext>
            </a:extLst>
          </p:cNvPr>
          <p:cNvSpPr>
            <a:spLocks noGrp="1"/>
          </p:cNvSpPr>
          <p:nvPr>
            <p:ph type="title"/>
          </p:nvPr>
        </p:nvSpPr>
        <p:spPr/>
        <p:txBody>
          <a:bodyPr/>
          <a:lstStyle/>
          <a:p>
            <a:r>
              <a:rPr lang="en-AU" dirty="0"/>
              <a:t>Benefits of Public Cloud</a:t>
            </a:r>
          </a:p>
        </p:txBody>
      </p:sp>
      <p:sp>
        <p:nvSpPr>
          <p:cNvPr id="3" name="Content Placeholder 2">
            <a:extLst>
              <a:ext uri="{FF2B5EF4-FFF2-40B4-BE49-F238E27FC236}">
                <a16:creationId xmlns:a16="http://schemas.microsoft.com/office/drawing/2014/main" id="{09B1FD3C-C437-42CF-8ACA-1B29990FE445}"/>
              </a:ext>
            </a:extLst>
          </p:cNvPr>
          <p:cNvSpPr>
            <a:spLocks noGrp="1"/>
          </p:cNvSpPr>
          <p:nvPr>
            <p:ph idx="1"/>
          </p:nvPr>
        </p:nvSpPr>
        <p:spPr>
          <a:xfrm>
            <a:off x="563525" y="1845734"/>
            <a:ext cx="11302409" cy="4438108"/>
          </a:xfrm>
        </p:spPr>
        <p:txBody>
          <a:bodyPr>
            <a:normAutofit/>
          </a:bodyPr>
          <a:lstStyle/>
          <a:p>
            <a:pPr algn="just">
              <a:lnSpc>
                <a:spcPct val="150000"/>
              </a:lnSpc>
              <a:buFont typeface="Wingdings" panose="05000000000000000000" pitchFamily="2" charset="2"/>
              <a:buChar char="q"/>
            </a:pPr>
            <a:r>
              <a:rPr lang="en-AU" dirty="0"/>
              <a:t>Availability</a:t>
            </a:r>
          </a:p>
          <a:p>
            <a:pPr algn="just">
              <a:lnSpc>
                <a:spcPct val="150000"/>
              </a:lnSpc>
              <a:buFont typeface="Wingdings" panose="05000000000000000000" pitchFamily="2" charset="2"/>
              <a:buChar char="q"/>
            </a:pPr>
            <a:r>
              <a:rPr lang="en-AU" dirty="0"/>
              <a:t>Scalability </a:t>
            </a:r>
          </a:p>
          <a:p>
            <a:pPr algn="just">
              <a:lnSpc>
                <a:spcPct val="150000"/>
              </a:lnSpc>
              <a:buFont typeface="Wingdings" panose="05000000000000000000" pitchFamily="2" charset="2"/>
              <a:buChar char="q"/>
            </a:pPr>
            <a:r>
              <a:rPr lang="en-AU" dirty="0"/>
              <a:t>Accessibility.</a:t>
            </a:r>
          </a:p>
          <a:p>
            <a:pPr algn="just">
              <a:lnSpc>
                <a:spcPct val="150000"/>
              </a:lnSpc>
              <a:buFont typeface="Wingdings" panose="05000000000000000000" pitchFamily="2" charset="2"/>
              <a:buChar char="q"/>
            </a:pPr>
            <a:r>
              <a:rPr lang="en-AU" dirty="0"/>
              <a:t>Cost Savings</a:t>
            </a:r>
          </a:p>
        </p:txBody>
      </p:sp>
    </p:spTree>
    <p:extLst>
      <p:ext uri="{BB962C8B-B14F-4D97-AF65-F5344CB8AC3E}">
        <p14:creationId xmlns:p14="http://schemas.microsoft.com/office/powerpoint/2010/main" val="54723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931E-B37F-4AAD-A629-27825428DCBC}"/>
              </a:ext>
            </a:extLst>
          </p:cNvPr>
          <p:cNvSpPr>
            <a:spLocks noGrp="1"/>
          </p:cNvSpPr>
          <p:nvPr>
            <p:ph type="title"/>
          </p:nvPr>
        </p:nvSpPr>
        <p:spPr/>
        <p:txBody>
          <a:bodyPr/>
          <a:lstStyle/>
          <a:p>
            <a:r>
              <a:rPr lang="en-AU" dirty="0"/>
              <a:t>Drawbacks of Public Cloud</a:t>
            </a:r>
          </a:p>
        </p:txBody>
      </p:sp>
      <p:sp>
        <p:nvSpPr>
          <p:cNvPr id="3" name="Content Placeholder 2">
            <a:extLst>
              <a:ext uri="{FF2B5EF4-FFF2-40B4-BE49-F238E27FC236}">
                <a16:creationId xmlns:a16="http://schemas.microsoft.com/office/drawing/2014/main" id="{9A7FF813-9CC5-47C9-A81A-C0C5A1F92170}"/>
              </a:ext>
            </a:extLst>
          </p:cNvPr>
          <p:cNvSpPr>
            <a:spLocks noGrp="1"/>
          </p:cNvSpPr>
          <p:nvPr>
            <p:ph idx="1"/>
          </p:nvPr>
        </p:nvSpPr>
        <p:spPr>
          <a:xfrm>
            <a:off x="595423" y="1845734"/>
            <a:ext cx="10898372" cy="4023360"/>
          </a:xfrm>
        </p:spPr>
        <p:txBody>
          <a:bodyPr/>
          <a:lstStyle/>
          <a:p>
            <a:pPr algn="just">
              <a:lnSpc>
                <a:spcPct val="150000"/>
              </a:lnSpc>
              <a:buFont typeface="Wingdings" panose="05000000000000000000" pitchFamily="2" charset="2"/>
              <a:buChar char="q"/>
            </a:pPr>
            <a:r>
              <a:rPr lang="en-AU" dirty="0"/>
              <a:t>Integration Limitations:</a:t>
            </a:r>
          </a:p>
          <a:p>
            <a:pPr algn="just">
              <a:lnSpc>
                <a:spcPct val="150000"/>
              </a:lnSpc>
              <a:buFont typeface="Wingdings" panose="05000000000000000000" pitchFamily="2" charset="2"/>
              <a:buChar char="q"/>
            </a:pPr>
            <a:r>
              <a:rPr lang="en-AU" dirty="0"/>
              <a:t>Reduced Flexibility</a:t>
            </a:r>
          </a:p>
          <a:p>
            <a:pPr algn="just">
              <a:lnSpc>
                <a:spcPct val="150000"/>
              </a:lnSpc>
              <a:buFont typeface="Wingdings" panose="05000000000000000000" pitchFamily="2" charset="2"/>
              <a:buChar char="q"/>
            </a:pPr>
            <a:r>
              <a:rPr lang="en-AU" dirty="0"/>
              <a:t>Forced Downtime</a:t>
            </a:r>
          </a:p>
          <a:p>
            <a:pPr marL="0" indent="0" algn="just">
              <a:lnSpc>
                <a:spcPct val="150000"/>
              </a:lnSpc>
              <a:buNone/>
            </a:pPr>
            <a:endParaRPr lang="en-AU" dirty="0"/>
          </a:p>
          <a:p>
            <a:pPr algn="just">
              <a:lnSpc>
                <a:spcPct val="150000"/>
              </a:lnSpc>
              <a:buFont typeface="Wingdings" panose="05000000000000000000" pitchFamily="2" charset="2"/>
              <a:buChar char="q"/>
            </a:pPr>
            <a:endParaRPr lang="en-AU" dirty="0"/>
          </a:p>
        </p:txBody>
      </p:sp>
    </p:spTree>
    <p:extLst>
      <p:ext uri="{BB962C8B-B14F-4D97-AF65-F5344CB8AC3E}">
        <p14:creationId xmlns:p14="http://schemas.microsoft.com/office/powerpoint/2010/main" val="1489731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931E-B37F-4AAD-A629-27825428DCBC}"/>
              </a:ext>
            </a:extLst>
          </p:cNvPr>
          <p:cNvSpPr>
            <a:spLocks noGrp="1"/>
          </p:cNvSpPr>
          <p:nvPr>
            <p:ph type="title"/>
          </p:nvPr>
        </p:nvSpPr>
        <p:spPr/>
        <p:txBody>
          <a:bodyPr/>
          <a:lstStyle/>
          <a:p>
            <a:r>
              <a:rPr lang="en-AU" dirty="0"/>
              <a:t>Responsibilities of Public Cloud</a:t>
            </a:r>
          </a:p>
        </p:txBody>
      </p:sp>
      <p:sp>
        <p:nvSpPr>
          <p:cNvPr id="3" name="Content Placeholder 2">
            <a:extLst>
              <a:ext uri="{FF2B5EF4-FFF2-40B4-BE49-F238E27FC236}">
                <a16:creationId xmlns:a16="http://schemas.microsoft.com/office/drawing/2014/main" id="{9A7FF813-9CC5-47C9-A81A-C0C5A1F92170}"/>
              </a:ext>
            </a:extLst>
          </p:cNvPr>
          <p:cNvSpPr>
            <a:spLocks noGrp="1"/>
          </p:cNvSpPr>
          <p:nvPr>
            <p:ph idx="1"/>
          </p:nvPr>
        </p:nvSpPr>
        <p:spPr>
          <a:xfrm>
            <a:off x="595423" y="1845733"/>
            <a:ext cx="10898372" cy="4342415"/>
          </a:xfrm>
        </p:spPr>
        <p:txBody>
          <a:bodyPr>
            <a:normAutofit/>
          </a:bodyPr>
          <a:lstStyle/>
          <a:p>
            <a:pPr algn="just">
              <a:lnSpc>
                <a:spcPct val="150000"/>
              </a:lnSpc>
              <a:buFont typeface="Wingdings" panose="05000000000000000000" pitchFamily="2" charset="2"/>
              <a:buChar char="q"/>
            </a:pPr>
            <a:r>
              <a:rPr lang="en-AU" dirty="0"/>
              <a:t>In a public cloud, the service provider is responsible for all the components needed to implement the service. </a:t>
            </a:r>
          </a:p>
          <a:p>
            <a:pPr algn="just">
              <a:lnSpc>
                <a:spcPct val="150000"/>
              </a:lnSpc>
              <a:buFont typeface="Wingdings" panose="05000000000000000000" pitchFamily="2" charset="2"/>
              <a:buChar char="q"/>
            </a:pPr>
            <a:r>
              <a:rPr lang="en-AU" dirty="0"/>
              <a:t>The customer is responsible for installing the client-side application and ensuring that it is functioning properly.</a:t>
            </a:r>
          </a:p>
          <a:p>
            <a:pPr algn="just">
              <a:lnSpc>
                <a:spcPct val="150000"/>
              </a:lnSpc>
              <a:buFont typeface="Wingdings" panose="05000000000000000000" pitchFamily="2" charset="2"/>
              <a:buChar char="q"/>
            </a:pPr>
            <a:r>
              <a:rPr lang="en-AU" dirty="0"/>
              <a:t>The customer is responsible for general client maintenance.</a:t>
            </a:r>
          </a:p>
          <a:p>
            <a:pPr algn="just">
              <a:lnSpc>
                <a:spcPct val="150000"/>
              </a:lnSpc>
              <a:buFont typeface="Wingdings" panose="05000000000000000000" pitchFamily="2" charset="2"/>
              <a:buChar char="q"/>
            </a:pPr>
            <a:r>
              <a:rPr lang="en-AU" dirty="0"/>
              <a:t>The customer is also responsible for providing network connectivity to the provider. </a:t>
            </a:r>
          </a:p>
        </p:txBody>
      </p:sp>
    </p:spTree>
    <p:extLst>
      <p:ext uri="{BB962C8B-B14F-4D97-AF65-F5344CB8AC3E}">
        <p14:creationId xmlns:p14="http://schemas.microsoft.com/office/powerpoint/2010/main" val="3148421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4337-D5C5-4FF2-85C0-327A92DAAD03}"/>
              </a:ext>
            </a:extLst>
          </p:cNvPr>
          <p:cNvSpPr>
            <a:spLocks noGrp="1"/>
          </p:cNvSpPr>
          <p:nvPr>
            <p:ph type="title"/>
          </p:nvPr>
        </p:nvSpPr>
        <p:spPr/>
        <p:txBody>
          <a:bodyPr/>
          <a:lstStyle/>
          <a:p>
            <a:r>
              <a:rPr lang="en-AU" dirty="0"/>
              <a:t>Security Considerations</a:t>
            </a:r>
          </a:p>
        </p:txBody>
      </p:sp>
      <p:sp>
        <p:nvSpPr>
          <p:cNvPr id="3" name="Content Placeholder 2">
            <a:extLst>
              <a:ext uri="{FF2B5EF4-FFF2-40B4-BE49-F238E27FC236}">
                <a16:creationId xmlns:a16="http://schemas.microsoft.com/office/drawing/2014/main" id="{A4BB518D-1117-4615-BB90-B751685DBE32}"/>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Ensuring security is especially difficult in public cloud scenarios.</a:t>
            </a:r>
          </a:p>
          <a:p>
            <a:pPr algn="just">
              <a:lnSpc>
                <a:spcPct val="150000"/>
              </a:lnSpc>
              <a:buFont typeface="Wingdings" panose="05000000000000000000" pitchFamily="2" charset="2"/>
              <a:buChar char="q"/>
            </a:pPr>
            <a:r>
              <a:rPr lang="en-AU" dirty="0"/>
              <a:t>Data</a:t>
            </a:r>
          </a:p>
          <a:p>
            <a:pPr algn="just">
              <a:lnSpc>
                <a:spcPct val="150000"/>
              </a:lnSpc>
              <a:buFont typeface="Wingdings" panose="05000000000000000000" pitchFamily="2" charset="2"/>
              <a:buChar char="q"/>
            </a:pPr>
            <a:r>
              <a:rPr lang="en-AU" dirty="0"/>
              <a:t>There is also an issue with data access. Theoretically, anyone who works at the service provider could potentially have access to your data.</a:t>
            </a:r>
          </a:p>
          <a:p>
            <a:pPr algn="just">
              <a:lnSpc>
                <a:spcPct val="150000"/>
              </a:lnSpc>
              <a:buFont typeface="Wingdings" panose="05000000000000000000" pitchFamily="2" charset="2"/>
              <a:buChar char="q"/>
            </a:pPr>
            <a:r>
              <a:rPr lang="en-AU" dirty="0"/>
              <a:t>Compliance</a:t>
            </a:r>
          </a:p>
          <a:p>
            <a:pPr algn="just">
              <a:lnSpc>
                <a:spcPct val="150000"/>
              </a:lnSpc>
              <a:buFont typeface="Wingdings" panose="05000000000000000000" pitchFamily="2" charset="2"/>
              <a:buChar char="q"/>
            </a:pPr>
            <a:r>
              <a:rPr lang="en-AU" dirty="0"/>
              <a:t>Auditing</a:t>
            </a:r>
          </a:p>
          <a:p>
            <a:pPr marL="0" indent="0" algn="just">
              <a:lnSpc>
                <a:spcPct val="150000"/>
              </a:lnSpc>
              <a:buNone/>
            </a:pPr>
            <a:endParaRPr lang="en-AU" dirty="0"/>
          </a:p>
        </p:txBody>
      </p:sp>
    </p:spTree>
    <p:extLst>
      <p:ext uri="{BB962C8B-B14F-4D97-AF65-F5344CB8AC3E}">
        <p14:creationId xmlns:p14="http://schemas.microsoft.com/office/powerpoint/2010/main" val="782065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Private cloud</a:t>
            </a:r>
          </a:p>
        </p:txBody>
      </p:sp>
      <p:sp>
        <p:nvSpPr>
          <p:cNvPr id="6" name="Content Placeholder 5">
            <a:extLst>
              <a:ext uri="{FF2B5EF4-FFF2-40B4-BE49-F238E27FC236}">
                <a16:creationId xmlns:a16="http://schemas.microsoft.com/office/drawing/2014/main" id="{5E509CF4-196E-4526-A204-B1662E019EC6}"/>
              </a:ext>
            </a:extLst>
          </p:cNvPr>
          <p:cNvSpPr>
            <a:spLocks noGrp="1"/>
          </p:cNvSpPr>
          <p:nvPr>
            <p:ph idx="1"/>
          </p:nvPr>
        </p:nvSpPr>
        <p:spPr>
          <a:xfrm>
            <a:off x="561908" y="1900455"/>
            <a:ext cx="11068184" cy="4293704"/>
          </a:xfrm>
        </p:spPr>
        <p:txBody>
          <a:bodyPr>
            <a:normAutofit/>
          </a:bodyPr>
          <a:lstStyle/>
          <a:p>
            <a:pPr algn="just">
              <a:lnSpc>
                <a:spcPct val="150000"/>
              </a:lnSpc>
            </a:pPr>
            <a:r>
              <a:rPr lang="en-AU" dirty="0">
                <a:latin typeface="Arial" panose="020B0604020202020204" pitchFamily="34" charset="0"/>
                <a:cs typeface="Arial" panose="020B0604020202020204" pitchFamily="34" charset="0"/>
              </a:rPr>
              <a:t>The cloud infrastructure is provisioned for exclusive use by a single organization comprising multiple consumers (e.g., business units). </a:t>
            </a:r>
          </a:p>
          <a:p>
            <a:pPr algn="just">
              <a:lnSpc>
                <a:spcPct val="150000"/>
              </a:lnSpc>
            </a:pPr>
            <a:r>
              <a:rPr lang="en-AU" dirty="0">
                <a:latin typeface="Arial" panose="020B0604020202020204" pitchFamily="34" charset="0"/>
                <a:cs typeface="Arial" panose="020B0604020202020204" pitchFamily="34" charset="0"/>
              </a:rPr>
              <a:t>The advantage of a private cloud is that it addresses the disadvantages of the public cloud defined earlier</a:t>
            </a:r>
          </a:p>
          <a:p>
            <a:pPr algn="just">
              <a:lnSpc>
                <a:spcPct val="150000"/>
              </a:lnSpc>
            </a:pPr>
            <a:r>
              <a:rPr lang="en-AU" dirty="0">
                <a:latin typeface="Arial" panose="020B0604020202020204" pitchFamily="34" charset="0"/>
                <a:cs typeface="Arial" panose="020B0604020202020204" pitchFamily="34" charset="0"/>
              </a:rPr>
              <a:t>Private cloud end users deploy on a single-tenant environment and are not combined with other customers.</a:t>
            </a:r>
          </a:p>
        </p:txBody>
      </p:sp>
    </p:spTree>
    <p:extLst>
      <p:ext uri="{BB962C8B-B14F-4D97-AF65-F5344CB8AC3E}">
        <p14:creationId xmlns:p14="http://schemas.microsoft.com/office/powerpoint/2010/main" val="3374846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863E-6E7B-4B15-BEE4-F5FC0DCEAFA9}"/>
              </a:ext>
            </a:extLst>
          </p:cNvPr>
          <p:cNvSpPr>
            <a:spLocks noGrp="1"/>
          </p:cNvSpPr>
          <p:nvPr>
            <p:ph type="title"/>
          </p:nvPr>
        </p:nvSpPr>
        <p:spPr/>
        <p:txBody>
          <a:bodyPr/>
          <a:lstStyle/>
          <a:p>
            <a:r>
              <a:rPr lang="en-AU" dirty="0"/>
              <a:t>Benefits of Private cloud</a:t>
            </a:r>
          </a:p>
        </p:txBody>
      </p:sp>
      <p:sp>
        <p:nvSpPr>
          <p:cNvPr id="3" name="Content Placeholder 2">
            <a:extLst>
              <a:ext uri="{FF2B5EF4-FFF2-40B4-BE49-F238E27FC236}">
                <a16:creationId xmlns:a16="http://schemas.microsoft.com/office/drawing/2014/main" id="{F502EF6A-A5A4-4B3B-A0A3-6877AD9FAC15}"/>
              </a:ext>
            </a:extLst>
          </p:cNvPr>
          <p:cNvSpPr>
            <a:spLocks noGrp="1"/>
          </p:cNvSpPr>
          <p:nvPr>
            <p:ph idx="1"/>
          </p:nvPr>
        </p:nvSpPr>
        <p:spPr>
          <a:xfrm>
            <a:off x="1097280" y="1845733"/>
            <a:ext cx="10058400" cy="4427475"/>
          </a:xfrm>
        </p:spPr>
        <p:txBody>
          <a:bodyPr>
            <a:normAutofit/>
          </a:bodyPr>
          <a:lstStyle/>
          <a:p>
            <a:pPr algn="just">
              <a:lnSpc>
                <a:spcPct val="150000"/>
              </a:lnSpc>
              <a:buFont typeface="Wingdings" panose="05000000000000000000" pitchFamily="2" charset="2"/>
              <a:buChar char="q"/>
            </a:pPr>
            <a:r>
              <a:rPr lang="en-AU" dirty="0"/>
              <a:t>Support and Troubleshooting</a:t>
            </a:r>
          </a:p>
          <a:p>
            <a:pPr algn="just">
              <a:lnSpc>
                <a:spcPct val="150000"/>
              </a:lnSpc>
              <a:buFont typeface="Wingdings" panose="05000000000000000000" pitchFamily="2" charset="2"/>
              <a:buChar char="q"/>
            </a:pPr>
            <a:r>
              <a:rPr lang="en-AU" dirty="0"/>
              <a:t>Maintenance</a:t>
            </a:r>
          </a:p>
          <a:p>
            <a:pPr algn="just">
              <a:lnSpc>
                <a:spcPct val="150000"/>
              </a:lnSpc>
              <a:buFont typeface="Wingdings" panose="05000000000000000000" pitchFamily="2" charset="2"/>
              <a:buChar char="q"/>
            </a:pPr>
            <a:r>
              <a:rPr lang="en-AU" dirty="0"/>
              <a:t>Monitoring</a:t>
            </a:r>
          </a:p>
        </p:txBody>
      </p:sp>
    </p:spTree>
    <p:extLst>
      <p:ext uri="{BB962C8B-B14F-4D97-AF65-F5344CB8AC3E}">
        <p14:creationId xmlns:p14="http://schemas.microsoft.com/office/powerpoint/2010/main" val="4066359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32EC8-958C-4E17-A137-DC267136E523}"/>
              </a:ext>
            </a:extLst>
          </p:cNvPr>
          <p:cNvSpPr>
            <a:spLocks noGrp="1"/>
          </p:cNvSpPr>
          <p:nvPr>
            <p:ph type="title"/>
          </p:nvPr>
        </p:nvSpPr>
        <p:spPr/>
        <p:txBody>
          <a:bodyPr/>
          <a:lstStyle/>
          <a:p>
            <a:r>
              <a:rPr lang="en-AU" dirty="0"/>
              <a:t>Drawbacks of Private cloud</a:t>
            </a:r>
          </a:p>
        </p:txBody>
      </p:sp>
      <p:sp>
        <p:nvSpPr>
          <p:cNvPr id="3" name="Content Placeholder 2">
            <a:extLst>
              <a:ext uri="{FF2B5EF4-FFF2-40B4-BE49-F238E27FC236}">
                <a16:creationId xmlns:a16="http://schemas.microsoft.com/office/drawing/2014/main" id="{DCDF0222-5E4B-4ED0-92F1-D7D1481BC414}"/>
              </a:ext>
            </a:extLst>
          </p:cNvPr>
          <p:cNvSpPr>
            <a:spLocks noGrp="1"/>
          </p:cNvSpPr>
          <p:nvPr>
            <p:ph idx="1"/>
          </p:nvPr>
        </p:nvSpPr>
        <p:spPr>
          <a:xfrm>
            <a:off x="1097280" y="1845733"/>
            <a:ext cx="10058400" cy="4501903"/>
          </a:xfrm>
        </p:spPr>
        <p:txBody>
          <a:bodyPr>
            <a:normAutofit/>
          </a:bodyPr>
          <a:lstStyle/>
          <a:p>
            <a:pPr algn="just">
              <a:lnSpc>
                <a:spcPct val="150000"/>
              </a:lnSpc>
              <a:buFont typeface="Wingdings" panose="05000000000000000000" pitchFamily="2" charset="2"/>
              <a:buChar char="q"/>
            </a:pPr>
            <a:r>
              <a:rPr lang="en-AU" dirty="0"/>
              <a:t>Cost</a:t>
            </a:r>
          </a:p>
          <a:p>
            <a:pPr algn="just">
              <a:lnSpc>
                <a:spcPct val="150000"/>
              </a:lnSpc>
              <a:buFont typeface="Wingdings" panose="05000000000000000000" pitchFamily="2" charset="2"/>
              <a:buChar char="q"/>
            </a:pPr>
            <a:r>
              <a:rPr lang="en-AU" dirty="0"/>
              <a:t>Hardware and Software Compatibility</a:t>
            </a:r>
          </a:p>
          <a:p>
            <a:pPr algn="just">
              <a:lnSpc>
                <a:spcPct val="150000"/>
              </a:lnSpc>
              <a:buFont typeface="Wingdings" panose="05000000000000000000" pitchFamily="2" charset="2"/>
              <a:buChar char="q"/>
            </a:pPr>
            <a:r>
              <a:rPr lang="en-AU" dirty="0"/>
              <a:t>Expertise Needed</a:t>
            </a:r>
          </a:p>
        </p:txBody>
      </p:sp>
    </p:spTree>
    <p:extLst>
      <p:ext uri="{BB962C8B-B14F-4D97-AF65-F5344CB8AC3E}">
        <p14:creationId xmlns:p14="http://schemas.microsoft.com/office/powerpoint/2010/main" val="345557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9A842-69D0-4178-9BB9-BF7BA1765AFE}"/>
              </a:ext>
            </a:extLst>
          </p:cNvPr>
          <p:cNvSpPr>
            <a:spLocks noGrp="1"/>
          </p:cNvSpPr>
          <p:nvPr>
            <p:ph type="title"/>
          </p:nvPr>
        </p:nvSpPr>
        <p:spPr/>
        <p:txBody>
          <a:bodyPr/>
          <a:lstStyle/>
          <a:p>
            <a:r>
              <a:rPr lang="en-AU" dirty="0"/>
              <a:t>Responsibilities of Private cloud</a:t>
            </a:r>
          </a:p>
        </p:txBody>
      </p:sp>
      <p:sp>
        <p:nvSpPr>
          <p:cNvPr id="3" name="Content Placeholder 2">
            <a:extLst>
              <a:ext uri="{FF2B5EF4-FFF2-40B4-BE49-F238E27FC236}">
                <a16:creationId xmlns:a16="http://schemas.microsoft.com/office/drawing/2014/main" id="{01FA01A2-C2B5-4884-932B-3C003042642E}"/>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In a private cloud environment, the division of responsibilities is pretty straightforward. Your organization will be responsible for the end-to-end solution. You are responsible for the systems that provide the service, the client applications, and the maintenance of the client systems.</a:t>
            </a:r>
          </a:p>
        </p:txBody>
      </p:sp>
    </p:spTree>
    <p:extLst>
      <p:ext uri="{BB962C8B-B14F-4D97-AF65-F5344CB8AC3E}">
        <p14:creationId xmlns:p14="http://schemas.microsoft.com/office/powerpoint/2010/main" val="2897391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9A842-69D0-4178-9BB9-BF7BA1765AFE}"/>
              </a:ext>
            </a:extLst>
          </p:cNvPr>
          <p:cNvSpPr>
            <a:spLocks noGrp="1"/>
          </p:cNvSpPr>
          <p:nvPr>
            <p:ph type="title"/>
          </p:nvPr>
        </p:nvSpPr>
        <p:spPr/>
        <p:txBody>
          <a:bodyPr/>
          <a:lstStyle/>
          <a:p>
            <a:r>
              <a:rPr lang="en-AU" dirty="0"/>
              <a:t>Security Considerations of Private cloud</a:t>
            </a:r>
          </a:p>
        </p:txBody>
      </p:sp>
      <p:sp>
        <p:nvSpPr>
          <p:cNvPr id="3" name="Content Placeholder 2">
            <a:extLst>
              <a:ext uri="{FF2B5EF4-FFF2-40B4-BE49-F238E27FC236}">
                <a16:creationId xmlns:a16="http://schemas.microsoft.com/office/drawing/2014/main" id="{01FA01A2-C2B5-4884-932B-3C003042642E}"/>
              </a:ext>
            </a:extLst>
          </p:cNvPr>
          <p:cNvSpPr>
            <a:spLocks noGrp="1"/>
          </p:cNvSpPr>
          <p:nvPr>
            <p:ph idx="1"/>
          </p:nvPr>
        </p:nvSpPr>
        <p:spPr>
          <a:xfrm>
            <a:off x="1097280" y="1845734"/>
            <a:ext cx="10058400" cy="4448740"/>
          </a:xfrm>
        </p:spPr>
        <p:txBody>
          <a:bodyPr/>
          <a:lstStyle/>
          <a:p>
            <a:pPr algn="just">
              <a:lnSpc>
                <a:spcPct val="150000"/>
              </a:lnSpc>
              <a:buFont typeface="Wingdings" panose="05000000000000000000" pitchFamily="2" charset="2"/>
              <a:buChar char="q"/>
            </a:pPr>
            <a:r>
              <a:rPr lang="en-AU" dirty="0"/>
              <a:t>Ensuring security is easier in a private cloud environment.</a:t>
            </a:r>
          </a:p>
          <a:p>
            <a:pPr algn="just">
              <a:lnSpc>
                <a:spcPct val="150000"/>
              </a:lnSpc>
              <a:buFont typeface="Wingdings" panose="05000000000000000000" pitchFamily="2" charset="2"/>
              <a:buChar char="q"/>
            </a:pPr>
            <a:r>
              <a:rPr lang="en-AU" dirty="0"/>
              <a:t>In a private cloud environment, you will be able perform your security and compliance audits.</a:t>
            </a:r>
          </a:p>
          <a:p>
            <a:pPr algn="just">
              <a:lnSpc>
                <a:spcPct val="150000"/>
              </a:lnSpc>
              <a:buFont typeface="Wingdings" panose="05000000000000000000" pitchFamily="2" charset="2"/>
              <a:buChar char="q"/>
            </a:pPr>
            <a:r>
              <a:rPr lang="en-AU" dirty="0"/>
              <a:t>Data</a:t>
            </a:r>
          </a:p>
          <a:p>
            <a:pPr algn="just">
              <a:lnSpc>
                <a:spcPct val="150000"/>
              </a:lnSpc>
              <a:buFont typeface="Wingdings" panose="05000000000000000000" pitchFamily="2" charset="2"/>
              <a:buChar char="q"/>
            </a:pPr>
            <a:r>
              <a:rPr lang="en-AU" dirty="0"/>
              <a:t>Auditing</a:t>
            </a:r>
          </a:p>
        </p:txBody>
      </p:sp>
    </p:spTree>
    <p:extLst>
      <p:ext uri="{BB962C8B-B14F-4D97-AF65-F5344CB8AC3E}">
        <p14:creationId xmlns:p14="http://schemas.microsoft.com/office/powerpoint/2010/main" val="750240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9A842-69D0-4178-9BB9-BF7BA1765AFE}"/>
              </a:ext>
            </a:extLst>
          </p:cNvPr>
          <p:cNvSpPr>
            <a:spLocks noGrp="1"/>
          </p:cNvSpPr>
          <p:nvPr>
            <p:ph type="title"/>
          </p:nvPr>
        </p:nvSpPr>
        <p:spPr/>
        <p:txBody>
          <a:bodyPr/>
          <a:lstStyle/>
          <a:p>
            <a:r>
              <a:rPr lang="en-US" dirty="0"/>
              <a:t>Example of Private cloud</a:t>
            </a:r>
            <a:endParaRPr lang="en-AU" dirty="0"/>
          </a:p>
        </p:txBody>
      </p:sp>
      <p:sp>
        <p:nvSpPr>
          <p:cNvPr id="3" name="Content Placeholder 2">
            <a:extLst>
              <a:ext uri="{FF2B5EF4-FFF2-40B4-BE49-F238E27FC236}">
                <a16:creationId xmlns:a16="http://schemas.microsoft.com/office/drawing/2014/main" id="{01FA01A2-C2B5-4884-932B-3C003042642E}"/>
              </a:ext>
            </a:extLst>
          </p:cNvPr>
          <p:cNvSpPr>
            <a:spLocks noGrp="1"/>
          </p:cNvSpPr>
          <p:nvPr>
            <p:ph idx="1"/>
          </p:nvPr>
        </p:nvSpPr>
        <p:spPr>
          <a:xfrm>
            <a:off x="1097280" y="1845734"/>
            <a:ext cx="10058400" cy="4448740"/>
          </a:xfrm>
        </p:spPr>
        <p:txBody>
          <a:bodyPr/>
          <a:lstStyle/>
          <a:p>
            <a:pPr algn="just">
              <a:lnSpc>
                <a:spcPct val="150000"/>
              </a:lnSpc>
              <a:buFont typeface="Wingdings" panose="05000000000000000000" pitchFamily="2" charset="2"/>
              <a:buChar char="q"/>
            </a:pPr>
            <a:r>
              <a:rPr lang="en-AU" dirty="0"/>
              <a:t>The Cisco </a:t>
            </a:r>
            <a:r>
              <a:rPr lang="en-AU" dirty="0" err="1"/>
              <a:t>Quickstart</a:t>
            </a:r>
            <a:r>
              <a:rPr lang="en-AU" dirty="0"/>
              <a:t> Private Cloud, which is a self-service private cloud environment</a:t>
            </a:r>
          </a:p>
          <a:p>
            <a:pPr algn="just">
              <a:lnSpc>
                <a:spcPct val="150000"/>
              </a:lnSpc>
              <a:buFont typeface="Wingdings" panose="05000000000000000000" pitchFamily="2" charset="2"/>
              <a:buChar char="q"/>
            </a:pPr>
            <a:r>
              <a:rPr lang="en-AU" dirty="0"/>
              <a:t>Dell has a wide range of cloud solutions (hybrid and private) powered by Intel architecture. </a:t>
            </a:r>
          </a:p>
          <a:p>
            <a:pPr algn="just">
              <a:lnSpc>
                <a:spcPct val="150000"/>
              </a:lnSpc>
              <a:buFont typeface="Wingdings" panose="05000000000000000000" pitchFamily="2" charset="2"/>
              <a:buChar char="q"/>
            </a:pPr>
            <a:r>
              <a:rPr lang="en-AU" dirty="0"/>
              <a:t>Like Amazon, public cloud giant Google also offers a virtual private cloud (VPC)</a:t>
            </a:r>
          </a:p>
          <a:p>
            <a:pPr algn="just">
              <a:lnSpc>
                <a:spcPct val="150000"/>
              </a:lnSpc>
              <a:buFont typeface="Wingdings" panose="05000000000000000000" pitchFamily="2" charset="2"/>
              <a:buChar char="q"/>
            </a:pPr>
            <a:r>
              <a:rPr lang="en-AU" dirty="0"/>
              <a:t>Hewlett Packard Enterprise (HPE) offers an end-to-end private cloud solution portfolio, starting from data </a:t>
            </a:r>
            <a:r>
              <a:rPr lang="en-AU" dirty="0" err="1"/>
              <a:t>centers</a:t>
            </a:r>
            <a:r>
              <a:rPr lang="en-AU" dirty="0"/>
              <a:t> and infrastructure as a service (IaaS) to consumption services and private cloud consulting.</a:t>
            </a:r>
          </a:p>
        </p:txBody>
      </p:sp>
    </p:spTree>
    <p:extLst>
      <p:ext uri="{BB962C8B-B14F-4D97-AF65-F5344CB8AC3E}">
        <p14:creationId xmlns:p14="http://schemas.microsoft.com/office/powerpoint/2010/main" val="3460465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804C-5242-4198-8EFE-F9BD0077EB41}"/>
              </a:ext>
            </a:extLst>
          </p:cNvPr>
          <p:cNvSpPr>
            <a:spLocks noGrp="1"/>
          </p:cNvSpPr>
          <p:nvPr>
            <p:ph type="title"/>
          </p:nvPr>
        </p:nvSpPr>
        <p:spPr/>
        <p:txBody>
          <a:bodyPr/>
          <a:lstStyle/>
          <a:p>
            <a:r>
              <a:rPr lang="en-AU" dirty="0"/>
              <a:t>Hybrid cloud</a:t>
            </a:r>
          </a:p>
        </p:txBody>
      </p:sp>
      <p:sp>
        <p:nvSpPr>
          <p:cNvPr id="3" name="Content Placeholder 2">
            <a:extLst>
              <a:ext uri="{FF2B5EF4-FFF2-40B4-BE49-F238E27FC236}">
                <a16:creationId xmlns:a16="http://schemas.microsoft.com/office/drawing/2014/main" id="{F5C45B8A-EDC8-40F3-ADD7-A40ED8427BA4}"/>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Hybrid cloud is the combination of compute or storage products from public cloud services (such as Amazon Web Services, Google Cloud Platform, or Microsoft Azure) with a private cloud infrastructure–servers that are generally on-premises running a cloud software stack. </a:t>
            </a:r>
          </a:p>
        </p:txBody>
      </p:sp>
    </p:spTree>
    <p:extLst>
      <p:ext uri="{BB962C8B-B14F-4D97-AF65-F5344CB8AC3E}">
        <p14:creationId xmlns:p14="http://schemas.microsoft.com/office/powerpoint/2010/main" val="179042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Hybrid cloud</a:t>
            </a:r>
          </a:p>
        </p:txBody>
      </p:sp>
      <p:sp>
        <p:nvSpPr>
          <p:cNvPr id="6" name="Content Placeholder 5">
            <a:extLst>
              <a:ext uri="{FF2B5EF4-FFF2-40B4-BE49-F238E27FC236}">
                <a16:creationId xmlns:a16="http://schemas.microsoft.com/office/drawing/2014/main" id="{5E509CF4-196E-4526-A204-B1662E019EC6}"/>
              </a:ext>
            </a:extLst>
          </p:cNvPr>
          <p:cNvSpPr>
            <a:spLocks noGrp="1"/>
          </p:cNvSpPr>
          <p:nvPr>
            <p:ph idx="1"/>
          </p:nvPr>
        </p:nvSpPr>
        <p:spPr>
          <a:xfrm>
            <a:off x="570538" y="2325757"/>
            <a:ext cx="11068184" cy="3694043"/>
          </a:xfrm>
        </p:spPr>
        <p:txBody>
          <a:bodyPr/>
          <a:lstStyle/>
          <a:p>
            <a:pPr algn="just">
              <a:lnSpc>
                <a:spcPct val="150000"/>
              </a:lnSpc>
            </a:pPr>
            <a:r>
              <a:rPr lang="en-AU" dirty="0">
                <a:latin typeface="Arial" panose="020B0604020202020204" pitchFamily="34" charset="0"/>
                <a:cs typeface="Arial" panose="020B0604020202020204" pitchFamily="34" charset="0"/>
              </a:rPr>
              <a:t>A composition of two or more distinct cloud infrastructures (private, community, or public) that remain unique entities, but are bound together by standardized or proprietary technology that enables data and application portability (e.g., cloud bursting for load balancing between clouds).</a:t>
            </a:r>
          </a:p>
          <a:p>
            <a:pPr algn="just">
              <a:lnSpc>
                <a:spcPct val="150000"/>
              </a:lnSpc>
            </a:pPr>
            <a:r>
              <a:rPr lang="en-AU" dirty="0">
                <a:latin typeface="Arial" panose="020B0604020202020204" pitchFamily="34" charset="0"/>
                <a:cs typeface="Arial" panose="020B0604020202020204" pitchFamily="34" charset="0"/>
              </a:rPr>
              <a:t>A best practice for hybrid clouds is to use the public cloud as much as possible to get all the benefits of cloud computing like rapid elasticity and resource pooling, but leverage the private cloud where the risks in areas of data ownership and privacy are too high for the public cloud.</a:t>
            </a:r>
          </a:p>
        </p:txBody>
      </p:sp>
    </p:spTree>
    <p:extLst>
      <p:ext uri="{BB962C8B-B14F-4D97-AF65-F5344CB8AC3E}">
        <p14:creationId xmlns:p14="http://schemas.microsoft.com/office/powerpoint/2010/main" val="3181700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ulti-Cloud vs. Hybrid Cloud: 10 Key Comparisons | Toolbox Tech">
            <a:extLst>
              <a:ext uri="{FF2B5EF4-FFF2-40B4-BE49-F238E27FC236}">
                <a16:creationId xmlns:a16="http://schemas.microsoft.com/office/drawing/2014/main" id="{3589B658-296E-4069-954F-5F469153B6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3359" y="502095"/>
            <a:ext cx="10306057" cy="40227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A8D0144-42C7-4BF8-AC44-F0C37C2AB00A}"/>
              </a:ext>
            </a:extLst>
          </p:cNvPr>
          <p:cNvSpPr/>
          <p:nvPr/>
        </p:nvSpPr>
        <p:spPr>
          <a:xfrm>
            <a:off x="8156448" y="6140461"/>
            <a:ext cx="3557016" cy="215444"/>
          </a:xfrm>
          <a:prstGeom prst="rect">
            <a:avLst/>
          </a:prstGeom>
        </p:spPr>
        <p:txBody>
          <a:bodyPr wrap="square">
            <a:spAutoFit/>
          </a:bodyPr>
          <a:lstStyle/>
          <a:p>
            <a:r>
              <a:rPr lang="en-AU" sz="800" dirty="0"/>
              <a:t>https://www.toolbox.com/tech/cloud/articles/multi-cloud-vs-hybrid-cloud/</a:t>
            </a:r>
          </a:p>
        </p:txBody>
      </p:sp>
    </p:spTree>
    <p:extLst>
      <p:ext uri="{BB962C8B-B14F-4D97-AF65-F5344CB8AC3E}">
        <p14:creationId xmlns:p14="http://schemas.microsoft.com/office/powerpoint/2010/main" val="761149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306E-41F4-4ADA-B574-C8B169613337}"/>
              </a:ext>
            </a:extLst>
          </p:cNvPr>
          <p:cNvSpPr>
            <a:spLocks noGrp="1"/>
          </p:cNvSpPr>
          <p:nvPr>
            <p:ph type="title"/>
          </p:nvPr>
        </p:nvSpPr>
        <p:spPr/>
        <p:txBody>
          <a:bodyPr/>
          <a:lstStyle/>
          <a:p>
            <a:r>
              <a:rPr lang="en-AU" b="1" dirty="0"/>
              <a:t>Why does hybrid cloud matter?</a:t>
            </a:r>
            <a:endParaRPr lang="en-AU" dirty="0"/>
          </a:p>
        </p:txBody>
      </p:sp>
      <p:sp>
        <p:nvSpPr>
          <p:cNvPr id="3" name="Content Placeholder 2">
            <a:extLst>
              <a:ext uri="{FF2B5EF4-FFF2-40B4-BE49-F238E27FC236}">
                <a16:creationId xmlns:a16="http://schemas.microsoft.com/office/drawing/2014/main" id="{7F59B190-090C-456E-A7E7-A267525C4F73}"/>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Hybrid cloud provides the best of both worlds of computing. </a:t>
            </a:r>
          </a:p>
          <a:p>
            <a:pPr algn="just">
              <a:lnSpc>
                <a:spcPct val="150000"/>
              </a:lnSpc>
              <a:buFont typeface="Wingdings" panose="05000000000000000000" pitchFamily="2" charset="2"/>
              <a:buChar char="q"/>
            </a:pPr>
            <a:r>
              <a:rPr lang="en-AU" dirty="0"/>
              <a:t>The Public cloud service providers offer different ability </a:t>
            </a:r>
          </a:p>
          <a:p>
            <a:pPr algn="just">
              <a:lnSpc>
                <a:spcPct val="150000"/>
              </a:lnSpc>
              <a:buFont typeface="Wingdings" panose="05000000000000000000" pitchFamily="2" charset="2"/>
              <a:buChar char="q"/>
            </a:pPr>
            <a:r>
              <a:rPr lang="en-AU" dirty="0"/>
              <a:t>Having a private cloud component provides peace of mind.</a:t>
            </a:r>
          </a:p>
          <a:p>
            <a:pPr algn="just">
              <a:lnSpc>
                <a:spcPct val="150000"/>
              </a:lnSpc>
              <a:buFont typeface="Wingdings" panose="05000000000000000000" pitchFamily="2" charset="2"/>
              <a:buChar char="q"/>
            </a:pPr>
            <a:r>
              <a:rPr lang="en-AU" dirty="0"/>
              <a:t>Hybrid cloud solutions: IBM, Amazon, Microsoft, AWS Outposts, Azure Stack, Fujitsu Hybrid Cloud Services</a:t>
            </a:r>
          </a:p>
        </p:txBody>
      </p:sp>
    </p:spTree>
    <p:extLst>
      <p:ext uri="{BB962C8B-B14F-4D97-AF65-F5344CB8AC3E}">
        <p14:creationId xmlns:p14="http://schemas.microsoft.com/office/powerpoint/2010/main" val="4124512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306E-41F4-4ADA-B574-C8B169613337}"/>
              </a:ext>
            </a:extLst>
          </p:cNvPr>
          <p:cNvSpPr>
            <a:spLocks noGrp="1"/>
          </p:cNvSpPr>
          <p:nvPr>
            <p:ph type="title"/>
          </p:nvPr>
        </p:nvSpPr>
        <p:spPr/>
        <p:txBody>
          <a:bodyPr/>
          <a:lstStyle/>
          <a:p>
            <a:r>
              <a:rPr lang="en-AU" b="1" dirty="0"/>
              <a:t>Hybrid cloud benefits</a:t>
            </a:r>
            <a:endParaRPr lang="en-AU" dirty="0"/>
          </a:p>
        </p:txBody>
      </p:sp>
      <p:sp>
        <p:nvSpPr>
          <p:cNvPr id="3" name="Content Placeholder 2">
            <a:extLst>
              <a:ext uri="{FF2B5EF4-FFF2-40B4-BE49-F238E27FC236}">
                <a16:creationId xmlns:a16="http://schemas.microsoft.com/office/drawing/2014/main" id="{7F59B190-090C-456E-A7E7-A267525C4F73}"/>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sz="2400" dirty="0"/>
              <a:t>Flexibility</a:t>
            </a:r>
          </a:p>
          <a:p>
            <a:pPr algn="just">
              <a:lnSpc>
                <a:spcPct val="150000"/>
              </a:lnSpc>
              <a:buFont typeface="Wingdings" panose="05000000000000000000" pitchFamily="2" charset="2"/>
              <a:buChar char="q"/>
            </a:pPr>
            <a:r>
              <a:rPr lang="en-AU" sz="2400" dirty="0"/>
              <a:t>Security</a:t>
            </a:r>
          </a:p>
          <a:p>
            <a:pPr marL="0" indent="0" algn="just">
              <a:lnSpc>
                <a:spcPct val="150000"/>
              </a:lnSpc>
              <a:buNone/>
            </a:pPr>
            <a:r>
              <a:rPr lang="en-AU" sz="2400" dirty="0"/>
              <a:t>Certain applications hosted in two environments. That way, if one environment goes down, you can still access the application</a:t>
            </a:r>
          </a:p>
        </p:txBody>
      </p:sp>
    </p:spTree>
    <p:extLst>
      <p:ext uri="{BB962C8B-B14F-4D97-AF65-F5344CB8AC3E}">
        <p14:creationId xmlns:p14="http://schemas.microsoft.com/office/powerpoint/2010/main" val="1184212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306E-41F4-4ADA-B574-C8B169613337}"/>
              </a:ext>
            </a:extLst>
          </p:cNvPr>
          <p:cNvSpPr>
            <a:spLocks noGrp="1"/>
          </p:cNvSpPr>
          <p:nvPr>
            <p:ph type="title"/>
          </p:nvPr>
        </p:nvSpPr>
        <p:spPr/>
        <p:txBody>
          <a:bodyPr/>
          <a:lstStyle/>
          <a:p>
            <a:r>
              <a:rPr lang="en-AU" b="1" dirty="0"/>
              <a:t>Hybrid cloud Drawbacks</a:t>
            </a:r>
            <a:endParaRPr lang="en-AU" dirty="0"/>
          </a:p>
        </p:txBody>
      </p:sp>
      <p:sp>
        <p:nvSpPr>
          <p:cNvPr id="3" name="Content Placeholder 2">
            <a:extLst>
              <a:ext uri="{FF2B5EF4-FFF2-40B4-BE49-F238E27FC236}">
                <a16:creationId xmlns:a16="http://schemas.microsoft.com/office/drawing/2014/main" id="{7F59B190-090C-456E-A7E7-A267525C4F73}"/>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sz="2400" dirty="0"/>
              <a:t>Integration</a:t>
            </a:r>
          </a:p>
          <a:p>
            <a:pPr algn="just">
              <a:lnSpc>
                <a:spcPct val="150000"/>
              </a:lnSpc>
              <a:buFont typeface="Wingdings" panose="05000000000000000000" pitchFamily="2" charset="2"/>
              <a:buChar char="q"/>
            </a:pPr>
            <a:r>
              <a:rPr lang="en-AU" sz="2400" dirty="0"/>
              <a:t>Security Considerations</a:t>
            </a:r>
          </a:p>
          <a:p>
            <a:pPr algn="just">
              <a:lnSpc>
                <a:spcPct val="150000"/>
              </a:lnSpc>
              <a:buFont typeface="Wingdings" panose="05000000000000000000" pitchFamily="2" charset="2"/>
              <a:buChar char="q"/>
            </a:pPr>
            <a:r>
              <a:rPr lang="en-AU" sz="2400" dirty="0"/>
              <a:t>Data</a:t>
            </a:r>
          </a:p>
          <a:p>
            <a:pPr algn="just">
              <a:lnSpc>
                <a:spcPct val="150000"/>
              </a:lnSpc>
              <a:buFont typeface="Wingdings" panose="05000000000000000000" pitchFamily="2" charset="2"/>
              <a:buChar char="q"/>
            </a:pPr>
            <a:r>
              <a:rPr lang="en-AU" sz="2400" dirty="0"/>
              <a:t>Auditing</a:t>
            </a:r>
          </a:p>
          <a:p>
            <a:pPr algn="just">
              <a:lnSpc>
                <a:spcPct val="150000"/>
              </a:lnSpc>
              <a:buFont typeface="Wingdings" panose="05000000000000000000" pitchFamily="2" charset="2"/>
              <a:buChar char="q"/>
            </a:pPr>
            <a:endParaRPr lang="en-AU" sz="2400" dirty="0"/>
          </a:p>
        </p:txBody>
      </p:sp>
    </p:spTree>
    <p:extLst>
      <p:ext uri="{BB962C8B-B14F-4D97-AF65-F5344CB8AC3E}">
        <p14:creationId xmlns:p14="http://schemas.microsoft.com/office/powerpoint/2010/main" val="1686691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DC0DC-3721-4163-A73F-E84F0FC24A4A}"/>
              </a:ext>
            </a:extLst>
          </p:cNvPr>
          <p:cNvSpPr>
            <a:spLocks noGrp="1"/>
          </p:cNvSpPr>
          <p:nvPr>
            <p:ph type="title"/>
          </p:nvPr>
        </p:nvSpPr>
        <p:spPr/>
        <p:txBody>
          <a:bodyPr/>
          <a:lstStyle/>
          <a:p>
            <a:r>
              <a:rPr lang="en-AU" dirty="0"/>
              <a:t>COMMUNITY CLOUDS</a:t>
            </a:r>
          </a:p>
        </p:txBody>
      </p:sp>
      <p:sp>
        <p:nvSpPr>
          <p:cNvPr id="3" name="Content Placeholder 2">
            <a:extLst>
              <a:ext uri="{FF2B5EF4-FFF2-40B4-BE49-F238E27FC236}">
                <a16:creationId xmlns:a16="http://schemas.microsoft.com/office/drawing/2014/main" id="{1A3382B3-4A13-4A0C-9441-5D6845B9A904}"/>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Community clouds aren’t used as much as public or private clouds; in fact, they are the least known and least used cloud deployment model. In a community cloud, the cloud is shared by a group of organizations that have a common purpose or goal.</a:t>
            </a:r>
          </a:p>
          <a:p>
            <a:pPr marL="0" indent="0" algn="just">
              <a:lnSpc>
                <a:spcPct val="150000"/>
              </a:lnSpc>
              <a:buNone/>
            </a:pPr>
            <a:r>
              <a:rPr lang="en-AU" b="1" dirty="0">
                <a:solidFill>
                  <a:srgbClr val="FF0000"/>
                </a:solidFill>
              </a:rPr>
              <a:t>Benefits: </a:t>
            </a:r>
          </a:p>
          <a:p>
            <a:pPr algn="just">
              <a:lnSpc>
                <a:spcPct val="150000"/>
              </a:lnSpc>
              <a:buFont typeface="Wingdings" panose="05000000000000000000" pitchFamily="2" charset="2"/>
              <a:buChar char="q"/>
            </a:pPr>
            <a:r>
              <a:rPr lang="en-AU" dirty="0"/>
              <a:t>Cost</a:t>
            </a:r>
          </a:p>
          <a:p>
            <a:pPr algn="just">
              <a:lnSpc>
                <a:spcPct val="150000"/>
              </a:lnSpc>
              <a:buFont typeface="Wingdings" panose="05000000000000000000" pitchFamily="2" charset="2"/>
              <a:buChar char="q"/>
            </a:pPr>
            <a:r>
              <a:rPr lang="en-AU" dirty="0"/>
              <a:t>Multitenancy</a:t>
            </a:r>
          </a:p>
        </p:txBody>
      </p:sp>
    </p:spTree>
    <p:extLst>
      <p:ext uri="{BB962C8B-B14F-4D97-AF65-F5344CB8AC3E}">
        <p14:creationId xmlns:p14="http://schemas.microsoft.com/office/powerpoint/2010/main" val="2843396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DC0DC-3721-4163-A73F-E84F0FC24A4A}"/>
              </a:ext>
            </a:extLst>
          </p:cNvPr>
          <p:cNvSpPr>
            <a:spLocks noGrp="1"/>
          </p:cNvSpPr>
          <p:nvPr>
            <p:ph type="title"/>
          </p:nvPr>
        </p:nvSpPr>
        <p:spPr/>
        <p:txBody>
          <a:bodyPr/>
          <a:lstStyle/>
          <a:p>
            <a:r>
              <a:rPr lang="en-AU" dirty="0"/>
              <a:t>COMMUNITY CLOUDS Drawbacks</a:t>
            </a:r>
          </a:p>
        </p:txBody>
      </p:sp>
      <p:sp>
        <p:nvSpPr>
          <p:cNvPr id="3" name="Content Placeholder 2">
            <a:extLst>
              <a:ext uri="{FF2B5EF4-FFF2-40B4-BE49-F238E27FC236}">
                <a16:creationId xmlns:a16="http://schemas.microsoft.com/office/drawing/2014/main" id="{1A3382B3-4A13-4A0C-9441-5D6845B9A904}"/>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Ownership: Ownership in a community cloud needs to be clearly defined. If multiple organizations are coming together to assemble infrastructure, you must determine some agreement for joint ownership.</a:t>
            </a:r>
          </a:p>
        </p:txBody>
      </p:sp>
    </p:spTree>
    <p:extLst>
      <p:ext uri="{BB962C8B-B14F-4D97-AF65-F5344CB8AC3E}">
        <p14:creationId xmlns:p14="http://schemas.microsoft.com/office/powerpoint/2010/main" val="3744658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637A-EE0E-4528-B43D-C009E97B04FB}"/>
              </a:ext>
            </a:extLst>
          </p:cNvPr>
          <p:cNvSpPr>
            <a:spLocks noGrp="1"/>
          </p:cNvSpPr>
          <p:nvPr>
            <p:ph type="title"/>
          </p:nvPr>
        </p:nvSpPr>
        <p:spPr/>
        <p:txBody>
          <a:bodyPr/>
          <a:lstStyle/>
          <a:p>
            <a:r>
              <a:rPr lang="en-AU" b="1" dirty="0"/>
              <a:t>Cloud Computing Architecture: Roles</a:t>
            </a:r>
          </a:p>
        </p:txBody>
      </p:sp>
      <p:sp>
        <p:nvSpPr>
          <p:cNvPr id="6" name="Content Placeholder 5">
            <a:extLst>
              <a:ext uri="{FF2B5EF4-FFF2-40B4-BE49-F238E27FC236}">
                <a16:creationId xmlns:a16="http://schemas.microsoft.com/office/drawing/2014/main" id="{5E509CF4-196E-4526-A204-B1662E019EC6}"/>
              </a:ext>
            </a:extLst>
          </p:cNvPr>
          <p:cNvSpPr>
            <a:spLocks noGrp="1"/>
          </p:cNvSpPr>
          <p:nvPr>
            <p:ph idx="1"/>
          </p:nvPr>
        </p:nvSpPr>
        <p:spPr>
          <a:xfrm>
            <a:off x="592388" y="1815394"/>
            <a:ext cx="11068184" cy="4293704"/>
          </a:xfrm>
        </p:spPr>
        <p:txBody>
          <a:bodyPr>
            <a:normAutofit fontScale="85000" lnSpcReduction="10000"/>
          </a:bodyPr>
          <a:lstStyle/>
          <a:p>
            <a:pPr algn="just">
              <a:lnSpc>
                <a:spcPct val="150000"/>
              </a:lnSpc>
            </a:pPr>
            <a:r>
              <a:rPr lang="en-AU" b="1" dirty="0">
                <a:latin typeface="Arial" panose="020B0604020202020204" pitchFamily="34" charset="0"/>
                <a:cs typeface="Arial" panose="020B0604020202020204" pitchFamily="34" charset="0"/>
              </a:rPr>
              <a:t>End User </a:t>
            </a:r>
            <a:r>
              <a:rPr lang="en-AU" dirty="0">
                <a:latin typeface="Arial" panose="020B0604020202020204" pitchFamily="34" charset="0"/>
                <a:cs typeface="Arial" panose="020B0604020202020204" pitchFamily="34" charset="0"/>
              </a:rPr>
              <a:t>will consume Cloud service without knowing it’s provided by a cloud computing platform. For example, Gmail users.</a:t>
            </a:r>
          </a:p>
          <a:p>
            <a:pPr algn="just">
              <a:lnSpc>
                <a:spcPct val="150000"/>
              </a:lnSpc>
            </a:pPr>
            <a:r>
              <a:rPr lang="en-AU" b="1" dirty="0">
                <a:latin typeface="Arial" panose="020B0604020202020204" pitchFamily="34" charset="0"/>
                <a:cs typeface="Arial" panose="020B0604020202020204" pitchFamily="34" charset="0"/>
              </a:rPr>
              <a:t>Cloud Consumer </a:t>
            </a:r>
            <a:r>
              <a:rPr lang="en-AU" dirty="0">
                <a:latin typeface="Arial" panose="020B0604020202020204" pitchFamily="34" charset="0"/>
                <a:cs typeface="Arial" panose="020B0604020202020204" pitchFamily="34" charset="0"/>
              </a:rPr>
              <a:t>will purchase cloud services to operate their applications. E.g., we can host our website in EC2.</a:t>
            </a:r>
          </a:p>
          <a:p>
            <a:pPr algn="just">
              <a:lnSpc>
                <a:spcPct val="150000"/>
              </a:lnSpc>
            </a:pPr>
            <a:r>
              <a:rPr lang="en-AU" b="1" dirty="0">
                <a:latin typeface="Arial" panose="020B0604020202020204" pitchFamily="34" charset="0"/>
                <a:cs typeface="Arial" panose="020B0604020202020204" pitchFamily="34" charset="0"/>
              </a:rPr>
              <a:t>Cloud broker </a:t>
            </a:r>
            <a:r>
              <a:rPr lang="en-AU" dirty="0">
                <a:latin typeface="Arial" panose="020B0604020202020204" pitchFamily="34" charset="0"/>
                <a:cs typeface="Arial" panose="020B0604020202020204" pitchFamily="34" charset="0"/>
              </a:rPr>
              <a:t>will provide brokering service for cloud computing services, similar to priceline.com for brokering flights, hotels, and car rentals.</a:t>
            </a:r>
          </a:p>
          <a:p>
            <a:pPr algn="just">
              <a:lnSpc>
                <a:spcPct val="150000"/>
              </a:lnSpc>
            </a:pPr>
            <a:r>
              <a:rPr lang="en-AU" b="1" dirty="0">
                <a:latin typeface="Arial" panose="020B0604020202020204" pitchFamily="34" charset="0"/>
                <a:cs typeface="Arial" panose="020B0604020202020204" pitchFamily="34" charset="0"/>
              </a:rPr>
              <a:t>Cloud auditor </a:t>
            </a:r>
            <a:r>
              <a:rPr lang="en-AU" dirty="0">
                <a:latin typeface="Arial" panose="020B0604020202020204" pitchFamily="34" charset="0"/>
                <a:cs typeface="Arial" panose="020B0604020202020204" pitchFamily="34" charset="0"/>
              </a:rPr>
              <a:t>will ensure the cloud is running in a good manner, for example, the federal IT security agency.</a:t>
            </a:r>
          </a:p>
          <a:p>
            <a:pPr algn="just">
              <a:lnSpc>
                <a:spcPct val="150000"/>
              </a:lnSpc>
            </a:pPr>
            <a:r>
              <a:rPr lang="en-AU" b="1" dirty="0">
                <a:latin typeface="Arial" panose="020B0604020202020204" pitchFamily="34" charset="0"/>
                <a:cs typeface="Arial" panose="020B0604020202020204" pitchFamily="34" charset="0"/>
              </a:rPr>
              <a:t>Cloud provider </a:t>
            </a:r>
            <a:r>
              <a:rPr lang="en-AU" dirty="0">
                <a:latin typeface="Arial" panose="020B0604020202020204" pitchFamily="34" charset="0"/>
                <a:cs typeface="Arial" panose="020B0604020202020204" pitchFamily="34" charset="0"/>
              </a:rPr>
              <a:t>is the company that provide cloud computing as a service and charge to the service, such as Amazon.</a:t>
            </a:r>
          </a:p>
          <a:p>
            <a:pPr algn="just">
              <a:lnSpc>
                <a:spcPct val="150000"/>
              </a:lnSpc>
            </a:pPr>
            <a:r>
              <a:rPr lang="en-AU" b="1" dirty="0">
                <a:latin typeface="Arial" panose="020B0604020202020204" pitchFamily="34" charset="0"/>
                <a:cs typeface="Arial" panose="020B0604020202020204" pitchFamily="34" charset="0"/>
              </a:rPr>
              <a:t>Cloud carrier </a:t>
            </a:r>
            <a:r>
              <a:rPr lang="en-AU" dirty="0">
                <a:latin typeface="Arial" panose="020B0604020202020204" pitchFamily="34" charset="0"/>
                <a:cs typeface="Arial" panose="020B0604020202020204" pitchFamily="34" charset="0"/>
              </a:rPr>
              <a:t>is the network operator that help carry cloud service to users.</a:t>
            </a:r>
          </a:p>
        </p:txBody>
      </p:sp>
    </p:spTree>
    <p:extLst>
      <p:ext uri="{BB962C8B-B14F-4D97-AF65-F5344CB8AC3E}">
        <p14:creationId xmlns:p14="http://schemas.microsoft.com/office/powerpoint/2010/main" val="3651961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413A7-603D-A843-B451-826EB055A030}"/>
              </a:ext>
            </a:extLst>
          </p:cNvPr>
          <p:cNvSpPr>
            <a:spLocks noGrp="1"/>
          </p:cNvSpPr>
          <p:nvPr>
            <p:ph type="title"/>
          </p:nvPr>
        </p:nvSpPr>
        <p:spPr>
          <a:xfrm>
            <a:off x="1097280" y="286603"/>
            <a:ext cx="10058400" cy="1450757"/>
          </a:xfrm>
        </p:spPr>
        <p:txBody>
          <a:bodyPr>
            <a:normAutofit/>
          </a:bodyPr>
          <a:lstStyle/>
          <a:p>
            <a:r>
              <a:rPr lang="en-US" dirty="0">
                <a:ea typeface="Calibri Light"/>
                <a:cs typeface="Calibri Light"/>
              </a:rPr>
              <a:t>In class activity : Cloud type</a:t>
            </a:r>
            <a:endParaRPr lang="en-US" dirty="0"/>
          </a:p>
        </p:txBody>
      </p:sp>
      <p:graphicFrame>
        <p:nvGraphicFramePr>
          <p:cNvPr id="5" name="Content Placeholder 4">
            <a:extLst>
              <a:ext uri="{FF2B5EF4-FFF2-40B4-BE49-F238E27FC236}">
                <a16:creationId xmlns:a16="http://schemas.microsoft.com/office/drawing/2014/main" id="{53CA7B05-5E5E-F6F5-2C12-0A362C056F6D}"/>
              </a:ext>
            </a:extLst>
          </p:cNvPr>
          <p:cNvGraphicFramePr>
            <a:graphicFrameLocks noGrp="1"/>
          </p:cNvGraphicFramePr>
          <p:nvPr>
            <p:ph idx="1"/>
            <p:extLst>
              <p:ext uri="{D42A27DB-BD31-4B8C-83A1-F6EECF244321}">
                <p14:modId xmlns:p14="http://schemas.microsoft.com/office/powerpoint/2010/main" val="1859287266"/>
              </p:ext>
            </p:extLst>
          </p:nvPr>
        </p:nvGraphicFramePr>
        <p:xfrm>
          <a:off x="1598341" y="1886414"/>
          <a:ext cx="8541856" cy="4301760"/>
        </p:xfrm>
        <a:graphic>
          <a:graphicData uri="http://schemas.openxmlformats.org/drawingml/2006/table">
            <a:tbl>
              <a:tblPr bandRow="1">
                <a:solidFill>
                  <a:schemeClr val="tx1">
                    <a:lumMod val="75000"/>
                    <a:lumOff val="25000"/>
                  </a:schemeClr>
                </a:solidFill>
                <a:tableStyleId>{5C22544A-7EE6-4342-B048-85BDC9FD1C3A}</a:tableStyleId>
              </a:tblPr>
              <a:tblGrid>
                <a:gridCol w="7118431">
                  <a:extLst>
                    <a:ext uri="{9D8B030D-6E8A-4147-A177-3AD203B41FA5}">
                      <a16:colId xmlns:a16="http://schemas.microsoft.com/office/drawing/2014/main" val="426914703"/>
                    </a:ext>
                  </a:extLst>
                </a:gridCol>
                <a:gridCol w="1423425">
                  <a:extLst>
                    <a:ext uri="{9D8B030D-6E8A-4147-A177-3AD203B41FA5}">
                      <a16:colId xmlns:a16="http://schemas.microsoft.com/office/drawing/2014/main" val="2736285591"/>
                    </a:ext>
                  </a:extLst>
                </a:gridCol>
              </a:tblGrid>
              <a:tr h="215088">
                <a:tc>
                  <a:txBody>
                    <a:bodyPr/>
                    <a:lstStyle/>
                    <a:p>
                      <a:r>
                        <a:rPr lang="en-US" sz="600" cap="none" spc="0" dirty="0">
                          <a:solidFill>
                            <a:schemeClr val="bg1"/>
                          </a:solidFill>
                          <a:effectLst/>
                        </a:rPr>
                        <a:t>Case Scenario</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9525" cap="flat" cmpd="sng" algn="ctr">
                      <a:noFill/>
                      <a:prstDash val="solid"/>
                    </a:lnB>
                    <a:solidFill>
                      <a:schemeClr val="tx1">
                        <a:lumMod val="75000"/>
                        <a:lumOff val="25000"/>
                      </a:schemeClr>
                    </a:solidFill>
                  </a:tcPr>
                </a:tc>
                <a:tc>
                  <a:txBody>
                    <a:bodyPr/>
                    <a:lstStyle/>
                    <a:p>
                      <a:r>
                        <a:rPr lang="en-US" sz="600" cap="none" spc="0" dirty="0">
                          <a:solidFill>
                            <a:schemeClr val="bg1"/>
                          </a:solidFill>
                          <a:effectLst/>
                        </a:rPr>
                        <a:t>Cloud Type</a:t>
                      </a:r>
                    </a:p>
                  </a:txBody>
                  <a:tcPr marL="32320" marR="0" marT="9234" marB="69258" anchor="ctr">
                    <a:lnL w="12700" cmpd="sng">
                      <a:noFill/>
                      <a:prstDash val="solid"/>
                    </a:lnL>
                    <a:lnR w="12700" cmpd="sng">
                      <a:noFill/>
                      <a:prstDash val="solid"/>
                    </a:lnR>
                    <a:lnT w="9525" cap="flat" cmpd="sng" algn="ctr">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2348845623"/>
                  </a:ext>
                </a:extLst>
              </a:tr>
              <a:tr h="215088">
                <a:tc>
                  <a:txBody>
                    <a:bodyPr/>
                    <a:lstStyle/>
                    <a:p>
                      <a:r>
                        <a:rPr lang="en-US" sz="600" cap="none" spc="0" dirty="0">
                          <a:solidFill>
                            <a:schemeClr val="bg1"/>
                          </a:solidFill>
                          <a:effectLst/>
                        </a:rPr>
                        <a:t>A startup hosts its mobile application and databases on AWS to ensure scalability and availability.</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3229068036"/>
                  </a:ext>
                </a:extLst>
              </a:tr>
              <a:tr h="215088">
                <a:tc>
                  <a:txBody>
                    <a:bodyPr/>
                    <a:lstStyle/>
                    <a:p>
                      <a:r>
                        <a:rPr lang="en-US" sz="600" cap="none" spc="0" dirty="0">
                          <a:solidFill>
                            <a:schemeClr val="bg1"/>
                          </a:solidFill>
                          <a:effectLst/>
                        </a:rPr>
                        <a:t>A multinational bank operates its core banking system on an in-house data center but uses Microsoft Azure for customer service chatbots.</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522634717"/>
                  </a:ext>
                </a:extLst>
              </a:tr>
              <a:tr h="215088">
                <a:tc>
                  <a:txBody>
                    <a:bodyPr/>
                    <a:lstStyle/>
                    <a:p>
                      <a:r>
                        <a:rPr lang="en-US" sz="600" cap="none" spc="0" dirty="0">
                          <a:solidFill>
                            <a:schemeClr val="bg1"/>
                          </a:solidFill>
                          <a:effectLst/>
                        </a:rPr>
                        <a:t>A government agency maintains an internal cloud for confidential citizen records.</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2122100336"/>
                  </a:ext>
                </a:extLst>
              </a:tr>
              <a:tr h="215088">
                <a:tc>
                  <a:txBody>
                    <a:bodyPr/>
                    <a:lstStyle/>
                    <a:p>
                      <a:r>
                        <a:rPr lang="en-US" sz="600" cap="none" spc="0" dirty="0">
                          <a:solidFill>
                            <a:schemeClr val="bg1"/>
                          </a:solidFill>
                          <a:effectLst/>
                        </a:rPr>
                        <a:t>A university uses Google Cloud to host its student learning platform and online courses.</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2531468080"/>
                  </a:ext>
                </a:extLst>
              </a:tr>
              <a:tr h="215088">
                <a:tc>
                  <a:txBody>
                    <a:bodyPr/>
                    <a:lstStyle/>
                    <a:p>
                      <a:r>
                        <a:rPr lang="en-US" sz="600" cap="none" spc="0" dirty="0">
                          <a:solidFill>
                            <a:schemeClr val="bg1"/>
                          </a:solidFill>
                          <a:effectLst/>
                        </a:rPr>
                        <a:t>A network of hospitals collaborates on a shared cloud to securely exchange patient health records and treatment research.</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1211282437"/>
                  </a:ext>
                </a:extLst>
              </a:tr>
              <a:tr h="215088">
                <a:tc>
                  <a:txBody>
                    <a:bodyPr/>
                    <a:lstStyle/>
                    <a:p>
                      <a:r>
                        <a:rPr lang="en-US" sz="600" cap="none" spc="0" dirty="0">
                          <a:solidFill>
                            <a:schemeClr val="bg1"/>
                          </a:solidFill>
                          <a:effectLst/>
                        </a:rPr>
                        <a:t>A logistics company uses IBM Cloud to analyze shipment data and optimize delivery routes.</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3443817751"/>
                  </a:ext>
                </a:extLst>
              </a:tr>
              <a:tr h="215088">
                <a:tc>
                  <a:txBody>
                    <a:bodyPr/>
                    <a:lstStyle/>
                    <a:p>
                      <a:r>
                        <a:rPr lang="en-US" sz="600" cap="none" spc="0" dirty="0">
                          <a:solidFill>
                            <a:schemeClr val="bg1"/>
                          </a:solidFill>
                          <a:effectLst/>
                        </a:rPr>
                        <a:t>A global retail chain runs its customer loyalty program on a private cloud but integrates with a public cloud for AI-based recommendations.</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716388564"/>
                  </a:ext>
                </a:extLst>
              </a:tr>
              <a:tr h="215088">
                <a:tc>
                  <a:txBody>
                    <a:bodyPr/>
                    <a:lstStyle/>
                    <a:p>
                      <a:r>
                        <a:rPr lang="en-US" sz="600" cap="none" spc="0" dirty="0">
                          <a:solidFill>
                            <a:schemeClr val="bg1"/>
                          </a:solidFill>
                          <a:effectLst/>
                        </a:rPr>
                        <a:t>A law enforcement network shares a cloud infrastructure to store case files and forensic data across different agencies.</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336870607"/>
                  </a:ext>
                </a:extLst>
              </a:tr>
              <a:tr h="215088">
                <a:tc>
                  <a:txBody>
                    <a:bodyPr/>
                    <a:lstStyle/>
                    <a:p>
                      <a:r>
                        <a:rPr lang="en-US" sz="600" cap="none" spc="0" dirty="0">
                          <a:solidFill>
                            <a:schemeClr val="bg1"/>
                          </a:solidFill>
                          <a:effectLst/>
                        </a:rPr>
                        <a:t>A small business stores its files on Dropbox and Google Drive for easy access and collaboration.</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3864861719"/>
                  </a:ext>
                </a:extLst>
              </a:tr>
              <a:tr h="215088">
                <a:tc>
                  <a:txBody>
                    <a:bodyPr/>
                    <a:lstStyle/>
                    <a:p>
                      <a:r>
                        <a:rPr lang="en-US" sz="600" cap="none" spc="0" dirty="0">
                          <a:solidFill>
                            <a:schemeClr val="bg1"/>
                          </a:solidFill>
                          <a:effectLst/>
                        </a:rPr>
                        <a:t>A pharmaceutical company maintains a private cloud for drug research data but uses AWS for marketing and outreach.</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418133022"/>
                  </a:ext>
                </a:extLst>
              </a:tr>
              <a:tr h="215088">
                <a:tc>
                  <a:txBody>
                    <a:bodyPr/>
                    <a:lstStyle/>
                    <a:p>
                      <a:r>
                        <a:rPr lang="en-US" sz="600" cap="none" spc="0" dirty="0">
                          <a:solidFill>
                            <a:schemeClr val="bg1"/>
                          </a:solidFill>
                          <a:effectLst/>
                        </a:rPr>
                        <a:t>Several regional banks collaborate on a shared cloud platform to monitor fraud patterns and ensure regulatory compliance.</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2270347071"/>
                  </a:ext>
                </a:extLst>
              </a:tr>
              <a:tr h="215088">
                <a:tc>
                  <a:txBody>
                    <a:bodyPr/>
                    <a:lstStyle/>
                    <a:p>
                      <a:r>
                        <a:rPr lang="en-US" sz="600" cap="none" spc="0" dirty="0">
                          <a:solidFill>
                            <a:schemeClr val="bg1"/>
                          </a:solidFill>
                          <a:effectLst/>
                        </a:rPr>
                        <a:t>A city’s smart infrastructure runs its IoT-based traffic monitoring system on a government-managed cloud.</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170937898"/>
                  </a:ext>
                </a:extLst>
              </a:tr>
              <a:tr h="215088">
                <a:tc>
                  <a:txBody>
                    <a:bodyPr/>
                    <a:lstStyle/>
                    <a:p>
                      <a:r>
                        <a:rPr lang="en-US" sz="600" cap="none" spc="0" dirty="0">
                          <a:solidFill>
                            <a:schemeClr val="bg1"/>
                          </a:solidFill>
                          <a:effectLst/>
                        </a:rPr>
                        <a:t>A gaming company deploys multiplayer game servers on Microsoft Azure, allowing global access to players.</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4136172424"/>
                  </a:ext>
                </a:extLst>
              </a:tr>
              <a:tr h="215088">
                <a:tc>
                  <a:txBody>
                    <a:bodyPr/>
                    <a:lstStyle/>
                    <a:p>
                      <a:r>
                        <a:rPr lang="en-US" sz="600" cap="none" spc="0" dirty="0">
                          <a:solidFill>
                            <a:schemeClr val="bg1"/>
                          </a:solidFill>
                          <a:effectLst/>
                        </a:rPr>
                        <a:t>A university research consortium develops an AI-based climate modeling system using a shared cloud infrastructure.</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3717389592"/>
                  </a:ext>
                </a:extLst>
              </a:tr>
              <a:tr h="215088">
                <a:tc>
                  <a:txBody>
                    <a:bodyPr/>
                    <a:lstStyle/>
                    <a:p>
                      <a:r>
                        <a:rPr lang="en-US" sz="600" cap="none" spc="0" dirty="0">
                          <a:solidFill>
                            <a:schemeClr val="bg1"/>
                          </a:solidFill>
                          <a:effectLst/>
                        </a:rPr>
                        <a:t>A national airline uses a private cloud to store passenger details but utilizes a public cloud for flight booking and customer engagement.</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3190102099"/>
                  </a:ext>
                </a:extLst>
              </a:tr>
              <a:tr h="215088">
                <a:tc>
                  <a:txBody>
                    <a:bodyPr/>
                    <a:lstStyle/>
                    <a:p>
                      <a:r>
                        <a:rPr lang="en-US" sz="600" cap="none" spc="0" dirty="0">
                          <a:solidFill>
                            <a:schemeClr val="bg1"/>
                          </a:solidFill>
                          <a:effectLst/>
                        </a:rPr>
                        <a:t>A multinational media company creates a shared cloud with partners to store and distribute high-resolution video content.</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2837572850"/>
                  </a:ext>
                </a:extLst>
              </a:tr>
              <a:tr h="215088">
                <a:tc>
                  <a:txBody>
                    <a:bodyPr/>
                    <a:lstStyle/>
                    <a:p>
                      <a:r>
                        <a:rPr lang="en-US" sz="600" cap="none" spc="0" dirty="0">
                          <a:solidFill>
                            <a:schemeClr val="bg1"/>
                          </a:solidFill>
                          <a:effectLst/>
                        </a:rPr>
                        <a:t>A university allows students to run machine learning models using a mix of on-campus cloud infrastructure and Google Cloud.</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1402985213"/>
                  </a:ext>
                </a:extLst>
              </a:tr>
              <a:tr h="215088">
                <a:tc>
                  <a:txBody>
                    <a:bodyPr/>
                    <a:lstStyle/>
                    <a:p>
                      <a:r>
                        <a:rPr lang="en-US" sz="600" cap="none" spc="0" dirty="0">
                          <a:solidFill>
                            <a:schemeClr val="bg1"/>
                          </a:solidFill>
                          <a:effectLst/>
                        </a:rPr>
                        <a:t>A defense organization develops classified applications on an in-house, restricted-access cloud.</a:t>
                      </a:r>
                    </a:p>
                  </a:txBody>
                  <a:tcPr marL="32320" marR="0" marT="9234" marB="69258"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4221442741"/>
                  </a:ext>
                </a:extLst>
              </a:tr>
              <a:tr h="215088">
                <a:tc>
                  <a:txBody>
                    <a:bodyPr/>
                    <a:lstStyle/>
                    <a:p>
                      <a:r>
                        <a:rPr lang="en-US" sz="600" cap="none" spc="0" dirty="0">
                          <a:solidFill>
                            <a:schemeClr val="bg1"/>
                          </a:solidFill>
                          <a:effectLst/>
                        </a:rPr>
                        <a:t>A group of non-profit organizations working on environmental research shares a cloud to analyze climate data.</a:t>
                      </a:r>
                    </a:p>
                  </a:txBody>
                  <a:tcPr marL="32320" marR="0" marT="9234" marB="69258"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endParaRPr lang="en-US" sz="600" cap="none" spc="0" dirty="0">
                        <a:solidFill>
                          <a:schemeClr val="bg1"/>
                        </a:solidFill>
                        <a:effectLst/>
                      </a:endParaRPr>
                    </a:p>
                  </a:txBody>
                  <a:tcPr marL="32320" marR="0" marT="9234" marB="69258"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3121758340"/>
                  </a:ext>
                </a:extLst>
              </a:tr>
            </a:tbl>
          </a:graphicData>
        </a:graphic>
      </p:graphicFrame>
    </p:spTree>
    <p:extLst>
      <p:ext uri="{BB962C8B-B14F-4D97-AF65-F5344CB8AC3E}">
        <p14:creationId xmlns:p14="http://schemas.microsoft.com/office/powerpoint/2010/main" val="1694277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60E72-ACE7-36FA-BC3D-4E8FD4512E89}"/>
              </a:ext>
            </a:extLst>
          </p:cNvPr>
          <p:cNvSpPr>
            <a:spLocks noGrp="1"/>
          </p:cNvSpPr>
          <p:nvPr>
            <p:ph type="title"/>
          </p:nvPr>
        </p:nvSpPr>
        <p:spPr/>
        <p:txBody>
          <a:bodyPr/>
          <a:lstStyle/>
          <a:p>
            <a:r>
              <a:rPr lang="en-US" dirty="0">
                <a:ea typeface="Calibri Light"/>
                <a:cs typeface="Calibri Light"/>
              </a:rPr>
              <a:t>Learning Activity 1:</a:t>
            </a:r>
            <a:endParaRPr lang="en-US" dirty="0"/>
          </a:p>
        </p:txBody>
      </p:sp>
      <p:sp>
        <p:nvSpPr>
          <p:cNvPr id="3" name="Content Placeholder 2">
            <a:extLst>
              <a:ext uri="{FF2B5EF4-FFF2-40B4-BE49-F238E27FC236}">
                <a16:creationId xmlns:a16="http://schemas.microsoft.com/office/drawing/2014/main" id="{9D99258A-70C7-280F-4EA0-A2BC4EA3A42E}"/>
              </a:ext>
            </a:extLst>
          </p:cNvPr>
          <p:cNvSpPr>
            <a:spLocks noGrp="1"/>
          </p:cNvSpPr>
          <p:nvPr>
            <p:ph idx="1"/>
          </p:nvPr>
        </p:nvSpPr>
        <p:spPr/>
        <p:txBody>
          <a:bodyPr vert="horz" lIns="0" tIns="45720" rIns="0" bIns="45720" rtlCol="0" anchor="t">
            <a:normAutofit/>
          </a:bodyPr>
          <a:lstStyle/>
          <a:p>
            <a:r>
              <a:rPr lang="en-US" sz="1200" dirty="0">
                <a:solidFill>
                  <a:srgbClr val="2D3B45"/>
                </a:solidFill>
                <a:ea typeface="+mn-lt"/>
                <a:cs typeface="+mn-lt"/>
              </a:rPr>
              <a:t>Do your research on the internet and find a real-life case study for one of the deployment models discussed in this module (public, private, hybrid or community). Write about the case study in your own words in the discussion forum and include details about the scenario, current and future requirements, and why the chosen model is the best option for the company in no more than 300 words.</a:t>
            </a:r>
            <a:endParaRPr lang="en-US" dirty="0">
              <a:ea typeface="Calibri" panose="020F0502020204030204"/>
              <a:cs typeface="Calibri" panose="020F0502020204030204"/>
            </a:endParaRPr>
          </a:p>
          <a:p>
            <a:r>
              <a:rPr lang="en-US" sz="1200" dirty="0">
                <a:solidFill>
                  <a:srgbClr val="2D3B45"/>
                </a:solidFill>
                <a:ea typeface="+mn-lt"/>
                <a:cs typeface="+mn-lt"/>
              </a:rPr>
              <a:t>As part of the exercise, you may want to consider drawing a mind map outlining the various considerations the company may have had to make when migrating to the cloud. You could do this as a hand-drawn image or take a photo then upload it to the discussion </a:t>
            </a:r>
            <a:r>
              <a:rPr lang="en-US" sz="1200">
                <a:solidFill>
                  <a:srgbClr val="2D3B45"/>
                </a:solidFill>
                <a:ea typeface="+mn-lt"/>
                <a:cs typeface="+mn-lt"/>
              </a:rPr>
              <a:t>forum or</a:t>
            </a:r>
            <a:r>
              <a:rPr lang="en-US" sz="1200" dirty="0">
                <a:solidFill>
                  <a:srgbClr val="2D3B45"/>
                </a:solidFill>
                <a:ea typeface="+mn-lt"/>
                <a:cs typeface="+mn-lt"/>
              </a:rPr>
              <a:t> draw it in an application like PowerPoint.</a:t>
            </a:r>
            <a:endParaRPr lang="en-US" dirty="0"/>
          </a:p>
          <a:p>
            <a:endParaRPr lang="en-US" dirty="0">
              <a:ea typeface="Calibri"/>
              <a:cs typeface="Calibri"/>
            </a:endParaRPr>
          </a:p>
        </p:txBody>
      </p:sp>
    </p:spTree>
    <p:extLst>
      <p:ext uri="{BB962C8B-B14F-4D97-AF65-F5344CB8AC3E}">
        <p14:creationId xmlns:p14="http://schemas.microsoft.com/office/powerpoint/2010/main" val="458619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64A19F-0A6A-E855-1587-317F8823E698}"/>
              </a:ext>
            </a:extLst>
          </p:cNvPr>
          <p:cNvSpPr txBox="1"/>
          <p:nvPr/>
        </p:nvSpPr>
        <p:spPr>
          <a:xfrm>
            <a:off x="384719" y="143108"/>
            <a:ext cx="11506197"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Case Study: Airbnb's Migration to Public Cloud</a:t>
            </a:r>
          </a:p>
          <a:p>
            <a:r>
              <a:rPr lang="en-US"/>
              <a:t>In its early stages, Airbnb faced challenges with its initial cloud service provider, particularly concerning service administration and scalability. To address these issues, Airbnb decided to migrate nearly all of its cloud computing functions to Amazon Web Services (AWS). This move allowed Airbnb to efficiently manage and customize its infrastructure, enabling rapid scaling to meet the demands of its growing user base. The flexibility and extensive services offered by AWS provided Airbnb with the necessary tools to enhance performance and support its expanding operations. </a:t>
            </a:r>
          </a:p>
          <a:p>
            <a:r>
              <a:rPr lang="en-US">
                <a:hlinkClick r:id="rId2"/>
              </a:rPr>
              <a:t>Amazon Web Services</a:t>
            </a:r>
          </a:p>
          <a:p>
            <a:endParaRPr lang="en-US"/>
          </a:p>
          <a:p>
            <a:r>
              <a:rPr lang="en-US" b="1"/>
              <a:t>Scenario:</a:t>
            </a:r>
            <a:r>
              <a:rPr lang="en-US"/>
              <a:t> Airbnb, a platform connecting hosts with travelers, experienced rapid growth, necessitating a robust and scalable infrastructure. The company required a solution that could handle fluctuating workloads, ensure high availability, and support global expansion.</a:t>
            </a:r>
          </a:p>
          <a:p>
            <a:r>
              <a:rPr lang="en-US" b="1"/>
              <a:t>Current and Future Requirements:</a:t>
            </a:r>
          </a:p>
          <a:p>
            <a:pPr>
              <a:buFont typeface=""/>
              <a:buChar char="•"/>
            </a:pPr>
            <a:r>
              <a:rPr lang="en-US" b="1"/>
              <a:t>Scalability:</a:t>
            </a:r>
            <a:r>
              <a:rPr lang="en-US"/>
              <a:t> Ability to accommodate increasing user traffic and data storage needs.</a:t>
            </a:r>
          </a:p>
          <a:p>
            <a:pPr>
              <a:buFont typeface=""/>
              <a:buChar char="•"/>
            </a:pPr>
            <a:r>
              <a:rPr lang="en-US" b="1"/>
              <a:t>Reliability:</a:t>
            </a:r>
            <a:r>
              <a:rPr lang="en-US"/>
              <a:t> Ensure consistent uptime and quick recovery from potential failures.</a:t>
            </a:r>
          </a:p>
          <a:p>
            <a:pPr>
              <a:buFont typeface=""/>
              <a:buChar char="•"/>
            </a:pPr>
            <a:r>
              <a:rPr lang="en-US" b="1"/>
              <a:t>Global Reach:</a:t>
            </a:r>
            <a:r>
              <a:rPr lang="en-US"/>
              <a:t> Support services in multiple regions worldwide.</a:t>
            </a:r>
          </a:p>
          <a:p>
            <a:pPr>
              <a:buFont typeface=""/>
              <a:buChar char="•"/>
            </a:pPr>
            <a:r>
              <a:rPr lang="en-US" b="1"/>
              <a:t>Cost Efficiency:</a:t>
            </a:r>
            <a:r>
              <a:rPr lang="en-US"/>
              <a:t> Optimize operational costs while maintaining performance.</a:t>
            </a:r>
          </a:p>
          <a:p>
            <a:r>
              <a:rPr lang="en-US" b="1"/>
              <a:t>Why Public Cloud (AWS) Was the Best Option:</a:t>
            </a:r>
            <a:r>
              <a:rPr lang="en-US"/>
              <a:t> Migrating to AWS's public cloud offered Airbnb several advantages:</a:t>
            </a:r>
          </a:p>
          <a:p>
            <a:pPr>
              <a:buFont typeface=""/>
              <a:buChar char="•"/>
            </a:pPr>
            <a:r>
              <a:rPr lang="en-US" b="1"/>
              <a:t>Elasticity:</a:t>
            </a:r>
            <a:r>
              <a:rPr lang="en-US"/>
              <a:t> AWS's infrastructure allowed Airbnb to scale resources up or down based on demand, ensuring efficient use of resources.</a:t>
            </a:r>
          </a:p>
          <a:p>
            <a:pPr>
              <a:buFont typeface=""/>
              <a:buChar char="•"/>
            </a:pPr>
            <a:r>
              <a:rPr lang="en-US" b="1"/>
              <a:t>Comprehensive Services:</a:t>
            </a:r>
            <a:r>
              <a:rPr lang="en-US"/>
              <a:t> Access to a wide range of services, including computing power, storage solutions, and databases, facilitated rapid development and deployment of new features.</a:t>
            </a:r>
          </a:p>
          <a:p>
            <a:pPr>
              <a:buFont typeface=""/>
              <a:buChar char="•"/>
            </a:pPr>
            <a:r>
              <a:rPr lang="en-US" b="1"/>
              <a:t>Global Infrastructure:</a:t>
            </a:r>
            <a:r>
              <a:rPr lang="en-US"/>
              <a:t> AWS's worldwide data centers enabled Airbnb to provide low-latency experiences to users across the globe.</a:t>
            </a:r>
          </a:p>
          <a:p>
            <a:pPr>
              <a:buFont typeface=""/>
              <a:buChar char="•"/>
            </a:pPr>
            <a:r>
              <a:rPr lang="en-US" b="1"/>
              <a:t>Cost Management:</a:t>
            </a:r>
            <a:r>
              <a:rPr lang="en-US"/>
              <a:t> The pay-as-you-go pricing model helped Airbnb manage costs effectively, aligning expenses with actual usage.</a:t>
            </a:r>
          </a:p>
        </p:txBody>
      </p:sp>
    </p:spTree>
    <p:extLst>
      <p:ext uri="{BB962C8B-B14F-4D97-AF65-F5344CB8AC3E}">
        <p14:creationId xmlns:p14="http://schemas.microsoft.com/office/powerpoint/2010/main" val="4133684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48AE-590C-8017-974B-C43D4E9830C8}"/>
              </a:ext>
            </a:extLst>
          </p:cNvPr>
          <p:cNvSpPr>
            <a:spLocks noGrp="1"/>
          </p:cNvSpPr>
          <p:nvPr>
            <p:ph type="title"/>
          </p:nvPr>
        </p:nvSpPr>
        <p:spPr/>
        <p:txBody>
          <a:bodyPr/>
          <a:lstStyle/>
          <a:p>
            <a:r>
              <a:rPr lang="en-US" dirty="0">
                <a:ea typeface="Calibri Light"/>
                <a:cs typeface="Calibri Light"/>
              </a:rPr>
              <a:t>Learning Activity 2:</a:t>
            </a:r>
            <a:endParaRPr lang="en-US" dirty="0"/>
          </a:p>
        </p:txBody>
      </p:sp>
      <p:sp>
        <p:nvSpPr>
          <p:cNvPr id="3" name="Content Placeholder 2">
            <a:extLst>
              <a:ext uri="{FF2B5EF4-FFF2-40B4-BE49-F238E27FC236}">
                <a16:creationId xmlns:a16="http://schemas.microsoft.com/office/drawing/2014/main" id="{FC142440-A294-2A08-6A50-B1DD4EE30FEC}"/>
              </a:ext>
            </a:extLst>
          </p:cNvPr>
          <p:cNvSpPr>
            <a:spLocks noGrp="1"/>
          </p:cNvSpPr>
          <p:nvPr>
            <p:ph idx="1"/>
          </p:nvPr>
        </p:nvSpPr>
        <p:spPr/>
        <p:txBody>
          <a:bodyPr vert="horz" lIns="0" tIns="45720" rIns="0" bIns="45720" rtlCol="0" anchor="t">
            <a:normAutofit/>
          </a:bodyPr>
          <a:lstStyle/>
          <a:p>
            <a:r>
              <a:rPr lang="en-US" dirty="0">
                <a:ea typeface="+mn-lt"/>
                <a:cs typeface="+mn-lt"/>
              </a:rPr>
              <a:t>There are various business challenges associated with Cloud deployments. ‘Higher costs’ are regarded as one of them. Read the following white paper titled ‘</a:t>
            </a:r>
            <a:r>
              <a:rPr lang="en-US" dirty="0" err="1">
                <a:ea typeface="+mn-lt"/>
                <a:cs typeface="+mn-lt"/>
              </a:rPr>
              <a:t>IT@Intel</a:t>
            </a:r>
            <a:r>
              <a:rPr lang="en-US" dirty="0">
                <a:ea typeface="+mn-lt"/>
                <a:cs typeface="+mn-lt"/>
              </a:rPr>
              <a:t> Brief, A Holistic Cloud Approach for Big Savings’ and answer the following questions: What are the business challenges associated with higher cloud costs? What are the strategies adopted by the vendor to reduce costs? Briefly discuss one of the cost reduction strategies that you think can be applicable if you wish to deploy a service in the cloud. Post your answer to the Module 3 discussion forum.</a:t>
            </a:r>
            <a:endParaRPr lang="en-US" dirty="0"/>
          </a:p>
        </p:txBody>
      </p:sp>
    </p:spTree>
    <p:extLst>
      <p:ext uri="{BB962C8B-B14F-4D97-AF65-F5344CB8AC3E}">
        <p14:creationId xmlns:p14="http://schemas.microsoft.com/office/powerpoint/2010/main" val="2078663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32D0FA-F417-7E6C-6BE4-E5A33D594B7A}"/>
              </a:ext>
            </a:extLst>
          </p:cNvPr>
          <p:cNvSpPr txBox="1"/>
          <p:nvPr/>
        </p:nvSpPr>
        <p:spPr>
          <a:xfrm>
            <a:off x="728547" y="152400"/>
            <a:ext cx="10865003"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Business Challenges Associated with Higher Cloud Costs:</a:t>
            </a:r>
          </a:p>
          <a:p>
            <a:pPr>
              <a:buFont typeface=""/>
              <a:buAutoNum type="arabicPeriod"/>
            </a:pPr>
            <a:r>
              <a:rPr lang="en-US" b="1"/>
              <a:t>Slower Time-to-Market (TTM)</a:t>
            </a:r>
            <a:r>
              <a:rPr lang="en-US"/>
              <a:t>: Without a standard approach to cloud solutions, business groups often face delays and inefficiencies in implementing cloud services, resulting in slower project execution.</a:t>
            </a:r>
          </a:p>
          <a:p>
            <a:pPr>
              <a:buFont typeface=""/>
              <a:buAutoNum type="arabicPeriod"/>
            </a:pPr>
            <a:r>
              <a:rPr lang="en-US" b="1"/>
              <a:t>Inefficient Management</a:t>
            </a:r>
            <a:r>
              <a:rPr lang="en-US"/>
              <a:t>: The use of disparate cloud accounts leads to inconsistent technology stacks and a lack of integration. This hampers optimization and alignment of workloads for maximum performance.</a:t>
            </a:r>
          </a:p>
          <a:p>
            <a:pPr>
              <a:buFont typeface=""/>
              <a:buAutoNum type="arabicPeriod"/>
            </a:pPr>
            <a:r>
              <a:rPr lang="en-US" b="1"/>
              <a:t>Higher Costs</a:t>
            </a:r>
            <a:r>
              <a:rPr lang="en-US"/>
              <a:t>: Different departments or business units using separate cloud accounts prevents cost consolidation. This makes it difficult to negotiate better pricing, leading to missed opportunities for savings.</a:t>
            </a:r>
          </a:p>
          <a:p>
            <a:r>
              <a:rPr lang="en-US" b="1"/>
              <a:t>Strategies Adopted to Reduce Cloud Costs:</a:t>
            </a:r>
          </a:p>
          <a:p>
            <a:pPr>
              <a:buFont typeface=""/>
              <a:buAutoNum type="arabicPeriod"/>
            </a:pPr>
            <a:r>
              <a:rPr lang="en-US" b="1"/>
              <a:t>Centralized Management</a:t>
            </a:r>
            <a:r>
              <a:rPr lang="en-US"/>
              <a:t>: Intel centralized its cloud accounts and workloads, enabling them to optimize resources and negotiate better discounts with cloud providers.</a:t>
            </a:r>
          </a:p>
          <a:p>
            <a:pPr>
              <a:buFont typeface=""/>
              <a:buAutoNum type="arabicPeriod"/>
            </a:pPr>
            <a:r>
              <a:rPr lang="en-US" b="1"/>
              <a:t>Reserved Instances (RIs)</a:t>
            </a:r>
            <a:r>
              <a:rPr lang="en-US"/>
              <a:t>: By reserving cloud capacity for one or three years, Intel achieved significant savings (around 30-35%) compared to on-demand pricing.</a:t>
            </a:r>
          </a:p>
          <a:p>
            <a:pPr>
              <a:buFont typeface=""/>
              <a:buAutoNum type="arabicPeriod"/>
            </a:pPr>
            <a:r>
              <a:rPr lang="en-US" b="1"/>
              <a:t>Run-rate Discounts</a:t>
            </a:r>
            <a:r>
              <a:rPr lang="en-US"/>
              <a:t>: Combining workloads across the enterprise helped Intel understand their cloud spending and qualify for larger discounts from cloud providers.</a:t>
            </a:r>
          </a:p>
          <a:p>
            <a:pPr>
              <a:buFont typeface=""/>
              <a:buAutoNum type="arabicPeriod"/>
            </a:pPr>
            <a:r>
              <a:rPr lang="en-US" b="1"/>
              <a:t>Spot Instances with Artificial Intelligence (AI)</a:t>
            </a:r>
            <a:r>
              <a:rPr lang="en-US"/>
              <a:t>: Intel uses AI to predict the loss of spot instances ahead of time, allowing them to reallocate workloads to other resources. This approach saved Intel 75-80% over on-demand costs.</a:t>
            </a:r>
          </a:p>
          <a:p>
            <a:r>
              <a:rPr lang="en-US" b="1"/>
              <a:t>Applicable Cost Reduction Strategy for Cloud Deployment:</a:t>
            </a:r>
          </a:p>
          <a:p>
            <a:r>
              <a:rPr lang="en-US"/>
              <a:t>One strategy that can be particularly applicable when deploying a service in the cloud is using </a:t>
            </a:r>
            <a:r>
              <a:rPr lang="en-US" b="1"/>
              <a:t>Reserved Instances (RIs)</a:t>
            </a:r>
            <a:r>
              <a:rPr lang="en-US"/>
              <a:t>. This approach allows you to reserve cloud resources for a fixed period (one or three years) at a significantly lower cost than on-demand pricing. For businesses with predictable workloads or services that do not need frequent scaling, RIs offer substantial savings while ensuring resource availability. By committing to reserved resources, you can avoid fluctuating hourly rates and plan your infrastructure costs in a more stable and predictable manner, ultimately improving cost efficiency.</a:t>
            </a:r>
          </a:p>
          <a:p>
            <a:r>
              <a:rPr lang="en-US"/>
              <a:t>This approach would be valuable for organizations looking to streamline their cloud spend while ensuring that their critical services and applications remain available without unexpected cost spikes.</a:t>
            </a:r>
          </a:p>
        </p:txBody>
      </p:sp>
    </p:spTree>
    <p:extLst>
      <p:ext uri="{BB962C8B-B14F-4D97-AF65-F5344CB8AC3E}">
        <p14:creationId xmlns:p14="http://schemas.microsoft.com/office/powerpoint/2010/main" val="394828443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362</TotalTime>
  <Words>993</Words>
  <Application>Microsoft Office PowerPoint</Application>
  <PresentationFormat>Widescreen</PresentationFormat>
  <Paragraphs>94</Paragraphs>
  <Slides>31</Slides>
  <Notes>2</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Retrospect</vt:lpstr>
      <vt:lpstr>Module 3: Cloud Computing Deployment Models</vt:lpstr>
      <vt:lpstr>Quiz for revising on previous work</vt:lpstr>
      <vt:lpstr>Continued . . . .  </vt:lpstr>
      <vt:lpstr> off-premises versus on-premises cloud computing </vt:lpstr>
      <vt:lpstr>Deployment Models</vt:lpstr>
      <vt:lpstr>Public cloud</vt:lpstr>
      <vt:lpstr>Public cloud</vt:lpstr>
      <vt:lpstr>Benefits of Public Cloud</vt:lpstr>
      <vt:lpstr>Drawbacks of Public Cloud</vt:lpstr>
      <vt:lpstr>Responsibilities of Public Cloud</vt:lpstr>
      <vt:lpstr>Security Considerations</vt:lpstr>
      <vt:lpstr>Private cloud</vt:lpstr>
      <vt:lpstr>Benefits of Private cloud</vt:lpstr>
      <vt:lpstr>Drawbacks of Private cloud</vt:lpstr>
      <vt:lpstr>Responsibilities of Private cloud</vt:lpstr>
      <vt:lpstr>Security Considerations of Private cloud</vt:lpstr>
      <vt:lpstr>Example of Private cloud</vt:lpstr>
      <vt:lpstr>Hybrid cloud</vt:lpstr>
      <vt:lpstr>Hybrid cloud</vt:lpstr>
      <vt:lpstr>PowerPoint Presentation</vt:lpstr>
      <vt:lpstr>Why does hybrid cloud matter?</vt:lpstr>
      <vt:lpstr>Hybrid cloud benefits</vt:lpstr>
      <vt:lpstr>Hybrid cloud Drawbacks</vt:lpstr>
      <vt:lpstr>COMMUNITY CLOUDS</vt:lpstr>
      <vt:lpstr>COMMUNITY CLOUDS Drawbacks</vt:lpstr>
      <vt:lpstr>Cloud Computing Architecture: Roles</vt:lpstr>
      <vt:lpstr>In class activity : Cloud type</vt:lpstr>
      <vt:lpstr>Learning Activity 1:</vt:lpstr>
      <vt:lpstr>PowerPoint Presentation</vt:lpstr>
      <vt:lpstr>Learning Activity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138</cp:revision>
  <dcterms:created xsi:type="dcterms:W3CDTF">2022-04-12T02:48:13Z</dcterms:created>
  <dcterms:modified xsi:type="dcterms:W3CDTF">2025-09-28T00:22:12Z</dcterms:modified>
</cp:coreProperties>
</file>