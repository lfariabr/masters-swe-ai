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
  </p:sldMasterIdLst>
  <p:notesMasterIdLst>
    <p:notesMasterId r:id="rId30"/>
  </p:notesMasterIdLst>
  <p:handoutMasterIdLst>
    <p:handoutMasterId r:id="rId31"/>
  </p:handoutMasterIdLst>
  <p:sldIdLst>
    <p:sldId id="293" r:id="rId2"/>
    <p:sldId id="316" r:id="rId3"/>
    <p:sldId id="295" r:id="rId4"/>
    <p:sldId id="284" r:id="rId5"/>
    <p:sldId id="285" r:id="rId6"/>
    <p:sldId id="311" r:id="rId7"/>
    <p:sldId id="286" r:id="rId8"/>
    <p:sldId id="301" r:id="rId9"/>
    <p:sldId id="300" r:id="rId10"/>
    <p:sldId id="302" r:id="rId11"/>
    <p:sldId id="303" r:id="rId12"/>
    <p:sldId id="312" r:id="rId13"/>
    <p:sldId id="304" r:id="rId14"/>
    <p:sldId id="305" r:id="rId15"/>
    <p:sldId id="287" r:id="rId16"/>
    <p:sldId id="288" r:id="rId17"/>
    <p:sldId id="313" r:id="rId18"/>
    <p:sldId id="289" r:id="rId19"/>
    <p:sldId id="306" r:id="rId20"/>
    <p:sldId id="307" r:id="rId21"/>
    <p:sldId id="290" r:id="rId22"/>
    <p:sldId id="291" r:id="rId23"/>
    <p:sldId id="309" r:id="rId24"/>
    <p:sldId id="292" r:id="rId25"/>
    <p:sldId id="310" r:id="rId26"/>
    <p:sldId id="314" r:id="rId27"/>
    <p:sldId id="315" r:id="rId28"/>
    <p:sldId id="25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76499" autoAdjust="0"/>
  </p:normalViewPr>
  <p:slideViewPr>
    <p:cSldViewPr snapToGrid="0">
      <p:cViewPr varScale="1">
        <p:scale>
          <a:sx n="84" d="100"/>
          <a:sy n="84" d="100"/>
        </p:scale>
        <p:origin x="168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BF7164-BD4E-47A9-866D-4E8AC2B9FB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AU"/>
              <a:t>ISY503 Intelligent Systems</a:t>
            </a:r>
          </a:p>
        </p:txBody>
      </p:sp>
      <p:sp>
        <p:nvSpPr>
          <p:cNvPr id="3" name="Date Placeholder 2">
            <a:extLst>
              <a:ext uri="{FF2B5EF4-FFF2-40B4-BE49-F238E27FC236}">
                <a16:creationId xmlns:a16="http://schemas.microsoft.com/office/drawing/2014/main" id="{061DD975-F6A3-42C8-9391-682BEBF5B9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F71FA5-567C-41D2-B207-D8D003DB84CF}" type="datetimeFigureOut">
              <a:rPr lang="en-AU" smtClean="0"/>
              <a:t>10/03/2025</a:t>
            </a:fld>
            <a:endParaRPr lang="en-AU"/>
          </a:p>
        </p:txBody>
      </p:sp>
      <p:sp>
        <p:nvSpPr>
          <p:cNvPr id="4" name="Footer Placeholder 3">
            <a:extLst>
              <a:ext uri="{FF2B5EF4-FFF2-40B4-BE49-F238E27FC236}">
                <a16:creationId xmlns:a16="http://schemas.microsoft.com/office/drawing/2014/main" id="{E1BB0516-EA71-4387-8E22-64D2AE16A45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0E49DD0D-3ACB-4C8B-AB0E-7554358031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5AB5A63-5D42-4E0B-8C7D-5397ED7B6FB4}" type="slidenum">
              <a:rPr lang="en-AU" smtClean="0"/>
              <a:t>‹#›</a:t>
            </a:fld>
            <a:endParaRPr lang="en-AU"/>
          </a:p>
        </p:txBody>
      </p:sp>
    </p:spTree>
    <p:extLst>
      <p:ext uri="{BB962C8B-B14F-4D97-AF65-F5344CB8AC3E}">
        <p14:creationId xmlns:p14="http://schemas.microsoft.com/office/powerpoint/2010/main" val="3365333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AU"/>
              <a:t>ISY503 Intelligent Systems</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7CC2E7-36C7-4086-BFF0-D38F59C0E642}" type="datetimeFigureOut">
              <a:rPr lang="en-AU" smtClean="0"/>
              <a:t>10/03/2025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A084AC-35BC-4CB6-A030-8A49229F1A96}" type="slidenum">
              <a:rPr lang="en-AU" smtClean="0"/>
              <a:t>‹#›</a:t>
            </a:fld>
            <a:endParaRPr lang="en-AU"/>
          </a:p>
        </p:txBody>
      </p:sp>
    </p:spTree>
    <p:extLst>
      <p:ext uri="{BB962C8B-B14F-4D97-AF65-F5344CB8AC3E}">
        <p14:creationId xmlns:p14="http://schemas.microsoft.com/office/powerpoint/2010/main" val="595606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Saas</a:t>
            </a:r>
          </a:p>
          <a:p>
            <a:r>
              <a:rPr lang="en-US" dirty="0" err="1"/>
              <a:t>Paas</a:t>
            </a:r>
            <a:endParaRPr lang="en-US" dirty="0"/>
          </a:p>
          <a:p>
            <a:r>
              <a:rPr lang="en-US" dirty="0" err="1"/>
              <a:t>Iaas</a:t>
            </a:r>
            <a:endParaRPr lang="en-US" dirty="0"/>
          </a:p>
          <a:p>
            <a:endParaRPr lang="en-AU" dirty="0"/>
          </a:p>
        </p:txBody>
      </p:sp>
      <p:sp>
        <p:nvSpPr>
          <p:cNvPr id="4" name="Slide Number Placeholder 3"/>
          <p:cNvSpPr>
            <a:spLocks noGrp="1"/>
          </p:cNvSpPr>
          <p:nvPr>
            <p:ph type="sldNum" sz="quarter" idx="5"/>
          </p:nvPr>
        </p:nvSpPr>
        <p:spPr/>
        <p:txBody>
          <a:bodyPr/>
          <a:lstStyle/>
          <a:p>
            <a:fld id="{27A084AC-35BC-4CB6-A030-8A49229F1A96}" type="slidenum">
              <a:rPr lang="en-AU" smtClean="0"/>
              <a:t>3</a:t>
            </a:fld>
            <a:endParaRPr lang="en-AU"/>
          </a:p>
        </p:txBody>
      </p:sp>
    </p:spTree>
    <p:extLst>
      <p:ext uri="{BB962C8B-B14F-4D97-AF65-F5344CB8AC3E}">
        <p14:creationId xmlns:p14="http://schemas.microsoft.com/office/powerpoint/2010/main" val="2728532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7A084AC-35BC-4CB6-A030-8A49229F1A96}" type="slidenum">
              <a:rPr lang="en-AU" smtClean="0"/>
              <a:t>5</a:t>
            </a:fld>
            <a:endParaRPr lang="en-AU"/>
          </a:p>
        </p:txBody>
      </p:sp>
    </p:spTree>
    <p:extLst>
      <p:ext uri="{BB962C8B-B14F-4D97-AF65-F5344CB8AC3E}">
        <p14:creationId xmlns:p14="http://schemas.microsoft.com/office/powerpoint/2010/main" val="1112879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7A084AC-35BC-4CB6-A030-8A49229F1A96}" type="slidenum">
              <a:rPr lang="en-AU" smtClean="0"/>
              <a:t>8</a:t>
            </a:fld>
            <a:endParaRPr lang="en-AU"/>
          </a:p>
        </p:txBody>
      </p:sp>
    </p:spTree>
    <p:extLst>
      <p:ext uri="{BB962C8B-B14F-4D97-AF65-F5344CB8AC3E}">
        <p14:creationId xmlns:p14="http://schemas.microsoft.com/office/powerpoint/2010/main" val="8772619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7A084AC-35BC-4CB6-A030-8A49229F1A96}" type="slidenum">
              <a:rPr lang="en-AU" smtClean="0"/>
              <a:t>15</a:t>
            </a:fld>
            <a:endParaRPr lang="en-AU"/>
          </a:p>
        </p:txBody>
      </p:sp>
    </p:spTree>
    <p:extLst>
      <p:ext uri="{BB962C8B-B14F-4D97-AF65-F5344CB8AC3E}">
        <p14:creationId xmlns:p14="http://schemas.microsoft.com/office/powerpoint/2010/main" val="3870831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7A084AC-35BC-4CB6-A030-8A49229F1A96}" type="slidenum">
              <a:rPr lang="en-AU" smtClean="0"/>
              <a:t>16</a:t>
            </a:fld>
            <a:endParaRPr lang="en-AU"/>
          </a:p>
        </p:txBody>
      </p:sp>
    </p:spTree>
    <p:extLst>
      <p:ext uri="{BB962C8B-B14F-4D97-AF65-F5344CB8AC3E}">
        <p14:creationId xmlns:p14="http://schemas.microsoft.com/office/powerpoint/2010/main" val="2670584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7A084AC-35BC-4CB6-A030-8A49229F1A96}" type="slidenum">
              <a:rPr lang="en-AU" smtClean="0"/>
              <a:t>19</a:t>
            </a:fld>
            <a:endParaRPr lang="en-AU"/>
          </a:p>
        </p:txBody>
      </p:sp>
    </p:spTree>
    <p:extLst>
      <p:ext uri="{BB962C8B-B14F-4D97-AF65-F5344CB8AC3E}">
        <p14:creationId xmlns:p14="http://schemas.microsoft.com/office/powerpoint/2010/main" val="1905831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7A084AC-35BC-4CB6-A030-8A49229F1A96}" type="slidenum">
              <a:rPr lang="en-AU" smtClean="0"/>
              <a:t>21</a:t>
            </a:fld>
            <a:endParaRPr lang="en-AU"/>
          </a:p>
        </p:txBody>
      </p:sp>
    </p:spTree>
    <p:extLst>
      <p:ext uri="{BB962C8B-B14F-4D97-AF65-F5344CB8AC3E}">
        <p14:creationId xmlns:p14="http://schemas.microsoft.com/office/powerpoint/2010/main" val="3900702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7A084AC-35BC-4CB6-A030-8A49229F1A96}" type="slidenum">
              <a:rPr lang="en-AU" smtClean="0"/>
              <a:t>23</a:t>
            </a:fld>
            <a:endParaRPr lang="en-AU"/>
          </a:p>
        </p:txBody>
      </p:sp>
    </p:spTree>
    <p:extLst>
      <p:ext uri="{BB962C8B-B14F-4D97-AF65-F5344CB8AC3E}">
        <p14:creationId xmlns:p14="http://schemas.microsoft.com/office/powerpoint/2010/main" val="23830079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7A084AC-35BC-4CB6-A030-8A49229F1A96}" type="slidenum">
              <a:rPr lang="en-AU" smtClean="0"/>
              <a:t>26</a:t>
            </a:fld>
            <a:endParaRPr lang="en-AU"/>
          </a:p>
        </p:txBody>
      </p:sp>
    </p:spTree>
    <p:extLst>
      <p:ext uri="{BB962C8B-B14F-4D97-AF65-F5344CB8AC3E}">
        <p14:creationId xmlns:p14="http://schemas.microsoft.com/office/powerpoint/2010/main" val="345866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7A084AC-35BC-4CB6-A030-8A49229F1A96}" type="slidenum">
              <a:rPr lang="en-AU" smtClean="0"/>
              <a:t>27</a:t>
            </a:fld>
            <a:endParaRPr lang="en-AU"/>
          </a:p>
        </p:txBody>
      </p:sp>
    </p:spTree>
    <p:extLst>
      <p:ext uri="{BB962C8B-B14F-4D97-AF65-F5344CB8AC3E}">
        <p14:creationId xmlns:p14="http://schemas.microsoft.com/office/powerpoint/2010/main" val="40661474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12192000" cy="6858000"/>
            <a:chOff x="0" y="0"/>
            <a:chExt cx="12192000" cy="6858000"/>
          </a:xfrm>
        </p:grpSpPr>
        <p:sp>
          <p:nvSpPr>
            <p:cNvPr id="8" name="Rectangle 7"/>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Oval 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Oval 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Oval 10"/>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76279" y="1792223"/>
            <a:ext cx="990599" cy="304799"/>
          </a:xfrm>
        </p:spPr>
        <p:txBody>
          <a:bodyPr anchor="t"/>
          <a:lstStyle>
            <a:lvl1pPr algn="l">
              <a:defRPr b="0" i="0">
                <a:solidFill>
                  <a:schemeClr val="bg1"/>
                </a:solidFill>
              </a:defRPr>
            </a:lvl1pPr>
          </a:lstStyle>
          <a:p>
            <a:fld id="{402C6D1C-E8F2-44B0-B6F3-3A7E035B2D92}" type="datetime1">
              <a:rPr lang="en-AU" smtClean="0"/>
              <a:t>10/03/2025</a:t>
            </a:fld>
            <a:endParaRPr lang="en-AU"/>
          </a:p>
        </p:txBody>
      </p:sp>
      <p:sp>
        <p:nvSpPr>
          <p:cNvPr id="5" name="Footer Placeholder 4"/>
          <p:cNvSpPr>
            <a:spLocks noGrp="1"/>
          </p:cNvSpPr>
          <p:nvPr>
            <p:ph type="ftr" sz="quarter" idx="11"/>
          </p:nvPr>
        </p:nvSpPr>
        <p:spPr bwMode="gray">
          <a:xfrm rot="5400000">
            <a:off x="8963575" y="3226820"/>
            <a:ext cx="3859795" cy="304801"/>
          </a:xfrm>
        </p:spPr>
        <p:txBody>
          <a:bodyPr anchor="b"/>
          <a:lstStyle>
            <a:lvl1pPr>
              <a:defRPr b="0" i="0">
                <a:solidFill>
                  <a:schemeClr val="bg1"/>
                </a:solidFill>
              </a:defRPr>
            </a:lvl1pPr>
          </a:lstStyle>
          <a:p>
            <a:r>
              <a:rPr lang="en-AU"/>
              <a:t>ISY503 Intelligent Systems</a:t>
            </a:r>
          </a:p>
        </p:txBody>
      </p:sp>
      <p:sp>
        <p:nvSpPr>
          <p:cNvPr id="17" name="Rectangle 16"/>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vl1pPr>
          </a:lstStyle>
          <a:p>
            <a:fld id="{AA9B4DDF-D983-43F6-9690-D9255D65AFD2}" type="slidenum">
              <a:rPr lang="en-AU" smtClean="0"/>
              <a:t>‹#›</a:t>
            </a:fld>
            <a:endParaRPr lang="en-AU"/>
          </a:p>
        </p:txBody>
      </p:sp>
    </p:spTree>
    <p:extLst>
      <p:ext uri="{BB962C8B-B14F-4D97-AF65-F5344CB8AC3E}">
        <p14:creationId xmlns:p14="http://schemas.microsoft.com/office/powerpoint/2010/main" val="2710055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1154954" y="947920"/>
            <a:ext cx="8761413" cy="72848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F3DBD1-40AE-4CD2-A951-CF6904D07FA4}" type="datetime1">
              <a:rPr lang="en-AU" smtClean="0"/>
              <a:t>10/03/2025</a:t>
            </a:fld>
            <a:endParaRPr lang="en-AU"/>
          </a:p>
        </p:txBody>
      </p:sp>
      <p:sp>
        <p:nvSpPr>
          <p:cNvPr id="5" name="Footer Placeholder 4"/>
          <p:cNvSpPr>
            <a:spLocks noGrp="1"/>
          </p:cNvSpPr>
          <p:nvPr>
            <p:ph type="ftr" sz="quarter" idx="11"/>
          </p:nvPr>
        </p:nvSpPr>
        <p:spPr/>
        <p:txBody>
          <a:bodyPr/>
          <a:lstStyle/>
          <a:p>
            <a:r>
              <a:rPr lang="en-US" dirty="0"/>
              <a:t>CCF501</a:t>
            </a:r>
            <a:endParaRPr lang="en-AU" dirty="0"/>
          </a:p>
        </p:txBody>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1068739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0" name="Group 9"/>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4"/>
            <a:ext cx="4351023" cy="2283823"/>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96FBC4D-481F-49AE-9837-E794A6B61009}" type="datetime1">
              <a:rPr lang="en-AU" smtClean="0"/>
              <a:t>10/03/2025</a:t>
            </a:fld>
            <a:endParaRPr lang="en-AU"/>
          </a:p>
        </p:txBody>
      </p:sp>
      <p:sp>
        <p:nvSpPr>
          <p:cNvPr id="5" name="Footer Placeholder 4"/>
          <p:cNvSpPr>
            <a:spLocks noGrp="1"/>
          </p:cNvSpPr>
          <p:nvPr>
            <p:ph type="ftr" sz="quarter" idx="11"/>
          </p:nvPr>
        </p:nvSpPr>
        <p:spPr/>
        <p:txBody>
          <a:bodyPr/>
          <a:lstStyle/>
          <a:p>
            <a:r>
              <a:rPr lang="en-AU"/>
              <a:t>ISY503 Intelligent Systems</a:t>
            </a:r>
          </a:p>
        </p:txBody>
      </p:sp>
      <p:sp>
        <p:nvSpPr>
          <p:cNvPr id="15" name="Rectangle 14"/>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435026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1368" y="2603500"/>
            <a:ext cx="4828744"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1" y="2603500"/>
            <a:ext cx="4825159" cy="3377705"/>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C0C6DA-37C0-46B4-B957-B8E62C3552E8}" type="datetime1">
              <a:rPr lang="en-AU" smtClean="0"/>
              <a:t>10/03/2025</a:t>
            </a:fld>
            <a:endParaRPr lang="en-AU"/>
          </a:p>
        </p:txBody>
      </p:sp>
      <p:sp>
        <p:nvSpPr>
          <p:cNvPr id="6" name="Footer Placeholder 5"/>
          <p:cNvSpPr>
            <a:spLocks noGrp="1"/>
          </p:cNvSpPr>
          <p:nvPr>
            <p:ph type="ftr" sz="quarter" idx="11"/>
          </p:nvPr>
        </p:nvSpPr>
        <p:spPr/>
        <p:txBody>
          <a:bodyPr/>
          <a:lstStyle/>
          <a:p>
            <a:r>
              <a:rPr lang="en-AU"/>
              <a:t>ISY503 Intelligent Systems</a:t>
            </a:r>
          </a:p>
        </p:txBody>
      </p:sp>
      <p:sp>
        <p:nvSpPr>
          <p:cNvPr id="7" name="Slide Number Placeholder 6"/>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1024964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36063"/>
            <a:ext cx="482515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212326"/>
            <a:ext cx="4825158" cy="280747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1" y="2603499"/>
            <a:ext cx="4825160" cy="608825"/>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212327"/>
            <a:ext cx="4825159" cy="280747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968509-FC50-4734-AA9C-60E98AF97D97}" type="datetime1">
              <a:rPr lang="en-AU" smtClean="0"/>
              <a:t>10/03/2025</a:t>
            </a:fld>
            <a:endParaRPr lang="en-AU"/>
          </a:p>
        </p:txBody>
      </p:sp>
      <p:sp>
        <p:nvSpPr>
          <p:cNvPr id="8" name="Footer Placeholder 7"/>
          <p:cNvSpPr>
            <a:spLocks noGrp="1"/>
          </p:cNvSpPr>
          <p:nvPr>
            <p:ph type="ftr" sz="quarter" idx="11"/>
          </p:nvPr>
        </p:nvSpPr>
        <p:spPr/>
        <p:txBody>
          <a:bodyPr/>
          <a:lstStyle/>
          <a:p>
            <a:r>
              <a:rPr lang="en-AU"/>
              <a:t>ISY503 Intelligent Systems</a:t>
            </a:r>
          </a:p>
        </p:txBody>
      </p:sp>
      <p:sp>
        <p:nvSpPr>
          <p:cNvPr id="9" name="Slide Number Placeholder 8"/>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3077596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F66F26-865D-4B74-AACB-B6501298C201}" type="datetime1">
              <a:rPr lang="en-AU" smtClean="0"/>
              <a:t>10/03/2025</a:t>
            </a:fld>
            <a:endParaRPr lang="en-AU"/>
          </a:p>
        </p:txBody>
      </p:sp>
      <p:sp>
        <p:nvSpPr>
          <p:cNvPr id="4" name="Footer Placeholder 3"/>
          <p:cNvSpPr>
            <a:spLocks noGrp="1"/>
          </p:cNvSpPr>
          <p:nvPr>
            <p:ph type="ftr" sz="quarter" idx="11"/>
          </p:nvPr>
        </p:nvSpPr>
        <p:spPr/>
        <p:txBody>
          <a:bodyPr/>
          <a:lstStyle/>
          <a:p>
            <a:r>
              <a:rPr lang="en-AU"/>
              <a:t>ISY503 Intelligent Systems</a:t>
            </a:r>
          </a:p>
        </p:txBody>
      </p:sp>
      <p:sp>
        <p:nvSpPr>
          <p:cNvPr id="5" name="Slide Number Placeholder 4"/>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387294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F7FC01-3A1E-4BB9-8BB8-67209A71ECD5}" type="datetime1">
              <a:rPr lang="en-AU" smtClean="0"/>
              <a:t>10/03/2025</a:t>
            </a:fld>
            <a:endParaRPr lang="en-AU"/>
          </a:p>
        </p:txBody>
      </p:sp>
      <p:sp>
        <p:nvSpPr>
          <p:cNvPr id="3" name="Footer Placeholder 2"/>
          <p:cNvSpPr>
            <a:spLocks noGrp="1"/>
          </p:cNvSpPr>
          <p:nvPr>
            <p:ph type="ftr" sz="quarter" idx="11"/>
          </p:nvPr>
        </p:nvSpPr>
        <p:spPr/>
        <p:txBody>
          <a:bodyPr/>
          <a:lstStyle/>
          <a:p>
            <a:r>
              <a:rPr lang="en-AU"/>
              <a:t>ISY503 Intelligent Systems</a:t>
            </a:r>
          </a:p>
        </p:txBody>
      </p:sp>
      <p:sp>
        <p:nvSpPr>
          <p:cNvPr id="6" name="Rectangle 5"/>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1229603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1" name="Group 10"/>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3129280"/>
            <a:ext cx="2793158" cy="289559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B62C34D-E313-4AA0-AACA-4701E38A9846}" type="datetime1">
              <a:rPr lang="en-AU" smtClean="0"/>
              <a:t>10/03/2025</a:t>
            </a:fld>
            <a:endParaRPr lang="en-AU"/>
          </a:p>
        </p:txBody>
      </p:sp>
      <p:sp>
        <p:nvSpPr>
          <p:cNvPr id="6" name="Footer Placeholder 5"/>
          <p:cNvSpPr>
            <a:spLocks noGrp="1"/>
          </p:cNvSpPr>
          <p:nvPr>
            <p:ph type="ftr" sz="quarter" idx="11"/>
          </p:nvPr>
        </p:nvSpPr>
        <p:spPr/>
        <p:txBody>
          <a:bodyPr/>
          <a:lstStyle/>
          <a:p>
            <a:r>
              <a:rPr lang="en-AU"/>
              <a:t>ISY503 Intelligent Systems</a:t>
            </a:r>
          </a:p>
        </p:txBody>
      </p:sp>
      <p:sp>
        <p:nvSpPr>
          <p:cNvPr id="15" name="Rectangle 14"/>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521227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0" name="Group 9"/>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8" name="Rectangle 7"/>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2" y="1143000"/>
            <a:ext cx="3227192"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41962EC-DA4C-4120-BA1B-0507FCAD1C0F}" type="datetime1">
              <a:rPr lang="en-AU" smtClean="0"/>
              <a:t>10/03/2025</a:t>
            </a:fld>
            <a:endParaRPr lang="en-AU"/>
          </a:p>
        </p:txBody>
      </p:sp>
      <p:sp>
        <p:nvSpPr>
          <p:cNvPr id="6" name="Footer Placeholder 5"/>
          <p:cNvSpPr>
            <a:spLocks noGrp="1"/>
          </p:cNvSpPr>
          <p:nvPr>
            <p:ph type="ftr" sz="quarter" idx="11"/>
          </p:nvPr>
        </p:nvSpPr>
        <p:spPr/>
        <p:txBody>
          <a:bodyPr/>
          <a:lstStyle/>
          <a:p>
            <a:r>
              <a:rPr lang="en-AU"/>
              <a:t>ISY503 Intelligent Systems</a:t>
            </a:r>
          </a:p>
        </p:txBody>
      </p:sp>
      <p:sp>
        <p:nvSpPr>
          <p:cNvPr id="15" name="Rectangle 14"/>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2721459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0" name="Group 9"/>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5945"/>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2683"/>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0336760-6182-4B79-AD7A-2372A933CB65}" type="datetime1">
              <a:rPr lang="en-AU" smtClean="0"/>
              <a:t>10/03/2025</a:t>
            </a:fld>
            <a:endParaRPr lang="en-AU"/>
          </a:p>
        </p:txBody>
      </p:sp>
      <p:sp>
        <p:nvSpPr>
          <p:cNvPr id="6" name="Footer Placeholder 5"/>
          <p:cNvSpPr>
            <a:spLocks noGrp="1"/>
          </p:cNvSpPr>
          <p:nvPr>
            <p:ph type="ftr" sz="quarter" idx="11"/>
          </p:nvPr>
        </p:nvSpPr>
        <p:spPr/>
        <p:txBody>
          <a:bodyPr/>
          <a:lstStyle/>
          <a:p>
            <a:r>
              <a:rPr lang="en-AU"/>
              <a:t>ISY503 Intelligent Systems</a:t>
            </a:r>
          </a:p>
        </p:txBody>
      </p:sp>
      <p:sp>
        <p:nvSpPr>
          <p:cNvPr id="13" name="Rectangle 12"/>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2181118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0" name="Rectangle 9"/>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nchor="ct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1495AFD3-98EF-454C-9AE8-768C794C5E3E}" type="datetime1">
              <a:rPr lang="en-AU" smtClean="0"/>
              <a:t>10/03/2025</a:t>
            </a:fld>
            <a:endParaRPr lang="en-AU"/>
          </a:p>
        </p:txBody>
      </p:sp>
      <p:sp>
        <p:nvSpPr>
          <p:cNvPr id="5" name="Footer Placeholder 4"/>
          <p:cNvSpPr>
            <a:spLocks noGrp="1"/>
          </p:cNvSpPr>
          <p:nvPr>
            <p:ph type="ftr" sz="quarter" idx="11"/>
          </p:nvPr>
        </p:nvSpPr>
        <p:spPr/>
        <p:txBody>
          <a:bodyPr/>
          <a:lstStyle/>
          <a:p>
            <a:r>
              <a:rPr lang="en-AU"/>
              <a:t>ISY503 Intelligent Systems</a:t>
            </a:r>
          </a:p>
        </p:txBody>
      </p:sp>
      <p:sp>
        <p:nvSpPr>
          <p:cNvPr id="13" name="Rectangle 12"/>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40371642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6" name="Rectangle 15"/>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2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1" name="TextBox 10"/>
          <p:cNvSpPr txBox="1"/>
          <p:nvPr/>
        </p:nvSpPr>
        <p:spPr bwMode="gray">
          <a:xfrm>
            <a:off x="898295" y="603589"/>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13" name="TextBox 12"/>
          <p:cNvSpPr txBox="1"/>
          <p:nvPr/>
        </p:nvSpPr>
        <p:spPr bwMode="gray">
          <a:xfrm>
            <a:off x="9705137" y="2613787"/>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74801" y="980517"/>
            <a:ext cx="8460983" cy="2705034"/>
          </a:xfrm>
        </p:spPr>
        <p:txBody>
          <a:bodyPr anchor="ct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86515"/>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14393"/>
            <a:ext cx="8825659" cy="1012664"/>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FD9FF87A-ED40-417C-97CA-4DB60F725B52}" type="datetime1">
              <a:rPr lang="en-AU" smtClean="0"/>
              <a:t>10/03/2025</a:t>
            </a:fld>
            <a:endParaRPr lang="en-AU"/>
          </a:p>
        </p:txBody>
      </p:sp>
      <p:sp>
        <p:nvSpPr>
          <p:cNvPr id="5" name="Footer Placeholder 4"/>
          <p:cNvSpPr>
            <a:spLocks noGrp="1"/>
          </p:cNvSpPr>
          <p:nvPr>
            <p:ph type="ftr" sz="quarter" idx="11"/>
          </p:nvPr>
        </p:nvSpPr>
        <p:spPr/>
        <p:txBody>
          <a:bodyPr/>
          <a:lstStyle/>
          <a:p>
            <a:r>
              <a:rPr lang="en-AU"/>
              <a:t>ISY503 Intelligent Systems</a:t>
            </a:r>
          </a:p>
        </p:txBody>
      </p:sp>
      <p:sp>
        <p:nvSpPr>
          <p:cNvPr id="24" name="Rectangle 23"/>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27409953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0" name="Rectangle 9"/>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2404477"/>
            <a:ext cx="8825659" cy="178870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38587" y="5024967"/>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AB56799-DD3A-499E-8C3D-F512C5CEF3CA}" type="datetime1">
              <a:rPr lang="en-AU" smtClean="0"/>
              <a:t>10/03/2025</a:t>
            </a:fld>
            <a:endParaRPr lang="en-AU"/>
          </a:p>
        </p:txBody>
      </p:sp>
      <p:sp>
        <p:nvSpPr>
          <p:cNvPr id="5" name="Footer Placeholder 4"/>
          <p:cNvSpPr>
            <a:spLocks noGrp="1"/>
          </p:cNvSpPr>
          <p:nvPr>
            <p:ph type="ftr" sz="quarter" idx="11"/>
          </p:nvPr>
        </p:nvSpPr>
        <p:spPr/>
        <p:txBody>
          <a:bodyPr/>
          <a:lstStyle/>
          <a:p>
            <a:r>
              <a:rPr lang="en-AU"/>
              <a:t>ISY503 Intelligent Systems</a:t>
            </a:r>
          </a:p>
        </p:txBody>
      </p:sp>
      <p:sp>
        <p:nvSpPr>
          <p:cNvPr id="12" name="Rectangle 11"/>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476034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7" name="Title Placeholder 1"/>
          <p:cNvSpPr>
            <a:spLocks noGrp="1"/>
          </p:cNvSpPr>
          <p:nvPr>
            <p:ph type="title"/>
          </p:nvPr>
        </p:nvSpPr>
        <p:spPr>
          <a:xfrm>
            <a:off x="1154954" y="947920"/>
            <a:ext cx="8761413" cy="72848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109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4" y="3187261"/>
            <a:ext cx="3129168" cy="28397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10999"/>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87261"/>
            <a:ext cx="3145380" cy="28397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6701" y="2603500"/>
            <a:ext cx="315744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6700" y="3187261"/>
            <a:ext cx="3161029" cy="283979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0B7E9FD-87BC-4885-857F-6D58AACF4FEA}" type="datetime1">
              <a:rPr lang="en-AU" smtClean="0"/>
              <a:t>10/03/2025</a:t>
            </a:fld>
            <a:endParaRPr lang="en-AU"/>
          </a:p>
        </p:txBody>
      </p:sp>
      <p:sp>
        <p:nvSpPr>
          <p:cNvPr id="8" name="Footer Placeholder 7"/>
          <p:cNvSpPr>
            <a:spLocks noGrp="1"/>
          </p:cNvSpPr>
          <p:nvPr>
            <p:ph type="ftr" sz="quarter" idx="11"/>
          </p:nvPr>
        </p:nvSpPr>
        <p:spPr/>
        <p:txBody>
          <a:bodyPr/>
          <a:lstStyle/>
          <a:p>
            <a:r>
              <a:rPr lang="en-AU"/>
              <a:t>ISY503 Intelligent Systems</a:t>
            </a:r>
          </a:p>
        </p:txBody>
      </p:sp>
      <p:sp>
        <p:nvSpPr>
          <p:cNvPr id="9" name="Slide Number Placeholder 8"/>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40626793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20744" cy="576263"/>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1334552" y="2611246"/>
            <a:ext cx="2691242" cy="158376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20745"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5"/>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4748463" y="2642840"/>
            <a:ext cx="2691242" cy="155217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7"/>
            <a:ext cx="3050438" cy="92140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3434" y="4532845"/>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8163031" y="2618992"/>
            <a:ext cx="2691242" cy="1576018"/>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09107"/>
            <a:ext cx="3054127" cy="89634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21" name="Straight Connector 20"/>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BF7AA8A-0D13-463E-964B-4753126DDA85}" type="datetime1">
              <a:rPr lang="en-AU" smtClean="0"/>
              <a:t>10/03/2025</a:t>
            </a:fld>
            <a:endParaRPr lang="en-AU"/>
          </a:p>
        </p:txBody>
      </p:sp>
      <p:sp>
        <p:nvSpPr>
          <p:cNvPr id="8" name="Footer Placeholder 7"/>
          <p:cNvSpPr>
            <a:spLocks noGrp="1"/>
          </p:cNvSpPr>
          <p:nvPr>
            <p:ph type="ftr" sz="quarter" idx="11"/>
          </p:nvPr>
        </p:nvSpPr>
        <p:spPr/>
        <p:txBody>
          <a:bodyPr/>
          <a:lstStyle/>
          <a:p>
            <a:r>
              <a:rPr lang="en-AU"/>
              <a:t>ISY503 Intelligent Systems</a:t>
            </a:r>
          </a:p>
        </p:txBody>
      </p:sp>
      <p:sp>
        <p:nvSpPr>
          <p:cNvPr id="9" name="Slide Number Placeholder 8"/>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27095664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1154954" y="947920"/>
            <a:ext cx="8761413" cy="72848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C9BC54-6388-423E-8BD8-BBED8924E2B1}" type="datetime1">
              <a:rPr lang="en-AU" smtClean="0"/>
              <a:t>10/03/2025</a:t>
            </a:fld>
            <a:endParaRPr lang="en-AU"/>
          </a:p>
        </p:txBody>
      </p:sp>
      <p:sp>
        <p:nvSpPr>
          <p:cNvPr id="5" name="Footer Placeholder 4"/>
          <p:cNvSpPr>
            <a:spLocks noGrp="1"/>
          </p:cNvSpPr>
          <p:nvPr>
            <p:ph type="ftr" sz="quarter" idx="11"/>
          </p:nvPr>
        </p:nvSpPr>
        <p:spPr/>
        <p:txBody>
          <a:bodyPr/>
          <a:lstStyle/>
          <a:p>
            <a:r>
              <a:rPr lang="en-AU"/>
              <a:t>ISY503 Intelligent Systems</a:t>
            </a:r>
          </a:p>
        </p:txBody>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4252427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2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97430"/>
            <a:ext cx="1409965" cy="4729626"/>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97429"/>
            <a:ext cx="6247546" cy="472962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FAFA76-01F0-48F9-94C3-F8CFA338787B}" type="datetime1">
              <a:rPr lang="en-AU" smtClean="0"/>
              <a:t>10/03/2025</a:t>
            </a:fld>
            <a:endParaRPr lang="en-AU"/>
          </a:p>
        </p:txBody>
      </p:sp>
      <p:sp>
        <p:nvSpPr>
          <p:cNvPr id="5" name="Footer Placeholder 4"/>
          <p:cNvSpPr>
            <a:spLocks noGrp="1"/>
          </p:cNvSpPr>
          <p:nvPr>
            <p:ph type="ftr" sz="quarter" idx="11"/>
          </p:nvPr>
        </p:nvSpPr>
        <p:spPr/>
        <p:txBody>
          <a:bodyPr/>
          <a:lstStyle/>
          <a:p>
            <a:r>
              <a:rPr lang="en-AU"/>
              <a:t>ISY503 Intelligent Systems</a:t>
            </a:r>
          </a:p>
        </p:txBody>
      </p:sp>
      <p:sp>
        <p:nvSpPr>
          <p:cNvPr id="18" name="Rectangle 17"/>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757806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5" name="Rectangle 14"/>
            <p:cNvSpPr/>
            <p:nvPr/>
          </p:nvSpPr>
          <p:spPr>
            <a:xfrm>
              <a:off x="0" y="0"/>
              <a:ext cx="12192000" cy="6858000"/>
            </a:xfrm>
            <a:prstGeom prst="rect">
              <a:avLst/>
            </a:prstGeom>
            <a:blipFill>
              <a:blip r:embed="rId19">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Oval 40"/>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9" name="Oval 3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8" name="Oval 3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9" name="Oval 48"/>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47920"/>
            <a:ext cx="8761413" cy="72848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561110" y="6391839"/>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AU"/>
              <a:t>ISY503 Intelligent Systems</a:t>
            </a:r>
          </a:p>
        </p:txBody>
      </p:sp>
      <p:sp>
        <p:nvSpPr>
          <p:cNvPr id="4" name="Date Placeholder 3"/>
          <p:cNvSpPr>
            <a:spLocks noGrp="1"/>
          </p:cNvSpPr>
          <p:nvPr>
            <p:ph type="dt" sz="half" idx="2"/>
          </p:nvPr>
        </p:nvSpPr>
        <p:spPr>
          <a:xfrm>
            <a:off x="10650938" y="6394407"/>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7DC8CEF5-6CD1-49C2-924E-18E22C5CAEE8}" type="datetime1">
              <a:rPr lang="en-AU" smtClean="0"/>
              <a:t>10/03/2025</a:t>
            </a:fld>
            <a:endParaRPr lang="en-AU"/>
          </a:p>
        </p:txBody>
      </p:sp>
      <p:sp>
        <p:nvSpPr>
          <p:cNvPr id="20" name="Rectangle 19"/>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AA9B4DDF-D983-43F6-9690-D9255D65AFD2}" type="slidenum">
              <a:rPr lang="en-AU" smtClean="0"/>
              <a:t>‹#›</a:t>
            </a:fld>
            <a:endParaRPr lang="en-AU"/>
          </a:p>
        </p:txBody>
      </p:sp>
    </p:spTree>
    <p:extLst>
      <p:ext uri="{BB962C8B-B14F-4D97-AF65-F5344CB8AC3E}">
        <p14:creationId xmlns:p14="http://schemas.microsoft.com/office/powerpoint/2010/main" val="3503548824"/>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 id="2147483772" r:id="rId17"/>
  </p:sldLayoutIdLst>
  <p:hf sldNum="0" hd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014F5-3F35-488F-BD70-0304EDE614E9}"/>
              </a:ext>
            </a:extLst>
          </p:cNvPr>
          <p:cNvSpPr>
            <a:spLocks noGrp="1"/>
          </p:cNvSpPr>
          <p:nvPr>
            <p:ph type="title"/>
          </p:nvPr>
        </p:nvSpPr>
        <p:spPr>
          <a:xfrm>
            <a:off x="1532641" y="3710998"/>
            <a:ext cx="8761413" cy="728480"/>
          </a:xfrm>
        </p:spPr>
        <p:txBody>
          <a:bodyPr/>
          <a:lstStyle/>
          <a:p>
            <a:pPr algn="ctr">
              <a:spcBef>
                <a:spcPts val="2250"/>
              </a:spcBef>
              <a:spcAft>
                <a:spcPts val="1875"/>
              </a:spcAft>
            </a:pPr>
            <a:r>
              <a:rPr lang="en-US" i="0" dirty="0">
                <a:ln w="0"/>
                <a:solidFill>
                  <a:schemeClr val="tx2"/>
                </a:solidFill>
                <a:effectLst>
                  <a:reflection blurRad="6350" stA="53000" endA="300" endPos="35500" dir="5400000" sy="-90000" algn="bl" rotWithShape="0"/>
                </a:effectLst>
                <a:latin typeface="Lato Extended"/>
              </a:rPr>
              <a:t>Module 4: Cloud Computing Service Models</a:t>
            </a:r>
          </a:p>
        </p:txBody>
      </p:sp>
    </p:spTree>
    <p:extLst>
      <p:ext uri="{BB962C8B-B14F-4D97-AF65-F5344CB8AC3E}">
        <p14:creationId xmlns:p14="http://schemas.microsoft.com/office/powerpoint/2010/main" val="2163813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88DD50E-1D2D-48C6-A470-79FB7F337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3" name="Rectangle 12">
            <a:extLst>
              <a:ext uri="{FF2B5EF4-FFF2-40B4-BE49-F238E27FC236}">
                <a16:creationId xmlns:a16="http://schemas.microsoft.com/office/drawing/2014/main" id="{3DB0ED7D-0741-41C8-9BCD-85B80680FB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535100DF-2A7B-4C2E-F094-8262C3870668}"/>
              </a:ext>
            </a:extLst>
          </p:cNvPr>
          <p:cNvPicPr>
            <a:picLocks noChangeAspect="1"/>
          </p:cNvPicPr>
          <p:nvPr/>
        </p:nvPicPr>
        <p:blipFill>
          <a:blip r:embed="rId2"/>
          <a:stretch>
            <a:fillRect/>
          </a:stretch>
        </p:blipFill>
        <p:spPr>
          <a:xfrm>
            <a:off x="840277" y="643466"/>
            <a:ext cx="10511446" cy="5571067"/>
          </a:xfrm>
          <a:prstGeom prst="rect">
            <a:avLst/>
          </a:prstGeom>
        </p:spPr>
      </p:pic>
      <p:sp>
        <p:nvSpPr>
          <p:cNvPr id="4" name="Footer Placeholder 3">
            <a:extLst>
              <a:ext uri="{FF2B5EF4-FFF2-40B4-BE49-F238E27FC236}">
                <a16:creationId xmlns:a16="http://schemas.microsoft.com/office/drawing/2014/main" id="{922990FB-D7B5-73A1-D92B-163AB93127BF}"/>
              </a:ext>
            </a:extLst>
          </p:cNvPr>
          <p:cNvSpPr>
            <a:spLocks noGrp="1"/>
          </p:cNvSpPr>
          <p:nvPr>
            <p:ph type="ftr" sz="quarter" idx="11"/>
          </p:nvPr>
        </p:nvSpPr>
        <p:spPr>
          <a:xfrm>
            <a:off x="561110" y="6391838"/>
            <a:ext cx="5699841" cy="304801"/>
          </a:xfrm>
        </p:spPr>
        <p:txBody>
          <a:bodyPr vert="horz" lIns="91440" tIns="45720" rIns="91440" bIns="45720" rtlCol="0" anchor="ctr">
            <a:normAutofit/>
          </a:bodyPr>
          <a:lstStyle/>
          <a:p>
            <a:pPr>
              <a:spcAft>
                <a:spcPts val="600"/>
              </a:spcAft>
            </a:pPr>
            <a:r>
              <a:rPr lang="en-US" b="1" i="0" kern="1200">
                <a:solidFill>
                  <a:schemeClr val="accent1"/>
                </a:solidFill>
                <a:latin typeface="+mn-lt"/>
                <a:ea typeface="+mn-ea"/>
                <a:cs typeface="+mn-cs"/>
              </a:rPr>
              <a:t>CCF501</a:t>
            </a:r>
          </a:p>
        </p:txBody>
      </p:sp>
    </p:spTree>
    <p:extLst>
      <p:ext uri="{BB962C8B-B14F-4D97-AF65-F5344CB8AC3E}">
        <p14:creationId xmlns:p14="http://schemas.microsoft.com/office/powerpoint/2010/main" val="1593846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635D7-693E-4BD7-98C7-4F6F5AA5110D}"/>
              </a:ext>
            </a:extLst>
          </p:cNvPr>
          <p:cNvSpPr>
            <a:spLocks noGrp="1"/>
          </p:cNvSpPr>
          <p:nvPr>
            <p:ph type="title"/>
          </p:nvPr>
        </p:nvSpPr>
        <p:spPr/>
        <p:txBody>
          <a:bodyPr/>
          <a:lstStyle/>
          <a:p>
            <a:r>
              <a:rPr lang="en-US" dirty="0" err="1"/>
              <a:t>Saas</a:t>
            </a:r>
            <a:endParaRPr lang="en-AU" dirty="0"/>
          </a:p>
        </p:txBody>
      </p:sp>
      <p:sp>
        <p:nvSpPr>
          <p:cNvPr id="4" name="Footer Placeholder 3">
            <a:extLst>
              <a:ext uri="{FF2B5EF4-FFF2-40B4-BE49-F238E27FC236}">
                <a16:creationId xmlns:a16="http://schemas.microsoft.com/office/drawing/2014/main" id="{95D2F657-11B7-4DFD-B4F3-A92D1E0D538D}"/>
              </a:ext>
            </a:extLst>
          </p:cNvPr>
          <p:cNvSpPr>
            <a:spLocks noGrp="1"/>
          </p:cNvSpPr>
          <p:nvPr>
            <p:ph type="ftr" sz="quarter" idx="11"/>
          </p:nvPr>
        </p:nvSpPr>
        <p:spPr/>
        <p:txBody>
          <a:bodyPr/>
          <a:lstStyle/>
          <a:p>
            <a:r>
              <a:rPr lang="en-US"/>
              <a:t>CCF501</a:t>
            </a:r>
            <a:endParaRPr lang="en-AU" dirty="0"/>
          </a:p>
        </p:txBody>
      </p:sp>
      <p:pic>
        <p:nvPicPr>
          <p:cNvPr id="5" name="Picture 4">
            <a:extLst>
              <a:ext uri="{FF2B5EF4-FFF2-40B4-BE49-F238E27FC236}">
                <a16:creationId xmlns:a16="http://schemas.microsoft.com/office/drawing/2014/main" id="{6786B670-9B53-42D9-B0FE-2CF2AE49FA00}"/>
              </a:ext>
            </a:extLst>
          </p:cNvPr>
          <p:cNvPicPr>
            <a:picLocks noChangeAspect="1"/>
          </p:cNvPicPr>
          <p:nvPr/>
        </p:nvPicPr>
        <p:blipFill>
          <a:blip r:embed="rId3"/>
          <a:stretch>
            <a:fillRect/>
          </a:stretch>
        </p:blipFill>
        <p:spPr>
          <a:xfrm>
            <a:off x="327990" y="1888434"/>
            <a:ext cx="11400183" cy="4969565"/>
          </a:xfrm>
          <a:prstGeom prst="rect">
            <a:avLst/>
          </a:prstGeom>
        </p:spPr>
      </p:pic>
    </p:spTree>
    <p:extLst>
      <p:ext uri="{BB962C8B-B14F-4D97-AF65-F5344CB8AC3E}">
        <p14:creationId xmlns:p14="http://schemas.microsoft.com/office/powerpoint/2010/main" val="4132464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9A795-1942-40A8-B793-BCA5327F15F2}"/>
              </a:ext>
            </a:extLst>
          </p:cNvPr>
          <p:cNvSpPr>
            <a:spLocks noGrp="1"/>
          </p:cNvSpPr>
          <p:nvPr>
            <p:ph type="title"/>
          </p:nvPr>
        </p:nvSpPr>
        <p:spPr/>
        <p:txBody>
          <a:bodyPr/>
          <a:lstStyle/>
          <a:p>
            <a:r>
              <a:rPr lang="en-AU" dirty="0"/>
              <a:t>SaaS Characteristics</a:t>
            </a:r>
          </a:p>
        </p:txBody>
      </p:sp>
      <p:sp>
        <p:nvSpPr>
          <p:cNvPr id="3" name="Content Placeholder 2">
            <a:extLst>
              <a:ext uri="{FF2B5EF4-FFF2-40B4-BE49-F238E27FC236}">
                <a16:creationId xmlns:a16="http://schemas.microsoft.com/office/drawing/2014/main" id="{575C7C07-6067-40CC-A768-E6EEB53BFC43}"/>
              </a:ext>
            </a:extLst>
          </p:cNvPr>
          <p:cNvSpPr>
            <a:spLocks noGrp="1"/>
          </p:cNvSpPr>
          <p:nvPr>
            <p:ph idx="1"/>
          </p:nvPr>
        </p:nvSpPr>
        <p:spPr>
          <a:xfrm>
            <a:off x="561110" y="2366128"/>
            <a:ext cx="11052713" cy="4110086"/>
          </a:xfrm>
        </p:spPr>
        <p:txBody>
          <a:bodyPr>
            <a:normAutofit fontScale="92500"/>
          </a:bodyPr>
          <a:lstStyle/>
          <a:p>
            <a:pPr algn="just">
              <a:lnSpc>
                <a:spcPct val="150000"/>
              </a:lnSpc>
            </a:pPr>
            <a:r>
              <a:rPr lang="en-AU" dirty="0">
                <a:solidFill>
                  <a:srgbClr val="FF0000"/>
                </a:solidFill>
                <a:latin typeface="Arial" panose="020B0604020202020204" pitchFamily="34" charset="0"/>
                <a:cs typeface="Arial" panose="020B0604020202020204" pitchFamily="34" charset="0"/>
              </a:rPr>
              <a:t>Customization:</a:t>
            </a:r>
            <a:r>
              <a:rPr lang="en-AU" dirty="0">
                <a:latin typeface="Arial" panose="020B0604020202020204" pitchFamily="34" charset="0"/>
                <a:cs typeface="Arial" panose="020B0604020202020204" pitchFamily="34" charset="0"/>
              </a:rPr>
              <a:t> Allowing customization can be very costly for the service provider and, hence, the customer. Having extensive customization can also cause a problem when it comes time do a software upgrade. This may require a large amount of time; and time is money.</a:t>
            </a:r>
          </a:p>
          <a:p>
            <a:pPr algn="just">
              <a:lnSpc>
                <a:spcPct val="150000"/>
              </a:lnSpc>
            </a:pPr>
            <a:r>
              <a:rPr lang="en-AU" dirty="0">
                <a:solidFill>
                  <a:srgbClr val="FF0000"/>
                </a:solidFill>
                <a:latin typeface="Arial" panose="020B0604020202020204" pitchFamily="34" charset="0"/>
                <a:cs typeface="Arial" panose="020B0604020202020204" pitchFamily="34" charset="0"/>
              </a:rPr>
              <a:t>Support and Maintenance: </a:t>
            </a:r>
            <a:r>
              <a:rPr lang="en-AU" dirty="0">
                <a:latin typeface="Arial" panose="020B0604020202020204" pitchFamily="34" charset="0"/>
                <a:cs typeface="Arial" panose="020B0604020202020204" pitchFamily="34" charset="0"/>
              </a:rPr>
              <a:t>Software upgrades are centralized and performed by the service provider. Centralized upgrades can present a problem. When the provider decides it’s time to upgrade, you have little to no choice in the matter. if there is downtime associated with the upgrade, you will simply have to accept it.</a:t>
            </a:r>
          </a:p>
          <a:p>
            <a:pPr algn="just">
              <a:lnSpc>
                <a:spcPct val="150000"/>
              </a:lnSpc>
            </a:pPr>
            <a:r>
              <a:rPr lang="en-AU" dirty="0">
                <a:solidFill>
                  <a:srgbClr val="FF0000"/>
                </a:solidFill>
                <a:latin typeface="Arial" panose="020B0604020202020204" pitchFamily="34" charset="0"/>
                <a:cs typeface="Arial" panose="020B0604020202020204" pitchFamily="34" charset="0"/>
              </a:rPr>
              <a:t>Analytics:</a:t>
            </a:r>
            <a:r>
              <a:rPr lang="en-AU" dirty="0">
                <a:latin typeface="Arial" panose="020B0604020202020204" pitchFamily="34" charset="0"/>
                <a:cs typeface="Arial" panose="020B0604020202020204" pitchFamily="34" charset="0"/>
              </a:rPr>
              <a:t> In SaaS implementations, the provider has the ability to view user activities and determine trends. Understanding trends helps you understand when you may have a spike in usage and therefore a spike in costs.</a:t>
            </a:r>
          </a:p>
        </p:txBody>
      </p:sp>
    </p:spTree>
    <p:extLst>
      <p:ext uri="{BB962C8B-B14F-4D97-AF65-F5344CB8AC3E}">
        <p14:creationId xmlns:p14="http://schemas.microsoft.com/office/powerpoint/2010/main" val="3607150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9A795-1942-40A8-B793-BCA5327F15F2}"/>
              </a:ext>
            </a:extLst>
          </p:cNvPr>
          <p:cNvSpPr>
            <a:spLocks noGrp="1"/>
          </p:cNvSpPr>
          <p:nvPr>
            <p:ph type="title"/>
          </p:nvPr>
        </p:nvSpPr>
        <p:spPr/>
        <p:txBody>
          <a:bodyPr/>
          <a:lstStyle/>
          <a:p>
            <a:r>
              <a:rPr lang="en-AU" dirty="0"/>
              <a:t>SaaS Characteristics</a:t>
            </a:r>
          </a:p>
        </p:txBody>
      </p:sp>
      <p:sp>
        <p:nvSpPr>
          <p:cNvPr id="3" name="Content Placeholder 2">
            <a:extLst>
              <a:ext uri="{FF2B5EF4-FFF2-40B4-BE49-F238E27FC236}">
                <a16:creationId xmlns:a16="http://schemas.microsoft.com/office/drawing/2014/main" id="{575C7C07-6067-40CC-A768-E6EEB53BFC43}"/>
              </a:ext>
            </a:extLst>
          </p:cNvPr>
          <p:cNvSpPr>
            <a:spLocks noGrp="1"/>
          </p:cNvSpPr>
          <p:nvPr>
            <p:ph idx="1"/>
          </p:nvPr>
        </p:nvSpPr>
        <p:spPr>
          <a:xfrm>
            <a:off x="561110" y="2366128"/>
            <a:ext cx="11052713" cy="4110086"/>
          </a:xfrm>
        </p:spPr>
        <p:txBody>
          <a:bodyPr>
            <a:normAutofit/>
          </a:bodyPr>
          <a:lstStyle/>
          <a:p>
            <a:pPr algn="just">
              <a:lnSpc>
                <a:spcPct val="150000"/>
              </a:lnSpc>
            </a:pPr>
            <a:r>
              <a:rPr lang="en-AU" dirty="0">
                <a:solidFill>
                  <a:srgbClr val="FF0000"/>
                </a:solidFill>
                <a:latin typeface="Arial" panose="020B0604020202020204" pitchFamily="34" charset="0"/>
                <a:cs typeface="Arial" panose="020B0604020202020204" pitchFamily="34" charset="0"/>
              </a:rPr>
              <a:t>Integration:</a:t>
            </a:r>
            <a:r>
              <a:rPr lang="en-AU" dirty="0">
                <a:latin typeface="Arial" panose="020B0604020202020204" pitchFamily="34" charset="0"/>
                <a:cs typeface="Arial" panose="020B0604020202020204" pitchFamily="34" charset="0"/>
              </a:rPr>
              <a:t> The data will be stored at the provider site. In most cases, the customer will not have direct access to the data. It’s also a problem if you need to do a manual fix of the data or load or reload data in bulk.</a:t>
            </a:r>
          </a:p>
          <a:p>
            <a:pPr algn="just">
              <a:lnSpc>
                <a:spcPct val="150000"/>
              </a:lnSpc>
            </a:pPr>
            <a:r>
              <a:rPr lang="en-AU" dirty="0">
                <a:solidFill>
                  <a:srgbClr val="FF0000"/>
                </a:solidFill>
                <a:latin typeface="Arial" panose="020B0604020202020204" pitchFamily="34" charset="0"/>
                <a:cs typeface="Arial" panose="020B0604020202020204" pitchFamily="34" charset="0"/>
              </a:rPr>
              <a:t>Responsibilities:</a:t>
            </a:r>
            <a:r>
              <a:rPr lang="en-AU" dirty="0">
                <a:latin typeface="Arial" panose="020B0604020202020204" pitchFamily="34" charset="0"/>
                <a:cs typeface="Arial" panose="020B0604020202020204" pitchFamily="34" charset="0"/>
              </a:rPr>
              <a:t> Most of the responsibilities fall on the service provider.</a:t>
            </a:r>
          </a:p>
          <a:p>
            <a:pPr algn="just">
              <a:lnSpc>
                <a:spcPct val="150000"/>
              </a:lnSpc>
            </a:pPr>
            <a:r>
              <a:rPr lang="en-AU" dirty="0">
                <a:latin typeface="Arial" panose="020B0604020202020204" pitchFamily="34" charset="0"/>
                <a:cs typeface="Arial" panose="020B0604020202020204" pitchFamily="34" charset="0"/>
              </a:rPr>
              <a:t>SaaS Drivers: Most SaaS providers offer their services in the form of Web-based applications. So, as acceptance of Web-based applications grows, so does the acceptance of SaaS services.</a:t>
            </a:r>
          </a:p>
        </p:txBody>
      </p:sp>
    </p:spTree>
    <p:extLst>
      <p:ext uri="{BB962C8B-B14F-4D97-AF65-F5344CB8AC3E}">
        <p14:creationId xmlns:p14="http://schemas.microsoft.com/office/powerpoint/2010/main" val="351385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28EC8-D49D-4C89-BA99-A0729414A861}"/>
              </a:ext>
            </a:extLst>
          </p:cNvPr>
          <p:cNvSpPr>
            <a:spLocks noGrp="1"/>
          </p:cNvSpPr>
          <p:nvPr>
            <p:ph type="title"/>
          </p:nvPr>
        </p:nvSpPr>
        <p:spPr/>
        <p:txBody>
          <a:bodyPr/>
          <a:lstStyle/>
          <a:p>
            <a:r>
              <a:rPr lang="en-US" dirty="0"/>
              <a:t>SaaS Responsibilities: </a:t>
            </a:r>
            <a:endParaRPr lang="en-AU" dirty="0"/>
          </a:p>
        </p:txBody>
      </p:sp>
      <p:pic>
        <p:nvPicPr>
          <p:cNvPr id="5" name="Content Placeholder 4">
            <a:extLst>
              <a:ext uri="{FF2B5EF4-FFF2-40B4-BE49-F238E27FC236}">
                <a16:creationId xmlns:a16="http://schemas.microsoft.com/office/drawing/2014/main" id="{034C3103-0A70-48F4-A810-9030A2B71CFB}"/>
              </a:ext>
            </a:extLst>
          </p:cNvPr>
          <p:cNvPicPr>
            <a:picLocks noGrp="1" noChangeAspect="1"/>
          </p:cNvPicPr>
          <p:nvPr>
            <p:ph idx="1"/>
          </p:nvPr>
        </p:nvPicPr>
        <p:blipFill>
          <a:blip r:embed="rId2"/>
          <a:stretch>
            <a:fillRect/>
          </a:stretch>
        </p:blipFill>
        <p:spPr>
          <a:xfrm>
            <a:off x="2728782" y="2117035"/>
            <a:ext cx="6156801" cy="4740965"/>
          </a:xfrm>
          <a:prstGeom prst="rect">
            <a:avLst/>
          </a:prstGeom>
        </p:spPr>
      </p:pic>
      <p:sp>
        <p:nvSpPr>
          <p:cNvPr id="4" name="Footer Placeholder 3">
            <a:extLst>
              <a:ext uri="{FF2B5EF4-FFF2-40B4-BE49-F238E27FC236}">
                <a16:creationId xmlns:a16="http://schemas.microsoft.com/office/drawing/2014/main" id="{71C7E78D-4006-4DA1-B000-DD95E9587445}"/>
              </a:ext>
            </a:extLst>
          </p:cNvPr>
          <p:cNvSpPr>
            <a:spLocks noGrp="1"/>
          </p:cNvSpPr>
          <p:nvPr>
            <p:ph type="ftr" sz="quarter" idx="11"/>
          </p:nvPr>
        </p:nvSpPr>
        <p:spPr/>
        <p:txBody>
          <a:bodyPr/>
          <a:lstStyle/>
          <a:p>
            <a:r>
              <a:rPr lang="en-US"/>
              <a:t>CCF501</a:t>
            </a:r>
            <a:endParaRPr lang="en-AU" dirty="0"/>
          </a:p>
        </p:txBody>
      </p:sp>
    </p:spTree>
    <p:extLst>
      <p:ext uri="{BB962C8B-B14F-4D97-AF65-F5344CB8AC3E}">
        <p14:creationId xmlns:p14="http://schemas.microsoft.com/office/powerpoint/2010/main" val="4220298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3E518-504B-4C30-94BC-3926F5E8AF12}"/>
              </a:ext>
            </a:extLst>
          </p:cNvPr>
          <p:cNvSpPr>
            <a:spLocks noGrp="1"/>
          </p:cNvSpPr>
          <p:nvPr>
            <p:ph type="title"/>
          </p:nvPr>
        </p:nvSpPr>
        <p:spPr/>
        <p:txBody>
          <a:bodyPr/>
          <a:lstStyle/>
          <a:p>
            <a:r>
              <a:rPr lang="en-AU" dirty="0"/>
              <a:t>SaaS Challenges</a:t>
            </a:r>
          </a:p>
        </p:txBody>
      </p:sp>
      <p:sp>
        <p:nvSpPr>
          <p:cNvPr id="3" name="Content Placeholder 2">
            <a:extLst>
              <a:ext uri="{FF2B5EF4-FFF2-40B4-BE49-F238E27FC236}">
                <a16:creationId xmlns:a16="http://schemas.microsoft.com/office/drawing/2014/main" id="{73E3D461-0984-423D-97D1-FCBCBCEE4F19}"/>
              </a:ext>
            </a:extLst>
          </p:cNvPr>
          <p:cNvSpPr>
            <a:spLocks noGrp="1"/>
          </p:cNvSpPr>
          <p:nvPr>
            <p:ph idx="1"/>
          </p:nvPr>
        </p:nvSpPr>
        <p:spPr>
          <a:xfrm>
            <a:off x="561110" y="2271861"/>
            <a:ext cx="11146981" cy="4213780"/>
          </a:xfrm>
        </p:spPr>
        <p:txBody>
          <a:bodyPr>
            <a:normAutofit/>
          </a:bodyPr>
          <a:lstStyle/>
          <a:p>
            <a:pPr algn="just">
              <a:lnSpc>
                <a:spcPct val="150000"/>
              </a:lnSpc>
            </a:pPr>
            <a:r>
              <a:rPr lang="en-AU" dirty="0">
                <a:solidFill>
                  <a:srgbClr val="FF0000"/>
                </a:solidFill>
                <a:latin typeface="Arial" panose="020B0604020202020204" pitchFamily="34" charset="0"/>
                <a:cs typeface="Arial" panose="020B0604020202020204" pitchFamily="34" charset="0"/>
              </a:rPr>
              <a:t>Disparate Location</a:t>
            </a:r>
            <a:r>
              <a:rPr lang="en-AU" dirty="0">
                <a:latin typeface="Arial" panose="020B0604020202020204" pitchFamily="34" charset="0"/>
                <a:cs typeface="Arial" panose="020B0604020202020204" pitchFamily="34" charset="0"/>
              </a:rPr>
              <a:t>: SaaS applications are generally hosted offsite. This means connections between the client and the application must travel over the public Internet, sometimes long distances. Some applications will not work in environments where there is a great deal of latency.</a:t>
            </a:r>
          </a:p>
          <a:p>
            <a:pPr algn="just">
              <a:lnSpc>
                <a:spcPct val="150000"/>
              </a:lnSpc>
            </a:pPr>
            <a:r>
              <a:rPr lang="en-AU" dirty="0">
                <a:solidFill>
                  <a:srgbClr val="FF0000"/>
                </a:solidFill>
                <a:latin typeface="Arial" panose="020B0604020202020204" pitchFamily="34" charset="0"/>
                <a:cs typeface="Arial" panose="020B0604020202020204" pitchFamily="34" charset="0"/>
              </a:rPr>
              <a:t>Multitenancy: </a:t>
            </a:r>
            <a:r>
              <a:rPr lang="en-AU" dirty="0">
                <a:latin typeface="Arial" panose="020B0604020202020204" pitchFamily="34" charset="0"/>
                <a:cs typeface="Arial" panose="020B0604020202020204" pitchFamily="34" charset="0"/>
              </a:rPr>
              <a:t>Since the application is shared, generally little to no customization can be performed.</a:t>
            </a:r>
          </a:p>
          <a:p>
            <a:pPr algn="just">
              <a:lnSpc>
                <a:spcPct val="150000"/>
              </a:lnSpc>
            </a:pPr>
            <a:r>
              <a:rPr lang="en-AU" dirty="0">
                <a:solidFill>
                  <a:srgbClr val="FF0000"/>
                </a:solidFill>
                <a:latin typeface="Arial" panose="020B0604020202020204" pitchFamily="34" charset="0"/>
                <a:cs typeface="Arial" panose="020B0604020202020204" pitchFamily="34" charset="0"/>
              </a:rPr>
              <a:t>Other Security Challenges: </a:t>
            </a:r>
            <a:r>
              <a:rPr lang="en-AU" dirty="0">
                <a:latin typeface="Arial" panose="020B0604020202020204" pitchFamily="34" charset="0"/>
                <a:cs typeface="Arial" panose="020B0604020202020204" pitchFamily="34" charset="0"/>
              </a:rPr>
              <a:t>Since customers will generally be accessing the same instance of an application, an application flaw may allow one customer access to another customer’s data. The employees at the service provider will have direct access to the systems that house the data…………………….. </a:t>
            </a:r>
            <a:r>
              <a:rPr lang="en-AU" dirty="0">
                <a:solidFill>
                  <a:srgbClr val="FF0000"/>
                </a:solidFill>
                <a:latin typeface="Arial" panose="020B0604020202020204" pitchFamily="34" charset="0"/>
                <a:cs typeface="Arial" panose="020B0604020202020204" pitchFamily="34" charset="0"/>
              </a:rPr>
              <a:t>encrypt the data is the solution.</a:t>
            </a:r>
          </a:p>
        </p:txBody>
      </p:sp>
    </p:spTree>
    <p:extLst>
      <p:ext uri="{BB962C8B-B14F-4D97-AF65-F5344CB8AC3E}">
        <p14:creationId xmlns:p14="http://schemas.microsoft.com/office/powerpoint/2010/main" val="497672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E0090-94FD-4777-BD94-8059429F2261}"/>
              </a:ext>
            </a:extLst>
          </p:cNvPr>
          <p:cNvSpPr>
            <a:spLocks noGrp="1"/>
          </p:cNvSpPr>
          <p:nvPr>
            <p:ph type="title"/>
          </p:nvPr>
        </p:nvSpPr>
        <p:spPr/>
        <p:txBody>
          <a:bodyPr/>
          <a:lstStyle/>
          <a:p>
            <a:r>
              <a:rPr lang="en-AU" dirty="0"/>
              <a:t>SaaS Providers</a:t>
            </a:r>
          </a:p>
        </p:txBody>
      </p:sp>
      <p:sp>
        <p:nvSpPr>
          <p:cNvPr id="3" name="Content Placeholder 2">
            <a:extLst>
              <a:ext uri="{FF2B5EF4-FFF2-40B4-BE49-F238E27FC236}">
                <a16:creationId xmlns:a16="http://schemas.microsoft.com/office/drawing/2014/main" id="{70997188-3E79-4265-897B-CEE64AC5E3EE}"/>
              </a:ext>
            </a:extLst>
          </p:cNvPr>
          <p:cNvSpPr>
            <a:spLocks noGrp="1"/>
          </p:cNvSpPr>
          <p:nvPr>
            <p:ph idx="1"/>
          </p:nvPr>
        </p:nvSpPr>
        <p:spPr>
          <a:xfrm>
            <a:off x="735496" y="2603500"/>
            <a:ext cx="9180871" cy="3416300"/>
          </a:xfrm>
        </p:spPr>
        <p:txBody>
          <a:bodyPr/>
          <a:lstStyle/>
          <a:p>
            <a:r>
              <a:rPr lang="en-AU" dirty="0">
                <a:latin typeface="Calibri" panose="020F0502020204030204" pitchFamily="34" charset="0"/>
                <a:cs typeface="Calibri" panose="020F0502020204030204" pitchFamily="34" charset="0"/>
              </a:rPr>
              <a:t>Outlook.com</a:t>
            </a:r>
          </a:p>
          <a:p>
            <a:r>
              <a:rPr lang="en-AU" dirty="0">
                <a:latin typeface="Calibri" panose="020F0502020204030204" pitchFamily="34" charset="0"/>
                <a:cs typeface="Calibri" panose="020F0502020204030204" pitchFamily="34" charset="0"/>
              </a:rPr>
              <a:t>Google Drive</a:t>
            </a:r>
          </a:p>
          <a:p>
            <a:r>
              <a:rPr lang="en-AU" dirty="0">
                <a:latin typeface="Calibri" panose="020F0502020204030204" pitchFamily="34" charset="0"/>
                <a:cs typeface="Calibri" panose="020F0502020204030204" pitchFamily="34" charset="0"/>
              </a:rPr>
              <a:t>Salesforce.com</a:t>
            </a:r>
          </a:p>
        </p:txBody>
      </p:sp>
      <p:sp>
        <p:nvSpPr>
          <p:cNvPr id="4" name="Footer Placeholder 3">
            <a:extLst>
              <a:ext uri="{FF2B5EF4-FFF2-40B4-BE49-F238E27FC236}">
                <a16:creationId xmlns:a16="http://schemas.microsoft.com/office/drawing/2014/main" id="{47A802CF-8C59-4CE3-9D44-CE048990CE8B}"/>
              </a:ext>
            </a:extLst>
          </p:cNvPr>
          <p:cNvSpPr>
            <a:spLocks noGrp="1"/>
          </p:cNvSpPr>
          <p:nvPr>
            <p:ph type="ftr" sz="quarter" idx="11"/>
          </p:nvPr>
        </p:nvSpPr>
        <p:spPr/>
        <p:txBody>
          <a:bodyPr/>
          <a:lstStyle/>
          <a:p>
            <a:r>
              <a:rPr lang="en-US"/>
              <a:t>CCF501</a:t>
            </a:r>
            <a:endParaRPr lang="en-AU" dirty="0"/>
          </a:p>
        </p:txBody>
      </p:sp>
    </p:spTree>
    <p:extLst>
      <p:ext uri="{BB962C8B-B14F-4D97-AF65-F5344CB8AC3E}">
        <p14:creationId xmlns:p14="http://schemas.microsoft.com/office/powerpoint/2010/main" val="787357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CCBF215-055B-40FD-8DEE-27DA75A8E25C}"/>
              </a:ext>
            </a:extLst>
          </p:cNvPr>
          <p:cNvSpPr>
            <a:spLocks noGrp="1"/>
          </p:cNvSpPr>
          <p:nvPr>
            <p:ph type="ftr" sz="quarter" idx="11"/>
          </p:nvPr>
        </p:nvSpPr>
        <p:spPr/>
        <p:txBody>
          <a:bodyPr/>
          <a:lstStyle/>
          <a:p>
            <a:r>
              <a:rPr lang="en-US"/>
              <a:t>CCF501</a:t>
            </a:r>
            <a:endParaRPr lang="en-AU" dirty="0"/>
          </a:p>
        </p:txBody>
      </p:sp>
      <p:pic>
        <p:nvPicPr>
          <p:cNvPr id="5" name="Picture 4">
            <a:extLst>
              <a:ext uri="{FF2B5EF4-FFF2-40B4-BE49-F238E27FC236}">
                <a16:creationId xmlns:a16="http://schemas.microsoft.com/office/drawing/2014/main" id="{5A49E962-1E79-4211-A820-F7068C15325C}"/>
              </a:ext>
            </a:extLst>
          </p:cNvPr>
          <p:cNvPicPr>
            <a:picLocks noChangeAspect="1"/>
          </p:cNvPicPr>
          <p:nvPr/>
        </p:nvPicPr>
        <p:blipFill>
          <a:blip r:embed="rId2"/>
          <a:stretch>
            <a:fillRect/>
          </a:stretch>
        </p:blipFill>
        <p:spPr>
          <a:xfrm>
            <a:off x="300865" y="161360"/>
            <a:ext cx="11576396" cy="6535280"/>
          </a:xfrm>
          <a:prstGeom prst="rect">
            <a:avLst/>
          </a:prstGeom>
        </p:spPr>
      </p:pic>
    </p:spTree>
    <p:extLst>
      <p:ext uri="{BB962C8B-B14F-4D97-AF65-F5344CB8AC3E}">
        <p14:creationId xmlns:p14="http://schemas.microsoft.com/office/powerpoint/2010/main" val="2872678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7C5F68E-371F-4E05-B179-A0C25A4D3ACB}"/>
              </a:ext>
            </a:extLst>
          </p:cNvPr>
          <p:cNvSpPr>
            <a:spLocks noGrp="1"/>
          </p:cNvSpPr>
          <p:nvPr>
            <p:ph type="ftr" sz="quarter" idx="11"/>
          </p:nvPr>
        </p:nvSpPr>
        <p:spPr/>
        <p:txBody>
          <a:bodyPr/>
          <a:lstStyle/>
          <a:p>
            <a:r>
              <a:rPr lang="en-US"/>
              <a:t>CCF501</a:t>
            </a:r>
            <a:endParaRPr lang="en-AU" dirty="0"/>
          </a:p>
        </p:txBody>
      </p:sp>
      <p:pic>
        <p:nvPicPr>
          <p:cNvPr id="5" name="Picture 4">
            <a:extLst>
              <a:ext uri="{FF2B5EF4-FFF2-40B4-BE49-F238E27FC236}">
                <a16:creationId xmlns:a16="http://schemas.microsoft.com/office/drawing/2014/main" id="{215EE896-0A1A-4D79-B2C3-60BBA57486A7}"/>
              </a:ext>
            </a:extLst>
          </p:cNvPr>
          <p:cNvPicPr>
            <a:picLocks noChangeAspect="1"/>
          </p:cNvPicPr>
          <p:nvPr/>
        </p:nvPicPr>
        <p:blipFill>
          <a:blip r:embed="rId2"/>
          <a:stretch>
            <a:fillRect/>
          </a:stretch>
        </p:blipFill>
        <p:spPr>
          <a:xfrm>
            <a:off x="387626" y="298174"/>
            <a:ext cx="11459817" cy="6311348"/>
          </a:xfrm>
          <a:prstGeom prst="rect">
            <a:avLst/>
          </a:prstGeom>
        </p:spPr>
      </p:pic>
    </p:spTree>
    <p:extLst>
      <p:ext uri="{BB962C8B-B14F-4D97-AF65-F5344CB8AC3E}">
        <p14:creationId xmlns:p14="http://schemas.microsoft.com/office/powerpoint/2010/main" val="3606843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7C5F68E-371F-4E05-B179-A0C25A4D3ACB}"/>
              </a:ext>
            </a:extLst>
          </p:cNvPr>
          <p:cNvSpPr>
            <a:spLocks noGrp="1"/>
          </p:cNvSpPr>
          <p:nvPr>
            <p:ph type="ftr" sz="quarter" idx="11"/>
          </p:nvPr>
        </p:nvSpPr>
        <p:spPr/>
        <p:txBody>
          <a:bodyPr/>
          <a:lstStyle/>
          <a:p>
            <a:r>
              <a:rPr lang="en-US"/>
              <a:t>CCF501</a:t>
            </a:r>
            <a:endParaRPr lang="en-AU" dirty="0"/>
          </a:p>
        </p:txBody>
      </p:sp>
      <p:pic>
        <p:nvPicPr>
          <p:cNvPr id="2" name="Picture 1">
            <a:extLst>
              <a:ext uri="{FF2B5EF4-FFF2-40B4-BE49-F238E27FC236}">
                <a16:creationId xmlns:a16="http://schemas.microsoft.com/office/drawing/2014/main" id="{91BFA4CE-5BB4-4C79-8CF4-202A62D3D822}"/>
              </a:ext>
            </a:extLst>
          </p:cNvPr>
          <p:cNvPicPr>
            <a:picLocks noChangeAspect="1"/>
          </p:cNvPicPr>
          <p:nvPr/>
        </p:nvPicPr>
        <p:blipFill>
          <a:blip r:embed="rId2"/>
          <a:stretch>
            <a:fillRect/>
          </a:stretch>
        </p:blipFill>
        <p:spPr>
          <a:xfrm>
            <a:off x="288235" y="0"/>
            <a:ext cx="11449878" cy="4194313"/>
          </a:xfrm>
          <a:prstGeom prst="rect">
            <a:avLst/>
          </a:prstGeom>
        </p:spPr>
      </p:pic>
      <p:pic>
        <p:nvPicPr>
          <p:cNvPr id="3" name="Picture 2">
            <a:extLst>
              <a:ext uri="{FF2B5EF4-FFF2-40B4-BE49-F238E27FC236}">
                <a16:creationId xmlns:a16="http://schemas.microsoft.com/office/drawing/2014/main" id="{21007AFC-15CC-4D66-A600-1B5B6B40E935}"/>
              </a:ext>
            </a:extLst>
          </p:cNvPr>
          <p:cNvPicPr>
            <a:picLocks noChangeAspect="1"/>
          </p:cNvPicPr>
          <p:nvPr/>
        </p:nvPicPr>
        <p:blipFill>
          <a:blip r:embed="rId3"/>
          <a:stretch>
            <a:fillRect/>
          </a:stretch>
        </p:blipFill>
        <p:spPr>
          <a:xfrm>
            <a:off x="2027583" y="3786808"/>
            <a:ext cx="9481930" cy="3071191"/>
          </a:xfrm>
          <a:prstGeom prst="rect">
            <a:avLst/>
          </a:prstGeom>
        </p:spPr>
      </p:pic>
    </p:spTree>
    <p:extLst>
      <p:ext uri="{BB962C8B-B14F-4D97-AF65-F5344CB8AC3E}">
        <p14:creationId xmlns:p14="http://schemas.microsoft.com/office/powerpoint/2010/main" val="372578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78EF39-67DC-424C-85FC-F922192737F6}"/>
              </a:ext>
            </a:extLst>
          </p:cNvPr>
          <p:cNvSpPr>
            <a:spLocks noGrp="1"/>
          </p:cNvSpPr>
          <p:nvPr>
            <p:ph idx="1"/>
          </p:nvPr>
        </p:nvSpPr>
        <p:spPr/>
        <p:txBody>
          <a:bodyPr>
            <a:normAutofit fontScale="92500" lnSpcReduction="20000"/>
          </a:bodyPr>
          <a:lstStyle/>
          <a:p>
            <a:pPr algn="just">
              <a:lnSpc>
                <a:spcPct val="150000"/>
              </a:lnSpc>
            </a:pPr>
            <a:r>
              <a:rPr lang="en-AU" dirty="0">
                <a:latin typeface="Calibri" panose="020F0502020204030204" pitchFamily="34" charset="0"/>
                <a:cs typeface="Calibri" panose="020F0502020204030204" pitchFamily="34" charset="0"/>
              </a:rPr>
              <a:t>Google Drive, shown in Figure 4.6, gives you online access to view and create word processing documents, spreadsheets, presentations, and a host of other documents.</a:t>
            </a:r>
          </a:p>
          <a:p>
            <a:pPr algn="just">
              <a:lnSpc>
                <a:spcPct val="150000"/>
              </a:lnSpc>
            </a:pPr>
            <a:r>
              <a:rPr lang="en-AU" dirty="0">
                <a:latin typeface="Calibri" panose="020F0502020204030204" pitchFamily="34" charset="0"/>
                <a:cs typeface="Calibri" panose="020F0502020204030204" pitchFamily="34" charset="0"/>
              </a:rPr>
              <a:t>You can use the built-in document types or add new types. To add a new type of document, choose Create in the left pane and select Connect More Apps. This will bring up the Connect Apps window shown in Figure 4.7.</a:t>
            </a:r>
          </a:p>
          <a:p>
            <a:pPr algn="just">
              <a:lnSpc>
                <a:spcPct val="150000"/>
              </a:lnSpc>
            </a:pPr>
            <a:r>
              <a:rPr lang="en-AU" dirty="0">
                <a:latin typeface="Calibri" panose="020F0502020204030204" pitchFamily="34" charset="0"/>
                <a:cs typeface="Calibri" panose="020F0502020204030204" pitchFamily="34" charset="0"/>
              </a:rPr>
              <a:t>Salesforce.com 1 is a well-known customer relationship management (CRM) application used for financial, delivery, and staffing related to business systems operations. A CRM application consists of a set of workflows (business processes) together with software that helps manage customer related activities and information.</a:t>
            </a:r>
          </a:p>
        </p:txBody>
      </p:sp>
      <p:sp>
        <p:nvSpPr>
          <p:cNvPr id="4" name="Footer Placeholder 3">
            <a:extLst>
              <a:ext uri="{FF2B5EF4-FFF2-40B4-BE49-F238E27FC236}">
                <a16:creationId xmlns:a16="http://schemas.microsoft.com/office/drawing/2014/main" id="{93E37723-4C3C-47E1-A66A-B8E48006B772}"/>
              </a:ext>
            </a:extLst>
          </p:cNvPr>
          <p:cNvSpPr>
            <a:spLocks noGrp="1"/>
          </p:cNvSpPr>
          <p:nvPr>
            <p:ph type="ftr" sz="quarter" idx="11"/>
          </p:nvPr>
        </p:nvSpPr>
        <p:spPr/>
        <p:txBody>
          <a:bodyPr/>
          <a:lstStyle/>
          <a:p>
            <a:r>
              <a:rPr lang="en-US"/>
              <a:t>CCF501</a:t>
            </a:r>
            <a:endParaRPr lang="en-AU" dirty="0"/>
          </a:p>
        </p:txBody>
      </p:sp>
    </p:spTree>
    <p:extLst>
      <p:ext uri="{BB962C8B-B14F-4D97-AF65-F5344CB8AC3E}">
        <p14:creationId xmlns:p14="http://schemas.microsoft.com/office/powerpoint/2010/main" val="2461955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957CE1F-333D-4BA2-8B24-2D946872A67A}"/>
              </a:ext>
            </a:extLst>
          </p:cNvPr>
          <p:cNvSpPr>
            <a:spLocks noGrp="1"/>
          </p:cNvSpPr>
          <p:nvPr>
            <p:ph type="ftr" sz="quarter" idx="11"/>
          </p:nvPr>
        </p:nvSpPr>
        <p:spPr/>
        <p:txBody>
          <a:bodyPr/>
          <a:lstStyle/>
          <a:p>
            <a:r>
              <a:rPr lang="en-US"/>
              <a:t>CCF501</a:t>
            </a:r>
            <a:endParaRPr lang="en-AU" dirty="0"/>
          </a:p>
        </p:txBody>
      </p:sp>
      <p:pic>
        <p:nvPicPr>
          <p:cNvPr id="5" name="Picture 4">
            <a:extLst>
              <a:ext uri="{FF2B5EF4-FFF2-40B4-BE49-F238E27FC236}">
                <a16:creationId xmlns:a16="http://schemas.microsoft.com/office/drawing/2014/main" id="{298400E8-C5E3-4818-8516-30F98031A185}"/>
              </a:ext>
            </a:extLst>
          </p:cNvPr>
          <p:cNvPicPr>
            <a:picLocks noChangeAspect="1"/>
          </p:cNvPicPr>
          <p:nvPr/>
        </p:nvPicPr>
        <p:blipFill>
          <a:blip r:embed="rId2"/>
          <a:stretch>
            <a:fillRect/>
          </a:stretch>
        </p:blipFill>
        <p:spPr>
          <a:xfrm>
            <a:off x="450263" y="161360"/>
            <a:ext cx="11291474" cy="6159927"/>
          </a:xfrm>
          <a:prstGeom prst="rect">
            <a:avLst/>
          </a:prstGeom>
        </p:spPr>
      </p:pic>
    </p:spTree>
    <p:extLst>
      <p:ext uri="{BB962C8B-B14F-4D97-AF65-F5344CB8AC3E}">
        <p14:creationId xmlns:p14="http://schemas.microsoft.com/office/powerpoint/2010/main" val="3233697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AB900-1DCA-4946-95E8-6AFE6B167AC7}"/>
              </a:ext>
            </a:extLst>
          </p:cNvPr>
          <p:cNvSpPr>
            <a:spLocks noGrp="1"/>
          </p:cNvSpPr>
          <p:nvPr>
            <p:ph type="title"/>
          </p:nvPr>
        </p:nvSpPr>
        <p:spPr/>
        <p:txBody>
          <a:bodyPr/>
          <a:lstStyle/>
          <a:p>
            <a:r>
              <a:rPr lang="en-US" dirty="0" err="1"/>
              <a:t>Paas</a:t>
            </a:r>
            <a:endParaRPr lang="en-AU" dirty="0"/>
          </a:p>
        </p:txBody>
      </p:sp>
      <p:sp>
        <p:nvSpPr>
          <p:cNvPr id="4" name="Footer Placeholder 3">
            <a:extLst>
              <a:ext uri="{FF2B5EF4-FFF2-40B4-BE49-F238E27FC236}">
                <a16:creationId xmlns:a16="http://schemas.microsoft.com/office/drawing/2014/main" id="{4A627DDC-8DC6-4B38-B2A3-5D4DE764DEAD}"/>
              </a:ext>
            </a:extLst>
          </p:cNvPr>
          <p:cNvSpPr>
            <a:spLocks noGrp="1"/>
          </p:cNvSpPr>
          <p:nvPr>
            <p:ph type="ftr" sz="quarter" idx="11"/>
          </p:nvPr>
        </p:nvSpPr>
        <p:spPr/>
        <p:txBody>
          <a:bodyPr/>
          <a:lstStyle/>
          <a:p>
            <a:r>
              <a:rPr lang="en-US"/>
              <a:t>CCF501</a:t>
            </a:r>
            <a:endParaRPr lang="en-AU" dirty="0"/>
          </a:p>
        </p:txBody>
      </p:sp>
      <p:pic>
        <p:nvPicPr>
          <p:cNvPr id="5" name="Picture 4">
            <a:extLst>
              <a:ext uri="{FF2B5EF4-FFF2-40B4-BE49-F238E27FC236}">
                <a16:creationId xmlns:a16="http://schemas.microsoft.com/office/drawing/2014/main" id="{3B20A19C-D574-4D7D-96FF-AB530F017C1E}"/>
              </a:ext>
            </a:extLst>
          </p:cNvPr>
          <p:cNvPicPr>
            <a:picLocks noChangeAspect="1"/>
          </p:cNvPicPr>
          <p:nvPr/>
        </p:nvPicPr>
        <p:blipFill>
          <a:blip r:embed="rId2"/>
          <a:stretch>
            <a:fillRect/>
          </a:stretch>
        </p:blipFill>
        <p:spPr>
          <a:xfrm>
            <a:off x="188842" y="1759226"/>
            <a:ext cx="11579087" cy="5017811"/>
          </a:xfrm>
          <a:prstGeom prst="rect">
            <a:avLst/>
          </a:prstGeom>
        </p:spPr>
      </p:pic>
    </p:spTree>
    <p:extLst>
      <p:ext uri="{BB962C8B-B14F-4D97-AF65-F5344CB8AC3E}">
        <p14:creationId xmlns:p14="http://schemas.microsoft.com/office/powerpoint/2010/main" val="2337614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948CB-42DC-45AF-B895-540277773809}"/>
              </a:ext>
            </a:extLst>
          </p:cNvPr>
          <p:cNvSpPr>
            <a:spLocks noGrp="1"/>
          </p:cNvSpPr>
          <p:nvPr>
            <p:ph type="title"/>
          </p:nvPr>
        </p:nvSpPr>
        <p:spPr/>
        <p:txBody>
          <a:bodyPr/>
          <a:lstStyle/>
          <a:p>
            <a:r>
              <a:rPr lang="en-AU" dirty="0"/>
              <a:t>PaaS Characteristics</a:t>
            </a:r>
          </a:p>
        </p:txBody>
      </p:sp>
      <p:sp>
        <p:nvSpPr>
          <p:cNvPr id="3" name="Content Placeholder 2">
            <a:extLst>
              <a:ext uri="{FF2B5EF4-FFF2-40B4-BE49-F238E27FC236}">
                <a16:creationId xmlns:a16="http://schemas.microsoft.com/office/drawing/2014/main" id="{433F2850-4512-433F-B7C9-6DACFDBB50FD}"/>
              </a:ext>
            </a:extLst>
          </p:cNvPr>
          <p:cNvSpPr>
            <a:spLocks noGrp="1"/>
          </p:cNvSpPr>
          <p:nvPr>
            <p:ph idx="1"/>
          </p:nvPr>
        </p:nvSpPr>
        <p:spPr>
          <a:xfrm>
            <a:off x="471340" y="2281287"/>
            <a:ext cx="11076495" cy="4338174"/>
          </a:xfrm>
        </p:spPr>
        <p:txBody>
          <a:bodyPr>
            <a:normAutofit fontScale="92500" lnSpcReduction="10000"/>
          </a:bodyPr>
          <a:lstStyle/>
          <a:p>
            <a:pPr algn="just">
              <a:lnSpc>
                <a:spcPct val="150000"/>
              </a:lnSpc>
            </a:pPr>
            <a:r>
              <a:rPr lang="en-AU" dirty="0">
                <a:solidFill>
                  <a:srgbClr val="FF0000"/>
                </a:solidFill>
                <a:latin typeface="Arial" panose="020B0604020202020204" pitchFamily="34" charset="0"/>
                <a:cs typeface="Arial" panose="020B0604020202020204" pitchFamily="34" charset="0"/>
              </a:rPr>
              <a:t>Customization: </a:t>
            </a:r>
            <a:r>
              <a:rPr lang="en-AU" dirty="0">
                <a:latin typeface="Arial" panose="020B0604020202020204" pitchFamily="34" charset="0"/>
                <a:cs typeface="Arial" panose="020B0604020202020204" pitchFamily="34" charset="0"/>
              </a:rPr>
              <a:t>With PaaS, you have complete control over the application, so you are free to customize the application as you see fit. There will likely be different configuration options that you can set, but true customization will be limited.</a:t>
            </a:r>
          </a:p>
          <a:p>
            <a:pPr algn="just">
              <a:lnSpc>
                <a:spcPct val="150000"/>
              </a:lnSpc>
            </a:pPr>
            <a:r>
              <a:rPr lang="en-AU" dirty="0">
                <a:solidFill>
                  <a:srgbClr val="FF0000"/>
                </a:solidFill>
                <a:latin typeface="Arial" panose="020B0604020202020204" pitchFamily="34" charset="0"/>
                <a:cs typeface="Arial" panose="020B0604020202020204" pitchFamily="34" charset="0"/>
              </a:rPr>
              <a:t>Analytics: Since you, </a:t>
            </a:r>
            <a:r>
              <a:rPr lang="en-AU" dirty="0">
                <a:latin typeface="Arial" panose="020B0604020202020204" pitchFamily="34" charset="0"/>
                <a:cs typeface="Arial" panose="020B0604020202020204" pitchFamily="34" charset="0"/>
              </a:rPr>
              <a:t>The customer, will be creating the applications, you will have the ability to view application usage and determine trends. You will be able to see which components are getting the most use and which ones are not being used.</a:t>
            </a:r>
          </a:p>
          <a:p>
            <a:pPr algn="just">
              <a:lnSpc>
                <a:spcPct val="150000"/>
              </a:lnSpc>
            </a:pPr>
            <a:r>
              <a:rPr lang="en-AU" dirty="0">
                <a:solidFill>
                  <a:srgbClr val="FF0000"/>
                </a:solidFill>
                <a:latin typeface="Arial" panose="020B0604020202020204" pitchFamily="34" charset="0"/>
                <a:cs typeface="Arial" panose="020B0604020202020204" pitchFamily="34" charset="0"/>
              </a:rPr>
              <a:t>Integration: </a:t>
            </a:r>
            <a:r>
              <a:rPr lang="en-AU" dirty="0">
                <a:latin typeface="Arial" panose="020B0604020202020204" pitchFamily="34" charset="0"/>
                <a:cs typeface="Arial" panose="020B0604020202020204" pitchFamily="34" charset="0"/>
              </a:rPr>
              <a:t>In a PaaS environment, the data will be stored at the provider site, but the customer will have direct access to it. Conducting business intelligence and reporting should not be a problem from an access point of view, but you could run into issues when it comes to bandwidth usage, because you may be moving large amounts of data between your internal environment and the provider’s environment. So there might be performance concerns there, as opposed to access or functionality concerns.</a:t>
            </a:r>
          </a:p>
        </p:txBody>
      </p:sp>
    </p:spTree>
    <p:extLst>
      <p:ext uri="{BB962C8B-B14F-4D97-AF65-F5344CB8AC3E}">
        <p14:creationId xmlns:p14="http://schemas.microsoft.com/office/powerpoint/2010/main" val="3733913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32317-46EF-42DA-9F8D-106E6E878388}"/>
              </a:ext>
            </a:extLst>
          </p:cNvPr>
          <p:cNvSpPr>
            <a:spLocks noGrp="1"/>
          </p:cNvSpPr>
          <p:nvPr>
            <p:ph type="title"/>
          </p:nvPr>
        </p:nvSpPr>
        <p:spPr/>
        <p:txBody>
          <a:bodyPr/>
          <a:lstStyle/>
          <a:p>
            <a:r>
              <a:rPr lang="en-AU" dirty="0"/>
              <a:t>PaaS Characteristics</a:t>
            </a:r>
          </a:p>
        </p:txBody>
      </p:sp>
      <p:sp>
        <p:nvSpPr>
          <p:cNvPr id="3" name="Content Placeholder 2">
            <a:extLst>
              <a:ext uri="{FF2B5EF4-FFF2-40B4-BE49-F238E27FC236}">
                <a16:creationId xmlns:a16="http://schemas.microsoft.com/office/drawing/2014/main" id="{1F779FC8-14B4-4A4B-A397-9CA1CB22A641}"/>
              </a:ext>
            </a:extLst>
          </p:cNvPr>
          <p:cNvSpPr>
            <a:spLocks noGrp="1"/>
          </p:cNvSpPr>
          <p:nvPr>
            <p:ph idx="1"/>
          </p:nvPr>
        </p:nvSpPr>
        <p:spPr>
          <a:xfrm>
            <a:off x="716438" y="2603500"/>
            <a:ext cx="10784264" cy="3416300"/>
          </a:xfrm>
        </p:spPr>
        <p:txBody>
          <a:bodyPr>
            <a:normAutofit fontScale="92500"/>
          </a:bodyPr>
          <a:lstStyle/>
          <a:p>
            <a:pPr algn="just">
              <a:lnSpc>
                <a:spcPct val="150000"/>
              </a:lnSpc>
            </a:pPr>
            <a:r>
              <a:rPr lang="en-AU" dirty="0">
                <a:solidFill>
                  <a:srgbClr val="FF0000"/>
                </a:solidFill>
                <a:latin typeface="Arial" panose="020B0604020202020204" pitchFamily="34" charset="0"/>
                <a:cs typeface="Arial" panose="020B0604020202020204" pitchFamily="34" charset="0"/>
              </a:rPr>
              <a:t>PaaS Responsibilities: </a:t>
            </a:r>
            <a:r>
              <a:rPr lang="en-AU" dirty="0">
                <a:latin typeface="Arial" panose="020B0604020202020204" pitchFamily="34" charset="0"/>
                <a:cs typeface="Arial" panose="020B0604020202020204" pitchFamily="34" charset="0"/>
              </a:rPr>
              <a:t>Responsibilities are somewhat distributed between the service provider and the customer.</a:t>
            </a:r>
          </a:p>
          <a:p>
            <a:pPr algn="just">
              <a:lnSpc>
                <a:spcPct val="150000"/>
              </a:lnSpc>
            </a:pPr>
            <a:r>
              <a:rPr lang="en-AU" dirty="0">
                <a:latin typeface="Arial" panose="020B0604020202020204" pitchFamily="34" charset="0"/>
                <a:cs typeface="Arial" panose="020B0604020202020204" pitchFamily="34" charset="0"/>
              </a:rPr>
              <a:t>The provider will take care of everything at the development platform level and below. The provider will make sure the operating system is patched and up to date when it’s delivered to you. The provider will also do periodic operating system updates that will be rolled out to you.</a:t>
            </a:r>
          </a:p>
          <a:p>
            <a:pPr algn="just">
              <a:lnSpc>
                <a:spcPct val="150000"/>
              </a:lnSpc>
            </a:pPr>
            <a:r>
              <a:rPr lang="en-AU" dirty="0">
                <a:latin typeface="Arial" panose="020B0604020202020204" pitchFamily="34" charset="0"/>
                <a:cs typeface="Arial" panose="020B0604020202020204" pitchFamily="34" charset="0"/>
              </a:rPr>
              <a:t>In a PaaS implementation, the customer is generally responsible for installing and maintaining any additional applications you will need. The database platform may be supplied to customer, but customer will be responsible for the data and will be able to implement an direct data fix that might need to perform.</a:t>
            </a:r>
          </a:p>
        </p:txBody>
      </p:sp>
    </p:spTree>
    <p:extLst>
      <p:ext uri="{BB962C8B-B14F-4D97-AF65-F5344CB8AC3E}">
        <p14:creationId xmlns:p14="http://schemas.microsoft.com/office/powerpoint/2010/main" val="12174411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9134875-7508-476F-B017-672F2E6B8520}"/>
              </a:ext>
            </a:extLst>
          </p:cNvPr>
          <p:cNvPicPr>
            <a:picLocks noGrp="1" noChangeAspect="1"/>
          </p:cNvPicPr>
          <p:nvPr>
            <p:ph idx="1"/>
          </p:nvPr>
        </p:nvPicPr>
        <p:blipFill>
          <a:blip r:embed="rId2"/>
          <a:stretch>
            <a:fillRect/>
          </a:stretch>
        </p:blipFill>
        <p:spPr>
          <a:xfrm>
            <a:off x="1123123" y="1163856"/>
            <a:ext cx="9084364" cy="5227983"/>
          </a:xfrm>
          <a:prstGeom prst="rect">
            <a:avLst/>
          </a:prstGeom>
        </p:spPr>
      </p:pic>
      <p:sp>
        <p:nvSpPr>
          <p:cNvPr id="4" name="Footer Placeholder 3">
            <a:extLst>
              <a:ext uri="{FF2B5EF4-FFF2-40B4-BE49-F238E27FC236}">
                <a16:creationId xmlns:a16="http://schemas.microsoft.com/office/drawing/2014/main" id="{9910C331-4932-41FD-A17F-2FF9C146AABF}"/>
              </a:ext>
            </a:extLst>
          </p:cNvPr>
          <p:cNvSpPr>
            <a:spLocks noGrp="1"/>
          </p:cNvSpPr>
          <p:nvPr>
            <p:ph type="ftr" sz="quarter" idx="11"/>
          </p:nvPr>
        </p:nvSpPr>
        <p:spPr/>
        <p:txBody>
          <a:bodyPr/>
          <a:lstStyle/>
          <a:p>
            <a:r>
              <a:rPr lang="en-US"/>
              <a:t>CCF501</a:t>
            </a:r>
            <a:endParaRPr lang="en-AU" dirty="0"/>
          </a:p>
        </p:txBody>
      </p:sp>
    </p:spTree>
    <p:extLst>
      <p:ext uri="{BB962C8B-B14F-4D97-AF65-F5344CB8AC3E}">
        <p14:creationId xmlns:p14="http://schemas.microsoft.com/office/powerpoint/2010/main" val="2519996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62A13-1954-45CC-B70A-0154C9094670}"/>
              </a:ext>
            </a:extLst>
          </p:cNvPr>
          <p:cNvSpPr>
            <a:spLocks noGrp="1"/>
          </p:cNvSpPr>
          <p:nvPr>
            <p:ph type="title"/>
          </p:nvPr>
        </p:nvSpPr>
        <p:spPr/>
        <p:txBody>
          <a:bodyPr/>
          <a:lstStyle/>
          <a:p>
            <a:r>
              <a:rPr lang="en-AU" dirty="0"/>
              <a:t>PaaS Challenges</a:t>
            </a:r>
          </a:p>
        </p:txBody>
      </p:sp>
      <p:sp>
        <p:nvSpPr>
          <p:cNvPr id="3" name="Content Placeholder 2">
            <a:extLst>
              <a:ext uri="{FF2B5EF4-FFF2-40B4-BE49-F238E27FC236}">
                <a16:creationId xmlns:a16="http://schemas.microsoft.com/office/drawing/2014/main" id="{2335EA19-18D0-4780-9B26-BA50E3ACFA6C}"/>
              </a:ext>
            </a:extLst>
          </p:cNvPr>
          <p:cNvSpPr>
            <a:spLocks noGrp="1"/>
          </p:cNvSpPr>
          <p:nvPr>
            <p:ph idx="1"/>
          </p:nvPr>
        </p:nvSpPr>
        <p:spPr>
          <a:xfrm>
            <a:off x="443060" y="2347274"/>
            <a:ext cx="11368726" cy="3672526"/>
          </a:xfrm>
        </p:spPr>
        <p:txBody>
          <a:bodyPr/>
          <a:lstStyle/>
          <a:p>
            <a:pPr algn="just">
              <a:lnSpc>
                <a:spcPct val="150000"/>
              </a:lnSpc>
            </a:pPr>
            <a:r>
              <a:rPr lang="en-AU" dirty="0">
                <a:solidFill>
                  <a:srgbClr val="FF0000"/>
                </a:solidFill>
                <a:latin typeface="Arial" panose="020B0604020202020204" pitchFamily="34" charset="0"/>
                <a:cs typeface="Arial" panose="020B0604020202020204" pitchFamily="34" charset="0"/>
              </a:rPr>
              <a:t>Flexibility Challenges: </a:t>
            </a:r>
            <a:r>
              <a:rPr lang="en-AU" dirty="0">
                <a:latin typeface="Arial" panose="020B0604020202020204" pitchFamily="34" charset="0"/>
                <a:cs typeface="Arial" panose="020B0604020202020204" pitchFamily="34" charset="0"/>
              </a:rPr>
              <a:t>You may have difficulty finding a provider with the platform you need. If you need a special set or special configuration, you might not be able to find a provider that offers what you need.</a:t>
            </a:r>
          </a:p>
          <a:p>
            <a:pPr algn="just">
              <a:lnSpc>
                <a:spcPct val="150000"/>
              </a:lnSpc>
            </a:pPr>
            <a:r>
              <a:rPr lang="en-AU" dirty="0">
                <a:solidFill>
                  <a:srgbClr val="FF0000"/>
                </a:solidFill>
                <a:latin typeface="Arial" panose="020B0604020202020204" pitchFamily="34" charset="0"/>
                <a:cs typeface="Arial" panose="020B0604020202020204" pitchFamily="34" charset="0"/>
              </a:rPr>
              <a:t>Security Challenges: </a:t>
            </a:r>
            <a:r>
              <a:rPr lang="en-AU" dirty="0">
                <a:latin typeface="Arial" panose="020B0604020202020204" pitchFamily="34" charset="0"/>
                <a:cs typeface="Arial" panose="020B0604020202020204" pitchFamily="34" charset="0"/>
              </a:rPr>
              <a:t>The provider will have administrative control over the operating system and the database platform. Since the provider has direct access to the systems, they will have direct access to all of the applications and data.</a:t>
            </a:r>
          </a:p>
        </p:txBody>
      </p:sp>
    </p:spTree>
    <p:extLst>
      <p:ext uri="{BB962C8B-B14F-4D97-AF65-F5344CB8AC3E}">
        <p14:creationId xmlns:p14="http://schemas.microsoft.com/office/powerpoint/2010/main" val="3485467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DC0AC-FC8C-4413-BFAE-65B598D9C420}"/>
              </a:ext>
            </a:extLst>
          </p:cNvPr>
          <p:cNvSpPr>
            <a:spLocks noGrp="1"/>
          </p:cNvSpPr>
          <p:nvPr>
            <p:ph type="title"/>
          </p:nvPr>
        </p:nvSpPr>
        <p:spPr/>
        <p:txBody>
          <a:bodyPr/>
          <a:lstStyle/>
          <a:p>
            <a:r>
              <a:rPr lang="en-AU" dirty="0"/>
              <a:t>PaaS Providers</a:t>
            </a:r>
          </a:p>
        </p:txBody>
      </p:sp>
      <p:sp>
        <p:nvSpPr>
          <p:cNvPr id="3" name="Content Placeholder 2">
            <a:extLst>
              <a:ext uri="{FF2B5EF4-FFF2-40B4-BE49-F238E27FC236}">
                <a16:creationId xmlns:a16="http://schemas.microsoft.com/office/drawing/2014/main" id="{065BAF54-D1E8-4EA5-81BD-EF7D8E503B4D}"/>
              </a:ext>
            </a:extLst>
          </p:cNvPr>
          <p:cNvSpPr>
            <a:spLocks noGrp="1"/>
          </p:cNvSpPr>
          <p:nvPr>
            <p:ph idx="1"/>
          </p:nvPr>
        </p:nvSpPr>
        <p:spPr/>
        <p:txBody>
          <a:bodyPr/>
          <a:lstStyle/>
          <a:p>
            <a:r>
              <a:rPr lang="en-AU" dirty="0">
                <a:latin typeface="Calibri" panose="020F0502020204030204" pitchFamily="34" charset="0"/>
                <a:cs typeface="Calibri" panose="020F0502020204030204" pitchFamily="34" charset="0"/>
              </a:rPr>
              <a:t>Windows Azure</a:t>
            </a:r>
          </a:p>
          <a:p>
            <a:r>
              <a:rPr lang="en-AU" dirty="0">
                <a:latin typeface="Calibri" panose="020F0502020204030204" pitchFamily="34" charset="0"/>
                <a:cs typeface="Calibri" panose="020F0502020204030204" pitchFamily="34" charset="0"/>
              </a:rPr>
              <a:t>Google App Engine</a:t>
            </a:r>
          </a:p>
        </p:txBody>
      </p:sp>
      <p:sp>
        <p:nvSpPr>
          <p:cNvPr id="4" name="Footer Placeholder 3">
            <a:extLst>
              <a:ext uri="{FF2B5EF4-FFF2-40B4-BE49-F238E27FC236}">
                <a16:creationId xmlns:a16="http://schemas.microsoft.com/office/drawing/2014/main" id="{7836852E-E019-402E-82CF-5D9642BF1B85}"/>
              </a:ext>
            </a:extLst>
          </p:cNvPr>
          <p:cNvSpPr>
            <a:spLocks noGrp="1"/>
          </p:cNvSpPr>
          <p:nvPr>
            <p:ph type="ftr" sz="quarter" idx="11"/>
          </p:nvPr>
        </p:nvSpPr>
        <p:spPr/>
        <p:txBody>
          <a:bodyPr/>
          <a:lstStyle/>
          <a:p>
            <a:r>
              <a:rPr lang="en-US"/>
              <a:t>CCF501</a:t>
            </a:r>
            <a:endParaRPr lang="en-AU" dirty="0"/>
          </a:p>
        </p:txBody>
      </p:sp>
    </p:spTree>
    <p:extLst>
      <p:ext uri="{BB962C8B-B14F-4D97-AF65-F5344CB8AC3E}">
        <p14:creationId xmlns:p14="http://schemas.microsoft.com/office/powerpoint/2010/main" val="13465973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DC0AC-FC8C-4413-BFAE-65B598D9C420}"/>
              </a:ext>
            </a:extLst>
          </p:cNvPr>
          <p:cNvSpPr>
            <a:spLocks noGrp="1"/>
          </p:cNvSpPr>
          <p:nvPr>
            <p:ph type="title"/>
          </p:nvPr>
        </p:nvSpPr>
        <p:spPr/>
        <p:txBody>
          <a:bodyPr/>
          <a:lstStyle/>
          <a:p>
            <a:r>
              <a:rPr lang="en-AU" dirty="0"/>
              <a:t>IaaS </a:t>
            </a:r>
          </a:p>
        </p:txBody>
      </p:sp>
      <p:sp>
        <p:nvSpPr>
          <p:cNvPr id="3" name="Content Placeholder 2">
            <a:extLst>
              <a:ext uri="{FF2B5EF4-FFF2-40B4-BE49-F238E27FC236}">
                <a16:creationId xmlns:a16="http://schemas.microsoft.com/office/drawing/2014/main" id="{065BAF54-D1E8-4EA5-81BD-EF7D8E503B4D}"/>
              </a:ext>
            </a:extLst>
          </p:cNvPr>
          <p:cNvSpPr>
            <a:spLocks noGrp="1"/>
          </p:cNvSpPr>
          <p:nvPr>
            <p:ph idx="1"/>
          </p:nvPr>
        </p:nvSpPr>
        <p:spPr>
          <a:xfrm>
            <a:off x="561110" y="2424596"/>
            <a:ext cx="10821698" cy="728480"/>
          </a:xfrm>
        </p:spPr>
        <p:txBody>
          <a:bodyPr/>
          <a:lstStyle/>
          <a:p>
            <a:r>
              <a:rPr lang="en-AU" dirty="0">
                <a:latin typeface="Calibri" panose="020F0502020204030204" pitchFamily="34" charset="0"/>
                <a:cs typeface="Calibri" panose="020F0502020204030204" pitchFamily="34" charset="0"/>
              </a:rPr>
              <a:t>IaaS provides core services such as computing power, storage, networking, and operating systems. You can then build your environment on top of these resources </a:t>
            </a:r>
          </a:p>
        </p:txBody>
      </p:sp>
      <p:sp>
        <p:nvSpPr>
          <p:cNvPr id="4" name="Footer Placeholder 3">
            <a:extLst>
              <a:ext uri="{FF2B5EF4-FFF2-40B4-BE49-F238E27FC236}">
                <a16:creationId xmlns:a16="http://schemas.microsoft.com/office/drawing/2014/main" id="{7836852E-E019-402E-82CF-5D9642BF1B85}"/>
              </a:ext>
            </a:extLst>
          </p:cNvPr>
          <p:cNvSpPr>
            <a:spLocks noGrp="1"/>
          </p:cNvSpPr>
          <p:nvPr>
            <p:ph type="ftr" sz="quarter" idx="11"/>
          </p:nvPr>
        </p:nvSpPr>
        <p:spPr/>
        <p:txBody>
          <a:bodyPr/>
          <a:lstStyle/>
          <a:p>
            <a:r>
              <a:rPr lang="en-US"/>
              <a:t>CCF501</a:t>
            </a:r>
            <a:endParaRPr lang="en-AU" dirty="0"/>
          </a:p>
        </p:txBody>
      </p:sp>
      <p:pic>
        <p:nvPicPr>
          <p:cNvPr id="5" name="Picture 4">
            <a:extLst>
              <a:ext uri="{FF2B5EF4-FFF2-40B4-BE49-F238E27FC236}">
                <a16:creationId xmlns:a16="http://schemas.microsoft.com/office/drawing/2014/main" id="{6BC325FD-9874-4F1C-8507-C4DB6C140E0F}"/>
              </a:ext>
            </a:extLst>
          </p:cNvPr>
          <p:cNvPicPr>
            <a:picLocks noChangeAspect="1"/>
          </p:cNvPicPr>
          <p:nvPr/>
        </p:nvPicPr>
        <p:blipFill>
          <a:blip r:embed="rId2"/>
          <a:stretch>
            <a:fillRect/>
          </a:stretch>
        </p:blipFill>
        <p:spPr>
          <a:xfrm>
            <a:off x="2014537" y="3240157"/>
            <a:ext cx="8162925" cy="3470205"/>
          </a:xfrm>
          <a:prstGeom prst="rect">
            <a:avLst/>
          </a:prstGeom>
        </p:spPr>
      </p:pic>
    </p:spTree>
    <p:extLst>
      <p:ext uri="{BB962C8B-B14F-4D97-AF65-F5344CB8AC3E}">
        <p14:creationId xmlns:p14="http://schemas.microsoft.com/office/powerpoint/2010/main" val="3911195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D5888-C035-401A-8794-6A3AF8BEBF3F}"/>
              </a:ext>
            </a:extLst>
          </p:cNvPr>
          <p:cNvSpPr>
            <a:spLocks noGrp="1"/>
          </p:cNvSpPr>
          <p:nvPr>
            <p:ph type="title"/>
          </p:nvPr>
        </p:nvSpPr>
        <p:spPr/>
        <p:txBody>
          <a:bodyPr/>
          <a:lstStyle/>
          <a:p>
            <a:r>
              <a:rPr lang="en-AU" dirty="0"/>
              <a:t>IaaS Characteristics</a:t>
            </a:r>
          </a:p>
        </p:txBody>
      </p:sp>
      <p:sp>
        <p:nvSpPr>
          <p:cNvPr id="3" name="Content Placeholder 2">
            <a:extLst>
              <a:ext uri="{FF2B5EF4-FFF2-40B4-BE49-F238E27FC236}">
                <a16:creationId xmlns:a16="http://schemas.microsoft.com/office/drawing/2014/main" id="{4197411F-FB74-4026-AD0A-B4BB208599ED}"/>
              </a:ext>
            </a:extLst>
          </p:cNvPr>
          <p:cNvSpPr>
            <a:spLocks noGrp="1"/>
          </p:cNvSpPr>
          <p:nvPr>
            <p:ph idx="1"/>
          </p:nvPr>
        </p:nvSpPr>
        <p:spPr>
          <a:xfrm>
            <a:off x="561110" y="2856322"/>
            <a:ext cx="4557542" cy="3163478"/>
          </a:xfrm>
        </p:spPr>
        <p:txBody>
          <a:bodyPr>
            <a:normAutofit fontScale="92500" lnSpcReduction="10000"/>
          </a:bodyPr>
          <a:lstStyle/>
          <a:p>
            <a:pPr algn="just">
              <a:lnSpc>
                <a:spcPct val="150000"/>
              </a:lnSpc>
            </a:pPr>
            <a:r>
              <a:rPr lang="en-AU" dirty="0">
                <a:solidFill>
                  <a:srgbClr val="FF0000"/>
                </a:solidFill>
                <a:latin typeface="Arial" panose="020B0604020202020204" pitchFamily="34" charset="0"/>
                <a:cs typeface="Arial" panose="020B0604020202020204" pitchFamily="34" charset="0"/>
              </a:rPr>
              <a:t>Responsibilities:</a:t>
            </a:r>
            <a:r>
              <a:rPr lang="en-AU" dirty="0">
                <a:latin typeface="Arial" panose="020B0604020202020204" pitchFamily="34" charset="0"/>
                <a:cs typeface="Arial" panose="020B0604020202020204" pitchFamily="34" charset="0"/>
              </a:rPr>
              <a:t> the customer is responsible for most of the environment. The physical hardware will be stored in the provider’s </a:t>
            </a:r>
            <a:r>
              <a:rPr lang="en-AU" dirty="0" err="1">
                <a:latin typeface="Arial" panose="020B0604020202020204" pitchFamily="34" charset="0"/>
                <a:cs typeface="Arial" panose="020B0604020202020204" pitchFamily="34" charset="0"/>
              </a:rPr>
              <a:t>datacenter</a:t>
            </a:r>
            <a:r>
              <a:rPr lang="en-AU" dirty="0">
                <a:latin typeface="Arial" panose="020B0604020202020204" pitchFamily="34" charset="0"/>
                <a:cs typeface="Arial" panose="020B0604020202020204" pitchFamily="34" charset="0"/>
              </a:rPr>
              <a:t>, but the customer may have full access to it. The customer is responsible for obvious things like operating system and application maintenance.</a:t>
            </a:r>
          </a:p>
          <a:p>
            <a:pPr algn="just">
              <a:lnSpc>
                <a:spcPct val="150000"/>
              </a:lnSpc>
            </a:pPr>
            <a:endParaRPr lang="en-AU"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5BAABCBE-A68C-47AF-B454-D707F4451C3B}"/>
              </a:ext>
            </a:extLst>
          </p:cNvPr>
          <p:cNvPicPr>
            <a:picLocks noChangeAspect="1"/>
          </p:cNvPicPr>
          <p:nvPr/>
        </p:nvPicPr>
        <p:blipFill>
          <a:blip r:embed="rId3"/>
          <a:stretch>
            <a:fillRect/>
          </a:stretch>
        </p:blipFill>
        <p:spPr>
          <a:xfrm>
            <a:off x="5416826" y="1759226"/>
            <a:ext cx="6015288" cy="4939747"/>
          </a:xfrm>
          <a:prstGeom prst="rect">
            <a:avLst/>
          </a:prstGeom>
        </p:spPr>
      </p:pic>
    </p:spTree>
    <p:extLst>
      <p:ext uri="{BB962C8B-B14F-4D97-AF65-F5344CB8AC3E}">
        <p14:creationId xmlns:p14="http://schemas.microsoft.com/office/powerpoint/2010/main" val="15161631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BBA10-8D32-4FC0-9E74-6922822794E5}"/>
              </a:ext>
            </a:extLst>
          </p:cNvPr>
          <p:cNvSpPr>
            <a:spLocks noGrp="1"/>
          </p:cNvSpPr>
          <p:nvPr>
            <p:ph type="title"/>
          </p:nvPr>
        </p:nvSpPr>
        <p:spPr/>
        <p:txBody>
          <a:bodyPr/>
          <a:lstStyle/>
          <a:p>
            <a:r>
              <a:rPr lang="en-AU" dirty="0"/>
              <a:t>IaaS Challenges</a:t>
            </a:r>
          </a:p>
        </p:txBody>
      </p:sp>
      <p:sp>
        <p:nvSpPr>
          <p:cNvPr id="3" name="Content Placeholder 2">
            <a:extLst>
              <a:ext uri="{FF2B5EF4-FFF2-40B4-BE49-F238E27FC236}">
                <a16:creationId xmlns:a16="http://schemas.microsoft.com/office/drawing/2014/main" id="{1C66C188-127C-4AE4-9F98-0D41C04F53CD}"/>
              </a:ext>
            </a:extLst>
          </p:cNvPr>
          <p:cNvSpPr>
            <a:spLocks noGrp="1"/>
          </p:cNvSpPr>
          <p:nvPr>
            <p:ph idx="1"/>
          </p:nvPr>
        </p:nvSpPr>
        <p:spPr>
          <a:xfrm>
            <a:off x="561110" y="2403835"/>
            <a:ext cx="11128127" cy="3615965"/>
          </a:xfrm>
        </p:spPr>
        <p:txBody>
          <a:bodyPr/>
          <a:lstStyle/>
          <a:p>
            <a:pPr algn="just">
              <a:lnSpc>
                <a:spcPct val="150000"/>
              </a:lnSpc>
            </a:pPr>
            <a:r>
              <a:rPr lang="en-AU" dirty="0">
                <a:latin typeface="Arial" panose="020B0604020202020204" pitchFamily="34" charset="0"/>
                <a:cs typeface="Arial" panose="020B0604020202020204" pitchFamily="34" charset="0"/>
              </a:rPr>
              <a:t>In many IaaS environments, you are charged for resource usage, such as processor and memory. Unless you carefully monitor your system usage, you may be in for a shock when the bill comes.</a:t>
            </a:r>
          </a:p>
          <a:p>
            <a:pPr algn="just">
              <a:lnSpc>
                <a:spcPct val="150000"/>
              </a:lnSpc>
            </a:pPr>
            <a:r>
              <a:rPr lang="en-AU" dirty="0">
                <a:solidFill>
                  <a:srgbClr val="FF0000"/>
                </a:solidFill>
                <a:latin typeface="Arial" panose="020B0604020202020204" pitchFamily="34" charset="0"/>
                <a:cs typeface="Arial" panose="020B0604020202020204" pitchFamily="34" charset="0"/>
              </a:rPr>
              <a:t>Security: </a:t>
            </a:r>
            <a:r>
              <a:rPr lang="en-AU" dirty="0">
                <a:latin typeface="Arial" panose="020B0604020202020204" pitchFamily="34" charset="0"/>
                <a:cs typeface="Arial" panose="020B0604020202020204" pitchFamily="34" charset="0"/>
              </a:rPr>
              <a:t>The provider does not need access to the actual operation system or items at a higher level, there is no need for them to have administrative accounts on the system. This can give the customer at least some level of comfort regarding security.</a:t>
            </a:r>
          </a:p>
        </p:txBody>
      </p:sp>
    </p:spTree>
    <p:extLst>
      <p:ext uri="{BB962C8B-B14F-4D97-AF65-F5344CB8AC3E}">
        <p14:creationId xmlns:p14="http://schemas.microsoft.com/office/powerpoint/2010/main" val="19080042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71474-6B09-4F6D-B200-28032A584E5E}"/>
              </a:ext>
            </a:extLst>
          </p:cNvPr>
          <p:cNvSpPr>
            <a:spLocks noGrp="1"/>
          </p:cNvSpPr>
          <p:nvPr>
            <p:ph type="title"/>
          </p:nvPr>
        </p:nvSpPr>
        <p:spPr/>
        <p:txBody>
          <a:bodyPr/>
          <a:lstStyle/>
          <a:p>
            <a:r>
              <a:rPr lang="en-AU" dirty="0"/>
              <a:t>IaaS Providers</a:t>
            </a:r>
          </a:p>
        </p:txBody>
      </p:sp>
      <p:sp>
        <p:nvSpPr>
          <p:cNvPr id="3" name="Content Placeholder 2">
            <a:extLst>
              <a:ext uri="{FF2B5EF4-FFF2-40B4-BE49-F238E27FC236}">
                <a16:creationId xmlns:a16="http://schemas.microsoft.com/office/drawing/2014/main" id="{DF8E5C07-75D3-4F6B-8DBF-D4486C145FC0}"/>
              </a:ext>
            </a:extLst>
          </p:cNvPr>
          <p:cNvSpPr>
            <a:spLocks noGrp="1"/>
          </p:cNvSpPr>
          <p:nvPr>
            <p:ph idx="1"/>
          </p:nvPr>
        </p:nvSpPr>
        <p:spPr/>
        <p:txBody>
          <a:bodyPr/>
          <a:lstStyle/>
          <a:p>
            <a:r>
              <a:rPr lang="en-AU" dirty="0">
                <a:latin typeface="Calibri" panose="020F0502020204030204" pitchFamily="34" charset="0"/>
                <a:cs typeface="Calibri" panose="020F0502020204030204" pitchFamily="34" charset="0"/>
              </a:rPr>
              <a:t>Amazon EC2</a:t>
            </a:r>
          </a:p>
          <a:p>
            <a:r>
              <a:rPr lang="en-AU" dirty="0" err="1">
                <a:latin typeface="Calibri" panose="020F0502020204030204" pitchFamily="34" charset="0"/>
                <a:cs typeface="Calibri" panose="020F0502020204030204" pitchFamily="34" charset="0"/>
              </a:rPr>
              <a:t>Rackspace</a:t>
            </a:r>
            <a:endParaRPr lang="en-AU" dirty="0">
              <a:latin typeface="Calibri" panose="020F0502020204030204" pitchFamily="34" charset="0"/>
              <a:cs typeface="Calibri" panose="020F0502020204030204" pitchFamily="34" charset="0"/>
            </a:endParaRPr>
          </a:p>
        </p:txBody>
      </p:sp>
      <p:sp>
        <p:nvSpPr>
          <p:cNvPr id="4" name="Footer Placeholder 3">
            <a:extLst>
              <a:ext uri="{FF2B5EF4-FFF2-40B4-BE49-F238E27FC236}">
                <a16:creationId xmlns:a16="http://schemas.microsoft.com/office/drawing/2014/main" id="{72D7E66D-4FF8-460A-BF61-A304633386A8}"/>
              </a:ext>
            </a:extLst>
          </p:cNvPr>
          <p:cNvSpPr>
            <a:spLocks noGrp="1"/>
          </p:cNvSpPr>
          <p:nvPr>
            <p:ph type="ftr" sz="quarter" idx="11"/>
          </p:nvPr>
        </p:nvSpPr>
        <p:spPr/>
        <p:txBody>
          <a:bodyPr/>
          <a:lstStyle/>
          <a:p>
            <a:r>
              <a:rPr lang="en-US"/>
              <a:t>CCF501</a:t>
            </a:r>
            <a:endParaRPr lang="en-AU" dirty="0"/>
          </a:p>
        </p:txBody>
      </p:sp>
    </p:spTree>
    <p:extLst>
      <p:ext uri="{BB962C8B-B14F-4D97-AF65-F5344CB8AC3E}">
        <p14:creationId xmlns:p14="http://schemas.microsoft.com/office/powerpoint/2010/main" val="1046599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50EC2-DD95-430A-8F98-22C9DCDFE4B7}"/>
              </a:ext>
            </a:extLst>
          </p:cNvPr>
          <p:cNvSpPr>
            <a:spLocks noGrp="1"/>
          </p:cNvSpPr>
          <p:nvPr>
            <p:ph type="title"/>
          </p:nvPr>
        </p:nvSpPr>
        <p:spPr/>
        <p:txBody>
          <a:bodyPr/>
          <a:lstStyle/>
          <a:p>
            <a:r>
              <a:rPr lang="en-AU" dirty="0"/>
              <a:t>ADDITIONAL SERVICE MODELS</a:t>
            </a:r>
          </a:p>
        </p:txBody>
      </p:sp>
      <p:sp>
        <p:nvSpPr>
          <p:cNvPr id="3" name="Content Placeholder 2">
            <a:extLst>
              <a:ext uri="{FF2B5EF4-FFF2-40B4-BE49-F238E27FC236}">
                <a16:creationId xmlns:a16="http://schemas.microsoft.com/office/drawing/2014/main" id="{3A114204-85B5-466B-B301-FB04BAE325B2}"/>
              </a:ext>
            </a:extLst>
          </p:cNvPr>
          <p:cNvSpPr>
            <a:spLocks noGrp="1"/>
          </p:cNvSpPr>
          <p:nvPr>
            <p:ph idx="1"/>
          </p:nvPr>
        </p:nvSpPr>
        <p:spPr>
          <a:xfrm>
            <a:off x="561110" y="2603500"/>
            <a:ext cx="10996152" cy="3416300"/>
          </a:xfrm>
        </p:spPr>
        <p:txBody>
          <a:bodyPr/>
          <a:lstStyle/>
          <a:p>
            <a:r>
              <a:rPr lang="en-AU" b="1" dirty="0"/>
              <a:t>Database as a Service:</a:t>
            </a:r>
          </a:p>
          <a:p>
            <a:pPr>
              <a:buFont typeface="Wingdings" panose="05000000000000000000" pitchFamily="2" charset="2"/>
              <a:buChar char="q"/>
            </a:pPr>
            <a:r>
              <a:rPr lang="en-AU" dirty="0" err="1"/>
              <a:t>DbaaS</a:t>
            </a:r>
            <a:r>
              <a:rPr lang="en-AU" dirty="0"/>
              <a:t> provides a database platform organizations can use to store their data.</a:t>
            </a:r>
          </a:p>
          <a:p>
            <a:pPr>
              <a:buFont typeface="Wingdings" panose="05000000000000000000" pitchFamily="2" charset="2"/>
              <a:buChar char="q"/>
            </a:pPr>
            <a:r>
              <a:rPr lang="en-AU" dirty="0"/>
              <a:t>Many PaaS providers also provide database services.</a:t>
            </a:r>
          </a:p>
          <a:p>
            <a:pPr>
              <a:buFont typeface="Wingdings" panose="05000000000000000000" pitchFamily="2" charset="2"/>
              <a:buChar char="Ø"/>
            </a:pPr>
            <a:r>
              <a:rPr lang="en-AU" b="1" dirty="0"/>
              <a:t>Desktop as a Service</a:t>
            </a:r>
          </a:p>
          <a:p>
            <a:pPr>
              <a:buFont typeface="Wingdings" panose="05000000000000000000" pitchFamily="2" charset="2"/>
              <a:buChar char="q"/>
            </a:pPr>
            <a:r>
              <a:rPr lang="en-AU" dirty="0" err="1"/>
              <a:t>DaaS</a:t>
            </a:r>
            <a:r>
              <a:rPr lang="en-AU" dirty="0"/>
              <a:t> provides users with a virtual desktop that can be used to perform desktop computing.</a:t>
            </a:r>
          </a:p>
        </p:txBody>
      </p:sp>
    </p:spTree>
    <p:extLst>
      <p:ext uri="{BB962C8B-B14F-4D97-AF65-F5344CB8AC3E}">
        <p14:creationId xmlns:p14="http://schemas.microsoft.com/office/powerpoint/2010/main" val="25703196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35DF4-772D-4DBC-AD53-1B7B20AC1D28}"/>
              </a:ext>
            </a:extLst>
          </p:cNvPr>
          <p:cNvSpPr>
            <a:spLocks noGrp="1"/>
          </p:cNvSpPr>
          <p:nvPr>
            <p:ph type="title"/>
          </p:nvPr>
        </p:nvSpPr>
        <p:spPr/>
        <p:txBody>
          <a:bodyPr/>
          <a:lstStyle/>
          <a:p>
            <a:r>
              <a:rPr lang="en-AU" dirty="0"/>
              <a:t>Cloud Stack</a:t>
            </a:r>
          </a:p>
        </p:txBody>
      </p:sp>
      <p:pic>
        <p:nvPicPr>
          <p:cNvPr id="5" name="Content Placeholder 4">
            <a:extLst>
              <a:ext uri="{FF2B5EF4-FFF2-40B4-BE49-F238E27FC236}">
                <a16:creationId xmlns:a16="http://schemas.microsoft.com/office/drawing/2014/main" id="{23ECEC0F-7A79-4BC2-AAE0-BB50B9E09BE6}"/>
              </a:ext>
            </a:extLst>
          </p:cNvPr>
          <p:cNvPicPr>
            <a:picLocks noGrp="1" noChangeAspect="1"/>
          </p:cNvPicPr>
          <p:nvPr>
            <p:ph idx="1"/>
          </p:nvPr>
        </p:nvPicPr>
        <p:blipFill>
          <a:blip r:embed="rId2"/>
          <a:stretch>
            <a:fillRect/>
          </a:stretch>
        </p:blipFill>
        <p:spPr>
          <a:xfrm>
            <a:off x="1234562" y="2289739"/>
            <a:ext cx="9927082" cy="4254500"/>
          </a:xfrm>
          <a:prstGeom prst="rect">
            <a:avLst/>
          </a:prstGeom>
        </p:spPr>
      </p:pic>
      <p:sp>
        <p:nvSpPr>
          <p:cNvPr id="4" name="Footer Placeholder 3">
            <a:extLst>
              <a:ext uri="{FF2B5EF4-FFF2-40B4-BE49-F238E27FC236}">
                <a16:creationId xmlns:a16="http://schemas.microsoft.com/office/drawing/2014/main" id="{F8D9F488-4388-45C1-B526-BEC1C6D73AE3}"/>
              </a:ext>
            </a:extLst>
          </p:cNvPr>
          <p:cNvSpPr>
            <a:spLocks noGrp="1"/>
          </p:cNvSpPr>
          <p:nvPr>
            <p:ph type="ftr" sz="quarter" idx="11"/>
          </p:nvPr>
        </p:nvSpPr>
        <p:spPr/>
        <p:txBody>
          <a:bodyPr/>
          <a:lstStyle/>
          <a:p>
            <a:r>
              <a:rPr lang="en-US"/>
              <a:t>CCF501</a:t>
            </a:r>
            <a:endParaRPr lang="en-AU" dirty="0"/>
          </a:p>
        </p:txBody>
      </p:sp>
    </p:spTree>
    <p:extLst>
      <p:ext uri="{BB962C8B-B14F-4D97-AF65-F5344CB8AC3E}">
        <p14:creationId xmlns:p14="http://schemas.microsoft.com/office/powerpoint/2010/main" val="10924472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0C18-6A6D-A821-EAA9-47FDA6C29D7D}"/>
              </a:ext>
            </a:extLst>
          </p:cNvPr>
          <p:cNvSpPr>
            <a:spLocks noGrp="1"/>
          </p:cNvSpPr>
          <p:nvPr>
            <p:ph type="title"/>
          </p:nvPr>
        </p:nvSpPr>
        <p:spPr/>
        <p:txBody>
          <a:bodyPr/>
          <a:lstStyle/>
          <a:p>
            <a:r>
              <a:rPr lang="en-US" dirty="0"/>
              <a:t>Learning Activity 1:</a:t>
            </a:r>
            <a:endParaRPr lang="en-AU" dirty="0"/>
          </a:p>
        </p:txBody>
      </p:sp>
      <p:sp>
        <p:nvSpPr>
          <p:cNvPr id="3" name="Content Placeholder 2">
            <a:extLst>
              <a:ext uri="{FF2B5EF4-FFF2-40B4-BE49-F238E27FC236}">
                <a16:creationId xmlns:a16="http://schemas.microsoft.com/office/drawing/2014/main" id="{B5292541-AE0C-31AC-7DD8-E5F57A77688B}"/>
              </a:ext>
            </a:extLst>
          </p:cNvPr>
          <p:cNvSpPr>
            <a:spLocks noGrp="1"/>
          </p:cNvSpPr>
          <p:nvPr>
            <p:ph idx="1"/>
          </p:nvPr>
        </p:nvSpPr>
        <p:spPr/>
        <p:txBody>
          <a:bodyPr/>
          <a:lstStyle/>
          <a:p>
            <a:r>
              <a:rPr lang="en-US" b="0" i="0" dirty="0">
                <a:solidFill>
                  <a:srgbClr val="2D3B45"/>
                </a:solidFill>
                <a:effectLst/>
                <a:latin typeface="Inter"/>
              </a:rPr>
              <a:t>Pick your </a:t>
            </a:r>
            <a:r>
              <a:rPr lang="en-US" b="0" i="0" dirty="0" err="1">
                <a:solidFill>
                  <a:srgbClr val="2D3B45"/>
                </a:solidFill>
                <a:effectLst/>
                <a:latin typeface="Inter"/>
              </a:rPr>
              <a:t>favourite</a:t>
            </a:r>
            <a:r>
              <a:rPr lang="en-US" b="0" i="0" dirty="0">
                <a:solidFill>
                  <a:srgbClr val="2D3B45"/>
                </a:solidFill>
                <a:effectLst/>
                <a:latin typeface="Inter"/>
              </a:rPr>
              <a:t> business SaaS application and write a post of 100 words discussing what features and characteristics of the application you like the best. What do you think business would be like for the application’s developers had they stuck with a traditional IT model?</a:t>
            </a:r>
            <a:endParaRPr lang="en-AU" dirty="0"/>
          </a:p>
        </p:txBody>
      </p:sp>
      <p:sp>
        <p:nvSpPr>
          <p:cNvPr id="4" name="Footer Placeholder 3">
            <a:extLst>
              <a:ext uri="{FF2B5EF4-FFF2-40B4-BE49-F238E27FC236}">
                <a16:creationId xmlns:a16="http://schemas.microsoft.com/office/drawing/2014/main" id="{47ABB6CA-CDE1-5793-EEC1-52D6168401A1}"/>
              </a:ext>
            </a:extLst>
          </p:cNvPr>
          <p:cNvSpPr>
            <a:spLocks noGrp="1"/>
          </p:cNvSpPr>
          <p:nvPr>
            <p:ph type="ftr" sz="quarter" idx="11"/>
          </p:nvPr>
        </p:nvSpPr>
        <p:spPr/>
        <p:txBody>
          <a:bodyPr/>
          <a:lstStyle/>
          <a:p>
            <a:r>
              <a:rPr lang="en-US"/>
              <a:t>CCF501</a:t>
            </a:r>
            <a:endParaRPr lang="en-AU" dirty="0"/>
          </a:p>
        </p:txBody>
      </p:sp>
    </p:spTree>
    <p:extLst>
      <p:ext uri="{BB962C8B-B14F-4D97-AF65-F5344CB8AC3E}">
        <p14:creationId xmlns:p14="http://schemas.microsoft.com/office/powerpoint/2010/main" val="8787324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88BF4-B818-AF1C-EC4C-AC5E4C38527A}"/>
              </a:ext>
            </a:extLst>
          </p:cNvPr>
          <p:cNvSpPr>
            <a:spLocks noGrp="1"/>
          </p:cNvSpPr>
          <p:nvPr>
            <p:ph type="title"/>
          </p:nvPr>
        </p:nvSpPr>
        <p:spPr/>
        <p:txBody>
          <a:bodyPr/>
          <a:lstStyle/>
          <a:p>
            <a:r>
              <a:rPr lang="en-US" dirty="0"/>
              <a:t>Learning Activity 2:</a:t>
            </a:r>
            <a:endParaRPr lang="en-AU" dirty="0"/>
          </a:p>
        </p:txBody>
      </p:sp>
      <p:sp>
        <p:nvSpPr>
          <p:cNvPr id="3" name="Content Placeholder 2">
            <a:extLst>
              <a:ext uri="{FF2B5EF4-FFF2-40B4-BE49-F238E27FC236}">
                <a16:creationId xmlns:a16="http://schemas.microsoft.com/office/drawing/2014/main" id="{5DA8BA65-C36A-2A28-B32C-3021B1A6B4B8}"/>
              </a:ext>
            </a:extLst>
          </p:cNvPr>
          <p:cNvSpPr>
            <a:spLocks noGrp="1"/>
          </p:cNvSpPr>
          <p:nvPr>
            <p:ph idx="1"/>
          </p:nvPr>
        </p:nvSpPr>
        <p:spPr/>
        <p:txBody>
          <a:bodyPr/>
          <a:lstStyle/>
          <a:p>
            <a:pPr algn="l">
              <a:spcBef>
                <a:spcPts val="900"/>
              </a:spcBef>
              <a:spcAft>
                <a:spcPts val="900"/>
              </a:spcAft>
            </a:pPr>
            <a:r>
              <a:rPr lang="en-US" b="0" i="0" dirty="0">
                <a:solidFill>
                  <a:srgbClr val="2D3B45"/>
                </a:solidFill>
                <a:effectLst/>
                <a:latin typeface="Inter"/>
              </a:rPr>
              <a:t>One of the challenges of taking up cloud-based services for any </a:t>
            </a:r>
            <a:r>
              <a:rPr lang="en-US" b="0" i="0" dirty="0" err="1">
                <a:solidFill>
                  <a:srgbClr val="2D3B45"/>
                </a:solidFill>
                <a:effectLst/>
                <a:latin typeface="Inter"/>
              </a:rPr>
              <a:t>organisation</a:t>
            </a:r>
            <a:r>
              <a:rPr lang="en-US" b="0" i="0" dirty="0">
                <a:solidFill>
                  <a:srgbClr val="2D3B45"/>
                </a:solidFill>
                <a:effectLst/>
                <a:latin typeface="Inter"/>
              </a:rPr>
              <a:t> (or even individuals!) is the human tendency to stick with the familiar and resistance to change. This is evident across many groups, based on many factors including age, background, experience and so on.</a:t>
            </a:r>
          </a:p>
          <a:p>
            <a:pPr algn="l">
              <a:spcBef>
                <a:spcPts val="900"/>
              </a:spcBef>
              <a:spcAft>
                <a:spcPts val="900"/>
              </a:spcAft>
            </a:pPr>
            <a:r>
              <a:rPr lang="en-US" b="0" i="0" dirty="0">
                <a:solidFill>
                  <a:srgbClr val="2D3B45"/>
                </a:solidFill>
                <a:effectLst/>
                <a:latin typeface="Inter"/>
              </a:rPr>
              <a:t>In this thinking exercise, you are asked to reflect on what you have seen so far in Modules 1 to 4. List what aspects of adopting the various cloud services and deployment models you may anticipate hesitation and challenges in. Feel free to tell stories of your past experiences in your post. You can also do some research and explain where you think the challenges may stand. One great resource where you will find challenges specific to the APAC region is in the Additional Learning Resources section.</a:t>
            </a:r>
          </a:p>
          <a:p>
            <a:endParaRPr lang="en-AU" dirty="0"/>
          </a:p>
        </p:txBody>
      </p:sp>
      <p:sp>
        <p:nvSpPr>
          <p:cNvPr id="4" name="Footer Placeholder 3">
            <a:extLst>
              <a:ext uri="{FF2B5EF4-FFF2-40B4-BE49-F238E27FC236}">
                <a16:creationId xmlns:a16="http://schemas.microsoft.com/office/drawing/2014/main" id="{3A0D332C-09FF-896B-E4B7-35AF52ADAEB0}"/>
              </a:ext>
            </a:extLst>
          </p:cNvPr>
          <p:cNvSpPr>
            <a:spLocks noGrp="1"/>
          </p:cNvSpPr>
          <p:nvPr>
            <p:ph type="ftr" sz="quarter" idx="11"/>
          </p:nvPr>
        </p:nvSpPr>
        <p:spPr/>
        <p:txBody>
          <a:bodyPr/>
          <a:lstStyle/>
          <a:p>
            <a:r>
              <a:rPr lang="en-US"/>
              <a:t>CCF501</a:t>
            </a:r>
            <a:endParaRPr lang="en-AU" dirty="0"/>
          </a:p>
        </p:txBody>
      </p:sp>
    </p:spTree>
    <p:extLst>
      <p:ext uri="{BB962C8B-B14F-4D97-AF65-F5344CB8AC3E}">
        <p14:creationId xmlns:p14="http://schemas.microsoft.com/office/powerpoint/2010/main" val="10578869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Any Questions Blue PowerPoint template background in Symbols PowerPoint ppt  slide design category | The best PowerPoint templates and backgrounds at  PresentationPro.com">
            <a:extLst>
              <a:ext uri="{FF2B5EF4-FFF2-40B4-BE49-F238E27FC236}">
                <a16:creationId xmlns:a16="http://schemas.microsoft.com/office/drawing/2014/main" id="{49C45B30-F235-4008-81EC-347170CAA5E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38084" y="2603500"/>
            <a:ext cx="4646428" cy="341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23672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F1C4790-FE3C-4020-8CA7-00621DA7BB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1245</TotalTime>
  <Words>1369</Words>
  <Application>Microsoft Office PowerPoint</Application>
  <PresentationFormat>Widescreen</PresentationFormat>
  <Paragraphs>89</Paragraphs>
  <Slides>28</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Century Gothic</vt:lpstr>
      <vt:lpstr>Inter</vt:lpstr>
      <vt:lpstr>Lato Extended</vt:lpstr>
      <vt:lpstr>Wingdings</vt:lpstr>
      <vt:lpstr>Wingdings 3</vt:lpstr>
      <vt:lpstr>Ion Boardroom</vt:lpstr>
      <vt:lpstr>Module 4: Cloud Computing Service Models</vt:lpstr>
      <vt:lpstr>PowerPoint Presentation</vt:lpstr>
      <vt:lpstr>Saas</vt:lpstr>
      <vt:lpstr>SaaS Characteristics</vt:lpstr>
      <vt:lpstr>SaaS Characteristics</vt:lpstr>
      <vt:lpstr>SaaS Responsibilities: </vt:lpstr>
      <vt:lpstr>SaaS Challenges</vt:lpstr>
      <vt:lpstr>SaaS Providers</vt:lpstr>
      <vt:lpstr>PowerPoint Presentation</vt:lpstr>
      <vt:lpstr>PowerPoint Presentation</vt:lpstr>
      <vt:lpstr>PowerPoint Presentation</vt:lpstr>
      <vt:lpstr>PowerPoint Presentation</vt:lpstr>
      <vt:lpstr>PowerPoint Presentation</vt:lpstr>
      <vt:lpstr>Paas</vt:lpstr>
      <vt:lpstr>PaaS Characteristics</vt:lpstr>
      <vt:lpstr>PaaS Characteristics</vt:lpstr>
      <vt:lpstr>PowerPoint Presentation</vt:lpstr>
      <vt:lpstr>PaaS Challenges</vt:lpstr>
      <vt:lpstr>PaaS Providers</vt:lpstr>
      <vt:lpstr>IaaS </vt:lpstr>
      <vt:lpstr>IaaS Characteristics</vt:lpstr>
      <vt:lpstr>IaaS Challenges</vt:lpstr>
      <vt:lpstr>IaaS Providers</vt:lpstr>
      <vt:lpstr>ADDITIONAL SERVICE MODELS</vt:lpstr>
      <vt:lpstr>Cloud Stack</vt:lpstr>
      <vt:lpstr>Learning Activity 1:</vt:lpstr>
      <vt:lpstr>Learning Activity 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Supriya Supriya</dc:creator>
  <cp:lastModifiedBy>Bushra Naeem</cp:lastModifiedBy>
  <cp:revision>90</cp:revision>
  <dcterms:created xsi:type="dcterms:W3CDTF">2022-02-13T05:22:10Z</dcterms:created>
  <dcterms:modified xsi:type="dcterms:W3CDTF">2025-03-10T01:27:57Z</dcterms:modified>
</cp:coreProperties>
</file>