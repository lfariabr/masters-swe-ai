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258" r:id="rId3"/>
    <p:sldId id="266" r:id="rId4"/>
    <p:sldId id="265" r:id="rId5"/>
    <p:sldId id="264" r:id="rId6"/>
    <p:sldId id="308" r:id="rId7"/>
    <p:sldId id="267" r:id="rId8"/>
    <p:sldId id="263" r:id="rId9"/>
    <p:sldId id="262" r:id="rId10"/>
    <p:sldId id="272" r:id="rId11"/>
    <p:sldId id="273" r:id="rId12"/>
    <p:sldId id="271" r:id="rId13"/>
    <p:sldId id="274" r:id="rId14"/>
    <p:sldId id="270" r:id="rId15"/>
    <p:sldId id="261" r:id="rId16"/>
    <p:sldId id="275" r:id="rId17"/>
    <p:sldId id="260" r:id="rId18"/>
    <p:sldId id="259" r:id="rId19"/>
    <p:sldId id="279" r:id="rId20"/>
    <p:sldId id="277" r:id="rId21"/>
    <p:sldId id="289" r:id="rId22"/>
    <p:sldId id="290" r:id="rId23"/>
    <p:sldId id="276" r:id="rId24"/>
    <p:sldId id="287"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4" r:id="rId38"/>
    <p:sldId id="305" r:id="rId39"/>
    <p:sldId id="306"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1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AE97F3-49A9-4A8D-BDBC-DF06E0C1AB3E}" type="datetimeFigureOut">
              <a:rPr lang="en-AU" smtClean="0"/>
              <a:t>5/08/2022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5E5B12-456B-47A4-AF2B-A5FD8F2DDA74}" type="slidenum">
              <a:rPr lang="en-AU" smtClean="0"/>
              <a:t>‹#›</a:t>
            </a:fld>
            <a:endParaRPr lang="en-AU"/>
          </a:p>
        </p:txBody>
      </p:sp>
    </p:spTree>
    <p:extLst>
      <p:ext uri="{BB962C8B-B14F-4D97-AF65-F5344CB8AC3E}">
        <p14:creationId xmlns:p14="http://schemas.microsoft.com/office/powerpoint/2010/main" val="3032412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75E5B12-456B-47A4-AF2B-A5FD8F2DDA74}" type="slidenum">
              <a:rPr lang="en-AU" smtClean="0"/>
              <a:t>33</a:t>
            </a:fld>
            <a:endParaRPr lang="en-AU"/>
          </a:p>
        </p:txBody>
      </p:sp>
    </p:spTree>
    <p:extLst>
      <p:ext uri="{BB962C8B-B14F-4D97-AF65-F5344CB8AC3E}">
        <p14:creationId xmlns:p14="http://schemas.microsoft.com/office/powerpoint/2010/main" val="879508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873AE6F-FB22-477F-A781-3B70B09DA179}" type="datetimeFigureOut">
              <a:rPr lang="en-AU" smtClean="0"/>
              <a:t>5/08/2022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B11D12-0A54-4038-99B9-822E5C7219C2}"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4741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73AE6F-FB22-477F-A781-3B70B09DA179}" type="datetimeFigureOut">
              <a:rPr lang="en-AU" smtClean="0"/>
              <a:t>5/08/2022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B11D12-0A54-4038-99B9-822E5C7219C2}" type="slidenum">
              <a:rPr lang="en-AU" smtClean="0"/>
              <a:t>‹#›</a:t>
            </a:fld>
            <a:endParaRPr lang="en-AU"/>
          </a:p>
        </p:txBody>
      </p:sp>
    </p:spTree>
    <p:extLst>
      <p:ext uri="{BB962C8B-B14F-4D97-AF65-F5344CB8AC3E}">
        <p14:creationId xmlns:p14="http://schemas.microsoft.com/office/powerpoint/2010/main" val="3343536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873AE6F-FB22-477F-A781-3B70B09DA179}" type="datetimeFigureOut">
              <a:rPr lang="en-AU" smtClean="0"/>
              <a:t>5/08/2022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B11D12-0A54-4038-99B9-822E5C7219C2}"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5013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73AE6F-FB22-477F-A781-3B70B09DA179}" type="datetimeFigureOut">
              <a:rPr lang="en-AU" smtClean="0"/>
              <a:t>5/08/2022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5B11D12-0A54-4038-99B9-822E5C7219C2}" type="slidenum">
              <a:rPr lang="en-AU" smtClean="0"/>
              <a:t>‹#›</a:t>
            </a:fld>
            <a:endParaRPr lang="en-AU"/>
          </a:p>
        </p:txBody>
      </p:sp>
    </p:spTree>
    <p:extLst>
      <p:ext uri="{BB962C8B-B14F-4D97-AF65-F5344CB8AC3E}">
        <p14:creationId xmlns:p14="http://schemas.microsoft.com/office/powerpoint/2010/main" val="1562545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73AE6F-FB22-477F-A781-3B70B09DA179}" type="datetimeFigureOut">
              <a:rPr lang="en-AU" smtClean="0"/>
              <a:t>5/08/2022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5B11D12-0A54-4038-99B9-822E5C7219C2}" type="slidenum">
              <a:rPr lang="en-AU" smtClean="0"/>
              <a:t>‹#›</a:t>
            </a:fld>
            <a:endParaRPr lang="en-AU"/>
          </a:p>
        </p:txBody>
      </p:sp>
    </p:spTree>
    <p:extLst>
      <p:ext uri="{BB962C8B-B14F-4D97-AF65-F5344CB8AC3E}">
        <p14:creationId xmlns:p14="http://schemas.microsoft.com/office/powerpoint/2010/main" val="2752800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73AE6F-FB22-477F-A781-3B70B09DA179}" type="datetimeFigureOut">
              <a:rPr lang="en-AU" smtClean="0"/>
              <a:t>5/08/2022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5B11D12-0A54-4038-99B9-822E5C7219C2}" type="slidenum">
              <a:rPr lang="en-AU" smtClean="0"/>
              <a:t>‹#›</a:t>
            </a:fld>
            <a:endParaRPr lang="en-AU"/>
          </a:p>
        </p:txBody>
      </p:sp>
    </p:spTree>
    <p:extLst>
      <p:ext uri="{BB962C8B-B14F-4D97-AF65-F5344CB8AC3E}">
        <p14:creationId xmlns:p14="http://schemas.microsoft.com/office/powerpoint/2010/main" val="440530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873AE6F-FB22-477F-A781-3B70B09DA179}" type="datetimeFigureOut">
              <a:rPr lang="en-AU" smtClean="0"/>
              <a:t>5/08/2022</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E5B11D12-0A54-4038-99B9-822E5C7219C2}" type="slidenum">
              <a:rPr lang="en-AU" smtClean="0"/>
              <a:t>‹#›</a:t>
            </a:fld>
            <a:endParaRPr lang="en-AU"/>
          </a:p>
        </p:txBody>
      </p:sp>
    </p:spTree>
    <p:extLst>
      <p:ext uri="{BB962C8B-B14F-4D97-AF65-F5344CB8AC3E}">
        <p14:creationId xmlns:p14="http://schemas.microsoft.com/office/powerpoint/2010/main" val="1543084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873AE6F-FB22-477F-A781-3B70B09DA179}" type="datetimeFigureOut">
              <a:rPr lang="en-AU" smtClean="0"/>
              <a:t>5/08/2022</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5B11D12-0A54-4038-99B9-822E5C7219C2}" type="slidenum">
              <a:rPr lang="en-AU" smtClean="0"/>
              <a:t>‹#›</a:t>
            </a:fld>
            <a:endParaRPr lang="en-AU"/>
          </a:p>
        </p:txBody>
      </p:sp>
    </p:spTree>
    <p:extLst>
      <p:ext uri="{BB962C8B-B14F-4D97-AF65-F5344CB8AC3E}">
        <p14:creationId xmlns:p14="http://schemas.microsoft.com/office/powerpoint/2010/main" val="875529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873AE6F-FB22-477F-A781-3B70B09DA179}" type="datetimeFigureOut">
              <a:rPr lang="en-AU" smtClean="0"/>
              <a:t>5/08/2022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5B11D12-0A54-4038-99B9-822E5C7219C2}" type="slidenum">
              <a:rPr lang="en-AU" smtClean="0"/>
              <a:t>‹#›</a:t>
            </a:fld>
            <a:endParaRPr lang="en-AU"/>
          </a:p>
        </p:txBody>
      </p:sp>
    </p:spTree>
    <p:extLst>
      <p:ext uri="{BB962C8B-B14F-4D97-AF65-F5344CB8AC3E}">
        <p14:creationId xmlns:p14="http://schemas.microsoft.com/office/powerpoint/2010/main" val="147003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73AE6F-FB22-477F-A781-3B70B09DA179}" type="datetimeFigureOut">
              <a:rPr lang="en-AU" smtClean="0"/>
              <a:t>5/08/2022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B11D12-0A54-4038-99B9-822E5C7219C2}" type="slidenum">
              <a:rPr lang="en-AU" smtClean="0"/>
              <a:t>‹#›</a:t>
            </a:fld>
            <a:endParaRPr lang="en-AU"/>
          </a:p>
        </p:txBody>
      </p:sp>
    </p:spTree>
    <p:extLst>
      <p:ext uri="{BB962C8B-B14F-4D97-AF65-F5344CB8AC3E}">
        <p14:creationId xmlns:p14="http://schemas.microsoft.com/office/powerpoint/2010/main" val="757134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73AE6F-FB22-477F-A781-3B70B09DA179}" type="datetimeFigureOut">
              <a:rPr lang="en-AU" smtClean="0"/>
              <a:t>5/08/2022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B11D12-0A54-4038-99B9-822E5C7219C2}" type="slidenum">
              <a:rPr lang="en-AU" smtClean="0"/>
              <a:t>‹#›</a:t>
            </a:fld>
            <a:endParaRPr lang="en-AU"/>
          </a:p>
        </p:txBody>
      </p:sp>
    </p:spTree>
    <p:extLst>
      <p:ext uri="{BB962C8B-B14F-4D97-AF65-F5344CB8AC3E}">
        <p14:creationId xmlns:p14="http://schemas.microsoft.com/office/powerpoint/2010/main" val="2699153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873AE6F-FB22-477F-A781-3B70B09DA179}" type="datetimeFigureOut">
              <a:rPr lang="en-AU" smtClean="0"/>
              <a:t>5/08/2022</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5B11D12-0A54-4038-99B9-822E5C7219C2}"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1714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EC88-0D5D-4CEA-91DD-385E7CAABD3C}"/>
              </a:ext>
            </a:extLst>
          </p:cNvPr>
          <p:cNvSpPr>
            <a:spLocks noGrp="1"/>
          </p:cNvSpPr>
          <p:nvPr>
            <p:ph type="ctrTitle"/>
          </p:nvPr>
        </p:nvSpPr>
        <p:spPr/>
        <p:txBody>
          <a:bodyPr/>
          <a:lstStyle/>
          <a:p>
            <a:r>
              <a:rPr lang="en-US" dirty="0"/>
              <a:t>Notes</a:t>
            </a:r>
            <a:endParaRPr lang="en-AU" dirty="0"/>
          </a:p>
        </p:txBody>
      </p:sp>
    </p:spTree>
    <p:extLst>
      <p:ext uri="{BB962C8B-B14F-4D97-AF65-F5344CB8AC3E}">
        <p14:creationId xmlns:p14="http://schemas.microsoft.com/office/powerpoint/2010/main" val="12079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Introduction</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a:xfrm>
            <a:off x="1097280" y="1845733"/>
            <a:ext cx="10058400" cy="2779429"/>
          </a:xfrm>
        </p:spPr>
        <p:txBody>
          <a:bodyPr>
            <a:normAutofit fontScale="85000" lnSpcReduction="10000"/>
          </a:bodyPr>
          <a:lstStyle/>
          <a:p>
            <a:pPr algn="just">
              <a:lnSpc>
                <a:spcPct val="150000"/>
              </a:lnSpc>
              <a:buFont typeface="Wingdings" panose="05000000000000000000" pitchFamily="2" charset="2"/>
              <a:buChar char="q"/>
            </a:pPr>
            <a:r>
              <a:rPr lang="en-AU" dirty="0"/>
              <a:t>In the last decade, the increase in data has resulted in some problems for businesses and consumers regarding maintenance, storage and security. </a:t>
            </a:r>
          </a:p>
          <a:p>
            <a:pPr algn="just">
              <a:lnSpc>
                <a:spcPct val="150000"/>
              </a:lnSpc>
              <a:buFont typeface="Wingdings" panose="05000000000000000000" pitchFamily="2" charset="2"/>
              <a:buChar char="q"/>
            </a:pPr>
            <a:r>
              <a:rPr lang="en-AU" dirty="0"/>
              <a:t>To constantly manage and maintain digital data accurately can be expensive to find the resources required. </a:t>
            </a:r>
          </a:p>
          <a:p>
            <a:pPr algn="just">
              <a:lnSpc>
                <a:spcPct val="150000"/>
              </a:lnSpc>
              <a:buFont typeface="Wingdings" panose="05000000000000000000" pitchFamily="2" charset="2"/>
              <a:buChar char="q"/>
            </a:pPr>
            <a:r>
              <a:rPr lang="en-AU" dirty="0"/>
              <a:t>The solution to these issues has come in the form of cloud computing and cloud security</a:t>
            </a:r>
          </a:p>
          <a:p>
            <a:pPr algn="just">
              <a:lnSpc>
                <a:spcPct val="150000"/>
              </a:lnSpc>
              <a:buFont typeface="Wingdings" panose="05000000000000000000" pitchFamily="2" charset="2"/>
              <a:buChar char="q"/>
            </a:pPr>
            <a:r>
              <a:rPr lang="en-AU" dirty="0"/>
              <a:t>According to Patrick (2016), over 90% of businesses in the US now use some cloud service to manage, store and protect their data. </a:t>
            </a:r>
          </a:p>
        </p:txBody>
      </p:sp>
      <p:pic>
        <p:nvPicPr>
          <p:cNvPr id="4" name="Picture 3">
            <a:extLst>
              <a:ext uri="{FF2B5EF4-FFF2-40B4-BE49-F238E27FC236}">
                <a16:creationId xmlns:a16="http://schemas.microsoft.com/office/drawing/2014/main" id="{0BD09F86-8087-45E9-AD02-E72B3A9078D4}"/>
              </a:ext>
            </a:extLst>
          </p:cNvPr>
          <p:cNvPicPr>
            <a:picLocks noChangeAspect="1"/>
          </p:cNvPicPr>
          <p:nvPr/>
        </p:nvPicPr>
        <p:blipFill>
          <a:blip r:embed="rId2"/>
          <a:stretch>
            <a:fillRect/>
          </a:stretch>
        </p:blipFill>
        <p:spPr>
          <a:xfrm>
            <a:off x="842298" y="4625162"/>
            <a:ext cx="10141135" cy="1617368"/>
          </a:xfrm>
          <a:prstGeom prst="rect">
            <a:avLst/>
          </a:prstGeom>
        </p:spPr>
      </p:pic>
    </p:spTree>
    <p:extLst>
      <p:ext uri="{BB962C8B-B14F-4D97-AF65-F5344CB8AC3E}">
        <p14:creationId xmlns:p14="http://schemas.microsoft.com/office/powerpoint/2010/main" val="228341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Introduction</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The CSP (Cloud Service Provider) offers IT infrastructure and resources to organisations. Organisation pay per usage of these computing resources provided in the cloud.</a:t>
            </a:r>
          </a:p>
          <a:p>
            <a:pPr algn="just">
              <a:lnSpc>
                <a:spcPct val="150000"/>
              </a:lnSpc>
              <a:buFont typeface="Wingdings" panose="05000000000000000000" pitchFamily="2" charset="2"/>
              <a:buChar char="q"/>
            </a:pPr>
            <a:r>
              <a:rPr lang="en-AU" dirty="0"/>
              <a:t>The cloud removes the need to invest in in-house computing resources. </a:t>
            </a:r>
          </a:p>
          <a:p>
            <a:pPr algn="just">
              <a:lnSpc>
                <a:spcPct val="150000"/>
              </a:lnSpc>
              <a:buFont typeface="Wingdings" panose="05000000000000000000" pitchFamily="2" charset="2"/>
              <a:buChar char="q"/>
            </a:pPr>
            <a:r>
              <a:rPr lang="en-AU" dirty="0"/>
              <a:t>Cloud computing reduces administration </a:t>
            </a:r>
          </a:p>
          <a:p>
            <a:pPr algn="just">
              <a:lnSpc>
                <a:spcPct val="150000"/>
              </a:lnSpc>
              <a:buFont typeface="Wingdings" panose="05000000000000000000" pitchFamily="2" charset="2"/>
              <a:buChar char="q"/>
            </a:pPr>
            <a:r>
              <a:rPr lang="en-AU" dirty="0"/>
              <a:t>These benefits are the main reasons many companies gravitate towards cloud computing</a:t>
            </a:r>
          </a:p>
        </p:txBody>
      </p:sp>
    </p:spTree>
    <p:extLst>
      <p:ext uri="{BB962C8B-B14F-4D97-AF65-F5344CB8AC3E}">
        <p14:creationId xmlns:p14="http://schemas.microsoft.com/office/powerpoint/2010/main" val="3191118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Drawbacks to using Cloud</a:t>
            </a:r>
          </a:p>
        </p:txBody>
      </p:sp>
      <p:sp>
        <p:nvSpPr>
          <p:cNvPr id="4" name="Content Placeholder 3">
            <a:extLst>
              <a:ext uri="{FF2B5EF4-FFF2-40B4-BE49-F238E27FC236}">
                <a16:creationId xmlns:a16="http://schemas.microsoft.com/office/drawing/2014/main" id="{884B92FC-B8DE-485C-8F48-A74CD2239EA7}"/>
              </a:ext>
            </a:extLst>
          </p:cNvPr>
          <p:cNvSpPr>
            <a:spLocks noGrp="1"/>
          </p:cNvSpPr>
          <p:nvPr>
            <p:ph idx="1"/>
          </p:nvPr>
        </p:nvSpPr>
        <p:spPr>
          <a:xfrm>
            <a:off x="973315" y="1934493"/>
            <a:ext cx="10058400" cy="4023360"/>
          </a:xfrm>
        </p:spPr>
        <p:txBody>
          <a:bodyPr>
            <a:normAutofit/>
          </a:bodyPr>
          <a:lstStyle/>
          <a:p>
            <a:pPr algn="just">
              <a:lnSpc>
                <a:spcPct val="200000"/>
              </a:lnSpc>
              <a:buFont typeface="Wingdings" panose="05000000000000000000" pitchFamily="2" charset="2"/>
              <a:buChar char="q"/>
            </a:pPr>
            <a:r>
              <a:rPr lang="en-US" sz="2400" dirty="0"/>
              <a:t>Service Outage</a:t>
            </a:r>
          </a:p>
          <a:p>
            <a:pPr algn="just">
              <a:lnSpc>
                <a:spcPct val="200000"/>
              </a:lnSpc>
              <a:buFont typeface="Wingdings" panose="05000000000000000000" pitchFamily="2" charset="2"/>
              <a:buChar char="q"/>
            </a:pPr>
            <a:r>
              <a:rPr lang="en-US" sz="2400" dirty="0"/>
              <a:t>Limited Flexibility and Control</a:t>
            </a:r>
          </a:p>
          <a:p>
            <a:pPr algn="just">
              <a:lnSpc>
                <a:spcPct val="200000"/>
              </a:lnSpc>
              <a:buFont typeface="Wingdings" panose="05000000000000000000" pitchFamily="2" charset="2"/>
              <a:buChar char="q"/>
            </a:pPr>
            <a:r>
              <a:rPr lang="en-US" sz="2400" dirty="0"/>
              <a:t>Vendor Lock in</a:t>
            </a:r>
          </a:p>
          <a:p>
            <a:pPr algn="just">
              <a:lnSpc>
                <a:spcPct val="200000"/>
              </a:lnSpc>
              <a:buFont typeface="Wingdings" panose="05000000000000000000" pitchFamily="2" charset="2"/>
              <a:buChar char="q"/>
            </a:pPr>
            <a:r>
              <a:rPr lang="en-US" sz="2400" dirty="0"/>
              <a:t>Security</a:t>
            </a:r>
          </a:p>
          <a:p>
            <a:pPr algn="just">
              <a:lnSpc>
                <a:spcPct val="200000"/>
              </a:lnSpc>
              <a:buFont typeface="Wingdings" panose="05000000000000000000" pitchFamily="2" charset="2"/>
              <a:buChar char="q"/>
            </a:pPr>
            <a:endParaRPr lang="en-AU" sz="2400" dirty="0"/>
          </a:p>
        </p:txBody>
      </p:sp>
    </p:spTree>
    <p:extLst>
      <p:ext uri="{BB962C8B-B14F-4D97-AF65-F5344CB8AC3E}">
        <p14:creationId xmlns:p14="http://schemas.microsoft.com/office/powerpoint/2010/main" val="2412332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Security breach throughout the years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The following examples show that security can be a primary risk of using cloud computing.</a:t>
            </a:r>
          </a:p>
          <a:p>
            <a:pPr algn="just">
              <a:lnSpc>
                <a:spcPct val="150000"/>
              </a:lnSpc>
              <a:buFont typeface="Wingdings" panose="05000000000000000000" pitchFamily="2" charset="2"/>
              <a:buChar char="Ø"/>
            </a:pPr>
            <a:r>
              <a:rPr lang="en-AU" dirty="0"/>
              <a:t>In 2012, Dropbox announced that they had 69 million user accounts hacked, and someone stole the users' details (Bradford, 2019).</a:t>
            </a:r>
          </a:p>
          <a:p>
            <a:pPr algn="just">
              <a:lnSpc>
                <a:spcPct val="150000"/>
              </a:lnSpc>
              <a:buFont typeface="Wingdings" panose="05000000000000000000" pitchFamily="2" charset="2"/>
              <a:buChar char="Ø"/>
            </a:pPr>
            <a:r>
              <a:rPr lang="en-AU" dirty="0"/>
              <a:t>In 2014, someone hacked Apple iCloud, and they exposed several celebrities private photos to the Internet.</a:t>
            </a:r>
          </a:p>
          <a:p>
            <a:pPr algn="just">
              <a:lnSpc>
                <a:spcPct val="150000"/>
              </a:lnSpc>
              <a:buFont typeface="Wingdings" panose="05000000000000000000" pitchFamily="2" charset="2"/>
              <a:buChar char="Ø"/>
            </a:pPr>
            <a:r>
              <a:rPr lang="en-AU" dirty="0"/>
              <a:t>In 2016, someone stole nearly 170 million email addresses and passwords from the LinkedIn social media platform (Bradford 2019).</a:t>
            </a:r>
          </a:p>
          <a:p>
            <a:pPr algn="just">
              <a:lnSpc>
                <a:spcPct val="150000"/>
              </a:lnSpc>
              <a:buFont typeface="Wingdings" panose="05000000000000000000" pitchFamily="2" charset="2"/>
              <a:buChar char="Ø"/>
            </a:pPr>
            <a:endParaRPr lang="en-AU" dirty="0"/>
          </a:p>
        </p:txBody>
      </p:sp>
    </p:spTree>
    <p:extLst>
      <p:ext uri="{BB962C8B-B14F-4D97-AF65-F5344CB8AC3E}">
        <p14:creationId xmlns:p14="http://schemas.microsoft.com/office/powerpoint/2010/main" val="2235695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03D500-C5F6-414E-95B2-42E7A682E3C7}"/>
              </a:ext>
            </a:extLst>
          </p:cNvPr>
          <p:cNvPicPr>
            <a:picLocks noChangeAspect="1"/>
          </p:cNvPicPr>
          <p:nvPr/>
        </p:nvPicPr>
        <p:blipFill>
          <a:blip r:embed="rId2"/>
          <a:stretch>
            <a:fillRect/>
          </a:stretch>
        </p:blipFill>
        <p:spPr>
          <a:xfrm>
            <a:off x="490537" y="139109"/>
            <a:ext cx="11210925" cy="3289891"/>
          </a:xfrm>
          <a:prstGeom prst="rect">
            <a:avLst/>
          </a:prstGeom>
        </p:spPr>
      </p:pic>
      <p:pic>
        <p:nvPicPr>
          <p:cNvPr id="5" name="Picture 4">
            <a:extLst>
              <a:ext uri="{FF2B5EF4-FFF2-40B4-BE49-F238E27FC236}">
                <a16:creationId xmlns:a16="http://schemas.microsoft.com/office/drawing/2014/main" id="{5BFEE4C9-CCC0-4268-A3A6-82D9C978B020}"/>
              </a:ext>
            </a:extLst>
          </p:cNvPr>
          <p:cNvPicPr>
            <a:picLocks noChangeAspect="1"/>
          </p:cNvPicPr>
          <p:nvPr/>
        </p:nvPicPr>
        <p:blipFill>
          <a:blip r:embed="rId3"/>
          <a:stretch>
            <a:fillRect/>
          </a:stretch>
        </p:blipFill>
        <p:spPr>
          <a:xfrm>
            <a:off x="490537" y="3568109"/>
            <a:ext cx="10372725" cy="2793593"/>
          </a:xfrm>
          <a:prstGeom prst="rect">
            <a:avLst/>
          </a:prstGeom>
        </p:spPr>
      </p:pic>
    </p:spTree>
    <p:extLst>
      <p:ext uri="{BB962C8B-B14F-4D97-AF65-F5344CB8AC3E}">
        <p14:creationId xmlns:p14="http://schemas.microsoft.com/office/powerpoint/2010/main" val="1581276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Benefits to using Cloud</a:t>
            </a:r>
          </a:p>
        </p:txBody>
      </p:sp>
      <p:sp>
        <p:nvSpPr>
          <p:cNvPr id="6" name="Content Placeholder 5">
            <a:extLst>
              <a:ext uri="{FF2B5EF4-FFF2-40B4-BE49-F238E27FC236}">
                <a16:creationId xmlns:a16="http://schemas.microsoft.com/office/drawing/2014/main" id="{730627A1-5AC5-4A3E-A157-CAE655C940F1}"/>
              </a:ext>
            </a:extLst>
          </p:cNvPr>
          <p:cNvSpPr>
            <a:spLocks noGrp="1"/>
          </p:cNvSpPr>
          <p:nvPr>
            <p:ph idx="1"/>
          </p:nvPr>
        </p:nvSpPr>
        <p:spPr>
          <a:xfrm>
            <a:off x="1066800" y="1984511"/>
            <a:ext cx="10058400" cy="4023360"/>
          </a:xfrm>
        </p:spPr>
        <p:txBody>
          <a:bodyPr>
            <a:normAutofit/>
          </a:bodyPr>
          <a:lstStyle/>
          <a:p>
            <a:pPr algn="just">
              <a:lnSpc>
                <a:spcPct val="150000"/>
              </a:lnSpc>
              <a:buFont typeface="Wingdings" panose="05000000000000000000" pitchFamily="2" charset="2"/>
              <a:buChar char="q"/>
            </a:pPr>
            <a:r>
              <a:rPr lang="en-US" sz="2200" dirty="0" err="1"/>
              <a:t>Centralised</a:t>
            </a:r>
            <a:r>
              <a:rPr lang="en-US" sz="2200" dirty="0"/>
              <a:t> Security</a:t>
            </a:r>
          </a:p>
          <a:p>
            <a:pPr algn="just">
              <a:lnSpc>
                <a:spcPct val="150000"/>
              </a:lnSpc>
              <a:buFont typeface="Wingdings" panose="05000000000000000000" pitchFamily="2" charset="2"/>
              <a:buChar char="q"/>
            </a:pPr>
            <a:r>
              <a:rPr lang="en-US" sz="2200" dirty="0"/>
              <a:t>Less Administration</a:t>
            </a:r>
          </a:p>
          <a:p>
            <a:pPr algn="just">
              <a:lnSpc>
                <a:spcPct val="150000"/>
              </a:lnSpc>
              <a:buFont typeface="Wingdings" panose="05000000000000000000" pitchFamily="2" charset="2"/>
              <a:buChar char="q"/>
            </a:pPr>
            <a:r>
              <a:rPr lang="en-US" sz="2200" dirty="0"/>
              <a:t>More Reliability</a:t>
            </a:r>
          </a:p>
          <a:p>
            <a:pPr algn="just">
              <a:lnSpc>
                <a:spcPct val="150000"/>
              </a:lnSpc>
              <a:buFont typeface="Wingdings" panose="05000000000000000000" pitchFamily="2" charset="2"/>
              <a:buChar char="q"/>
            </a:pPr>
            <a:r>
              <a:rPr lang="en-US" sz="2200" dirty="0"/>
              <a:t>Cost Reduction</a:t>
            </a:r>
          </a:p>
          <a:p>
            <a:pPr algn="just">
              <a:lnSpc>
                <a:spcPct val="150000"/>
              </a:lnSpc>
              <a:buFont typeface="Wingdings" panose="05000000000000000000" pitchFamily="2" charset="2"/>
              <a:buChar char="q"/>
            </a:pPr>
            <a:endParaRPr lang="en-AU" dirty="0"/>
          </a:p>
        </p:txBody>
      </p:sp>
    </p:spTree>
    <p:extLst>
      <p:ext uri="{BB962C8B-B14F-4D97-AF65-F5344CB8AC3E}">
        <p14:creationId xmlns:p14="http://schemas.microsoft.com/office/powerpoint/2010/main" val="1023961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Service Models</a:t>
            </a:r>
          </a:p>
        </p:txBody>
      </p:sp>
      <p:pic>
        <p:nvPicPr>
          <p:cNvPr id="4" name="Content Placeholder 3">
            <a:extLst>
              <a:ext uri="{FF2B5EF4-FFF2-40B4-BE49-F238E27FC236}">
                <a16:creationId xmlns:a16="http://schemas.microsoft.com/office/drawing/2014/main" id="{26151222-14B0-4FFE-B422-54EC15FF11D9}"/>
              </a:ext>
            </a:extLst>
          </p:cNvPr>
          <p:cNvPicPr>
            <a:picLocks noGrp="1" noChangeAspect="1"/>
          </p:cNvPicPr>
          <p:nvPr>
            <p:ph idx="1"/>
          </p:nvPr>
        </p:nvPicPr>
        <p:blipFill>
          <a:blip r:embed="rId2"/>
          <a:stretch>
            <a:fillRect/>
          </a:stretch>
        </p:blipFill>
        <p:spPr>
          <a:xfrm>
            <a:off x="595422" y="1924493"/>
            <a:ext cx="10877107" cy="3976577"/>
          </a:xfrm>
          <a:prstGeom prst="rect">
            <a:avLst/>
          </a:prstGeom>
        </p:spPr>
      </p:pic>
    </p:spTree>
    <p:extLst>
      <p:ext uri="{BB962C8B-B14F-4D97-AF65-F5344CB8AC3E}">
        <p14:creationId xmlns:p14="http://schemas.microsoft.com/office/powerpoint/2010/main" val="1940662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Deployment Models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p:txBody>
          <a:bodyPr/>
          <a:lstStyle/>
          <a:p>
            <a:pPr algn="just">
              <a:lnSpc>
                <a:spcPct val="150000"/>
              </a:lnSpc>
              <a:buFont typeface="Wingdings" panose="05000000000000000000" pitchFamily="2" charset="2"/>
              <a:buChar char="q"/>
            </a:pPr>
            <a:r>
              <a:rPr lang="en-US" dirty="0">
                <a:solidFill>
                  <a:srgbClr val="FF0000"/>
                </a:solidFill>
              </a:rPr>
              <a:t>Public cloud: </a:t>
            </a:r>
            <a:r>
              <a:rPr lang="en-AU" dirty="0"/>
              <a:t>Any of the resources in the public cloud pool is accessible to anyone via the Internet. </a:t>
            </a:r>
          </a:p>
        </p:txBody>
      </p:sp>
      <p:pic>
        <p:nvPicPr>
          <p:cNvPr id="4" name="Picture 3">
            <a:extLst>
              <a:ext uri="{FF2B5EF4-FFF2-40B4-BE49-F238E27FC236}">
                <a16:creationId xmlns:a16="http://schemas.microsoft.com/office/drawing/2014/main" id="{A94628CD-6F60-4BC9-98B2-3A2ED7E5A417}"/>
              </a:ext>
            </a:extLst>
          </p:cNvPr>
          <p:cNvPicPr>
            <a:picLocks noChangeAspect="1"/>
          </p:cNvPicPr>
          <p:nvPr/>
        </p:nvPicPr>
        <p:blipFill>
          <a:blip r:embed="rId2"/>
          <a:stretch>
            <a:fillRect/>
          </a:stretch>
        </p:blipFill>
        <p:spPr>
          <a:xfrm>
            <a:off x="3040912" y="2477386"/>
            <a:ext cx="6127786" cy="3860393"/>
          </a:xfrm>
          <a:prstGeom prst="rect">
            <a:avLst/>
          </a:prstGeom>
        </p:spPr>
      </p:pic>
    </p:spTree>
    <p:extLst>
      <p:ext uri="{BB962C8B-B14F-4D97-AF65-F5344CB8AC3E}">
        <p14:creationId xmlns:p14="http://schemas.microsoft.com/office/powerpoint/2010/main" val="909652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Deployment Models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p:txBody>
          <a:bodyPr/>
          <a:lstStyle/>
          <a:p>
            <a:pPr algn="just">
              <a:lnSpc>
                <a:spcPct val="150000"/>
              </a:lnSpc>
              <a:buFont typeface="Wingdings" panose="05000000000000000000" pitchFamily="2" charset="2"/>
              <a:buChar char="q"/>
            </a:pPr>
            <a:r>
              <a:rPr lang="en-US" dirty="0">
                <a:solidFill>
                  <a:srgbClr val="FF0000"/>
                </a:solidFill>
              </a:rPr>
              <a:t>Private cloud</a:t>
            </a:r>
            <a:r>
              <a:rPr lang="en-US" dirty="0"/>
              <a:t>:</a:t>
            </a:r>
            <a:r>
              <a:rPr lang="en-AU" dirty="0"/>
              <a:t>In private cloud they do not share the pool of resources between multiple clients. </a:t>
            </a:r>
          </a:p>
        </p:txBody>
      </p:sp>
      <p:pic>
        <p:nvPicPr>
          <p:cNvPr id="5" name="Picture 4">
            <a:extLst>
              <a:ext uri="{FF2B5EF4-FFF2-40B4-BE49-F238E27FC236}">
                <a16:creationId xmlns:a16="http://schemas.microsoft.com/office/drawing/2014/main" id="{4EE2FB6D-CC89-410C-B1BC-B978725DFD69}"/>
              </a:ext>
            </a:extLst>
          </p:cNvPr>
          <p:cNvPicPr>
            <a:picLocks noChangeAspect="1"/>
          </p:cNvPicPr>
          <p:nvPr/>
        </p:nvPicPr>
        <p:blipFill>
          <a:blip r:embed="rId2"/>
          <a:stretch>
            <a:fillRect/>
          </a:stretch>
        </p:blipFill>
        <p:spPr>
          <a:xfrm>
            <a:off x="3859619" y="2775098"/>
            <a:ext cx="6150514" cy="3391708"/>
          </a:xfrm>
          <a:prstGeom prst="rect">
            <a:avLst/>
          </a:prstGeom>
        </p:spPr>
      </p:pic>
    </p:spTree>
    <p:extLst>
      <p:ext uri="{BB962C8B-B14F-4D97-AF65-F5344CB8AC3E}">
        <p14:creationId xmlns:p14="http://schemas.microsoft.com/office/powerpoint/2010/main" val="4292976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Deployment Models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p:txBody>
          <a:bodyPr/>
          <a:lstStyle/>
          <a:p>
            <a:pPr algn="just">
              <a:lnSpc>
                <a:spcPct val="150000"/>
              </a:lnSpc>
              <a:buFont typeface="Wingdings" panose="05000000000000000000" pitchFamily="2" charset="2"/>
              <a:buChar char="q"/>
            </a:pPr>
            <a:r>
              <a:rPr lang="en-US" dirty="0">
                <a:solidFill>
                  <a:srgbClr val="FF0000"/>
                </a:solidFill>
              </a:rPr>
              <a:t>Hybrid cloud</a:t>
            </a:r>
            <a:r>
              <a:rPr lang="en-US" dirty="0"/>
              <a:t>:</a:t>
            </a:r>
            <a:r>
              <a:rPr lang="en-AU" dirty="0"/>
              <a:t>A hybrid cloud is a mix of both public and private clouds. </a:t>
            </a:r>
          </a:p>
        </p:txBody>
      </p:sp>
      <p:pic>
        <p:nvPicPr>
          <p:cNvPr id="4" name="Picture 3">
            <a:extLst>
              <a:ext uri="{FF2B5EF4-FFF2-40B4-BE49-F238E27FC236}">
                <a16:creationId xmlns:a16="http://schemas.microsoft.com/office/drawing/2014/main" id="{667C138B-B015-481E-B922-3CF44F469B18}"/>
              </a:ext>
            </a:extLst>
          </p:cNvPr>
          <p:cNvPicPr>
            <a:picLocks noChangeAspect="1"/>
          </p:cNvPicPr>
          <p:nvPr/>
        </p:nvPicPr>
        <p:blipFill>
          <a:blip r:embed="rId2"/>
          <a:stretch>
            <a:fillRect/>
          </a:stretch>
        </p:blipFill>
        <p:spPr>
          <a:xfrm>
            <a:off x="1435395" y="2690038"/>
            <a:ext cx="9495649" cy="3547508"/>
          </a:xfrm>
          <a:prstGeom prst="rect">
            <a:avLst/>
          </a:prstGeom>
        </p:spPr>
      </p:pic>
    </p:spTree>
    <p:extLst>
      <p:ext uri="{BB962C8B-B14F-4D97-AF65-F5344CB8AC3E}">
        <p14:creationId xmlns:p14="http://schemas.microsoft.com/office/powerpoint/2010/main" val="3656515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Specific Security Concerns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a:xfrm>
            <a:off x="1097280" y="1845734"/>
            <a:ext cx="10058400" cy="4438108"/>
          </a:xfrm>
        </p:spPr>
        <p:txBody>
          <a:bodyPr>
            <a:normAutofit/>
          </a:bodyPr>
          <a:lstStyle/>
          <a:p>
            <a:pPr algn="just">
              <a:lnSpc>
                <a:spcPct val="150000"/>
              </a:lnSpc>
              <a:buFont typeface="Wingdings" panose="05000000000000000000" pitchFamily="2" charset="2"/>
              <a:buChar char="q"/>
            </a:pPr>
            <a:r>
              <a:rPr lang="en-US" dirty="0">
                <a:solidFill>
                  <a:srgbClr val="FF0000"/>
                </a:solidFill>
              </a:rPr>
              <a:t>Saas Security Concerns</a:t>
            </a:r>
            <a:r>
              <a:rPr lang="en-US" dirty="0"/>
              <a:t>:</a:t>
            </a:r>
            <a:r>
              <a:rPr lang="en-AU" dirty="0"/>
              <a:t>SaaS are the most popular services offered in public clouds. </a:t>
            </a:r>
          </a:p>
          <a:p>
            <a:pPr marL="0" indent="0" algn="just">
              <a:lnSpc>
                <a:spcPct val="150000"/>
              </a:lnSpc>
              <a:buNone/>
            </a:pPr>
            <a:r>
              <a:rPr lang="en-AU" dirty="0"/>
              <a:t>Wide range of concerns and risks, mostly related to data and access. Some of the most important ones are:</a:t>
            </a:r>
            <a:endParaRPr lang="en-US" dirty="0"/>
          </a:p>
          <a:p>
            <a:pPr algn="just">
              <a:lnSpc>
                <a:spcPct val="150000"/>
              </a:lnSpc>
              <a:buFont typeface="Wingdings" panose="05000000000000000000" pitchFamily="2" charset="2"/>
              <a:buChar char="Ø"/>
            </a:pPr>
            <a:r>
              <a:rPr lang="en-AU" dirty="0"/>
              <a:t>The lack of ability to comply with regulatory compliances. For instance, the regulations in certain countries allows them to store confidential data collected from hospitalised patients to a public cloud. (For instance, Microsoft has set up a protected government cloud level of service in Australia as have AWS for the US government).</a:t>
            </a:r>
          </a:p>
        </p:txBody>
      </p:sp>
    </p:spTree>
    <p:extLst>
      <p:ext uri="{BB962C8B-B14F-4D97-AF65-F5344CB8AC3E}">
        <p14:creationId xmlns:p14="http://schemas.microsoft.com/office/powerpoint/2010/main" val="1860245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err="1"/>
              <a:t>Saas</a:t>
            </a:r>
            <a:r>
              <a:rPr lang="en-AU" dirty="0"/>
              <a:t> Security Concerns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a:xfrm>
            <a:off x="1097280" y="1845733"/>
            <a:ext cx="10058400" cy="4491271"/>
          </a:xfrm>
        </p:spPr>
        <p:txBody>
          <a:bodyPr>
            <a:normAutofit/>
          </a:bodyPr>
          <a:lstStyle/>
          <a:p>
            <a:pPr algn="just">
              <a:lnSpc>
                <a:spcPct val="150000"/>
              </a:lnSpc>
              <a:buFont typeface="Wingdings" panose="05000000000000000000" pitchFamily="2" charset="2"/>
              <a:buChar char="Ø"/>
            </a:pPr>
            <a:r>
              <a:rPr lang="en-AU" dirty="0"/>
              <a:t>Lack of control on the security management of the public clouds.  </a:t>
            </a:r>
          </a:p>
          <a:p>
            <a:pPr algn="just">
              <a:lnSpc>
                <a:spcPct val="150000"/>
              </a:lnSpc>
              <a:buFont typeface="Wingdings" panose="05000000000000000000" pitchFamily="2" charset="2"/>
              <a:buChar char="Ø"/>
            </a:pPr>
            <a:r>
              <a:rPr lang="en-AU" dirty="0"/>
              <a:t>Higher probability of cyberattacks because of the exposure of cloud resources to the public via Internet </a:t>
            </a:r>
          </a:p>
          <a:p>
            <a:pPr algn="just">
              <a:lnSpc>
                <a:spcPct val="150000"/>
              </a:lnSpc>
              <a:buFont typeface="Wingdings" panose="05000000000000000000" pitchFamily="2" charset="2"/>
              <a:buChar char="Ø"/>
            </a:pPr>
            <a:r>
              <a:rPr lang="en-AU" dirty="0"/>
              <a:t>Higher probability insider data breaches. </a:t>
            </a:r>
          </a:p>
          <a:p>
            <a:pPr algn="just">
              <a:lnSpc>
                <a:spcPct val="150000"/>
              </a:lnSpc>
              <a:buFont typeface="Wingdings" panose="05000000000000000000" pitchFamily="2" charset="2"/>
              <a:buChar char="Ø"/>
            </a:pPr>
            <a:r>
              <a:rPr lang="en-AU" dirty="0"/>
              <a:t>Difficulty tracking data transfer to and from the cloud resources. </a:t>
            </a:r>
          </a:p>
          <a:p>
            <a:pPr algn="just">
              <a:lnSpc>
                <a:spcPct val="150000"/>
              </a:lnSpc>
              <a:buFont typeface="Wingdings" panose="05000000000000000000" pitchFamily="2" charset="2"/>
              <a:buChar char="Ø"/>
            </a:pPr>
            <a:r>
              <a:rPr lang="en-AU" dirty="0"/>
              <a:t>Lack of visibility of users, data access, and applications in the cloud provider.</a:t>
            </a:r>
            <a:endParaRPr lang="en-US" dirty="0"/>
          </a:p>
        </p:txBody>
      </p:sp>
      <p:sp>
        <p:nvSpPr>
          <p:cNvPr id="4" name="Rectangle 3">
            <a:extLst>
              <a:ext uri="{FF2B5EF4-FFF2-40B4-BE49-F238E27FC236}">
                <a16:creationId xmlns:a16="http://schemas.microsoft.com/office/drawing/2014/main" id="{33C9C539-C4B8-424C-8892-547A7AFCBAA1}"/>
              </a:ext>
            </a:extLst>
          </p:cNvPr>
          <p:cNvSpPr/>
          <p:nvPr/>
        </p:nvSpPr>
        <p:spPr>
          <a:xfrm>
            <a:off x="2912395" y="5742985"/>
            <a:ext cx="5821337" cy="369332"/>
          </a:xfrm>
          <a:prstGeom prst="rect">
            <a:avLst/>
          </a:prstGeom>
        </p:spPr>
        <p:txBody>
          <a:bodyPr wrap="none">
            <a:spAutoFit/>
          </a:bodyPr>
          <a:lstStyle/>
          <a:p>
            <a:r>
              <a:rPr lang="en-AU" b="1" dirty="0">
                <a:solidFill>
                  <a:srgbClr val="FF0000"/>
                </a:solidFill>
              </a:rPr>
              <a:t>Visibility is the ability to have a detailed view of all activity.</a:t>
            </a:r>
          </a:p>
        </p:txBody>
      </p:sp>
    </p:spTree>
    <p:extLst>
      <p:ext uri="{BB962C8B-B14F-4D97-AF65-F5344CB8AC3E}">
        <p14:creationId xmlns:p14="http://schemas.microsoft.com/office/powerpoint/2010/main" val="3083330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PaaS &amp; IaaS Security Concerns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a:xfrm>
            <a:off x="1097280" y="1845733"/>
            <a:ext cx="10058400" cy="4416843"/>
          </a:xfrm>
        </p:spPr>
        <p:txBody>
          <a:bodyPr>
            <a:normAutofit fontScale="92500" lnSpcReduction="20000"/>
          </a:bodyPr>
          <a:lstStyle/>
          <a:p>
            <a:pPr algn="just">
              <a:lnSpc>
                <a:spcPct val="150000"/>
              </a:lnSpc>
              <a:buFont typeface="Wingdings" panose="05000000000000000000" pitchFamily="2" charset="2"/>
              <a:buChar char="q"/>
            </a:pPr>
            <a:r>
              <a:rPr lang="en-AU" dirty="0"/>
              <a:t>The lack of monitoring ability on a loud workload system and its applications </a:t>
            </a:r>
          </a:p>
          <a:p>
            <a:pPr algn="just">
              <a:lnSpc>
                <a:spcPct val="150000"/>
              </a:lnSpc>
              <a:buFont typeface="Wingdings" panose="05000000000000000000" pitchFamily="2" charset="2"/>
              <a:buChar char="q"/>
            </a:pPr>
            <a:r>
              <a:rPr lang="en-AU" dirty="0"/>
              <a:t>Difficulty maintaining consistent security control across multiple clouds and platforms </a:t>
            </a:r>
          </a:p>
          <a:p>
            <a:pPr algn="just">
              <a:lnSpc>
                <a:spcPct val="150000"/>
              </a:lnSpc>
              <a:buFont typeface="Wingdings" panose="05000000000000000000" pitchFamily="2" charset="2"/>
              <a:buChar char="q"/>
            </a:pPr>
            <a:r>
              <a:rPr lang="en-AU" dirty="0"/>
              <a:t>Higher probability of insider data breaches.</a:t>
            </a:r>
          </a:p>
          <a:p>
            <a:pPr algn="just">
              <a:lnSpc>
                <a:spcPct val="150000"/>
              </a:lnSpc>
              <a:buFont typeface="Wingdings" panose="05000000000000000000" pitchFamily="2" charset="2"/>
              <a:buChar char="q"/>
            </a:pPr>
            <a:r>
              <a:rPr lang="en-AU" dirty="0"/>
              <a:t>Lack of data visibility in the cloud </a:t>
            </a:r>
          </a:p>
          <a:p>
            <a:pPr algn="just">
              <a:lnSpc>
                <a:spcPct val="150000"/>
              </a:lnSpc>
              <a:buFont typeface="Wingdings" panose="05000000000000000000" pitchFamily="2" charset="2"/>
              <a:buChar char="q"/>
            </a:pPr>
            <a:r>
              <a:rPr lang="en-AU" dirty="0"/>
              <a:t>Lack of control on the users and access grants to the cloud </a:t>
            </a:r>
          </a:p>
          <a:p>
            <a:pPr algn="just">
              <a:lnSpc>
                <a:spcPct val="150000"/>
              </a:lnSpc>
              <a:buFont typeface="Wingdings" panose="05000000000000000000" pitchFamily="2" charset="2"/>
              <a:buChar char="q"/>
            </a:pPr>
            <a:r>
              <a:rPr lang="en-AU" dirty="0"/>
              <a:t>Bypassing authentication and encryption</a:t>
            </a:r>
          </a:p>
          <a:p>
            <a:pPr algn="just">
              <a:lnSpc>
                <a:spcPct val="150000"/>
              </a:lnSpc>
              <a:buFont typeface="Wingdings" panose="05000000000000000000" pitchFamily="2" charset="2"/>
              <a:buChar char="q"/>
            </a:pPr>
            <a:r>
              <a:rPr lang="en-AU" dirty="0"/>
              <a:t>Hacking and attacks </a:t>
            </a:r>
          </a:p>
          <a:p>
            <a:pPr algn="just">
              <a:lnSpc>
                <a:spcPct val="150000"/>
              </a:lnSpc>
              <a:buFont typeface="Wingdings" panose="05000000000000000000" pitchFamily="2" charset="2"/>
              <a:buChar char="q"/>
            </a:pPr>
            <a:r>
              <a:rPr lang="en-AU" dirty="0"/>
              <a:t>Abusing cloud services</a:t>
            </a:r>
          </a:p>
        </p:txBody>
      </p:sp>
    </p:spTree>
    <p:extLst>
      <p:ext uri="{BB962C8B-B14F-4D97-AF65-F5344CB8AC3E}">
        <p14:creationId xmlns:p14="http://schemas.microsoft.com/office/powerpoint/2010/main" val="680590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General Security Concerns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a:xfrm>
            <a:off x="1097280" y="1845733"/>
            <a:ext cx="10058400" cy="4384945"/>
          </a:xfrm>
        </p:spPr>
        <p:txBody>
          <a:bodyPr>
            <a:noAutofit/>
          </a:bodyPr>
          <a:lstStyle/>
          <a:p>
            <a:pPr algn="just">
              <a:lnSpc>
                <a:spcPct val="150000"/>
              </a:lnSpc>
              <a:buFont typeface="Wingdings" panose="05000000000000000000" pitchFamily="2" charset="2"/>
              <a:buChar char="q"/>
            </a:pPr>
            <a:r>
              <a:rPr lang="en-AU" sz="1800" dirty="0"/>
              <a:t>In the traditional IT infrastructure, each company has a data centre administrated by an in-house IT team. </a:t>
            </a:r>
          </a:p>
          <a:p>
            <a:pPr algn="just">
              <a:lnSpc>
                <a:spcPct val="150000"/>
              </a:lnSpc>
              <a:buFont typeface="Wingdings" panose="05000000000000000000" pitchFamily="2" charset="2"/>
              <a:buChar char="q"/>
            </a:pPr>
            <a:r>
              <a:rPr lang="en-AU" sz="1800" dirty="0"/>
              <a:t>When a company migrates data to a cloud: the cloud provider manages the security. </a:t>
            </a:r>
          </a:p>
          <a:p>
            <a:pPr algn="just">
              <a:lnSpc>
                <a:spcPct val="150000"/>
              </a:lnSpc>
              <a:buFont typeface="Wingdings" panose="05000000000000000000" pitchFamily="2" charset="2"/>
              <a:buChar char="q"/>
            </a:pPr>
            <a:r>
              <a:rPr lang="en-AU" sz="1800" dirty="0"/>
              <a:t>Many people consider this absence of in-house control a downside of a cloud. </a:t>
            </a:r>
          </a:p>
          <a:p>
            <a:pPr algn="just">
              <a:lnSpc>
                <a:spcPct val="150000"/>
              </a:lnSpc>
              <a:buFont typeface="Wingdings" panose="05000000000000000000" pitchFamily="2" charset="2"/>
              <a:buChar char="q"/>
            </a:pPr>
            <a:r>
              <a:rPr lang="en-AU" sz="1800" dirty="0"/>
              <a:t>When using private or hybrid clouds, they allocate dedicated pools of resources to a company, so there is less concern about public access.</a:t>
            </a:r>
          </a:p>
        </p:txBody>
      </p:sp>
    </p:spTree>
    <p:extLst>
      <p:ext uri="{BB962C8B-B14F-4D97-AF65-F5344CB8AC3E}">
        <p14:creationId xmlns:p14="http://schemas.microsoft.com/office/powerpoint/2010/main" val="116592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General Security Concerns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a:xfrm>
            <a:off x="1097280" y="1845733"/>
            <a:ext cx="10058400" cy="4384945"/>
          </a:xfrm>
        </p:spPr>
        <p:txBody>
          <a:bodyPr>
            <a:noAutofit/>
          </a:bodyPr>
          <a:lstStyle/>
          <a:p>
            <a:pPr algn="just">
              <a:lnSpc>
                <a:spcPct val="150000"/>
              </a:lnSpc>
              <a:buFont typeface="Wingdings" panose="05000000000000000000" pitchFamily="2" charset="2"/>
              <a:buChar char="q"/>
            </a:pPr>
            <a:r>
              <a:rPr lang="en-AU" dirty="0">
                <a:solidFill>
                  <a:srgbClr val="FF0000"/>
                </a:solidFill>
              </a:rPr>
              <a:t>Cyber Attacks: </a:t>
            </a:r>
          </a:p>
          <a:p>
            <a:pPr algn="just">
              <a:lnSpc>
                <a:spcPct val="150000"/>
              </a:lnSpc>
              <a:buFont typeface="Wingdings" panose="05000000000000000000" pitchFamily="2" charset="2"/>
              <a:buChar char="q"/>
            </a:pPr>
            <a:r>
              <a:rPr lang="en-AU" dirty="0">
                <a:solidFill>
                  <a:srgbClr val="FF0000"/>
                </a:solidFill>
              </a:rPr>
              <a:t>Insider Security Breaches: </a:t>
            </a:r>
            <a:r>
              <a:rPr lang="en-AU" dirty="0"/>
              <a:t>For instance, in 2013, someone stole two million Vodafone customer records  (</a:t>
            </a:r>
            <a:r>
              <a:rPr lang="en-AU" dirty="0" err="1"/>
              <a:t>Mimoso</a:t>
            </a:r>
            <a:r>
              <a:rPr lang="en-AU" dirty="0"/>
              <a:t>, 2013). A contractor in Germany did this. Such threats always exist, and the clients of clouds have no control over them. If they get access to the cloud, they can steal confidential data, passwords, and intellectual property.</a:t>
            </a:r>
          </a:p>
        </p:txBody>
      </p:sp>
    </p:spTree>
    <p:extLst>
      <p:ext uri="{BB962C8B-B14F-4D97-AF65-F5344CB8AC3E}">
        <p14:creationId xmlns:p14="http://schemas.microsoft.com/office/powerpoint/2010/main" val="1403045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Cloud Security Alliance (CSA).</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CSA is a non-profit organisation, and their mission is “promote the use of best practices for providing security assurance within Cloud Computing, and to provide education on the uses of Cloud Computing to help secure all other forms of computing.</a:t>
            </a:r>
          </a:p>
          <a:p>
            <a:pPr algn="just">
              <a:lnSpc>
                <a:spcPct val="150000"/>
              </a:lnSpc>
              <a:buFont typeface="Wingdings" panose="05000000000000000000" pitchFamily="2" charset="2"/>
              <a:buChar char="q"/>
            </a:pPr>
            <a:r>
              <a:rPr lang="en-AU" dirty="0"/>
              <a:t>The services that CSA offers to the world are: </a:t>
            </a:r>
          </a:p>
        </p:txBody>
      </p:sp>
      <p:pic>
        <p:nvPicPr>
          <p:cNvPr id="4" name="Picture 3">
            <a:extLst>
              <a:ext uri="{FF2B5EF4-FFF2-40B4-BE49-F238E27FC236}">
                <a16:creationId xmlns:a16="http://schemas.microsoft.com/office/drawing/2014/main" id="{900EBB35-4171-4A77-99C6-280467645F86}"/>
              </a:ext>
            </a:extLst>
          </p:cNvPr>
          <p:cNvPicPr>
            <a:picLocks noChangeAspect="1"/>
          </p:cNvPicPr>
          <p:nvPr/>
        </p:nvPicPr>
        <p:blipFill>
          <a:blip r:embed="rId2"/>
          <a:stretch>
            <a:fillRect/>
          </a:stretch>
        </p:blipFill>
        <p:spPr>
          <a:xfrm>
            <a:off x="1546483" y="4177500"/>
            <a:ext cx="8862791" cy="1886282"/>
          </a:xfrm>
          <a:prstGeom prst="rect">
            <a:avLst/>
          </a:prstGeom>
        </p:spPr>
      </p:pic>
    </p:spTree>
    <p:extLst>
      <p:ext uri="{BB962C8B-B14F-4D97-AF65-F5344CB8AC3E}">
        <p14:creationId xmlns:p14="http://schemas.microsoft.com/office/powerpoint/2010/main" val="4123269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Cloud Security Techniques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a:xfrm>
            <a:off x="1001587" y="1845734"/>
            <a:ext cx="10058400" cy="4023360"/>
          </a:xfrm>
        </p:spPr>
        <p:txBody>
          <a:bodyPr>
            <a:normAutofit/>
          </a:bodyPr>
          <a:lstStyle/>
          <a:p>
            <a:pPr algn="just">
              <a:lnSpc>
                <a:spcPct val="150000"/>
              </a:lnSpc>
              <a:buFont typeface="Wingdings" panose="05000000000000000000" pitchFamily="2" charset="2"/>
              <a:buChar char="q"/>
            </a:pPr>
            <a:r>
              <a:rPr lang="en-AU" dirty="0"/>
              <a:t>It includes a wide range of preventive, detective, and corrective methods and activities to make the resources in the cloud secure.</a:t>
            </a:r>
          </a:p>
          <a:p>
            <a:pPr algn="just">
              <a:lnSpc>
                <a:spcPct val="150000"/>
              </a:lnSpc>
              <a:buFont typeface="Wingdings" panose="05000000000000000000" pitchFamily="2" charset="2"/>
              <a:buChar char="q"/>
            </a:pPr>
            <a:r>
              <a:rPr lang="en-AU" dirty="0">
                <a:solidFill>
                  <a:srgbClr val="FF0000"/>
                </a:solidFill>
              </a:rPr>
              <a:t>Authentication software</a:t>
            </a:r>
          </a:p>
          <a:p>
            <a:pPr algn="just">
              <a:lnSpc>
                <a:spcPct val="150000"/>
              </a:lnSpc>
              <a:buFont typeface="Wingdings" panose="05000000000000000000" pitchFamily="2" charset="2"/>
              <a:buChar char="q"/>
            </a:pPr>
            <a:r>
              <a:rPr lang="en-AU" dirty="0">
                <a:solidFill>
                  <a:srgbClr val="FF0000"/>
                </a:solidFill>
              </a:rPr>
              <a:t>Encryption</a:t>
            </a:r>
          </a:p>
          <a:p>
            <a:pPr algn="just">
              <a:lnSpc>
                <a:spcPct val="150000"/>
              </a:lnSpc>
              <a:buFont typeface="Wingdings" panose="05000000000000000000" pitchFamily="2" charset="2"/>
              <a:buChar char="q"/>
            </a:pPr>
            <a:endParaRPr lang="en-AU" dirty="0"/>
          </a:p>
        </p:txBody>
      </p:sp>
      <p:pic>
        <p:nvPicPr>
          <p:cNvPr id="1026" name="Picture 2" descr="Public-key cryptography - Wikipedia">
            <a:extLst>
              <a:ext uri="{FF2B5EF4-FFF2-40B4-BE49-F238E27FC236}">
                <a16:creationId xmlns:a16="http://schemas.microsoft.com/office/drawing/2014/main" id="{F741203B-808C-440E-AAE5-809A260E97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820" y="4221790"/>
            <a:ext cx="4511859" cy="21145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Deep Dive on End-to-End Encryption: How Do Public Key Encryption Systems  Work? | Surveillance Self-Defense">
            <a:extLst>
              <a:ext uri="{FF2B5EF4-FFF2-40B4-BE49-F238E27FC236}">
                <a16:creationId xmlns:a16="http://schemas.microsoft.com/office/drawing/2014/main" id="{590CCD68-F736-48E0-8374-1CD79B489F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4381" y="2292811"/>
            <a:ext cx="5775606" cy="3576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9084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Cloud Security Techniques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a:xfrm>
            <a:off x="1097280" y="1845734"/>
            <a:ext cx="10058400" cy="4480638"/>
          </a:xfrm>
        </p:spPr>
        <p:txBody>
          <a:bodyPr>
            <a:normAutofit/>
          </a:bodyPr>
          <a:lstStyle/>
          <a:p>
            <a:pPr algn="just">
              <a:lnSpc>
                <a:spcPct val="150000"/>
              </a:lnSpc>
              <a:buFont typeface="Wingdings" panose="05000000000000000000" pitchFamily="2" charset="2"/>
              <a:buChar char="q"/>
            </a:pPr>
            <a:r>
              <a:rPr lang="en-AU" dirty="0">
                <a:solidFill>
                  <a:srgbClr val="FF0000"/>
                </a:solidFill>
              </a:rPr>
              <a:t>Data integrity </a:t>
            </a:r>
            <a:r>
              <a:rPr lang="en-AU" dirty="0"/>
              <a:t>ensures that data represents what we expect it to represent. One of the most widely used methods to ensure data integrity is to use ALOCA: </a:t>
            </a:r>
          </a:p>
          <a:p>
            <a:pPr algn="just">
              <a:lnSpc>
                <a:spcPct val="150000"/>
              </a:lnSpc>
              <a:buFont typeface="Wingdings" panose="05000000000000000000" pitchFamily="2" charset="2"/>
              <a:buChar char="q"/>
            </a:pPr>
            <a:endParaRPr lang="en-US" dirty="0"/>
          </a:p>
          <a:p>
            <a:pPr algn="just">
              <a:lnSpc>
                <a:spcPct val="150000"/>
              </a:lnSpc>
              <a:buFont typeface="Wingdings" panose="05000000000000000000" pitchFamily="2" charset="2"/>
              <a:buChar char="q"/>
            </a:pPr>
            <a:endParaRPr lang="en-US" dirty="0"/>
          </a:p>
          <a:p>
            <a:pPr algn="just">
              <a:lnSpc>
                <a:spcPct val="150000"/>
              </a:lnSpc>
              <a:buFont typeface="Wingdings" panose="05000000000000000000" pitchFamily="2" charset="2"/>
              <a:buChar char="q"/>
            </a:pPr>
            <a:endParaRPr lang="en-US" dirty="0"/>
          </a:p>
          <a:p>
            <a:pPr algn="just">
              <a:lnSpc>
                <a:spcPct val="150000"/>
              </a:lnSpc>
              <a:buFont typeface="Wingdings" panose="05000000000000000000" pitchFamily="2" charset="2"/>
              <a:buChar char="q"/>
            </a:pPr>
            <a:r>
              <a:rPr lang="en-AU" dirty="0">
                <a:solidFill>
                  <a:srgbClr val="FF0000"/>
                </a:solidFill>
              </a:rPr>
              <a:t>Attack Solution: </a:t>
            </a:r>
            <a:r>
              <a:rPr lang="en-AU" dirty="0"/>
              <a:t>ransomware attacks, Denial of Service Attack, malware injection attack, phishing attack, etc. </a:t>
            </a:r>
          </a:p>
          <a:p>
            <a:pPr algn="just">
              <a:lnSpc>
                <a:spcPct val="150000"/>
              </a:lnSpc>
              <a:buFont typeface="Wingdings" panose="05000000000000000000" pitchFamily="2" charset="2"/>
              <a:buChar char="q"/>
            </a:pPr>
            <a:endParaRPr lang="en-AU" dirty="0"/>
          </a:p>
        </p:txBody>
      </p:sp>
      <p:graphicFrame>
        <p:nvGraphicFramePr>
          <p:cNvPr id="4" name="Table 3">
            <a:extLst>
              <a:ext uri="{FF2B5EF4-FFF2-40B4-BE49-F238E27FC236}">
                <a16:creationId xmlns:a16="http://schemas.microsoft.com/office/drawing/2014/main" id="{D3D1374B-E6A8-43F3-BFF9-75E893F73F52}"/>
              </a:ext>
            </a:extLst>
          </p:cNvPr>
          <p:cNvGraphicFramePr>
            <a:graphicFrameLocks noGrp="1"/>
          </p:cNvGraphicFramePr>
          <p:nvPr>
            <p:extLst>
              <p:ext uri="{D42A27DB-BD31-4B8C-83A1-F6EECF244321}">
                <p14:modId xmlns:p14="http://schemas.microsoft.com/office/powerpoint/2010/main" val="469540144"/>
              </p:ext>
            </p:extLst>
          </p:nvPr>
        </p:nvGraphicFramePr>
        <p:xfrm>
          <a:off x="1192027" y="3186420"/>
          <a:ext cx="8128000" cy="1112520"/>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723043644"/>
                    </a:ext>
                  </a:extLst>
                </a:gridCol>
                <a:gridCol w="4064000">
                  <a:extLst>
                    <a:ext uri="{9D8B030D-6E8A-4147-A177-3AD203B41FA5}">
                      <a16:colId xmlns:a16="http://schemas.microsoft.com/office/drawing/2014/main" val="571642676"/>
                    </a:ext>
                  </a:extLst>
                </a:gridCol>
              </a:tblGrid>
              <a:tr h="370840">
                <a:tc>
                  <a:txBody>
                    <a:bodyPr/>
                    <a:lstStyle/>
                    <a:p>
                      <a:pPr marL="285750" indent="-285750">
                        <a:buFont typeface="Wingdings" panose="05000000000000000000" pitchFamily="2" charset="2"/>
                        <a:buChar char="q"/>
                      </a:pPr>
                      <a:r>
                        <a:rPr lang="en-AU" dirty="0"/>
                        <a:t>Attributable </a:t>
                      </a:r>
                      <a:endParaRPr lang="en-AU" b="1" dirty="0">
                        <a:solidFill>
                          <a:schemeClr val="tx1"/>
                        </a:solidFill>
                      </a:endParaRPr>
                    </a:p>
                  </a:txBody>
                  <a:tcPr/>
                </a:tc>
                <a:tc>
                  <a:txBody>
                    <a:bodyPr/>
                    <a:lstStyle/>
                    <a:p>
                      <a:pPr marL="285750" indent="-285750">
                        <a:buFont typeface="Wingdings" panose="05000000000000000000" pitchFamily="2" charset="2"/>
                        <a:buChar char="q"/>
                      </a:pPr>
                      <a:r>
                        <a:rPr lang="en-AU" dirty="0"/>
                        <a:t>Legible</a:t>
                      </a:r>
                      <a:endParaRPr lang="en-AU" b="1" dirty="0">
                        <a:solidFill>
                          <a:schemeClr val="tx1"/>
                        </a:solidFill>
                      </a:endParaRPr>
                    </a:p>
                  </a:txBody>
                  <a:tcPr/>
                </a:tc>
                <a:extLst>
                  <a:ext uri="{0D108BD9-81ED-4DB2-BD59-A6C34878D82A}">
                    <a16:rowId xmlns:a16="http://schemas.microsoft.com/office/drawing/2014/main" val="1569558086"/>
                  </a:ext>
                </a:extLst>
              </a:tr>
              <a:tr h="370840">
                <a:tc>
                  <a:txBody>
                    <a:bodyPr/>
                    <a:lstStyle/>
                    <a:p>
                      <a:pPr marL="285750" indent="-285750">
                        <a:buFont typeface="Wingdings" panose="05000000000000000000" pitchFamily="2" charset="2"/>
                        <a:buChar char="q"/>
                      </a:pPr>
                      <a:r>
                        <a:rPr lang="en-AU"/>
                        <a:t>Contemporaneous</a:t>
                      </a:r>
                      <a:endParaRPr lang="en-AU" b="1" dirty="0">
                        <a:solidFill>
                          <a:schemeClr val="tx1"/>
                        </a:solidFill>
                      </a:endParaRPr>
                    </a:p>
                  </a:txBody>
                  <a:tcPr/>
                </a:tc>
                <a:tc>
                  <a:txBody>
                    <a:bodyPr/>
                    <a:lstStyle/>
                    <a:p>
                      <a:pPr marL="285750" indent="-285750">
                        <a:buFont typeface="Wingdings" panose="05000000000000000000" pitchFamily="2" charset="2"/>
                        <a:buChar char="q"/>
                      </a:pPr>
                      <a:r>
                        <a:rPr lang="en-AU" dirty="0"/>
                        <a:t>Original</a:t>
                      </a:r>
                      <a:endParaRPr lang="en-AU" b="1" dirty="0">
                        <a:solidFill>
                          <a:schemeClr val="tx1"/>
                        </a:solidFill>
                      </a:endParaRPr>
                    </a:p>
                  </a:txBody>
                  <a:tcPr/>
                </a:tc>
                <a:extLst>
                  <a:ext uri="{0D108BD9-81ED-4DB2-BD59-A6C34878D82A}">
                    <a16:rowId xmlns:a16="http://schemas.microsoft.com/office/drawing/2014/main" val="1145880395"/>
                  </a:ext>
                </a:extLst>
              </a:tr>
              <a:tr h="370840">
                <a:tc>
                  <a:txBody>
                    <a:bodyPr/>
                    <a:lstStyle/>
                    <a:p>
                      <a:pPr marL="285750" indent="-285750">
                        <a:buFont typeface="Wingdings" panose="05000000000000000000" pitchFamily="2" charset="2"/>
                        <a:buChar char="q"/>
                      </a:pPr>
                      <a:r>
                        <a:rPr lang="en-AU" dirty="0"/>
                        <a:t>Accurate</a:t>
                      </a:r>
                      <a:endParaRPr lang="en-AU" b="1" dirty="0">
                        <a:solidFill>
                          <a:schemeClr val="tx1"/>
                        </a:solidFill>
                      </a:endParaRPr>
                    </a:p>
                  </a:txBody>
                  <a:tcPr/>
                </a:tc>
                <a:tc>
                  <a:txBody>
                    <a:bodyPr/>
                    <a:lstStyle/>
                    <a:p>
                      <a:pPr marL="285750" indent="-285750">
                        <a:buFont typeface="Wingdings" panose="05000000000000000000" pitchFamily="2" charset="2"/>
                        <a:buChar char="q"/>
                      </a:pPr>
                      <a:endParaRPr lang="en-AU" b="1" dirty="0">
                        <a:solidFill>
                          <a:schemeClr val="tx1"/>
                        </a:solidFill>
                      </a:endParaRPr>
                    </a:p>
                  </a:txBody>
                  <a:tcPr/>
                </a:tc>
                <a:extLst>
                  <a:ext uri="{0D108BD9-81ED-4DB2-BD59-A6C34878D82A}">
                    <a16:rowId xmlns:a16="http://schemas.microsoft.com/office/drawing/2014/main" val="539902324"/>
                  </a:ext>
                </a:extLst>
              </a:tr>
            </a:tbl>
          </a:graphicData>
        </a:graphic>
      </p:graphicFrame>
    </p:spTree>
    <p:extLst>
      <p:ext uri="{BB962C8B-B14F-4D97-AF65-F5344CB8AC3E}">
        <p14:creationId xmlns:p14="http://schemas.microsoft.com/office/powerpoint/2010/main" val="3581303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Cloud Security Best Practices</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a:xfrm>
            <a:off x="1097280" y="1845733"/>
            <a:ext cx="10058400" cy="4491271"/>
          </a:xfrm>
        </p:spPr>
        <p:txBody>
          <a:bodyPr>
            <a:normAutofit fontScale="92500" lnSpcReduction="10000"/>
          </a:bodyPr>
          <a:lstStyle/>
          <a:p>
            <a:pPr algn="just">
              <a:lnSpc>
                <a:spcPct val="150000"/>
              </a:lnSpc>
              <a:buFont typeface="Wingdings" panose="05000000000000000000" pitchFamily="2" charset="2"/>
              <a:buChar char="q"/>
            </a:pPr>
            <a:r>
              <a:rPr lang="en-AU" dirty="0"/>
              <a:t>If you want to use any cloud services or work in cloud computing companies, the following best practices will ensure safe and reliable services.</a:t>
            </a:r>
          </a:p>
          <a:p>
            <a:pPr algn="just">
              <a:lnSpc>
                <a:spcPct val="150000"/>
              </a:lnSpc>
              <a:buFont typeface="Wingdings" panose="05000000000000000000" pitchFamily="2" charset="2"/>
              <a:buChar char="Ø"/>
            </a:pPr>
            <a:r>
              <a:rPr lang="en-US" dirty="0">
                <a:solidFill>
                  <a:srgbClr val="FF0000"/>
                </a:solidFill>
              </a:rPr>
              <a:t>Tools</a:t>
            </a:r>
          </a:p>
          <a:p>
            <a:pPr algn="just">
              <a:lnSpc>
                <a:spcPct val="150000"/>
              </a:lnSpc>
              <a:buFont typeface="Wingdings" panose="05000000000000000000" pitchFamily="2" charset="2"/>
              <a:buChar char="Ø"/>
            </a:pPr>
            <a:r>
              <a:rPr lang="en-US" dirty="0">
                <a:solidFill>
                  <a:srgbClr val="FF0000"/>
                </a:solidFill>
              </a:rPr>
              <a:t>Audits</a:t>
            </a:r>
          </a:p>
          <a:p>
            <a:pPr algn="just">
              <a:lnSpc>
                <a:spcPct val="150000"/>
              </a:lnSpc>
              <a:buFont typeface="Wingdings" panose="05000000000000000000" pitchFamily="2" charset="2"/>
              <a:buChar char="Ø"/>
            </a:pPr>
            <a:r>
              <a:rPr lang="en-US" dirty="0">
                <a:solidFill>
                  <a:srgbClr val="FF0000"/>
                </a:solidFill>
              </a:rPr>
              <a:t>Policies</a:t>
            </a:r>
          </a:p>
          <a:p>
            <a:pPr algn="just">
              <a:lnSpc>
                <a:spcPct val="150000"/>
              </a:lnSpc>
              <a:buFont typeface="Wingdings" panose="05000000000000000000" pitchFamily="2" charset="2"/>
              <a:buChar char="Ø"/>
            </a:pPr>
            <a:r>
              <a:rPr lang="en-US" dirty="0">
                <a:solidFill>
                  <a:srgbClr val="FF0000"/>
                </a:solidFill>
              </a:rPr>
              <a:t>Enforcement</a:t>
            </a:r>
          </a:p>
          <a:p>
            <a:pPr algn="just">
              <a:lnSpc>
                <a:spcPct val="150000"/>
              </a:lnSpc>
              <a:buFont typeface="Wingdings" panose="05000000000000000000" pitchFamily="2" charset="2"/>
              <a:buChar char="Ø"/>
            </a:pPr>
            <a:r>
              <a:rPr lang="en-US" dirty="0">
                <a:solidFill>
                  <a:srgbClr val="FF0000"/>
                </a:solidFill>
              </a:rPr>
              <a:t>Training</a:t>
            </a:r>
          </a:p>
          <a:p>
            <a:pPr algn="just">
              <a:lnSpc>
                <a:spcPct val="150000"/>
              </a:lnSpc>
              <a:buFont typeface="Wingdings" panose="05000000000000000000" pitchFamily="2" charset="2"/>
              <a:buChar char="Ø"/>
            </a:pPr>
            <a:r>
              <a:rPr lang="en-US" dirty="0">
                <a:solidFill>
                  <a:srgbClr val="FF0000"/>
                </a:solidFill>
              </a:rPr>
              <a:t>Responsibility</a:t>
            </a:r>
          </a:p>
          <a:p>
            <a:pPr algn="just">
              <a:lnSpc>
                <a:spcPct val="150000"/>
              </a:lnSpc>
              <a:buFont typeface="Wingdings" panose="05000000000000000000" pitchFamily="2" charset="2"/>
              <a:buChar char="Ø"/>
            </a:pPr>
            <a:endParaRPr lang="en-US" dirty="0">
              <a:solidFill>
                <a:srgbClr val="FF0000"/>
              </a:solidFill>
            </a:endParaRPr>
          </a:p>
          <a:p>
            <a:pPr algn="just">
              <a:lnSpc>
                <a:spcPct val="150000"/>
              </a:lnSpc>
              <a:buFont typeface="Wingdings" panose="05000000000000000000" pitchFamily="2" charset="2"/>
              <a:buChar char="Ø"/>
            </a:pPr>
            <a:endParaRPr lang="en-AU" dirty="0"/>
          </a:p>
        </p:txBody>
      </p:sp>
    </p:spTree>
    <p:extLst>
      <p:ext uri="{BB962C8B-B14F-4D97-AF65-F5344CB8AC3E}">
        <p14:creationId xmlns:p14="http://schemas.microsoft.com/office/powerpoint/2010/main" val="585543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 Shared responsibility model </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Traditional IT models relied on an approach that security is the sole responsibility of the organisation however, in cloud computing services, security is a combined responsibility.</a:t>
            </a:r>
          </a:p>
          <a:p>
            <a:pPr algn="just">
              <a:lnSpc>
                <a:spcPct val="150000"/>
              </a:lnSpc>
              <a:buFont typeface="Wingdings" panose="05000000000000000000" pitchFamily="2" charset="2"/>
              <a:buChar char="q"/>
            </a:pPr>
            <a:r>
              <a:rPr lang="en-AU" dirty="0"/>
              <a:t> Cloud providers handle and treat risks through a shared responsibility model. </a:t>
            </a:r>
          </a:p>
          <a:p>
            <a:pPr algn="just">
              <a:lnSpc>
                <a:spcPct val="150000"/>
              </a:lnSpc>
              <a:buFont typeface="Wingdings" panose="05000000000000000000" pitchFamily="2" charset="2"/>
              <a:buChar char="q"/>
            </a:pPr>
            <a:r>
              <a:rPr lang="en-AU" dirty="0"/>
              <a:t>There are seven security areas shared between the cloud provider and client. </a:t>
            </a:r>
          </a:p>
        </p:txBody>
      </p:sp>
    </p:spTree>
    <p:extLst>
      <p:ext uri="{BB962C8B-B14F-4D97-AF65-F5344CB8AC3E}">
        <p14:creationId xmlns:p14="http://schemas.microsoft.com/office/powerpoint/2010/main" val="1210442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 Shared responsibility model </a:t>
            </a:r>
          </a:p>
        </p:txBody>
      </p:sp>
      <p:pic>
        <p:nvPicPr>
          <p:cNvPr id="4" name="Picture 3">
            <a:extLst>
              <a:ext uri="{FF2B5EF4-FFF2-40B4-BE49-F238E27FC236}">
                <a16:creationId xmlns:a16="http://schemas.microsoft.com/office/drawing/2014/main" id="{087B97AD-2038-480C-9320-CEEC73F5DF7B}"/>
              </a:ext>
            </a:extLst>
          </p:cNvPr>
          <p:cNvPicPr>
            <a:picLocks noChangeAspect="1"/>
          </p:cNvPicPr>
          <p:nvPr/>
        </p:nvPicPr>
        <p:blipFill>
          <a:blip r:embed="rId2"/>
          <a:stretch>
            <a:fillRect/>
          </a:stretch>
        </p:blipFill>
        <p:spPr>
          <a:xfrm>
            <a:off x="1991544" y="1866999"/>
            <a:ext cx="8821768" cy="4470005"/>
          </a:xfrm>
          <a:prstGeom prst="rect">
            <a:avLst/>
          </a:prstGeom>
        </p:spPr>
      </p:pic>
    </p:spTree>
    <p:extLst>
      <p:ext uri="{BB962C8B-B14F-4D97-AF65-F5344CB8AC3E}">
        <p14:creationId xmlns:p14="http://schemas.microsoft.com/office/powerpoint/2010/main" val="1837651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Responsibilities Defined</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a:xfrm>
            <a:off x="584791" y="1845733"/>
            <a:ext cx="11100390" cy="4501903"/>
          </a:xfrm>
        </p:spPr>
        <p:txBody>
          <a:bodyPr>
            <a:normAutofit/>
          </a:bodyPr>
          <a:lstStyle/>
          <a:p>
            <a:pPr algn="just">
              <a:lnSpc>
                <a:spcPct val="150000"/>
              </a:lnSpc>
              <a:buFont typeface="Wingdings" panose="05000000000000000000" pitchFamily="2" charset="2"/>
              <a:buChar char="q"/>
            </a:pPr>
            <a:r>
              <a:rPr lang="en-AU" b="1" dirty="0">
                <a:solidFill>
                  <a:srgbClr val="FF0000"/>
                </a:solidFill>
              </a:rPr>
              <a:t>User security </a:t>
            </a:r>
            <a:r>
              <a:rPr lang="en-AU" dirty="0"/>
              <a:t>refers to any preventive, protective, detective, and corrective security activates done at the user level. </a:t>
            </a:r>
          </a:p>
          <a:p>
            <a:pPr algn="just" fontAlgn="base">
              <a:lnSpc>
                <a:spcPct val="150000"/>
              </a:lnSpc>
              <a:buFont typeface="Wingdings" panose="05000000000000000000" pitchFamily="2" charset="2"/>
              <a:buChar char="q"/>
            </a:pPr>
            <a:r>
              <a:rPr lang="en-AU" b="1" dirty="0">
                <a:solidFill>
                  <a:srgbClr val="FF0000"/>
                </a:solidFill>
              </a:rPr>
              <a:t>Data Security: </a:t>
            </a:r>
            <a:r>
              <a:rPr lang="en-AU" dirty="0">
                <a:solidFill>
                  <a:srgbClr val="313537"/>
                </a:solidFill>
                <a:latin typeface="Merriweather"/>
              </a:rPr>
              <a:t>Here we need to ensure that we protect and secure the data. The three most important aspects of data security are: </a:t>
            </a:r>
          </a:p>
          <a:p>
            <a:pPr algn="just" fontAlgn="base">
              <a:lnSpc>
                <a:spcPct val="150000"/>
              </a:lnSpc>
              <a:buFont typeface="+mj-lt"/>
              <a:buAutoNum type="arabicPeriod"/>
            </a:pPr>
            <a:r>
              <a:rPr lang="en-AU" b="1" dirty="0">
                <a:solidFill>
                  <a:srgbClr val="313537"/>
                </a:solidFill>
                <a:latin typeface="Merriweather"/>
              </a:rPr>
              <a:t>Integrity</a:t>
            </a:r>
            <a:endParaRPr lang="en-AU" dirty="0">
              <a:solidFill>
                <a:srgbClr val="313537"/>
              </a:solidFill>
              <a:latin typeface="Merriweather"/>
            </a:endParaRPr>
          </a:p>
          <a:p>
            <a:pPr algn="just" fontAlgn="base">
              <a:lnSpc>
                <a:spcPct val="150000"/>
              </a:lnSpc>
              <a:buFont typeface="+mj-lt"/>
              <a:buAutoNum type="arabicPeriod"/>
            </a:pPr>
            <a:r>
              <a:rPr lang="en-AU" b="1" dirty="0">
                <a:solidFill>
                  <a:srgbClr val="313537"/>
                </a:solidFill>
                <a:latin typeface="Merriweather"/>
              </a:rPr>
              <a:t>Availability</a:t>
            </a:r>
            <a:endParaRPr lang="en-AU" dirty="0">
              <a:solidFill>
                <a:srgbClr val="313537"/>
              </a:solidFill>
              <a:latin typeface="Merriweather"/>
            </a:endParaRPr>
          </a:p>
          <a:p>
            <a:pPr algn="just" fontAlgn="base">
              <a:lnSpc>
                <a:spcPct val="150000"/>
              </a:lnSpc>
              <a:buFont typeface="+mj-lt"/>
              <a:buAutoNum type="arabicPeriod"/>
            </a:pPr>
            <a:r>
              <a:rPr lang="en-AU" b="1" dirty="0">
                <a:solidFill>
                  <a:srgbClr val="313537"/>
                </a:solidFill>
                <a:latin typeface="Merriweather"/>
              </a:rPr>
              <a:t>Confidentiality</a:t>
            </a:r>
            <a:endParaRPr lang="en-AU" dirty="0"/>
          </a:p>
        </p:txBody>
      </p:sp>
    </p:spTree>
    <p:extLst>
      <p:ext uri="{BB962C8B-B14F-4D97-AF65-F5344CB8AC3E}">
        <p14:creationId xmlns:p14="http://schemas.microsoft.com/office/powerpoint/2010/main" val="1492177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D9ED-6AD0-4A7C-92A9-ED9AD2374363}"/>
              </a:ext>
            </a:extLst>
          </p:cNvPr>
          <p:cNvSpPr>
            <a:spLocks noGrp="1"/>
          </p:cNvSpPr>
          <p:nvPr>
            <p:ph type="title"/>
          </p:nvPr>
        </p:nvSpPr>
        <p:spPr/>
        <p:txBody>
          <a:bodyPr/>
          <a:lstStyle/>
          <a:p>
            <a:r>
              <a:rPr lang="en-AU" dirty="0"/>
              <a:t>Responsibilities Defined</a:t>
            </a:r>
          </a:p>
        </p:txBody>
      </p:sp>
      <p:sp>
        <p:nvSpPr>
          <p:cNvPr id="3" name="Content Placeholder 2">
            <a:extLst>
              <a:ext uri="{FF2B5EF4-FFF2-40B4-BE49-F238E27FC236}">
                <a16:creationId xmlns:a16="http://schemas.microsoft.com/office/drawing/2014/main" id="{F97775A8-5F13-4A48-989C-304D24137DBD}"/>
              </a:ext>
            </a:extLst>
          </p:cNvPr>
          <p:cNvSpPr>
            <a:spLocks noGrp="1"/>
          </p:cNvSpPr>
          <p:nvPr>
            <p:ph idx="1"/>
          </p:nvPr>
        </p:nvSpPr>
        <p:spPr>
          <a:xfrm>
            <a:off x="839972" y="1845734"/>
            <a:ext cx="11015330" cy="4406210"/>
          </a:xfrm>
        </p:spPr>
        <p:txBody>
          <a:bodyPr>
            <a:normAutofit/>
          </a:bodyPr>
          <a:lstStyle/>
          <a:p>
            <a:pPr algn="just">
              <a:lnSpc>
                <a:spcPct val="150000"/>
              </a:lnSpc>
              <a:buFont typeface="Wingdings" panose="05000000000000000000" pitchFamily="2" charset="2"/>
              <a:buChar char="q"/>
            </a:pPr>
            <a:r>
              <a:rPr lang="en-AU" b="1" dirty="0">
                <a:solidFill>
                  <a:srgbClr val="FF0000"/>
                </a:solidFill>
              </a:rPr>
              <a:t>Application Security</a:t>
            </a:r>
          </a:p>
          <a:p>
            <a:pPr algn="just">
              <a:lnSpc>
                <a:spcPct val="150000"/>
              </a:lnSpc>
              <a:buFont typeface="Wingdings" panose="05000000000000000000" pitchFamily="2" charset="2"/>
              <a:buChar char="q"/>
            </a:pPr>
            <a:r>
              <a:rPr lang="en-AU" b="1" dirty="0">
                <a:solidFill>
                  <a:srgbClr val="FF0000"/>
                </a:solidFill>
              </a:rPr>
              <a:t>Middleware security</a:t>
            </a:r>
          </a:p>
          <a:p>
            <a:pPr algn="just">
              <a:lnSpc>
                <a:spcPct val="150000"/>
              </a:lnSpc>
              <a:buFont typeface="Wingdings" panose="05000000000000000000" pitchFamily="2" charset="2"/>
              <a:buChar char="q"/>
            </a:pPr>
            <a:r>
              <a:rPr lang="en-AU" b="1" dirty="0">
                <a:solidFill>
                  <a:srgbClr val="FF0000"/>
                </a:solidFill>
              </a:rPr>
              <a:t>Operating System</a:t>
            </a:r>
          </a:p>
          <a:p>
            <a:pPr algn="just">
              <a:lnSpc>
                <a:spcPct val="150000"/>
              </a:lnSpc>
              <a:buFont typeface="Wingdings" panose="05000000000000000000" pitchFamily="2" charset="2"/>
              <a:buChar char="q"/>
            </a:pPr>
            <a:r>
              <a:rPr lang="en-AU" b="1" dirty="0">
                <a:solidFill>
                  <a:srgbClr val="FF0000"/>
                </a:solidFill>
              </a:rPr>
              <a:t>Virtualisation security</a:t>
            </a:r>
          </a:p>
          <a:p>
            <a:pPr algn="just">
              <a:lnSpc>
                <a:spcPct val="150000"/>
              </a:lnSpc>
              <a:buFont typeface="Wingdings" panose="05000000000000000000" pitchFamily="2" charset="2"/>
              <a:buChar char="q"/>
            </a:pPr>
            <a:r>
              <a:rPr lang="en-AU" b="1" dirty="0">
                <a:solidFill>
                  <a:srgbClr val="FF0000"/>
                </a:solidFill>
              </a:rPr>
              <a:t>Infrastructure security: </a:t>
            </a:r>
            <a:r>
              <a:rPr lang="en-AU" dirty="0"/>
              <a:t>They divide infrastructure security into network security and physical security. </a:t>
            </a:r>
          </a:p>
          <a:p>
            <a:pPr algn="just">
              <a:lnSpc>
                <a:spcPct val="150000"/>
              </a:lnSpc>
              <a:buFont typeface="Wingdings" panose="05000000000000000000" pitchFamily="2" charset="2"/>
              <a:buChar char="Ø"/>
            </a:pPr>
            <a:r>
              <a:rPr lang="en-AU" dirty="0">
                <a:solidFill>
                  <a:srgbClr val="0070C0"/>
                </a:solidFill>
              </a:rPr>
              <a:t>Network security</a:t>
            </a:r>
          </a:p>
          <a:p>
            <a:pPr algn="just">
              <a:lnSpc>
                <a:spcPct val="150000"/>
              </a:lnSpc>
              <a:buFont typeface="Wingdings" panose="05000000000000000000" pitchFamily="2" charset="2"/>
              <a:buChar char="Ø"/>
            </a:pPr>
            <a:r>
              <a:rPr lang="en-AU" dirty="0">
                <a:solidFill>
                  <a:srgbClr val="0070C0"/>
                </a:solidFill>
              </a:rPr>
              <a:t>Physical security</a:t>
            </a:r>
          </a:p>
        </p:txBody>
      </p:sp>
    </p:spTree>
    <p:extLst>
      <p:ext uri="{BB962C8B-B14F-4D97-AF65-F5344CB8AC3E}">
        <p14:creationId xmlns:p14="http://schemas.microsoft.com/office/powerpoint/2010/main" val="492235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1DBC-5171-4AF3-8E22-690FAE7C04E0}"/>
              </a:ext>
            </a:extLst>
          </p:cNvPr>
          <p:cNvSpPr>
            <a:spLocks noGrp="1"/>
          </p:cNvSpPr>
          <p:nvPr>
            <p:ph type="title"/>
          </p:nvPr>
        </p:nvSpPr>
        <p:spPr>
          <a:xfrm>
            <a:off x="1192973" y="2880947"/>
            <a:ext cx="10058400" cy="1450757"/>
          </a:xfrm>
        </p:spPr>
        <p:txBody>
          <a:bodyPr/>
          <a:lstStyle/>
          <a:p>
            <a:r>
              <a:rPr lang="en-AU" dirty="0"/>
              <a:t>Common Cloud likely attacks.</a:t>
            </a:r>
          </a:p>
        </p:txBody>
      </p:sp>
    </p:spTree>
    <p:extLst>
      <p:ext uri="{BB962C8B-B14F-4D97-AF65-F5344CB8AC3E}">
        <p14:creationId xmlns:p14="http://schemas.microsoft.com/office/powerpoint/2010/main" val="1816272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55BF1-9385-42BF-9355-F24C00BA4B3E}"/>
              </a:ext>
            </a:extLst>
          </p:cNvPr>
          <p:cNvSpPr>
            <a:spLocks noGrp="1"/>
          </p:cNvSpPr>
          <p:nvPr>
            <p:ph type="title"/>
          </p:nvPr>
        </p:nvSpPr>
        <p:spPr/>
        <p:txBody>
          <a:bodyPr/>
          <a:lstStyle/>
          <a:p>
            <a:r>
              <a:rPr lang="en-AU" dirty="0"/>
              <a:t>Hack 1: The Little Phish: The Password is Catch of the Day</a:t>
            </a:r>
          </a:p>
        </p:txBody>
      </p:sp>
      <p:sp>
        <p:nvSpPr>
          <p:cNvPr id="3" name="Content Placeholder 2">
            <a:extLst>
              <a:ext uri="{FF2B5EF4-FFF2-40B4-BE49-F238E27FC236}">
                <a16:creationId xmlns:a16="http://schemas.microsoft.com/office/drawing/2014/main" id="{F5604C22-FAC3-4308-BCFC-2E88E1C8B766}"/>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Phishing is still unbelievably popular with cyber criminals.</a:t>
            </a:r>
          </a:p>
          <a:p>
            <a:pPr algn="just">
              <a:lnSpc>
                <a:spcPct val="150000"/>
              </a:lnSpc>
              <a:buFont typeface="Wingdings" panose="05000000000000000000" pitchFamily="2" charset="2"/>
              <a:buChar char="q"/>
            </a:pPr>
            <a:r>
              <a:rPr lang="en-AU" dirty="0"/>
              <a:t>Why?  It works.</a:t>
            </a:r>
          </a:p>
          <a:p>
            <a:pPr algn="just">
              <a:lnSpc>
                <a:spcPct val="150000"/>
              </a:lnSpc>
              <a:buFont typeface="Wingdings" panose="05000000000000000000" pitchFamily="2" charset="2"/>
              <a:buChar char="q"/>
            </a:pPr>
            <a:r>
              <a:rPr lang="en-AU" dirty="0"/>
              <a:t>According to the Verizon Data Breach Investigation Report (DBIR), 30% of people opened phishing messages in 2016.  Almost one-third of people open phishing messages!</a:t>
            </a:r>
          </a:p>
        </p:txBody>
      </p:sp>
    </p:spTree>
    <p:extLst>
      <p:ext uri="{BB962C8B-B14F-4D97-AF65-F5344CB8AC3E}">
        <p14:creationId xmlns:p14="http://schemas.microsoft.com/office/powerpoint/2010/main" val="2953306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The Fix to Achieve Secure Cloud Computing:</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Turn on two-factor authentication (2FA). </a:t>
            </a:r>
          </a:p>
          <a:p>
            <a:pPr algn="just">
              <a:lnSpc>
                <a:spcPct val="150000"/>
              </a:lnSpc>
              <a:buFont typeface="Wingdings" panose="05000000000000000000" pitchFamily="2" charset="2"/>
              <a:buChar char="q"/>
            </a:pPr>
            <a:r>
              <a:rPr lang="en-AU" dirty="0"/>
              <a:t>Here's how 2FA works.  </a:t>
            </a:r>
          </a:p>
        </p:txBody>
      </p:sp>
      <p:pic>
        <p:nvPicPr>
          <p:cNvPr id="4" name="Picture 3">
            <a:extLst>
              <a:ext uri="{FF2B5EF4-FFF2-40B4-BE49-F238E27FC236}">
                <a16:creationId xmlns:a16="http://schemas.microsoft.com/office/drawing/2014/main" id="{820D2BDD-D768-4B26-980C-B08C894BB8C9}"/>
              </a:ext>
            </a:extLst>
          </p:cNvPr>
          <p:cNvPicPr>
            <a:picLocks noChangeAspect="1"/>
          </p:cNvPicPr>
          <p:nvPr/>
        </p:nvPicPr>
        <p:blipFill>
          <a:blip r:embed="rId2"/>
          <a:stretch>
            <a:fillRect/>
          </a:stretch>
        </p:blipFill>
        <p:spPr>
          <a:xfrm>
            <a:off x="1209454" y="3157871"/>
            <a:ext cx="9220200" cy="2902688"/>
          </a:xfrm>
          <a:prstGeom prst="rect">
            <a:avLst/>
          </a:prstGeom>
        </p:spPr>
      </p:pic>
    </p:spTree>
    <p:extLst>
      <p:ext uri="{BB962C8B-B14F-4D97-AF65-F5344CB8AC3E}">
        <p14:creationId xmlns:p14="http://schemas.microsoft.com/office/powerpoint/2010/main" val="2230579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Hack 2: The Big Phish: You’ve Been Speared</a:t>
            </a:r>
          </a:p>
        </p:txBody>
      </p:sp>
      <p:pic>
        <p:nvPicPr>
          <p:cNvPr id="1026" name="Picture 2" descr="Stop Spearphishing Attacks - OnDefend - Cyber Security Realized">
            <a:extLst>
              <a:ext uri="{FF2B5EF4-FFF2-40B4-BE49-F238E27FC236}">
                <a16:creationId xmlns:a16="http://schemas.microsoft.com/office/drawing/2014/main" id="{B7EF102C-D9BB-45BA-83CB-0B4E5CEAD3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86270" y="2066970"/>
            <a:ext cx="8388018" cy="315361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0169FCD-1F13-480C-8B74-2E2D6EAD2572}"/>
              </a:ext>
            </a:extLst>
          </p:cNvPr>
          <p:cNvSpPr/>
          <p:nvPr/>
        </p:nvSpPr>
        <p:spPr>
          <a:xfrm>
            <a:off x="8669072" y="5987258"/>
            <a:ext cx="3010432" cy="215444"/>
          </a:xfrm>
          <a:prstGeom prst="rect">
            <a:avLst/>
          </a:prstGeom>
        </p:spPr>
        <p:txBody>
          <a:bodyPr wrap="square">
            <a:spAutoFit/>
          </a:bodyPr>
          <a:lstStyle/>
          <a:p>
            <a:r>
              <a:rPr lang="en-AU" sz="800" dirty="0"/>
              <a:t>https://ondefend.com/2020/05/06/stop-spearphishing-attacks/</a:t>
            </a:r>
          </a:p>
        </p:txBody>
      </p:sp>
    </p:spTree>
    <p:extLst>
      <p:ext uri="{BB962C8B-B14F-4D97-AF65-F5344CB8AC3E}">
        <p14:creationId xmlns:p14="http://schemas.microsoft.com/office/powerpoint/2010/main" val="1807090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The Fix to Achieve Secure Cloud Computing:</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Having root access is like having the keys to the kingdom. </a:t>
            </a:r>
          </a:p>
          <a:p>
            <a:pPr algn="just">
              <a:lnSpc>
                <a:spcPct val="150000"/>
              </a:lnSpc>
              <a:buFont typeface="Wingdings" panose="05000000000000000000" pitchFamily="2" charset="2"/>
              <a:buChar char="q"/>
            </a:pPr>
            <a:r>
              <a:rPr lang="en-AU" dirty="0"/>
              <a:t>Instead, you should create separate accounts with the proper privileges. </a:t>
            </a:r>
          </a:p>
          <a:p>
            <a:pPr algn="just">
              <a:lnSpc>
                <a:spcPct val="150000"/>
              </a:lnSpc>
              <a:buFont typeface="Wingdings" panose="05000000000000000000" pitchFamily="2" charset="2"/>
              <a:buChar char="q"/>
            </a:pPr>
            <a:r>
              <a:rPr lang="en-AU" dirty="0"/>
              <a:t>Change the root password to something long and complicated.</a:t>
            </a:r>
          </a:p>
          <a:p>
            <a:pPr marL="0" indent="0" algn="just">
              <a:lnSpc>
                <a:spcPct val="150000"/>
              </a:lnSpc>
              <a:buNone/>
            </a:pPr>
            <a:r>
              <a:rPr lang="en-AU" b="1" i="1" dirty="0"/>
              <a:t>Root Access is an administrator level log-on for Dedicated Servers, Cloud Servers, VPS Hosting. </a:t>
            </a:r>
          </a:p>
        </p:txBody>
      </p:sp>
    </p:spTree>
    <p:extLst>
      <p:ext uri="{BB962C8B-B14F-4D97-AF65-F5344CB8AC3E}">
        <p14:creationId xmlns:p14="http://schemas.microsoft.com/office/powerpoint/2010/main" val="996129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normAutofit fontScale="90000"/>
          </a:bodyPr>
          <a:lstStyle/>
          <a:p>
            <a:r>
              <a:rPr lang="en-AU" dirty="0"/>
              <a:t>Hack 3: Passwords, Passwords, Everywhere Does Not Help Secure Cloud Computing</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sz="2400" dirty="0"/>
              <a:t>Tons of people use the same password across multiple sites. Research has shown that around 55% of adults use the same password across multiple sites.  Yikes!</a:t>
            </a:r>
          </a:p>
        </p:txBody>
      </p:sp>
    </p:spTree>
    <p:extLst>
      <p:ext uri="{BB962C8B-B14F-4D97-AF65-F5344CB8AC3E}">
        <p14:creationId xmlns:p14="http://schemas.microsoft.com/office/powerpoint/2010/main" val="37943722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The Fix to Achieve Secure Cloud Computing:</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sz="2400" dirty="0"/>
              <a:t>This one's easy.  Use a UNIQUE password for your AWS account.  Better yet, use a password manager so you can get strong, unique passwords that are easy to remember.</a:t>
            </a:r>
          </a:p>
        </p:txBody>
      </p:sp>
    </p:spTree>
    <p:extLst>
      <p:ext uri="{BB962C8B-B14F-4D97-AF65-F5344CB8AC3E}">
        <p14:creationId xmlns:p14="http://schemas.microsoft.com/office/powerpoint/2010/main" val="21787873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Hack 4: The Keys to the Kingdom</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AWS uses access keys to allow technical users to control cloud servers. These are strings of data that let users get to their machines without a username or password.</a:t>
            </a:r>
          </a:p>
          <a:p>
            <a:pPr algn="just">
              <a:lnSpc>
                <a:spcPct val="150000"/>
              </a:lnSpc>
              <a:buFont typeface="Wingdings" panose="05000000000000000000" pitchFamily="2" charset="2"/>
              <a:buChar char="q"/>
            </a:pPr>
            <a:r>
              <a:rPr lang="en-AU" dirty="0"/>
              <a:t>These are literally the keys to your AWS kingdom.  </a:t>
            </a:r>
          </a:p>
        </p:txBody>
      </p:sp>
      <p:pic>
        <p:nvPicPr>
          <p:cNvPr id="5" name="Picture 4">
            <a:extLst>
              <a:ext uri="{FF2B5EF4-FFF2-40B4-BE49-F238E27FC236}">
                <a16:creationId xmlns:a16="http://schemas.microsoft.com/office/drawing/2014/main" id="{F257B449-4CC8-4879-A973-315DBDE34DE2}"/>
              </a:ext>
            </a:extLst>
          </p:cNvPr>
          <p:cNvPicPr>
            <a:picLocks noChangeAspect="1"/>
          </p:cNvPicPr>
          <p:nvPr/>
        </p:nvPicPr>
        <p:blipFill>
          <a:blip r:embed="rId2"/>
          <a:stretch>
            <a:fillRect/>
          </a:stretch>
        </p:blipFill>
        <p:spPr>
          <a:xfrm>
            <a:off x="1236588" y="3955312"/>
            <a:ext cx="9229725" cy="2022156"/>
          </a:xfrm>
          <a:prstGeom prst="rect">
            <a:avLst/>
          </a:prstGeom>
        </p:spPr>
      </p:pic>
    </p:spTree>
    <p:extLst>
      <p:ext uri="{BB962C8B-B14F-4D97-AF65-F5344CB8AC3E}">
        <p14:creationId xmlns:p14="http://schemas.microsoft.com/office/powerpoint/2010/main" val="17620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The Fix to Achieve Secure Cloud Computing:</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a:xfrm>
            <a:off x="499729" y="1845734"/>
            <a:ext cx="6400801" cy="4321150"/>
          </a:xfrm>
        </p:spPr>
        <p:txBody>
          <a:bodyPr>
            <a:normAutofit/>
          </a:bodyPr>
          <a:lstStyle/>
          <a:p>
            <a:pPr algn="just">
              <a:lnSpc>
                <a:spcPct val="150000"/>
              </a:lnSpc>
              <a:buFont typeface="Wingdings" panose="05000000000000000000" pitchFamily="2" charset="2"/>
              <a:buChar char="q"/>
            </a:pPr>
            <a:r>
              <a:rPr lang="en-AU" dirty="0"/>
              <a:t>First, train your people on proper handling of keys. </a:t>
            </a:r>
          </a:p>
          <a:p>
            <a:pPr algn="just">
              <a:lnSpc>
                <a:spcPct val="150000"/>
              </a:lnSpc>
              <a:buFont typeface="Wingdings" panose="05000000000000000000" pitchFamily="2" charset="2"/>
              <a:buChar char="q"/>
            </a:pPr>
            <a:r>
              <a:rPr lang="en-AU" dirty="0"/>
              <a:t>Second, set up monitoring and alerts.  Amazon offers a monitoring service called CloudWatch.  </a:t>
            </a:r>
          </a:p>
          <a:p>
            <a:pPr algn="just">
              <a:lnSpc>
                <a:spcPct val="150000"/>
              </a:lnSpc>
              <a:buFont typeface="Wingdings" panose="05000000000000000000" pitchFamily="2" charset="2"/>
              <a:buChar char="q"/>
            </a:pPr>
            <a:r>
              <a:rPr lang="en-AU" dirty="0"/>
              <a:t>Third, set up specific AWS billing alerts. </a:t>
            </a:r>
          </a:p>
          <a:p>
            <a:pPr marL="0" indent="0" algn="just">
              <a:lnSpc>
                <a:spcPct val="150000"/>
              </a:lnSpc>
              <a:buNone/>
            </a:pPr>
            <a:endParaRPr lang="en-AU" dirty="0"/>
          </a:p>
        </p:txBody>
      </p:sp>
      <p:pic>
        <p:nvPicPr>
          <p:cNvPr id="4" name="Picture 3">
            <a:extLst>
              <a:ext uri="{FF2B5EF4-FFF2-40B4-BE49-F238E27FC236}">
                <a16:creationId xmlns:a16="http://schemas.microsoft.com/office/drawing/2014/main" id="{4DEC4B95-C827-4F77-83A9-1B886489431B}"/>
              </a:ext>
            </a:extLst>
          </p:cNvPr>
          <p:cNvPicPr>
            <a:picLocks noChangeAspect="1"/>
          </p:cNvPicPr>
          <p:nvPr/>
        </p:nvPicPr>
        <p:blipFill>
          <a:blip r:embed="rId3"/>
          <a:stretch>
            <a:fillRect/>
          </a:stretch>
        </p:blipFill>
        <p:spPr>
          <a:xfrm>
            <a:off x="7176976" y="1845733"/>
            <a:ext cx="4678325" cy="4321149"/>
          </a:xfrm>
          <a:prstGeom prst="rect">
            <a:avLst/>
          </a:prstGeom>
        </p:spPr>
      </p:pic>
    </p:spTree>
    <p:extLst>
      <p:ext uri="{BB962C8B-B14F-4D97-AF65-F5344CB8AC3E}">
        <p14:creationId xmlns:p14="http://schemas.microsoft.com/office/powerpoint/2010/main" val="1817733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Hack 5: Oops, GitHub Exposure</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Developers accidentally upload their AWS access keys to sites like GitHub.  </a:t>
            </a:r>
          </a:p>
          <a:p>
            <a:pPr algn="just">
              <a:lnSpc>
                <a:spcPct val="150000"/>
              </a:lnSpc>
              <a:buFont typeface="Wingdings" panose="05000000000000000000" pitchFamily="2" charset="2"/>
              <a:buChar char="q"/>
            </a:pPr>
            <a:r>
              <a:rPr lang="en-AU" dirty="0"/>
              <a:t>This exact scenario happened to Andrew Hoffman. Andrew had published some code to </a:t>
            </a:r>
            <a:r>
              <a:rPr lang="en-AU" dirty="0" err="1"/>
              <a:t>GitHib</a:t>
            </a:r>
            <a:r>
              <a:rPr lang="en-AU" dirty="0"/>
              <a:t> for securing Ruby apps. He also published his AWS access keys at the same time. In his case, the cybercriminals had added 140 new servers to his account and used them to mine </a:t>
            </a:r>
            <a:r>
              <a:rPr lang="en-AU" dirty="0" err="1"/>
              <a:t>litecoins</a:t>
            </a:r>
            <a:r>
              <a:rPr lang="en-AU" dirty="0"/>
              <a:t>.</a:t>
            </a:r>
          </a:p>
        </p:txBody>
      </p:sp>
    </p:spTree>
    <p:extLst>
      <p:ext uri="{BB962C8B-B14F-4D97-AF65-F5344CB8AC3E}">
        <p14:creationId xmlns:p14="http://schemas.microsoft.com/office/powerpoint/2010/main" val="253189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The Fix to Achieve Secure Cloud Computing:</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Consider using temporary access keys in their best practice for access keys guide. </a:t>
            </a:r>
          </a:p>
          <a:p>
            <a:pPr algn="just">
              <a:lnSpc>
                <a:spcPct val="150000"/>
              </a:lnSpc>
              <a:buFont typeface="Wingdings" panose="05000000000000000000" pitchFamily="2" charset="2"/>
              <a:buChar char="q"/>
            </a:pPr>
            <a:r>
              <a:rPr lang="en-AU" dirty="0"/>
              <a:t>Also, have some strict policies and monitoring around sites</a:t>
            </a:r>
          </a:p>
        </p:txBody>
      </p:sp>
    </p:spTree>
    <p:extLst>
      <p:ext uri="{BB962C8B-B14F-4D97-AF65-F5344CB8AC3E}">
        <p14:creationId xmlns:p14="http://schemas.microsoft.com/office/powerpoint/2010/main" val="1707067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Hack 6: Where’s Waldo?</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sz="2400" dirty="0"/>
              <a:t>The OWASP  (Open Web Application Security Project) top ten guidance</a:t>
            </a:r>
          </a:p>
          <a:p>
            <a:pPr algn="just">
              <a:lnSpc>
                <a:spcPct val="150000"/>
              </a:lnSpc>
              <a:buFont typeface="Wingdings" panose="05000000000000000000" pitchFamily="2" charset="2"/>
              <a:buChar char="q"/>
            </a:pPr>
            <a:endParaRPr lang="en-AU" sz="2400" dirty="0"/>
          </a:p>
          <a:p>
            <a:pPr algn="just">
              <a:lnSpc>
                <a:spcPct val="150000"/>
              </a:lnSpc>
              <a:buFont typeface="Wingdings" panose="05000000000000000000" pitchFamily="2" charset="2"/>
              <a:buChar char="q"/>
            </a:pPr>
            <a:r>
              <a:rPr lang="en-AU" sz="2400" dirty="0"/>
              <a:t>Waldo: a remote-controlled device for handling or manipulating objects.</a:t>
            </a:r>
          </a:p>
        </p:txBody>
      </p:sp>
    </p:spTree>
    <p:extLst>
      <p:ext uri="{BB962C8B-B14F-4D97-AF65-F5344CB8AC3E}">
        <p14:creationId xmlns:p14="http://schemas.microsoft.com/office/powerpoint/2010/main" val="2927934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The Fix to Achieve Secure Cloud Computing:</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sz="2400" dirty="0"/>
              <a:t>AWS gives you a strong control to fight web application attacks</a:t>
            </a:r>
          </a:p>
          <a:p>
            <a:pPr algn="just">
              <a:lnSpc>
                <a:spcPct val="150000"/>
              </a:lnSpc>
              <a:buFont typeface="Wingdings" panose="05000000000000000000" pitchFamily="2" charset="2"/>
              <a:buChar char="q"/>
            </a:pPr>
            <a:r>
              <a:rPr lang="en-AU" sz="2400" dirty="0"/>
              <a:t>"Security Groups."  </a:t>
            </a:r>
          </a:p>
          <a:p>
            <a:pPr algn="just">
              <a:lnSpc>
                <a:spcPct val="150000"/>
              </a:lnSpc>
              <a:buFont typeface="Wingdings" panose="05000000000000000000" pitchFamily="2" charset="2"/>
              <a:buChar char="q"/>
            </a:pPr>
            <a:r>
              <a:rPr lang="en-AU" sz="2400" dirty="0"/>
              <a:t>Web Application Firewall</a:t>
            </a:r>
          </a:p>
        </p:txBody>
      </p:sp>
    </p:spTree>
    <p:extLst>
      <p:ext uri="{BB962C8B-B14F-4D97-AF65-F5344CB8AC3E}">
        <p14:creationId xmlns:p14="http://schemas.microsoft.com/office/powerpoint/2010/main" val="3161731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Hack 7: Advanced Attack?  Nuke from Orbit</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a:t>
            </a:r>
            <a:r>
              <a:rPr lang="en-AU" sz="2800" dirty="0"/>
              <a:t>Advanced Persistent Threat."</a:t>
            </a:r>
          </a:p>
          <a:p>
            <a:pPr marL="0" indent="0" algn="just">
              <a:lnSpc>
                <a:spcPct val="150000"/>
              </a:lnSpc>
              <a:buNone/>
            </a:pPr>
            <a:endParaRPr lang="en-AU" dirty="0"/>
          </a:p>
        </p:txBody>
      </p:sp>
    </p:spTree>
    <p:extLst>
      <p:ext uri="{BB962C8B-B14F-4D97-AF65-F5344CB8AC3E}">
        <p14:creationId xmlns:p14="http://schemas.microsoft.com/office/powerpoint/2010/main" val="1691572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C3DC5-E1F0-450E-8A99-ECAA764DCA52}"/>
              </a:ext>
            </a:extLst>
          </p:cNvPr>
          <p:cNvSpPr>
            <a:spLocks noGrp="1"/>
          </p:cNvSpPr>
          <p:nvPr>
            <p:ph type="title"/>
          </p:nvPr>
        </p:nvSpPr>
        <p:spPr/>
        <p:txBody>
          <a:bodyPr/>
          <a:lstStyle/>
          <a:p>
            <a:r>
              <a:rPr lang="en-AU" dirty="0"/>
              <a:t>The Best </a:t>
            </a:r>
            <a:r>
              <a:rPr lang="en-AU" dirty="0" err="1"/>
              <a:t>Defense</a:t>
            </a:r>
            <a:r>
              <a:rPr lang="en-AU" dirty="0"/>
              <a:t> is a Good Offense</a:t>
            </a:r>
          </a:p>
        </p:txBody>
      </p:sp>
      <p:sp>
        <p:nvSpPr>
          <p:cNvPr id="3" name="Content Placeholder 2">
            <a:extLst>
              <a:ext uri="{FF2B5EF4-FFF2-40B4-BE49-F238E27FC236}">
                <a16:creationId xmlns:a16="http://schemas.microsoft.com/office/drawing/2014/main" id="{2ADF99F6-D6E2-4F3A-8103-7B61E0187CAA}"/>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Create a solid, robust backup strategy: Revert back to known good servers and data.</a:t>
            </a:r>
          </a:p>
          <a:p>
            <a:pPr algn="just">
              <a:lnSpc>
                <a:spcPct val="150000"/>
              </a:lnSpc>
              <a:buFont typeface="Wingdings" panose="05000000000000000000" pitchFamily="2" charset="2"/>
              <a:buChar char="q"/>
            </a:pPr>
            <a:r>
              <a:rPr lang="en-AU" dirty="0"/>
              <a:t>Create multiple backups. </a:t>
            </a:r>
          </a:p>
          <a:p>
            <a:pPr algn="just">
              <a:lnSpc>
                <a:spcPct val="150000"/>
              </a:lnSpc>
              <a:buFont typeface="Wingdings" panose="05000000000000000000" pitchFamily="2" charset="2"/>
              <a:buChar char="q"/>
            </a:pPr>
            <a:r>
              <a:rPr lang="en-AU" dirty="0"/>
              <a:t>Different tiers of storage all work together to create a robust backup strategy.  Services at AWS like EBS, S3, and Glacier balance speed and cost.</a:t>
            </a:r>
          </a:p>
        </p:txBody>
      </p:sp>
    </p:spTree>
    <p:extLst>
      <p:ext uri="{BB962C8B-B14F-4D97-AF65-F5344CB8AC3E}">
        <p14:creationId xmlns:p14="http://schemas.microsoft.com/office/powerpoint/2010/main" val="31712427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399</TotalTime>
  <Words>1607</Words>
  <Application>Microsoft Office PowerPoint</Application>
  <PresentationFormat>Widescreen</PresentationFormat>
  <Paragraphs>153</Paragraphs>
  <Slides>39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Calibri Light</vt:lpstr>
      <vt:lpstr>Merriweather</vt:lpstr>
      <vt:lpstr>Wingdings</vt:lpstr>
      <vt:lpstr>Retrospect</vt:lpstr>
      <vt:lpstr>Notes</vt:lpstr>
      <vt:lpstr>Introduction</vt:lpstr>
      <vt:lpstr>Introduction</vt:lpstr>
      <vt:lpstr>Drawbacks to using Cloud</vt:lpstr>
      <vt:lpstr>Security breach throughout the years</vt:lpstr>
      <vt:lpstr>PowerPoint Presentation</vt:lpstr>
      <vt:lpstr>Benefits to using Cloud</vt:lpstr>
      <vt:lpstr>Service Models</vt:lpstr>
      <vt:lpstr>Deployment Models</vt:lpstr>
      <vt:lpstr>Deployment Models</vt:lpstr>
      <vt:lpstr>Deployment Models</vt:lpstr>
      <vt:lpstr>Specific Security Concerns</vt:lpstr>
      <vt:lpstr>Saas Security Concerns</vt:lpstr>
      <vt:lpstr>PaaS &amp; IaaS Security Concerns</vt:lpstr>
      <vt:lpstr>General Security Concerns</vt:lpstr>
      <vt:lpstr>General Security Concerns</vt:lpstr>
      <vt:lpstr>Cloud Security Alliance (CSA).</vt:lpstr>
      <vt:lpstr>Cloud Security Techniques</vt:lpstr>
      <vt:lpstr>Cloud Security Techniques</vt:lpstr>
      <vt:lpstr>Cloud Security Best Practices</vt:lpstr>
      <vt:lpstr> Shared responsibility model </vt:lpstr>
      <vt:lpstr> Shared responsibility model </vt:lpstr>
      <vt:lpstr>Responsibilities Defined</vt:lpstr>
      <vt:lpstr>Responsibilities Defined</vt:lpstr>
      <vt:lpstr>Common Cloud likely attacks.</vt:lpstr>
      <vt:lpstr>Hack 1: The Little Phish: The Password is Catch of the Day</vt:lpstr>
      <vt:lpstr>The Fix to Achieve Secure Cloud Computing:</vt:lpstr>
      <vt:lpstr>Hack 2: The Big Phish: You’ve Been Speared</vt:lpstr>
      <vt:lpstr>The Fix to Achieve Secure Cloud Computing:</vt:lpstr>
      <vt:lpstr>Hack 3: Passwords, Passwords, Everywhere Does Not Help Secure Cloud Computing</vt:lpstr>
      <vt:lpstr>The Fix to Achieve Secure Cloud Computing:</vt:lpstr>
      <vt:lpstr>Hack 4: The Keys to the Kingdom</vt:lpstr>
      <vt:lpstr>The Fix to Achieve Secure Cloud Computing:</vt:lpstr>
      <vt:lpstr>Hack 5: Oops, GitHub Exposure</vt:lpstr>
      <vt:lpstr>The Fix to Achieve Secure Cloud Computing:</vt:lpstr>
      <vt:lpstr>Hack 6: Where’s Waldo?</vt:lpstr>
      <vt:lpstr>The Fix to Achieve Secure Cloud Computing:</vt:lpstr>
      <vt:lpstr>Hack 7: Advanced Attack?  Nuke from Orbit</vt:lpstr>
      <vt:lpstr>The Best Defense is a Good Offense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Notes</dc:title>
  <dc:creator>Supriya Supriya</dc:creator>
  <cp:lastModifiedBy>Supriya Supriya</cp:lastModifiedBy>
  <cp:revision>97</cp:revision>
  <dcterms:created xsi:type="dcterms:W3CDTF">2022-04-21T22:05:43Z</dcterms:created>
  <dcterms:modified xsi:type="dcterms:W3CDTF">2022-08-05T01:17:47Z</dcterms:modified>
</cp:coreProperties>
</file>