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72" r:id="rId5"/>
    <p:sldId id="265" r:id="rId6"/>
    <p:sldId id="266" r:id="rId7"/>
    <p:sldId id="267" r:id="rId8"/>
    <p:sldId id="268" r:id="rId9"/>
    <p:sldId id="269" r:id="rId10"/>
    <p:sldId id="275" r:id="rId11"/>
    <p:sldId id="276" r:id="rId12"/>
    <p:sldId id="277" r:id="rId13"/>
    <p:sldId id="278" r:id="rId14"/>
    <p:sldId id="279" r:id="rId15"/>
    <p:sldId id="280" r:id="rId16"/>
    <p:sldId id="28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81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A7661AD-ADEC-4D72-8ACA-95D1155D3C41}" type="datetimeFigureOut">
              <a:rPr lang="en-AU" smtClean="0"/>
              <a:t>12/08/2022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F2FC83B-23C8-43D7-B6D5-F54D8ADF3053}"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202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7661AD-ADEC-4D72-8ACA-95D1155D3C41}" type="datetimeFigureOut">
              <a:rPr lang="en-AU" smtClean="0"/>
              <a:t>12/08/2022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F2FC83B-23C8-43D7-B6D5-F54D8ADF3053}" type="slidenum">
              <a:rPr lang="en-AU" smtClean="0"/>
              <a:t>‹#›</a:t>
            </a:fld>
            <a:endParaRPr lang="en-AU"/>
          </a:p>
        </p:txBody>
      </p:sp>
    </p:spTree>
    <p:extLst>
      <p:ext uri="{BB962C8B-B14F-4D97-AF65-F5344CB8AC3E}">
        <p14:creationId xmlns:p14="http://schemas.microsoft.com/office/powerpoint/2010/main" val="2360743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A7661AD-ADEC-4D72-8ACA-95D1155D3C41}" type="datetimeFigureOut">
              <a:rPr lang="en-AU" smtClean="0"/>
              <a:t>12/08/2022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F2FC83B-23C8-43D7-B6D5-F54D8ADF3053}"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5352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A7661AD-ADEC-4D72-8ACA-95D1155D3C41}" type="datetimeFigureOut">
              <a:rPr lang="en-AU" smtClean="0"/>
              <a:t>12/08/2022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F2FC83B-23C8-43D7-B6D5-F54D8ADF3053}" type="slidenum">
              <a:rPr lang="en-AU" smtClean="0"/>
              <a:t>‹#›</a:t>
            </a:fld>
            <a:endParaRPr lang="en-AU"/>
          </a:p>
        </p:txBody>
      </p:sp>
    </p:spTree>
    <p:extLst>
      <p:ext uri="{BB962C8B-B14F-4D97-AF65-F5344CB8AC3E}">
        <p14:creationId xmlns:p14="http://schemas.microsoft.com/office/powerpoint/2010/main" val="22205674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7661AD-ADEC-4D72-8ACA-95D1155D3C41}" type="datetimeFigureOut">
              <a:rPr lang="en-AU" smtClean="0"/>
              <a:t>12/08/2022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CF2FC83B-23C8-43D7-B6D5-F54D8ADF3053}" type="slidenum">
              <a:rPr lang="en-AU" smtClean="0"/>
              <a:t>‹#›</a:t>
            </a:fld>
            <a:endParaRPr lang="en-AU"/>
          </a:p>
        </p:txBody>
      </p:sp>
    </p:spTree>
    <p:extLst>
      <p:ext uri="{BB962C8B-B14F-4D97-AF65-F5344CB8AC3E}">
        <p14:creationId xmlns:p14="http://schemas.microsoft.com/office/powerpoint/2010/main" val="743304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A7661AD-ADEC-4D72-8ACA-95D1155D3C41}" type="datetimeFigureOut">
              <a:rPr lang="en-AU" smtClean="0"/>
              <a:t>12/08/2022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CF2FC83B-23C8-43D7-B6D5-F54D8ADF3053}" type="slidenum">
              <a:rPr lang="en-AU" smtClean="0"/>
              <a:t>‹#›</a:t>
            </a:fld>
            <a:endParaRPr lang="en-AU"/>
          </a:p>
        </p:txBody>
      </p:sp>
    </p:spTree>
    <p:extLst>
      <p:ext uri="{BB962C8B-B14F-4D97-AF65-F5344CB8AC3E}">
        <p14:creationId xmlns:p14="http://schemas.microsoft.com/office/powerpoint/2010/main" val="2004297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A7661AD-ADEC-4D72-8ACA-95D1155D3C41}" type="datetimeFigureOut">
              <a:rPr lang="en-AU" smtClean="0"/>
              <a:t>12/08/2022</a:t>
            </a:fld>
            <a:endParaRPr lang="en-AU"/>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AU"/>
          </a:p>
        </p:txBody>
      </p:sp>
      <p:sp>
        <p:nvSpPr>
          <p:cNvPr id="9" name="Slide Number Placeholder 8"/>
          <p:cNvSpPr>
            <a:spLocks noGrp="1"/>
          </p:cNvSpPr>
          <p:nvPr>
            <p:ph type="sldNum" sz="quarter" idx="12"/>
          </p:nvPr>
        </p:nvSpPr>
        <p:spPr/>
        <p:txBody>
          <a:bodyPr/>
          <a:lstStyle/>
          <a:p>
            <a:fld id="{CF2FC83B-23C8-43D7-B6D5-F54D8ADF3053}" type="slidenum">
              <a:rPr lang="en-AU" smtClean="0"/>
              <a:t>‹#›</a:t>
            </a:fld>
            <a:endParaRPr lang="en-AU"/>
          </a:p>
        </p:txBody>
      </p:sp>
    </p:spTree>
    <p:extLst>
      <p:ext uri="{BB962C8B-B14F-4D97-AF65-F5344CB8AC3E}">
        <p14:creationId xmlns:p14="http://schemas.microsoft.com/office/powerpoint/2010/main" val="550740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A7661AD-ADEC-4D72-8ACA-95D1155D3C41}" type="datetimeFigureOut">
              <a:rPr lang="en-AU" smtClean="0"/>
              <a:t>12/08/2022</a:t>
            </a:fld>
            <a:endParaRPr lang="en-AU"/>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AU"/>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F2FC83B-23C8-43D7-B6D5-F54D8ADF3053}" type="slidenum">
              <a:rPr lang="en-AU" smtClean="0"/>
              <a:t>‹#›</a:t>
            </a:fld>
            <a:endParaRPr lang="en-AU"/>
          </a:p>
        </p:txBody>
      </p:sp>
    </p:spTree>
    <p:extLst>
      <p:ext uri="{BB962C8B-B14F-4D97-AF65-F5344CB8AC3E}">
        <p14:creationId xmlns:p14="http://schemas.microsoft.com/office/powerpoint/2010/main" val="796543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A7661AD-ADEC-4D72-8ACA-95D1155D3C41}" type="datetimeFigureOut">
              <a:rPr lang="en-AU" smtClean="0"/>
              <a:t>12/08/2022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F2FC83B-23C8-43D7-B6D5-F54D8ADF3053}" type="slidenum">
              <a:rPr lang="en-AU" smtClean="0"/>
              <a:t>‹#›</a:t>
            </a:fld>
            <a:endParaRPr lang="en-AU"/>
          </a:p>
        </p:txBody>
      </p:sp>
    </p:spTree>
    <p:extLst>
      <p:ext uri="{BB962C8B-B14F-4D97-AF65-F5344CB8AC3E}">
        <p14:creationId xmlns:p14="http://schemas.microsoft.com/office/powerpoint/2010/main" val="5225195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7661AD-ADEC-4D72-8ACA-95D1155D3C41}" type="datetimeFigureOut">
              <a:rPr lang="en-AU" smtClean="0"/>
              <a:t>12/08/2022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F2FC83B-23C8-43D7-B6D5-F54D8ADF3053}" type="slidenum">
              <a:rPr lang="en-AU" smtClean="0"/>
              <a:t>‹#›</a:t>
            </a:fld>
            <a:endParaRPr lang="en-AU"/>
          </a:p>
        </p:txBody>
      </p:sp>
    </p:spTree>
    <p:extLst>
      <p:ext uri="{BB962C8B-B14F-4D97-AF65-F5344CB8AC3E}">
        <p14:creationId xmlns:p14="http://schemas.microsoft.com/office/powerpoint/2010/main" val="3701681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7661AD-ADEC-4D72-8ACA-95D1155D3C41}" type="datetimeFigureOut">
              <a:rPr lang="en-AU" smtClean="0"/>
              <a:t>12/08/2022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F2FC83B-23C8-43D7-B6D5-F54D8ADF3053}" type="slidenum">
              <a:rPr lang="en-AU" smtClean="0"/>
              <a:t>‹#›</a:t>
            </a:fld>
            <a:endParaRPr lang="en-AU"/>
          </a:p>
        </p:txBody>
      </p:sp>
    </p:spTree>
    <p:extLst>
      <p:ext uri="{BB962C8B-B14F-4D97-AF65-F5344CB8AC3E}">
        <p14:creationId xmlns:p14="http://schemas.microsoft.com/office/powerpoint/2010/main" val="1658563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A7661AD-ADEC-4D72-8ACA-95D1155D3C41}" type="datetimeFigureOut">
              <a:rPr lang="en-AU" smtClean="0"/>
              <a:t>12/08/2022</a:t>
            </a:fld>
            <a:endParaRPr lang="en-AU"/>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AU"/>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F2FC83B-23C8-43D7-B6D5-F54D8ADF3053}" type="slidenum">
              <a:rPr lang="en-AU" smtClean="0"/>
              <a:t>‹#›</a:t>
            </a:fld>
            <a:endParaRPr lang="en-AU"/>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26391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46719-4630-44D1-ABAE-ECF95485385B}"/>
              </a:ext>
            </a:extLst>
          </p:cNvPr>
          <p:cNvSpPr>
            <a:spLocks noGrp="1"/>
          </p:cNvSpPr>
          <p:nvPr>
            <p:ph type="ctrTitle"/>
          </p:nvPr>
        </p:nvSpPr>
        <p:spPr/>
        <p:txBody>
          <a:bodyPr/>
          <a:lstStyle/>
          <a:p>
            <a:r>
              <a:rPr lang="en-US" dirty="0"/>
              <a:t>Notes</a:t>
            </a:r>
            <a:endParaRPr lang="en-AU" dirty="0"/>
          </a:p>
        </p:txBody>
      </p:sp>
    </p:spTree>
    <p:extLst>
      <p:ext uri="{BB962C8B-B14F-4D97-AF65-F5344CB8AC3E}">
        <p14:creationId xmlns:p14="http://schemas.microsoft.com/office/powerpoint/2010/main" val="2796683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9CC3D-F493-4626-B324-1B1B2FA137B1}"/>
              </a:ext>
            </a:extLst>
          </p:cNvPr>
          <p:cNvSpPr>
            <a:spLocks noGrp="1"/>
          </p:cNvSpPr>
          <p:nvPr>
            <p:ph type="title"/>
          </p:nvPr>
        </p:nvSpPr>
        <p:spPr/>
        <p:txBody>
          <a:bodyPr>
            <a:normAutofit fontScale="90000"/>
          </a:bodyPr>
          <a:lstStyle/>
          <a:p>
            <a:r>
              <a:rPr lang="en-AU" dirty="0"/>
              <a:t>After a year of GDPR, Australian companies are still feeling their way towards compliance</a:t>
            </a:r>
          </a:p>
        </p:txBody>
      </p:sp>
      <p:sp>
        <p:nvSpPr>
          <p:cNvPr id="3" name="Content Placeholder 2">
            <a:extLst>
              <a:ext uri="{FF2B5EF4-FFF2-40B4-BE49-F238E27FC236}">
                <a16:creationId xmlns:a16="http://schemas.microsoft.com/office/drawing/2014/main" id="{2ED6E9CE-73BB-4560-90A5-BF5ABFF2F6F3}"/>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General data protection regulation (GDPR) policies kicked into effect in late May 2018, imposing tight controls on the movement, storage and protection of EU (European Union) citizens’ personally identifiable information (PII).</a:t>
            </a:r>
          </a:p>
          <a:p>
            <a:pPr algn="just">
              <a:lnSpc>
                <a:spcPct val="150000"/>
              </a:lnSpc>
              <a:buFont typeface="Wingdings" panose="05000000000000000000" pitchFamily="2" charset="2"/>
              <a:buChar char="q"/>
            </a:pPr>
            <a:r>
              <a:rPr lang="en-AU" dirty="0"/>
              <a:t>Personally identifiable information (PII) uses data to confirm an individual's identity. </a:t>
            </a:r>
          </a:p>
        </p:txBody>
      </p:sp>
    </p:spTree>
    <p:extLst>
      <p:ext uri="{BB962C8B-B14F-4D97-AF65-F5344CB8AC3E}">
        <p14:creationId xmlns:p14="http://schemas.microsoft.com/office/powerpoint/2010/main" val="9308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9CC3D-F493-4626-B324-1B1B2FA137B1}"/>
              </a:ext>
            </a:extLst>
          </p:cNvPr>
          <p:cNvSpPr>
            <a:spLocks noGrp="1"/>
          </p:cNvSpPr>
          <p:nvPr>
            <p:ph type="title"/>
          </p:nvPr>
        </p:nvSpPr>
        <p:spPr/>
        <p:txBody>
          <a:bodyPr/>
          <a:lstStyle/>
          <a:p>
            <a:r>
              <a:rPr lang="en-AU" dirty="0"/>
              <a:t>How to draw up a comprehensive</a:t>
            </a:r>
            <a:br>
              <a:rPr lang="en-AU" dirty="0"/>
            </a:br>
            <a:r>
              <a:rPr lang="en-AU" dirty="0"/>
              <a:t>cloud security policy</a:t>
            </a:r>
          </a:p>
        </p:txBody>
      </p:sp>
      <p:sp>
        <p:nvSpPr>
          <p:cNvPr id="3" name="Content Placeholder 2">
            <a:extLst>
              <a:ext uri="{FF2B5EF4-FFF2-40B4-BE49-F238E27FC236}">
                <a16:creationId xmlns:a16="http://schemas.microsoft.com/office/drawing/2014/main" id="{2ED6E9CE-73BB-4560-90A5-BF5ABFF2F6F3}"/>
              </a:ext>
            </a:extLst>
          </p:cNvPr>
          <p:cNvSpPr>
            <a:spLocks noGrp="1"/>
          </p:cNvSpPr>
          <p:nvPr>
            <p:ph idx="1"/>
          </p:nvPr>
        </p:nvSpPr>
        <p:spPr>
          <a:xfrm>
            <a:off x="1097280" y="1845733"/>
            <a:ext cx="10058400" cy="4544433"/>
          </a:xfrm>
        </p:spPr>
        <p:txBody>
          <a:bodyPr>
            <a:normAutofit/>
          </a:bodyPr>
          <a:lstStyle/>
          <a:p>
            <a:pPr algn="just">
              <a:lnSpc>
                <a:spcPct val="150000"/>
              </a:lnSpc>
              <a:buFont typeface="Wingdings" panose="05000000000000000000" pitchFamily="2" charset="2"/>
              <a:buChar char="q"/>
            </a:pPr>
            <a:r>
              <a:rPr lang="en-AU" dirty="0"/>
              <a:t>it’s often mistakenly accepted that the existing policy will cover this new ground.</a:t>
            </a:r>
          </a:p>
          <a:p>
            <a:pPr algn="just">
              <a:lnSpc>
                <a:spcPct val="150000"/>
              </a:lnSpc>
              <a:buFont typeface="Wingdings" panose="05000000000000000000" pitchFamily="2" charset="2"/>
              <a:buChar char="q"/>
            </a:pPr>
            <a:r>
              <a:rPr lang="en-AU" dirty="0"/>
              <a:t>A policy which has no legal standing is as good as useless</a:t>
            </a:r>
          </a:p>
          <a:p>
            <a:pPr algn="just">
              <a:lnSpc>
                <a:spcPct val="150000"/>
              </a:lnSpc>
              <a:buFont typeface="Wingdings" panose="05000000000000000000" pitchFamily="2" charset="2"/>
              <a:buChar char="q"/>
            </a:pPr>
            <a:r>
              <a:rPr lang="en-AU" dirty="0"/>
              <a:t>Your cloud security policy should form a coherent part of your organisation’s Written Information Security Programme (WISP).</a:t>
            </a:r>
          </a:p>
          <a:p>
            <a:pPr algn="just">
              <a:lnSpc>
                <a:spcPct val="150000"/>
              </a:lnSpc>
              <a:buFont typeface="Wingdings" panose="05000000000000000000" pitchFamily="2" charset="2"/>
              <a:buChar char="q"/>
            </a:pPr>
            <a:r>
              <a:rPr lang="en-AU" dirty="0"/>
              <a:t>A WISP should be seen as a collection of policy documents</a:t>
            </a:r>
          </a:p>
        </p:txBody>
      </p:sp>
    </p:spTree>
    <p:extLst>
      <p:ext uri="{BB962C8B-B14F-4D97-AF65-F5344CB8AC3E}">
        <p14:creationId xmlns:p14="http://schemas.microsoft.com/office/powerpoint/2010/main" val="1855841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9CC3D-F493-4626-B324-1B1B2FA137B1}"/>
              </a:ext>
            </a:extLst>
          </p:cNvPr>
          <p:cNvSpPr>
            <a:spLocks noGrp="1"/>
          </p:cNvSpPr>
          <p:nvPr>
            <p:ph type="title"/>
          </p:nvPr>
        </p:nvSpPr>
        <p:spPr/>
        <p:txBody>
          <a:bodyPr/>
          <a:lstStyle/>
          <a:p>
            <a:r>
              <a:rPr lang="en-AU" dirty="0"/>
              <a:t>How to draw up a comprehensive</a:t>
            </a:r>
            <a:br>
              <a:rPr lang="en-AU" dirty="0"/>
            </a:br>
            <a:r>
              <a:rPr lang="en-AU" dirty="0"/>
              <a:t>cloud security policy</a:t>
            </a:r>
          </a:p>
        </p:txBody>
      </p:sp>
      <p:sp>
        <p:nvSpPr>
          <p:cNvPr id="3" name="Content Placeholder 2">
            <a:extLst>
              <a:ext uri="{FF2B5EF4-FFF2-40B4-BE49-F238E27FC236}">
                <a16:creationId xmlns:a16="http://schemas.microsoft.com/office/drawing/2014/main" id="{2ED6E9CE-73BB-4560-90A5-BF5ABFF2F6F3}"/>
              </a:ext>
            </a:extLst>
          </p:cNvPr>
          <p:cNvSpPr>
            <a:spLocks noGrp="1"/>
          </p:cNvSpPr>
          <p:nvPr>
            <p:ph idx="1"/>
          </p:nvPr>
        </p:nvSpPr>
        <p:spPr/>
        <p:txBody>
          <a:bodyPr>
            <a:normAutofit/>
          </a:bodyPr>
          <a:lstStyle/>
          <a:p>
            <a:pPr algn="just">
              <a:lnSpc>
                <a:spcPct val="150000"/>
              </a:lnSpc>
              <a:buFont typeface="Wingdings" panose="05000000000000000000" pitchFamily="2" charset="2"/>
              <a:buChar char="q"/>
            </a:pPr>
            <a:r>
              <a:rPr lang="en-AU" b="1" dirty="0">
                <a:solidFill>
                  <a:srgbClr val="FF0000"/>
                </a:solidFill>
              </a:rPr>
              <a:t>Don’t reinvent the wheel:</a:t>
            </a:r>
          </a:p>
          <a:p>
            <a:pPr algn="just">
              <a:lnSpc>
                <a:spcPct val="150000"/>
              </a:lnSpc>
              <a:buFont typeface="Wingdings" panose="05000000000000000000" pitchFamily="2" charset="2"/>
              <a:buChar char="q"/>
            </a:pPr>
            <a:r>
              <a:rPr lang="en-AU" b="1" dirty="0">
                <a:solidFill>
                  <a:srgbClr val="FF0000"/>
                </a:solidFill>
              </a:rPr>
              <a:t>Understand your needs before you start writing policies to address them</a:t>
            </a:r>
          </a:p>
          <a:p>
            <a:pPr algn="just">
              <a:lnSpc>
                <a:spcPct val="150000"/>
              </a:lnSpc>
              <a:buFont typeface="Wingdings" panose="05000000000000000000" pitchFamily="2" charset="2"/>
              <a:buChar char="q"/>
            </a:pPr>
            <a:r>
              <a:rPr lang="en-AU" b="1" dirty="0">
                <a:solidFill>
                  <a:srgbClr val="FF0000"/>
                </a:solidFill>
              </a:rPr>
              <a:t>Your cloud security policy should be readily accessible</a:t>
            </a:r>
          </a:p>
          <a:p>
            <a:pPr algn="just">
              <a:lnSpc>
                <a:spcPct val="150000"/>
              </a:lnSpc>
              <a:buFont typeface="Wingdings" panose="05000000000000000000" pitchFamily="2" charset="2"/>
              <a:buChar char="q"/>
            </a:pPr>
            <a:r>
              <a:rPr lang="en-AU" b="1" dirty="0">
                <a:solidFill>
                  <a:srgbClr val="FF0000"/>
                </a:solidFill>
              </a:rPr>
              <a:t>Include worst case scenarios as well as rose-tinted best practice specs</a:t>
            </a:r>
          </a:p>
          <a:p>
            <a:pPr algn="just">
              <a:lnSpc>
                <a:spcPct val="150000"/>
              </a:lnSpc>
              <a:buFont typeface="Wingdings" panose="05000000000000000000" pitchFamily="2" charset="2"/>
              <a:buChar char="q"/>
            </a:pPr>
            <a:r>
              <a:rPr lang="en-AU" dirty="0">
                <a:solidFill>
                  <a:srgbClr val="FF0000"/>
                </a:solidFill>
              </a:rPr>
              <a:t>Finally, always involve your legal department</a:t>
            </a:r>
          </a:p>
          <a:p>
            <a:pPr algn="just">
              <a:lnSpc>
                <a:spcPct val="150000"/>
              </a:lnSpc>
              <a:buFont typeface="Wingdings" panose="05000000000000000000" pitchFamily="2" charset="2"/>
              <a:buChar char="q"/>
            </a:pPr>
            <a:endParaRPr lang="en-AU" b="1" dirty="0">
              <a:solidFill>
                <a:srgbClr val="FF0000"/>
              </a:solidFill>
            </a:endParaRPr>
          </a:p>
          <a:p>
            <a:pPr algn="just">
              <a:lnSpc>
                <a:spcPct val="150000"/>
              </a:lnSpc>
              <a:buFont typeface="Wingdings" panose="05000000000000000000" pitchFamily="2" charset="2"/>
              <a:buChar char="q"/>
            </a:pPr>
            <a:endParaRPr lang="en-AU" b="1" dirty="0">
              <a:solidFill>
                <a:srgbClr val="FF0000"/>
              </a:solidFill>
            </a:endParaRPr>
          </a:p>
          <a:p>
            <a:pPr algn="just">
              <a:lnSpc>
                <a:spcPct val="150000"/>
              </a:lnSpc>
              <a:buFont typeface="Wingdings" panose="05000000000000000000" pitchFamily="2" charset="2"/>
              <a:buChar char="q"/>
            </a:pPr>
            <a:endParaRPr lang="en-AU" b="1" dirty="0">
              <a:solidFill>
                <a:srgbClr val="FF0000"/>
              </a:solidFill>
            </a:endParaRPr>
          </a:p>
          <a:p>
            <a:pPr algn="just">
              <a:lnSpc>
                <a:spcPct val="150000"/>
              </a:lnSpc>
              <a:buFont typeface="Wingdings" panose="05000000000000000000" pitchFamily="2" charset="2"/>
              <a:buChar char="q"/>
            </a:pPr>
            <a:endParaRPr lang="en-AU" b="1" dirty="0">
              <a:solidFill>
                <a:srgbClr val="FF0000"/>
              </a:solidFill>
            </a:endParaRPr>
          </a:p>
        </p:txBody>
      </p:sp>
    </p:spTree>
    <p:extLst>
      <p:ext uri="{BB962C8B-B14F-4D97-AF65-F5344CB8AC3E}">
        <p14:creationId xmlns:p14="http://schemas.microsoft.com/office/powerpoint/2010/main" val="2282399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9CC3D-F493-4626-B324-1B1B2FA137B1}"/>
              </a:ext>
            </a:extLst>
          </p:cNvPr>
          <p:cNvSpPr>
            <a:spLocks noGrp="1"/>
          </p:cNvSpPr>
          <p:nvPr>
            <p:ph type="title"/>
          </p:nvPr>
        </p:nvSpPr>
        <p:spPr/>
        <p:txBody>
          <a:bodyPr>
            <a:normAutofit/>
          </a:bodyPr>
          <a:lstStyle/>
          <a:p>
            <a:r>
              <a:rPr lang="en-AU" dirty="0"/>
              <a:t>DEVELOPING A BYOD-FRIENDLY SECURITY POLICY</a:t>
            </a:r>
          </a:p>
        </p:txBody>
      </p:sp>
      <p:sp>
        <p:nvSpPr>
          <p:cNvPr id="3" name="Content Placeholder 2">
            <a:extLst>
              <a:ext uri="{FF2B5EF4-FFF2-40B4-BE49-F238E27FC236}">
                <a16:creationId xmlns:a16="http://schemas.microsoft.com/office/drawing/2014/main" id="{2ED6E9CE-73BB-4560-90A5-BF5ABFF2F6F3}"/>
              </a:ext>
            </a:extLst>
          </p:cNvPr>
          <p:cNvSpPr>
            <a:spLocks noGrp="1"/>
          </p:cNvSpPr>
          <p:nvPr>
            <p:ph idx="1"/>
          </p:nvPr>
        </p:nvSpPr>
        <p:spPr>
          <a:xfrm>
            <a:off x="1097280" y="1845734"/>
            <a:ext cx="10058400" cy="4470006"/>
          </a:xfrm>
        </p:spPr>
        <p:txBody>
          <a:bodyPr>
            <a:normAutofit/>
          </a:bodyPr>
          <a:lstStyle/>
          <a:p>
            <a:pPr algn="just">
              <a:lnSpc>
                <a:spcPct val="150000"/>
              </a:lnSpc>
              <a:buFont typeface="Wingdings" panose="05000000000000000000" pitchFamily="2" charset="2"/>
              <a:buChar char="q"/>
            </a:pPr>
            <a:r>
              <a:rPr lang="en-AU" dirty="0"/>
              <a:t>One policy should take pride of place</a:t>
            </a:r>
          </a:p>
          <a:p>
            <a:pPr algn="just">
              <a:lnSpc>
                <a:spcPct val="150000"/>
              </a:lnSpc>
              <a:buFont typeface="Wingdings" panose="05000000000000000000" pitchFamily="2" charset="2"/>
              <a:buChar char="q"/>
            </a:pPr>
            <a:r>
              <a:rPr lang="en-AU" dirty="0"/>
              <a:t>Your security policy should also address the fact that, if the device has access to corporate information, then company policy applies. </a:t>
            </a:r>
          </a:p>
          <a:p>
            <a:pPr algn="just">
              <a:lnSpc>
                <a:spcPct val="150000"/>
              </a:lnSpc>
              <a:buFont typeface="Wingdings" panose="05000000000000000000" pitchFamily="2" charset="2"/>
              <a:buChar char="q"/>
            </a:pPr>
            <a:r>
              <a:rPr lang="en-AU" dirty="0"/>
              <a:t>Use a real-time approach to malware detection </a:t>
            </a:r>
          </a:p>
          <a:p>
            <a:pPr algn="just">
              <a:lnSpc>
                <a:spcPct val="150000"/>
              </a:lnSpc>
              <a:buFont typeface="Wingdings" panose="05000000000000000000" pitchFamily="2" charset="2"/>
              <a:buChar char="q"/>
            </a:pPr>
            <a:r>
              <a:rPr lang="en-AU" dirty="0"/>
              <a:t>Access to non-business cloud services should be carefully monitored and controlled. </a:t>
            </a:r>
          </a:p>
        </p:txBody>
      </p:sp>
    </p:spTree>
    <p:extLst>
      <p:ext uri="{BB962C8B-B14F-4D97-AF65-F5344CB8AC3E}">
        <p14:creationId xmlns:p14="http://schemas.microsoft.com/office/powerpoint/2010/main" val="13351214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9CC3D-F493-4626-B324-1B1B2FA137B1}"/>
              </a:ext>
            </a:extLst>
          </p:cNvPr>
          <p:cNvSpPr>
            <a:spLocks noGrp="1"/>
          </p:cNvSpPr>
          <p:nvPr>
            <p:ph type="title"/>
          </p:nvPr>
        </p:nvSpPr>
        <p:spPr/>
        <p:txBody>
          <a:bodyPr>
            <a:normAutofit/>
          </a:bodyPr>
          <a:lstStyle/>
          <a:p>
            <a:r>
              <a:rPr lang="en-AU" dirty="0"/>
              <a:t>Best Practices for Application Security in the Cloud</a:t>
            </a:r>
          </a:p>
        </p:txBody>
      </p:sp>
      <p:sp>
        <p:nvSpPr>
          <p:cNvPr id="3" name="Content Placeholder 2">
            <a:extLst>
              <a:ext uri="{FF2B5EF4-FFF2-40B4-BE49-F238E27FC236}">
                <a16:creationId xmlns:a16="http://schemas.microsoft.com/office/drawing/2014/main" id="{2ED6E9CE-73BB-4560-90A5-BF5ABFF2F6F3}"/>
              </a:ext>
            </a:extLst>
          </p:cNvPr>
          <p:cNvSpPr>
            <a:spLocks noGrp="1"/>
          </p:cNvSpPr>
          <p:nvPr>
            <p:ph idx="1"/>
          </p:nvPr>
        </p:nvSpPr>
        <p:spPr>
          <a:xfrm>
            <a:off x="1097280" y="1845733"/>
            <a:ext cx="10058400" cy="4406211"/>
          </a:xfrm>
        </p:spPr>
        <p:txBody>
          <a:bodyPr>
            <a:normAutofit/>
          </a:bodyPr>
          <a:lstStyle/>
          <a:p>
            <a:pPr marL="0" indent="0" algn="just">
              <a:lnSpc>
                <a:spcPct val="150000"/>
              </a:lnSpc>
              <a:buNone/>
            </a:pPr>
            <a:r>
              <a:rPr lang="en-AU" b="1" dirty="0">
                <a:solidFill>
                  <a:srgbClr val="FF0000"/>
                </a:solidFill>
              </a:rPr>
              <a:t>1. Discover and Assess Cloud Apps: </a:t>
            </a:r>
            <a:r>
              <a:rPr lang="en-AU" dirty="0"/>
              <a:t>some of the best cloud security practices you should adopt to discover and assess cloud apps:</a:t>
            </a:r>
          </a:p>
          <a:p>
            <a:pPr algn="just">
              <a:lnSpc>
                <a:spcPct val="150000"/>
              </a:lnSpc>
              <a:buFont typeface="Wingdings" panose="05000000000000000000" pitchFamily="2" charset="2"/>
              <a:buChar char="Ø"/>
            </a:pPr>
            <a:r>
              <a:rPr lang="en-AU" dirty="0"/>
              <a:t>Use cloud discovery (Microsoft Defender Advanced Threat Protection (ATP)) </a:t>
            </a:r>
          </a:p>
          <a:p>
            <a:pPr algn="just">
              <a:lnSpc>
                <a:spcPct val="150000"/>
              </a:lnSpc>
              <a:buFont typeface="Wingdings" panose="05000000000000000000" pitchFamily="2" charset="2"/>
              <a:buChar char="Ø"/>
            </a:pPr>
            <a:r>
              <a:rPr lang="en-AU" dirty="0"/>
              <a:t>Configure application discovery policies </a:t>
            </a:r>
          </a:p>
          <a:p>
            <a:pPr algn="just">
              <a:lnSpc>
                <a:spcPct val="150000"/>
              </a:lnSpc>
              <a:buFont typeface="Wingdings" panose="05000000000000000000" pitchFamily="2" charset="2"/>
              <a:buChar char="Ø"/>
            </a:pPr>
            <a:r>
              <a:rPr lang="en-AU" dirty="0"/>
              <a:t>Monitor the cloud application permissions authorized (OAuth apps)</a:t>
            </a:r>
          </a:p>
          <a:p>
            <a:pPr marL="0" indent="0" algn="just">
              <a:lnSpc>
                <a:spcPct val="150000"/>
              </a:lnSpc>
              <a:buNone/>
            </a:pPr>
            <a:r>
              <a:rPr lang="en-AU" b="1" i="1" dirty="0"/>
              <a:t>OAuth is a standard that apps can use to provide client applications with “secure delegated access”. </a:t>
            </a:r>
          </a:p>
          <a:p>
            <a:pPr algn="just">
              <a:lnSpc>
                <a:spcPct val="150000"/>
              </a:lnSpc>
              <a:buFont typeface="Wingdings" panose="05000000000000000000" pitchFamily="2" charset="2"/>
              <a:buChar char="Ø"/>
            </a:pPr>
            <a:endParaRPr lang="en-AU" dirty="0"/>
          </a:p>
        </p:txBody>
      </p:sp>
    </p:spTree>
    <p:extLst>
      <p:ext uri="{BB962C8B-B14F-4D97-AF65-F5344CB8AC3E}">
        <p14:creationId xmlns:p14="http://schemas.microsoft.com/office/powerpoint/2010/main" val="1899771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9CC3D-F493-4626-B324-1B1B2FA137B1}"/>
              </a:ext>
            </a:extLst>
          </p:cNvPr>
          <p:cNvSpPr>
            <a:spLocks noGrp="1"/>
          </p:cNvSpPr>
          <p:nvPr>
            <p:ph type="title"/>
          </p:nvPr>
        </p:nvSpPr>
        <p:spPr/>
        <p:txBody>
          <a:bodyPr/>
          <a:lstStyle/>
          <a:p>
            <a:r>
              <a:rPr lang="en-AU" dirty="0"/>
              <a:t>Best Practices for Application Security in the Cloud</a:t>
            </a:r>
          </a:p>
        </p:txBody>
      </p:sp>
      <p:sp>
        <p:nvSpPr>
          <p:cNvPr id="3" name="Content Placeholder 2">
            <a:extLst>
              <a:ext uri="{FF2B5EF4-FFF2-40B4-BE49-F238E27FC236}">
                <a16:creationId xmlns:a16="http://schemas.microsoft.com/office/drawing/2014/main" id="{2ED6E9CE-73BB-4560-90A5-BF5ABFF2F6F3}"/>
              </a:ext>
            </a:extLst>
          </p:cNvPr>
          <p:cNvSpPr>
            <a:spLocks noGrp="1"/>
          </p:cNvSpPr>
          <p:nvPr>
            <p:ph idx="1"/>
          </p:nvPr>
        </p:nvSpPr>
        <p:spPr>
          <a:xfrm>
            <a:off x="1097280" y="1845734"/>
            <a:ext cx="10058400" cy="4363680"/>
          </a:xfrm>
        </p:spPr>
        <p:txBody>
          <a:bodyPr>
            <a:normAutofit/>
          </a:bodyPr>
          <a:lstStyle/>
          <a:p>
            <a:pPr marL="0" indent="0" algn="just">
              <a:lnSpc>
                <a:spcPct val="150000"/>
              </a:lnSpc>
              <a:buNone/>
            </a:pPr>
            <a:r>
              <a:rPr lang="en-AU" dirty="0">
                <a:solidFill>
                  <a:srgbClr val="FF0000"/>
                </a:solidFill>
              </a:rPr>
              <a:t>2. Manage Access to Cloud Applications &amp; User </a:t>
            </a:r>
            <a:r>
              <a:rPr lang="en-AU" dirty="0" err="1">
                <a:solidFill>
                  <a:srgbClr val="FF0000"/>
                </a:solidFill>
              </a:rPr>
              <a:t>Behavior</a:t>
            </a:r>
            <a:endParaRPr lang="en-AU" dirty="0">
              <a:solidFill>
                <a:srgbClr val="FF0000"/>
              </a:solidFill>
            </a:endParaRPr>
          </a:p>
          <a:p>
            <a:pPr algn="just">
              <a:lnSpc>
                <a:spcPct val="150000"/>
              </a:lnSpc>
              <a:buFont typeface="Wingdings" panose="05000000000000000000" pitchFamily="2" charset="2"/>
              <a:buChar char="Ø"/>
            </a:pPr>
            <a:r>
              <a:rPr lang="en-AU" dirty="0"/>
              <a:t>Ensure users are given minimal access privileged to the cloud resources </a:t>
            </a:r>
          </a:p>
          <a:p>
            <a:pPr algn="just">
              <a:lnSpc>
                <a:spcPct val="150000"/>
              </a:lnSpc>
              <a:buFont typeface="Wingdings" panose="05000000000000000000" pitchFamily="2" charset="2"/>
              <a:buChar char="Ø"/>
            </a:pPr>
            <a:r>
              <a:rPr lang="en-AU" dirty="0"/>
              <a:t>Give provision access to a resource instead of providing a fixed set of credentials</a:t>
            </a:r>
          </a:p>
          <a:p>
            <a:pPr algn="just">
              <a:lnSpc>
                <a:spcPct val="150000"/>
              </a:lnSpc>
              <a:buFont typeface="Wingdings" panose="05000000000000000000" pitchFamily="2" charset="2"/>
              <a:buChar char="Ø"/>
            </a:pPr>
            <a:r>
              <a:rPr lang="en-AU" dirty="0"/>
              <a:t>Implement multi-factor authentication for every user and limit the number of users with administrator privileges.</a:t>
            </a:r>
          </a:p>
          <a:p>
            <a:pPr algn="just">
              <a:lnSpc>
                <a:spcPct val="150000"/>
              </a:lnSpc>
              <a:buFont typeface="Wingdings" panose="05000000000000000000" pitchFamily="2" charset="2"/>
              <a:buChar char="Ø"/>
            </a:pPr>
            <a:r>
              <a:rPr lang="en-AU" dirty="0"/>
              <a:t>Enforce a strong password policy </a:t>
            </a:r>
          </a:p>
          <a:p>
            <a:pPr algn="just">
              <a:lnSpc>
                <a:spcPct val="150000"/>
              </a:lnSpc>
              <a:buFont typeface="Wingdings" panose="05000000000000000000" pitchFamily="2" charset="2"/>
              <a:buChar char="Ø"/>
            </a:pPr>
            <a:r>
              <a:rPr lang="en-AU" dirty="0"/>
              <a:t>Enforce multi-factor authentication for all users</a:t>
            </a:r>
          </a:p>
        </p:txBody>
      </p:sp>
    </p:spTree>
    <p:extLst>
      <p:ext uri="{BB962C8B-B14F-4D97-AF65-F5344CB8AC3E}">
        <p14:creationId xmlns:p14="http://schemas.microsoft.com/office/powerpoint/2010/main" val="3052045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9CC3D-F493-4626-B324-1B1B2FA137B1}"/>
              </a:ext>
            </a:extLst>
          </p:cNvPr>
          <p:cNvSpPr>
            <a:spLocks noGrp="1"/>
          </p:cNvSpPr>
          <p:nvPr>
            <p:ph type="title"/>
          </p:nvPr>
        </p:nvSpPr>
        <p:spPr/>
        <p:txBody>
          <a:bodyPr/>
          <a:lstStyle/>
          <a:p>
            <a:r>
              <a:rPr lang="en-AU" dirty="0"/>
              <a:t>3. Apply Cloud Governance Policies</a:t>
            </a:r>
          </a:p>
        </p:txBody>
      </p:sp>
      <p:sp>
        <p:nvSpPr>
          <p:cNvPr id="3" name="Content Placeholder 2">
            <a:extLst>
              <a:ext uri="{FF2B5EF4-FFF2-40B4-BE49-F238E27FC236}">
                <a16:creationId xmlns:a16="http://schemas.microsoft.com/office/drawing/2014/main" id="{2ED6E9CE-73BB-4560-90A5-BF5ABFF2F6F3}"/>
              </a:ext>
            </a:extLst>
          </p:cNvPr>
          <p:cNvSpPr>
            <a:spLocks noGrp="1"/>
          </p:cNvSpPr>
          <p:nvPr>
            <p:ph idx="1"/>
          </p:nvPr>
        </p:nvSpPr>
        <p:spPr/>
        <p:txBody>
          <a:bodyPr>
            <a:normAutofit/>
          </a:bodyPr>
          <a:lstStyle/>
          <a:p>
            <a:pPr algn="just">
              <a:lnSpc>
                <a:spcPct val="150000"/>
              </a:lnSpc>
              <a:buFont typeface="Wingdings" panose="05000000000000000000" pitchFamily="2" charset="2"/>
              <a:buChar char="q"/>
            </a:pPr>
            <a:r>
              <a:rPr lang="en-AU" dirty="0"/>
              <a:t>Cloud governance policies are essential to ensure you have security standards for all users to abide by when working within the cloud environment. </a:t>
            </a:r>
          </a:p>
          <a:p>
            <a:pPr algn="just">
              <a:lnSpc>
                <a:spcPct val="150000"/>
              </a:lnSpc>
              <a:buFont typeface="Wingdings" panose="05000000000000000000" pitchFamily="2" charset="2"/>
              <a:buChar char="q"/>
            </a:pPr>
            <a:r>
              <a:rPr lang="en-AU" dirty="0"/>
              <a:t>Here are some best security-related practices that you should implement in your cloud governance policies:</a:t>
            </a:r>
          </a:p>
          <a:p>
            <a:pPr algn="just">
              <a:lnSpc>
                <a:spcPct val="150000"/>
              </a:lnSpc>
              <a:buFont typeface="Wingdings" panose="05000000000000000000" pitchFamily="2" charset="2"/>
              <a:buChar char="Ø"/>
            </a:pPr>
            <a:r>
              <a:rPr lang="en-AU" dirty="0"/>
              <a:t>Enforce authentication standards </a:t>
            </a:r>
          </a:p>
          <a:p>
            <a:pPr algn="just">
              <a:lnSpc>
                <a:spcPct val="150000"/>
              </a:lnSpc>
              <a:buFont typeface="Wingdings" panose="05000000000000000000" pitchFamily="2" charset="2"/>
              <a:buChar char="Ø"/>
            </a:pPr>
            <a:r>
              <a:rPr lang="en-AU" dirty="0"/>
              <a:t>Establish hardening standards for virtual machines, containers, approved repositories, etc.</a:t>
            </a:r>
          </a:p>
          <a:p>
            <a:pPr algn="just">
              <a:lnSpc>
                <a:spcPct val="150000"/>
              </a:lnSpc>
              <a:buFont typeface="Wingdings" panose="05000000000000000000" pitchFamily="2" charset="2"/>
              <a:buChar char="Ø"/>
            </a:pPr>
            <a:r>
              <a:rPr lang="en-AU" dirty="0"/>
              <a:t>Include strong access management</a:t>
            </a:r>
          </a:p>
        </p:txBody>
      </p:sp>
    </p:spTree>
    <p:extLst>
      <p:ext uri="{BB962C8B-B14F-4D97-AF65-F5344CB8AC3E}">
        <p14:creationId xmlns:p14="http://schemas.microsoft.com/office/powerpoint/2010/main" val="600486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9CC3D-F493-4626-B324-1B1B2FA137B1}"/>
              </a:ext>
            </a:extLst>
          </p:cNvPr>
          <p:cNvSpPr>
            <a:spLocks noGrp="1"/>
          </p:cNvSpPr>
          <p:nvPr>
            <p:ph type="title"/>
          </p:nvPr>
        </p:nvSpPr>
        <p:spPr/>
        <p:txBody>
          <a:bodyPr/>
          <a:lstStyle/>
          <a:p>
            <a:r>
              <a:rPr lang="en-AU" dirty="0"/>
              <a:t>4. Identify, Categorize, and Protect Sensitive Data Stored in the Cloud</a:t>
            </a:r>
          </a:p>
        </p:txBody>
      </p:sp>
      <p:sp>
        <p:nvSpPr>
          <p:cNvPr id="3" name="Content Placeholder 2">
            <a:extLst>
              <a:ext uri="{FF2B5EF4-FFF2-40B4-BE49-F238E27FC236}">
                <a16:creationId xmlns:a16="http://schemas.microsoft.com/office/drawing/2014/main" id="{2ED6E9CE-73BB-4560-90A5-BF5ABFF2F6F3}"/>
              </a:ext>
            </a:extLst>
          </p:cNvPr>
          <p:cNvSpPr>
            <a:spLocks noGrp="1"/>
          </p:cNvSpPr>
          <p:nvPr>
            <p:ph idx="1"/>
          </p:nvPr>
        </p:nvSpPr>
        <p:spPr>
          <a:xfrm>
            <a:off x="1097280" y="1845733"/>
            <a:ext cx="10058400" cy="4618861"/>
          </a:xfrm>
        </p:spPr>
        <p:txBody>
          <a:bodyPr>
            <a:normAutofit/>
          </a:bodyPr>
          <a:lstStyle/>
          <a:p>
            <a:pPr algn="just">
              <a:lnSpc>
                <a:spcPct val="150000"/>
              </a:lnSpc>
              <a:buFont typeface="Wingdings" panose="05000000000000000000" pitchFamily="2" charset="2"/>
              <a:buChar char="q"/>
            </a:pPr>
            <a:r>
              <a:rPr lang="en-AU" dirty="0"/>
              <a:t>Cloud computing allows the sharing of folders and files among multiple users. Make sure that you:</a:t>
            </a:r>
          </a:p>
          <a:p>
            <a:pPr algn="just">
              <a:lnSpc>
                <a:spcPct val="150000"/>
              </a:lnSpc>
              <a:buFont typeface="Wingdings" panose="05000000000000000000" pitchFamily="2" charset="2"/>
              <a:buChar char="Ø"/>
            </a:pPr>
            <a:r>
              <a:rPr lang="en-AU" dirty="0"/>
              <a:t>Identify sensitive data</a:t>
            </a:r>
          </a:p>
          <a:p>
            <a:pPr algn="just">
              <a:lnSpc>
                <a:spcPct val="150000"/>
              </a:lnSpc>
              <a:buFont typeface="Wingdings" panose="05000000000000000000" pitchFamily="2" charset="2"/>
              <a:buChar char="Ø"/>
            </a:pPr>
            <a:r>
              <a:rPr lang="en-AU" dirty="0"/>
              <a:t>Categorize &amp; protect your files</a:t>
            </a:r>
          </a:p>
        </p:txBody>
      </p:sp>
    </p:spTree>
    <p:extLst>
      <p:ext uri="{BB962C8B-B14F-4D97-AF65-F5344CB8AC3E}">
        <p14:creationId xmlns:p14="http://schemas.microsoft.com/office/powerpoint/2010/main" val="10651658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9CC3D-F493-4626-B324-1B1B2FA137B1}"/>
              </a:ext>
            </a:extLst>
          </p:cNvPr>
          <p:cNvSpPr>
            <a:spLocks noGrp="1"/>
          </p:cNvSpPr>
          <p:nvPr>
            <p:ph type="title"/>
          </p:nvPr>
        </p:nvSpPr>
        <p:spPr/>
        <p:txBody>
          <a:bodyPr/>
          <a:lstStyle/>
          <a:p>
            <a:r>
              <a:rPr lang="en-AU" dirty="0"/>
              <a:t>5. Employ DLP with CASBs</a:t>
            </a:r>
          </a:p>
        </p:txBody>
      </p:sp>
      <p:sp>
        <p:nvSpPr>
          <p:cNvPr id="3" name="Content Placeholder 2">
            <a:extLst>
              <a:ext uri="{FF2B5EF4-FFF2-40B4-BE49-F238E27FC236}">
                <a16:creationId xmlns:a16="http://schemas.microsoft.com/office/drawing/2014/main" id="{2ED6E9CE-73BB-4560-90A5-BF5ABFF2F6F3}"/>
              </a:ext>
            </a:extLst>
          </p:cNvPr>
          <p:cNvSpPr>
            <a:spLocks noGrp="1"/>
          </p:cNvSpPr>
          <p:nvPr>
            <p:ph idx="1"/>
          </p:nvPr>
        </p:nvSpPr>
        <p:spPr>
          <a:xfrm>
            <a:off x="499729" y="1845733"/>
            <a:ext cx="11291777" cy="4618861"/>
          </a:xfrm>
        </p:spPr>
        <p:txBody>
          <a:bodyPr>
            <a:normAutofit/>
          </a:bodyPr>
          <a:lstStyle/>
          <a:p>
            <a:pPr algn="just">
              <a:lnSpc>
                <a:spcPct val="150000"/>
              </a:lnSpc>
              <a:buFont typeface="Wingdings" panose="05000000000000000000" pitchFamily="2" charset="2"/>
              <a:buChar char="q"/>
            </a:pPr>
            <a:r>
              <a:rPr lang="en-AU" dirty="0"/>
              <a:t>Data Loss Prevention (DLP) policy in IaaS isn’t as good right now, but organizations want to focus on the use of CASBs (cloud access security brokers).</a:t>
            </a:r>
          </a:p>
          <a:p>
            <a:pPr algn="just">
              <a:lnSpc>
                <a:spcPct val="150000"/>
              </a:lnSpc>
              <a:buFont typeface="Wingdings" panose="05000000000000000000" pitchFamily="2" charset="2"/>
              <a:buChar char="q"/>
            </a:pPr>
            <a:r>
              <a:rPr lang="en-AU" dirty="0"/>
              <a:t>CASBs are cloud-based security software located between cloud service providers and cloud service consumers to enforce security, govern policies, and ensure compliance for cloud applications.</a:t>
            </a:r>
          </a:p>
          <a:p>
            <a:pPr algn="just">
              <a:lnSpc>
                <a:spcPct val="150000"/>
              </a:lnSpc>
              <a:buFont typeface="Wingdings" panose="05000000000000000000" pitchFamily="2" charset="2"/>
              <a:buChar char="q"/>
            </a:pPr>
            <a:r>
              <a:rPr lang="en-AU" dirty="0"/>
              <a:t>Device profiling</a:t>
            </a:r>
          </a:p>
        </p:txBody>
      </p:sp>
    </p:spTree>
    <p:extLst>
      <p:ext uri="{BB962C8B-B14F-4D97-AF65-F5344CB8AC3E}">
        <p14:creationId xmlns:p14="http://schemas.microsoft.com/office/powerpoint/2010/main" val="788736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9CC3D-F493-4626-B324-1B1B2FA137B1}"/>
              </a:ext>
            </a:extLst>
          </p:cNvPr>
          <p:cNvSpPr>
            <a:spLocks noGrp="1"/>
          </p:cNvSpPr>
          <p:nvPr>
            <p:ph type="title"/>
          </p:nvPr>
        </p:nvSpPr>
        <p:spPr/>
        <p:txBody>
          <a:bodyPr/>
          <a:lstStyle/>
          <a:p>
            <a:r>
              <a:rPr lang="en-AU" dirty="0"/>
              <a:t>Employ DLP with CASBs</a:t>
            </a:r>
          </a:p>
        </p:txBody>
      </p:sp>
      <p:sp>
        <p:nvSpPr>
          <p:cNvPr id="3" name="Content Placeholder 2">
            <a:extLst>
              <a:ext uri="{FF2B5EF4-FFF2-40B4-BE49-F238E27FC236}">
                <a16:creationId xmlns:a16="http://schemas.microsoft.com/office/drawing/2014/main" id="{2ED6E9CE-73BB-4560-90A5-BF5ABFF2F6F3}"/>
              </a:ext>
            </a:extLst>
          </p:cNvPr>
          <p:cNvSpPr>
            <a:spLocks noGrp="1"/>
          </p:cNvSpPr>
          <p:nvPr>
            <p:ph idx="1"/>
          </p:nvPr>
        </p:nvSpPr>
        <p:spPr>
          <a:xfrm>
            <a:off x="361507" y="1845733"/>
            <a:ext cx="11419367" cy="4618861"/>
          </a:xfrm>
        </p:spPr>
        <p:txBody>
          <a:bodyPr>
            <a:normAutofit/>
          </a:bodyPr>
          <a:lstStyle/>
          <a:p>
            <a:pPr algn="just">
              <a:lnSpc>
                <a:spcPct val="150000"/>
              </a:lnSpc>
              <a:buFont typeface="Wingdings" panose="05000000000000000000" pitchFamily="2" charset="2"/>
              <a:buChar char="q"/>
            </a:pPr>
            <a:r>
              <a:rPr lang="en-AU" dirty="0"/>
              <a:t>The primary goal of CASBs is to extend the security controls of an enterprise from their on-premise infrastructure to the cloud.</a:t>
            </a:r>
          </a:p>
          <a:p>
            <a:pPr algn="just">
              <a:lnSpc>
                <a:spcPct val="150000"/>
              </a:lnSpc>
              <a:buFont typeface="Wingdings" panose="05000000000000000000" pitchFamily="2" charset="2"/>
              <a:buChar char="q"/>
            </a:pPr>
            <a:r>
              <a:rPr lang="en-AU" dirty="0"/>
              <a:t>By employing CASBs, organizations can:</a:t>
            </a:r>
          </a:p>
          <a:p>
            <a:pPr algn="just">
              <a:lnSpc>
                <a:spcPct val="150000"/>
              </a:lnSpc>
              <a:buFont typeface="Wingdings" panose="05000000000000000000" pitchFamily="2" charset="2"/>
              <a:buChar char="Ø"/>
            </a:pPr>
            <a:r>
              <a:rPr lang="en-AU" dirty="0"/>
              <a:t>Identify which cloud services are in use, who is using them, and what the security risks </a:t>
            </a:r>
          </a:p>
          <a:p>
            <a:pPr algn="just">
              <a:lnSpc>
                <a:spcPct val="150000"/>
              </a:lnSpc>
              <a:buFont typeface="Wingdings" panose="05000000000000000000" pitchFamily="2" charset="2"/>
              <a:buChar char="Ø"/>
            </a:pPr>
            <a:r>
              <a:rPr lang="en-AU" dirty="0"/>
              <a:t>Assess and select cloud services </a:t>
            </a:r>
          </a:p>
          <a:p>
            <a:pPr algn="just">
              <a:lnSpc>
                <a:spcPct val="150000"/>
              </a:lnSpc>
              <a:buFont typeface="Wingdings" panose="05000000000000000000" pitchFamily="2" charset="2"/>
              <a:buChar char="Ø"/>
            </a:pPr>
            <a:r>
              <a:rPr lang="en-AU" dirty="0"/>
              <a:t>Identify unauthorized or insecure use of the cloud</a:t>
            </a:r>
          </a:p>
          <a:p>
            <a:pPr algn="just">
              <a:lnSpc>
                <a:spcPct val="150000"/>
              </a:lnSpc>
              <a:buFont typeface="Wingdings" panose="05000000000000000000" pitchFamily="2" charset="2"/>
              <a:buChar char="Ø"/>
            </a:pPr>
            <a:r>
              <a:rPr lang="en-AU" dirty="0"/>
              <a:t>Protect organization data in the cloud</a:t>
            </a:r>
          </a:p>
        </p:txBody>
      </p:sp>
    </p:spTree>
    <p:extLst>
      <p:ext uri="{BB962C8B-B14F-4D97-AF65-F5344CB8AC3E}">
        <p14:creationId xmlns:p14="http://schemas.microsoft.com/office/powerpoint/2010/main" val="3953689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9CC3D-F493-4626-B324-1B1B2FA137B1}"/>
              </a:ext>
            </a:extLst>
          </p:cNvPr>
          <p:cNvSpPr>
            <a:spLocks noGrp="1"/>
          </p:cNvSpPr>
          <p:nvPr>
            <p:ph type="title"/>
          </p:nvPr>
        </p:nvSpPr>
        <p:spPr/>
        <p:txBody>
          <a:bodyPr/>
          <a:lstStyle/>
          <a:p>
            <a:r>
              <a:rPr lang="en-AU" dirty="0"/>
              <a:t>6. Restrict the Download of Sensitive Data to Risky or Insecure Devices</a:t>
            </a:r>
          </a:p>
        </p:txBody>
      </p:sp>
      <p:sp>
        <p:nvSpPr>
          <p:cNvPr id="3" name="Content Placeholder 2">
            <a:extLst>
              <a:ext uri="{FF2B5EF4-FFF2-40B4-BE49-F238E27FC236}">
                <a16:creationId xmlns:a16="http://schemas.microsoft.com/office/drawing/2014/main" id="{2ED6E9CE-73BB-4560-90A5-BF5ABFF2F6F3}"/>
              </a:ext>
            </a:extLst>
          </p:cNvPr>
          <p:cNvSpPr>
            <a:spLocks noGrp="1"/>
          </p:cNvSpPr>
          <p:nvPr>
            <p:ph idx="1"/>
          </p:nvPr>
        </p:nvSpPr>
        <p:spPr>
          <a:xfrm>
            <a:off x="1097280" y="1845733"/>
            <a:ext cx="10058400" cy="4618861"/>
          </a:xfrm>
        </p:spPr>
        <p:txBody>
          <a:bodyPr>
            <a:normAutofit/>
          </a:bodyPr>
          <a:lstStyle/>
          <a:p>
            <a:pPr algn="just">
              <a:lnSpc>
                <a:spcPct val="150000"/>
              </a:lnSpc>
              <a:buFont typeface="Wingdings" panose="05000000000000000000" pitchFamily="2" charset="2"/>
              <a:buChar char="q"/>
            </a:pPr>
            <a:r>
              <a:rPr lang="en-AU" dirty="0"/>
              <a:t>Despite the most stringent access controls, data loss often occurs due to files being downloaded to devices. </a:t>
            </a:r>
          </a:p>
          <a:p>
            <a:pPr algn="just">
              <a:lnSpc>
                <a:spcPct val="150000"/>
              </a:lnSpc>
              <a:buFont typeface="Wingdings" panose="05000000000000000000" pitchFamily="2" charset="2"/>
              <a:buChar char="q"/>
            </a:pPr>
            <a:r>
              <a:rPr lang="en-AU" dirty="0"/>
              <a:t>make sure to create security policies to block and protect downloads to unknown devices</a:t>
            </a:r>
          </a:p>
          <a:p>
            <a:pPr algn="just">
              <a:lnSpc>
                <a:spcPct val="150000"/>
              </a:lnSpc>
              <a:buFont typeface="Wingdings" panose="05000000000000000000" pitchFamily="2" charset="2"/>
              <a:buChar char="q"/>
            </a:pPr>
            <a:r>
              <a:rPr lang="en-AU" dirty="0"/>
              <a:t>It ensuring your data is protected and shared only with the right user group.</a:t>
            </a:r>
          </a:p>
        </p:txBody>
      </p:sp>
    </p:spTree>
    <p:extLst>
      <p:ext uri="{BB962C8B-B14F-4D97-AF65-F5344CB8AC3E}">
        <p14:creationId xmlns:p14="http://schemas.microsoft.com/office/powerpoint/2010/main" val="4097374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9CC3D-F493-4626-B324-1B1B2FA137B1}"/>
              </a:ext>
            </a:extLst>
          </p:cNvPr>
          <p:cNvSpPr>
            <a:spLocks noGrp="1"/>
          </p:cNvSpPr>
          <p:nvPr>
            <p:ph type="title"/>
          </p:nvPr>
        </p:nvSpPr>
        <p:spPr/>
        <p:txBody>
          <a:bodyPr/>
          <a:lstStyle/>
          <a:p>
            <a:r>
              <a:rPr lang="en-AU" dirty="0"/>
              <a:t>7. Enforce Real-Time Session Controls to Secure Collaboration with External Users</a:t>
            </a:r>
          </a:p>
        </p:txBody>
      </p:sp>
      <p:sp>
        <p:nvSpPr>
          <p:cNvPr id="3" name="Content Placeholder 2">
            <a:extLst>
              <a:ext uri="{FF2B5EF4-FFF2-40B4-BE49-F238E27FC236}">
                <a16:creationId xmlns:a16="http://schemas.microsoft.com/office/drawing/2014/main" id="{2ED6E9CE-73BB-4560-90A5-BF5ABFF2F6F3}"/>
              </a:ext>
            </a:extLst>
          </p:cNvPr>
          <p:cNvSpPr>
            <a:spLocks noGrp="1"/>
          </p:cNvSpPr>
          <p:nvPr>
            <p:ph idx="1"/>
          </p:nvPr>
        </p:nvSpPr>
        <p:spPr>
          <a:xfrm>
            <a:off x="361507" y="1845733"/>
            <a:ext cx="11142921" cy="4618861"/>
          </a:xfrm>
        </p:spPr>
        <p:txBody>
          <a:bodyPr>
            <a:normAutofit/>
          </a:bodyPr>
          <a:lstStyle/>
          <a:p>
            <a:pPr algn="just">
              <a:lnSpc>
                <a:spcPct val="150000"/>
              </a:lnSpc>
              <a:buFont typeface="Wingdings" panose="05000000000000000000" pitchFamily="2" charset="2"/>
              <a:buChar char="q"/>
            </a:pPr>
            <a:r>
              <a:rPr lang="en-AU" dirty="0"/>
              <a:t>You can create a session policy that lets you monitor sessions between internal and external users. </a:t>
            </a:r>
          </a:p>
          <a:p>
            <a:pPr algn="just">
              <a:lnSpc>
                <a:spcPct val="150000"/>
              </a:lnSpc>
              <a:buFont typeface="Wingdings" panose="05000000000000000000" pitchFamily="2" charset="2"/>
              <a:buChar char="q"/>
            </a:pPr>
            <a:r>
              <a:rPr lang="en-AU" dirty="0"/>
              <a:t>Potentially risky or suspicious users can be monitored when they sign into applications and their actions are logged into the session. </a:t>
            </a:r>
          </a:p>
          <a:p>
            <a:pPr algn="just">
              <a:lnSpc>
                <a:spcPct val="150000"/>
              </a:lnSpc>
              <a:buFont typeface="Wingdings" panose="05000000000000000000" pitchFamily="2" charset="2"/>
              <a:buChar char="q"/>
            </a:pPr>
            <a:r>
              <a:rPr lang="en-AU" dirty="0"/>
              <a:t>Moreover, you can also prevent data exfiltration by blocking functions like cutting, copying, pasting, downloading, or printing of confidential data. </a:t>
            </a:r>
          </a:p>
        </p:txBody>
      </p:sp>
    </p:spTree>
    <p:extLst>
      <p:ext uri="{BB962C8B-B14F-4D97-AF65-F5344CB8AC3E}">
        <p14:creationId xmlns:p14="http://schemas.microsoft.com/office/powerpoint/2010/main" val="392336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9CC3D-F493-4626-B324-1B1B2FA137B1}"/>
              </a:ext>
            </a:extLst>
          </p:cNvPr>
          <p:cNvSpPr>
            <a:spLocks noGrp="1"/>
          </p:cNvSpPr>
          <p:nvPr>
            <p:ph type="title"/>
          </p:nvPr>
        </p:nvSpPr>
        <p:spPr/>
        <p:txBody>
          <a:bodyPr/>
          <a:lstStyle/>
          <a:p>
            <a:r>
              <a:rPr lang="en-AU" dirty="0"/>
              <a:t>8. Automate &amp; Remediate Cloud Application Security Risks</a:t>
            </a:r>
          </a:p>
        </p:txBody>
      </p:sp>
      <p:sp>
        <p:nvSpPr>
          <p:cNvPr id="3" name="Content Placeholder 2">
            <a:extLst>
              <a:ext uri="{FF2B5EF4-FFF2-40B4-BE49-F238E27FC236}">
                <a16:creationId xmlns:a16="http://schemas.microsoft.com/office/drawing/2014/main" id="{2ED6E9CE-73BB-4560-90A5-BF5ABFF2F6F3}"/>
              </a:ext>
            </a:extLst>
          </p:cNvPr>
          <p:cNvSpPr>
            <a:spLocks noGrp="1"/>
          </p:cNvSpPr>
          <p:nvPr>
            <p:ph idx="1"/>
          </p:nvPr>
        </p:nvSpPr>
        <p:spPr>
          <a:xfrm>
            <a:off x="1097280" y="1845733"/>
            <a:ext cx="10058400" cy="4618861"/>
          </a:xfrm>
        </p:spPr>
        <p:txBody>
          <a:bodyPr>
            <a:normAutofit/>
          </a:bodyPr>
          <a:lstStyle/>
          <a:p>
            <a:pPr algn="just">
              <a:lnSpc>
                <a:spcPct val="150000"/>
              </a:lnSpc>
              <a:buFont typeface="Wingdings" panose="05000000000000000000" pitchFamily="2" charset="2"/>
              <a:buChar char="q"/>
            </a:pPr>
            <a:r>
              <a:rPr lang="en-AU" dirty="0"/>
              <a:t>Using tools and automation can help the application security team stay on top of the game</a:t>
            </a:r>
          </a:p>
          <a:p>
            <a:pPr algn="just">
              <a:lnSpc>
                <a:spcPct val="150000"/>
              </a:lnSpc>
              <a:buFont typeface="Wingdings" panose="05000000000000000000" pitchFamily="2" charset="2"/>
              <a:buChar char="q"/>
            </a:pPr>
            <a:r>
              <a:rPr lang="en-AU" dirty="0"/>
              <a:t>Cloud automation helps improve application security and resilience within an organization </a:t>
            </a:r>
          </a:p>
          <a:p>
            <a:pPr algn="just">
              <a:lnSpc>
                <a:spcPct val="150000"/>
              </a:lnSpc>
              <a:buFont typeface="Wingdings" panose="05000000000000000000" pitchFamily="2" charset="2"/>
              <a:buChar char="q"/>
            </a:pPr>
            <a:r>
              <a:rPr lang="en-AU" dirty="0"/>
              <a:t>Moreover, the risk of human error is significantly reduced</a:t>
            </a:r>
          </a:p>
        </p:txBody>
      </p:sp>
    </p:spTree>
    <p:extLst>
      <p:ext uri="{BB962C8B-B14F-4D97-AF65-F5344CB8AC3E}">
        <p14:creationId xmlns:p14="http://schemas.microsoft.com/office/powerpoint/2010/main" val="2472583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9CC3D-F493-4626-B324-1B1B2FA137B1}"/>
              </a:ext>
            </a:extLst>
          </p:cNvPr>
          <p:cNvSpPr>
            <a:spLocks noGrp="1"/>
          </p:cNvSpPr>
          <p:nvPr>
            <p:ph type="title"/>
          </p:nvPr>
        </p:nvSpPr>
        <p:spPr/>
        <p:txBody>
          <a:bodyPr/>
          <a:lstStyle/>
          <a:p>
            <a:r>
              <a:rPr lang="en-AU" dirty="0"/>
              <a:t>9. Malware Threat Protection</a:t>
            </a:r>
          </a:p>
        </p:txBody>
      </p:sp>
      <p:sp>
        <p:nvSpPr>
          <p:cNvPr id="3" name="Content Placeholder 2">
            <a:extLst>
              <a:ext uri="{FF2B5EF4-FFF2-40B4-BE49-F238E27FC236}">
                <a16:creationId xmlns:a16="http://schemas.microsoft.com/office/drawing/2014/main" id="{2ED6E9CE-73BB-4560-90A5-BF5ABFF2F6F3}"/>
              </a:ext>
            </a:extLst>
          </p:cNvPr>
          <p:cNvSpPr>
            <a:spLocks noGrp="1"/>
          </p:cNvSpPr>
          <p:nvPr>
            <p:ph idx="1"/>
          </p:nvPr>
        </p:nvSpPr>
        <p:spPr>
          <a:xfrm>
            <a:off x="467833" y="1845733"/>
            <a:ext cx="11419367" cy="4618861"/>
          </a:xfrm>
        </p:spPr>
        <p:txBody>
          <a:bodyPr>
            <a:normAutofit/>
          </a:bodyPr>
          <a:lstStyle/>
          <a:p>
            <a:pPr algn="just">
              <a:lnSpc>
                <a:spcPct val="150000"/>
              </a:lnSpc>
              <a:buFont typeface="Wingdings" panose="05000000000000000000" pitchFamily="2" charset="2"/>
              <a:buChar char="q"/>
            </a:pPr>
            <a:r>
              <a:rPr lang="en-AU" sz="1650" dirty="0"/>
              <a:t>Malware threat protection is becoming increasingly difficult as attackers use advanced components to pose severe threats to the cloud infrastructure.</a:t>
            </a:r>
          </a:p>
          <a:p>
            <a:pPr algn="just">
              <a:lnSpc>
                <a:spcPct val="150000"/>
              </a:lnSpc>
              <a:buFont typeface="Wingdings" panose="05000000000000000000" pitchFamily="2" charset="2"/>
              <a:buChar char="q"/>
            </a:pPr>
            <a:r>
              <a:rPr lang="en-AU" sz="1650" dirty="0"/>
              <a:t>To address malware threats in the cloud, you can consider the following application security activities:</a:t>
            </a:r>
          </a:p>
          <a:p>
            <a:pPr algn="just">
              <a:lnSpc>
                <a:spcPct val="150000"/>
              </a:lnSpc>
              <a:buFont typeface="Wingdings" panose="05000000000000000000" pitchFamily="2" charset="2"/>
              <a:buChar char="q"/>
            </a:pPr>
            <a:r>
              <a:rPr lang="en-AU" sz="1650" dirty="0"/>
              <a:t>Endpoint protection to the highest application security standards: detect most malware coming from endpoints like laptops, desktops, etc.</a:t>
            </a:r>
          </a:p>
          <a:p>
            <a:pPr algn="just">
              <a:lnSpc>
                <a:spcPct val="150000"/>
              </a:lnSpc>
              <a:buFont typeface="Wingdings" panose="05000000000000000000" pitchFamily="2" charset="2"/>
              <a:buChar char="q"/>
            </a:pPr>
            <a:r>
              <a:rPr lang="en-AU" sz="1650" dirty="0"/>
              <a:t>Create a BYOD (bring your own device) protection policy.</a:t>
            </a:r>
          </a:p>
          <a:p>
            <a:pPr algn="just">
              <a:lnSpc>
                <a:spcPct val="150000"/>
              </a:lnSpc>
              <a:buFont typeface="Wingdings" panose="05000000000000000000" pitchFamily="2" charset="2"/>
              <a:buChar char="q"/>
            </a:pPr>
            <a:r>
              <a:rPr lang="en-AU" sz="1650" dirty="0"/>
              <a:t>Use advanced threat protection tools and processes </a:t>
            </a:r>
          </a:p>
          <a:p>
            <a:pPr algn="just">
              <a:lnSpc>
                <a:spcPct val="150000"/>
              </a:lnSpc>
              <a:buFont typeface="Wingdings" panose="05000000000000000000" pitchFamily="2" charset="2"/>
              <a:buChar char="q"/>
            </a:pPr>
            <a:r>
              <a:rPr lang="en-AU" sz="1650" dirty="0"/>
              <a:t>Add a cloud-specific protective layer</a:t>
            </a:r>
          </a:p>
        </p:txBody>
      </p:sp>
    </p:spTree>
    <p:extLst>
      <p:ext uri="{BB962C8B-B14F-4D97-AF65-F5344CB8AC3E}">
        <p14:creationId xmlns:p14="http://schemas.microsoft.com/office/powerpoint/2010/main" val="9965940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41D8F-74A2-4BFD-99BD-E7C6DE5E1D67}"/>
              </a:ext>
            </a:extLst>
          </p:cNvPr>
          <p:cNvSpPr>
            <a:spLocks noGrp="1"/>
          </p:cNvSpPr>
          <p:nvPr>
            <p:ph type="title"/>
          </p:nvPr>
        </p:nvSpPr>
        <p:spPr/>
        <p:txBody>
          <a:bodyPr/>
          <a:lstStyle/>
          <a:p>
            <a:r>
              <a:rPr lang="en-AU" dirty="0"/>
              <a:t>10. Secure IaaS Services and Custom Apps</a:t>
            </a:r>
          </a:p>
        </p:txBody>
      </p:sp>
      <p:sp>
        <p:nvSpPr>
          <p:cNvPr id="3" name="Content Placeholder 2">
            <a:extLst>
              <a:ext uri="{FF2B5EF4-FFF2-40B4-BE49-F238E27FC236}">
                <a16:creationId xmlns:a16="http://schemas.microsoft.com/office/drawing/2014/main" id="{A5383623-7F47-4BAA-8574-5D5B7EC72242}"/>
              </a:ext>
            </a:extLst>
          </p:cNvPr>
          <p:cNvSpPr>
            <a:spLocks noGrp="1"/>
          </p:cNvSpPr>
          <p:nvPr>
            <p:ph idx="1"/>
          </p:nvPr>
        </p:nvSpPr>
        <p:spPr>
          <a:xfrm>
            <a:off x="1097280" y="1845734"/>
            <a:ext cx="10058400" cy="4193560"/>
          </a:xfrm>
        </p:spPr>
        <p:txBody>
          <a:bodyPr>
            <a:normAutofit/>
          </a:bodyPr>
          <a:lstStyle/>
          <a:p>
            <a:pPr algn="just">
              <a:lnSpc>
                <a:spcPct val="150000"/>
              </a:lnSpc>
              <a:buFont typeface="Wingdings" panose="05000000000000000000" pitchFamily="2" charset="2"/>
              <a:buChar char="q"/>
            </a:pPr>
            <a:r>
              <a:rPr lang="en-AU" dirty="0"/>
              <a:t>Cloud platforms allow third-party applications or SaaS (Software as a Service) and IaaS (Infrastructure as a service) to be offered to their customers.</a:t>
            </a:r>
          </a:p>
          <a:p>
            <a:pPr algn="just">
              <a:lnSpc>
                <a:spcPct val="150000"/>
              </a:lnSpc>
              <a:buFont typeface="Wingdings" panose="05000000000000000000" pitchFamily="2" charset="2"/>
              <a:buChar char="q"/>
            </a:pPr>
            <a:r>
              <a:rPr lang="en-AU" dirty="0"/>
              <a:t>Integrating these applications into your cloud storage has its security risks.</a:t>
            </a:r>
          </a:p>
          <a:p>
            <a:pPr algn="just">
              <a:lnSpc>
                <a:spcPct val="150000"/>
              </a:lnSpc>
              <a:buFont typeface="Wingdings" panose="05000000000000000000" pitchFamily="2" charset="2"/>
              <a:buChar char="q"/>
            </a:pPr>
            <a:r>
              <a:rPr lang="en-AU" dirty="0"/>
              <a:t>Security configuration </a:t>
            </a:r>
          </a:p>
          <a:p>
            <a:pPr algn="just">
              <a:lnSpc>
                <a:spcPct val="150000"/>
              </a:lnSpc>
              <a:buFont typeface="Wingdings" panose="05000000000000000000" pitchFamily="2" charset="2"/>
              <a:buChar char="q"/>
            </a:pPr>
            <a:r>
              <a:rPr lang="en-AU" dirty="0"/>
              <a:t>Use the recommended application security settings</a:t>
            </a:r>
          </a:p>
        </p:txBody>
      </p:sp>
      <p:sp>
        <p:nvSpPr>
          <p:cNvPr id="4" name="Rectangle 3">
            <a:extLst>
              <a:ext uri="{FF2B5EF4-FFF2-40B4-BE49-F238E27FC236}">
                <a16:creationId xmlns:a16="http://schemas.microsoft.com/office/drawing/2014/main" id="{0CAA274B-0E06-454A-AC6D-F9BC6FE7D3C5}"/>
              </a:ext>
            </a:extLst>
          </p:cNvPr>
          <p:cNvSpPr/>
          <p:nvPr/>
        </p:nvSpPr>
        <p:spPr>
          <a:xfrm>
            <a:off x="8449339" y="6039946"/>
            <a:ext cx="3331535" cy="215444"/>
          </a:xfrm>
          <a:prstGeom prst="rect">
            <a:avLst/>
          </a:prstGeom>
        </p:spPr>
        <p:txBody>
          <a:bodyPr wrap="square">
            <a:spAutoFit/>
          </a:bodyPr>
          <a:lstStyle/>
          <a:p>
            <a:r>
              <a:rPr lang="en-AU" sz="800" dirty="0"/>
              <a:t>https://www.cypressdatadefense.com/blog/application-security-in-cloud/</a:t>
            </a:r>
          </a:p>
        </p:txBody>
      </p:sp>
    </p:spTree>
    <p:extLst>
      <p:ext uri="{BB962C8B-B14F-4D97-AF65-F5344CB8AC3E}">
        <p14:creationId xmlns:p14="http://schemas.microsoft.com/office/powerpoint/2010/main" val="137867212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417</TotalTime>
  <Words>975</Words>
  <Application>Microsoft Office PowerPoint</Application>
  <PresentationFormat>Widescreen</PresentationFormat>
  <Paragraphs>81</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Calibri</vt:lpstr>
      <vt:lpstr>Calibri Light</vt:lpstr>
      <vt:lpstr>Wingdings</vt:lpstr>
      <vt:lpstr>Retrospect</vt:lpstr>
      <vt:lpstr>Notes</vt:lpstr>
      <vt:lpstr>After a year of GDPR, Australian companies are still feeling their way towards compliance</vt:lpstr>
      <vt:lpstr>How to draw up a comprehensive cloud security policy</vt:lpstr>
      <vt:lpstr>How to draw up a comprehensive cloud security policy</vt:lpstr>
      <vt:lpstr>DEVELOPING A BYOD-FRIENDLY SECURITY POLICY</vt:lpstr>
      <vt:lpstr>Best Practices for Application Security in the Cloud</vt:lpstr>
      <vt:lpstr>Best Practices for Application Security in the Cloud</vt:lpstr>
      <vt:lpstr>3. Apply Cloud Governance Policies</vt:lpstr>
      <vt:lpstr>4. Identify, Categorize, and Protect Sensitive Data Stored in the Cloud</vt:lpstr>
      <vt:lpstr>5. Employ DLP with CASBs</vt:lpstr>
      <vt:lpstr>Employ DLP with CASBs</vt:lpstr>
      <vt:lpstr>6. Restrict the Download of Sensitive Data to Risky or Insecure Devices</vt:lpstr>
      <vt:lpstr>7. Enforce Real-Time Session Controls to Secure Collaboration with External Users</vt:lpstr>
      <vt:lpstr>8. Automate &amp; Remediate Cloud Application Security Risks</vt:lpstr>
      <vt:lpstr>9. Malware Threat Protection</vt:lpstr>
      <vt:lpstr>10. Secure IaaS Services and Custom Apps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Notes</dc:title>
  <dc:creator>Supriya Supriya</dc:creator>
  <cp:lastModifiedBy>Supriya Supriya</cp:lastModifiedBy>
  <cp:revision>29</cp:revision>
  <dcterms:created xsi:type="dcterms:W3CDTF">2022-04-28T21:52:58Z</dcterms:created>
  <dcterms:modified xsi:type="dcterms:W3CDTF">2022-08-12T05:03:35Z</dcterms:modified>
</cp:coreProperties>
</file>