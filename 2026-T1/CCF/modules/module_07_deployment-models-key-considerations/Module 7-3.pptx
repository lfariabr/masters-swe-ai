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95" r:id="rId3"/>
    <p:sldId id="296" r:id="rId4"/>
    <p:sldId id="297" r:id="rId5"/>
    <p:sldId id="298" r:id="rId6"/>
    <p:sldId id="257" r:id="rId7"/>
    <p:sldId id="258" r:id="rId8"/>
    <p:sldId id="259" r:id="rId9"/>
    <p:sldId id="260" r:id="rId10"/>
    <p:sldId id="263" r:id="rId11"/>
    <p:sldId id="261" r:id="rId12"/>
    <p:sldId id="262" r:id="rId13"/>
    <p:sldId id="264" r:id="rId14"/>
    <p:sldId id="265" r:id="rId15"/>
    <p:sldId id="266" r:id="rId16"/>
    <p:sldId id="268" r:id="rId17"/>
    <p:sldId id="269" r:id="rId18"/>
    <p:sldId id="267" r:id="rId19"/>
    <p:sldId id="270" r:id="rId20"/>
    <p:sldId id="271" r:id="rId21"/>
    <p:sldId id="272" r:id="rId22"/>
    <p:sldId id="276" r:id="rId23"/>
    <p:sldId id="273" r:id="rId24"/>
    <p:sldId id="274" r:id="rId25"/>
    <p:sldId id="277" r:id="rId26"/>
    <p:sldId id="279" r:id="rId27"/>
    <p:sldId id="280" r:id="rId28"/>
    <p:sldId id="284" r:id="rId29"/>
    <p:sldId id="294" r:id="rId30"/>
    <p:sldId id="286" r:id="rId31"/>
    <p:sldId id="287" r:id="rId32"/>
    <p:sldId id="288" r:id="rId33"/>
    <p:sldId id="292" r:id="rId34"/>
    <p:sldId id="29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09" autoAdjust="0"/>
    <p:restoredTop sz="94660"/>
  </p:normalViewPr>
  <p:slideViewPr>
    <p:cSldViewPr snapToGrid="0">
      <p:cViewPr varScale="1">
        <p:scale>
          <a:sx n="60" d="100"/>
          <a:sy n="60" d="100"/>
        </p:scale>
        <p:origin x="69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77DFED0-800E-4DAA-A52F-0FA2D2890C2B}" type="datetimeFigureOut">
              <a:rPr lang="en-AU" smtClean="0"/>
              <a:t>28/10/2022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7E40A7-7853-4549-B2F0-E0EB588EDB3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7277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7DFED0-800E-4DAA-A52F-0FA2D2890C2B}" type="datetimeFigureOut">
              <a:rPr lang="en-AU" smtClean="0"/>
              <a:t>28/10/2022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3779787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7DFED0-800E-4DAA-A52F-0FA2D2890C2B}" type="datetimeFigureOut">
              <a:rPr lang="en-AU" smtClean="0"/>
              <a:t>28/10/2022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7E40A7-7853-4549-B2F0-E0EB588EDB33}"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60398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77DFED0-800E-4DAA-A52F-0FA2D2890C2B}" type="datetimeFigureOut">
              <a:rPr lang="en-AU" smtClean="0"/>
              <a:t>28/10/2022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2128278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77DFED0-800E-4DAA-A52F-0FA2D2890C2B}" type="datetimeFigureOut">
              <a:rPr lang="en-AU" smtClean="0"/>
              <a:t>28/10/2022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1321266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DFED0-800E-4DAA-A52F-0FA2D2890C2B}" type="datetimeFigureOut">
              <a:rPr lang="en-AU" smtClean="0"/>
              <a:t>28/10/2022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18099029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77DFED0-800E-4DAA-A52F-0FA2D2890C2B}" type="datetimeFigureOut">
              <a:rPr lang="en-AU" smtClean="0"/>
              <a:t>28/10/2022</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2845889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77DFED0-800E-4DAA-A52F-0FA2D2890C2B}" type="datetimeFigureOut">
              <a:rPr lang="en-AU" smtClean="0"/>
              <a:t>28/10/2022</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37E40A7-7853-4549-B2F0-E0EB588EDB33}" type="slidenum">
              <a:rPr lang="en-AU" smtClean="0"/>
              <a:t>‹#›</a:t>
            </a:fld>
            <a:endParaRPr lang="en-AU"/>
          </a:p>
        </p:txBody>
      </p:sp>
    </p:spTree>
    <p:extLst>
      <p:ext uri="{BB962C8B-B14F-4D97-AF65-F5344CB8AC3E}">
        <p14:creationId xmlns:p14="http://schemas.microsoft.com/office/powerpoint/2010/main" val="13888126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677DFED0-800E-4DAA-A52F-0FA2D2890C2B}" type="datetimeFigureOut">
              <a:rPr lang="en-AU" smtClean="0"/>
              <a:t>28/10/2022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2353369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7DFED0-800E-4DAA-A52F-0FA2D2890C2B}" type="datetimeFigureOut">
              <a:rPr lang="en-AU" smtClean="0"/>
              <a:t>28/10/2022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835850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7DFED0-800E-4DAA-A52F-0FA2D2890C2B}" type="datetimeFigureOut">
              <a:rPr lang="en-AU" smtClean="0"/>
              <a:t>28/10/2022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37E40A7-7853-4549-B2F0-E0EB588EDB33}" type="slidenum">
              <a:rPr lang="en-AU" smtClean="0"/>
              <a:t>‹#›</a:t>
            </a:fld>
            <a:endParaRPr lang="en-AU"/>
          </a:p>
        </p:txBody>
      </p:sp>
    </p:spTree>
    <p:extLst>
      <p:ext uri="{BB962C8B-B14F-4D97-AF65-F5344CB8AC3E}">
        <p14:creationId xmlns:p14="http://schemas.microsoft.com/office/powerpoint/2010/main" val="1189183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77DFED0-800E-4DAA-A52F-0FA2D2890C2B}" type="datetimeFigureOut">
              <a:rPr lang="en-AU" smtClean="0"/>
              <a:t>28/10/2022</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E37E40A7-7853-4549-B2F0-E0EB588EDB33}"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73998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6D8F-4388-460F-B885-686E6F8EF4B7}"/>
              </a:ext>
            </a:extLst>
          </p:cNvPr>
          <p:cNvSpPr>
            <a:spLocks noGrp="1"/>
          </p:cNvSpPr>
          <p:nvPr>
            <p:ph type="ctrTitle"/>
          </p:nvPr>
        </p:nvSpPr>
        <p:spPr/>
        <p:txBody>
          <a:bodyPr/>
          <a:lstStyle/>
          <a:p>
            <a:r>
              <a:rPr lang="en-US" dirty="0"/>
              <a:t>Notes</a:t>
            </a:r>
            <a:endParaRPr lang="en-AU" dirty="0"/>
          </a:p>
        </p:txBody>
      </p:sp>
    </p:spTree>
    <p:extLst>
      <p:ext uri="{BB962C8B-B14F-4D97-AF65-F5344CB8AC3E}">
        <p14:creationId xmlns:p14="http://schemas.microsoft.com/office/powerpoint/2010/main" val="10597113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794AD-494B-41FD-A2E7-1AB99D816F28}"/>
              </a:ext>
            </a:extLst>
          </p:cNvPr>
          <p:cNvSpPr>
            <a:spLocks noGrp="1"/>
          </p:cNvSpPr>
          <p:nvPr>
            <p:ph type="title"/>
          </p:nvPr>
        </p:nvSpPr>
        <p:spPr/>
        <p:txBody>
          <a:bodyPr/>
          <a:lstStyle/>
          <a:p>
            <a:r>
              <a:rPr lang="en-AU" dirty="0"/>
              <a:t>Intercloud</a:t>
            </a:r>
          </a:p>
        </p:txBody>
      </p:sp>
      <p:pic>
        <p:nvPicPr>
          <p:cNvPr id="4" name="Content Placeholder 3">
            <a:extLst>
              <a:ext uri="{FF2B5EF4-FFF2-40B4-BE49-F238E27FC236}">
                <a16:creationId xmlns:a16="http://schemas.microsoft.com/office/drawing/2014/main" id="{E29693E1-400D-4041-942A-02AC74ABC2CE}"/>
              </a:ext>
            </a:extLst>
          </p:cNvPr>
          <p:cNvPicPr>
            <a:picLocks noGrp="1" noChangeAspect="1"/>
          </p:cNvPicPr>
          <p:nvPr>
            <p:ph idx="1"/>
          </p:nvPr>
        </p:nvPicPr>
        <p:blipFill>
          <a:blip r:embed="rId2"/>
          <a:stretch>
            <a:fillRect/>
          </a:stretch>
        </p:blipFill>
        <p:spPr>
          <a:xfrm>
            <a:off x="1972227" y="2052084"/>
            <a:ext cx="8010162" cy="4004222"/>
          </a:xfrm>
          <a:prstGeom prst="rect">
            <a:avLst/>
          </a:prstGeom>
        </p:spPr>
      </p:pic>
      <p:sp>
        <p:nvSpPr>
          <p:cNvPr id="5" name="Rectangle 4">
            <a:extLst>
              <a:ext uri="{FF2B5EF4-FFF2-40B4-BE49-F238E27FC236}">
                <a16:creationId xmlns:a16="http://schemas.microsoft.com/office/drawing/2014/main" id="{368FD8D9-D313-4F35-8726-8D94E6AAF00F}"/>
              </a:ext>
            </a:extLst>
          </p:cNvPr>
          <p:cNvSpPr/>
          <p:nvPr/>
        </p:nvSpPr>
        <p:spPr>
          <a:xfrm>
            <a:off x="2732567" y="6056306"/>
            <a:ext cx="9539290" cy="215444"/>
          </a:xfrm>
          <a:prstGeom prst="rect">
            <a:avLst/>
          </a:prstGeom>
        </p:spPr>
        <p:txBody>
          <a:bodyPr wrap="square">
            <a:spAutoFit/>
          </a:bodyPr>
          <a:lstStyle/>
          <a:p>
            <a:r>
              <a:rPr lang="en-AU" sz="800" dirty="0"/>
              <a:t>https://www.bbvaopenmind.com/en/technology/digital-world/cloud-clouds-intercloud/#:~:text=Intercloud%20or%20'cloud%20of%20clouds,terms%20of%20on%2Ddemand%20operations.</a:t>
            </a:r>
          </a:p>
        </p:txBody>
      </p:sp>
    </p:spTree>
    <p:extLst>
      <p:ext uri="{BB962C8B-B14F-4D97-AF65-F5344CB8AC3E}">
        <p14:creationId xmlns:p14="http://schemas.microsoft.com/office/powerpoint/2010/main" val="1455792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5F98-577B-4C8A-977E-CAFE6815567A}"/>
              </a:ext>
            </a:extLst>
          </p:cNvPr>
          <p:cNvSpPr>
            <a:spLocks noGrp="1"/>
          </p:cNvSpPr>
          <p:nvPr>
            <p:ph type="title"/>
          </p:nvPr>
        </p:nvSpPr>
        <p:spPr/>
        <p:txBody>
          <a:bodyPr/>
          <a:lstStyle/>
          <a:p>
            <a:r>
              <a:rPr lang="en-AU" dirty="0"/>
              <a:t>Mobile Cloud Computing</a:t>
            </a:r>
          </a:p>
        </p:txBody>
      </p:sp>
      <p:sp>
        <p:nvSpPr>
          <p:cNvPr id="3" name="Content Placeholder 2">
            <a:extLst>
              <a:ext uri="{FF2B5EF4-FFF2-40B4-BE49-F238E27FC236}">
                <a16:creationId xmlns:a16="http://schemas.microsoft.com/office/drawing/2014/main" id="{572F6B8C-651C-4841-94BB-255EA5B0E659}"/>
              </a:ext>
            </a:extLst>
          </p:cNvPr>
          <p:cNvSpPr>
            <a:spLocks noGrp="1"/>
          </p:cNvSpPr>
          <p:nvPr>
            <p:ph idx="1"/>
          </p:nvPr>
        </p:nvSpPr>
        <p:spPr>
          <a:xfrm>
            <a:off x="1097280" y="1845734"/>
            <a:ext cx="5696925" cy="4023360"/>
          </a:xfrm>
        </p:spPr>
        <p:txBody>
          <a:bodyPr>
            <a:normAutofit fontScale="85000" lnSpcReduction="10000"/>
          </a:bodyPr>
          <a:lstStyle/>
          <a:p>
            <a:pPr algn="just">
              <a:lnSpc>
                <a:spcPct val="150000"/>
              </a:lnSpc>
              <a:buFont typeface="Wingdings" panose="05000000000000000000" pitchFamily="2" charset="2"/>
              <a:buChar char="q"/>
            </a:pPr>
            <a:r>
              <a:rPr lang="en-AU" dirty="0"/>
              <a:t>Mobile cloud computing (MCC) is the method of using cloud technology to deliver mobile apps. Complex mobile apps today perform tasks such as authentication, location-aware functions, and providing targeted content and communication for end users. </a:t>
            </a:r>
          </a:p>
          <a:p>
            <a:pPr algn="just">
              <a:lnSpc>
                <a:spcPct val="150000"/>
              </a:lnSpc>
              <a:buFont typeface="Wingdings" panose="05000000000000000000" pitchFamily="2" charset="2"/>
              <a:buChar char="q"/>
            </a:pPr>
            <a:r>
              <a:rPr lang="en-AU" dirty="0"/>
              <a:t>Hence, they require extensive computational resources such as data storage capacity, memory, and processing power. </a:t>
            </a:r>
          </a:p>
          <a:p>
            <a:pPr algn="just">
              <a:lnSpc>
                <a:spcPct val="150000"/>
              </a:lnSpc>
              <a:buFont typeface="Wingdings" panose="05000000000000000000" pitchFamily="2" charset="2"/>
              <a:buChar char="q"/>
            </a:pPr>
            <a:r>
              <a:rPr lang="en-AU" dirty="0"/>
              <a:t>Mobile cloud computing takes the pressure off mobile devices by harnessing the power of cloud infrastructure.</a:t>
            </a:r>
          </a:p>
        </p:txBody>
      </p:sp>
      <p:pic>
        <p:nvPicPr>
          <p:cNvPr id="4" name="Picture 3">
            <a:extLst>
              <a:ext uri="{FF2B5EF4-FFF2-40B4-BE49-F238E27FC236}">
                <a16:creationId xmlns:a16="http://schemas.microsoft.com/office/drawing/2014/main" id="{1B76C7B7-0BDA-4A24-9748-D96B5727A77C}"/>
              </a:ext>
            </a:extLst>
          </p:cNvPr>
          <p:cNvPicPr>
            <a:picLocks noChangeAspect="1"/>
          </p:cNvPicPr>
          <p:nvPr/>
        </p:nvPicPr>
        <p:blipFill>
          <a:blip r:embed="rId2"/>
          <a:stretch>
            <a:fillRect/>
          </a:stretch>
        </p:blipFill>
        <p:spPr>
          <a:xfrm>
            <a:off x="7070651" y="1845734"/>
            <a:ext cx="4487493" cy="4267987"/>
          </a:xfrm>
          <a:prstGeom prst="rect">
            <a:avLst/>
          </a:prstGeom>
        </p:spPr>
      </p:pic>
    </p:spTree>
    <p:extLst>
      <p:ext uri="{BB962C8B-B14F-4D97-AF65-F5344CB8AC3E}">
        <p14:creationId xmlns:p14="http://schemas.microsoft.com/office/powerpoint/2010/main" val="4121465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25078-245F-4027-8901-D239B638AA67}"/>
              </a:ext>
            </a:extLst>
          </p:cNvPr>
          <p:cNvSpPr>
            <a:spLocks noGrp="1"/>
          </p:cNvSpPr>
          <p:nvPr>
            <p:ph type="title"/>
          </p:nvPr>
        </p:nvSpPr>
        <p:spPr/>
        <p:txBody>
          <a:bodyPr/>
          <a:lstStyle/>
          <a:p>
            <a:r>
              <a:rPr lang="en-AU" dirty="0"/>
              <a:t>A remote cloud server offering services to a mobile device.</a:t>
            </a:r>
          </a:p>
        </p:txBody>
      </p:sp>
      <p:pic>
        <p:nvPicPr>
          <p:cNvPr id="4" name="Content Placeholder 3">
            <a:extLst>
              <a:ext uri="{FF2B5EF4-FFF2-40B4-BE49-F238E27FC236}">
                <a16:creationId xmlns:a16="http://schemas.microsoft.com/office/drawing/2014/main" id="{C697BEBF-E105-4FED-9BF3-6AF86A08A753}"/>
              </a:ext>
            </a:extLst>
          </p:cNvPr>
          <p:cNvPicPr>
            <a:picLocks noGrp="1" noChangeAspect="1"/>
          </p:cNvPicPr>
          <p:nvPr>
            <p:ph idx="1"/>
          </p:nvPr>
        </p:nvPicPr>
        <p:blipFill>
          <a:blip r:embed="rId2"/>
          <a:stretch>
            <a:fillRect/>
          </a:stretch>
        </p:blipFill>
        <p:spPr>
          <a:xfrm>
            <a:off x="2119217" y="2090812"/>
            <a:ext cx="7035697" cy="4022725"/>
          </a:xfrm>
          <a:prstGeom prst="rect">
            <a:avLst/>
          </a:prstGeom>
        </p:spPr>
      </p:pic>
    </p:spTree>
    <p:extLst>
      <p:ext uri="{BB962C8B-B14F-4D97-AF65-F5344CB8AC3E}">
        <p14:creationId xmlns:p14="http://schemas.microsoft.com/office/powerpoint/2010/main" val="353537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967F6-0A80-4560-BC8E-AB8614D77B2C}"/>
              </a:ext>
            </a:extLst>
          </p:cNvPr>
          <p:cNvSpPr>
            <a:spLocks noGrp="1"/>
          </p:cNvSpPr>
          <p:nvPr>
            <p:ph type="title"/>
          </p:nvPr>
        </p:nvSpPr>
        <p:spPr/>
        <p:txBody>
          <a:bodyPr/>
          <a:lstStyle/>
          <a:p>
            <a:r>
              <a:rPr lang="en-AU" dirty="0"/>
              <a:t>Media Cloud </a:t>
            </a:r>
          </a:p>
        </p:txBody>
      </p:sp>
      <p:sp>
        <p:nvSpPr>
          <p:cNvPr id="3" name="Content Placeholder 2">
            <a:extLst>
              <a:ext uri="{FF2B5EF4-FFF2-40B4-BE49-F238E27FC236}">
                <a16:creationId xmlns:a16="http://schemas.microsoft.com/office/drawing/2014/main" id="{CE80A8D7-45F1-47C0-A35A-FA51622EF8BC}"/>
              </a:ext>
            </a:extLst>
          </p:cNvPr>
          <p:cNvSpPr>
            <a:spLocks noGrp="1"/>
          </p:cNvSpPr>
          <p:nvPr>
            <p:ph idx="1"/>
          </p:nvPr>
        </p:nvSpPr>
        <p:spPr/>
        <p:txBody>
          <a:bodyPr/>
          <a:lstStyle/>
          <a:p>
            <a:pPr algn="just">
              <a:lnSpc>
                <a:spcPct val="150000"/>
              </a:lnSpc>
            </a:pPr>
            <a:r>
              <a:rPr lang="en-AU" dirty="0"/>
              <a:t>Media Cloud is a platform for studying media ecosystems. By tracking millions of stories published online, the system allows researchers to track the spread of memes, media framings, and the tone of coverage of different stories. </a:t>
            </a:r>
          </a:p>
        </p:txBody>
      </p:sp>
      <p:pic>
        <p:nvPicPr>
          <p:cNvPr id="4" name="Picture 3">
            <a:extLst>
              <a:ext uri="{FF2B5EF4-FFF2-40B4-BE49-F238E27FC236}">
                <a16:creationId xmlns:a16="http://schemas.microsoft.com/office/drawing/2014/main" id="{7F129FCE-BD0C-4F1F-BC17-24EF7E74F253}"/>
              </a:ext>
            </a:extLst>
          </p:cNvPr>
          <p:cNvPicPr>
            <a:picLocks noChangeAspect="1"/>
          </p:cNvPicPr>
          <p:nvPr/>
        </p:nvPicPr>
        <p:blipFill>
          <a:blip r:embed="rId2"/>
          <a:stretch>
            <a:fillRect/>
          </a:stretch>
        </p:blipFill>
        <p:spPr>
          <a:xfrm>
            <a:off x="3438303" y="3588908"/>
            <a:ext cx="5676900" cy="2388560"/>
          </a:xfrm>
          <a:prstGeom prst="rect">
            <a:avLst/>
          </a:prstGeom>
        </p:spPr>
      </p:pic>
    </p:spTree>
    <p:extLst>
      <p:ext uri="{BB962C8B-B14F-4D97-AF65-F5344CB8AC3E}">
        <p14:creationId xmlns:p14="http://schemas.microsoft.com/office/powerpoint/2010/main" val="2807643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D9F79-31B2-47AD-968D-A2F6034BDA9B}"/>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6E741530-0052-4828-BF44-CE815417DF58}"/>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Certain situations–such as regulatory hurdles, security concerns, reliance on legacy applications, or abnormal data sets or workflows–have been encumbrances to migrating entire organizations to public cloud providers.</a:t>
            </a:r>
          </a:p>
          <a:p>
            <a:pPr algn="just">
              <a:lnSpc>
                <a:spcPct val="150000"/>
              </a:lnSpc>
              <a:buFont typeface="Wingdings" panose="05000000000000000000" pitchFamily="2" charset="2"/>
              <a:buChar char="q"/>
            </a:pPr>
            <a:r>
              <a:rPr lang="en-AU" dirty="0"/>
              <a:t>The solution is the hybrid cloud model.</a:t>
            </a:r>
          </a:p>
        </p:txBody>
      </p:sp>
    </p:spTree>
    <p:extLst>
      <p:ext uri="{BB962C8B-B14F-4D97-AF65-F5344CB8AC3E}">
        <p14:creationId xmlns:p14="http://schemas.microsoft.com/office/powerpoint/2010/main" val="1748087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E544E-DEA9-49FA-907F-3D2B7154C5A2}"/>
              </a:ext>
            </a:extLst>
          </p:cNvPr>
          <p:cNvSpPr>
            <a:spLocks noGrp="1"/>
          </p:cNvSpPr>
          <p:nvPr>
            <p:ph type="title"/>
          </p:nvPr>
        </p:nvSpPr>
        <p:spPr/>
        <p:txBody>
          <a:bodyPr/>
          <a:lstStyle/>
          <a:p>
            <a:r>
              <a:rPr lang="en-AU" dirty="0"/>
              <a:t>Executive summary</a:t>
            </a:r>
          </a:p>
        </p:txBody>
      </p:sp>
      <p:sp>
        <p:nvSpPr>
          <p:cNvPr id="3" name="Content Placeholder 2">
            <a:extLst>
              <a:ext uri="{FF2B5EF4-FFF2-40B4-BE49-F238E27FC236}">
                <a16:creationId xmlns:a16="http://schemas.microsoft.com/office/drawing/2014/main" id="{4E116106-78C1-49D8-A27F-372A88B4666A}"/>
              </a:ext>
            </a:extLst>
          </p:cNvPr>
          <p:cNvSpPr>
            <a:spLocks noGrp="1"/>
          </p:cNvSpPr>
          <p:nvPr>
            <p:ph idx="1"/>
          </p:nvPr>
        </p:nvSpPr>
        <p:spPr>
          <a:xfrm>
            <a:off x="1097280" y="1845734"/>
            <a:ext cx="10058400" cy="4438108"/>
          </a:xfrm>
        </p:spPr>
        <p:txBody>
          <a:bodyPr>
            <a:normAutofit fontScale="92500" lnSpcReduction="10000"/>
          </a:bodyPr>
          <a:lstStyle/>
          <a:p>
            <a:pPr algn="just">
              <a:lnSpc>
                <a:spcPct val="120000"/>
              </a:lnSpc>
              <a:buFont typeface="Wingdings" panose="05000000000000000000" pitchFamily="2" charset="2"/>
              <a:buChar char="q"/>
            </a:pPr>
            <a:r>
              <a:rPr lang="en-AU" dirty="0"/>
              <a:t>What is hybrid cloud? Hybrid cloud is the combination of compute and storage products from public cloud providers and private, on-premises hardware.</a:t>
            </a:r>
          </a:p>
          <a:p>
            <a:pPr algn="just">
              <a:lnSpc>
                <a:spcPct val="120000"/>
              </a:lnSpc>
              <a:buFont typeface="Wingdings" panose="05000000000000000000" pitchFamily="2" charset="2"/>
              <a:buChar char="q"/>
            </a:pPr>
            <a:r>
              <a:rPr lang="en-AU" dirty="0"/>
              <a:t>Why does hybrid cloud matter? Hybrid cloud systems do not have a single point of failure, and can be very effectively utilized for industries with variable workloads.</a:t>
            </a:r>
          </a:p>
          <a:p>
            <a:pPr algn="just">
              <a:lnSpc>
                <a:spcPct val="120000"/>
              </a:lnSpc>
              <a:buFont typeface="Wingdings" panose="05000000000000000000" pitchFamily="2" charset="2"/>
              <a:buChar char="q"/>
            </a:pPr>
            <a:r>
              <a:rPr lang="en-AU" dirty="0"/>
              <a:t>Who does hybrid cloud affect? Any industry with at minimum a need to safeguard data against loss can utilize a hybrid cloud solution.</a:t>
            </a:r>
          </a:p>
          <a:p>
            <a:pPr algn="just">
              <a:lnSpc>
                <a:spcPct val="120000"/>
              </a:lnSpc>
              <a:buFont typeface="Wingdings" panose="05000000000000000000" pitchFamily="2" charset="2"/>
              <a:buChar char="q"/>
            </a:pPr>
            <a:r>
              <a:rPr lang="en-AU" dirty="0"/>
              <a:t>What vendors offer hybrid cloud solutions? Vendors are becoming more responsive to the complexities of managing hybrid cloud deployments and are offering more solutions and tools to assist in transition and deployment.</a:t>
            </a:r>
          </a:p>
          <a:p>
            <a:pPr algn="just">
              <a:lnSpc>
                <a:spcPct val="120000"/>
              </a:lnSpc>
              <a:buFont typeface="Wingdings" panose="05000000000000000000" pitchFamily="2" charset="2"/>
              <a:buChar char="q"/>
            </a:pPr>
            <a:r>
              <a:rPr lang="en-AU" dirty="0"/>
              <a:t>How do I build a hybrid cloud? Building a hybrid cloud for your organization requires planning and forethought. Working with vendors to find solutions to your needs is advisable.</a:t>
            </a:r>
          </a:p>
        </p:txBody>
      </p:sp>
    </p:spTree>
    <p:extLst>
      <p:ext uri="{BB962C8B-B14F-4D97-AF65-F5344CB8AC3E}">
        <p14:creationId xmlns:p14="http://schemas.microsoft.com/office/powerpoint/2010/main" val="1196379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E804C-5242-4198-8EFE-F9BD0077EB41}"/>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F5C45B8A-EDC8-40F3-ADD7-A40ED8427BA4}"/>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Hybrid cloud is the combination of compute or storage products from public cloud services with a private cloud infrastructure.</a:t>
            </a:r>
          </a:p>
          <a:p>
            <a:pPr algn="just">
              <a:lnSpc>
                <a:spcPct val="150000"/>
              </a:lnSpc>
              <a:buFont typeface="Wingdings" panose="05000000000000000000" pitchFamily="2" charset="2"/>
              <a:buChar char="q"/>
            </a:pPr>
            <a:r>
              <a:rPr lang="en-AU" dirty="0"/>
              <a:t>The public and private environments operate effectively independently of each other.</a:t>
            </a:r>
          </a:p>
        </p:txBody>
      </p:sp>
    </p:spTree>
    <p:extLst>
      <p:ext uri="{BB962C8B-B14F-4D97-AF65-F5344CB8AC3E}">
        <p14:creationId xmlns:p14="http://schemas.microsoft.com/office/powerpoint/2010/main" val="179042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3C83E-25D4-4839-AF20-C324274B69B4}"/>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618C55EA-4854-495C-8EFF-1708F5DE75C2}"/>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There is a discrete difference between hybrid cloud architecture and </a:t>
            </a:r>
            <a:r>
              <a:rPr lang="en-AU" dirty="0" err="1"/>
              <a:t>multicloud</a:t>
            </a:r>
            <a:r>
              <a:rPr lang="en-AU" dirty="0"/>
              <a:t>. </a:t>
            </a:r>
          </a:p>
          <a:p>
            <a:pPr algn="just">
              <a:lnSpc>
                <a:spcPct val="150000"/>
              </a:lnSpc>
              <a:buFont typeface="Wingdings" panose="05000000000000000000" pitchFamily="2" charset="2"/>
              <a:buChar char="q"/>
            </a:pPr>
            <a:r>
              <a:rPr lang="en-AU" dirty="0"/>
              <a:t>Hybrid cloud requires utilization of both public and private cloud components, </a:t>
            </a:r>
          </a:p>
          <a:p>
            <a:pPr algn="just">
              <a:lnSpc>
                <a:spcPct val="150000"/>
              </a:lnSpc>
              <a:buFont typeface="Wingdings" panose="05000000000000000000" pitchFamily="2" charset="2"/>
              <a:buChar char="q"/>
            </a:pPr>
            <a:r>
              <a:rPr lang="en-AU" dirty="0"/>
              <a:t>Whereas </a:t>
            </a:r>
            <a:r>
              <a:rPr lang="en-AU" dirty="0" err="1"/>
              <a:t>multicloud</a:t>
            </a:r>
            <a:r>
              <a:rPr lang="en-AU" dirty="0"/>
              <a:t> is the practice of using cloud services from multiple heterogeneous public cloud providers.</a:t>
            </a:r>
          </a:p>
        </p:txBody>
      </p:sp>
    </p:spTree>
    <p:extLst>
      <p:ext uri="{BB962C8B-B14F-4D97-AF65-F5344CB8AC3E}">
        <p14:creationId xmlns:p14="http://schemas.microsoft.com/office/powerpoint/2010/main" val="221255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ulti-Cloud vs. Hybrid Cloud: 10 Key Comparisons | Toolbox Tech">
            <a:extLst>
              <a:ext uri="{FF2B5EF4-FFF2-40B4-BE49-F238E27FC236}">
                <a16:creationId xmlns:a16="http://schemas.microsoft.com/office/drawing/2014/main" id="{3589B658-296E-4069-954F-5F469153B6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23359" y="502095"/>
            <a:ext cx="10306057" cy="402272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A8D0144-42C7-4BF8-AC44-F0C37C2AB00A}"/>
              </a:ext>
            </a:extLst>
          </p:cNvPr>
          <p:cNvSpPr/>
          <p:nvPr/>
        </p:nvSpPr>
        <p:spPr>
          <a:xfrm>
            <a:off x="8156448" y="6140461"/>
            <a:ext cx="3557016" cy="215444"/>
          </a:xfrm>
          <a:prstGeom prst="rect">
            <a:avLst/>
          </a:prstGeom>
        </p:spPr>
        <p:txBody>
          <a:bodyPr wrap="square">
            <a:spAutoFit/>
          </a:bodyPr>
          <a:lstStyle/>
          <a:p>
            <a:r>
              <a:rPr lang="en-AU" sz="800" dirty="0"/>
              <a:t>https://www.toolbox.com/tech/cloud/articles/multi-cloud-vs-hybrid-cloud/</a:t>
            </a:r>
          </a:p>
        </p:txBody>
      </p:sp>
    </p:spTree>
    <p:extLst>
      <p:ext uri="{BB962C8B-B14F-4D97-AF65-F5344CB8AC3E}">
        <p14:creationId xmlns:p14="http://schemas.microsoft.com/office/powerpoint/2010/main" val="761149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306E-41F4-4ADA-B574-C8B169613337}"/>
              </a:ext>
            </a:extLst>
          </p:cNvPr>
          <p:cNvSpPr>
            <a:spLocks noGrp="1"/>
          </p:cNvSpPr>
          <p:nvPr>
            <p:ph type="title"/>
          </p:nvPr>
        </p:nvSpPr>
        <p:spPr/>
        <p:txBody>
          <a:bodyPr/>
          <a:lstStyle/>
          <a:p>
            <a:r>
              <a:rPr lang="en-AU" b="1" dirty="0"/>
              <a:t>Why does hybrid cloud matter?</a:t>
            </a:r>
            <a:endParaRPr lang="en-AU" dirty="0"/>
          </a:p>
        </p:txBody>
      </p:sp>
      <p:sp>
        <p:nvSpPr>
          <p:cNvPr id="3" name="Content Placeholder 2">
            <a:extLst>
              <a:ext uri="{FF2B5EF4-FFF2-40B4-BE49-F238E27FC236}">
                <a16:creationId xmlns:a16="http://schemas.microsoft.com/office/drawing/2014/main" id="{7F59B190-090C-456E-A7E7-A267525C4F73}"/>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t>Hybrid cloud provides the best of both worlds of computing. </a:t>
            </a:r>
          </a:p>
          <a:p>
            <a:pPr algn="just">
              <a:lnSpc>
                <a:spcPct val="150000"/>
              </a:lnSpc>
              <a:buFont typeface="Wingdings" panose="05000000000000000000" pitchFamily="2" charset="2"/>
              <a:buChar char="q"/>
            </a:pPr>
            <a:r>
              <a:rPr lang="en-AU" dirty="0"/>
              <a:t>Having Public cloud: instantly provision compute and storage resources on demand</a:t>
            </a:r>
          </a:p>
          <a:p>
            <a:pPr algn="just">
              <a:lnSpc>
                <a:spcPct val="150000"/>
              </a:lnSpc>
              <a:buFont typeface="Wingdings" panose="05000000000000000000" pitchFamily="2" charset="2"/>
              <a:buChar char="q"/>
            </a:pPr>
            <a:r>
              <a:rPr lang="en-AU" dirty="0"/>
              <a:t>Having a private cloud component provides peace of mind</a:t>
            </a:r>
          </a:p>
          <a:p>
            <a:pPr algn="just">
              <a:lnSpc>
                <a:spcPct val="150000"/>
              </a:lnSpc>
              <a:buFont typeface="Wingdings" panose="05000000000000000000" pitchFamily="2" charset="2"/>
              <a:buChar char="q"/>
            </a:pPr>
            <a:r>
              <a:rPr lang="en-AU" dirty="0"/>
              <a:t>Hybrid cloud solutions: AWS Outposts, Azure Stack, Fujitsu Hybrid Cloud Services</a:t>
            </a:r>
          </a:p>
        </p:txBody>
      </p:sp>
    </p:spTree>
    <p:extLst>
      <p:ext uri="{BB962C8B-B14F-4D97-AF65-F5344CB8AC3E}">
        <p14:creationId xmlns:p14="http://schemas.microsoft.com/office/powerpoint/2010/main" val="4124512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EBF2A-2995-473F-B764-0A706653D959}"/>
              </a:ext>
            </a:extLst>
          </p:cNvPr>
          <p:cNvSpPr>
            <a:spLocks noGrp="1"/>
          </p:cNvSpPr>
          <p:nvPr>
            <p:ph type="title"/>
          </p:nvPr>
        </p:nvSpPr>
        <p:spPr>
          <a:xfrm>
            <a:off x="1161288" y="1758787"/>
            <a:ext cx="10058400" cy="1450757"/>
          </a:xfrm>
        </p:spPr>
        <p:txBody>
          <a:bodyPr>
            <a:normAutofit/>
          </a:bodyPr>
          <a:lstStyle/>
          <a:p>
            <a:pPr algn="just"/>
            <a:r>
              <a:rPr lang="en-AU" sz="4000" dirty="0">
                <a:solidFill>
                  <a:srgbClr val="FF0000"/>
                </a:solidFill>
              </a:rPr>
              <a:t>Practical Guide to Hybrid Cloud Computing</a:t>
            </a:r>
          </a:p>
        </p:txBody>
      </p:sp>
    </p:spTree>
    <p:extLst>
      <p:ext uri="{BB962C8B-B14F-4D97-AF65-F5344CB8AC3E}">
        <p14:creationId xmlns:p14="http://schemas.microsoft.com/office/powerpoint/2010/main" val="32331334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5EC8D-B8BE-41DE-810D-7D25A46EEDF5}"/>
              </a:ext>
            </a:extLst>
          </p:cNvPr>
          <p:cNvSpPr>
            <a:spLocks noGrp="1"/>
          </p:cNvSpPr>
          <p:nvPr>
            <p:ph type="title"/>
          </p:nvPr>
        </p:nvSpPr>
        <p:spPr/>
        <p:txBody>
          <a:bodyPr/>
          <a:lstStyle/>
          <a:p>
            <a:r>
              <a:rPr lang="en-AU" dirty="0"/>
              <a:t>Hybrid cloud</a:t>
            </a:r>
          </a:p>
        </p:txBody>
      </p:sp>
      <p:sp>
        <p:nvSpPr>
          <p:cNvPr id="3" name="Content Placeholder 2">
            <a:extLst>
              <a:ext uri="{FF2B5EF4-FFF2-40B4-BE49-F238E27FC236}">
                <a16:creationId xmlns:a16="http://schemas.microsoft.com/office/drawing/2014/main" id="{C06F2D9C-8821-4799-AEE7-457E4AE749B4}"/>
              </a:ext>
            </a:extLst>
          </p:cNvPr>
          <p:cNvSpPr>
            <a:spLocks noGrp="1"/>
          </p:cNvSpPr>
          <p:nvPr>
            <p:ph idx="1"/>
          </p:nvPr>
        </p:nvSpPr>
        <p:spPr>
          <a:xfrm>
            <a:off x="1097280" y="1845734"/>
            <a:ext cx="10058400" cy="4399618"/>
          </a:xfrm>
        </p:spPr>
        <p:txBody>
          <a:bodyPr>
            <a:normAutofit/>
          </a:bodyPr>
          <a:lstStyle/>
          <a:p>
            <a:pPr algn="just">
              <a:lnSpc>
                <a:spcPct val="150000"/>
              </a:lnSpc>
              <a:buFont typeface="Wingdings" panose="05000000000000000000" pitchFamily="2" charset="2"/>
              <a:buChar char="q"/>
            </a:pPr>
            <a:r>
              <a:rPr lang="en-AU" dirty="0"/>
              <a:t>The ISO 17788 Cloud Computing Overview and Vocabulary standard [2] defines hybrid cloud as “a cloud deployment model using at least two different cloud deployment models” – where the potential deployment models are public cloud, private cloud and community cloud.</a:t>
            </a:r>
          </a:p>
          <a:p>
            <a:pPr algn="just">
              <a:lnSpc>
                <a:spcPct val="150000"/>
              </a:lnSpc>
              <a:buFont typeface="Wingdings" panose="05000000000000000000" pitchFamily="2" charset="2"/>
              <a:buChar char="q"/>
            </a:pPr>
            <a:r>
              <a:rPr lang="en-AU" dirty="0"/>
              <a:t>Based on this definition, there are many combinations of cloud resources that can be leveraged in a hybrid cloud deployment. </a:t>
            </a:r>
          </a:p>
          <a:p>
            <a:pPr algn="just">
              <a:lnSpc>
                <a:spcPct val="150000"/>
              </a:lnSpc>
              <a:buFont typeface="Wingdings" panose="05000000000000000000" pitchFamily="2" charset="2"/>
              <a:buChar char="q"/>
            </a:pPr>
            <a:r>
              <a:rPr lang="en-AU" dirty="0"/>
              <a:t>It is also important to recognize that private cloud services could be hosted on-premises or alternatively hosted off-premises in a dedicated part of a cloud service provider’s data </a:t>
            </a:r>
            <a:r>
              <a:rPr lang="en-AU" dirty="0" err="1"/>
              <a:t>center</a:t>
            </a:r>
            <a:r>
              <a:rPr lang="en-AU" dirty="0"/>
              <a:t>.</a:t>
            </a:r>
          </a:p>
        </p:txBody>
      </p:sp>
    </p:spTree>
    <p:extLst>
      <p:ext uri="{BB962C8B-B14F-4D97-AF65-F5344CB8AC3E}">
        <p14:creationId xmlns:p14="http://schemas.microsoft.com/office/powerpoint/2010/main" val="1184068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31A21-5A37-4ED2-9F06-3FD9A61FA204}"/>
              </a:ext>
            </a:extLst>
          </p:cNvPr>
          <p:cNvSpPr>
            <a:spLocks noGrp="1"/>
          </p:cNvSpPr>
          <p:nvPr>
            <p:ph type="title"/>
          </p:nvPr>
        </p:nvSpPr>
        <p:spPr/>
        <p:txBody>
          <a:bodyPr/>
          <a:lstStyle/>
          <a:p>
            <a:r>
              <a:rPr lang="en-AU" dirty="0"/>
              <a:t> off-premises versus on-premises cloud computing </a:t>
            </a:r>
          </a:p>
        </p:txBody>
      </p:sp>
      <p:pic>
        <p:nvPicPr>
          <p:cNvPr id="2050" name="Picture 2" descr="SoA deployed on off-premises versus on-premises cloud computing | Download  Scientific Diagram">
            <a:extLst>
              <a:ext uri="{FF2B5EF4-FFF2-40B4-BE49-F238E27FC236}">
                <a16:creationId xmlns:a16="http://schemas.microsoft.com/office/drawing/2014/main" id="{461CD766-03F1-4C3E-B8B6-D7CC5EA66FC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93392" y="1819656"/>
            <a:ext cx="8001000" cy="383133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A9834740-2551-4248-BD1C-2B0EC2CE15D6}"/>
              </a:ext>
            </a:extLst>
          </p:cNvPr>
          <p:cNvSpPr/>
          <p:nvPr/>
        </p:nvSpPr>
        <p:spPr>
          <a:xfrm>
            <a:off x="6096000" y="6062472"/>
            <a:ext cx="5471160" cy="215444"/>
          </a:xfrm>
          <a:prstGeom prst="rect">
            <a:avLst/>
          </a:prstGeom>
        </p:spPr>
        <p:txBody>
          <a:bodyPr wrap="square">
            <a:spAutoFit/>
          </a:bodyPr>
          <a:lstStyle/>
          <a:p>
            <a:r>
              <a:rPr lang="en-AU" sz="800" dirty="0"/>
              <a:t>https://www.researchgate.net/figure/SoA-deployed-on-off-premises-versus-on-premises-cloud-computing_fig1_262374267</a:t>
            </a:r>
          </a:p>
        </p:txBody>
      </p:sp>
    </p:spTree>
    <p:extLst>
      <p:ext uri="{BB962C8B-B14F-4D97-AF65-F5344CB8AC3E}">
        <p14:creationId xmlns:p14="http://schemas.microsoft.com/office/powerpoint/2010/main" val="565306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E931-4431-43E5-AA56-15CA0B6FC606}"/>
              </a:ext>
            </a:extLst>
          </p:cNvPr>
          <p:cNvSpPr>
            <a:spLocks noGrp="1"/>
          </p:cNvSpPr>
          <p:nvPr>
            <p:ph type="title"/>
          </p:nvPr>
        </p:nvSpPr>
        <p:spPr/>
        <p:txBody>
          <a:bodyPr/>
          <a:lstStyle/>
          <a:p>
            <a:r>
              <a:rPr lang="en-AU" dirty="0"/>
              <a:t>Key considerations that need to be taken into account</a:t>
            </a:r>
          </a:p>
        </p:txBody>
      </p:sp>
      <p:sp>
        <p:nvSpPr>
          <p:cNvPr id="3" name="Content Placeholder 2">
            <a:extLst>
              <a:ext uri="{FF2B5EF4-FFF2-40B4-BE49-F238E27FC236}">
                <a16:creationId xmlns:a16="http://schemas.microsoft.com/office/drawing/2014/main" id="{CA7FBDAD-7CD3-41F0-9B5C-E28A94C80D3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solidFill>
                  <a:srgbClr val="FF0000"/>
                </a:solidFill>
              </a:rPr>
              <a:t>Integration: </a:t>
            </a:r>
            <a:r>
              <a:rPr lang="en-AU" dirty="0"/>
              <a:t>Hybrid cloud computing is about aggregation and integration of capabilities and services from cloud service providers with on-premises resources, leveraging the best-of-breed.</a:t>
            </a:r>
          </a:p>
          <a:p>
            <a:pPr algn="just">
              <a:lnSpc>
                <a:spcPct val="150000"/>
              </a:lnSpc>
              <a:buFont typeface="Wingdings" panose="05000000000000000000" pitchFamily="2" charset="2"/>
              <a:buChar char="q"/>
            </a:pPr>
            <a:r>
              <a:rPr lang="en-AU" dirty="0"/>
              <a:t>New capabilities from a wide variety of services (on- premises and off-premises) can now be aggregated to provide the business with a broader set of capabilities on which to act.</a:t>
            </a:r>
          </a:p>
        </p:txBody>
      </p:sp>
    </p:spTree>
    <p:extLst>
      <p:ext uri="{BB962C8B-B14F-4D97-AF65-F5344CB8AC3E}">
        <p14:creationId xmlns:p14="http://schemas.microsoft.com/office/powerpoint/2010/main" val="14389719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E931-4431-43E5-AA56-15CA0B6FC606}"/>
              </a:ext>
            </a:extLst>
          </p:cNvPr>
          <p:cNvSpPr>
            <a:spLocks noGrp="1"/>
          </p:cNvSpPr>
          <p:nvPr>
            <p:ph type="title"/>
          </p:nvPr>
        </p:nvSpPr>
        <p:spPr/>
        <p:txBody>
          <a:bodyPr/>
          <a:lstStyle/>
          <a:p>
            <a:r>
              <a:rPr lang="en-AU" dirty="0"/>
              <a:t>Key considerations that need to be taken into account</a:t>
            </a:r>
          </a:p>
        </p:txBody>
      </p:sp>
      <p:sp>
        <p:nvSpPr>
          <p:cNvPr id="3" name="Content Placeholder 2">
            <a:extLst>
              <a:ext uri="{FF2B5EF4-FFF2-40B4-BE49-F238E27FC236}">
                <a16:creationId xmlns:a16="http://schemas.microsoft.com/office/drawing/2014/main" id="{CA7FBDAD-7CD3-41F0-9B5C-E28A94C80D3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solidFill>
                  <a:srgbClr val="FF0000"/>
                </a:solidFill>
              </a:rPr>
              <a:t>Composition:</a:t>
            </a:r>
            <a:r>
              <a:rPr lang="en-AU" dirty="0"/>
              <a:t> Hybrid cloud is about combining services and capabilities, while at the same time dealing with risks and regulations in a satisfactory way.</a:t>
            </a:r>
          </a:p>
          <a:p>
            <a:pPr algn="just">
              <a:lnSpc>
                <a:spcPct val="150000"/>
              </a:lnSpc>
              <a:buFont typeface="Wingdings" panose="05000000000000000000" pitchFamily="2" charset="2"/>
              <a:buChar char="q"/>
            </a:pPr>
            <a:r>
              <a:rPr lang="en-AU" dirty="0"/>
              <a:t>A set of services could be used on predetermined business needs, or they could be used for a limited period.</a:t>
            </a:r>
          </a:p>
        </p:txBody>
      </p:sp>
    </p:spTree>
    <p:extLst>
      <p:ext uri="{BB962C8B-B14F-4D97-AF65-F5344CB8AC3E}">
        <p14:creationId xmlns:p14="http://schemas.microsoft.com/office/powerpoint/2010/main" val="3442341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8E931-4431-43E5-AA56-15CA0B6FC606}"/>
              </a:ext>
            </a:extLst>
          </p:cNvPr>
          <p:cNvSpPr>
            <a:spLocks noGrp="1"/>
          </p:cNvSpPr>
          <p:nvPr>
            <p:ph type="title"/>
          </p:nvPr>
        </p:nvSpPr>
        <p:spPr/>
        <p:txBody>
          <a:bodyPr/>
          <a:lstStyle/>
          <a:p>
            <a:r>
              <a:rPr lang="en-AU" dirty="0"/>
              <a:t>Key considerations that need to be taken into account</a:t>
            </a:r>
          </a:p>
        </p:txBody>
      </p:sp>
      <p:sp>
        <p:nvSpPr>
          <p:cNvPr id="3" name="Content Placeholder 2">
            <a:extLst>
              <a:ext uri="{FF2B5EF4-FFF2-40B4-BE49-F238E27FC236}">
                <a16:creationId xmlns:a16="http://schemas.microsoft.com/office/drawing/2014/main" id="{CA7FBDAD-7CD3-41F0-9B5C-E28A94C80D3D}"/>
              </a:ext>
            </a:extLst>
          </p:cNvPr>
          <p:cNvSpPr>
            <a:spLocks noGrp="1"/>
          </p:cNvSpPr>
          <p:nvPr>
            <p:ph idx="1"/>
          </p:nvPr>
        </p:nvSpPr>
        <p:spPr/>
        <p:txBody>
          <a:bodyPr/>
          <a:lstStyle/>
          <a:p>
            <a:pPr algn="just">
              <a:lnSpc>
                <a:spcPct val="150000"/>
              </a:lnSpc>
              <a:buFont typeface="Wingdings" panose="05000000000000000000" pitchFamily="2" charset="2"/>
              <a:buChar char="q"/>
            </a:pPr>
            <a:r>
              <a:rPr lang="en-AU" dirty="0">
                <a:solidFill>
                  <a:srgbClr val="FF0000"/>
                </a:solidFill>
              </a:rPr>
              <a:t>Organizational Impact: </a:t>
            </a:r>
            <a:r>
              <a:rPr lang="en-AU" dirty="0"/>
              <a:t>People in many different roles are impacted by hybrid cloud in a variety of ways. The value of hybrid cloud is highly dependent on what is important to your organization.</a:t>
            </a:r>
          </a:p>
        </p:txBody>
      </p:sp>
    </p:spTree>
    <p:extLst>
      <p:ext uri="{BB962C8B-B14F-4D97-AF65-F5344CB8AC3E}">
        <p14:creationId xmlns:p14="http://schemas.microsoft.com/office/powerpoint/2010/main" val="3762379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7634E-DBD8-4ECC-8CE9-5C19F25015C6}"/>
              </a:ext>
            </a:extLst>
          </p:cNvPr>
          <p:cNvSpPr>
            <a:spLocks noGrp="1"/>
          </p:cNvSpPr>
          <p:nvPr>
            <p:ph type="title"/>
          </p:nvPr>
        </p:nvSpPr>
        <p:spPr/>
        <p:txBody>
          <a:bodyPr/>
          <a:lstStyle/>
          <a:p>
            <a:r>
              <a:rPr lang="en-AU" dirty="0"/>
              <a:t>Hybrid cloud means different things to different people</a:t>
            </a:r>
          </a:p>
        </p:txBody>
      </p:sp>
      <p:pic>
        <p:nvPicPr>
          <p:cNvPr id="4" name="Content Placeholder 3">
            <a:extLst>
              <a:ext uri="{FF2B5EF4-FFF2-40B4-BE49-F238E27FC236}">
                <a16:creationId xmlns:a16="http://schemas.microsoft.com/office/drawing/2014/main" id="{5671E553-0D7A-4367-B426-B5536A03BE43}"/>
              </a:ext>
            </a:extLst>
          </p:cNvPr>
          <p:cNvPicPr>
            <a:picLocks noGrp="1" noChangeAspect="1"/>
          </p:cNvPicPr>
          <p:nvPr>
            <p:ph idx="1"/>
          </p:nvPr>
        </p:nvPicPr>
        <p:blipFill>
          <a:blip r:embed="rId2"/>
          <a:stretch>
            <a:fillRect/>
          </a:stretch>
        </p:blipFill>
        <p:spPr>
          <a:xfrm>
            <a:off x="1096963" y="2007857"/>
            <a:ext cx="10058400" cy="3699537"/>
          </a:xfrm>
          <a:prstGeom prst="rect">
            <a:avLst/>
          </a:prstGeom>
        </p:spPr>
      </p:pic>
    </p:spTree>
    <p:extLst>
      <p:ext uri="{BB962C8B-B14F-4D97-AF65-F5344CB8AC3E}">
        <p14:creationId xmlns:p14="http://schemas.microsoft.com/office/powerpoint/2010/main" val="2031482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622F6-6C7C-4522-86CF-4C539D9394DD}"/>
              </a:ext>
            </a:extLst>
          </p:cNvPr>
          <p:cNvSpPr>
            <a:spLocks noGrp="1"/>
          </p:cNvSpPr>
          <p:nvPr>
            <p:ph type="title"/>
          </p:nvPr>
        </p:nvSpPr>
        <p:spPr/>
        <p:txBody>
          <a:bodyPr/>
          <a:lstStyle/>
          <a:p>
            <a:r>
              <a:rPr lang="en-AU" dirty="0"/>
              <a:t>Solution Designer Perspective: “Give me more options”</a:t>
            </a:r>
          </a:p>
        </p:txBody>
      </p:sp>
      <p:sp>
        <p:nvSpPr>
          <p:cNvPr id="3" name="Content Placeholder 2">
            <a:extLst>
              <a:ext uri="{FF2B5EF4-FFF2-40B4-BE49-F238E27FC236}">
                <a16:creationId xmlns:a16="http://schemas.microsoft.com/office/drawing/2014/main" id="{BC609C5D-5215-48B4-9169-BED2C8C93099}"/>
              </a:ext>
            </a:extLst>
          </p:cNvPr>
          <p:cNvSpPr>
            <a:spLocks noGrp="1"/>
          </p:cNvSpPr>
          <p:nvPr>
            <p:ph idx="1"/>
          </p:nvPr>
        </p:nvSpPr>
        <p:spPr>
          <a:xfrm>
            <a:off x="1097280" y="1845734"/>
            <a:ext cx="10058400" cy="4427050"/>
          </a:xfrm>
        </p:spPr>
        <p:txBody>
          <a:bodyPr>
            <a:normAutofit fontScale="92500" lnSpcReduction="10000"/>
          </a:bodyPr>
          <a:lstStyle/>
          <a:p>
            <a:pPr algn="just">
              <a:lnSpc>
                <a:spcPct val="150000"/>
              </a:lnSpc>
            </a:pPr>
            <a:r>
              <a:rPr lang="en-AU" dirty="0"/>
              <a:t>A solution designer typically looks to hybrid cloud for options and capabilities that are not available in an on-premises or off-premises only solution.</a:t>
            </a:r>
          </a:p>
          <a:p>
            <a:pPr algn="just">
              <a:lnSpc>
                <a:spcPct val="150000"/>
              </a:lnSpc>
            </a:pPr>
            <a:r>
              <a:rPr lang="en-AU" dirty="0"/>
              <a:t>For designers and developers some of the critical success factors related to hybrid cloud include:</a:t>
            </a:r>
          </a:p>
          <a:p>
            <a:pPr algn="just">
              <a:lnSpc>
                <a:spcPct val="150000"/>
              </a:lnSpc>
            </a:pPr>
            <a:r>
              <a:rPr lang="en-AU" dirty="0"/>
              <a:t>• Flexibility.</a:t>
            </a:r>
          </a:p>
          <a:p>
            <a:pPr algn="just">
              <a:lnSpc>
                <a:spcPct val="150000"/>
              </a:lnSpc>
            </a:pPr>
            <a:r>
              <a:rPr lang="en-AU" dirty="0"/>
              <a:t>• Speed. </a:t>
            </a:r>
          </a:p>
          <a:p>
            <a:pPr algn="just">
              <a:lnSpc>
                <a:spcPct val="150000"/>
              </a:lnSpc>
            </a:pPr>
            <a:r>
              <a:rPr lang="en-AU" dirty="0"/>
              <a:t>• Capacity. </a:t>
            </a:r>
          </a:p>
          <a:p>
            <a:pPr algn="just">
              <a:lnSpc>
                <a:spcPct val="150000"/>
              </a:lnSpc>
            </a:pPr>
            <a:r>
              <a:rPr lang="en-AU" dirty="0"/>
              <a:t>• Consistency. </a:t>
            </a:r>
          </a:p>
          <a:p>
            <a:pPr algn="just">
              <a:lnSpc>
                <a:spcPct val="150000"/>
              </a:lnSpc>
            </a:pPr>
            <a:r>
              <a:rPr lang="en-AU" dirty="0"/>
              <a:t>• Agility. </a:t>
            </a:r>
          </a:p>
        </p:txBody>
      </p:sp>
    </p:spTree>
    <p:extLst>
      <p:ext uri="{BB962C8B-B14F-4D97-AF65-F5344CB8AC3E}">
        <p14:creationId xmlns:p14="http://schemas.microsoft.com/office/powerpoint/2010/main" val="3678602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86A5-F499-481A-8A2A-48CF8B08A19A}"/>
              </a:ext>
            </a:extLst>
          </p:cNvPr>
          <p:cNvSpPr>
            <a:spLocks noGrp="1"/>
          </p:cNvSpPr>
          <p:nvPr>
            <p:ph type="title"/>
          </p:nvPr>
        </p:nvSpPr>
        <p:spPr/>
        <p:txBody>
          <a:bodyPr/>
          <a:lstStyle/>
          <a:p>
            <a:r>
              <a:rPr lang="en-AU" dirty="0"/>
              <a:t>Infrastructure Perspective: “More things to manage”</a:t>
            </a:r>
          </a:p>
        </p:txBody>
      </p:sp>
      <p:sp>
        <p:nvSpPr>
          <p:cNvPr id="6" name="Content Placeholder 5">
            <a:extLst>
              <a:ext uri="{FF2B5EF4-FFF2-40B4-BE49-F238E27FC236}">
                <a16:creationId xmlns:a16="http://schemas.microsoft.com/office/drawing/2014/main" id="{77D6D0F2-7882-491C-9A74-4D25B66E77BF}"/>
              </a:ext>
            </a:extLst>
          </p:cNvPr>
          <p:cNvSpPr>
            <a:spLocks noGrp="1"/>
          </p:cNvSpPr>
          <p:nvPr>
            <p:ph idx="1"/>
          </p:nvPr>
        </p:nvSpPr>
        <p:spPr>
          <a:xfrm>
            <a:off x="1097280" y="1845733"/>
            <a:ext cx="10058400" cy="4419895"/>
          </a:xfrm>
        </p:spPr>
        <p:txBody>
          <a:bodyPr>
            <a:normAutofit/>
          </a:bodyPr>
          <a:lstStyle/>
          <a:p>
            <a:pPr algn="just">
              <a:lnSpc>
                <a:spcPct val="110000"/>
              </a:lnSpc>
            </a:pPr>
            <a:r>
              <a:rPr lang="en-AU" dirty="0"/>
              <a:t>This team typically looks at hybrid cloud based on SLAs, processes, and resources (compute, storage and networking). For the infrastructure team some of the critical success factors related to hybrid cloud include the ability to:</a:t>
            </a:r>
          </a:p>
          <a:p>
            <a:pPr algn="just">
              <a:lnSpc>
                <a:spcPct val="110000"/>
              </a:lnSpc>
            </a:pPr>
            <a:r>
              <a:rPr lang="en-AU" dirty="0"/>
              <a:t>• Have visibility </a:t>
            </a:r>
          </a:p>
          <a:p>
            <a:pPr algn="just">
              <a:lnSpc>
                <a:spcPct val="110000"/>
              </a:lnSpc>
            </a:pPr>
            <a:r>
              <a:rPr lang="en-AU" dirty="0"/>
              <a:t>• Monitor all infrastructure resources </a:t>
            </a:r>
          </a:p>
          <a:p>
            <a:pPr algn="just">
              <a:lnSpc>
                <a:spcPct val="110000"/>
              </a:lnSpc>
            </a:pPr>
            <a:r>
              <a:rPr lang="en-AU" dirty="0"/>
              <a:t>• Access all resources on the hybrid cloud to perform activities as required.</a:t>
            </a:r>
          </a:p>
          <a:p>
            <a:pPr algn="just">
              <a:lnSpc>
                <a:spcPct val="110000"/>
              </a:lnSpc>
            </a:pPr>
            <a:r>
              <a:rPr lang="en-AU" dirty="0"/>
              <a:t>• Manage the deployed infrastructure </a:t>
            </a:r>
          </a:p>
          <a:p>
            <a:pPr algn="just">
              <a:lnSpc>
                <a:spcPct val="110000"/>
              </a:lnSpc>
            </a:pPr>
            <a:r>
              <a:rPr lang="en-AU" dirty="0"/>
              <a:t>• Enforce consolidated security across the hybrid cloud</a:t>
            </a:r>
          </a:p>
          <a:p>
            <a:pPr algn="just">
              <a:lnSpc>
                <a:spcPct val="110000"/>
              </a:lnSpc>
            </a:pPr>
            <a:r>
              <a:rPr lang="en-AU" dirty="0"/>
              <a:t>• Control provisioning of workloads based on organizational policies.</a:t>
            </a:r>
          </a:p>
        </p:txBody>
      </p:sp>
    </p:spTree>
    <p:extLst>
      <p:ext uri="{BB962C8B-B14F-4D97-AF65-F5344CB8AC3E}">
        <p14:creationId xmlns:p14="http://schemas.microsoft.com/office/powerpoint/2010/main" val="1266865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6BE74-FAE7-4CF4-BF71-F9B0B4A2D14E}"/>
              </a:ext>
            </a:extLst>
          </p:cNvPr>
          <p:cNvSpPr>
            <a:spLocks noGrp="1"/>
          </p:cNvSpPr>
          <p:nvPr>
            <p:ph type="title"/>
          </p:nvPr>
        </p:nvSpPr>
        <p:spPr/>
        <p:txBody>
          <a:bodyPr>
            <a:normAutofit/>
          </a:bodyPr>
          <a:lstStyle/>
          <a:p>
            <a:r>
              <a:rPr lang="en-AU" sz="4000" dirty="0"/>
              <a:t>Business Team Perspective: “What is available? How much is it? What value does it provide?”</a:t>
            </a:r>
          </a:p>
        </p:txBody>
      </p:sp>
      <p:sp>
        <p:nvSpPr>
          <p:cNvPr id="3" name="Content Placeholder 2">
            <a:extLst>
              <a:ext uri="{FF2B5EF4-FFF2-40B4-BE49-F238E27FC236}">
                <a16:creationId xmlns:a16="http://schemas.microsoft.com/office/drawing/2014/main" id="{1FE335BD-BADD-47E4-BE47-713F516666A6}"/>
              </a:ext>
            </a:extLst>
          </p:cNvPr>
          <p:cNvSpPr>
            <a:spLocks noGrp="1"/>
          </p:cNvSpPr>
          <p:nvPr>
            <p:ph idx="1"/>
          </p:nvPr>
        </p:nvSpPr>
        <p:spPr>
          <a:xfrm>
            <a:off x="1097280" y="1845733"/>
            <a:ext cx="10058400" cy="4427475"/>
          </a:xfrm>
        </p:spPr>
        <p:txBody>
          <a:bodyPr>
            <a:normAutofit/>
          </a:bodyPr>
          <a:lstStyle/>
          <a:p>
            <a:pPr algn="just"/>
            <a:r>
              <a:rPr lang="en-AU" dirty="0"/>
              <a:t>For business teams, some of the critical success factors related to hybrid cloud include the ability to:</a:t>
            </a:r>
          </a:p>
          <a:p>
            <a:pPr algn="just"/>
            <a:r>
              <a:rPr lang="en-AU" dirty="0"/>
              <a:t>• View of what is running where and what the financial implications are by organization/department.</a:t>
            </a:r>
          </a:p>
          <a:p>
            <a:pPr algn="just"/>
            <a:r>
              <a:rPr lang="en-AU" dirty="0"/>
              <a:t>• Understand the SLAs of a solution </a:t>
            </a:r>
          </a:p>
          <a:p>
            <a:pPr algn="just"/>
            <a:r>
              <a:rPr lang="en-AU" dirty="0"/>
              <a:t>• Have consolidated invoices </a:t>
            </a:r>
          </a:p>
          <a:p>
            <a:pPr algn="just"/>
            <a:r>
              <a:rPr lang="en-AU" dirty="0"/>
              <a:t>• Access the systems running on the hybrid cloud </a:t>
            </a:r>
          </a:p>
          <a:p>
            <a:pPr algn="just"/>
            <a:r>
              <a:rPr lang="en-AU" dirty="0"/>
              <a:t>• Perform financial “what if” </a:t>
            </a:r>
            <a:r>
              <a:rPr lang="en-AU" dirty="0" err="1"/>
              <a:t>modeling</a:t>
            </a:r>
            <a:r>
              <a:rPr lang="en-AU" dirty="0"/>
              <a:t> </a:t>
            </a:r>
          </a:p>
          <a:p>
            <a:pPr algn="just"/>
            <a:r>
              <a:rPr lang="en-AU" dirty="0"/>
              <a:t>• Reduce costs and increase business flexibility </a:t>
            </a:r>
          </a:p>
          <a:p>
            <a:pPr algn="just"/>
            <a:r>
              <a:rPr lang="en-AU" dirty="0"/>
              <a:t>• Understand software licensing exposure across the cloud providers being utilized.</a:t>
            </a:r>
          </a:p>
        </p:txBody>
      </p:sp>
    </p:spTree>
    <p:extLst>
      <p:ext uri="{BB962C8B-B14F-4D97-AF65-F5344CB8AC3E}">
        <p14:creationId xmlns:p14="http://schemas.microsoft.com/office/powerpoint/2010/main" val="2855435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957BF-E718-4E92-A5EB-E5706BBE45CF}"/>
              </a:ext>
            </a:extLst>
          </p:cNvPr>
          <p:cNvSpPr>
            <a:spLocks noGrp="1"/>
          </p:cNvSpPr>
          <p:nvPr>
            <p:ph type="title"/>
          </p:nvPr>
        </p:nvSpPr>
        <p:spPr/>
        <p:txBody>
          <a:bodyPr/>
          <a:lstStyle/>
          <a:p>
            <a:r>
              <a:rPr lang="en-AU" dirty="0"/>
              <a:t>Why Hybrid Cloud is important to the business</a:t>
            </a:r>
          </a:p>
        </p:txBody>
      </p:sp>
      <p:pic>
        <p:nvPicPr>
          <p:cNvPr id="4" name="Content Placeholder 3">
            <a:extLst>
              <a:ext uri="{FF2B5EF4-FFF2-40B4-BE49-F238E27FC236}">
                <a16:creationId xmlns:a16="http://schemas.microsoft.com/office/drawing/2014/main" id="{A441DAC8-297D-447D-B165-0A409228DA84}"/>
              </a:ext>
            </a:extLst>
          </p:cNvPr>
          <p:cNvPicPr>
            <a:picLocks noGrp="1" noChangeAspect="1"/>
          </p:cNvPicPr>
          <p:nvPr>
            <p:ph idx="1"/>
          </p:nvPr>
        </p:nvPicPr>
        <p:blipFill>
          <a:blip r:embed="rId2"/>
          <a:stretch>
            <a:fillRect/>
          </a:stretch>
        </p:blipFill>
        <p:spPr>
          <a:xfrm>
            <a:off x="1097280" y="2392326"/>
            <a:ext cx="9599390" cy="3030279"/>
          </a:xfrm>
          <a:prstGeom prst="rect">
            <a:avLst/>
          </a:prstGeom>
        </p:spPr>
      </p:pic>
    </p:spTree>
    <p:extLst>
      <p:ext uri="{BB962C8B-B14F-4D97-AF65-F5344CB8AC3E}">
        <p14:creationId xmlns:p14="http://schemas.microsoft.com/office/powerpoint/2010/main" val="27072886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D75F0-0EA0-4301-A3ED-3ED984E4EEF6}"/>
              </a:ext>
            </a:extLst>
          </p:cNvPr>
          <p:cNvSpPr>
            <a:spLocks noGrp="1"/>
          </p:cNvSpPr>
          <p:nvPr>
            <p:ph type="title"/>
          </p:nvPr>
        </p:nvSpPr>
        <p:spPr/>
        <p:txBody>
          <a:bodyPr/>
          <a:lstStyle/>
          <a:p>
            <a:r>
              <a:rPr lang="en-AU" dirty="0"/>
              <a:t>Prescriptive guidance for successful implementation of Hybrid Cloud</a:t>
            </a:r>
          </a:p>
        </p:txBody>
      </p:sp>
      <p:sp>
        <p:nvSpPr>
          <p:cNvPr id="3" name="Content Placeholder 2">
            <a:extLst>
              <a:ext uri="{FF2B5EF4-FFF2-40B4-BE49-F238E27FC236}">
                <a16:creationId xmlns:a16="http://schemas.microsoft.com/office/drawing/2014/main" id="{24D72FA5-B8E9-4B8D-B481-852B7A808CB5}"/>
              </a:ext>
            </a:extLst>
          </p:cNvPr>
          <p:cNvSpPr>
            <a:spLocks noGrp="1"/>
          </p:cNvSpPr>
          <p:nvPr>
            <p:ph idx="1"/>
          </p:nvPr>
        </p:nvSpPr>
        <p:spPr>
          <a:xfrm>
            <a:off x="1097280" y="1845733"/>
            <a:ext cx="10058400" cy="4416843"/>
          </a:xfrm>
        </p:spPr>
        <p:txBody>
          <a:bodyPr>
            <a:normAutofit fontScale="92500" lnSpcReduction="10000"/>
          </a:bodyPr>
          <a:lstStyle/>
          <a:p>
            <a:pPr algn="just">
              <a:lnSpc>
                <a:spcPct val="120000"/>
              </a:lnSpc>
            </a:pPr>
            <a:r>
              <a:rPr lang="en-AU" dirty="0"/>
              <a:t>Prescriptive series of steps that should be taken to ensure successful hybrid cloud computing deployment from the perspective of a cloud service customer.</a:t>
            </a:r>
          </a:p>
          <a:p>
            <a:pPr algn="just">
              <a:lnSpc>
                <a:spcPct val="120000"/>
              </a:lnSpc>
            </a:pPr>
            <a:r>
              <a:rPr lang="en-AU" dirty="0"/>
              <a:t>• Determine cloud deployment model for applications and data</a:t>
            </a:r>
          </a:p>
          <a:p>
            <a:pPr algn="just">
              <a:lnSpc>
                <a:spcPct val="120000"/>
              </a:lnSpc>
            </a:pPr>
            <a:r>
              <a:rPr lang="en-AU" dirty="0"/>
              <a:t>• Integrate with existing enterprise services </a:t>
            </a:r>
          </a:p>
          <a:p>
            <a:pPr algn="just">
              <a:lnSpc>
                <a:spcPct val="120000"/>
              </a:lnSpc>
            </a:pPr>
            <a:r>
              <a:rPr lang="en-AU" dirty="0"/>
              <a:t>• Address connectivity requirements</a:t>
            </a:r>
          </a:p>
          <a:p>
            <a:pPr algn="just">
              <a:lnSpc>
                <a:spcPct val="120000"/>
              </a:lnSpc>
            </a:pPr>
            <a:r>
              <a:rPr lang="en-AU" dirty="0"/>
              <a:t>• Develop governance policies and service agreements</a:t>
            </a:r>
          </a:p>
          <a:p>
            <a:pPr algn="just">
              <a:lnSpc>
                <a:spcPct val="120000"/>
              </a:lnSpc>
            </a:pPr>
            <a:r>
              <a:rPr lang="en-AU" dirty="0"/>
              <a:t>• Assess and resolve security and privacy challenges</a:t>
            </a:r>
          </a:p>
          <a:p>
            <a:pPr algn="just">
              <a:lnSpc>
                <a:spcPct val="120000"/>
              </a:lnSpc>
            </a:pPr>
            <a:r>
              <a:rPr lang="en-AU" dirty="0"/>
              <a:t>• Manage the hybrid cloud environment</a:t>
            </a:r>
          </a:p>
          <a:p>
            <a:pPr algn="just">
              <a:lnSpc>
                <a:spcPct val="120000"/>
              </a:lnSpc>
            </a:pPr>
            <a:r>
              <a:rPr lang="en-AU" dirty="0"/>
              <a:t>• Consider a backup, archive and disaster recovery plan</a:t>
            </a:r>
          </a:p>
        </p:txBody>
      </p:sp>
    </p:spTree>
    <p:extLst>
      <p:ext uri="{BB962C8B-B14F-4D97-AF65-F5344CB8AC3E}">
        <p14:creationId xmlns:p14="http://schemas.microsoft.com/office/powerpoint/2010/main" val="353302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7A68C-3B53-4C6A-B55E-99195C561643}"/>
              </a:ext>
            </a:extLst>
          </p:cNvPr>
          <p:cNvSpPr>
            <a:spLocks noGrp="1"/>
          </p:cNvSpPr>
          <p:nvPr>
            <p:ph type="title"/>
          </p:nvPr>
        </p:nvSpPr>
        <p:spPr/>
        <p:txBody>
          <a:bodyPr>
            <a:noAutofit/>
          </a:bodyPr>
          <a:lstStyle/>
          <a:p>
            <a:r>
              <a:rPr lang="en-AU" sz="4000" dirty="0"/>
              <a:t>The components and their interconnections that are involved in hybrid cloud computing</a:t>
            </a:r>
          </a:p>
        </p:txBody>
      </p:sp>
      <p:pic>
        <p:nvPicPr>
          <p:cNvPr id="4" name="Content Placeholder 3">
            <a:extLst>
              <a:ext uri="{FF2B5EF4-FFF2-40B4-BE49-F238E27FC236}">
                <a16:creationId xmlns:a16="http://schemas.microsoft.com/office/drawing/2014/main" id="{40C2B216-D1F0-465A-B01C-7F25F1D9EEA2}"/>
              </a:ext>
            </a:extLst>
          </p:cNvPr>
          <p:cNvPicPr>
            <a:picLocks noGrp="1" noChangeAspect="1"/>
          </p:cNvPicPr>
          <p:nvPr>
            <p:ph idx="1"/>
          </p:nvPr>
        </p:nvPicPr>
        <p:blipFill>
          <a:blip r:embed="rId2"/>
          <a:stretch>
            <a:fillRect/>
          </a:stretch>
        </p:blipFill>
        <p:spPr>
          <a:xfrm>
            <a:off x="1477926" y="1846263"/>
            <a:ext cx="8814389" cy="4022725"/>
          </a:xfrm>
          <a:prstGeom prst="rect">
            <a:avLst/>
          </a:prstGeom>
        </p:spPr>
      </p:pic>
    </p:spTree>
    <p:extLst>
      <p:ext uri="{BB962C8B-B14F-4D97-AF65-F5344CB8AC3E}">
        <p14:creationId xmlns:p14="http://schemas.microsoft.com/office/powerpoint/2010/main" val="660985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95C5A-E151-40FF-9119-D0B4A8278B70}"/>
              </a:ext>
            </a:extLst>
          </p:cNvPr>
          <p:cNvSpPr>
            <a:spLocks noGrp="1"/>
          </p:cNvSpPr>
          <p:nvPr>
            <p:ph type="title"/>
          </p:nvPr>
        </p:nvSpPr>
        <p:spPr/>
        <p:txBody>
          <a:bodyPr/>
          <a:lstStyle/>
          <a:p>
            <a:r>
              <a:rPr lang="en-AU" dirty="0"/>
              <a:t>Determine Cloud Deployment Model for Applications and Data</a:t>
            </a:r>
          </a:p>
        </p:txBody>
      </p:sp>
      <p:sp>
        <p:nvSpPr>
          <p:cNvPr id="3" name="Content Placeholder 2">
            <a:extLst>
              <a:ext uri="{FF2B5EF4-FFF2-40B4-BE49-F238E27FC236}">
                <a16:creationId xmlns:a16="http://schemas.microsoft.com/office/drawing/2014/main" id="{B3CA131D-834A-4DA5-AE80-492CD2932C20}"/>
              </a:ext>
            </a:extLst>
          </p:cNvPr>
          <p:cNvSpPr>
            <a:spLocks noGrp="1"/>
          </p:cNvSpPr>
          <p:nvPr>
            <p:ph idx="1"/>
          </p:nvPr>
        </p:nvSpPr>
        <p:spPr/>
        <p:txBody>
          <a:bodyPr/>
          <a:lstStyle/>
          <a:p>
            <a:r>
              <a:rPr lang="en-AU" dirty="0"/>
              <a:t>The cloud deployment model must address the following:</a:t>
            </a:r>
          </a:p>
          <a:p>
            <a:pPr>
              <a:buFont typeface="Wingdings" panose="05000000000000000000" pitchFamily="2" charset="2"/>
              <a:buChar char="q"/>
            </a:pPr>
            <a:r>
              <a:rPr lang="en-AU" dirty="0"/>
              <a:t>What cloud resources should be deployed</a:t>
            </a:r>
          </a:p>
          <a:p>
            <a:pPr>
              <a:buFont typeface="Wingdings" panose="05000000000000000000" pitchFamily="2" charset="2"/>
              <a:buChar char="q"/>
            </a:pPr>
            <a:r>
              <a:rPr lang="en-AU" dirty="0"/>
              <a:t>What applications, services and data should go where</a:t>
            </a:r>
          </a:p>
        </p:txBody>
      </p:sp>
    </p:spTree>
    <p:extLst>
      <p:ext uri="{BB962C8B-B14F-4D97-AF65-F5344CB8AC3E}">
        <p14:creationId xmlns:p14="http://schemas.microsoft.com/office/powerpoint/2010/main" val="36012258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2FD54-16D3-4E1E-ACA4-BCFFD2A2F279}"/>
              </a:ext>
            </a:extLst>
          </p:cNvPr>
          <p:cNvSpPr>
            <a:spLocks noGrp="1"/>
          </p:cNvSpPr>
          <p:nvPr>
            <p:ph type="title"/>
          </p:nvPr>
        </p:nvSpPr>
        <p:spPr/>
        <p:txBody>
          <a:bodyPr>
            <a:normAutofit/>
          </a:bodyPr>
          <a:lstStyle/>
          <a:p>
            <a:r>
              <a:rPr lang="en-AU" sz="4400" dirty="0"/>
              <a:t>Which cloud service model to use for the application:</a:t>
            </a:r>
          </a:p>
        </p:txBody>
      </p:sp>
      <p:pic>
        <p:nvPicPr>
          <p:cNvPr id="4" name="Content Placeholder 3">
            <a:extLst>
              <a:ext uri="{FF2B5EF4-FFF2-40B4-BE49-F238E27FC236}">
                <a16:creationId xmlns:a16="http://schemas.microsoft.com/office/drawing/2014/main" id="{C1B826CA-7B65-4AB2-993D-CC18250B28BA}"/>
              </a:ext>
            </a:extLst>
          </p:cNvPr>
          <p:cNvPicPr>
            <a:picLocks noGrp="1" noChangeAspect="1"/>
          </p:cNvPicPr>
          <p:nvPr>
            <p:ph idx="1"/>
          </p:nvPr>
        </p:nvPicPr>
        <p:blipFill>
          <a:blip r:embed="rId2"/>
          <a:stretch>
            <a:fillRect/>
          </a:stretch>
        </p:blipFill>
        <p:spPr>
          <a:xfrm>
            <a:off x="813745" y="1988289"/>
            <a:ext cx="10058400" cy="3955311"/>
          </a:xfrm>
          <a:prstGeom prst="rect">
            <a:avLst/>
          </a:prstGeom>
        </p:spPr>
      </p:pic>
    </p:spTree>
    <p:extLst>
      <p:ext uri="{BB962C8B-B14F-4D97-AF65-F5344CB8AC3E}">
        <p14:creationId xmlns:p14="http://schemas.microsoft.com/office/powerpoint/2010/main" val="3060334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96D9B-9B64-4D17-8FCE-816B9A924E83}"/>
              </a:ext>
            </a:extLst>
          </p:cNvPr>
          <p:cNvSpPr>
            <a:spLocks noGrp="1"/>
          </p:cNvSpPr>
          <p:nvPr>
            <p:ph type="title"/>
          </p:nvPr>
        </p:nvSpPr>
        <p:spPr/>
        <p:txBody>
          <a:bodyPr>
            <a:noAutofit/>
          </a:bodyPr>
          <a:lstStyle/>
          <a:p>
            <a:pPr algn="just"/>
            <a:r>
              <a:rPr lang="en-AU" sz="3800" dirty="0"/>
              <a:t>The criteria used when deciding between public and private (on and off-premises) cloud deployment.</a:t>
            </a:r>
          </a:p>
        </p:txBody>
      </p:sp>
      <p:sp>
        <p:nvSpPr>
          <p:cNvPr id="6" name="Content Placeholder 5">
            <a:extLst>
              <a:ext uri="{FF2B5EF4-FFF2-40B4-BE49-F238E27FC236}">
                <a16:creationId xmlns:a16="http://schemas.microsoft.com/office/drawing/2014/main" id="{5FA29764-0FF2-4F2F-8945-233B674741D4}"/>
              </a:ext>
            </a:extLst>
          </p:cNvPr>
          <p:cNvSpPr>
            <a:spLocks noGrp="1"/>
          </p:cNvSpPr>
          <p:nvPr>
            <p:ph idx="1"/>
          </p:nvPr>
        </p:nvSpPr>
        <p:spPr/>
        <p:txBody>
          <a:bodyPr/>
          <a:lstStyle/>
          <a:p>
            <a:pPr>
              <a:buFont typeface="Wingdings" panose="05000000000000000000" pitchFamily="2" charset="2"/>
              <a:buChar char="q"/>
            </a:pPr>
            <a:r>
              <a:rPr lang="en-US" dirty="0"/>
              <a:t>Flexibility</a:t>
            </a:r>
          </a:p>
          <a:p>
            <a:pPr>
              <a:buFont typeface="Wingdings" panose="05000000000000000000" pitchFamily="2" charset="2"/>
              <a:buChar char="q"/>
            </a:pPr>
            <a:r>
              <a:rPr lang="en-US" dirty="0"/>
              <a:t>Security</a:t>
            </a:r>
          </a:p>
          <a:p>
            <a:pPr>
              <a:buFont typeface="Wingdings" panose="05000000000000000000" pitchFamily="2" charset="2"/>
              <a:buChar char="q"/>
            </a:pPr>
            <a:r>
              <a:rPr lang="en-US" dirty="0"/>
              <a:t>Speed and Automation</a:t>
            </a:r>
          </a:p>
          <a:p>
            <a:pPr>
              <a:buFont typeface="Wingdings" panose="05000000000000000000" pitchFamily="2" charset="2"/>
              <a:buChar char="q"/>
            </a:pPr>
            <a:r>
              <a:rPr lang="en-US" dirty="0"/>
              <a:t>Cost</a:t>
            </a:r>
          </a:p>
          <a:p>
            <a:pPr>
              <a:buFont typeface="Wingdings" panose="05000000000000000000" pitchFamily="2" charset="2"/>
              <a:buChar char="q"/>
            </a:pPr>
            <a:r>
              <a:rPr lang="en-US" dirty="0"/>
              <a:t>Locality</a:t>
            </a:r>
          </a:p>
          <a:p>
            <a:pPr>
              <a:buFont typeface="Wingdings" panose="05000000000000000000" pitchFamily="2" charset="2"/>
              <a:buChar char="q"/>
            </a:pPr>
            <a:r>
              <a:rPr lang="en-US" dirty="0"/>
              <a:t>Service levels</a:t>
            </a:r>
          </a:p>
          <a:p>
            <a:pPr>
              <a:buFont typeface="Wingdings" panose="05000000000000000000" pitchFamily="2" charset="2"/>
              <a:buChar char="q"/>
            </a:pPr>
            <a:r>
              <a:rPr lang="en-US" dirty="0"/>
              <a:t>System interdependencies</a:t>
            </a:r>
          </a:p>
          <a:p>
            <a:pPr>
              <a:buFont typeface="Wingdings" panose="05000000000000000000" pitchFamily="2" charset="2"/>
              <a:buChar char="q"/>
            </a:pPr>
            <a:endParaRPr lang="en-AU" dirty="0"/>
          </a:p>
        </p:txBody>
      </p:sp>
    </p:spTree>
    <p:extLst>
      <p:ext uri="{BB962C8B-B14F-4D97-AF65-F5344CB8AC3E}">
        <p14:creationId xmlns:p14="http://schemas.microsoft.com/office/powerpoint/2010/main" val="35479771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EF00-3445-42B7-A69E-CFB8F74DF988}"/>
              </a:ext>
            </a:extLst>
          </p:cNvPr>
          <p:cNvSpPr>
            <a:spLocks noGrp="1"/>
          </p:cNvSpPr>
          <p:nvPr>
            <p:ph type="title"/>
          </p:nvPr>
        </p:nvSpPr>
        <p:spPr/>
        <p:txBody>
          <a:bodyPr/>
          <a:lstStyle/>
          <a:p>
            <a:r>
              <a:rPr lang="en-AU" dirty="0"/>
              <a:t>Integrate with Existing Enterprise Systems</a:t>
            </a:r>
          </a:p>
        </p:txBody>
      </p:sp>
      <p:pic>
        <p:nvPicPr>
          <p:cNvPr id="4" name="Content Placeholder 3">
            <a:extLst>
              <a:ext uri="{FF2B5EF4-FFF2-40B4-BE49-F238E27FC236}">
                <a16:creationId xmlns:a16="http://schemas.microsoft.com/office/drawing/2014/main" id="{E151DA8B-9607-4A2B-A0EA-844B6EF5BC06}"/>
              </a:ext>
            </a:extLst>
          </p:cNvPr>
          <p:cNvPicPr>
            <a:picLocks noGrp="1" noChangeAspect="1"/>
          </p:cNvPicPr>
          <p:nvPr>
            <p:ph idx="1"/>
          </p:nvPr>
        </p:nvPicPr>
        <p:blipFill>
          <a:blip r:embed="rId2"/>
          <a:stretch>
            <a:fillRect/>
          </a:stretch>
        </p:blipFill>
        <p:spPr>
          <a:xfrm>
            <a:off x="1097280" y="1846263"/>
            <a:ext cx="9629209" cy="4022725"/>
          </a:xfrm>
          <a:prstGeom prst="rect">
            <a:avLst/>
          </a:prstGeom>
        </p:spPr>
      </p:pic>
    </p:spTree>
    <p:extLst>
      <p:ext uri="{BB962C8B-B14F-4D97-AF65-F5344CB8AC3E}">
        <p14:creationId xmlns:p14="http://schemas.microsoft.com/office/powerpoint/2010/main" val="2868303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65746-2171-4206-A2D9-14F4CA87520D}"/>
              </a:ext>
            </a:extLst>
          </p:cNvPr>
          <p:cNvSpPr>
            <a:spLocks noGrp="1"/>
          </p:cNvSpPr>
          <p:nvPr>
            <p:ph type="title"/>
          </p:nvPr>
        </p:nvSpPr>
        <p:spPr/>
        <p:txBody>
          <a:bodyPr/>
          <a:lstStyle/>
          <a:p>
            <a:r>
              <a:rPr lang="en-AU" dirty="0"/>
              <a:t>Integrate with Existing Enterprise Systems</a:t>
            </a:r>
          </a:p>
        </p:txBody>
      </p:sp>
      <p:pic>
        <p:nvPicPr>
          <p:cNvPr id="6" name="Content Placeholder 5">
            <a:extLst>
              <a:ext uri="{FF2B5EF4-FFF2-40B4-BE49-F238E27FC236}">
                <a16:creationId xmlns:a16="http://schemas.microsoft.com/office/drawing/2014/main" id="{C8E42E9E-EA56-4CF3-864D-B8DF48454924}"/>
              </a:ext>
            </a:extLst>
          </p:cNvPr>
          <p:cNvPicPr>
            <a:picLocks noGrp="1" noChangeAspect="1"/>
          </p:cNvPicPr>
          <p:nvPr>
            <p:ph idx="1"/>
          </p:nvPr>
        </p:nvPicPr>
        <p:blipFill>
          <a:blip r:embed="rId2"/>
          <a:stretch>
            <a:fillRect/>
          </a:stretch>
        </p:blipFill>
        <p:spPr>
          <a:xfrm>
            <a:off x="1000494" y="1960267"/>
            <a:ext cx="9039225" cy="923925"/>
          </a:xfrm>
          <a:prstGeom prst="rect">
            <a:avLst/>
          </a:prstGeom>
        </p:spPr>
      </p:pic>
      <p:sp>
        <p:nvSpPr>
          <p:cNvPr id="7" name="TextBox 6">
            <a:extLst>
              <a:ext uri="{FF2B5EF4-FFF2-40B4-BE49-F238E27FC236}">
                <a16:creationId xmlns:a16="http://schemas.microsoft.com/office/drawing/2014/main" id="{631676D8-6E87-4B10-AD3F-BA87C29FF065}"/>
              </a:ext>
            </a:extLst>
          </p:cNvPr>
          <p:cNvSpPr txBox="1"/>
          <p:nvPr/>
        </p:nvSpPr>
        <p:spPr>
          <a:xfrm>
            <a:off x="1143354" y="3181683"/>
            <a:ext cx="6092456" cy="2492990"/>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sz="2000" dirty="0"/>
              <a:t>Process</a:t>
            </a:r>
          </a:p>
          <a:p>
            <a:pPr marL="285750" indent="-285750">
              <a:lnSpc>
                <a:spcPct val="200000"/>
              </a:lnSpc>
              <a:buFont typeface="Wingdings" panose="05000000000000000000" pitchFamily="2" charset="2"/>
              <a:buChar char="q"/>
            </a:pPr>
            <a:r>
              <a:rPr lang="en-US" sz="2000" dirty="0"/>
              <a:t>Data Integration</a:t>
            </a:r>
          </a:p>
          <a:p>
            <a:pPr marL="285750" indent="-285750">
              <a:lnSpc>
                <a:spcPct val="200000"/>
              </a:lnSpc>
              <a:buFont typeface="Wingdings" panose="05000000000000000000" pitchFamily="2" charset="2"/>
              <a:buChar char="q"/>
            </a:pPr>
            <a:r>
              <a:rPr lang="en-US" sz="2000" dirty="0"/>
              <a:t>Presentation Integration</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AU" dirty="0"/>
          </a:p>
        </p:txBody>
      </p:sp>
    </p:spTree>
    <p:extLst>
      <p:ext uri="{BB962C8B-B14F-4D97-AF65-F5344CB8AC3E}">
        <p14:creationId xmlns:p14="http://schemas.microsoft.com/office/powerpoint/2010/main" val="26242464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4AE19-3BF4-4DDE-8F6A-16ECC5CCEBAB}"/>
              </a:ext>
            </a:extLst>
          </p:cNvPr>
          <p:cNvSpPr>
            <a:spLocks noGrp="1"/>
          </p:cNvSpPr>
          <p:nvPr>
            <p:ph type="title"/>
          </p:nvPr>
        </p:nvSpPr>
        <p:spPr/>
        <p:txBody>
          <a:bodyPr/>
          <a:lstStyle/>
          <a:p>
            <a:r>
              <a:rPr lang="en-AU" dirty="0"/>
              <a:t>Address Connectivity Requirements</a:t>
            </a:r>
          </a:p>
        </p:txBody>
      </p:sp>
      <p:sp>
        <p:nvSpPr>
          <p:cNvPr id="3" name="Content Placeholder 2">
            <a:extLst>
              <a:ext uri="{FF2B5EF4-FFF2-40B4-BE49-F238E27FC236}">
                <a16:creationId xmlns:a16="http://schemas.microsoft.com/office/drawing/2014/main" id="{12873F63-FF15-4EBA-A0B1-21E2FF38AE3E}"/>
              </a:ext>
            </a:extLst>
          </p:cNvPr>
          <p:cNvSpPr>
            <a:spLocks noGrp="1"/>
          </p:cNvSpPr>
          <p:nvPr>
            <p:ph idx="1"/>
          </p:nvPr>
        </p:nvSpPr>
        <p:spPr/>
        <p:txBody>
          <a:bodyPr/>
          <a:lstStyle/>
          <a:p>
            <a:pPr algn="just">
              <a:lnSpc>
                <a:spcPct val="150000"/>
              </a:lnSpc>
            </a:pPr>
            <a:r>
              <a:rPr lang="en-AU" dirty="0"/>
              <a:t>Connectivity in the hybrid cloud is a key domain for successful deployments. It must also support the hybrid cloud solution by:</a:t>
            </a:r>
          </a:p>
          <a:p>
            <a:pPr algn="just">
              <a:lnSpc>
                <a:spcPct val="150000"/>
              </a:lnSpc>
            </a:pPr>
            <a:r>
              <a:rPr lang="en-AU" dirty="0"/>
              <a:t>• Meeting requested service levels (e.g., user experience);</a:t>
            </a:r>
          </a:p>
          <a:p>
            <a:pPr algn="just">
              <a:lnSpc>
                <a:spcPct val="150000"/>
              </a:lnSpc>
            </a:pPr>
            <a:r>
              <a:rPr lang="en-AU" dirty="0"/>
              <a:t>• Adhering to the security policies and</a:t>
            </a:r>
          </a:p>
          <a:p>
            <a:pPr algn="just">
              <a:lnSpc>
                <a:spcPct val="150000"/>
              </a:lnSpc>
            </a:pPr>
            <a:r>
              <a:rPr lang="en-AU" dirty="0"/>
              <a:t>• Enabling the overall IT management strategy</a:t>
            </a:r>
          </a:p>
        </p:txBody>
      </p:sp>
    </p:spTree>
    <p:extLst>
      <p:ext uri="{BB962C8B-B14F-4D97-AF65-F5344CB8AC3E}">
        <p14:creationId xmlns:p14="http://schemas.microsoft.com/office/powerpoint/2010/main" val="5408304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0418-2F28-406C-8E5C-1957DFC26008}"/>
              </a:ext>
            </a:extLst>
          </p:cNvPr>
          <p:cNvSpPr>
            <a:spLocks noGrp="1"/>
          </p:cNvSpPr>
          <p:nvPr>
            <p:ph type="title"/>
          </p:nvPr>
        </p:nvSpPr>
        <p:spPr/>
        <p:txBody>
          <a:bodyPr/>
          <a:lstStyle/>
          <a:p>
            <a:r>
              <a:rPr lang="en-AU" dirty="0"/>
              <a:t>Develop Governance Policies and Service Agreements</a:t>
            </a:r>
          </a:p>
        </p:txBody>
      </p:sp>
      <p:sp>
        <p:nvSpPr>
          <p:cNvPr id="3" name="Content Placeholder 2">
            <a:extLst>
              <a:ext uri="{FF2B5EF4-FFF2-40B4-BE49-F238E27FC236}">
                <a16:creationId xmlns:a16="http://schemas.microsoft.com/office/drawing/2014/main" id="{37339218-A1EE-4B18-BA12-06A7CBC3AAFA}"/>
              </a:ext>
            </a:extLst>
          </p:cNvPr>
          <p:cNvSpPr>
            <a:spLocks noGrp="1"/>
          </p:cNvSpPr>
          <p:nvPr>
            <p:ph idx="1"/>
          </p:nvPr>
        </p:nvSpPr>
        <p:spPr>
          <a:xfrm>
            <a:off x="1097280" y="1845733"/>
            <a:ext cx="10058400" cy="4533801"/>
          </a:xfrm>
        </p:spPr>
        <p:txBody>
          <a:bodyPr>
            <a:normAutofit/>
          </a:bodyPr>
          <a:lstStyle/>
          <a:p>
            <a:pPr algn="just">
              <a:lnSpc>
                <a:spcPct val="150000"/>
              </a:lnSpc>
              <a:buFont typeface="Wingdings" panose="05000000000000000000" pitchFamily="2" charset="2"/>
              <a:buChar char="q"/>
            </a:pPr>
            <a:r>
              <a:rPr lang="en-AU" dirty="0"/>
              <a:t>Operating under a governance framework and service agreements.</a:t>
            </a:r>
          </a:p>
          <a:p>
            <a:pPr algn="just">
              <a:lnSpc>
                <a:spcPct val="150000"/>
              </a:lnSpc>
              <a:buFont typeface="Wingdings" panose="05000000000000000000" pitchFamily="2" charset="2"/>
              <a:buChar char="Ø"/>
            </a:pPr>
            <a:r>
              <a:rPr lang="en-AU" dirty="0"/>
              <a:t> Governance : the system by which the provision and use of cloud services are directed and controlled.</a:t>
            </a:r>
          </a:p>
          <a:p>
            <a:pPr algn="just">
              <a:lnSpc>
                <a:spcPct val="150000"/>
              </a:lnSpc>
              <a:buFont typeface="Wingdings" panose="05000000000000000000" pitchFamily="2" charset="2"/>
              <a:buChar char="v"/>
            </a:pPr>
            <a:r>
              <a:rPr lang="en-AU" dirty="0"/>
              <a:t>Internal cloud governance </a:t>
            </a:r>
          </a:p>
          <a:p>
            <a:pPr algn="just">
              <a:lnSpc>
                <a:spcPct val="150000"/>
              </a:lnSpc>
              <a:buFont typeface="Wingdings" panose="05000000000000000000" pitchFamily="2" charset="2"/>
              <a:buChar char="v"/>
            </a:pPr>
            <a:r>
              <a:rPr lang="en-AU" dirty="0"/>
              <a:t>External cloud governance</a:t>
            </a:r>
          </a:p>
        </p:txBody>
      </p:sp>
    </p:spTree>
    <p:extLst>
      <p:ext uri="{BB962C8B-B14F-4D97-AF65-F5344CB8AC3E}">
        <p14:creationId xmlns:p14="http://schemas.microsoft.com/office/powerpoint/2010/main" val="4264492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016F2-E2FC-4F9E-AB0D-773556B9F151}"/>
              </a:ext>
            </a:extLst>
          </p:cNvPr>
          <p:cNvSpPr>
            <a:spLocks noGrp="1"/>
          </p:cNvSpPr>
          <p:nvPr>
            <p:ph type="title"/>
          </p:nvPr>
        </p:nvSpPr>
        <p:spPr/>
        <p:txBody>
          <a:bodyPr/>
          <a:lstStyle/>
          <a:p>
            <a:r>
              <a:rPr lang="en-AU" dirty="0"/>
              <a:t>Manage the Cloud Environment</a:t>
            </a:r>
          </a:p>
        </p:txBody>
      </p:sp>
      <p:sp>
        <p:nvSpPr>
          <p:cNvPr id="6" name="Content Placeholder 5">
            <a:extLst>
              <a:ext uri="{FF2B5EF4-FFF2-40B4-BE49-F238E27FC236}">
                <a16:creationId xmlns:a16="http://schemas.microsoft.com/office/drawing/2014/main" id="{6AC191B5-CCEF-4F08-ABE7-8F3B66B9A280}"/>
              </a:ext>
            </a:extLst>
          </p:cNvPr>
          <p:cNvSpPr>
            <a:spLocks noGrp="1"/>
          </p:cNvSpPr>
          <p:nvPr>
            <p:ph idx="1"/>
          </p:nvPr>
        </p:nvSpPr>
        <p:spPr/>
        <p:txBody>
          <a:bodyPr/>
          <a:lstStyle/>
          <a:p>
            <a:r>
              <a:rPr lang="en-AU" dirty="0"/>
              <a:t>Here are the critical steps cloud customers must take to plan a management solution for hybrid cloud:</a:t>
            </a:r>
          </a:p>
          <a:p>
            <a:pPr>
              <a:buFont typeface="Wingdings" panose="05000000000000000000" pitchFamily="2" charset="2"/>
              <a:buChar char="q"/>
            </a:pPr>
            <a:r>
              <a:rPr lang="en-AU" dirty="0"/>
              <a:t>1 – </a:t>
            </a:r>
            <a:r>
              <a:rPr lang="en-AU" dirty="0" err="1"/>
              <a:t>Analyze</a:t>
            </a:r>
            <a:r>
              <a:rPr lang="en-AU" dirty="0"/>
              <a:t> the management processes and use cases you need to implement </a:t>
            </a:r>
          </a:p>
          <a:p>
            <a:pPr>
              <a:buFont typeface="Wingdings" panose="05000000000000000000" pitchFamily="2" charset="2"/>
              <a:buChar char="q"/>
            </a:pPr>
            <a:r>
              <a:rPr lang="en-AU" dirty="0"/>
              <a:t>2 – </a:t>
            </a:r>
            <a:r>
              <a:rPr lang="en-AU" dirty="0" err="1"/>
              <a:t>Analyze</a:t>
            </a:r>
            <a:r>
              <a:rPr lang="en-AU" dirty="0"/>
              <a:t> on-premises management tooling</a:t>
            </a:r>
          </a:p>
          <a:p>
            <a:pPr>
              <a:buFont typeface="Wingdings" panose="05000000000000000000" pitchFamily="2" charset="2"/>
              <a:buChar char="q"/>
            </a:pPr>
            <a:r>
              <a:rPr lang="en-AU" dirty="0"/>
              <a:t>3 – </a:t>
            </a:r>
            <a:r>
              <a:rPr lang="en-AU" dirty="0" err="1"/>
              <a:t>Analyze</a:t>
            </a:r>
            <a:r>
              <a:rPr lang="en-AU" dirty="0"/>
              <a:t> cloud service provider management functions and the service responsibility line</a:t>
            </a:r>
          </a:p>
          <a:p>
            <a:endParaRPr lang="en-AU" dirty="0"/>
          </a:p>
        </p:txBody>
      </p:sp>
    </p:spTree>
    <p:extLst>
      <p:ext uri="{BB962C8B-B14F-4D97-AF65-F5344CB8AC3E}">
        <p14:creationId xmlns:p14="http://schemas.microsoft.com/office/powerpoint/2010/main" val="3773367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944F6-1E36-45AE-B454-4464625DEA05}"/>
              </a:ext>
            </a:extLst>
          </p:cNvPr>
          <p:cNvSpPr>
            <a:spLocks noGrp="1"/>
          </p:cNvSpPr>
          <p:nvPr>
            <p:ph type="title"/>
          </p:nvPr>
        </p:nvSpPr>
        <p:spPr/>
        <p:txBody>
          <a:bodyPr/>
          <a:lstStyle/>
          <a:p>
            <a:r>
              <a:rPr lang="en-AU" dirty="0"/>
              <a:t>Consider a Backup, Archive and Disaster Recovery Plan</a:t>
            </a:r>
          </a:p>
        </p:txBody>
      </p:sp>
      <p:pic>
        <p:nvPicPr>
          <p:cNvPr id="7" name="Picture 6">
            <a:extLst>
              <a:ext uri="{FF2B5EF4-FFF2-40B4-BE49-F238E27FC236}">
                <a16:creationId xmlns:a16="http://schemas.microsoft.com/office/drawing/2014/main" id="{E5EDFF9A-2148-47B7-8865-8CCA2C4E0D6D}"/>
              </a:ext>
            </a:extLst>
          </p:cNvPr>
          <p:cNvPicPr>
            <a:picLocks noChangeAspect="1"/>
          </p:cNvPicPr>
          <p:nvPr/>
        </p:nvPicPr>
        <p:blipFill>
          <a:blip r:embed="rId2"/>
          <a:stretch>
            <a:fillRect/>
          </a:stretch>
        </p:blipFill>
        <p:spPr>
          <a:xfrm>
            <a:off x="776287" y="1976437"/>
            <a:ext cx="10639425" cy="2905125"/>
          </a:xfrm>
          <a:prstGeom prst="rect">
            <a:avLst/>
          </a:prstGeom>
        </p:spPr>
      </p:pic>
      <p:pic>
        <p:nvPicPr>
          <p:cNvPr id="8" name="Picture 7">
            <a:extLst>
              <a:ext uri="{FF2B5EF4-FFF2-40B4-BE49-F238E27FC236}">
                <a16:creationId xmlns:a16="http://schemas.microsoft.com/office/drawing/2014/main" id="{0755F8E3-1E30-4C04-BACA-82C2D884E85B}"/>
              </a:ext>
            </a:extLst>
          </p:cNvPr>
          <p:cNvPicPr>
            <a:picLocks noChangeAspect="1"/>
          </p:cNvPicPr>
          <p:nvPr/>
        </p:nvPicPr>
        <p:blipFill>
          <a:blip r:embed="rId3"/>
          <a:stretch>
            <a:fillRect/>
          </a:stretch>
        </p:blipFill>
        <p:spPr>
          <a:xfrm>
            <a:off x="776287" y="5477982"/>
            <a:ext cx="3067050" cy="495300"/>
          </a:xfrm>
          <a:prstGeom prst="rect">
            <a:avLst/>
          </a:prstGeom>
        </p:spPr>
      </p:pic>
      <p:pic>
        <p:nvPicPr>
          <p:cNvPr id="9" name="Picture 8">
            <a:extLst>
              <a:ext uri="{FF2B5EF4-FFF2-40B4-BE49-F238E27FC236}">
                <a16:creationId xmlns:a16="http://schemas.microsoft.com/office/drawing/2014/main" id="{16AE53A3-E1D2-4383-A37D-4F0E6B72154E}"/>
              </a:ext>
            </a:extLst>
          </p:cNvPr>
          <p:cNvPicPr>
            <a:picLocks noChangeAspect="1"/>
          </p:cNvPicPr>
          <p:nvPr/>
        </p:nvPicPr>
        <p:blipFill>
          <a:blip r:embed="rId4"/>
          <a:stretch>
            <a:fillRect/>
          </a:stretch>
        </p:blipFill>
        <p:spPr>
          <a:xfrm>
            <a:off x="5243515" y="5477982"/>
            <a:ext cx="3105150" cy="409575"/>
          </a:xfrm>
          <a:prstGeom prst="rect">
            <a:avLst/>
          </a:prstGeom>
        </p:spPr>
      </p:pic>
    </p:spTree>
    <p:extLst>
      <p:ext uri="{BB962C8B-B14F-4D97-AF65-F5344CB8AC3E}">
        <p14:creationId xmlns:p14="http://schemas.microsoft.com/office/powerpoint/2010/main" val="20017262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6F9A44-3A58-4D3D-8B86-2E3C7241D8F5}"/>
              </a:ext>
            </a:extLst>
          </p:cNvPr>
          <p:cNvPicPr>
            <a:picLocks noChangeAspect="1"/>
          </p:cNvPicPr>
          <p:nvPr/>
        </p:nvPicPr>
        <p:blipFill>
          <a:blip r:embed="rId2"/>
          <a:stretch>
            <a:fillRect/>
          </a:stretch>
        </p:blipFill>
        <p:spPr>
          <a:xfrm>
            <a:off x="1005995" y="748597"/>
            <a:ext cx="10392107" cy="3000375"/>
          </a:xfrm>
          <a:prstGeom prst="rect">
            <a:avLst/>
          </a:prstGeom>
        </p:spPr>
      </p:pic>
    </p:spTree>
    <p:extLst>
      <p:ext uri="{BB962C8B-B14F-4D97-AF65-F5344CB8AC3E}">
        <p14:creationId xmlns:p14="http://schemas.microsoft.com/office/powerpoint/2010/main" val="1156252110"/>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689</TotalTime>
  <Words>1420</Words>
  <Application>Microsoft Office PowerPoint</Application>
  <PresentationFormat>Widescreen</PresentationFormat>
  <Paragraphs>118</Paragraphs>
  <Slides>34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Calibri</vt:lpstr>
      <vt:lpstr>Calibri Light</vt:lpstr>
      <vt:lpstr>Wingdings</vt:lpstr>
      <vt:lpstr>Retrospect</vt:lpstr>
      <vt:lpstr>Notes</vt:lpstr>
      <vt:lpstr>Intercloud</vt:lpstr>
      <vt:lpstr>Mobile Cloud Computing</vt:lpstr>
      <vt:lpstr>A remote cloud server offering services to a mobile device.</vt:lpstr>
      <vt:lpstr>Media Cloud </vt:lpstr>
      <vt:lpstr>Hybrid cloud</vt:lpstr>
      <vt:lpstr>Executive summary</vt:lpstr>
      <vt:lpstr>Hybrid cloud</vt:lpstr>
      <vt:lpstr>Hybrid cloud</vt:lpstr>
      <vt:lpstr>PowerPoint Presentation</vt:lpstr>
      <vt:lpstr>Why does hybrid cloud matter?</vt:lpstr>
      <vt:lpstr>Practical Guide to Hybrid Cloud Computing</vt:lpstr>
      <vt:lpstr>Hybrid cloud</vt:lpstr>
      <vt:lpstr> off-premises versus on-premises cloud computing </vt:lpstr>
      <vt:lpstr>Key considerations that need to be taken into account</vt:lpstr>
      <vt:lpstr>Key considerations that need to be taken into account</vt:lpstr>
      <vt:lpstr>Key considerations that need to be taken into account</vt:lpstr>
      <vt:lpstr>Hybrid cloud means different things to different people</vt:lpstr>
      <vt:lpstr>Solution Designer Perspective: “Give me more options”</vt:lpstr>
      <vt:lpstr>Infrastructure Perspective: “More things to manage”</vt:lpstr>
      <vt:lpstr>Business Team Perspective: “What is available? How much is it? What value does it provide?”</vt:lpstr>
      <vt:lpstr>Why Hybrid Cloud is important to the business</vt:lpstr>
      <vt:lpstr>Prescriptive guidance for successful implementation of Hybrid Cloud</vt:lpstr>
      <vt:lpstr>The components and their interconnections that are involved in hybrid cloud computing</vt:lpstr>
      <vt:lpstr>Determine Cloud Deployment Model for Applications and Data</vt:lpstr>
      <vt:lpstr>Which cloud service model to use for the application:</vt:lpstr>
      <vt:lpstr>The criteria used when deciding between public and private (on and off-premises) cloud deployment.</vt:lpstr>
      <vt:lpstr>Integrate with Existing Enterprise Systems</vt:lpstr>
      <vt:lpstr>Integrate with Existing Enterprise Systems</vt:lpstr>
      <vt:lpstr>Address Connectivity Requirements</vt:lpstr>
      <vt:lpstr>Develop Governance Policies and Service Agreements</vt:lpstr>
      <vt:lpstr>Manage the Cloud Environment</vt:lpstr>
      <vt:lpstr>Consider a Backup, Archive and Disaster Recovery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Notes</dc:title>
  <dc:creator>Supriya Supriya</dc:creator>
  <cp:lastModifiedBy>Supriya Supriya</cp:lastModifiedBy>
  <cp:revision>71</cp:revision>
  <dcterms:created xsi:type="dcterms:W3CDTF">2022-03-31T20:19:06Z</dcterms:created>
  <dcterms:modified xsi:type="dcterms:W3CDTF">2022-10-28T04:03:47Z</dcterms:modified>
</cp:coreProperties>
</file>