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8"/>
  </p:notesMasterIdLst>
  <p:sldIdLst>
    <p:sldId id="256" r:id="rId5"/>
    <p:sldId id="264" r:id="rId6"/>
    <p:sldId id="263" r:id="rId7"/>
    <p:sldId id="1712" r:id="rId8"/>
    <p:sldId id="1713" r:id="rId9"/>
    <p:sldId id="1714" r:id="rId10"/>
    <p:sldId id="1677" r:id="rId11"/>
    <p:sldId id="1676" r:id="rId12"/>
    <p:sldId id="1664" r:id="rId13"/>
    <p:sldId id="1723" r:id="rId14"/>
    <p:sldId id="1724" r:id="rId15"/>
    <p:sldId id="1721" r:id="rId16"/>
    <p:sldId id="1735" r:id="rId17"/>
    <p:sldId id="1742" r:id="rId18"/>
    <p:sldId id="1743" r:id="rId19"/>
    <p:sldId id="1744" r:id="rId20"/>
    <p:sldId id="1745" r:id="rId21"/>
    <p:sldId id="1751" r:id="rId22"/>
    <p:sldId id="1746" r:id="rId23"/>
    <p:sldId id="1718" r:id="rId24"/>
    <p:sldId id="1733" r:id="rId25"/>
    <p:sldId id="1740" r:id="rId26"/>
    <p:sldId id="1719" r:id="rId27"/>
    <p:sldId id="1690" r:id="rId28"/>
    <p:sldId id="1720" r:id="rId29"/>
    <p:sldId id="1688" r:id="rId30"/>
    <p:sldId id="1693" r:id="rId31"/>
    <p:sldId id="270" r:id="rId32"/>
    <p:sldId id="1748" r:id="rId33"/>
    <p:sldId id="1749" r:id="rId34"/>
    <p:sldId id="1750" r:id="rId35"/>
    <p:sldId id="272" r:id="rId36"/>
    <p:sldId id="1649"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255" autoAdjust="0"/>
    <p:restoredTop sz="71848" autoAdjust="0"/>
  </p:normalViewPr>
  <p:slideViewPr>
    <p:cSldViewPr snapToGrid="0">
      <p:cViewPr varScale="1">
        <p:scale>
          <a:sx n="75" d="100"/>
          <a:sy n="75" d="100"/>
        </p:scale>
        <p:origin x="128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AC587A-AD81-4E1E-A6CF-ABE11E05A1E9}"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57C1413B-DC74-4FB6-B0EC-7D00B54B4D0D}">
      <dgm:prSet/>
      <dgm:spPr/>
      <dgm:t>
        <a:bodyPr/>
        <a:lstStyle/>
        <a:p>
          <a:r>
            <a:rPr lang="en-US" dirty="0"/>
            <a:t>Learned automatically by the model during training. </a:t>
          </a:r>
        </a:p>
      </dgm:t>
    </dgm:pt>
    <dgm:pt modelId="{1825CD4C-8A1C-4B8D-914B-944A3A7D5685}" type="parTrans" cxnId="{AD5F304C-190F-4761-9B37-913C445AD4EA}">
      <dgm:prSet/>
      <dgm:spPr/>
      <dgm:t>
        <a:bodyPr/>
        <a:lstStyle/>
        <a:p>
          <a:endParaRPr lang="en-US"/>
        </a:p>
      </dgm:t>
    </dgm:pt>
    <dgm:pt modelId="{A7820F22-B92C-44F5-9BB3-5BB7F43520F5}" type="sibTrans" cxnId="{AD5F304C-190F-4761-9B37-913C445AD4EA}">
      <dgm:prSet/>
      <dgm:spPr/>
      <dgm:t>
        <a:bodyPr/>
        <a:lstStyle/>
        <a:p>
          <a:endParaRPr lang="en-US"/>
        </a:p>
      </dgm:t>
    </dgm:pt>
    <dgm:pt modelId="{93287024-31F6-4AB6-9FA5-79F68E0DF225}">
      <dgm:prSet/>
      <dgm:spPr/>
      <dgm:t>
        <a:bodyPr/>
        <a:lstStyle/>
        <a:p>
          <a:r>
            <a:rPr lang="en-US" dirty="0"/>
            <a:t>Driven-an optimization algorithm (gradient descent) </a:t>
          </a:r>
        </a:p>
      </dgm:t>
    </dgm:pt>
    <dgm:pt modelId="{29FA9FE7-665B-41CD-A327-B9027716B637}" type="parTrans" cxnId="{F05DEDEA-16C3-4EB7-BBA0-1ABF3FA57116}">
      <dgm:prSet/>
      <dgm:spPr/>
      <dgm:t>
        <a:bodyPr/>
        <a:lstStyle/>
        <a:p>
          <a:endParaRPr lang="en-US"/>
        </a:p>
      </dgm:t>
    </dgm:pt>
    <dgm:pt modelId="{DB595B36-7303-4567-A0F0-0952D0207C40}" type="sibTrans" cxnId="{F05DEDEA-16C3-4EB7-BBA0-1ABF3FA57116}">
      <dgm:prSet/>
      <dgm:spPr/>
      <dgm:t>
        <a:bodyPr/>
        <a:lstStyle/>
        <a:p>
          <a:endParaRPr lang="en-US"/>
        </a:p>
      </dgm:t>
    </dgm:pt>
    <dgm:pt modelId="{7E1E8D58-85A6-4A0C-BFCF-6DB0B07469C2}">
      <dgm:prSet/>
      <dgm:spPr/>
      <dgm:t>
        <a:bodyPr/>
        <a:lstStyle/>
        <a:p>
          <a:r>
            <a:rPr lang="en-US" dirty="0"/>
            <a:t>Aim to minimize a specific function called the loss function.</a:t>
          </a:r>
        </a:p>
      </dgm:t>
    </dgm:pt>
    <dgm:pt modelId="{6099FDED-1B5F-4B48-841D-A59CF5F849AC}" type="parTrans" cxnId="{D44686C0-A953-410E-84A0-912E978C267D}">
      <dgm:prSet/>
      <dgm:spPr/>
      <dgm:t>
        <a:bodyPr/>
        <a:lstStyle/>
        <a:p>
          <a:endParaRPr lang="en-US"/>
        </a:p>
      </dgm:t>
    </dgm:pt>
    <dgm:pt modelId="{A721F941-06C9-442D-987E-D8B13C42D900}" type="sibTrans" cxnId="{D44686C0-A953-410E-84A0-912E978C267D}">
      <dgm:prSet/>
      <dgm:spPr/>
      <dgm:t>
        <a:bodyPr/>
        <a:lstStyle/>
        <a:p>
          <a:endParaRPr lang="en-US"/>
        </a:p>
      </dgm:t>
    </dgm:pt>
    <dgm:pt modelId="{8F674955-5B3E-465A-B1BF-57445656685F}">
      <dgm:prSet/>
      <dgm:spPr/>
      <dgm:t>
        <a:bodyPr/>
        <a:lstStyle/>
        <a:p>
          <a:r>
            <a:rPr lang="en-US" b="1"/>
            <a:t>Here’s how it works:</a:t>
          </a:r>
          <a:endParaRPr lang="en-US"/>
        </a:p>
      </dgm:t>
    </dgm:pt>
    <dgm:pt modelId="{278D7EB6-497D-4000-9009-7D0B523E4B49}" type="parTrans" cxnId="{B2E89CFF-111E-4709-8E7C-7DD6CB04BC4B}">
      <dgm:prSet/>
      <dgm:spPr/>
      <dgm:t>
        <a:bodyPr/>
        <a:lstStyle/>
        <a:p>
          <a:endParaRPr lang="en-US"/>
        </a:p>
      </dgm:t>
    </dgm:pt>
    <dgm:pt modelId="{1E4DADCD-4441-44EC-9750-B35F6FCEFED8}" type="sibTrans" cxnId="{B2E89CFF-111E-4709-8E7C-7DD6CB04BC4B}">
      <dgm:prSet/>
      <dgm:spPr/>
      <dgm:t>
        <a:bodyPr/>
        <a:lstStyle/>
        <a:p>
          <a:endParaRPr lang="en-US"/>
        </a:p>
      </dgm:t>
    </dgm:pt>
    <dgm:pt modelId="{AECEFDF4-B430-4034-BC52-872F37E26530}">
      <dgm:prSet/>
      <dgm:spPr/>
      <dgm:t>
        <a:bodyPr/>
        <a:lstStyle/>
        <a:p>
          <a:r>
            <a:rPr lang="en-US" b="1" dirty="0"/>
            <a:t>Initialize Weights Randomly</a:t>
          </a:r>
          <a:endParaRPr lang="en-US" dirty="0"/>
        </a:p>
      </dgm:t>
    </dgm:pt>
    <dgm:pt modelId="{19656C82-A025-460D-A9CA-B98D7D649EC7}" type="parTrans" cxnId="{086A87B4-2684-49DF-B99E-A5832033DFFC}">
      <dgm:prSet/>
      <dgm:spPr/>
      <dgm:t>
        <a:bodyPr/>
        <a:lstStyle/>
        <a:p>
          <a:endParaRPr lang="en-US"/>
        </a:p>
      </dgm:t>
    </dgm:pt>
    <dgm:pt modelId="{39F0EC21-8CFF-404C-9AB9-A4DAB937FF86}" type="sibTrans" cxnId="{086A87B4-2684-49DF-B99E-A5832033DFFC}">
      <dgm:prSet/>
      <dgm:spPr/>
      <dgm:t>
        <a:bodyPr/>
        <a:lstStyle/>
        <a:p>
          <a:endParaRPr lang="en-US"/>
        </a:p>
      </dgm:t>
    </dgm:pt>
    <dgm:pt modelId="{B2E529D0-01CD-4A3B-AA82-119E8FCF52DB}">
      <dgm:prSet/>
      <dgm:spPr/>
      <dgm:t>
        <a:bodyPr/>
        <a:lstStyle/>
        <a:p>
          <a:r>
            <a:rPr lang="en-US" b="1"/>
            <a:t>Calculate Loss</a:t>
          </a:r>
          <a:endParaRPr lang="en-US"/>
        </a:p>
      </dgm:t>
    </dgm:pt>
    <dgm:pt modelId="{8E4C022B-C68B-4353-879A-6624E23CCD7D}" type="parTrans" cxnId="{EE57E0BA-00EB-48CB-8A71-14D15B18474E}">
      <dgm:prSet/>
      <dgm:spPr/>
      <dgm:t>
        <a:bodyPr/>
        <a:lstStyle/>
        <a:p>
          <a:endParaRPr lang="en-US"/>
        </a:p>
      </dgm:t>
    </dgm:pt>
    <dgm:pt modelId="{B7AC1ADE-D626-49B2-8A1A-4BA3533F042E}" type="sibTrans" cxnId="{EE57E0BA-00EB-48CB-8A71-14D15B18474E}">
      <dgm:prSet/>
      <dgm:spPr/>
      <dgm:t>
        <a:bodyPr/>
        <a:lstStyle/>
        <a:p>
          <a:endParaRPr lang="en-US"/>
        </a:p>
      </dgm:t>
    </dgm:pt>
    <dgm:pt modelId="{A28671B6-D15C-4D10-8CF3-78A23C7AB79F}">
      <dgm:prSet/>
      <dgm:spPr/>
      <dgm:t>
        <a:bodyPr/>
        <a:lstStyle/>
        <a:p>
          <a:r>
            <a:rPr lang="en-US" b="1"/>
            <a:t>Adjust Weights (Gradient Descent)</a:t>
          </a:r>
          <a:endParaRPr lang="en-US"/>
        </a:p>
      </dgm:t>
    </dgm:pt>
    <dgm:pt modelId="{73484D6F-9F85-42F6-92EA-DE659BC41549}" type="parTrans" cxnId="{92614396-1833-4A61-A4A0-3220B143BB34}">
      <dgm:prSet/>
      <dgm:spPr/>
      <dgm:t>
        <a:bodyPr/>
        <a:lstStyle/>
        <a:p>
          <a:endParaRPr lang="en-US"/>
        </a:p>
      </dgm:t>
    </dgm:pt>
    <dgm:pt modelId="{A537069A-0C13-42A5-88C1-65AA58F8EF4F}" type="sibTrans" cxnId="{92614396-1833-4A61-A4A0-3220B143BB34}">
      <dgm:prSet/>
      <dgm:spPr/>
      <dgm:t>
        <a:bodyPr/>
        <a:lstStyle/>
        <a:p>
          <a:endParaRPr lang="en-US"/>
        </a:p>
      </dgm:t>
    </dgm:pt>
    <dgm:pt modelId="{229A131A-102F-4414-8D1A-067BD0A85444}">
      <dgm:prSet/>
      <dgm:spPr/>
      <dgm:t>
        <a:bodyPr/>
        <a:lstStyle/>
        <a:p>
          <a:r>
            <a:rPr lang="en-US" b="1" dirty="0"/>
            <a:t>Iterate Until Convergence.</a:t>
          </a:r>
          <a:endParaRPr lang="en-US" dirty="0"/>
        </a:p>
      </dgm:t>
    </dgm:pt>
    <dgm:pt modelId="{5A75A6B1-CEA8-455C-B2B4-A188F68205B0}" type="parTrans" cxnId="{FE9DB61C-60F9-47CF-BCAC-E75ABCC7AE76}">
      <dgm:prSet/>
      <dgm:spPr/>
      <dgm:t>
        <a:bodyPr/>
        <a:lstStyle/>
        <a:p>
          <a:endParaRPr lang="en-US"/>
        </a:p>
      </dgm:t>
    </dgm:pt>
    <dgm:pt modelId="{CBBC0C96-58F0-4556-ACEA-F4BA95660727}" type="sibTrans" cxnId="{FE9DB61C-60F9-47CF-BCAC-E75ABCC7AE76}">
      <dgm:prSet/>
      <dgm:spPr/>
      <dgm:t>
        <a:bodyPr/>
        <a:lstStyle/>
        <a:p>
          <a:endParaRPr lang="en-US"/>
        </a:p>
      </dgm:t>
    </dgm:pt>
    <dgm:pt modelId="{8F8F1E12-BA24-4766-9416-B11B0A2617EE}" type="pres">
      <dgm:prSet presAssocID="{2FAC587A-AD81-4E1E-A6CF-ABE11E05A1E9}" presName="vert0" presStyleCnt="0">
        <dgm:presLayoutVars>
          <dgm:dir/>
          <dgm:animOne val="branch"/>
          <dgm:animLvl val="lvl"/>
        </dgm:presLayoutVars>
      </dgm:prSet>
      <dgm:spPr/>
    </dgm:pt>
    <dgm:pt modelId="{DF6E1D81-3ACE-4EC0-B211-ADBBCF1FF95C}" type="pres">
      <dgm:prSet presAssocID="{57C1413B-DC74-4FB6-B0EC-7D00B54B4D0D}" presName="thickLine" presStyleLbl="alignNode1" presStyleIdx="0" presStyleCnt="4"/>
      <dgm:spPr/>
    </dgm:pt>
    <dgm:pt modelId="{FD20777A-96F6-4E5D-857B-0F16AEFF8C1D}" type="pres">
      <dgm:prSet presAssocID="{57C1413B-DC74-4FB6-B0EC-7D00B54B4D0D}" presName="horz1" presStyleCnt="0"/>
      <dgm:spPr/>
    </dgm:pt>
    <dgm:pt modelId="{ED7F747E-5842-48F1-B489-EA38810CCC3E}" type="pres">
      <dgm:prSet presAssocID="{57C1413B-DC74-4FB6-B0EC-7D00B54B4D0D}" presName="tx1" presStyleLbl="revTx" presStyleIdx="0" presStyleCnt="8" custScaleX="500000"/>
      <dgm:spPr/>
    </dgm:pt>
    <dgm:pt modelId="{1B91EB62-6F96-4E40-B74B-1C2294719817}" type="pres">
      <dgm:prSet presAssocID="{57C1413B-DC74-4FB6-B0EC-7D00B54B4D0D}" presName="vert1" presStyleCnt="0"/>
      <dgm:spPr/>
    </dgm:pt>
    <dgm:pt modelId="{7CC4C3B2-466E-40E3-99F9-523783CAA036}" type="pres">
      <dgm:prSet presAssocID="{93287024-31F6-4AB6-9FA5-79F68E0DF225}" presName="thickLine" presStyleLbl="alignNode1" presStyleIdx="1" presStyleCnt="4"/>
      <dgm:spPr/>
    </dgm:pt>
    <dgm:pt modelId="{91CC3062-D00C-40ED-8CE2-CFE2FBB7B40C}" type="pres">
      <dgm:prSet presAssocID="{93287024-31F6-4AB6-9FA5-79F68E0DF225}" presName="horz1" presStyleCnt="0"/>
      <dgm:spPr/>
    </dgm:pt>
    <dgm:pt modelId="{6ACA8D26-E355-41A2-853D-65815368D1E3}" type="pres">
      <dgm:prSet presAssocID="{93287024-31F6-4AB6-9FA5-79F68E0DF225}" presName="tx1" presStyleLbl="revTx" presStyleIdx="1" presStyleCnt="8" custScaleX="500000"/>
      <dgm:spPr/>
    </dgm:pt>
    <dgm:pt modelId="{52FAED32-6022-4DA9-93CF-19A5A3BE8FC7}" type="pres">
      <dgm:prSet presAssocID="{93287024-31F6-4AB6-9FA5-79F68E0DF225}" presName="vert1" presStyleCnt="0"/>
      <dgm:spPr/>
    </dgm:pt>
    <dgm:pt modelId="{9781C807-59C8-4C2D-AD0A-38328BA0B686}" type="pres">
      <dgm:prSet presAssocID="{7E1E8D58-85A6-4A0C-BFCF-6DB0B07469C2}" presName="thickLine" presStyleLbl="alignNode1" presStyleIdx="2" presStyleCnt="4"/>
      <dgm:spPr/>
    </dgm:pt>
    <dgm:pt modelId="{6979243E-9FAB-4D85-ADA1-EF3E213071BD}" type="pres">
      <dgm:prSet presAssocID="{7E1E8D58-85A6-4A0C-BFCF-6DB0B07469C2}" presName="horz1" presStyleCnt="0"/>
      <dgm:spPr/>
    </dgm:pt>
    <dgm:pt modelId="{2199CD19-74D6-4423-B6BF-9509C43D4D79}" type="pres">
      <dgm:prSet presAssocID="{7E1E8D58-85A6-4A0C-BFCF-6DB0B07469C2}" presName="tx1" presStyleLbl="revTx" presStyleIdx="2" presStyleCnt="8" custScaleX="500000"/>
      <dgm:spPr/>
    </dgm:pt>
    <dgm:pt modelId="{C21B1104-DE26-4C20-A761-D8D5334A8777}" type="pres">
      <dgm:prSet presAssocID="{7E1E8D58-85A6-4A0C-BFCF-6DB0B07469C2}" presName="vert1" presStyleCnt="0"/>
      <dgm:spPr/>
    </dgm:pt>
    <dgm:pt modelId="{3443CAC0-DCFD-423E-B0B2-C5444041DAD2}" type="pres">
      <dgm:prSet presAssocID="{8F674955-5B3E-465A-B1BF-57445656685F}" presName="thickLine" presStyleLbl="alignNode1" presStyleIdx="3" presStyleCnt="4"/>
      <dgm:spPr/>
    </dgm:pt>
    <dgm:pt modelId="{F25748A7-A13F-4D91-9F6B-DFE5473B1AFF}" type="pres">
      <dgm:prSet presAssocID="{8F674955-5B3E-465A-B1BF-57445656685F}" presName="horz1" presStyleCnt="0"/>
      <dgm:spPr/>
    </dgm:pt>
    <dgm:pt modelId="{3DB837E7-3629-4837-A0CA-6FC305CD9264}" type="pres">
      <dgm:prSet presAssocID="{8F674955-5B3E-465A-B1BF-57445656685F}" presName="tx1" presStyleLbl="revTx" presStyleIdx="3" presStyleCnt="8"/>
      <dgm:spPr/>
    </dgm:pt>
    <dgm:pt modelId="{8C559E3C-82F4-4B8A-AB2B-C54F1AFDB95C}" type="pres">
      <dgm:prSet presAssocID="{8F674955-5B3E-465A-B1BF-57445656685F}" presName="vert1" presStyleCnt="0"/>
      <dgm:spPr/>
    </dgm:pt>
    <dgm:pt modelId="{1D0B96FF-C9E9-4869-B6B4-517EA9D31EB9}" type="pres">
      <dgm:prSet presAssocID="{AECEFDF4-B430-4034-BC52-872F37E26530}" presName="vertSpace2a" presStyleCnt="0"/>
      <dgm:spPr/>
    </dgm:pt>
    <dgm:pt modelId="{D48078CD-C245-4732-9F7C-238DF3E6DE92}" type="pres">
      <dgm:prSet presAssocID="{AECEFDF4-B430-4034-BC52-872F37E26530}" presName="horz2" presStyleCnt="0"/>
      <dgm:spPr/>
    </dgm:pt>
    <dgm:pt modelId="{6636CC37-ED69-4C6B-9B42-D8EBB8B0B0F7}" type="pres">
      <dgm:prSet presAssocID="{AECEFDF4-B430-4034-BC52-872F37E26530}" presName="horzSpace2" presStyleCnt="0"/>
      <dgm:spPr/>
    </dgm:pt>
    <dgm:pt modelId="{5D596AFD-7F33-477A-8C35-D17C87F38BCA}" type="pres">
      <dgm:prSet presAssocID="{AECEFDF4-B430-4034-BC52-872F37E26530}" presName="tx2" presStyleLbl="revTx" presStyleIdx="4" presStyleCnt="8"/>
      <dgm:spPr/>
    </dgm:pt>
    <dgm:pt modelId="{0DC1A76C-F901-447C-8D35-E1BA260A5261}" type="pres">
      <dgm:prSet presAssocID="{AECEFDF4-B430-4034-BC52-872F37E26530}" presName="vert2" presStyleCnt="0"/>
      <dgm:spPr/>
    </dgm:pt>
    <dgm:pt modelId="{D6C7DB75-FCCC-4217-B7AB-BCE1C917D719}" type="pres">
      <dgm:prSet presAssocID="{AECEFDF4-B430-4034-BC52-872F37E26530}" presName="thinLine2b" presStyleLbl="callout" presStyleIdx="0" presStyleCnt="4"/>
      <dgm:spPr/>
    </dgm:pt>
    <dgm:pt modelId="{A7E97CE3-184D-42F5-80B0-A16532F58CF3}" type="pres">
      <dgm:prSet presAssocID="{AECEFDF4-B430-4034-BC52-872F37E26530}" presName="vertSpace2b" presStyleCnt="0"/>
      <dgm:spPr/>
    </dgm:pt>
    <dgm:pt modelId="{2EED846F-4E39-4F3C-8C38-E7EE5127C911}" type="pres">
      <dgm:prSet presAssocID="{B2E529D0-01CD-4A3B-AA82-119E8FCF52DB}" presName="horz2" presStyleCnt="0"/>
      <dgm:spPr/>
    </dgm:pt>
    <dgm:pt modelId="{E71041E7-22BF-4087-AE38-A5305552C2E5}" type="pres">
      <dgm:prSet presAssocID="{B2E529D0-01CD-4A3B-AA82-119E8FCF52DB}" presName="horzSpace2" presStyleCnt="0"/>
      <dgm:spPr/>
    </dgm:pt>
    <dgm:pt modelId="{C7491E86-5298-4681-B54B-DCB8D96FAA4F}" type="pres">
      <dgm:prSet presAssocID="{B2E529D0-01CD-4A3B-AA82-119E8FCF52DB}" presName="tx2" presStyleLbl="revTx" presStyleIdx="5" presStyleCnt="8"/>
      <dgm:spPr/>
    </dgm:pt>
    <dgm:pt modelId="{C14C6398-91F4-453B-A8D9-01A94CE3F7FE}" type="pres">
      <dgm:prSet presAssocID="{B2E529D0-01CD-4A3B-AA82-119E8FCF52DB}" presName="vert2" presStyleCnt="0"/>
      <dgm:spPr/>
    </dgm:pt>
    <dgm:pt modelId="{6733D853-4385-4B7C-8BF2-41184BBC759D}" type="pres">
      <dgm:prSet presAssocID="{B2E529D0-01CD-4A3B-AA82-119E8FCF52DB}" presName="thinLine2b" presStyleLbl="callout" presStyleIdx="1" presStyleCnt="4"/>
      <dgm:spPr/>
    </dgm:pt>
    <dgm:pt modelId="{2EAD793D-F86A-429D-816E-46CB468D2A26}" type="pres">
      <dgm:prSet presAssocID="{B2E529D0-01CD-4A3B-AA82-119E8FCF52DB}" presName="vertSpace2b" presStyleCnt="0"/>
      <dgm:spPr/>
    </dgm:pt>
    <dgm:pt modelId="{F3039FD9-5666-4BBA-97A4-788C41D48122}" type="pres">
      <dgm:prSet presAssocID="{A28671B6-D15C-4D10-8CF3-78A23C7AB79F}" presName="horz2" presStyleCnt="0"/>
      <dgm:spPr/>
    </dgm:pt>
    <dgm:pt modelId="{3B05160A-CFEC-456F-9946-A081FF7C51C2}" type="pres">
      <dgm:prSet presAssocID="{A28671B6-D15C-4D10-8CF3-78A23C7AB79F}" presName="horzSpace2" presStyleCnt="0"/>
      <dgm:spPr/>
    </dgm:pt>
    <dgm:pt modelId="{D8F98479-F81D-4B99-86DA-EF2257E4A0A4}" type="pres">
      <dgm:prSet presAssocID="{A28671B6-D15C-4D10-8CF3-78A23C7AB79F}" presName="tx2" presStyleLbl="revTx" presStyleIdx="6" presStyleCnt="8"/>
      <dgm:spPr/>
    </dgm:pt>
    <dgm:pt modelId="{2094618B-555D-48FD-8582-A7C90D052289}" type="pres">
      <dgm:prSet presAssocID="{A28671B6-D15C-4D10-8CF3-78A23C7AB79F}" presName="vert2" presStyleCnt="0"/>
      <dgm:spPr/>
    </dgm:pt>
    <dgm:pt modelId="{B77F4720-81FF-4831-BA18-F32D7BEDEBB8}" type="pres">
      <dgm:prSet presAssocID="{A28671B6-D15C-4D10-8CF3-78A23C7AB79F}" presName="thinLine2b" presStyleLbl="callout" presStyleIdx="2" presStyleCnt="4"/>
      <dgm:spPr/>
    </dgm:pt>
    <dgm:pt modelId="{252F62DA-7A11-4F3C-A1E7-823D0E07FBA2}" type="pres">
      <dgm:prSet presAssocID="{A28671B6-D15C-4D10-8CF3-78A23C7AB79F}" presName="vertSpace2b" presStyleCnt="0"/>
      <dgm:spPr/>
    </dgm:pt>
    <dgm:pt modelId="{803F728B-9543-47E9-B18B-ED1D1EF282FC}" type="pres">
      <dgm:prSet presAssocID="{229A131A-102F-4414-8D1A-067BD0A85444}" presName="horz2" presStyleCnt="0"/>
      <dgm:spPr/>
    </dgm:pt>
    <dgm:pt modelId="{BB74F8FE-10AD-4101-BE92-507808186F4C}" type="pres">
      <dgm:prSet presAssocID="{229A131A-102F-4414-8D1A-067BD0A85444}" presName="horzSpace2" presStyleCnt="0"/>
      <dgm:spPr/>
    </dgm:pt>
    <dgm:pt modelId="{DA6FE80F-77EF-462B-A399-090CFC33A8A8}" type="pres">
      <dgm:prSet presAssocID="{229A131A-102F-4414-8D1A-067BD0A85444}" presName="tx2" presStyleLbl="revTx" presStyleIdx="7" presStyleCnt="8"/>
      <dgm:spPr/>
    </dgm:pt>
    <dgm:pt modelId="{7E402525-76B5-41F2-910B-8A7F9E93F4FA}" type="pres">
      <dgm:prSet presAssocID="{229A131A-102F-4414-8D1A-067BD0A85444}" presName="vert2" presStyleCnt="0"/>
      <dgm:spPr/>
    </dgm:pt>
    <dgm:pt modelId="{F5B17A3C-D677-4480-918B-51624F2F3AEB}" type="pres">
      <dgm:prSet presAssocID="{229A131A-102F-4414-8D1A-067BD0A85444}" presName="thinLine2b" presStyleLbl="callout" presStyleIdx="3" presStyleCnt="4"/>
      <dgm:spPr/>
    </dgm:pt>
    <dgm:pt modelId="{B08B8A74-0778-4ED2-B176-6D7CFF2A7272}" type="pres">
      <dgm:prSet presAssocID="{229A131A-102F-4414-8D1A-067BD0A85444}" presName="vertSpace2b" presStyleCnt="0"/>
      <dgm:spPr/>
    </dgm:pt>
  </dgm:ptLst>
  <dgm:cxnLst>
    <dgm:cxn modelId="{70181F0F-CD48-478A-AA9B-F8935F213B6F}" type="presOf" srcId="{2FAC587A-AD81-4E1E-A6CF-ABE11E05A1E9}" destId="{8F8F1E12-BA24-4766-9416-B11B0A2617EE}" srcOrd="0" destOrd="0" presId="urn:microsoft.com/office/officeart/2008/layout/LinedList"/>
    <dgm:cxn modelId="{7DD9B116-18A1-4444-A4DF-873A25C0EF92}" type="presOf" srcId="{A28671B6-D15C-4D10-8CF3-78A23C7AB79F}" destId="{D8F98479-F81D-4B99-86DA-EF2257E4A0A4}" srcOrd="0" destOrd="0" presId="urn:microsoft.com/office/officeart/2008/layout/LinedList"/>
    <dgm:cxn modelId="{8FF72319-D891-4941-8D9B-238E691C5EC1}" type="presOf" srcId="{B2E529D0-01CD-4A3B-AA82-119E8FCF52DB}" destId="{C7491E86-5298-4681-B54B-DCB8D96FAA4F}" srcOrd="0" destOrd="0" presId="urn:microsoft.com/office/officeart/2008/layout/LinedList"/>
    <dgm:cxn modelId="{FE9DB61C-60F9-47CF-BCAC-E75ABCC7AE76}" srcId="{8F674955-5B3E-465A-B1BF-57445656685F}" destId="{229A131A-102F-4414-8D1A-067BD0A85444}" srcOrd="3" destOrd="0" parTransId="{5A75A6B1-CEA8-455C-B2B4-A188F68205B0}" sibTransId="{CBBC0C96-58F0-4556-ACEA-F4BA95660727}"/>
    <dgm:cxn modelId="{5C35FE45-6996-4F19-B683-276424224579}" type="presOf" srcId="{7E1E8D58-85A6-4A0C-BFCF-6DB0B07469C2}" destId="{2199CD19-74D6-4423-B6BF-9509C43D4D79}" srcOrd="0" destOrd="0" presId="urn:microsoft.com/office/officeart/2008/layout/LinedList"/>
    <dgm:cxn modelId="{7DC72366-673C-409F-845C-5D48F8A37B82}" type="presOf" srcId="{229A131A-102F-4414-8D1A-067BD0A85444}" destId="{DA6FE80F-77EF-462B-A399-090CFC33A8A8}" srcOrd="0" destOrd="0" presId="urn:microsoft.com/office/officeart/2008/layout/LinedList"/>
    <dgm:cxn modelId="{AD5F304C-190F-4761-9B37-913C445AD4EA}" srcId="{2FAC587A-AD81-4E1E-A6CF-ABE11E05A1E9}" destId="{57C1413B-DC74-4FB6-B0EC-7D00B54B4D0D}" srcOrd="0" destOrd="0" parTransId="{1825CD4C-8A1C-4B8D-914B-944A3A7D5685}" sibTransId="{A7820F22-B92C-44F5-9BB3-5BB7F43520F5}"/>
    <dgm:cxn modelId="{2AB2E14C-CA1A-4BC2-87D4-ED62F106E2D7}" type="presOf" srcId="{57C1413B-DC74-4FB6-B0EC-7D00B54B4D0D}" destId="{ED7F747E-5842-48F1-B489-EA38810CCC3E}" srcOrd="0" destOrd="0" presId="urn:microsoft.com/office/officeart/2008/layout/LinedList"/>
    <dgm:cxn modelId="{B96EA16F-4BEE-4E18-962A-1F462334DCEF}" type="presOf" srcId="{AECEFDF4-B430-4034-BC52-872F37E26530}" destId="{5D596AFD-7F33-477A-8C35-D17C87F38BCA}" srcOrd="0" destOrd="0" presId="urn:microsoft.com/office/officeart/2008/layout/LinedList"/>
    <dgm:cxn modelId="{92614396-1833-4A61-A4A0-3220B143BB34}" srcId="{8F674955-5B3E-465A-B1BF-57445656685F}" destId="{A28671B6-D15C-4D10-8CF3-78A23C7AB79F}" srcOrd="2" destOrd="0" parTransId="{73484D6F-9F85-42F6-92EA-DE659BC41549}" sibTransId="{A537069A-0C13-42A5-88C1-65AA58F8EF4F}"/>
    <dgm:cxn modelId="{086A87B4-2684-49DF-B99E-A5832033DFFC}" srcId="{8F674955-5B3E-465A-B1BF-57445656685F}" destId="{AECEFDF4-B430-4034-BC52-872F37E26530}" srcOrd="0" destOrd="0" parTransId="{19656C82-A025-460D-A9CA-B98D7D649EC7}" sibTransId="{39F0EC21-8CFF-404C-9AB9-A4DAB937FF86}"/>
    <dgm:cxn modelId="{EE57E0BA-00EB-48CB-8A71-14D15B18474E}" srcId="{8F674955-5B3E-465A-B1BF-57445656685F}" destId="{B2E529D0-01CD-4A3B-AA82-119E8FCF52DB}" srcOrd="1" destOrd="0" parTransId="{8E4C022B-C68B-4353-879A-6624E23CCD7D}" sibTransId="{B7AC1ADE-D626-49B2-8A1A-4BA3533F042E}"/>
    <dgm:cxn modelId="{D44686C0-A953-410E-84A0-912E978C267D}" srcId="{2FAC587A-AD81-4E1E-A6CF-ABE11E05A1E9}" destId="{7E1E8D58-85A6-4A0C-BFCF-6DB0B07469C2}" srcOrd="2" destOrd="0" parTransId="{6099FDED-1B5F-4B48-841D-A59CF5F849AC}" sibTransId="{A721F941-06C9-442D-987E-D8B13C42D900}"/>
    <dgm:cxn modelId="{BD177EC2-AC55-49FC-AB07-7947617184B6}" type="presOf" srcId="{93287024-31F6-4AB6-9FA5-79F68E0DF225}" destId="{6ACA8D26-E355-41A2-853D-65815368D1E3}" srcOrd="0" destOrd="0" presId="urn:microsoft.com/office/officeart/2008/layout/LinedList"/>
    <dgm:cxn modelId="{3F2613D9-E2C6-4B15-818E-56168251BE02}" type="presOf" srcId="{8F674955-5B3E-465A-B1BF-57445656685F}" destId="{3DB837E7-3629-4837-A0CA-6FC305CD9264}" srcOrd="0" destOrd="0" presId="urn:microsoft.com/office/officeart/2008/layout/LinedList"/>
    <dgm:cxn modelId="{F05DEDEA-16C3-4EB7-BBA0-1ABF3FA57116}" srcId="{2FAC587A-AD81-4E1E-A6CF-ABE11E05A1E9}" destId="{93287024-31F6-4AB6-9FA5-79F68E0DF225}" srcOrd="1" destOrd="0" parTransId="{29FA9FE7-665B-41CD-A327-B9027716B637}" sibTransId="{DB595B36-7303-4567-A0F0-0952D0207C40}"/>
    <dgm:cxn modelId="{B2E89CFF-111E-4709-8E7C-7DD6CB04BC4B}" srcId="{2FAC587A-AD81-4E1E-A6CF-ABE11E05A1E9}" destId="{8F674955-5B3E-465A-B1BF-57445656685F}" srcOrd="3" destOrd="0" parTransId="{278D7EB6-497D-4000-9009-7D0B523E4B49}" sibTransId="{1E4DADCD-4441-44EC-9750-B35F6FCEFED8}"/>
    <dgm:cxn modelId="{0129D949-2767-47B4-BCCF-506FD6D56DFB}" type="presParOf" srcId="{8F8F1E12-BA24-4766-9416-B11B0A2617EE}" destId="{DF6E1D81-3ACE-4EC0-B211-ADBBCF1FF95C}" srcOrd="0" destOrd="0" presId="urn:microsoft.com/office/officeart/2008/layout/LinedList"/>
    <dgm:cxn modelId="{6793DE1F-764C-40B9-8DE0-093DF61BB9AF}" type="presParOf" srcId="{8F8F1E12-BA24-4766-9416-B11B0A2617EE}" destId="{FD20777A-96F6-4E5D-857B-0F16AEFF8C1D}" srcOrd="1" destOrd="0" presId="urn:microsoft.com/office/officeart/2008/layout/LinedList"/>
    <dgm:cxn modelId="{791F6FF0-38A2-4DD0-9497-C335ECB62880}" type="presParOf" srcId="{FD20777A-96F6-4E5D-857B-0F16AEFF8C1D}" destId="{ED7F747E-5842-48F1-B489-EA38810CCC3E}" srcOrd="0" destOrd="0" presId="urn:microsoft.com/office/officeart/2008/layout/LinedList"/>
    <dgm:cxn modelId="{2100C9CF-2C3A-402B-8810-426981272A28}" type="presParOf" srcId="{FD20777A-96F6-4E5D-857B-0F16AEFF8C1D}" destId="{1B91EB62-6F96-4E40-B74B-1C2294719817}" srcOrd="1" destOrd="0" presId="urn:microsoft.com/office/officeart/2008/layout/LinedList"/>
    <dgm:cxn modelId="{A2B7233E-6982-4213-97D8-275B6EBBD445}" type="presParOf" srcId="{8F8F1E12-BA24-4766-9416-B11B0A2617EE}" destId="{7CC4C3B2-466E-40E3-99F9-523783CAA036}" srcOrd="2" destOrd="0" presId="urn:microsoft.com/office/officeart/2008/layout/LinedList"/>
    <dgm:cxn modelId="{A0D4007E-F6B5-4074-91E5-9D34C3D2E5AC}" type="presParOf" srcId="{8F8F1E12-BA24-4766-9416-B11B0A2617EE}" destId="{91CC3062-D00C-40ED-8CE2-CFE2FBB7B40C}" srcOrd="3" destOrd="0" presId="urn:microsoft.com/office/officeart/2008/layout/LinedList"/>
    <dgm:cxn modelId="{63075214-63EB-4A85-8781-50ECC9EE790F}" type="presParOf" srcId="{91CC3062-D00C-40ED-8CE2-CFE2FBB7B40C}" destId="{6ACA8D26-E355-41A2-853D-65815368D1E3}" srcOrd="0" destOrd="0" presId="urn:microsoft.com/office/officeart/2008/layout/LinedList"/>
    <dgm:cxn modelId="{172F8486-7D00-4774-84E2-FB8B70508BF0}" type="presParOf" srcId="{91CC3062-D00C-40ED-8CE2-CFE2FBB7B40C}" destId="{52FAED32-6022-4DA9-93CF-19A5A3BE8FC7}" srcOrd="1" destOrd="0" presId="urn:microsoft.com/office/officeart/2008/layout/LinedList"/>
    <dgm:cxn modelId="{8C7240D2-95CE-474C-AE0C-D22A0350289C}" type="presParOf" srcId="{8F8F1E12-BA24-4766-9416-B11B0A2617EE}" destId="{9781C807-59C8-4C2D-AD0A-38328BA0B686}" srcOrd="4" destOrd="0" presId="urn:microsoft.com/office/officeart/2008/layout/LinedList"/>
    <dgm:cxn modelId="{D06E8344-DC4A-449A-875A-8CB2AE7E08EB}" type="presParOf" srcId="{8F8F1E12-BA24-4766-9416-B11B0A2617EE}" destId="{6979243E-9FAB-4D85-ADA1-EF3E213071BD}" srcOrd="5" destOrd="0" presId="urn:microsoft.com/office/officeart/2008/layout/LinedList"/>
    <dgm:cxn modelId="{19536FBB-71D4-44C8-8807-4BECE395AB41}" type="presParOf" srcId="{6979243E-9FAB-4D85-ADA1-EF3E213071BD}" destId="{2199CD19-74D6-4423-B6BF-9509C43D4D79}" srcOrd="0" destOrd="0" presId="urn:microsoft.com/office/officeart/2008/layout/LinedList"/>
    <dgm:cxn modelId="{E6F98C52-A1C3-4C81-9D36-03AA18726A13}" type="presParOf" srcId="{6979243E-9FAB-4D85-ADA1-EF3E213071BD}" destId="{C21B1104-DE26-4C20-A761-D8D5334A8777}" srcOrd="1" destOrd="0" presId="urn:microsoft.com/office/officeart/2008/layout/LinedList"/>
    <dgm:cxn modelId="{6B6707B4-0703-4A81-A1D8-8B6795458DC0}" type="presParOf" srcId="{8F8F1E12-BA24-4766-9416-B11B0A2617EE}" destId="{3443CAC0-DCFD-423E-B0B2-C5444041DAD2}" srcOrd="6" destOrd="0" presId="urn:microsoft.com/office/officeart/2008/layout/LinedList"/>
    <dgm:cxn modelId="{577B173D-7267-491A-8987-BB5CD9302619}" type="presParOf" srcId="{8F8F1E12-BA24-4766-9416-B11B0A2617EE}" destId="{F25748A7-A13F-4D91-9F6B-DFE5473B1AFF}" srcOrd="7" destOrd="0" presId="urn:microsoft.com/office/officeart/2008/layout/LinedList"/>
    <dgm:cxn modelId="{8F19F51B-EA01-4E9B-9A16-36028C883641}" type="presParOf" srcId="{F25748A7-A13F-4D91-9F6B-DFE5473B1AFF}" destId="{3DB837E7-3629-4837-A0CA-6FC305CD9264}" srcOrd="0" destOrd="0" presId="urn:microsoft.com/office/officeart/2008/layout/LinedList"/>
    <dgm:cxn modelId="{A45DC853-6446-462B-84BA-41D404E8BB85}" type="presParOf" srcId="{F25748A7-A13F-4D91-9F6B-DFE5473B1AFF}" destId="{8C559E3C-82F4-4B8A-AB2B-C54F1AFDB95C}" srcOrd="1" destOrd="0" presId="urn:microsoft.com/office/officeart/2008/layout/LinedList"/>
    <dgm:cxn modelId="{4CA88443-1387-4E57-872F-D3661D668DE6}" type="presParOf" srcId="{8C559E3C-82F4-4B8A-AB2B-C54F1AFDB95C}" destId="{1D0B96FF-C9E9-4869-B6B4-517EA9D31EB9}" srcOrd="0" destOrd="0" presId="urn:microsoft.com/office/officeart/2008/layout/LinedList"/>
    <dgm:cxn modelId="{9805C9EC-88B1-4AC3-AD60-CD61151676AD}" type="presParOf" srcId="{8C559E3C-82F4-4B8A-AB2B-C54F1AFDB95C}" destId="{D48078CD-C245-4732-9F7C-238DF3E6DE92}" srcOrd="1" destOrd="0" presId="urn:microsoft.com/office/officeart/2008/layout/LinedList"/>
    <dgm:cxn modelId="{9CFB0DBC-937F-47B6-9C58-FD715B251239}" type="presParOf" srcId="{D48078CD-C245-4732-9F7C-238DF3E6DE92}" destId="{6636CC37-ED69-4C6B-9B42-D8EBB8B0B0F7}" srcOrd="0" destOrd="0" presId="urn:microsoft.com/office/officeart/2008/layout/LinedList"/>
    <dgm:cxn modelId="{B1386160-DFE8-4BBE-ADF3-E0C8E2FCEC59}" type="presParOf" srcId="{D48078CD-C245-4732-9F7C-238DF3E6DE92}" destId="{5D596AFD-7F33-477A-8C35-D17C87F38BCA}" srcOrd="1" destOrd="0" presId="urn:microsoft.com/office/officeart/2008/layout/LinedList"/>
    <dgm:cxn modelId="{07E50891-1C91-435B-83C6-BD6362A1EAB8}" type="presParOf" srcId="{D48078CD-C245-4732-9F7C-238DF3E6DE92}" destId="{0DC1A76C-F901-447C-8D35-E1BA260A5261}" srcOrd="2" destOrd="0" presId="urn:microsoft.com/office/officeart/2008/layout/LinedList"/>
    <dgm:cxn modelId="{5D7122D8-CCCE-42C6-A11D-2FCE3783D520}" type="presParOf" srcId="{8C559E3C-82F4-4B8A-AB2B-C54F1AFDB95C}" destId="{D6C7DB75-FCCC-4217-B7AB-BCE1C917D719}" srcOrd="2" destOrd="0" presId="urn:microsoft.com/office/officeart/2008/layout/LinedList"/>
    <dgm:cxn modelId="{3E4A9D19-06E9-49CB-89E7-D2D93201ACD6}" type="presParOf" srcId="{8C559E3C-82F4-4B8A-AB2B-C54F1AFDB95C}" destId="{A7E97CE3-184D-42F5-80B0-A16532F58CF3}" srcOrd="3" destOrd="0" presId="urn:microsoft.com/office/officeart/2008/layout/LinedList"/>
    <dgm:cxn modelId="{55D9EB8F-2EDC-4A79-8D91-C11C7C6C4631}" type="presParOf" srcId="{8C559E3C-82F4-4B8A-AB2B-C54F1AFDB95C}" destId="{2EED846F-4E39-4F3C-8C38-E7EE5127C911}" srcOrd="4" destOrd="0" presId="urn:microsoft.com/office/officeart/2008/layout/LinedList"/>
    <dgm:cxn modelId="{7DF0C521-C049-4E6B-A59A-743F3C02BDE3}" type="presParOf" srcId="{2EED846F-4E39-4F3C-8C38-E7EE5127C911}" destId="{E71041E7-22BF-4087-AE38-A5305552C2E5}" srcOrd="0" destOrd="0" presId="urn:microsoft.com/office/officeart/2008/layout/LinedList"/>
    <dgm:cxn modelId="{2E968AEF-5721-48A3-9B7D-1F85DEB5F97A}" type="presParOf" srcId="{2EED846F-4E39-4F3C-8C38-E7EE5127C911}" destId="{C7491E86-5298-4681-B54B-DCB8D96FAA4F}" srcOrd="1" destOrd="0" presId="urn:microsoft.com/office/officeart/2008/layout/LinedList"/>
    <dgm:cxn modelId="{7EEE182D-290E-498B-B199-8FD9DCA7256E}" type="presParOf" srcId="{2EED846F-4E39-4F3C-8C38-E7EE5127C911}" destId="{C14C6398-91F4-453B-A8D9-01A94CE3F7FE}" srcOrd="2" destOrd="0" presId="urn:microsoft.com/office/officeart/2008/layout/LinedList"/>
    <dgm:cxn modelId="{1F9D8CE1-97B1-46DF-82C7-387D8200908A}" type="presParOf" srcId="{8C559E3C-82F4-4B8A-AB2B-C54F1AFDB95C}" destId="{6733D853-4385-4B7C-8BF2-41184BBC759D}" srcOrd="5" destOrd="0" presId="urn:microsoft.com/office/officeart/2008/layout/LinedList"/>
    <dgm:cxn modelId="{4E9363E9-7417-42D5-8D67-E468920C5B83}" type="presParOf" srcId="{8C559E3C-82F4-4B8A-AB2B-C54F1AFDB95C}" destId="{2EAD793D-F86A-429D-816E-46CB468D2A26}" srcOrd="6" destOrd="0" presId="urn:microsoft.com/office/officeart/2008/layout/LinedList"/>
    <dgm:cxn modelId="{5C1F0A7E-BC43-4B93-8440-C4B3172D060D}" type="presParOf" srcId="{8C559E3C-82F4-4B8A-AB2B-C54F1AFDB95C}" destId="{F3039FD9-5666-4BBA-97A4-788C41D48122}" srcOrd="7" destOrd="0" presId="urn:microsoft.com/office/officeart/2008/layout/LinedList"/>
    <dgm:cxn modelId="{5A9C2A5B-0B63-4255-80A6-460B11CE8BB2}" type="presParOf" srcId="{F3039FD9-5666-4BBA-97A4-788C41D48122}" destId="{3B05160A-CFEC-456F-9946-A081FF7C51C2}" srcOrd="0" destOrd="0" presId="urn:microsoft.com/office/officeart/2008/layout/LinedList"/>
    <dgm:cxn modelId="{8C66DB9B-343D-4132-A82D-9BDD0851F4B2}" type="presParOf" srcId="{F3039FD9-5666-4BBA-97A4-788C41D48122}" destId="{D8F98479-F81D-4B99-86DA-EF2257E4A0A4}" srcOrd="1" destOrd="0" presId="urn:microsoft.com/office/officeart/2008/layout/LinedList"/>
    <dgm:cxn modelId="{F89A6236-7A02-408E-B2FE-8E81B5E0D20D}" type="presParOf" srcId="{F3039FD9-5666-4BBA-97A4-788C41D48122}" destId="{2094618B-555D-48FD-8582-A7C90D052289}" srcOrd="2" destOrd="0" presId="urn:microsoft.com/office/officeart/2008/layout/LinedList"/>
    <dgm:cxn modelId="{9CF555B9-47D2-488A-A321-01D1C26D1D84}" type="presParOf" srcId="{8C559E3C-82F4-4B8A-AB2B-C54F1AFDB95C}" destId="{B77F4720-81FF-4831-BA18-F32D7BEDEBB8}" srcOrd="8" destOrd="0" presId="urn:microsoft.com/office/officeart/2008/layout/LinedList"/>
    <dgm:cxn modelId="{DD68E310-804C-484F-9306-4AAE5A21D648}" type="presParOf" srcId="{8C559E3C-82F4-4B8A-AB2B-C54F1AFDB95C}" destId="{252F62DA-7A11-4F3C-A1E7-823D0E07FBA2}" srcOrd="9" destOrd="0" presId="urn:microsoft.com/office/officeart/2008/layout/LinedList"/>
    <dgm:cxn modelId="{4EF23D9A-6DE6-4DE4-A2BD-E060963ED3E2}" type="presParOf" srcId="{8C559E3C-82F4-4B8A-AB2B-C54F1AFDB95C}" destId="{803F728B-9543-47E9-B18B-ED1D1EF282FC}" srcOrd="10" destOrd="0" presId="urn:microsoft.com/office/officeart/2008/layout/LinedList"/>
    <dgm:cxn modelId="{EA6F6773-0970-4AEE-B49F-E72343FB2EB0}" type="presParOf" srcId="{803F728B-9543-47E9-B18B-ED1D1EF282FC}" destId="{BB74F8FE-10AD-4101-BE92-507808186F4C}" srcOrd="0" destOrd="0" presId="urn:microsoft.com/office/officeart/2008/layout/LinedList"/>
    <dgm:cxn modelId="{D518C3C1-C053-433D-A2D3-3765B94AD324}" type="presParOf" srcId="{803F728B-9543-47E9-B18B-ED1D1EF282FC}" destId="{DA6FE80F-77EF-462B-A399-090CFC33A8A8}" srcOrd="1" destOrd="0" presId="urn:microsoft.com/office/officeart/2008/layout/LinedList"/>
    <dgm:cxn modelId="{2664B45C-4D26-4D15-B8DF-49C67A560CE2}" type="presParOf" srcId="{803F728B-9543-47E9-B18B-ED1D1EF282FC}" destId="{7E402525-76B5-41F2-910B-8A7F9E93F4FA}" srcOrd="2" destOrd="0" presId="urn:microsoft.com/office/officeart/2008/layout/LinedList"/>
    <dgm:cxn modelId="{0EB2974A-929C-4133-8CE0-79875D68BDBC}" type="presParOf" srcId="{8C559E3C-82F4-4B8A-AB2B-C54F1AFDB95C}" destId="{F5B17A3C-D677-4480-918B-51624F2F3AEB}" srcOrd="11" destOrd="0" presId="urn:microsoft.com/office/officeart/2008/layout/LinedList"/>
    <dgm:cxn modelId="{A7B2FE9D-177C-448A-AD46-AB8D05D89802}" type="presParOf" srcId="{8C559E3C-82F4-4B8A-AB2B-C54F1AFDB95C}" destId="{B08B8A74-0778-4ED2-B176-6D7CFF2A7272}" srcOrd="12"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6E1D81-3ACE-4EC0-B211-ADBBCF1FF95C}">
      <dsp:nvSpPr>
        <dsp:cNvPr id="0" name=""/>
        <dsp:cNvSpPr/>
      </dsp:nvSpPr>
      <dsp:spPr>
        <a:xfrm>
          <a:off x="0" y="0"/>
          <a:ext cx="6797675" cy="0"/>
        </a:xfrm>
        <a:prstGeom prst="line">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D7F747E-5842-48F1-B489-EA38810CCC3E}">
      <dsp:nvSpPr>
        <dsp:cNvPr id="0" name=""/>
        <dsp:cNvSpPr/>
      </dsp:nvSpPr>
      <dsp:spPr>
        <a:xfrm>
          <a:off x="0" y="0"/>
          <a:ext cx="6797675" cy="14124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dirty="0"/>
            <a:t>Learned automatically by the model during training. </a:t>
          </a:r>
        </a:p>
      </dsp:txBody>
      <dsp:txXfrm>
        <a:off x="0" y="0"/>
        <a:ext cx="6797675" cy="1412477"/>
      </dsp:txXfrm>
    </dsp:sp>
    <dsp:sp modelId="{7CC4C3B2-466E-40E3-99F9-523783CAA036}">
      <dsp:nvSpPr>
        <dsp:cNvPr id="0" name=""/>
        <dsp:cNvSpPr/>
      </dsp:nvSpPr>
      <dsp:spPr>
        <a:xfrm>
          <a:off x="0" y="1412478"/>
          <a:ext cx="6797675" cy="0"/>
        </a:xfrm>
        <a:prstGeom prst="line">
          <a:avLst/>
        </a:prstGeom>
        <a:solidFill>
          <a:schemeClr val="accent2">
            <a:hueOff val="13013"/>
            <a:satOff val="-8959"/>
            <a:lumOff val="-2288"/>
            <a:alphaOff val="0"/>
          </a:schemeClr>
        </a:solidFill>
        <a:ln w="15875" cap="flat" cmpd="sng" algn="ctr">
          <a:solidFill>
            <a:schemeClr val="accent2">
              <a:hueOff val="13013"/>
              <a:satOff val="-8959"/>
              <a:lumOff val="-228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ACA8D26-E355-41A2-853D-65815368D1E3}">
      <dsp:nvSpPr>
        <dsp:cNvPr id="0" name=""/>
        <dsp:cNvSpPr/>
      </dsp:nvSpPr>
      <dsp:spPr>
        <a:xfrm>
          <a:off x="0" y="1412477"/>
          <a:ext cx="6797675" cy="14124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dirty="0"/>
            <a:t>Driven-an optimization algorithm (gradient descent) </a:t>
          </a:r>
        </a:p>
      </dsp:txBody>
      <dsp:txXfrm>
        <a:off x="0" y="1412477"/>
        <a:ext cx="6797675" cy="1412477"/>
      </dsp:txXfrm>
    </dsp:sp>
    <dsp:sp modelId="{9781C807-59C8-4C2D-AD0A-38328BA0B686}">
      <dsp:nvSpPr>
        <dsp:cNvPr id="0" name=""/>
        <dsp:cNvSpPr/>
      </dsp:nvSpPr>
      <dsp:spPr>
        <a:xfrm>
          <a:off x="0" y="2824956"/>
          <a:ext cx="6797675" cy="0"/>
        </a:xfrm>
        <a:prstGeom prst="line">
          <a:avLst/>
        </a:prstGeom>
        <a:solidFill>
          <a:schemeClr val="accent2">
            <a:hueOff val="26025"/>
            <a:satOff val="-17917"/>
            <a:lumOff val="-4575"/>
            <a:alphaOff val="0"/>
          </a:schemeClr>
        </a:solidFill>
        <a:ln w="15875" cap="flat" cmpd="sng" algn="ctr">
          <a:solidFill>
            <a:schemeClr val="accent2">
              <a:hueOff val="26025"/>
              <a:satOff val="-17917"/>
              <a:lumOff val="-457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199CD19-74D6-4423-B6BF-9509C43D4D79}">
      <dsp:nvSpPr>
        <dsp:cNvPr id="0" name=""/>
        <dsp:cNvSpPr/>
      </dsp:nvSpPr>
      <dsp:spPr>
        <a:xfrm>
          <a:off x="0" y="2824955"/>
          <a:ext cx="6797675" cy="14124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Aim to minimize a specific function called the loss function.</a:t>
          </a:r>
        </a:p>
      </dsp:txBody>
      <dsp:txXfrm>
        <a:off x="0" y="2824955"/>
        <a:ext cx="6797675" cy="1412477"/>
      </dsp:txXfrm>
    </dsp:sp>
    <dsp:sp modelId="{3443CAC0-DCFD-423E-B0B2-C5444041DAD2}">
      <dsp:nvSpPr>
        <dsp:cNvPr id="0" name=""/>
        <dsp:cNvSpPr/>
      </dsp:nvSpPr>
      <dsp:spPr>
        <a:xfrm>
          <a:off x="0" y="4237434"/>
          <a:ext cx="6797675" cy="0"/>
        </a:xfrm>
        <a:prstGeom prst="line">
          <a:avLst/>
        </a:prstGeom>
        <a:solidFill>
          <a:schemeClr val="accent2">
            <a:hueOff val="39038"/>
            <a:satOff val="-26876"/>
            <a:lumOff val="-6863"/>
            <a:alphaOff val="0"/>
          </a:schemeClr>
        </a:solidFill>
        <a:ln w="15875" cap="flat" cmpd="sng" algn="ctr">
          <a:solidFill>
            <a:schemeClr val="accent2">
              <a:hueOff val="39038"/>
              <a:satOff val="-26876"/>
              <a:lumOff val="-686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DB837E7-3629-4837-A0CA-6FC305CD9264}">
      <dsp:nvSpPr>
        <dsp:cNvPr id="0" name=""/>
        <dsp:cNvSpPr/>
      </dsp:nvSpPr>
      <dsp:spPr>
        <a:xfrm>
          <a:off x="0" y="4237433"/>
          <a:ext cx="1359535" cy="14124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a:t>Here’s how it works:</a:t>
          </a:r>
          <a:endParaRPr lang="en-US" sz="2400" kern="1200"/>
        </a:p>
      </dsp:txBody>
      <dsp:txXfrm>
        <a:off x="0" y="4237433"/>
        <a:ext cx="1359535" cy="1412477"/>
      </dsp:txXfrm>
    </dsp:sp>
    <dsp:sp modelId="{5D596AFD-7F33-477A-8C35-D17C87F38BCA}">
      <dsp:nvSpPr>
        <dsp:cNvPr id="0" name=""/>
        <dsp:cNvSpPr/>
      </dsp:nvSpPr>
      <dsp:spPr>
        <a:xfrm>
          <a:off x="1461500" y="4254038"/>
          <a:ext cx="5336174" cy="332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b="1" kern="1200" dirty="0"/>
            <a:t>Initialize Weights Randomly</a:t>
          </a:r>
          <a:endParaRPr lang="en-US" sz="1500" kern="1200" dirty="0"/>
        </a:p>
      </dsp:txBody>
      <dsp:txXfrm>
        <a:off x="1461500" y="4254038"/>
        <a:ext cx="5336174" cy="332084"/>
      </dsp:txXfrm>
    </dsp:sp>
    <dsp:sp modelId="{D6C7DB75-FCCC-4217-B7AB-BCE1C917D719}">
      <dsp:nvSpPr>
        <dsp:cNvPr id="0" name=""/>
        <dsp:cNvSpPr/>
      </dsp:nvSpPr>
      <dsp:spPr>
        <a:xfrm>
          <a:off x="1359535" y="4586122"/>
          <a:ext cx="5438140" cy="0"/>
        </a:xfrm>
        <a:prstGeom prst="line">
          <a:avLst/>
        </a:prstGeom>
        <a:solidFill>
          <a:schemeClr val="accent2">
            <a:hueOff val="0"/>
            <a:satOff val="0"/>
            <a:lumOff val="0"/>
            <a:alphaOff val="0"/>
          </a:schemeClr>
        </a:solidFill>
        <a:ln w="15875"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7491E86-5298-4681-B54B-DCB8D96FAA4F}">
      <dsp:nvSpPr>
        <dsp:cNvPr id="0" name=""/>
        <dsp:cNvSpPr/>
      </dsp:nvSpPr>
      <dsp:spPr>
        <a:xfrm>
          <a:off x="1461500" y="4602726"/>
          <a:ext cx="5336174" cy="332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b="1" kern="1200"/>
            <a:t>Calculate Loss</a:t>
          </a:r>
          <a:endParaRPr lang="en-US" sz="1500" kern="1200"/>
        </a:p>
      </dsp:txBody>
      <dsp:txXfrm>
        <a:off x="1461500" y="4602726"/>
        <a:ext cx="5336174" cy="332084"/>
      </dsp:txXfrm>
    </dsp:sp>
    <dsp:sp modelId="{6733D853-4385-4B7C-8BF2-41184BBC759D}">
      <dsp:nvSpPr>
        <dsp:cNvPr id="0" name=""/>
        <dsp:cNvSpPr/>
      </dsp:nvSpPr>
      <dsp:spPr>
        <a:xfrm>
          <a:off x="1359535" y="4934810"/>
          <a:ext cx="5438140" cy="0"/>
        </a:xfrm>
        <a:prstGeom prst="line">
          <a:avLst/>
        </a:prstGeom>
        <a:solidFill>
          <a:schemeClr val="accent2">
            <a:hueOff val="0"/>
            <a:satOff val="0"/>
            <a:lumOff val="0"/>
            <a:alphaOff val="0"/>
          </a:schemeClr>
        </a:solidFill>
        <a:ln w="15875"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8F98479-F81D-4B99-86DA-EF2257E4A0A4}">
      <dsp:nvSpPr>
        <dsp:cNvPr id="0" name=""/>
        <dsp:cNvSpPr/>
      </dsp:nvSpPr>
      <dsp:spPr>
        <a:xfrm>
          <a:off x="1461500" y="4951414"/>
          <a:ext cx="5336174" cy="332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b="1" kern="1200"/>
            <a:t>Adjust Weights (Gradient Descent)</a:t>
          </a:r>
          <a:endParaRPr lang="en-US" sz="1500" kern="1200"/>
        </a:p>
      </dsp:txBody>
      <dsp:txXfrm>
        <a:off x="1461500" y="4951414"/>
        <a:ext cx="5336174" cy="332084"/>
      </dsp:txXfrm>
    </dsp:sp>
    <dsp:sp modelId="{B77F4720-81FF-4831-BA18-F32D7BEDEBB8}">
      <dsp:nvSpPr>
        <dsp:cNvPr id="0" name=""/>
        <dsp:cNvSpPr/>
      </dsp:nvSpPr>
      <dsp:spPr>
        <a:xfrm>
          <a:off x="1359535" y="5283498"/>
          <a:ext cx="5438140" cy="0"/>
        </a:xfrm>
        <a:prstGeom prst="line">
          <a:avLst/>
        </a:prstGeom>
        <a:solidFill>
          <a:schemeClr val="accent2">
            <a:hueOff val="0"/>
            <a:satOff val="0"/>
            <a:lumOff val="0"/>
            <a:alphaOff val="0"/>
          </a:schemeClr>
        </a:solidFill>
        <a:ln w="15875"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A6FE80F-77EF-462B-A399-090CFC33A8A8}">
      <dsp:nvSpPr>
        <dsp:cNvPr id="0" name=""/>
        <dsp:cNvSpPr/>
      </dsp:nvSpPr>
      <dsp:spPr>
        <a:xfrm>
          <a:off x="1461500" y="5300102"/>
          <a:ext cx="5336174" cy="332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b="1" kern="1200" dirty="0"/>
            <a:t>Iterate Until Convergence.</a:t>
          </a:r>
          <a:endParaRPr lang="en-US" sz="1500" kern="1200" dirty="0"/>
        </a:p>
      </dsp:txBody>
      <dsp:txXfrm>
        <a:off x="1461500" y="5300102"/>
        <a:ext cx="5336174" cy="332084"/>
      </dsp:txXfrm>
    </dsp:sp>
    <dsp:sp modelId="{F5B17A3C-D677-4480-918B-51624F2F3AEB}">
      <dsp:nvSpPr>
        <dsp:cNvPr id="0" name=""/>
        <dsp:cNvSpPr/>
      </dsp:nvSpPr>
      <dsp:spPr>
        <a:xfrm>
          <a:off x="1359535" y="5632187"/>
          <a:ext cx="5438140" cy="0"/>
        </a:xfrm>
        <a:prstGeom prst="line">
          <a:avLst/>
        </a:prstGeom>
        <a:solidFill>
          <a:schemeClr val="accent2">
            <a:hueOff val="0"/>
            <a:satOff val="0"/>
            <a:lumOff val="0"/>
            <a:alphaOff val="0"/>
          </a:schemeClr>
        </a:solidFill>
        <a:ln w="15875"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ED19AC-5FDB-44DC-A9AD-E5F724AE24BE}" type="datetimeFigureOut">
              <a:rPr lang="en-US" smtClean="0"/>
              <a:t>4/7/2026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38E3EE-D31B-4221-8DC8-FBF279B8D6EA}" type="slidenum">
              <a:rPr lang="en-US" smtClean="0"/>
              <a:t>‹#›</a:t>
            </a:fld>
            <a:endParaRPr lang="en-US"/>
          </a:p>
        </p:txBody>
      </p:sp>
    </p:spTree>
    <p:extLst>
      <p:ext uri="{BB962C8B-B14F-4D97-AF65-F5344CB8AC3E}">
        <p14:creationId xmlns:p14="http://schemas.microsoft.com/office/powerpoint/2010/main" val="1516648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Regularisation</a:t>
            </a:r>
            <a:r>
              <a:rPr lang="en-US" dirty="0"/>
              <a:t> is a technique used in machine learning and neural networks to prevent overfitting and improve a model’s ability to </a:t>
            </a:r>
            <a:r>
              <a:rPr lang="en-US" dirty="0" err="1"/>
              <a:t>generalise</a:t>
            </a:r>
            <a:r>
              <a:rPr lang="en-US" dirty="0"/>
              <a:t> to new data. It works by adding a penalty to the model’s learning process, discouraging overly complex models that fit the training data too closely, including noise. This is typically achieved by modifying the loss function to include a </a:t>
            </a:r>
            <a:r>
              <a:rPr lang="en-US" dirty="0" err="1"/>
              <a:t>regularisation</a:t>
            </a:r>
            <a:r>
              <a:rPr lang="en-US" dirty="0"/>
              <a:t> term, which constrains the size of the model’s weights. Common approaches include L1 </a:t>
            </a:r>
            <a:r>
              <a:rPr lang="en-US" dirty="0" err="1"/>
              <a:t>regularisation</a:t>
            </a:r>
            <a:r>
              <a:rPr lang="en-US" dirty="0"/>
              <a:t>, which can reduce some weights to zero and aid feature selection, L2 </a:t>
            </a:r>
            <a:r>
              <a:rPr lang="en-US" dirty="0" err="1"/>
              <a:t>regularisation</a:t>
            </a:r>
            <a:r>
              <a:rPr lang="en-US" dirty="0"/>
              <a:t>, which keeps weights small and stable, and dropout, which randomly deactivates neurons during training to prevent reliance on specific features. By controlling model complexity, </a:t>
            </a:r>
            <a:r>
              <a:rPr lang="en-US" dirty="0" err="1"/>
              <a:t>regularisation</a:t>
            </a:r>
            <a:r>
              <a:rPr lang="en-US" dirty="0"/>
              <a:t> helps strike a balance between underfitting and overfitting, leading to more robust and reliable predictions.</a:t>
            </a:r>
          </a:p>
          <a:p>
            <a:endParaRPr lang="en-AU" dirty="0"/>
          </a:p>
        </p:txBody>
      </p:sp>
      <p:sp>
        <p:nvSpPr>
          <p:cNvPr id="4" name="Slide Number Placeholder 3"/>
          <p:cNvSpPr>
            <a:spLocks noGrp="1"/>
          </p:cNvSpPr>
          <p:nvPr>
            <p:ph type="sldNum" sz="quarter" idx="5"/>
          </p:nvPr>
        </p:nvSpPr>
        <p:spPr/>
        <p:txBody>
          <a:bodyPr/>
          <a:lstStyle/>
          <a:p>
            <a:fld id="{CA38E3EE-D31B-4221-8DC8-FBF279B8D6EA}" type="slidenum">
              <a:rPr lang="en-US" smtClean="0"/>
              <a:t>2</a:t>
            </a:fld>
            <a:endParaRPr lang="en-US"/>
          </a:p>
        </p:txBody>
      </p:sp>
    </p:spTree>
    <p:extLst>
      <p:ext uri="{BB962C8B-B14F-4D97-AF65-F5344CB8AC3E}">
        <p14:creationId xmlns:p14="http://schemas.microsoft.com/office/powerpoint/2010/main" val="4586052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AC2E39B-D733-4FA4-9A50-AB8E812728FA}" type="datetimeFigureOut">
              <a:rPr lang="en-AU" smtClean="0"/>
              <a:t>7/04/2026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607CBD9-A0F2-4919-94FD-F7CCC6D59FCB}" type="slidenum">
              <a:rPr lang="en-AU" smtClean="0"/>
              <a:t>‹#›</a:t>
            </a:fld>
            <a:endParaRPr lang="en-A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109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C2E39B-D733-4FA4-9A50-AB8E812728FA}" type="datetimeFigureOut">
              <a:rPr lang="en-AU" smtClean="0"/>
              <a:t>7/04/2026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607CBD9-A0F2-4919-94FD-F7CCC6D59FCB}" type="slidenum">
              <a:rPr lang="en-AU" smtClean="0"/>
              <a:t>‹#›</a:t>
            </a:fld>
            <a:endParaRPr lang="en-AU"/>
          </a:p>
        </p:txBody>
      </p:sp>
    </p:spTree>
    <p:extLst>
      <p:ext uri="{BB962C8B-B14F-4D97-AF65-F5344CB8AC3E}">
        <p14:creationId xmlns:p14="http://schemas.microsoft.com/office/powerpoint/2010/main" val="486746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AC2E39B-D733-4FA4-9A50-AB8E812728FA}" type="datetimeFigureOut">
              <a:rPr lang="en-AU" smtClean="0"/>
              <a:t>7/04/2026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607CBD9-A0F2-4919-94FD-F7CCC6D59FCB}" type="slidenum">
              <a:rPr lang="en-AU" smtClean="0"/>
              <a:t>‹#›</a:t>
            </a:fld>
            <a:endParaRPr lang="en-A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8856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C2E39B-D733-4FA4-9A50-AB8E812728FA}" type="datetimeFigureOut">
              <a:rPr lang="en-AU" smtClean="0"/>
              <a:t>7/04/2026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607CBD9-A0F2-4919-94FD-F7CCC6D59FCB}" type="slidenum">
              <a:rPr lang="en-AU" smtClean="0"/>
              <a:t>‹#›</a:t>
            </a:fld>
            <a:endParaRPr lang="en-AU"/>
          </a:p>
        </p:txBody>
      </p:sp>
    </p:spTree>
    <p:extLst>
      <p:ext uri="{BB962C8B-B14F-4D97-AF65-F5344CB8AC3E}">
        <p14:creationId xmlns:p14="http://schemas.microsoft.com/office/powerpoint/2010/main" val="2149892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AC2E39B-D733-4FA4-9A50-AB8E812728FA}" type="datetimeFigureOut">
              <a:rPr lang="en-AU" smtClean="0"/>
              <a:t>7/04/2026</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1607CBD9-A0F2-4919-94FD-F7CCC6D59FCB}" type="slidenum">
              <a:rPr lang="en-AU" smtClean="0"/>
              <a:t>‹#›</a:t>
            </a:fld>
            <a:endParaRPr lang="en-AU"/>
          </a:p>
        </p:txBody>
      </p:sp>
    </p:spTree>
    <p:extLst>
      <p:ext uri="{BB962C8B-B14F-4D97-AF65-F5344CB8AC3E}">
        <p14:creationId xmlns:p14="http://schemas.microsoft.com/office/powerpoint/2010/main" val="1962029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AC2E39B-D733-4FA4-9A50-AB8E812728FA}" type="datetimeFigureOut">
              <a:rPr lang="en-AU" smtClean="0"/>
              <a:t>7/04/2026</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1607CBD9-A0F2-4919-94FD-F7CCC6D59FCB}" type="slidenum">
              <a:rPr lang="en-AU" smtClean="0"/>
              <a:t>‹#›</a:t>
            </a:fld>
            <a:endParaRPr lang="en-AU"/>
          </a:p>
        </p:txBody>
      </p:sp>
    </p:spTree>
    <p:extLst>
      <p:ext uri="{BB962C8B-B14F-4D97-AF65-F5344CB8AC3E}">
        <p14:creationId xmlns:p14="http://schemas.microsoft.com/office/powerpoint/2010/main" val="1807154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AC2E39B-D733-4FA4-9A50-AB8E812728FA}" type="datetimeFigureOut">
              <a:rPr lang="en-AU" smtClean="0"/>
              <a:t>7/04/2026</a:t>
            </a:fld>
            <a:endParaRPr lang="en-AU"/>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AU"/>
          </a:p>
        </p:txBody>
      </p:sp>
      <p:sp>
        <p:nvSpPr>
          <p:cNvPr id="9" name="Slide Number Placeholder 8"/>
          <p:cNvSpPr>
            <a:spLocks noGrp="1"/>
          </p:cNvSpPr>
          <p:nvPr>
            <p:ph type="sldNum" sz="quarter" idx="12"/>
          </p:nvPr>
        </p:nvSpPr>
        <p:spPr/>
        <p:txBody>
          <a:bodyPr/>
          <a:lstStyle/>
          <a:p>
            <a:fld id="{1607CBD9-A0F2-4919-94FD-F7CCC6D59FCB}" type="slidenum">
              <a:rPr lang="en-AU" smtClean="0"/>
              <a:t>‹#›</a:t>
            </a:fld>
            <a:endParaRPr lang="en-AU"/>
          </a:p>
        </p:txBody>
      </p:sp>
    </p:spTree>
    <p:extLst>
      <p:ext uri="{BB962C8B-B14F-4D97-AF65-F5344CB8AC3E}">
        <p14:creationId xmlns:p14="http://schemas.microsoft.com/office/powerpoint/2010/main" val="3352650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AC2E39B-D733-4FA4-9A50-AB8E812728FA}" type="datetimeFigureOut">
              <a:rPr lang="en-AU" smtClean="0"/>
              <a:t>7/04/2026</a:t>
            </a:fld>
            <a:endParaRPr lang="en-AU"/>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AU"/>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607CBD9-A0F2-4919-94FD-F7CCC6D59FCB}" type="slidenum">
              <a:rPr lang="en-AU" smtClean="0"/>
              <a:t>‹#›</a:t>
            </a:fld>
            <a:endParaRPr lang="en-AU"/>
          </a:p>
        </p:txBody>
      </p:sp>
    </p:spTree>
    <p:extLst>
      <p:ext uri="{BB962C8B-B14F-4D97-AF65-F5344CB8AC3E}">
        <p14:creationId xmlns:p14="http://schemas.microsoft.com/office/powerpoint/2010/main" val="40146355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AC2E39B-D733-4FA4-9A50-AB8E812728FA}" type="datetimeFigureOut">
              <a:rPr lang="en-AU" smtClean="0"/>
              <a:t>7/04/2026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607CBD9-A0F2-4919-94FD-F7CCC6D59FCB}" type="slidenum">
              <a:rPr lang="en-AU" smtClean="0"/>
              <a:t>‹#›</a:t>
            </a:fld>
            <a:endParaRPr lang="en-AU"/>
          </a:p>
        </p:txBody>
      </p:sp>
    </p:spTree>
    <p:extLst>
      <p:ext uri="{BB962C8B-B14F-4D97-AF65-F5344CB8AC3E}">
        <p14:creationId xmlns:p14="http://schemas.microsoft.com/office/powerpoint/2010/main" val="3871888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C2E39B-D733-4FA4-9A50-AB8E812728FA}" type="datetimeFigureOut">
              <a:rPr lang="en-AU" smtClean="0"/>
              <a:t>7/04/2026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607CBD9-A0F2-4919-94FD-F7CCC6D59FCB}" type="slidenum">
              <a:rPr lang="en-AU" smtClean="0"/>
              <a:t>‹#›</a:t>
            </a:fld>
            <a:endParaRPr lang="en-AU"/>
          </a:p>
        </p:txBody>
      </p:sp>
    </p:spTree>
    <p:extLst>
      <p:ext uri="{BB962C8B-B14F-4D97-AF65-F5344CB8AC3E}">
        <p14:creationId xmlns:p14="http://schemas.microsoft.com/office/powerpoint/2010/main" val="454694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C2E39B-D733-4FA4-9A50-AB8E812728FA}" type="datetimeFigureOut">
              <a:rPr lang="en-AU" smtClean="0"/>
              <a:t>7/04/2026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607CBD9-A0F2-4919-94FD-F7CCC6D59FCB}" type="slidenum">
              <a:rPr lang="en-AU" smtClean="0"/>
              <a:t>‹#›</a:t>
            </a:fld>
            <a:endParaRPr lang="en-AU"/>
          </a:p>
        </p:txBody>
      </p:sp>
    </p:spTree>
    <p:extLst>
      <p:ext uri="{BB962C8B-B14F-4D97-AF65-F5344CB8AC3E}">
        <p14:creationId xmlns:p14="http://schemas.microsoft.com/office/powerpoint/2010/main" val="10246978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AC2E39B-D733-4FA4-9A50-AB8E812728FA}" type="datetimeFigureOut">
              <a:rPr lang="en-AU" smtClean="0"/>
              <a:t>7/04/2026</a:t>
            </a:fld>
            <a:endParaRPr lang="en-AU"/>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AU"/>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607CBD9-A0F2-4919-94FD-F7CCC6D59FCB}" type="slidenum">
              <a:rPr lang="en-AU" smtClean="0"/>
              <a:t>‹#›</a:t>
            </a:fld>
            <a:endParaRPr lang="en-AU"/>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21340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A75F6-75BA-4F71-87C8-22E5FB94D981}"/>
              </a:ext>
            </a:extLst>
          </p:cNvPr>
          <p:cNvSpPr>
            <a:spLocks noGrp="1"/>
          </p:cNvSpPr>
          <p:nvPr>
            <p:ph type="ctrTitle"/>
          </p:nvPr>
        </p:nvSpPr>
        <p:spPr/>
        <p:txBody>
          <a:bodyPr/>
          <a:lstStyle/>
          <a:p>
            <a:r>
              <a:rPr lang="en-US" dirty="0"/>
              <a:t>Week 7: </a:t>
            </a:r>
            <a:r>
              <a:rPr lang="en-AU" b="1" dirty="0"/>
              <a:t>Regularization</a:t>
            </a:r>
            <a:endParaRPr lang="en-AU" dirty="0"/>
          </a:p>
        </p:txBody>
      </p:sp>
      <p:sp>
        <p:nvSpPr>
          <p:cNvPr id="3" name="Subtitle 2">
            <a:extLst>
              <a:ext uri="{FF2B5EF4-FFF2-40B4-BE49-F238E27FC236}">
                <a16:creationId xmlns:a16="http://schemas.microsoft.com/office/drawing/2014/main" id="{911B163E-14D9-480E-80A5-C6A726A42550}"/>
              </a:ext>
            </a:extLst>
          </p:cNvPr>
          <p:cNvSpPr>
            <a:spLocks noGrp="1"/>
          </p:cNvSpPr>
          <p:nvPr>
            <p:ph type="subTitle" idx="1"/>
          </p:nvPr>
        </p:nvSpPr>
        <p:spPr/>
        <p:txBody>
          <a:bodyPr/>
          <a:lstStyle/>
          <a:p>
            <a:pPr algn="r"/>
            <a:endParaRPr lang="en-AU"/>
          </a:p>
          <a:p>
            <a:pPr algn="r"/>
            <a:r>
              <a:rPr lang="en-AU"/>
              <a:t>Dr </a:t>
            </a:r>
            <a:r>
              <a:rPr lang="en-AU" dirty="0"/>
              <a:t>Supriya</a:t>
            </a:r>
          </a:p>
        </p:txBody>
      </p:sp>
    </p:spTree>
    <p:extLst>
      <p:ext uri="{BB962C8B-B14F-4D97-AF65-F5344CB8AC3E}">
        <p14:creationId xmlns:p14="http://schemas.microsoft.com/office/powerpoint/2010/main" val="16957742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36A86-E2AA-482B-B9CE-3FE84C9FEA37}"/>
              </a:ext>
            </a:extLst>
          </p:cNvPr>
          <p:cNvSpPr>
            <a:spLocks noGrp="1"/>
          </p:cNvSpPr>
          <p:nvPr>
            <p:ph type="title"/>
          </p:nvPr>
        </p:nvSpPr>
        <p:spPr/>
        <p:txBody>
          <a:bodyPr/>
          <a:lstStyle/>
          <a:p>
            <a:r>
              <a:rPr lang="en-AU" b="1"/>
              <a:t>Regularization</a:t>
            </a:r>
            <a:endParaRPr lang="en-AU" dirty="0"/>
          </a:p>
        </p:txBody>
      </p:sp>
      <p:sp>
        <p:nvSpPr>
          <p:cNvPr id="3" name="Content Placeholder 2">
            <a:extLst>
              <a:ext uri="{FF2B5EF4-FFF2-40B4-BE49-F238E27FC236}">
                <a16:creationId xmlns:a16="http://schemas.microsoft.com/office/drawing/2014/main" id="{D5EB76CF-8A1B-422E-89E6-D9992C6DE5CE}"/>
              </a:ext>
            </a:extLst>
          </p:cNvPr>
          <p:cNvSpPr>
            <a:spLocks noGrp="1"/>
          </p:cNvSpPr>
          <p:nvPr>
            <p:ph idx="1"/>
          </p:nvPr>
        </p:nvSpPr>
        <p:spPr/>
        <p:txBody>
          <a:bodyPr>
            <a:normAutofit lnSpcReduction="10000"/>
          </a:bodyPr>
          <a:lstStyle/>
          <a:p>
            <a:pPr algn="just">
              <a:lnSpc>
                <a:spcPct val="150000"/>
              </a:lnSpc>
              <a:buFont typeface="Wingdings" panose="05000000000000000000" pitchFamily="2" charset="2"/>
              <a:buChar char="q"/>
            </a:pPr>
            <a:r>
              <a:rPr lang="en-AU" sz="2200" dirty="0"/>
              <a:t>Any modification we make to a learning algorithm that is intended to reduce its generalization error but not its training error.</a:t>
            </a:r>
          </a:p>
          <a:p>
            <a:pPr algn="just">
              <a:lnSpc>
                <a:spcPct val="150000"/>
              </a:lnSpc>
              <a:buFont typeface="Wingdings" panose="05000000000000000000" pitchFamily="2" charset="2"/>
              <a:buChar char="q"/>
            </a:pPr>
            <a:r>
              <a:rPr lang="en-AU" sz="2200" dirty="0"/>
              <a:t>The goal of Regularization is to prevent overfitting by imposing some strategies such as :</a:t>
            </a:r>
          </a:p>
          <a:p>
            <a:pPr marL="404813" indent="-117475" algn="just">
              <a:lnSpc>
                <a:spcPct val="150000"/>
              </a:lnSpc>
              <a:buFont typeface="Wingdings" panose="05000000000000000000" pitchFamily="2" charset="2"/>
              <a:buChar char="Ø"/>
            </a:pPr>
            <a:r>
              <a:rPr lang="en-AU" dirty="0"/>
              <a:t>Put extra constraints on a machine learning model</a:t>
            </a:r>
          </a:p>
          <a:p>
            <a:pPr marL="404813" indent="-117475" algn="just">
              <a:lnSpc>
                <a:spcPct val="150000"/>
              </a:lnSpc>
              <a:buFont typeface="Wingdings" panose="05000000000000000000" pitchFamily="2" charset="2"/>
              <a:buChar char="Ø"/>
            </a:pPr>
            <a:r>
              <a:rPr lang="en-AU" dirty="0"/>
              <a:t>Add extra terms in the objective function</a:t>
            </a:r>
          </a:p>
          <a:p>
            <a:pPr marL="404813" indent="-117475" algn="just">
              <a:lnSpc>
                <a:spcPct val="150000"/>
              </a:lnSpc>
              <a:buFont typeface="Wingdings" panose="05000000000000000000" pitchFamily="2" charset="2"/>
              <a:buChar char="Ø"/>
            </a:pPr>
            <a:r>
              <a:rPr lang="en-AU" dirty="0"/>
              <a:t> Impose ensemble method</a:t>
            </a:r>
          </a:p>
        </p:txBody>
      </p:sp>
    </p:spTree>
    <p:extLst>
      <p:ext uri="{BB962C8B-B14F-4D97-AF65-F5344CB8AC3E}">
        <p14:creationId xmlns:p14="http://schemas.microsoft.com/office/powerpoint/2010/main" val="2009313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36A86-E2AA-482B-B9CE-3FE84C9FEA37}"/>
              </a:ext>
            </a:extLst>
          </p:cNvPr>
          <p:cNvSpPr>
            <a:spLocks noGrp="1"/>
          </p:cNvSpPr>
          <p:nvPr>
            <p:ph type="title"/>
          </p:nvPr>
        </p:nvSpPr>
        <p:spPr/>
        <p:txBody>
          <a:bodyPr/>
          <a:lstStyle/>
          <a:p>
            <a:r>
              <a:rPr lang="en-AU" b="1" dirty="0"/>
              <a:t>Bias variance trade off</a:t>
            </a:r>
            <a:endParaRPr lang="en-AU" dirty="0"/>
          </a:p>
        </p:txBody>
      </p:sp>
      <p:sp>
        <p:nvSpPr>
          <p:cNvPr id="3" name="Content Placeholder 2">
            <a:extLst>
              <a:ext uri="{FF2B5EF4-FFF2-40B4-BE49-F238E27FC236}">
                <a16:creationId xmlns:a16="http://schemas.microsoft.com/office/drawing/2014/main" id="{D5EB76CF-8A1B-422E-89E6-D9992C6DE5CE}"/>
              </a:ext>
            </a:extLst>
          </p:cNvPr>
          <p:cNvSpPr>
            <a:spLocks noGrp="1"/>
          </p:cNvSpPr>
          <p:nvPr>
            <p:ph idx="1"/>
          </p:nvPr>
        </p:nvSpPr>
        <p:spPr/>
        <p:txBody>
          <a:bodyPr/>
          <a:lstStyle/>
          <a:p>
            <a:pPr algn="just">
              <a:lnSpc>
                <a:spcPct val="150000"/>
              </a:lnSpc>
              <a:buFont typeface="Wingdings" panose="05000000000000000000" pitchFamily="2" charset="2"/>
              <a:buChar char="q"/>
            </a:pPr>
            <a:r>
              <a:rPr lang="en-AU" dirty="0"/>
              <a:t>Regularization of an estimator works by trading increased bias for reduced variance</a:t>
            </a:r>
          </a:p>
        </p:txBody>
      </p:sp>
      <p:pic>
        <p:nvPicPr>
          <p:cNvPr id="4" name="Picture 3">
            <a:extLst>
              <a:ext uri="{FF2B5EF4-FFF2-40B4-BE49-F238E27FC236}">
                <a16:creationId xmlns:a16="http://schemas.microsoft.com/office/drawing/2014/main" id="{E8250A72-40FC-4A58-AD4D-FF0219663963}"/>
              </a:ext>
            </a:extLst>
          </p:cNvPr>
          <p:cNvPicPr>
            <a:picLocks noChangeAspect="1"/>
          </p:cNvPicPr>
          <p:nvPr/>
        </p:nvPicPr>
        <p:blipFill>
          <a:blip r:embed="rId2"/>
          <a:stretch>
            <a:fillRect/>
          </a:stretch>
        </p:blipFill>
        <p:spPr>
          <a:xfrm>
            <a:off x="963930" y="2488019"/>
            <a:ext cx="10191750" cy="3314676"/>
          </a:xfrm>
          <a:prstGeom prst="rect">
            <a:avLst/>
          </a:prstGeom>
        </p:spPr>
      </p:pic>
      <p:sp>
        <p:nvSpPr>
          <p:cNvPr id="5" name="Rectangle 4">
            <a:extLst>
              <a:ext uri="{FF2B5EF4-FFF2-40B4-BE49-F238E27FC236}">
                <a16:creationId xmlns:a16="http://schemas.microsoft.com/office/drawing/2014/main" id="{6E184105-9CD3-480E-9154-6621558FF3D8}"/>
              </a:ext>
            </a:extLst>
          </p:cNvPr>
          <p:cNvSpPr/>
          <p:nvPr/>
        </p:nvSpPr>
        <p:spPr>
          <a:xfrm>
            <a:off x="7534940" y="6463675"/>
            <a:ext cx="4001386" cy="215444"/>
          </a:xfrm>
          <a:prstGeom prst="rect">
            <a:avLst/>
          </a:prstGeom>
        </p:spPr>
        <p:txBody>
          <a:bodyPr wrap="square">
            <a:spAutoFit/>
          </a:bodyPr>
          <a:lstStyle/>
          <a:p>
            <a:r>
              <a:rPr lang="en-AU" sz="800" dirty="0"/>
              <a:t>https://www.kdnuggets.com/2016/08/bias-variance-tradeoff-overview.html</a:t>
            </a:r>
          </a:p>
        </p:txBody>
      </p:sp>
    </p:spTree>
    <p:extLst>
      <p:ext uri="{BB962C8B-B14F-4D97-AF65-F5344CB8AC3E}">
        <p14:creationId xmlns:p14="http://schemas.microsoft.com/office/powerpoint/2010/main" val="3005958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A01191-8F7B-A3D4-3519-AB1323A724E9}"/>
              </a:ext>
            </a:extLst>
          </p:cNvPr>
          <p:cNvSpPr>
            <a:spLocks noGrp="1"/>
          </p:cNvSpPr>
          <p:nvPr>
            <p:ph idx="1"/>
          </p:nvPr>
        </p:nvSpPr>
        <p:spPr>
          <a:xfrm>
            <a:off x="512468" y="1873820"/>
            <a:ext cx="11167064" cy="4449504"/>
          </a:xfrm>
        </p:spPr>
        <p:txBody>
          <a:bodyPr>
            <a:normAutofit/>
          </a:bodyPr>
          <a:lstStyle/>
          <a:p>
            <a:r>
              <a:rPr lang="en-US" dirty="0"/>
              <a:t>Recall the old saying </a:t>
            </a:r>
            <a:r>
              <a:rPr lang="en-US" i="1" dirty="0"/>
              <a:t>Garbage in, garbage out</a:t>
            </a:r>
          </a:p>
          <a:p>
            <a:pPr lvl="1"/>
            <a:r>
              <a:rPr lang="en-US" dirty="0"/>
              <a:t>which refers to the quality of data an algorithm or system processes to provide a (hopefully) enhanced or useful output</a:t>
            </a:r>
          </a:p>
          <a:p>
            <a:pPr lvl="1"/>
            <a:r>
              <a:rPr lang="en-US" dirty="0"/>
              <a:t>if the data it is processing is plagued with errors, then it is likely the results will be skewed or plain wrong</a:t>
            </a:r>
          </a:p>
          <a:p>
            <a:endParaRPr lang="en-US" sz="800" dirty="0"/>
          </a:p>
          <a:p>
            <a:r>
              <a:rPr lang="en-US" dirty="0"/>
              <a:t>The same is true in machine learning algorithms</a:t>
            </a:r>
          </a:p>
          <a:p>
            <a:pPr lvl="1"/>
            <a:r>
              <a:rPr lang="en-US" dirty="0"/>
              <a:t>Data often referred to as “training data” needs to be analyzed for two important qualities within the dataset:</a:t>
            </a:r>
          </a:p>
          <a:p>
            <a:pPr lvl="1"/>
            <a:r>
              <a:rPr lang="en-US" dirty="0"/>
              <a:t>Bias</a:t>
            </a:r>
          </a:p>
          <a:p>
            <a:pPr lvl="2"/>
            <a:r>
              <a:rPr lang="en-US" dirty="0"/>
              <a:t>Bias refers to assumptions in training data that need to be addressed for better prediction, it is an inherent error in data</a:t>
            </a:r>
          </a:p>
          <a:p>
            <a:pPr lvl="1"/>
            <a:r>
              <a:rPr lang="en-US" dirty="0"/>
              <a:t>Variance</a:t>
            </a:r>
          </a:p>
          <a:p>
            <a:pPr lvl="2"/>
            <a:r>
              <a:rPr lang="en-US" dirty="0"/>
              <a:t>variance is related to model perfection and occurs when a model tries to fit several inputs</a:t>
            </a:r>
          </a:p>
          <a:p>
            <a:pPr lvl="2"/>
            <a:endParaRPr lang="en-US" sz="800" dirty="0"/>
          </a:p>
          <a:p>
            <a:r>
              <a:rPr lang="en-US" dirty="0">
                <a:cs typeface="Arial" panose="020B0604020202020204" pitchFamily="34" charset="0"/>
              </a:rPr>
              <a:t>So, how do these qualities of the training dataset affect the results of the machine learning algorithms</a:t>
            </a:r>
            <a:r>
              <a:rPr lang="en-US" dirty="0">
                <a:latin typeface="Arial" panose="020B0604020202020204" pitchFamily="34" charset="0"/>
                <a:cs typeface="Arial" panose="020B0604020202020204" pitchFamily="34" charset="0"/>
              </a:rPr>
              <a:t>?</a:t>
            </a:r>
            <a:r>
              <a:rPr lang="en-US" dirty="0">
                <a:cs typeface="Arial" panose="020B0604020202020204" pitchFamily="34" charset="0"/>
              </a:rPr>
              <a:t>   .......relationship between them is called the </a:t>
            </a:r>
            <a:r>
              <a:rPr lang="en-US" i="1" dirty="0">
                <a:cs typeface="Arial" panose="020B0604020202020204" pitchFamily="34" charset="0"/>
              </a:rPr>
              <a:t>Bias-Variance Tradeoff</a:t>
            </a:r>
          </a:p>
        </p:txBody>
      </p:sp>
      <p:sp>
        <p:nvSpPr>
          <p:cNvPr id="3" name="Slide Number Placeholder 2">
            <a:extLst>
              <a:ext uri="{FF2B5EF4-FFF2-40B4-BE49-F238E27FC236}">
                <a16:creationId xmlns:a16="http://schemas.microsoft.com/office/drawing/2014/main" id="{15BB8083-DA22-B202-831B-1B64D5BFC14C}"/>
              </a:ext>
            </a:extLst>
          </p:cNvPr>
          <p:cNvSpPr>
            <a:spLocks noGrp="1"/>
          </p:cNvSpPr>
          <p:nvPr>
            <p:ph type="sldNum" sz="quarter" idx="12"/>
          </p:nvPr>
        </p:nvSpPr>
        <p:spPr/>
        <p:txBody>
          <a:bodyPr/>
          <a:lstStyle/>
          <a:p>
            <a:fld id="{AA9B4DDF-D983-43F6-9690-D9255D65AFD2}" type="slidenum">
              <a:rPr lang="en-AU" smtClean="0"/>
              <a:t>4</a:t>
            </a:fld>
            <a:endParaRPr lang="en-AU"/>
          </a:p>
        </p:txBody>
      </p:sp>
      <p:sp>
        <p:nvSpPr>
          <p:cNvPr id="4" name="Title 3">
            <a:extLst>
              <a:ext uri="{FF2B5EF4-FFF2-40B4-BE49-F238E27FC236}">
                <a16:creationId xmlns:a16="http://schemas.microsoft.com/office/drawing/2014/main" id="{7504702F-7F9D-E853-A38E-2EE92DB2CE46}"/>
              </a:ext>
            </a:extLst>
          </p:cNvPr>
          <p:cNvSpPr>
            <a:spLocks noGrp="1"/>
          </p:cNvSpPr>
          <p:nvPr>
            <p:ph type="title"/>
          </p:nvPr>
        </p:nvSpPr>
        <p:spPr/>
        <p:txBody>
          <a:bodyPr/>
          <a:lstStyle/>
          <a:p>
            <a:r>
              <a:rPr lang="en-AU" b="1" dirty="0"/>
              <a:t>Bias-Variance Trade-off</a:t>
            </a:r>
            <a:endParaRPr lang="en-US" dirty="0"/>
          </a:p>
        </p:txBody>
      </p:sp>
    </p:spTree>
    <p:extLst>
      <p:ext uri="{BB962C8B-B14F-4D97-AF65-F5344CB8AC3E}">
        <p14:creationId xmlns:p14="http://schemas.microsoft.com/office/powerpoint/2010/main" val="3101351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B4DAD2-42DF-83C6-77ED-BB7362A7BCFF}"/>
              </a:ext>
            </a:extLst>
          </p:cNvPr>
          <p:cNvSpPr>
            <a:spLocks noGrp="1"/>
          </p:cNvSpPr>
          <p:nvPr>
            <p:ph idx="1"/>
          </p:nvPr>
        </p:nvSpPr>
        <p:spPr/>
        <p:txBody>
          <a:bodyPr>
            <a:normAutofit/>
          </a:bodyPr>
          <a:lstStyle/>
          <a:p>
            <a:r>
              <a:rPr lang="en-US" dirty="0"/>
              <a:t>The Bias-Variance Tradeoff is relevant for supervised machine learning - specifically for predictive modeling</a:t>
            </a:r>
          </a:p>
          <a:p>
            <a:pPr lvl="1"/>
            <a:r>
              <a:rPr lang="en-US" dirty="0"/>
              <a:t>It's a way to diagnose the performance of an algorithm by breaking down its prediction error</a:t>
            </a:r>
          </a:p>
          <a:p>
            <a:pPr lvl="1"/>
            <a:endParaRPr lang="en-US" dirty="0"/>
          </a:p>
          <a:p>
            <a:r>
              <a:rPr lang="en-AU" b="1" dirty="0"/>
              <a:t>Bias</a:t>
            </a:r>
            <a:r>
              <a:rPr lang="en-AU" dirty="0"/>
              <a:t> is the difference between your model's expected predictions and the true values</a:t>
            </a:r>
          </a:p>
          <a:p>
            <a:pPr lvl="1"/>
            <a:r>
              <a:rPr lang="en-US" dirty="0"/>
              <a:t>Imagine fitting a linear regression to a dataset that </a:t>
            </a:r>
            <a:br>
              <a:rPr lang="en-US" dirty="0"/>
            </a:br>
            <a:r>
              <a:rPr lang="en-US" dirty="0"/>
              <a:t>has a non-linear pattern:</a:t>
            </a:r>
          </a:p>
          <a:p>
            <a:pPr lvl="1"/>
            <a:endParaRPr lang="en-US" dirty="0"/>
          </a:p>
          <a:p>
            <a:pPr lvl="1"/>
            <a:r>
              <a:rPr lang="en-US" dirty="0"/>
              <a:t>No matter how many more observations you </a:t>
            </a:r>
            <a:br>
              <a:rPr lang="en-US" dirty="0"/>
            </a:br>
            <a:r>
              <a:rPr lang="en-US" dirty="0"/>
              <a:t>collect, a linear regression won't be able to </a:t>
            </a:r>
            <a:br>
              <a:rPr lang="en-US" dirty="0"/>
            </a:br>
            <a:r>
              <a:rPr lang="en-US" dirty="0"/>
              <a:t>model the curves in that data</a:t>
            </a:r>
          </a:p>
          <a:p>
            <a:pPr lvl="1"/>
            <a:r>
              <a:rPr lang="en-US" dirty="0"/>
              <a:t>This is known as under-fitting</a:t>
            </a:r>
          </a:p>
        </p:txBody>
      </p:sp>
      <p:sp>
        <p:nvSpPr>
          <p:cNvPr id="3" name="Slide Number Placeholder 2">
            <a:extLst>
              <a:ext uri="{FF2B5EF4-FFF2-40B4-BE49-F238E27FC236}">
                <a16:creationId xmlns:a16="http://schemas.microsoft.com/office/drawing/2014/main" id="{625EEED7-FA81-79C5-94EF-385A708BA6A1}"/>
              </a:ext>
            </a:extLst>
          </p:cNvPr>
          <p:cNvSpPr>
            <a:spLocks noGrp="1"/>
          </p:cNvSpPr>
          <p:nvPr>
            <p:ph type="sldNum" sz="quarter" idx="12"/>
          </p:nvPr>
        </p:nvSpPr>
        <p:spPr/>
        <p:txBody>
          <a:bodyPr/>
          <a:lstStyle/>
          <a:p>
            <a:fld id="{AA9B4DDF-D983-43F6-9690-D9255D65AFD2}" type="slidenum">
              <a:rPr lang="en-AU" smtClean="0"/>
              <a:t>5</a:t>
            </a:fld>
            <a:endParaRPr lang="en-AU"/>
          </a:p>
        </p:txBody>
      </p:sp>
      <p:sp>
        <p:nvSpPr>
          <p:cNvPr id="4" name="Title 3">
            <a:extLst>
              <a:ext uri="{FF2B5EF4-FFF2-40B4-BE49-F238E27FC236}">
                <a16:creationId xmlns:a16="http://schemas.microsoft.com/office/drawing/2014/main" id="{53E9080F-4024-7D46-A30F-D0B2902D97F7}"/>
              </a:ext>
            </a:extLst>
          </p:cNvPr>
          <p:cNvSpPr>
            <a:spLocks noGrp="1"/>
          </p:cNvSpPr>
          <p:nvPr>
            <p:ph type="title"/>
          </p:nvPr>
        </p:nvSpPr>
        <p:spPr/>
        <p:txBody>
          <a:bodyPr/>
          <a:lstStyle/>
          <a:p>
            <a:r>
              <a:rPr lang="en-AU" b="1" dirty="0"/>
              <a:t>Bias-Variance Trade-off</a:t>
            </a:r>
            <a:endParaRPr lang="en-US" dirty="0"/>
          </a:p>
        </p:txBody>
      </p:sp>
      <p:pic>
        <p:nvPicPr>
          <p:cNvPr id="5" name="Picture 4">
            <a:extLst>
              <a:ext uri="{FF2B5EF4-FFF2-40B4-BE49-F238E27FC236}">
                <a16:creationId xmlns:a16="http://schemas.microsoft.com/office/drawing/2014/main" id="{C2C64F21-DA8B-24A6-CF0D-AC02B15252AB}"/>
              </a:ext>
            </a:extLst>
          </p:cNvPr>
          <p:cNvPicPr>
            <a:picLocks noChangeAspect="1"/>
          </p:cNvPicPr>
          <p:nvPr/>
        </p:nvPicPr>
        <p:blipFill>
          <a:blip r:embed="rId2"/>
          <a:stretch>
            <a:fillRect/>
          </a:stretch>
        </p:blipFill>
        <p:spPr>
          <a:xfrm>
            <a:off x="6834564" y="3557320"/>
            <a:ext cx="4542659" cy="2662727"/>
          </a:xfrm>
          <a:prstGeom prst="rect">
            <a:avLst/>
          </a:prstGeom>
        </p:spPr>
      </p:pic>
    </p:spTree>
    <p:extLst>
      <p:ext uri="{BB962C8B-B14F-4D97-AF65-F5344CB8AC3E}">
        <p14:creationId xmlns:p14="http://schemas.microsoft.com/office/powerpoint/2010/main" val="34725773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B4DAD2-42DF-83C6-77ED-BB7362A7BCFF}"/>
              </a:ext>
            </a:extLst>
          </p:cNvPr>
          <p:cNvSpPr>
            <a:spLocks noGrp="1"/>
          </p:cNvSpPr>
          <p:nvPr>
            <p:ph idx="1"/>
          </p:nvPr>
        </p:nvSpPr>
        <p:spPr>
          <a:xfrm>
            <a:off x="290250" y="2493780"/>
            <a:ext cx="8761413" cy="3416300"/>
          </a:xfrm>
        </p:spPr>
        <p:txBody>
          <a:bodyPr/>
          <a:lstStyle/>
          <a:p>
            <a:r>
              <a:rPr lang="en-US" b="1" dirty="0"/>
              <a:t>Variance</a:t>
            </a:r>
            <a:r>
              <a:rPr lang="en-US" dirty="0"/>
              <a:t> refers to your algorithm's sensitivity to specific sets of training data</a:t>
            </a:r>
          </a:p>
          <a:p>
            <a:pPr lvl="1"/>
            <a:r>
              <a:rPr lang="en-US" dirty="0"/>
              <a:t>High variance algorithms will produce drastically different models depending on the training set</a:t>
            </a:r>
          </a:p>
          <a:p>
            <a:pPr lvl="1"/>
            <a:r>
              <a:rPr lang="en-US" dirty="0"/>
              <a:t>For example, imagine an algorithm that fits a completely unconstrained, super-flexible model to the same dataset from the linear regression example:</a:t>
            </a:r>
          </a:p>
          <a:p>
            <a:pPr lvl="1"/>
            <a:endParaRPr lang="en-US" dirty="0"/>
          </a:p>
          <a:p>
            <a:pPr lvl="1"/>
            <a:r>
              <a:rPr lang="en-US" dirty="0"/>
              <a:t>As you can see, this unconstrained model has basically </a:t>
            </a:r>
            <a:br>
              <a:rPr lang="en-US" dirty="0"/>
            </a:br>
            <a:r>
              <a:rPr lang="en-US" dirty="0"/>
              <a:t>memorized the training set, including all of the noise</a:t>
            </a:r>
          </a:p>
          <a:p>
            <a:pPr lvl="1"/>
            <a:r>
              <a:rPr lang="en-US" dirty="0"/>
              <a:t>This is known as over-fitting.</a:t>
            </a:r>
          </a:p>
        </p:txBody>
      </p:sp>
      <p:sp>
        <p:nvSpPr>
          <p:cNvPr id="3" name="Slide Number Placeholder 2">
            <a:extLst>
              <a:ext uri="{FF2B5EF4-FFF2-40B4-BE49-F238E27FC236}">
                <a16:creationId xmlns:a16="http://schemas.microsoft.com/office/drawing/2014/main" id="{625EEED7-FA81-79C5-94EF-385A708BA6A1}"/>
              </a:ext>
            </a:extLst>
          </p:cNvPr>
          <p:cNvSpPr>
            <a:spLocks noGrp="1"/>
          </p:cNvSpPr>
          <p:nvPr>
            <p:ph type="sldNum" sz="quarter" idx="12"/>
          </p:nvPr>
        </p:nvSpPr>
        <p:spPr/>
        <p:txBody>
          <a:bodyPr/>
          <a:lstStyle/>
          <a:p>
            <a:fld id="{AA9B4DDF-D983-43F6-9690-D9255D65AFD2}" type="slidenum">
              <a:rPr lang="en-AU" smtClean="0"/>
              <a:t>6</a:t>
            </a:fld>
            <a:endParaRPr lang="en-AU"/>
          </a:p>
        </p:txBody>
      </p:sp>
      <p:sp>
        <p:nvSpPr>
          <p:cNvPr id="4" name="Title 3">
            <a:extLst>
              <a:ext uri="{FF2B5EF4-FFF2-40B4-BE49-F238E27FC236}">
                <a16:creationId xmlns:a16="http://schemas.microsoft.com/office/drawing/2014/main" id="{53E9080F-4024-7D46-A30F-D0B2902D97F7}"/>
              </a:ext>
            </a:extLst>
          </p:cNvPr>
          <p:cNvSpPr>
            <a:spLocks noGrp="1"/>
          </p:cNvSpPr>
          <p:nvPr>
            <p:ph type="title"/>
          </p:nvPr>
        </p:nvSpPr>
        <p:spPr/>
        <p:txBody>
          <a:bodyPr/>
          <a:lstStyle/>
          <a:p>
            <a:r>
              <a:rPr lang="en-AU" b="1" dirty="0"/>
              <a:t>Bias-Variance Trade-off</a:t>
            </a:r>
            <a:endParaRPr lang="en-US" dirty="0"/>
          </a:p>
        </p:txBody>
      </p:sp>
      <p:pic>
        <p:nvPicPr>
          <p:cNvPr id="5" name="Picture 4">
            <a:extLst>
              <a:ext uri="{FF2B5EF4-FFF2-40B4-BE49-F238E27FC236}">
                <a16:creationId xmlns:a16="http://schemas.microsoft.com/office/drawing/2014/main" id="{D14C17EF-1B1C-AEAE-0603-E06AC5FEA987}"/>
              </a:ext>
            </a:extLst>
          </p:cNvPr>
          <p:cNvPicPr>
            <a:picLocks noChangeAspect="1"/>
          </p:cNvPicPr>
          <p:nvPr/>
        </p:nvPicPr>
        <p:blipFill>
          <a:blip r:embed="rId2"/>
          <a:stretch>
            <a:fillRect/>
          </a:stretch>
        </p:blipFill>
        <p:spPr>
          <a:xfrm>
            <a:off x="9051663" y="2493780"/>
            <a:ext cx="2844698" cy="3416300"/>
          </a:xfrm>
          <a:prstGeom prst="rect">
            <a:avLst/>
          </a:prstGeom>
        </p:spPr>
      </p:pic>
    </p:spTree>
    <p:extLst>
      <p:ext uri="{BB962C8B-B14F-4D97-AF65-F5344CB8AC3E}">
        <p14:creationId xmlns:p14="http://schemas.microsoft.com/office/powerpoint/2010/main" val="3895130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1637A-EE0E-4528-B43D-C009E97B04FB}"/>
              </a:ext>
            </a:extLst>
          </p:cNvPr>
          <p:cNvSpPr>
            <a:spLocks noGrp="1"/>
          </p:cNvSpPr>
          <p:nvPr>
            <p:ph type="title"/>
          </p:nvPr>
        </p:nvSpPr>
        <p:spPr/>
        <p:txBody>
          <a:bodyPr/>
          <a:lstStyle/>
          <a:p>
            <a:r>
              <a:rPr lang="en-AU" b="1" dirty="0"/>
              <a:t>Bias-Variance </a:t>
            </a:r>
            <a:r>
              <a:rPr lang="en-AU" b="1" dirty="0" err="1"/>
              <a:t>Tradeoff</a:t>
            </a:r>
            <a:endParaRPr lang="en-AU" b="1" dirty="0"/>
          </a:p>
        </p:txBody>
      </p:sp>
      <p:pic>
        <p:nvPicPr>
          <p:cNvPr id="3" name="Content Placeholder 2">
            <a:extLst>
              <a:ext uri="{FF2B5EF4-FFF2-40B4-BE49-F238E27FC236}">
                <a16:creationId xmlns:a16="http://schemas.microsoft.com/office/drawing/2014/main" id="{21A1FC32-67B9-4A02-9794-702CFA62A280}"/>
              </a:ext>
            </a:extLst>
          </p:cNvPr>
          <p:cNvPicPr>
            <a:picLocks noGrp="1" noChangeAspect="1"/>
          </p:cNvPicPr>
          <p:nvPr>
            <p:ph idx="1"/>
          </p:nvPr>
        </p:nvPicPr>
        <p:blipFill>
          <a:blip r:embed="rId2"/>
          <a:stretch>
            <a:fillRect/>
          </a:stretch>
        </p:blipFill>
        <p:spPr>
          <a:xfrm>
            <a:off x="1375067" y="1889842"/>
            <a:ext cx="8965095" cy="4316412"/>
          </a:xfrm>
          <a:prstGeom prst="rect">
            <a:avLst/>
          </a:prstGeom>
        </p:spPr>
      </p:pic>
    </p:spTree>
    <p:extLst>
      <p:ext uri="{BB962C8B-B14F-4D97-AF65-F5344CB8AC3E}">
        <p14:creationId xmlns:p14="http://schemas.microsoft.com/office/powerpoint/2010/main" val="3782557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1637A-EE0E-4528-B43D-C009E97B04FB}"/>
              </a:ext>
            </a:extLst>
          </p:cNvPr>
          <p:cNvSpPr>
            <a:spLocks noGrp="1"/>
          </p:cNvSpPr>
          <p:nvPr>
            <p:ph type="title"/>
          </p:nvPr>
        </p:nvSpPr>
        <p:spPr/>
        <p:txBody>
          <a:bodyPr/>
          <a:lstStyle/>
          <a:p>
            <a:endParaRPr lang="en-AU" b="1" dirty="0"/>
          </a:p>
        </p:txBody>
      </p:sp>
      <p:pic>
        <p:nvPicPr>
          <p:cNvPr id="3" name="Content Placeholder 2">
            <a:extLst>
              <a:ext uri="{FF2B5EF4-FFF2-40B4-BE49-F238E27FC236}">
                <a16:creationId xmlns:a16="http://schemas.microsoft.com/office/drawing/2014/main" id="{A275283B-F208-4457-B7FB-E6DDD617146C}"/>
              </a:ext>
            </a:extLst>
          </p:cNvPr>
          <p:cNvPicPr>
            <a:picLocks noGrp="1" noChangeAspect="1"/>
          </p:cNvPicPr>
          <p:nvPr>
            <p:ph idx="1"/>
          </p:nvPr>
        </p:nvPicPr>
        <p:blipFill>
          <a:blip r:embed="rId2"/>
          <a:stretch>
            <a:fillRect/>
          </a:stretch>
        </p:blipFill>
        <p:spPr>
          <a:xfrm>
            <a:off x="469154" y="416810"/>
            <a:ext cx="9907298" cy="1790700"/>
          </a:xfrm>
          <a:prstGeom prst="rect">
            <a:avLst/>
          </a:prstGeom>
        </p:spPr>
      </p:pic>
      <p:pic>
        <p:nvPicPr>
          <p:cNvPr id="4" name="Picture 3">
            <a:extLst>
              <a:ext uri="{FF2B5EF4-FFF2-40B4-BE49-F238E27FC236}">
                <a16:creationId xmlns:a16="http://schemas.microsoft.com/office/drawing/2014/main" id="{1AD45003-6A86-4845-A365-4119A3D8C609}"/>
              </a:ext>
            </a:extLst>
          </p:cNvPr>
          <p:cNvPicPr>
            <a:picLocks noChangeAspect="1"/>
          </p:cNvPicPr>
          <p:nvPr/>
        </p:nvPicPr>
        <p:blipFill>
          <a:blip r:embed="rId3"/>
          <a:stretch>
            <a:fillRect/>
          </a:stretch>
        </p:blipFill>
        <p:spPr>
          <a:xfrm>
            <a:off x="1619250" y="2207511"/>
            <a:ext cx="8953500" cy="4102802"/>
          </a:xfrm>
          <a:prstGeom prst="rect">
            <a:avLst/>
          </a:prstGeom>
        </p:spPr>
      </p:pic>
    </p:spTree>
    <p:extLst>
      <p:ext uri="{BB962C8B-B14F-4D97-AF65-F5344CB8AC3E}">
        <p14:creationId xmlns:p14="http://schemas.microsoft.com/office/powerpoint/2010/main" val="18931794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15692D1-54D0-4357-8ACA-F0B5FCFE8D89}"/>
              </a:ext>
            </a:extLst>
          </p:cNvPr>
          <p:cNvPicPr>
            <a:picLocks noChangeAspect="1"/>
          </p:cNvPicPr>
          <p:nvPr/>
        </p:nvPicPr>
        <p:blipFill>
          <a:blip r:embed="rId2"/>
          <a:stretch>
            <a:fillRect/>
          </a:stretch>
        </p:blipFill>
        <p:spPr>
          <a:xfrm>
            <a:off x="397565" y="404812"/>
            <a:ext cx="11161334" cy="6048375"/>
          </a:xfrm>
          <a:prstGeom prst="rect">
            <a:avLst/>
          </a:prstGeom>
        </p:spPr>
      </p:pic>
    </p:spTree>
    <p:extLst>
      <p:ext uri="{BB962C8B-B14F-4D97-AF65-F5344CB8AC3E}">
        <p14:creationId xmlns:p14="http://schemas.microsoft.com/office/powerpoint/2010/main" val="8671597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B5993E2-C02B-4335-ABA5-D8EC46555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0B801A2-5622-4BE8-9AD2-C337A2CD0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3D9F8C98-A1FF-723B-57D6-6731B329857F}"/>
              </a:ext>
            </a:extLst>
          </p:cNvPr>
          <p:cNvSpPr>
            <a:spLocks noGrp="1"/>
          </p:cNvSpPr>
          <p:nvPr>
            <p:ph type="title"/>
          </p:nvPr>
        </p:nvSpPr>
        <p:spPr>
          <a:xfrm>
            <a:off x="492370" y="516835"/>
            <a:ext cx="3084844" cy="5772840"/>
          </a:xfrm>
        </p:spPr>
        <p:txBody>
          <a:bodyPr anchor="ctr">
            <a:normAutofit/>
          </a:bodyPr>
          <a:lstStyle/>
          <a:p>
            <a:r>
              <a:rPr lang="en-US" sz="3600">
                <a:solidFill>
                  <a:srgbClr val="FFFFFF"/>
                </a:solidFill>
              </a:rPr>
              <a:t>Weights for features</a:t>
            </a:r>
          </a:p>
        </p:txBody>
      </p:sp>
      <p:sp>
        <p:nvSpPr>
          <p:cNvPr id="13" name="Rectangle 12">
            <a:extLst>
              <a:ext uri="{FF2B5EF4-FFF2-40B4-BE49-F238E27FC236}">
                <a16:creationId xmlns:a16="http://schemas.microsoft.com/office/drawing/2014/main" id="{B7AF614F-5BC3-4086-99F5-B87C5847A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3A67E6D3-BAAF-A38B-2B75-E60355D39F00}"/>
              </a:ext>
            </a:extLst>
          </p:cNvPr>
          <p:cNvGraphicFramePr>
            <a:graphicFrameLocks noGrp="1"/>
          </p:cNvGraphicFramePr>
          <p:nvPr>
            <p:ph idx="1"/>
            <p:extLst>
              <p:ext uri="{D42A27DB-BD31-4B8C-83A1-F6EECF244321}">
                <p14:modId xmlns:p14="http://schemas.microsoft.com/office/powerpoint/2010/main" val="2278484019"/>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04309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9F8C98-A1FF-723B-57D6-6731B329857F}"/>
              </a:ext>
            </a:extLst>
          </p:cNvPr>
          <p:cNvSpPr>
            <a:spLocks noGrp="1"/>
          </p:cNvSpPr>
          <p:nvPr>
            <p:ph type="title"/>
          </p:nvPr>
        </p:nvSpPr>
        <p:spPr>
          <a:xfrm>
            <a:off x="5181601" y="634946"/>
            <a:ext cx="6368142" cy="1450757"/>
          </a:xfrm>
        </p:spPr>
        <p:txBody>
          <a:bodyPr>
            <a:normAutofit/>
          </a:bodyPr>
          <a:lstStyle/>
          <a:p>
            <a:r>
              <a:rPr lang="en-US" sz="4400"/>
              <a:t>Why Some Features Have Larger Weights than Others</a:t>
            </a:r>
          </a:p>
        </p:txBody>
      </p:sp>
      <p:pic>
        <p:nvPicPr>
          <p:cNvPr id="17" name="Picture 16" descr="Aerial view of buildings">
            <a:extLst>
              <a:ext uri="{FF2B5EF4-FFF2-40B4-BE49-F238E27FC236}">
                <a16:creationId xmlns:a16="http://schemas.microsoft.com/office/drawing/2014/main" id="{F66156F7-D424-9F78-610C-5B2526791F79}"/>
              </a:ext>
            </a:extLst>
          </p:cNvPr>
          <p:cNvPicPr>
            <a:picLocks noChangeAspect="1"/>
          </p:cNvPicPr>
          <p:nvPr/>
        </p:nvPicPr>
        <p:blipFill>
          <a:blip r:embed="rId2"/>
          <a:srcRect l="18620" r="36159" b="1"/>
          <a:stretch/>
        </p:blipFill>
        <p:spPr>
          <a:xfrm>
            <a:off x="20" y="-12128"/>
            <a:ext cx="4654276" cy="6870127"/>
          </a:xfrm>
          <a:prstGeom prst="rect">
            <a:avLst/>
          </a:prstGeom>
        </p:spPr>
      </p:pic>
      <p:cxnSp>
        <p:nvCxnSpPr>
          <p:cNvPr id="18" name="Straight Connector 17">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FB06D8A4-9305-82AA-3592-DA12EAC0CFEE}"/>
              </a:ext>
            </a:extLst>
          </p:cNvPr>
          <p:cNvSpPr>
            <a:spLocks noGrp="1"/>
          </p:cNvSpPr>
          <p:nvPr>
            <p:ph idx="1"/>
          </p:nvPr>
        </p:nvSpPr>
        <p:spPr>
          <a:xfrm>
            <a:off x="5181601" y="2198914"/>
            <a:ext cx="6368142" cy="3670180"/>
          </a:xfrm>
        </p:spPr>
        <p:txBody>
          <a:bodyPr>
            <a:normAutofit/>
          </a:bodyPr>
          <a:lstStyle/>
          <a:p>
            <a:pPr algn="just">
              <a:lnSpc>
                <a:spcPct val="150000"/>
              </a:lnSpc>
              <a:buFont typeface="Wingdings" panose="05000000000000000000" pitchFamily="2" charset="2"/>
              <a:buChar char="q"/>
            </a:pPr>
            <a:r>
              <a:rPr lang="en-US" sz="2400" dirty="0"/>
              <a:t>In a model predicting house prices:</a:t>
            </a:r>
          </a:p>
          <a:p>
            <a:pPr marL="457200" indent="-90488" algn="just">
              <a:lnSpc>
                <a:spcPct val="150000"/>
              </a:lnSpc>
              <a:buFont typeface="Wingdings" panose="05000000000000000000" pitchFamily="2" charset="2"/>
              <a:buChar char="Ø"/>
            </a:pPr>
            <a:r>
              <a:rPr lang="en-US" sz="2400" b="1" dirty="0"/>
              <a:t>Square footage </a:t>
            </a:r>
            <a:r>
              <a:rPr lang="en-US" sz="2400" dirty="0"/>
              <a:t>: large positive weight</a:t>
            </a:r>
          </a:p>
          <a:p>
            <a:pPr marL="457200" indent="-90488" algn="just">
              <a:lnSpc>
                <a:spcPct val="150000"/>
              </a:lnSpc>
              <a:buFont typeface="Wingdings" panose="05000000000000000000" pitchFamily="2" charset="2"/>
              <a:buChar char="Ø"/>
            </a:pPr>
            <a:r>
              <a:rPr lang="en-US" sz="2400" b="1" dirty="0"/>
              <a:t>Proximity to city center</a:t>
            </a:r>
            <a:r>
              <a:rPr lang="en-US" sz="2400" dirty="0"/>
              <a:t>: significant weight </a:t>
            </a:r>
          </a:p>
          <a:p>
            <a:pPr marL="457200" indent="-90488" algn="just">
              <a:lnSpc>
                <a:spcPct val="150000"/>
              </a:lnSpc>
              <a:buFont typeface="Wingdings" panose="05000000000000000000" pitchFamily="2" charset="2"/>
              <a:buChar char="Ø"/>
            </a:pPr>
            <a:r>
              <a:rPr lang="en-US" sz="2400" b="1" dirty="0"/>
              <a:t>Unrelated features, </a:t>
            </a:r>
            <a:r>
              <a:rPr lang="en-US" sz="2400" dirty="0"/>
              <a:t>like a house's paint color </a:t>
            </a:r>
            <a:r>
              <a:rPr lang="en-US" sz="2400" b="1" dirty="0"/>
              <a:t>: </a:t>
            </a:r>
            <a:r>
              <a:rPr lang="en-US" sz="2400" dirty="0"/>
              <a:t>A weight close to zero,</a:t>
            </a:r>
          </a:p>
          <a:p>
            <a:pPr marL="457200" indent="-90488">
              <a:buFont typeface="Wingdings" panose="05000000000000000000" pitchFamily="2" charset="2"/>
              <a:buChar char="Ø"/>
            </a:pPr>
            <a:endParaRPr lang="en-US" dirty="0"/>
          </a:p>
          <a:p>
            <a:pPr>
              <a:buFont typeface="Wingdings" panose="05000000000000000000" pitchFamily="2" charset="2"/>
              <a:buChar char="q"/>
            </a:pPr>
            <a:endParaRPr lang="en-US" dirty="0"/>
          </a:p>
        </p:txBody>
      </p:sp>
    </p:spTree>
    <p:extLst>
      <p:ext uri="{BB962C8B-B14F-4D97-AF65-F5344CB8AC3E}">
        <p14:creationId xmlns:p14="http://schemas.microsoft.com/office/powerpoint/2010/main" val="29137682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52ABB703-2B0E-4C3B-B4A2-F3973548E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BCC810-E824-5327-00EF-5F2CCF15C8F8}"/>
              </a:ext>
            </a:extLst>
          </p:cNvPr>
          <p:cNvSpPr>
            <a:spLocks noGrp="1"/>
          </p:cNvSpPr>
          <p:nvPr>
            <p:ph type="title"/>
          </p:nvPr>
        </p:nvSpPr>
        <p:spPr>
          <a:xfrm>
            <a:off x="6411685" y="634946"/>
            <a:ext cx="5127171" cy="1450757"/>
          </a:xfrm>
        </p:spPr>
        <p:txBody>
          <a:bodyPr>
            <a:normAutofit/>
          </a:bodyPr>
          <a:lstStyle/>
          <a:p>
            <a:r>
              <a:rPr lang="en-US"/>
              <a:t>Goal: Reduce Overfitting</a:t>
            </a:r>
          </a:p>
        </p:txBody>
      </p:sp>
      <p:pic>
        <p:nvPicPr>
          <p:cNvPr id="4" name="Picture 3">
            <a:extLst>
              <a:ext uri="{FF2B5EF4-FFF2-40B4-BE49-F238E27FC236}">
                <a16:creationId xmlns:a16="http://schemas.microsoft.com/office/drawing/2014/main" id="{45D590AE-FAA6-5616-BDFE-1333E0AA2B6A}"/>
              </a:ext>
            </a:extLst>
          </p:cNvPr>
          <p:cNvPicPr>
            <a:picLocks noChangeAspect="1"/>
          </p:cNvPicPr>
          <p:nvPr/>
        </p:nvPicPr>
        <p:blipFill>
          <a:blip r:embed="rId2"/>
          <a:stretch>
            <a:fillRect/>
          </a:stretch>
        </p:blipFill>
        <p:spPr>
          <a:xfrm>
            <a:off x="745132" y="645106"/>
            <a:ext cx="5247747" cy="524774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cxnSp>
        <p:nvCxnSpPr>
          <p:cNvPr id="19" name="Straight Connector 18">
            <a:extLst>
              <a:ext uri="{FF2B5EF4-FFF2-40B4-BE49-F238E27FC236}">
                <a16:creationId xmlns:a16="http://schemas.microsoft.com/office/drawing/2014/main" id="{9C21570E-E159-49A6-9891-FA397B7A92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11684" y="2086188"/>
            <a:ext cx="474880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5CAB9958-8BFC-3982-0682-D0D1300E4D6E}"/>
              </a:ext>
            </a:extLst>
          </p:cNvPr>
          <p:cNvSpPr>
            <a:spLocks noGrp="1"/>
          </p:cNvSpPr>
          <p:nvPr>
            <p:ph idx="1"/>
          </p:nvPr>
        </p:nvSpPr>
        <p:spPr>
          <a:xfrm>
            <a:off x="6411684" y="2198914"/>
            <a:ext cx="5127172" cy="3670180"/>
          </a:xfrm>
        </p:spPr>
        <p:txBody>
          <a:bodyPr>
            <a:normAutofit/>
          </a:bodyPr>
          <a:lstStyle/>
          <a:p>
            <a:pPr>
              <a:buFont typeface="Wingdings" panose="05000000000000000000" pitchFamily="2" charset="2"/>
              <a:buChar char="q"/>
            </a:pPr>
            <a:r>
              <a:rPr lang="en-US"/>
              <a:t>After training, most models perform well on a specific subset of the data but struggle to generalize to new, unseen examples</a:t>
            </a:r>
          </a:p>
          <a:p>
            <a:pPr>
              <a:buFont typeface="Wingdings" panose="05000000000000000000" pitchFamily="2" charset="2"/>
              <a:buChar char="q"/>
            </a:pPr>
            <a:r>
              <a:rPr lang="en-US" b="1"/>
              <a:t>a problem known as overfitting.</a:t>
            </a:r>
          </a:p>
          <a:p>
            <a:pPr>
              <a:buFont typeface="Wingdings" panose="05000000000000000000" pitchFamily="2" charset="2"/>
              <a:buChar char="q"/>
            </a:pPr>
            <a:r>
              <a:rPr lang="en-US"/>
              <a:t>To address this, we aim to reduce the model's complexity and/or decrease the variability in its predictions.</a:t>
            </a:r>
          </a:p>
        </p:txBody>
      </p:sp>
      <p:sp>
        <p:nvSpPr>
          <p:cNvPr id="21" name="Rectangle 20">
            <a:extLst>
              <a:ext uri="{FF2B5EF4-FFF2-40B4-BE49-F238E27FC236}">
                <a16:creationId xmlns:a16="http://schemas.microsoft.com/office/drawing/2014/main" id="{E95DA498-D9A2-4DA9-B9DA-B3776E08C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82A73093-4B9D-420D-B17E-52293703A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636865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F8C98-A1FF-723B-57D6-6731B329857F}"/>
              </a:ext>
            </a:extLst>
          </p:cNvPr>
          <p:cNvSpPr>
            <a:spLocks noGrp="1"/>
          </p:cNvSpPr>
          <p:nvPr>
            <p:ph type="title"/>
          </p:nvPr>
        </p:nvSpPr>
        <p:spPr/>
        <p:txBody>
          <a:bodyPr/>
          <a:lstStyle/>
          <a:p>
            <a:r>
              <a:rPr lang="en-AU" dirty="0"/>
              <a:t>Norm</a:t>
            </a:r>
            <a:endParaRPr lang="en-US" dirty="0"/>
          </a:p>
        </p:txBody>
      </p:sp>
      <p:sp>
        <p:nvSpPr>
          <p:cNvPr id="3" name="Content Placeholder 2">
            <a:extLst>
              <a:ext uri="{FF2B5EF4-FFF2-40B4-BE49-F238E27FC236}">
                <a16:creationId xmlns:a16="http://schemas.microsoft.com/office/drawing/2014/main" id="{FB06D8A4-9305-82AA-3592-DA12EAC0CFEE}"/>
              </a:ext>
            </a:extLst>
          </p:cNvPr>
          <p:cNvSpPr>
            <a:spLocks noGrp="1"/>
          </p:cNvSpPr>
          <p:nvPr>
            <p:ph idx="1"/>
          </p:nvPr>
        </p:nvSpPr>
        <p:spPr/>
        <p:txBody>
          <a:bodyPr/>
          <a:lstStyle/>
          <a:p>
            <a:pPr algn="just">
              <a:lnSpc>
                <a:spcPct val="150000"/>
              </a:lnSpc>
              <a:buFont typeface="Wingdings" panose="05000000000000000000" pitchFamily="2" charset="2"/>
              <a:buChar char="q"/>
            </a:pPr>
            <a:r>
              <a:rPr lang="en-US" dirty="0"/>
              <a:t>A norm is a mathematical way to measure the "size" or "magnitude" of a model's parameters (such as weights). </a:t>
            </a:r>
          </a:p>
        </p:txBody>
      </p:sp>
      <p:pic>
        <p:nvPicPr>
          <p:cNvPr id="4" name="Content Placeholder 3">
            <a:extLst>
              <a:ext uri="{FF2B5EF4-FFF2-40B4-BE49-F238E27FC236}">
                <a16:creationId xmlns:a16="http://schemas.microsoft.com/office/drawing/2014/main" id="{DF8EA7B4-9D81-ED3B-8E20-22DDA9C9EC86}"/>
              </a:ext>
            </a:extLst>
          </p:cNvPr>
          <p:cNvPicPr>
            <a:picLocks noChangeAspect="1"/>
          </p:cNvPicPr>
          <p:nvPr/>
        </p:nvPicPr>
        <p:blipFill>
          <a:blip r:embed="rId2"/>
          <a:stretch>
            <a:fillRect/>
          </a:stretch>
        </p:blipFill>
        <p:spPr>
          <a:xfrm>
            <a:off x="2792887" y="3429000"/>
            <a:ext cx="6667186" cy="2377256"/>
          </a:xfrm>
          <a:prstGeom prst="rect">
            <a:avLst/>
          </a:prstGeom>
        </p:spPr>
      </p:pic>
    </p:spTree>
    <p:extLst>
      <p:ext uri="{BB962C8B-B14F-4D97-AF65-F5344CB8AC3E}">
        <p14:creationId xmlns:p14="http://schemas.microsoft.com/office/powerpoint/2010/main" val="28005744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6ECEA-83AF-3728-228B-15D00EB100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0F7BEB-427D-2F3D-91DE-8A005D4FB66F}"/>
              </a:ext>
            </a:extLst>
          </p:cNvPr>
          <p:cNvSpPr>
            <a:spLocks noGrp="1"/>
          </p:cNvSpPr>
          <p:nvPr>
            <p:ph type="title"/>
          </p:nvPr>
        </p:nvSpPr>
        <p:spPr/>
        <p:txBody>
          <a:bodyPr/>
          <a:lstStyle/>
          <a:p>
            <a:r>
              <a:rPr lang="en-US"/>
              <a:t>Regularization</a:t>
            </a:r>
            <a:endParaRPr lang="en-US" dirty="0"/>
          </a:p>
        </p:txBody>
      </p:sp>
      <p:sp>
        <p:nvSpPr>
          <p:cNvPr id="3" name="Content Placeholder 2">
            <a:extLst>
              <a:ext uri="{FF2B5EF4-FFF2-40B4-BE49-F238E27FC236}">
                <a16:creationId xmlns:a16="http://schemas.microsoft.com/office/drawing/2014/main" id="{8DA0ED0F-8ADA-1CA3-E08C-0FAB1D01A1FD}"/>
              </a:ext>
            </a:extLst>
          </p:cNvPr>
          <p:cNvSpPr>
            <a:spLocks noGrp="1"/>
          </p:cNvSpPr>
          <p:nvPr>
            <p:ph idx="1"/>
          </p:nvPr>
        </p:nvSpPr>
        <p:spPr/>
        <p:txBody>
          <a:bodyPr>
            <a:normAutofit lnSpcReduction="10000"/>
          </a:bodyPr>
          <a:lstStyle/>
          <a:p>
            <a:pPr algn="just">
              <a:lnSpc>
                <a:spcPct val="150000"/>
              </a:lnSpc>
              <a:buFont typeface="Wingdings" panose="05000000000000000000" pitchFamily="2" charset="2"/>
              <a:buChar char="q"/>
            </a:pPr>
            <a:r>
              <a:rPr lang="en-US" dirty="0"/>
              <a:t>Regularization is a technique that adds a small </a:t>
            </a:r>
            <a:r>
              <a:rPr lang="en-US" dirty="0">
                <a:solidFill>
                  <a:srgbClr val="FF0000"/>
                </a:solidFill>
              </a:rPr>
              <a:t>"extra cost" or penalty </a:t>
            </a:r>
            <a:r>
              <a:rPr lang="en-US" dirty="0"/>
              <a:t>to the usual process of training a machine learning model. </a:t>
            </a:r>
          </a:p>
          <a:p>
            <a:pPr algn="just">
              <a:lnSpc>
                <a:spcPct val="150000"/>
              </a:lnSpc>
              <a:buFont typeface="Wingdings" panose="05000000000000000000" pitchFamily="2" charset="2"/>
              <a:buChar char="q"/>
            </a:pPr>
            <a:r>
              <a:rPr lang="en-US" dirty="0"/>
              <a:t>Model with high weight--------lead to overfitting.</a:t>
            </a:r>
          </a:p>
          <a:p>
            <a:pPr algn="just">
              <a:lnSpc>
                <a:spcPct val="150000"/>
              </a:lnSpc>
              <a:buFont typeface="Wingdings" panose="05000000000000000000" pitchFamily="2" charset="2"/>
              <a:buChar char="q"/>
            </a:pPr>
            <a:r>
              <a:rPr lang="en-US" b="1" dirty="0"/>
              <a:t>Why is the Penalty Related to Weights?</a:t>
            </a:r>
          </a:p>
          <a:p>
            <a:pPr marL="571500" indent="-228600" algn="just">
              <a:lnSpc>
                <a:spcPct val="150000"/>
              </a:lnSpc>
              <a:buFont typeface="Wingdings" panose="05000000000000000000" pitchFamily="2" charset="2"/>
              <a:buChar char="Ø"/>
            </a:pPr>
            <a:r>
              <a:rPr lang="en-US" dirty="0">
                <a:solidFill>
                  <a:srgbClr val="FF0000"/>
                </a:solidFill>
              </a:rPr>
              <a:t>Keep the weights small and balanced</a:t>
            </a:r>
            <a:r>
              <a:rPr lang="en-US" dirty="0"/>
              <a:t>.</a:t>
            </a:r>
          </a:p>
          <a:p>
            <a:pPr marL="571500" indent="-228600" algn="just">
              <a:lnSpc>
                <a:spcPct val="150000"/>
              </a:lnSpc>
              <a:buFont typeface="Wingdings" panose="05000000000000000000" pitchFamily="2" charset="2"/>
              <a:buChar char="Ø"/>
            </a:pPr>
            <a:r>
              <a:rPr lang="en-US" dirty="0">
                <a:solidFill>
                  <a:srgbClr val="FF0000"/>
                </a:solidFill>
              </a:rPr>
              <a:t>Simplify the model’s learning</a:t>
            </a:r>
            <a:endParaRPr lang="en-US" dirty="0"/>
          </a:p>
          <a:p>
            <a:pPr marL="0" indent="0" algn="just">
              <a:lnSpc>
                <a:spcPct val="150000"/>
              </a:lnSpc>
              <a:buNone/>
            </a:pPr>
            <a:r>
              <a:rPr lang="en-US" dirty="0"/>
              <a:t> </a:t>
            </a:r>
          </a:p>
        </p:txBody>
      </p:sp>
    </p:spTree>
    <p:extLst>
      <p:ext uri="{BB962C8B-B14F-4D97-AF65-F5344CB8AC3E}">
        <p14:creationId xmlns:p14="http://schemas.microsoft.com/office/powerpoint/2010/main" val="28217226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65E6A-11D2-86CD-4728-4F0CDE668F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E66F17-5767-AE60-CB61-725AA0E50169}"/>
              </a:ext>
            </a:extLst>
          </p:cNvPr>
          <p:cNvSpPr>
            <a:spLocks noGrp="1"/>
          </p:cNvSpPr>
          <p:nvPr>
            <p:ph type="title"/>
          </p:nvPr>
        </p:nvSpPr>
        <p:spPr/>
        <p:txBody>
          <a:bodyPr/>
          <a:lstStyle/>
          <a:p>
            <a:r>
              <a:rPr lang="en-US" dirty="0"/>
              <a:t>How the Penalty Works in the Loss Function</a:t>
            </a:r>
          </a:p>
        </p:txBody>
      </p:sp>
      <p:sp>
        <p:nvSpPr>
          <p:cNvPr id="3" name="Content Placeholder 2">
            <a:extLst>
              <a:ext uri="{FF2B5EF4-FFF2-40B4-BE49-F238E27FC236}">
                <a16:creationId xmlns:a16="http://schemas.microsoft.com/office/drawing/2014/main" id="{4543552B-C9E5-753D-1EF8-1E0155033657}"/>
              </a:ext>
            </a:extLst>
          </p:cNvPr>
          <p:cNvSpPr>
            <a:spLocks noGrp="1"/>
          </p:cNvSpPr>
          <p:nvPr>
            <p:ph idx="1"/>
          </p:nvPr>
        </p:nvSpPr>
        <p:spPr/>
        <p:txBody>
          <a:bodyPr>
            <a:normAutofit/>
          </a:bodyPr>
          <a:lstStyle/>
          <a:p>
            <a:pPr algn="just">
              <a:lnSpc>
                <a:spcPct val="150000"/>
              </a:lnSpc>
            </a:pPr>
            <a:r>
              <a:rPr lang="en-US" sz="2200" dirty="0"/>
              <a:t>A loss function measures how far off the model's predictions are from the actual values. For example:</a:t>
            </a:r>
          </a:p>
          <a:p>
            <a:pPr marL="685800" indent="-90488" algn="just">
              <a:lnSpc>
                <a:spcPct val="150000"/>
              </a:lnSpc>
              <a:buFont typeface="Arial" panose="020B0604020202020204" pitchFamily="34" charset="0"/>
              <a:buChar char="•"/>
            </a:pPr>
            <a:r>
              <a:rPr lang="en-US" sz="2200" b="1" dirty="0"/>
              <a:t>Without regularization</a:t>
            </a:r>
          </a:p>
          <a:p>
            <a:pPr marL="685800" indent="-90488" algn="just">
              <a:lnSpc>
                <a:spcPct val="150000"/>
              </a:lnSpc>
              <a:buFont typeface="Arial" panose="020B0604020202020204" pitchFamily="34" charset="0"/>
              <a:buChar char="•"/>
            </a:pPr>
            <a:r>
              <a:rPr lang="en-US" sz="2200" b="1" dirty="0"/>
              <a:t>With regularization</a:t>
            </a:r>
          </a:p>
          <a:p>
            <a:pPr marL="595312" indent="0" algn="just">
              <a:lnSpc>
                <a:spcPct val="150000"/>
              </a:lnSpc>
              <a:buNone/>
            </a:pPr>
            <a:endParaRPr lang="en-US" sz="2200" b="1" dirty="0"/>
          </a:p>
          <a:p>
            <a:pPr marL="685800" indent="-90488" algn="just">
              <a:lnSpc>
                <a:spcPct val="150000"/>
              </a:lnSpc>
              <a:buFont typeface="Arial" panose="020B0604020202020204" pitchFamily="34" charset="0"/>
              <a:buChar char="•"/>
            </a:pPr>
            <a:endParaRPr lang="en-US" sz="2200" dirty="0"/>
          </a:p>
        </p:txBody>
      </p:sp>
      <p:pic>
        <p:nvPicPr>
          <p:cNvPr id="5" name="Picture 4">
            <a:extLst>
              <a:ext uri="{FF2B5EF4-FFF2-40B4-BE49-F238E27FC236}">
                <a16:creationId xmlns:a16="http://schemas.microsoft.com/office/drawing/2014/main" id="{3A84F1B0-1B5F-8E4A-F6A2-E3A2778DB5FB}"/>
              </a:ext>
            </a:extLst>
          </p:cNvPr>
          <p:cNvPicPr>
            <a:picLocks noChangeAspect="1"/>
          </p:cNvPicPr>
          <p:nvPr/>
        </p:nvPicPr>
        <p:blipFill>
          <a:blip r:embed="rId2"/>
          <a:stretch>
            <a:fillRect/>
          </a:stretch>
        </p:blipFill>
        <p:spPr>
          <a:xfrm>
            <a:off x="1200150" y="4791481"/>
            <a:ext cx="10195560" cy="1077613"/>
          </a:xfrm>
          <a:prstGeom prst="rect">
            <a:avLst/>
          </a:prstGeom>
        </p:spPr>
      </p:pic>
    </p:spTree>
    <p:extLst>
      <p:ext uri="{BB962C8B-B14F-4D97-AF65-F5344CB8AC3E}">
        <p14:creationId xmlns:p14="http://schemas.microsoft.com/office/powerpoint/2010/main" val="42768868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EEC6F-58EB-B0FE-9B2C-02A1293318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B846DB-060E-6E51-5B6C-8CAAED34E515}"/>
              </a:ext>
            </a:extLst>
          </p:cNvPr>
          <p:cNvSpPr>
            <a:spLocks noGrp="1"/>
          </p:cNvSpPr>
          <p:nvPr>
            <p:ph type="title"/>
          </p:nvPr>
        </p:nvSpPr>
        <p:spPr/>
        <p:txBody>
          <a:bodyPr/>
          <a:lstStyle/>
          <a:p>
            <a:r>
              <a:rPr lang="en-US" dirty="0"/>
              <a:t>Regularization / Regularizing Effects</a:t>
            </a:r>
          </a:p>
        </p:txBody>
      </p:sp>
      <p:pic>
        <p:nvPicPr>
          <p:cNvPr id="5" name="Content Placeholder 4">
            <a:extLst>
              <a:ext uri="{FF2B5EF4-FFF2-40B4-BE49-F238E27FC236}">
                <a16:creationId xmlns:a16="http://schemas.microsoft.com/office/drawing/2014/main" id="{B274030C-74DE-3E68-524C-7FF638574BA9}"/>
              </a:ext>
            </a:extLst>
          </p:cNvPr>
          <p:cNvPicPr>
            <a:picLocks noGrp="1" noChangeAspect="1"/>
          </p:cNvPicPr>
          <p:nvPr>
            <p:ph idx="1"/>
          </p:nvPr>
        </p:nvPicPr>
        <p:blipFill>
          <a:blip r:embed="rId2"/>
          <a:stretch>
            <a:fillRect/>
          </a:stretch>
        </p:blipFill>
        <p:spPr>
          <a:xfrm>
            <a:off x="960120" y="1954530"/>
            <a:ext cx="10195559" cy="3737609"/>
          </a:xfrm>
        </p:spPr>
      </p:pic>
    </p:spTree>
    <p:extLst>
      <p:ext uri="{BB962C8B-B14F-4D97-AF65-F5344CB8AC3E}">
        <p14:creationId xmlns:p14="http://schemas.microsoft.com/office/powerpoint/2010/main" val="37239897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23FC4-7A98-9857-05CF-9A520FCCAF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C61240-0341-891A-141D-7E4404B1A5D8}"/>
              </a:ext>
            </a:extLst>
          </p:cNvPr>
          <p:cNvSpPr>
            <a:spLocks noGrp="1"/>
          </p:cNvSpPr>
          <p:nvPr>
            <p:ph type="title"/>
          </p:nvPr>
        </p:nvSpPr>
        <p:spPr/>
        <p:txBody>
          <a:bodyPr/>
          <a:lstStyle/>
          <a:p>
            <a:r>
              <a:rPr lang="en-US" dirty="0"/>
              <a:t>Why regularization?</a:t>
            </a:r>
          </a:p>
        </p:txBody>
      </p:sp>
      <p:pic>
        <p:nvPicPr>
          <p:cNvPr id="5" name="Content Placeholder 4">
            <a:extLst>
              <a:ext uri="{FF2B5EF4-FFF2-40B4-BE49-F238E27FC236}">
                <a16:creationId xmlns:a16="http://schemas.microsoft.com/office/drawing/2014/main" id="{893FA706-D59E-CAE4-EC69-5442E053FF83}"/>
              </a:ext>
            </a:extLst>
          </p:cNvPr>
          <p:cNvPicPr>
            <a:picLocks noGrp="1" noChangeAspect="1"/>
          </p:cNvPicPr>
          <p:nvPr>
            <p:ph idx="1"/>
          </p:nvPr>
        </p:nvPicPr>
        <p:blipFill>
          <a:blip r:embed="rId2"/>
          <a:stretch>
            <a:fillRect/>
          </a:stretch>
        </p:blipFill>
        <p:spPr>
          <a:xfrm>
            <a:off x="731520" y="2322497"/>
            <a:ext cx="10332720" cy="2213005"/>
          </a:xfrm>
        </p:spPr>
      </p:pic>
    </p:spTree>
    <p:extLst>
      <p:ext uri="{BB962C8B-B14F-4D97-AF65-F5344CB8AC3E}">
        <p14:creationId xmlns:p14="http://schemas.microsoft.com/office/powerpoint/2010/main" val="1010301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F9B8D-C805-A31E-AAD1-5288733BCC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157063-C2AF-8581-42BE-8D7FDD521F04}"/>
              </a:ext>
            </a:extLst>
          </p:cNvPr>
          <p:cNvSpPr>
            <a:spLocks noGrp="1"/>
          </p:cNvSpPr>
          <p:nvPr>
            <p:ph type="title"/>
          </p:nvPr>
        </p:nvSpPr>
        <p:spPr/>
        <p:txBody>
          <a:bodyPr/>
          <a:lstStyle/>
          <a:p>
            <a:r>
              <a:rPr lang="en-AU" dirty="0"/>
              <a:t>Norm</a:t>
            </a:r>
            <a:endParaRPr lang="en-US" dirty="0"/>
          </a:p>
        </p:txBody>
      </p:sp>
      <p:sp>
        <p:nvSpPr>
          <p:cNvPr id="3" name="Content Placeholder 2">
            <a:extLst>
              <a:ext uri="{FF2B5EF4-FFF2-40B4-BE49-F238E27FC236}">
                <a16:creationId xmlns:a16="http://schemas.microsoft.com/office/drawing/2014/main" id="{7DC7DB0B-FA1A-7B7A-C18F-9D0AA3E04610}"/>
              </a:ext>
            </a:extLst>
          </p:cNvPr>
          <p:cNvSpPr>
            <a:spLocks noGrp="1"/>
          </p:cNvSpPr>
          <p:nvPr>
            <p:ph idx="1"/>
          </p:nvPr>
        </p:nvSpPr>
        <p:spPr/>
        <p:txBody>
          <a:bodyPr/>
          <a:lstStyle/>
          <a:p>
            <a:pPr algn="just">
              <a:lnSpc>
                <a:spcPct val="150000"/>
              </a:lnSpc>
              <a:buFont typeface="Wingdings" panose="05000000000000000000" pitchFamily="2" charset="2"/>
              <a:buChar char="q"/>
            </a:pPr>
            <a:r>
              <a:rPr lang="en-US" dirty="0"/>
              <a:t>A norm is a mathematical way to measure the "size" or "magnitude" of a model's parameters (such as weights). </a:t>
            </a:r>
          </a:p>
        </p:txBody>
      </p:sp>
      <p:pic>
        <p:nvPicPr>
          <p:cNvPr id="4" name="Content Placeholder 3">
            <a:extLst>
              <a:ext uri="{FF2B5EF4-FFF2-40B4-BE49-F238E27FC236}">
                <a16:creationId xmlns:a16="http://schemas.microsoft.com/office/drawing/2014/main" id="{774C27A8-E0F6-82DC-94F6-4694A97111A5}"/>
              </a:ext>
            </a:extLst>
          </p:cNvPr>
          <p:cNvPicPr>
            <a:picLocks noChangeAspect="1"/>
          </p:cNvPicPr>
          <p:nvPr/>
        </p:nvPicPr>
        <p:blipFill>
          <a:blip r:embed="rId2"/>
          <a:stretch>
            <a:fillRect/>
          </a:stretch>
        </p:blipFill>
        <p:spPr>
          <a:xfrm>
            <a:off x="2792887" y="3429000"/>
            <a:ext cx="6667186" cy="2377256"/>
          </a:xfrm>
          <a:prstGeom prst="rect">
            <a:avLst/>
          </a:prstGeom>
        </p:spPr>
      </p:pic>
    </p:spTree>
    <p:extLst>
      <p:ext uri="{BB962C8B-B14F-4D97-AF65-F5344CB8AC3E}">
        <p14:creationId xmlns:p14="http://schemas.microsoft.com/office/powerpoint/2010/main" val="37818932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74676-A007-59EC-62BD-FC3D4A96FE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4312D8-C348-823C-25C3-D80DEC92A3AC}"/>
              </a:ext>
            </a:extLst>
          </p:cNvPr>
          <p:cNvSpPr>
            <a:spLocks noGrp="1"/>
          </p:cNvSpPr>
          <p:nvPr>
            <p:ph type="title"/>
          </p:nvPr>
        </p:nvSpPr>
        <p:spPr/>
        <p:txBody>
          <a:bodyPr/>
          <a:lstStyle/>
          <a:p>
            <a:r>
              <a:rPr lang="en-AU" dirty="0"/>
              <a:t>Different Regularization Techniques in Deep Learning</a:t>
            </a:r>
          </a:p>
        </p:txBody>
      </p:sp>
      <p:pic>
        <p:nvPicPr>
          <p:cNvPr id="7" name="Content Placeholder 6">
            <a:extLst>
              <a:ext uri="{FF2B5EF4-FFF2-40B4-BE49-F238E27FC236}">
                <a16:creationId xmlns:a16="http://schemas.microsoft.com/office/drawing/2014/main" id="{192F6A85-F218-DAC0-312D-E056A0F92F86}"/>
              </a:ext>
            </a:extLst>
          </p:cNvPr>
          <p:cNvPicPr>
            <a:picLocks noGrp="1" noChangeAspect="1"/>
          </p:cNvPicPr>
          <p:nvPr>
            <p:ph idx="1"/>
          </p:nvPr>
        </p:nvPicPr>
        <p:blipFill>
          <a:blip r:embed="rId2"/>
          <a:stretch>
            <a:fillRect/>
          </a:stretch>
        </p:blipFill>
        <p:spPr>
          <a:xfrm>
            <a:off x="1314450" y="1885950"/>
            <a:ext cx="9121140" cy="4160519"/>
          </a:xfrm>
        </p:spPr>
      </p:pic>
    </p:spTree>
    <p:extLst>
      <p:ext uri="{BB962C8B-B14F-4D97-AF65-F5344CB8AC3E}">
        <p14:creationId xmlns:p14="http://schemas.microsoft.com/office/powerpoint/2010/main" val="20371445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F8CA2-44C4-4C82-8265-31218312E0A4}"/>
              </a:ext>
            </a:extLst>
          </p:cNvPr>
          <p:cNvSpPr>
            <a:spLocks noGrp="1"/>
          </p:cNvSpPr>
          <p:nvPr>
            <p:ph type="title"/>
          </p:nvPr>
        </p:nvSpPr>
        <p:spPr/>
        <p:txBody>
          <a:bodyPr/>
          <a:lstStyle/>
          <a:p>
            <a:r>
              <a:rPr lang="en-AU" dirty="0"/>
              <a:t>Different Regularization Techniques in Deep Learning (practice in class)</a:t>
            </a:r>
          </a:p>
        </p:txBody>
      </p:sp>
      <p:sp>
        <p:nvSpPr>
          <p:cNvPr id="3" name="Content Placeholder 2">
            <a:extLst>
              <a:ext uri="{FF2B5EF4-FFF2-40B4-BE49-F238E27FC236}">
                <a16:creationId xmlns:a16="http://schemas.microsoft.com/office/drawing/2014/main" id="{20D16B14-EAC3-4F6F-9FDC-841FB3B4E8DC}"/>
              </a:ext>
            </a:extLst>
          </p:cNvPr>
          <p:cNvSpPr>
            <a:spLocks noGrp="1"/>
          </p:cNvSpPr>
          <p:nvPr>
            <p:ph idx="1"/>
          </p:nvPr>
        </p:nvSpPr>
        <p:spPr/>
        <p:txBody>
          <a:bodyPr/>
          <a:lstStyle/>
          <a:p>
            <a:pPr algn="just">
              <a:lnSpc>
                <a:spcPct val="150000"/>
              </a:lnSpc>
              <a:buFont typeface="Wingdings" panose="05000000000000000000" pitchFamily="2" charset="2"/>
              <a:buChar char="q"/>
            </a:pPr>
            <a:r>
              <a:rPr lang="en-AU" dirty="0"/>
              <a:t>L2&amp;L1 regularization</a:t>
            </a:r>
          </a:p>
          <a:p>
            <a:pPr algn="just">
              <a:lnSpc>
                <a:spcPct val="150000"/>
              </a:lnSpc>
              <a:buFont typeface="Wingdings" panose="05000000000000000000" pitchFamily="2" charset="2"/>
              <a:buChar char="q"/>
            </a:pPr>
            <a:r>
              <a:rPr lang="en-AU" dirty="0"/>
              <a:t>Dropout</a:t>
            </a:r>
          </a:p>
          <a:p>
            <a:pPr algn="just">
              <a:lnSpc>
                <a:spcPct val="150000"/>
              </a:lnSpc>
              <a:buFont typeface="Wingdings" panose="05000000000000000000" pitchFamily="2" charset="2"/>
              <a:buChar char="q"/>
            </a:pPr>
            <a:r>
              <a:rPr lang="en-AU" dirty="0"/>
              <a:t>Data Augmentation</a:t>
            </a:r>
          </a:p>
          <a:p>
            <a:pPr algn="just">
              <a:lnSpc>
                <a:spcPct val="150000"/>
              </a:lnSpc>
              <a:buFont typeface="Wingdings" panose="05000000000000000000" pitchFamily="2" charset="2"/>
              <a:buChar char="q"/>
            </a:pPr>
            <a:r>
              <a:rPr lang="en-AU" dirty="0"/>
              <a:t>Early stopping</a:t>
            </a:r>
          </a:p>
          <a:p>
            <a:pPr algn="just">
              <a:lnSpc>
                <a:spcPct val="150000"/>
              </a:lnSpc>
              <a:buFont typeface="Wingdings" panose="05000000000000000000" pitchFamily="2" charset="2"/>
              <a:buChar char="q"/>
            </a:pPr>
            <a:endParaRPr lang="en-AU" dirty="0"/>
          </a:p>
        </p:txBody>
      </p:sp>
    </p:spTree>
    <p:extLst>
      <p:ext uri="{BB962C8B-B14F-4D97-AF65-F5344CB8AC3E}">
        <p14:creationId xmlns:p14="http://schemas.microsoft.com/office/powerpoint/2010/main" val="37134711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F8C98-A1FF-723B-57D6-6731B329857F}"/>
              </a:ext>
            </a:extLst>
          </p:cNvPr>
          <p:cNvSpPr>
            <a:spLocks noGrp="1"/>
          </p:cNvSpPr>
          <p:nvPr>
            <p:ph type="title"/>
          </p:nvPr>
        </p:nvSpPr>
        <p:spPr/>
        <p:txBody>
          <a:bodyPr/>
          <a:lstStyle/>
          <a:p>
            <a:r>
              <a:rPr lang="en-US" dirty="0"/>
              <a:t>L1 Regularization (Lasso Regularization):</a:t>
            </a:r>
          </a:p>
        </p:txBody>
      </p:sp>
      <p:sp>
        <p:nvSpPr>
          <p:cNvPr id="3" name="Content Placeholder 2">
            <a:extLst>
              <a:ext uri="{FF2B5EF4-FFF2-40B4-BE49-F238E27FC236}">
                <a16:creationId xmlns:a16="http://schemas.microsoft.com/office/drawing/2014/main" id="{FB06D8A4-9305-82AA-3592-DA12EAC0CFEE}"/>
              </a:ext>
            </a:extLst>
          </p:cNvPr>
          <p:cNvSpPr>
            <a:spLocks noGrp="1"/>
          </p:cNvSpPr>
          <p:nvPr>
            <p:ph idx="1"/>
          </p:nvPr>
        </p:nvSpPr>
        <p:spPr/>
        <p:txBody>
          <a:bodyPr/>
          <a:lstStyle/>
          <a:p>
            <a:pPr algn="just">
              <a:lnSpc>
                <a:spcPct val="150000"/>
              </a:lnSpc>
              <a:buFont typeface="Wingdings" panose="05000000000000000000" pitchFamily="2" charset="2"/>
              <a:buChar char="q"/>
            </a:pPr>
            <a:r>
              <a:rPr lang="en-US" dirty="0"/>
              <a:t>L1 Regularization adds a penalty proportional to the absolute values of the weights.</a:t>
            </a:r>
          </a:p>
          <a:p>
            <a:pPr algn="just">
              <a:lnSpc>
                <a:spcPct val="150000"/>
              </a:lnSpc>
              <a:buFont typeface="Wingdings" panose="05000000000000000000" pitchFamily="2" charset="2"/>
              <a:buChar char="q"/>
            </a:pPr>
            <a:r>
              <a:rPr lang="en-US" dirty="0"/>
              <a:t>This penalty encourages sparsity, setting some weights exactly to zero, which can lead to feature selection within the model.</a:t>
            </a:r>
          </a:p>
        </p:txBody>
      </p:sp>
      <p:pic>
        <p:nvPicPr>
          <p:cNvPr id="7" name="Picture 6">
            <a:extLst>
              <a:ext uri="{FF2B5EF4-FFF2-40B4-BE49-F238E27FC236}">
                <a16:creationId xmlns:a16="http://schemas.microsoft.com/office/drawing/2014/main" id="{84DB881B-93E5-6DA9-B45D-4BBEC84CA3A8}"/>
              </a:ext>
            </a:extLst>
          </p:cNvPr>
          <p:cNvPicPr>
            <a:picLocks noChangeAspect="1"/>
          </p:cNvPicPr>
          <p:nvPr/>
        </p:nvPicPr>
        <p:blipFill>
          <a:blip r:embed="rId2"/>
          <a:stretch>
            <a:fillRect/>
          </a:stretch>
        </p:blipFill>
        <p:spPr>
          <a:xfrm>
            <a:off x="6824928" y="4560570"/>
            <a:ext cx="4499610" cy="1680210"/>
          </a:xfrm>
          <a:prstGeom prst="rect">
            <a:avLst/>
          </a:prstGeom>
        </p:spPr>
      </p:pic>
      <p:pic>
        <p:nvPicPr>
          <p:cNvPr id="9" name="Picture 8">
            <a:extLst>
              <a:ext uri="{FF2B5EF4-FFF2-40B4-BE49-F238E27FC236}">
                <a16:creationId xmlns:a16="http://schemas.microsoft.com/office/drawing/2014/main" id="{36249AD0-3CFF-8A0B-8E34-3CBE5C8846E4}"/>
              </a:ext>
            </a:extLst>
          </p:cNvPr>
          <p:cNvPicPr>
            <a:picLocks noChangeAspect="1"/>
          </p:cNvPicPr>
          <p:nvPr/>
        </p:nvPicPr>
        <p:blipFill>
          <a:blip r:embed="rId3"/>
          <a:stretch>
            <a:fillRect/>
          </a:stretch>
        </p:blipFill>
        <p:spPr>
          <a:xfrm>
            <a:off x="2148841" y="3657600"/>
            <a:ext cx="2851834" cy="1245870"/>
          </a:xfrm>
          <a:prstGeom prst="rect">
            <a:avLst/>
          </a:prstGeom>
        </p:spPr>
      </p:pic>
    </p:spTree>
    <p:extLst>
      <p:ext uri="{BB962C8B-B14F-4D97-AF65-F5344CB8AC3E}">
        <p14:creationId xmlns:p14="http://schemas.microsoft.com/office/powerpoint/2010/main" val="15777950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F8C98-A1FF-723B-57D6-6731B329857F}"/>
              </a:ext>
            </a:extLst>
          </p:cNvPr>
          <p:cNvSpPr>
            <a:spLocks noGrp="1"/>
          </p:cNvSpPr>
          <p:nvPr>
            <p:ph type="title"/>
          </p:nvPr>
        </p:nvSpPr>
        <p:spPr/>
        <p:txBody>
          <a:bodyPr/>
          <a:lstStyle/>
          <a:p>
            <a:r>
              <a:rPr lang="en-US" dirty="0"/>
              <a:t>L2 Regularization (Ridge Regularization):</a:t>
            </a:r>
          </a:p>
        </p:txBody>
      </p:sp>
      <p:sp>
        <p:nvSpPr>
          <p:cNvPr id="3" name="Content Placeholder 2">
            <a:extLst>
              <a:ext uri="{FF2B5EF4-FFF2-40B4-BE49-F238E27FC236}">
                <a16:creationId xmlns:a16="http://schemas.microsoft.com/office/drawing/2014/main" id="{FB06D8A4-9305-82AA-3592-DA12EAC0CFEE}"/>
              </a:ext>
            </a:extLst>
          </p:cNvPr>
          <p:cNvSpPr>
            <a:spLocks noGrp="1"/>
          </p:cNvSpPr>
          <p:nvPr>
            <p:ph idx="1"/>
          </p:nvPr>
        </p:nvSpPr>
        <p:spPr/>
        <p:txBody>
          <a:bodyPr/>
          <a:lstStyle/>
          <a:p>
            <a:pPr algn="just">
              <a:lnSpc>
                <a:spcPct val="150000"/>
              </a:lnSpc>
              <a:buFont typeface="Wingdings" panose="05000000000000000000" pitchFamily="2" charset="2"/>
              <a:buChar char="q"/>
            </a:pPr>
            <a:r>
              <a:rPr lang="en-US" dirty="0"/>
              <a:t>L2 Regularization adds a penalty term proportional to the square of the magnitude of the weights.</a:t>
            </a:r>
          </a:p>
          <a:p>
            <a:pPr algn="just">
              <a:lnSpc>
                <a:spcPct val="150000"/>
              </a:lnSpc>
              <a:buFont typeface="Wingdings" panose="05000000000000000000" pitchFamily="2" charset="2"/>
              <a:buChar char="q"/>
            </a:pPr>
            <a:r>
              <a:rPr lang="en-US" dirty="0"/>
              <a:t>This penalty encourages the model to keep weights small and smoothens the learned function.</a:t>
            </a:r>
          </a:p>
        </p:txBody>
      </p:sp>
      <p:pic>
        <p:nvPicPr>
          <p:cNvPr id="5" name="Picture 4">
            <a:extLst>
              <a:ext uri="{FF2B5EF4-FFF2-40B4-BE49-F238E27FC236}">
                <a16:creationId xmlns:a16="http://schemas.microsoft.com/office/drawing/2014/main" id="{0A19FF73-36A5-1A21-6DC9-A21BD2777272}"/>
              </a:ext>
            </a:extLst>
          </p:cNvPr>
          <p:cNvPicPr>
            <a:picLocks noChangeAspect="1"/>
          </p:cNvPicPr>
          <p:nvPr/>
        </p:nvPicPr>
        <p:blipFill>
          <a:blip r:embed="rId2"/>
          <a:stretch>
            <a:fillRect/>
          </a:stretch>
        </p:blipFill>
        <p:spPr>
          <a:xfrm>
            <a:off x="1337310" y="3823124"/>
            <a:ext cx="3211829" cy="1446106"/>
          </a:xfrm>
          <a:prstGeom prst="rect">
            <a:avLst/>
          </a:prstGeom>
        </p:spPr>
      </p:pic>
      <p:pic>
        <p:nvPicPr>
          <p:cNvPr id="6" name="Picture 5">
            <a:extLst>
              <a:ext uri="{FF2B5EF4-FFF2-40B4-BE49-F238E27FC236}">
                <a16:creationId xmlns:a16="http://schemas.microsoft.com/office/drawing/2014/main" id="{4F2E4789-91DD-8DB7-57DD-D80525C46D39}"/>
              </a:ext>
            </a:extLst>
          </p:cNvPr>
          <p:cNvPicPr>
            <a:picLocks noChangeAspect="1"/>
          </p:cNvPicPr>
          <p:nvPr/>
        </p:nvPicPr>
        <p:blipFill>
          <a:blip r:embed="rId3"/>
          <a:stretch>
            <a:fillRect/>
          </a:stretch>
        </p:blipFill>
        <p:spPr>
          <a:xfrm>
            <a:off x="5602790" y="4027859"/>
            <a:ext cx="4499238" cy="1682642"/>
          </a:xfrm>
          <a:prstGeom prst="rect">
            <a:avLst/>
          </a:prstGeom>
        </p:spPr>
      </p:pic>
    </p:spTree>
    <p:extLst>
      <p:ext uri="{BB962C8B-B14F-4D97-AF65-F5344CB8AC3E}">
        <p14:creationId xmlns:p14="http://schemas.microsoft.com/office/powerpoint/2010/main" val="16871747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F8CA2-44C4-4C82-8265-31218312E0A4}"/>
              </a:ext>
            </a:extLst>
          </p:cNvPr>
          <p:cNvSpPr>
            <a:spLocks noGrp="1"/>
          </p:cNvSpPr>
          <p:nvPr>
            <p:ph type="title"/>
          </p:nvPr>
        </p:nvSpPr>
        <p:spPr/>
        <p:txBody>
          <a:bodyPr/>
          <a:lstStyle/>
          <a:p>
            <a:r>
              <a:rPr lang="en-AU" dirty="0"/>
              <a:t>L2&amp;L1 regularization</a:t>
            </a:r>
          </a:p>
        </p:txBody>
      </p:sp>
      <p:pic>
        <p:nvPicPr>
          <p:cNvPr id="6" name="Content Placeholder 5">
            <a:extLst>
              <a:ext uri="{FF2B5EF4-FFF2-40B4-BE49-F238E27FC236}">
                <a16:creationId xmlns:a16="http://schemas.microsoft.com/office/drawing/2014/main" id="{502B865E-EBBA-40D7-8564-0BC9E0DEF5AF}"/>
              </a:ext>
            </a:extLst>
          </p:cNvPr>
          <p:cNvPicPr>
            <a:picLocks noGrp="1" noChangeAspect="1"/>
          </p:cNvPicPr>
          <p:nvPr>
            <p:ph idx="1"/>
          </p:nvPr>
        </p:nvPicPr>
        <p:blipFill>
          <a:blip r:embed="rId2"/>
          <a:stretch>
            <a:fillRect/>
          </a:stretch>
        </p:blipFill>
        <p:spPr>
          <a:xfrm>
            <a:off x="765544" y="1846263"/>
            <a:ext cx="10390136" cy="4256825"/>
          </a:xfrm>
          <a:prstGeom prst="rect">
            <a:avLst/>
          </a:prstGeom>
        </p:spPr>
      </p:pic>
    </p:spTree>
    <p:extLst>
      <p:ext uri="{BB962C8B-B14F-4D97-AF65-F5344CB8AC3E}">
        <p14:creationId xmlns:p14="http://schemas.microsoft.com/office/powerpoint/2010/main" val="20402518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659A6-F5AF-4D5E-BEF9-158DDD06A6C7}"/>
              </a:ext>
            </a:extLst>
          </p:cNvPr>
          <p:cNvSpPr>
            <a:spLocks noGrp="1"/>
          </p:cNvSpPr>
          <p:nvPr>
            <p:ph type="title"/>
          </p:nvPr>
        </p:nvSpPr>
        <p:spPr/>
        <p:txBody>
          <a:bodyPr/>
          <a:lstStyle/>
          <a:p>
            <a:r>
              <a:rPr lang="en-AU" dirty="0"/>
              <a:t>The cross-entropy loss function for binary classification</a:t>
            </a:r>
          </a:p>
        </p:txBody>
      </p:sp>
      <p:pic>
        <p:nvPicPr>
          <p:cNvPr id="4" name="Content Placeholder 3">
            <a:extLst>
              <a:ext uri="{FF2B5EF4-FFF2-40B4-BE49-F238E27FC236}">
                <a16:creationId xmlns:a16="http://schemas.microsoft.com/office/drawing/2014/main" id="{F7660EA8-D521-4F3A-922D-082D49AB2FC5}"/>
              </a:ext>
            </a:extLst>
          </p:cNvPr>
          <p:cNvPicPr>
            <a:picLocks noGrp="1" noChangeAspect="1"/>
          </p:cNvPicPr>
          <p:nvPr>
            <p:ph idx="1"/>
          </p:nvPr>
        </p:nvPicPr>
        <p:blipFill>
          <a:blip r:embed="rId2"/>
          <a:stretch>
            <a:fillRect/>
          </a:stretch>
        </p:blipFill>
        <p:spPr>
          <a:xfrm>
            <a:off x="1449316" y="1867528"/>
            <a:ext cx="9354327" cy="4309988"/>
          </a:xfrm>
          <a:prstGeom prst="rect">
            <a:avLst/>
          </a:prstGeom>
        </p:spPr>
      </p:pic>
    </p:spTree>
    <p:extLst>
      <p:ext uri="{BB962C8B-B14F-4D97-AF65-F5344CB8AC3E}">
        <p14:creationId xmlns:p14="http://schemas.microsoft.com/office/powerpoint/2010/main" val="17138054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DB242-4C38-4302-8134-499AFAFB8840}"/>
              </a:ext>
            </a:extLst>
          </p:cNvPr>
          <p:cNvSpPr>
            <a:spLocks noGrp="1"/>
          </p:cNvSpPr>
          <p:nvPr>
            <p:ph type="title"/>
          </p:nvPr>
        </p:nvSpPr>
        <p:spPr/>
        <p:txBody>
          <a:bodyPr/>
          <a:lstStyle/>
          <a:p>
            <a:r>
              <a:rPr lang="en-AU" dirty="0"/>
              <a:t>The cross-entropy loss function for binary classification</a:t>
            </a:r>
          </a:p>
        </p:txBody>
      </p:sp>
      <p:sp>
        <p:nvSpPr>
          <p:cNvPr id="3" name="Content Placeholder 2">
            <a:extLst>
              <a:ext uri="{FF2B5EF4-FFF2-40B4-BE49-F238E27FC236}">
                <a16:creationId xmlns:a16="http://schemas.microsoft.com/office/drawing/2014/main" id="{B490213E-D593-46B5-8DC4-DCE9D7B19620}"/>
              </a:ext>
            </a:extLst>
          </p:cNvPr>
          <p:cNvSpPr>
            <a:spLocks noGrp="1"/>
          </p:cNvSpPr>
          <p:nvPr>
            <p:ph idx="1"/>
          </p:nvPr>
        </p:nvSpPr>
        <p:spPr/>
        <p:txBody>
          <a:bodyPr/>
          <a:lstStyle/>
          <a:p>
            <a:pPr algn="just">
              <a:lnSpc>
                <a:spcPct val="150000"/>
              </a:lnSpc>
              <a:buFont typeface="Wingdings" panose="05000000000000000000" pitchFamily="2" charset="2"/>
              <a:buChar char="q"/>
            </a:pPr>
            <a:r>
              <a:rPr lang="en-AU" dirty="0"/>
              <a:t>The cross-entropy loss function for binary classification is given by:</a:t>
            </a:r>
          </a:p>
        </p:txBody>
      </p:sp>
      <p:pic>
        <p:nvPicPr>
          <p:cNvPr id="4" name="Picture 3">
            <a:extLst>
              <a:ext uri="{FF2B5EF4-FFF2-40B4-BE49-F238E27FC236}">
                <a16:creationId xmlns:a16="http://schemas.microsoft.com/office/drawing/2014/main" id="{0A787408-78A4-4813-B758-0863CE4ED8AC}"/>
              </a:ext>
            </a:extLst>
          </p:cNvPr>
          <p:cNvPicPr>
            <a:picLocks noChangeAspect="1"/>
          </p:cNvPicPr>
          <p:nvPr/>
        </p:nvPicPr>
        <p:blipFill>
          <a:blip r:embed="rId2"/>
          <a:stretch>
            <a:fillRect/>
          </a:stretch>
        </p:blipFill>
        <p:spPr>
          <a:xfrm>
            <a:off x="2957512" y="2741538"/>
            <a:ext cx="6276975" cy="2714625"/>
          </a:xfrm>
          <a:prstGeom prst="rect">
            <a:avLst/>
          </a:prstGeom>
        </p:spPr>
      </p:pic>
    </p:spTree>
    <p:extLst>
      <p:ext uri="{BB962C8B-B14F-4D97-AF65-F5344CB8AC3E}">
        <p14:creationId xmlns:p14="http://schemas.microsoft.com/office/powerpoint/2010/main" val="40806884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2F967DD-56DC-4BC1-9F1A-4EAFEFA8E5DE}"/>
              </a:ext>
            </a:extLst>
          </p:cNvPr>
          <p:cNvPicPr>
            <a:picLocks noChangeAspect="1"/>
          </p:cNvPicPr>
          <p:nvPr/>
        </p:nvPicPr>
        <p:blipFill>
          <a:blip r:embed="rId2"/>
          <a:stretch>
            <a:fillRect/>
          </a:stretch>
        </p:blipFill>
        <p:spPr>
          <a:xfrm>
            <a:off x="562639" y="376016"/>
            <a:ext cx="5410200" cy="4638675"/>
          </a:xfrm>
          <a:prstGeom prst="rect">
            <a:avLst/>
          </a:prstGeom>
        </p:spPr>
      </p:pic>
      <p:pic>
        <p:nvPicPr>
          <p:cNvPr id="5" name="Picture 4">
            <a:extLst>
              <a:ext uri="{FF2B5EF4-FFF2-40B4-BE49-F238E27FC236}">
                <a16:creationId xmlns:a16="http://schemas.microsoft.com/office/drawing/2014/main" id="{F7F991DA-198E-4FB5-A165-4B422210515A}"/>
              </a:ext>
            </a:extLst>
          </p:cNvPr>
          <p:cNvPicPr>
            <a:picLocks noChangeAspect="1"/>
          </p:cNvPicPr>
          <p:nvPr/>
        </p:nvPicPr>
        <p:blipFill>
          <a:blip r:embed="rId3"/>
          <a:stretch>
            <a:fillRect/>
          </a:stretch>
        </p:blipFill>
        <p:spPr>
          <a:xfrm>
            <a:off x="5252869" y="1566862"/>
            <a:ext cx="6145951" cy="3114675"/>
          </a:xfrm>
          <a:prstGeom prst="rect">
            <a:avLst/>
          </a:prstGeom>
        </p:spPr>
      </p:pic>
      <p:pic>
        <p:nvPicPr>
          <p:cNvPr id="6" name="Picture 5">
            <a:extLst>
              <a:ext uri="{FF2B5EF4-FFF2-40B4-BE49-F238E27FC236}">
                <a16:creationId xmlns:a16="http://schemas.microsoft.com/office/drawing/2014/main" id="{711C5B18-4395-46FF-8227-1A7C34962EDF}"/>
              </a:ext>
            </a:extLst>
          </p:cNvPr>
          <p:cNvPicPr>
            <a:picLocks noChangeAspect="1"/>
          </p:cNvPicPr>
          <p:nvPr/>
        </p:nvPicPr>
        <p:blipFill>
          <a:blip r:embed="rId4"/>
          <a:stretch>
            <a:fillRect/>
          </a:stretch>
        </p:blipFill>
        <p:spPr>
          <a:xfrm>
            <a:off x="5487506" y="633634"/>
            <a:ext cx="5676679" cy="752475"/>
          </a:xfrm>
          <a:prstGeom prst="rect">
            <a:avLst/>
          </a:prstGeom>
        </p:spPr>
      </p:pic>
      <p:sp>
        <p:nvSpPr>
          <p:cNvPr id="7" name="Rectangle 6">
            <a:extLst>
              <a:ext uri="{FF2B5EF4-FFF2-40B4-BE49-F238E27FC236}">
                <a16:creationId xmlns:a16="http://schemas.microsoft.com/office/drawing/2014/main" id="{1D25171F-0580-427A-A3F0-60F5DAAEC2B1}"/>
              </a:ext>
            </a:extLst>
          </p:cNvPr>
          <p:cNvSpPr/>
          <p:nvPr/>
        </p:nvSpPr>
        <p:spPr>
          <a:xfrm>
            <a:off x="857692" y="5024037"/>
            <a:ext cx="10646735" cy="1200329"/>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rgbClr val="000000"/>
                </a:solidFill>
                <a:effectLst/>
                <a:uLnTx/>
                <a:uFillTx/>
                <a:latin typeface="Calibri" panose="020F0502020204030204"/>
                <a:ea typeface="+mn-ea"/>
                <a:cs typeface="+mn-cs"/>
              </a:rPr>
              <a:t>So, in this example, the cost function (cross-entropy loss) is 0, indicating that the predicted probabilities match the true labels perfectly. In practice, the goal of training the neural network would be to minimize this cost function through techniques like gradient descent.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04728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9C0FC-B179-484F-961B-63BB16EFBD50}"/>
              </a:ext>
            </a:extLst>
          </p:cNvPr>
          <p:cNvSpPr>
            <a:spLocks noGrp="1"/>
          </p:cNvSpPr>
          <p:nvPr>
            <p:ph type="title"/>
          </p:nvPr>
        </p:nvSpPr>
        <p:spPr/>
        <p:txBody>
          <a:bodyPr/>
          <a:lstStyle/>
          <a:p>
            <a:r>
              <a:rPr lang="en-AU" dirty="0"/>
              <a:t>Categorical </a:t>
            </a:r>
            <a:r>
              <a:rPr lang="en-AU" dirty="0" err="1"/>
              <a:t>crossentropy</a:t>
            </a:r>
            <a:r>
              <a:rPr lang="en-AU" dirty="0"/>
              <a:t> loss function</a:t>
            </a:r>
          </a:p>
        </p:txBody>
      </p:sp>
      <p:pic>
        <p:nvPicPr>
          <p:cNvPr id="4" name="Content Placeholder 3">
            <a:extLst>
              <a:ext uri="{FF2B5EF4-FFF2-40B4-BE49-F238E27FC236}">
                <a16:creationId xmlns:a16="http://schemas.microsoft.com/office/drawing/2014/main" id="{6540E513-EBED-4973-B2CA-FDC0916501C0}"/>
              </a:ext>
            </a:extLst>
          </p:cNvPr>
          <p:cNvPicPr>
            <a:picLocks noGrp="1" noChangeAspect="1"/>
          </p:cNvPicPr>
          <p:nvPr>
            <p:ph idx="1"/>
          </p:nvPr>
        </p:nvPicPr>
        <p:blipFill>
          <a:blip r:embed="rId2"/>
          <a:stretch>
            <a:fillRect/>
          </a:stretch>
        </p:blipFill>
        <p:spPr>
          <a:xfrm>
            <a:off x="2173605" y="2728248"/>
            <a:ext cx="7905750" cy="3343275"/>
          </a:xfrm>
          <a:prstGeom prst="rect">
            <a:avLst/>
          </a:prstGeom>
        </p:spPr>
      </p:pic>
      <p:sp>
        <p:nvSpPr>
          <p:cNvPr id="5" name="Rectangle 4">
            <a:extLst>
              <a:ext uri="{FF2B5EF4-FFF2-40B4-BE49-F238E27FC236}">
                <a16:creationId xmlns:a16="http://schemas.microsoft.com/office/drawing/2014/main" id="{B7BD2D9E-918D-4EA9-A4E8-490EA7CC5233}"/>
              </a:ext>
            </a:extLst>
          </p:cNvPr>
          <p:cNvSpPr/>
          <p:nvPr/>
        </p:nvSpPr>
        <p:spPr>
          <a:xfrm>
            <a:off x="542260" y="1909638"/>
            <a:ext cx="10962168" cy="76944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200" b="1" i="1" u="none" strike="noStrike" kern="1200" cap="none" spc="0" normalizeH="0" baseline="0" noProof="0" dirty="0">
                <a:ln>
                  <a:noFill/>
                </a:ln>
                <a:solidFill>
                  <a:srgbClr val="FF0000"/>
                </a:solidFill>
                <a:effectLst/>
                <a:uLnTx/>
                <a:uFillTx/>
                <a:latin typeface="Calibri" panose="020F0502020204030204"/>
                <a:ea typeface="+mn-ea"/>
                <a:cs typeface="+mn-cs"/>
              </a:rPr>
              <a:t>With multi-class classification problems like the Iris dataset the categorical </a:t>
            </a:r>
            <a:r>
              <a:rPr kumimoji="0" lang="en-AU" sz="2200" b="1" i="1" u="none" strike="noStrike" kern="1200" cap="none" spc="0" normalizeH="0" baseline="0" noProof="0" dirty="0" err="1">
                <a:ln>
                  <a:noFill/>
                </a:ln>
                <a:solidFill>
                  <a:srgbClr val="FF0000"/>
                </a:solidFill>
                <a:effectLst/>
                <a:uLnTx/>
                <a:uFillTx/>
                <a:latin typeface="Calibri" panose="020F0502020204030204"/>
                <a:ea typeface="+mn-ea"/>
                <a:cs typeface="+mn-cs"/>
              </a:rPr>
              <a:t>crossentropy</a:t>
            </a:r>
            <a:r>
              <a:rPr kumimoji="0" lang="en-AU" sz="2200" b="1" i="1" u="none" strike="noStrike" kern="1200" cap="none" spc="0" normalizeH="0" baseline="0" noProof="0" dirty="0">
                <a:ln>
                  <a:noFill/>
                </a:ln>
                <a:solidFill>
                  <a:srgbClr val="FF0000"/>
                </a:solidFill>
                <a:effectLst/>
                <a:uLnTx/>
                <a:uFillTx/>
                <a:latin typeface="Calibri" panose="020F0502020204030204"/>
                <a:ea typeface="+mn-ea"/>
                <a:cs typeface="+mn-cs"/>
              </a:rPr>
              <a:t> loss function is used</a:t>
            </a:r>
          </a:p>
        </p:txBody>
      </p:sp>
    </p:spTree>
    <p:extLst>
      <p:ext uri="{BB962C8B-B14F-4D97-AF65-F5344CB8AC3E}">
        <p14:creationId xmlns:p14="http://schemas.microsoft.com/office/powerpoint/2010/main" val="2994422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F8CA2-44C4-4C82-8265-31218312E0A4}"/>
              </a:ext>
            </a:extLst>
          </p:cNvPr>
          <p:cNvSpPr>
            <a:spLocks noGrp="1"/>
          </p:cNvSpPr>
          <p:nvPr>
            <p:ph type="title"/>
          </p:nvPr>
        </p:nvSpPr>
        <p:spPr/>
        <p:txBody>
          <a:bodyPr/>
          <a:lstStyle/>
          <a:p>
            <a:r>
              <a:rPr lang="en-AU" dirty="0"/>
              <a:t>Dropout</a:t>
            </a:r>
          </a:p>
        </p:txBody>
      </p:sp>
      <p:pic>
        <p:nvPicPr>
          <p:cNvPr id="4" name="Content Placeholder 3">
            <a:extLst>
              <a:ext uri="{FF2B5EF4-FFF2-40B4-BE49-F238E27FC236}">
                <a16:creationId xmlns:a16="http://schemas.microsoft.com/office/drawing/2014/main" id="{66FE5976-0B0D-4DD5-95B8-0035A88A8287}"/>
              </a:ext>
            </a:extLst>
          </p:cNvPr>
          <p:cNvPicPr>
            <a:picLocks noGrp="1" noChangeAspect="1"/>
          </p:cNvPicPr>
          <p:nvPr>
            <p:ph idx="1"/>
          </p:nvPr>
        </p:nvPicPr>
        <p:blipFill>
          <a:blip r:embed="rId2"/>
          <a:stretch>
            <a:fillRect/>
          </a:stretch>
        </p:blipFill>
        <p:spPr>
          <a:xfrm>
            <a:off x="2230438" y="2066925"/>
            <a:ext cx="7791450" cy="3581400"/>
          </a:xfrm>
          <a:prstGeom prst="rect">
            <a:avLst/>
          </a:prstGeom>
        </p:spPr>
      </p:pic>
      <p:sp>
        <p:nvSpPr>
          <p:cNvPr id="5" name="Rectangle 4">
            <a:extLst>
              <a:ext uri="{FF2B5EF4-FFF2-40B4-BE49-F238E27FC236}">
                <a16:creationId xmlns:a16="http://schemas.microsoft.com/office/drawing/2014/main" id="{39CF70FB-C7BF-4B6F-9113-C77A5149385C}"/>
              </a:ext>
            </a:extLst>
          </p:cNvPr>
          <p:cNvSpPr/>
          <p:nvPr/>
        </p:nvSpPr>
        <p:spPr>
          <a:xfrm>
            <a:off x="1097279" y="5561956"/>
            <a:ext cx="10058399" cy="646331"/>
          </a:xfrm>
          <a:prstGeom prst="rect">
            <a:avLst/>
          </a:prstGeom>
        </p:spPr>
        <p:txBody>
          <a:bodyPr wrap="square">
            <a:spAutoFit/>
          </a:bodyPr>
          <a:lstStyle/>
          <a:p>
            <a:r>
              <a:rPr lang="en-AU" dirty="0"/>
              <a:t>This probability of choosing how many nodes should be dropped is the hyperparameter of the dropout function. </a:t>
            </a:r>
          </a:p>
        </p:txBody>
      </p:sp>
    </p:spTree>
    <p:extLst>
      <p:ext uri="{BB962C8B-B14F-4D97-AF65-F5344CB8AC3E}">
        <p14:creationId xmlns:p14="http://schemas.microsoft.com/office/powerpoint/2010/main" val="40033483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9487C-D1E9-D7A8-7D65-4EE514D97B9C}"/>
              </a:ext>
            </a:extLst>
          </p:cNvPr>
          <p:cNvSpPr>
            <a:spLocks noGrp="1"/>
          </p:cNvSpPr>
          <p:nvPr>
            <p:ph type="title"/>
          </p:nvPr>
        </p:nvSpPr>
        <p:spPr/>
        <p:txBody>
          <a:bodyPr/>
          <a:lstStyle/>
          <a:p>
            <a:r>
              <a:rPr lang="en-US" dirty="0"/>
              <a:t>Dropout</a:t>
            </a:r>
          </a:p>
        </p:txBody>
      </p:sp>
      <p:pic>
        <p:nvPicPr>
          <p:cNvPr id="5" name="Content Placeholder 4">
            <a:extLst>
              <a:ext uri="{FF2B5EF4-FFF2-40B4-BE49-F238E27FC236}">
                <a16:creationId xmlns:a16="http://schemas.microsoft.com/office/drawing/2014/main" id="{6D12F0ED-5F0F-7932-ED78-AD356894D7DD}"/>
              </a:ext>
            </a:extLst>
          </p:cNvPr>
          <p:cNvPicPr>
            <a:picLocks noGrp="1" noChangeAspect="1"/>
          </p:cNvPicPr>
          <p:nvPr>
            <p:ph idx="1"/>
          </p:nvPr>
        </p:nvPicPr>
        <p:blipFill>
          <a:blip r:embed="rId2"/>
          <a:stretch>
            <a:fillRect/>
          </a:stretch>
        </p:blipFill>
        <p:spPr>
          <a:xfrm>
            <a:off x="994411" y="1931671"/>
            <a:ext cx="9669780" cy="2800350"/>
          </a:xfrm>
        </p:spPr>
      </p:pic>
      <p:pic>
        <p:nvPicPr>
          <p:cNvPr id="6" name="Content Placeholder 4">
            <a:extLst>
              <a:ext uri="{FF2B5EF4-FFF2-40B4-BE49-F238E27FC236}">
                <a16:creationId xmlns:a16="http://schemas.microsoft.com/office/drawing/2014/main" id="{AA0EC6F5-0CF2-85BE-DC76-30BD313A33BD}"/>
              </a:ext>
            </a:extLst>
          </p:cNvPr>
          <p:cNvPicPr>
            <a:picLocks noChangeAspect="1"/>
          </p:cNvPicPr>
          <p:nvPr/>
        </p:nvPicPr>
        <p:blipFill>
          <a:blip r:embed="rId3"/>
          <a:stretch>
            <a:fillRect/>
          </a:stretch>
        </p:blipFill>
        <p:spPr>
          <a:xfrm>
            <a:off x="994411" y="4537711"/>
            <a:ext cx="9841229" cy="1606633"/>
          </a:xfrm>
          <a:prstGeom prst="rect">
            <a:avLst/>
          </a:prstGeom>
        </p:spPr>
      </p:pic>
    </p:spTree>
    <p:extLst>
      <p:ext uri="{BB962C8B-B14F-4D97-AF65-F5344CB8AC3E}">
        <p14:creationId xmlns:p14="http://schemas.microsoft.com/office/powerpoint/2010/main" val="19456977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B4E7D-BE3A-697C-5F31-9BCF87FA2146}"/>
              </a:ext>
            </a:extLst>
          </p:cNvPr>
          <p:cNvSpPr>
            <a:spLocks noGrp="1"/>
          </p:cNvSpPr>
          <p:nvPr>
            <p:ph type="title"/>
          </p:nvPr>
        </p:nvSpPr>
        <p:spPr/>
        <p:txBody>
          <a:bodyPr/>
          <a:lstStyle/>
          <a:p>
            <a:r>
              <a:rPr lang="en-US" dirty="0"/>
              <a:t>Dropout in a Nutshell: Dropping Nodes</a:t>
            </a:r>
          </a:p>
        </p:txBody>
      </p:sp>
      <p:pic>
        <p:nvPicPr>
          <p:cNvPr id="5" name="Content Placeholder 4">
            <a:extLst>
              <a:ext uri="{FF2B5EF4-FFF2-40B4-BE49-F238E27FC236}">
                <a16:creationId xmlns:a16="http://schemas.microsoft.com/office/drawing/2014/main" id="{42F61D8E-6ABA-142A-DDDA-848B2D4BC85C}"/>
              </a:ext>
            </a:extLst>
          </p:cNvPr>
          <p:cNvPicPr>
            <a:picLocks noGrp="1" noChangeAspect="1"/>
          </p:cNvPicPr>
          <p:nvPr>
            <p:ph idx="1"/>
          </p:nvPr>
        </p:nvPicPr>
        <p:blipFill>
          <a:blip r:embed="rId2"/>
          <a:stretch>
            <a:fillRect/>
          </a:stretch>
        </p:blipFill>
        <p:spPr>
          <a:xfrm>
            <a:off x="1543050" y="2206540"/>
            <a:ext cx="8961120" cy="3302170"/>
          </a:xfrm>
        </p:spPr>
      </p:pic>
    </p:spTree>
    <p:extLst>
      <p:ext uri="{BB962C8B-B14F-4D97-AF65-F5344CB8AC3E}">
        <p14:creationId xmlns:p14="http://schemas.microsoft.com/office/powerpoint/2010/main" val="24793021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3E2194B-1EEC-0966-E479-E959C91413CC}"/>
              </a:ext>
            </a:extLst>
          </p:cNvPr>
          <p:cNvPicPr>
            <a:picLocks noGrp="1" noChangeAspect="1"/>
          </p:cNvPicPr>
          <p:nvPr>
            <p:ph idx="1"/>
          </p:nvPr>
        </p:nvPicPr>
        <p:blipFill>
          <a:blip r:embed="rId2"/>
          <a:stretch>
            <a:fillRect/>
          </a:stretch>
        </p:blipFill>
        <p:spPr>
          <a:xfrm>
            <a:off x="331470" y="457201"/>
            <a:ext cx="11372850" cy="5411788"/>
          </a:xfrm>
        </p:spPr>
      </p:pic>
    </p:spTree>
    <p:extLst>
      <p:ext uri="{BB962C8B-B14F-4D97-AF65-F5344CB8AC3E}">
        <p14:creationId xmlns:p14="http://schemas.microsoft.com/office/powerpoint/2010/main" val="32231945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F8CA2-44C4-4C82-8265-31218312E0A4}"/>
              </a:ext>
            </a:extLst>
          </p:cNvPr>
          <p:cNvSpPr>
            <a:spLocks noGrp="1"/>
          </p:cNvSpPr>
          <p:nvPr>
            <p:ph type="title"/>
          </p:nvPr>
        </p:nvSpPr>
        <p:spPr/>
        <p:txBody>
          <a:bodyPr/>
          <a:lstStyle/>
          <a:p>
            <a:r>
              <a:rPr lang="en-AU" b="1" dirty="0"/>
              <a:t>Early stopping</a:t>
            </a:r>
            <a:endParaRPr lang="en-AU" dirty="0"/>
          </a:p>
        </p:txBody>
      </p:sp>
      <p:pic>
        <p:nvPicPr>
          <p:cNvPr id="4" name="Content Placeholder 3">
            <a:extLst>
              <a:ext uri="{FF2B5EF4-FFF2-40B4-BE49-F238E27FC236}">
                <a16:creationId xmlns:a16="http://schemas.microsoft.com/office/drawing/2014/main" id="{FFCA87BB-78AD-4A9B-8CC2-27ED45F4C5AA}"/>
              </a:ext>
            </a:extLst>
          </p:cNvPr>
          <p:cNvPicPr>
            <a:picLocks noGrp="1" noChangeAspect="1"/>
          </p:cNvPicPr>
          <p:nvPr>
            <p:ph idx="1"/>
          </p:nvPr>
        </p:nvPicPr>
        <p:blipFill>
          <a:blip r:embed="rId2"/>
          <a:stretch>
            <a:fillRect/>
          </a:stretch>
        </p:blipFill>
        <p:spPr>
          <a:xfrm>
            <a:off x="7060018" y="2113220"/>
            <a:ext cx="4625164" cy="3458239"/>
          </a:xfrm>
          <a:prstGeom prst="rect">
            <a:avLst/>
          </a:prstGeom>
        </p:spPr>
      </p:pic>
      <p:pic>
        <p:nvPicPr>
          <p:cNvPr id="5" name="Picture 4">
            <a:extLst>
              <a:ext uri="{FF2B5EF4-FFF2-40B4-BE49-F238E27FC236}">
                <a16:creationId xmlns:a16="http://schemas.microsoft.com/office/drawing/2014/main" id="{D148D2F1-C3E4-47C8-9B76-BD741227CB49}"/>
              </a:ext>
            </a:extLst>
          </p:cNvPr>
          <p:cNvPicPr>
            <a:picLocks noChangeAspect="1"/>
          </p:cNvPicPr>
          <p:nvPr/>
        </p:nvPicPr>
        <p:blipFill>
          <a:blip r:embed="rId3"/>
          <a:stretch>
            <a:fillRect/>
          </a:stretch>
        </p:blipFill>
        <p:spPr>
          <a:xfrm>
            <a:off x="506818" y="4866609"/>
            <a:ext cx="6553200" cy="1409700"/>
          </a:xfrm>
          <a:prstGeom prst="rect">
            <a:avLst/>
          </a:prstGeom>
        </p:spPr>
      </p:pic>
      <p:sp>
        <p:nvSpPr>
          <p:cNvPr id="3" name="Rectangle 2">
            <a:extLst>
              <a:ext uri="{FF2B5EF4-FFF2-40B4-BE49-F238E27FC236}">
                <a16:creationId xmlns:a16="http://schemas.microsoft.com/office/drawing/2014/main" id="{87AF916B-792E-4ED4-9D61-41D3E5D511A8}"/>
              </a:ext>
            </a:extLst>
          </p:cNvPr>
          <p:cNvSpPr/>
          <p:nvPr/>
        </p:nvSpPr>
        <p:spPr>
          <a:xfrm>
            <a:off x="1460404" y="2319302"/>
            <a:ext cx="5404043" cy="369332"/>
          </a:xfrm>
          <a:prstGeom prst="rect">
            <a:avLst/>
          </a:prstGeom>
        </p:spPr>
        <p:txBody>
          <a:bodyPr wrap="none">
            <a:spAutoFit/>
          </a:bodyPr>
          <a:lstStyle/>
          <a:p>
            <a:r>
              <a:rPr lang="en-AU" b="1" dirty="0">
                <a:latin typeface="Helvetica-Bold"/>
              </a:rPr>
              <a:t>Learning too much iterations causes overfitting</a:t>
            </a:r>
            <a:endParaRPr lang="en-AU" dirty="0"/>
          </a:p>
        </p:txBody>
      </p:sp>
    </p:spTree>
    <p:extLst>
      <p:ext uri="{BB962C8B-B14F-4D97-AF65-F5344CB8AC3E}">
        <p14:creationId xmlns:p14="http://schemas.microsoft.com/office/powerpoint/2010/main" val="8499365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36A86-E2AA-482B-B9CE-3FE84C9FEA37}"/>
              </a:ext>
            </a:extLst>
          </p:cNvPr>
          <p:cNvSpPr>
            <a:spLocks noGrp="1"/>
          </p:cNvSpPr>
          <p:nvPr>
            <p:ph type="title"/>
          </p:nvPr>
        </p:nvSpPr>
        <p:spPr>
          <a:xfrm>
            <a:off x="822960" y="3132673"/>
            <a:ext cx="10058400" cy="1450757"/>
          </a:xfrm>
        </p:spPr>
        <p:txBody>
          <a:bodyPr/>
          <a:lstStyle/>
          <a:p>
            <a:pPr algn="ctr"/>
            <a:r>
              <a:rPr lang="en-AU" b="1" dirty="0">
                <a:solidFill>
                  <a:srgbClr val="FF0000"/>
                </a:solidFill>
              </a:rPr>
              <a:t>Thank you</a:t>
            </a:r>
          </a:p>
        </p:txBody>
      </p:sp>
    </p:spTree>
    <p:extLst>
      <p:ext uri="{BB962C8B-B14F-4D97-AF65-F5344CB8AC3E}">
        <p14:creationId xmlns:p14="http://schemas.microsoft.com/office/powerpoint/2010/main" val="393133235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2404AA7CE61574D920E4F05608BCF21" ma:contentTypeVersion="7" ma:contentTypeDescription="Create a new document." ma:contentTypeScope="" ma:versionID="43c16cf97af731b0ca8669de6ba2704b">
  <xsd:schema xmlns:xsd="http://www.w3.org/2001/XMLSchema" xmlns:xs="http://www.w3.org/2001/XMLSchema" xmlns:p="http://schemas.microsoft.com/office/2006/metadata/properties" xmlns:ns2="223246fb-a3d1-4822-b05c-565eadb8f421" targetNamespace="http://schemas.microsoft.com/office/2006/metadata/properties" ma:root="true" ma:fieldsID="cda18318dd0983a5cea4ca2c40c50afa" ns2:_="">
    <xsd:import namespace="223246fb-a3d1-4822-b05c-565eadb8f42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23246fb-a3d1-4822-b05c-565eadb8f42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8C70B4C-0750-43F7-8BC8-86D20D202543}">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B439D4C-9EAC-466E-9546-3C7720C76CE8}">
  <ds:schemaRefs>
    <ds:schemaRef ds:uri="http://schemas.microsoft.com/sharepoint/v3/contenttype/forms"/>
  </ds:schemaRefs>
</ds:datastoreItem>
</file>

<file path=customXml/itemProps3.xml><?xml version="1.0" encoding="utf-8"?>
<ds:datastoreItem xmlns:ds="http://schemas.openxmlformats.org/officeDocument/2006/customXml" ds:itemID="{1784A904-A778-450D-B994-E6B59E79A3B5}"/>
</file>

<file path=docProps/app.xml><?xml version="1.0" encoding="utf-8"?>
<Properties xmlns="http://schemas.openxmlformats.org/officeDocument/2006/extended-properties" xmlns:vt="http://schemas.openxmlformats.org/officeDocument/2006/docPropsVTypes">
  <Template>Retrospect</Template>
  <TotalTime>706</TotalTime>
  <Words>1094</Words>
  <Application>Microsoft Office PowerPoint</Application>
  <PresentationFormat>Widescreen</PresentationFormat>
  <Paragraphs>108</Paragraphs>
  <Slides>33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Aptos</vt:lpstr>
      <vt:lpstr>Arial</vt:lpstr>
      <vt:lpstr>Calibri</vt:lpstr>
      <vt:lpstr>Calibri Light</vt:lpstr>
      <vt:lpstr>Helvetica-Bold</vt:lpstr>
      <vt:lpstr>Wingdings</vt:lpstr>
      <vt:lpstr>Retrospect</vt:lpstr>
      <vt:lpstr>Week 7: Regularization</vt:lpstr>
      <vt:lpstr>Regularization</vt:lpstr>
      <vt:lpstr>Bias variance trade off</vt:lpstr>
      <vt:lpstr>Bias-Variance Trade-off</vt:lpstr>
      <vt:lpstr>Bias-Variance Trade-off</vt:lpstr>
      <vt:lpstr>Bias-Variance Trade-off</vt:lpstr>
      <vt:lpstr>Bias-Variance Tradeoff</vt:lpstr>
      <vt:lpstr>PowerPoint Presentation</vt:lpstr>
      <vt:lpstr>PowerPoint Presentation</vt:lpstr>
      <vt:lpstr>Weights for features</vt:lpstr>
      <vt:lpstr>Why Some Features Have Larger Weights than Others</vt:lpstr>
      <vt:lpstr>Goal: Reduce Overfitting</vt:lpstr>
      <vt:lpstr>Norm</vt:lpstr>
      <vt:lpstr>Regularization</vt:lpstr>
      <vt:lpstr>How the Penalty Works in the Loss Function</vt:lpstr>
      <vt:lpstr>Regularization / Regularizing Effects</vt:lpstr>
      <vt:lpstr>Why regularization?</vt:lpstr>
      <vt:lpstr>Norm</vt:lpstr>
      <vt:lpstr>Different Regularization Techniques in Deep Learning</vt:lpstr>
      <vt:lpstr>Different Regularization Techniques in Deep Learning (practice in class)</vt:lpstr>
      <vt:lpstr>L1 Regularization (Lasso Regularization):</vt:lpstr>
      <vt:lpstr>L2 Regularization (Ridge Regularization):</vt:lpstr>
      <vt:lpstr>L2&amp;L1 regularization</vt:lpstr>
      <vt:lpstr>The cross-entropy loss function for binary classification</vt:lpstr>
      <vt:lpstr>The cross-entropy loss function for binary classification</vt:lpstr>
      <vt:lpstr>PowerPoint Presentation</vt:lpstr>
      <vt:lpstr>Categorical crossentropy loss function</vt:lpstr>
      <vt:lpstr>Dropout</vt:lpstr>
      <vt:lpstr>Dropout</vt:lpstr>
      <vt:lpstr>Dropout in a Nutshell: Dropping Nodes</vt:lpstr>
      <vt:lpstr>PowerPoint Presentation</vt:lpstr>
      <vt:lpstr>Early stopping</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7: Regularization for Deep Learning</dc:title>
  <dc:creator>Supriya Supriya</dc:creator>
  <cp:lastModifiedBy>Nandini Sidnal</cp:lastModifiedBy>
  <cp:revision>71</cp:revision>
  <dcterms:created xsi:type="dcterms:W3CDTF">2024-04-03T04:46:21Z</dcterms:created>
  <dcterms:modified xsi:type="dcterms:W3CDTF">2026-04-07T13:54:35Z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0x010100F2404AA7CE61574D920E4F05608BCF21</vt:lpwstr>
  </property>
</Properties>
</file>