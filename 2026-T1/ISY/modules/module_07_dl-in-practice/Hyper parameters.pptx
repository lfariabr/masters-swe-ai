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diagrams/data3.xml" ContentType="application/vnd.openxmlformats-officedocument.drawingml.diagramData+xml"/>
  <Override PartName="/ppt/diagrams/data4.xml" ContentType="application/vnd.openxmlformats-officedocument.drawingml.diagramData+xml"/>
  <Override PartName="/ppt/diagrams/data1.xml" ContentType="application/vnd.openxmlformats-officedocument.drawingml.diagramData+xml"/>
  <Override PartName="/ppt/diagrams/data5.xml" ContentType="application/vnd.openxmlformats-officedocument.drawingml.diagramData+xml"/>
  <Override PartName="/ppt/diagrams/data2.xml" ContentType="application/vnd.openxmlformats-officedocument.drawingml.diagramData+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diagrams/quickStyle4.xml" ContentType="application/vnd.openxmlformats-officedocument.drawingml.diagramStyle+xml"/>
  <Override PartName="/ppt/theme/theme1.xml" ContentType="application/vnd.openxmlformats-officedocument.theme+xml"/>
  <Override PartName="/ppt/diagrams/layout5.xml" ContentType="application/vnd.openxmlformats-officedocument.drawingml.diagramLayout+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1.xml" ContentType="application/inkml+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colors4.xml" ContentType="application/vnd.openxmlformats-officedocument.drawingml.diagramColors+xml"/>
  <Override PartName="/ppt/diagrams/drawing4.xml" ContentType="application/vnd.ms-office.drawingml.diagramDrawing+xml"/>
  <Override PartName="/ppt/diagrams/layout4.xml" ContentType="application/vnd.openxmlformats-officedocument.drawingml.diagram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1713" r:id="rId3"/>
    <p:sldId id="1715" r:id="rId4"/>
    <p:sldId id="2083" r:id="rId5"/>
    <p:sldId id="1716" r:id="rId6"/>
    <p:sldId id="1717" r:id="rId7"/>
    <p:sldId id="1718" r:id="rId8"/>
    <p:sldId id="278" r:id="rId9"/>
    <p:sldId id="1719" r:id="rId10"/>
    <p:sldId id="1720" r:id="rId11"/>
    <p:sldId id="257" r:id="rId12"/>
    <p:sldId id="258" r:id="rId13"/>
    <p:sldId id="259" r:id="rId14"/>
    <p:sldId id="260" r:id="rId15"/>
    <p:sldId id="261" r:id="rId16"/>
    <p:sldId id="262" r:id="rId17"/>
    <p:sldId id="263" r:id="rId18"/>
    <p:sldId id="264" r:id="rId19"/>
    <p:sldId id="265" r:id="rId20"/>
    <p:sldId id="267" r:id="rId21"/>
    <p:sldId id="268" r:id="rId22"/>
    <p:sldId id="26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44D31A-32BA-470C-84E5-AE0F6B72F28C}" v="5" dt="2026-04-07T13:24:40.1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656" autoAdjust="0"/>
  </p:normalViewPr>
  <p:slideViewPr>
    <p:cSldViewPr snapToGrid="0">
      <p:cViewPr varScale="1">
        <p:scale>
          <a:sx n="84" d="100"/>
          <a:sy n="84" d="100"/>
        </p:scale>
        <p:origin x="62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E4562A-60E5-43B9-9F44-0AD7EA6960C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DFB544F-6940-41F1-A9DD-81208D573841}">
      <dgm:prSet/>
      <dgm:spPr/>
      <dgm:t>
        <a:bodyPr/>
        <a:lstStyle/>
        <a:p>
          <a:r>
            <a:rPr lang="en-US" dirty="0"/>
            <a:t>Gradient Descent is an optimization algorithm used to minimize a function by adjusting its parameters.</a:t>
          </a:r>
        </a:p>
      </dgm:t>
    </dgm:pt>
    <dgm:pt modelId="{D05F61C7-4BE6-4E87-A70E-27CEA3F9944C}" type="parTrans" cxnId="{F2B6CCA7-B8DC-44E9-847D-124B0E3FB85E}">
      <dgm:prSet/>
      <dgm:spPr/>
      <dgm:t>
        <a:bodyPr/>
        <a:lstStyle/>
        <a:p>
          <a:endParaRPr lang="en-US"/>
        </a:p>
      </dgm:t>
    </dgm:pt>
    <dgm:pt modelId="{3F27FD58-0495-40E8-99AE-E50DB030F279}" type="sibTrans" cxnId="{F2B6CCA7-B8DC-44E9-847D-124B0E3FB85E}">
      <dgm:prSet/>
      <dgm:spPr/>
      <dgm:t>
        <a:bodyPr/>
        <a:lstStyle/>
        <a:p>
          <a:endParaRPr lang="en-US"/>
        </a:p>
      </dgm:t>
    </dgm:pt>
    <dgm:pt modelId="{E79C4495-0510-44CF-A338-F50624A566F0}">
      <dgm:prSet/>
      <dgm:spPr/>
      <dgm:t>
        <a:bodyPr/>
        <a:lstStyle/>
        <a:p>
          <a:r>
            <a:rPr lang="en-US"/>
            <a:t>Commonly used in machine learning for optimizing cost functions.</a:t>
          </a:r>
        </a:p>
      </dgm:t>
    </dgm:pt>
    <dgm:pt modelId="{DAFEFEEF-DCE8-41C2-B9C1-4948148CF861}" type="parTrans" cxnId="{6340B890-8564-428B-8C89-E029AB5D4B91}">
      <dgm:prSet/>
      <dgm:spPr/>
      <dgm:t>
        <a:bodyPr/>
        <a:lstStyle/>
        <a:p>
          <a:endParaRPr lang="en-US"/>
        </a:p>
      </dgm:t>
    </dgm:pt>
    <dgm:pt modelId="{3C45B5B9-AE62-47BB-83AF-5BB598FCDE5A}" type="sibTrans" cxnId="{6340B890-8564-428B-8C89-E029AB5D4B91}">
      <dgm:prSet/>
      <dgm:spPr/>
      <dgm:t>
        <a:bodyPr/>
        <a:lstStyle/>
        <a:p>
          <a:endParaRPr lang="en-US"/>
        </a:p>
      </dgm:t>
    </dgm:pt>
    <dgm:pt modelId="{BC3BCAB6-D1EE-43C0-8E55-526EB52888A5}">
      <dgm:prSet/>
      <dgm:spPr/>
      <dgm:t>
        <a:bodyPr/>
        <a:lstStyle/>
        <a:p>
          <a:r>
            <a:rPr lang="en-US"/>
            <a:t>It iteratively adjusts the parameters to reduce the error.</a:t>
          </a:r>
        </a:p>
      </dgm:t>
    </dgm:pt>
    <dgm:pt modelId="{39892994-84D3-4AE9-96F3-7A049341BFF7}" type="parTrans" cxnId="{770217B5-0E43-414C-BEAC-8F40E5A01DC3}">
      <dgm:prSet/>
      <dgm:spPr/>
      <dgm:t>
        <a:bodyPr/>
        <a:lstStyle/>
        <a:p>
          <a:endParaRPr lang="en-US"/>
        </a:p>
      </dgm:t>
    </dgm:pt>
    <dgm:pt modelId="{C51AE7AF-C225-4E2D-8F08-40F8BD0E7962}" type="sibTrans" cxnId="{770217B5-0E43-414C-BEAC-8F40E5A01DC3}">
      <dgm:prSet/>
      <dgm:spPr/>
      <dgm:t>
        <a:bodyPr/>
        <a:lstStyle/>
        <a:p>
          <a:endParaRPr lang="en-US"/>
        </a:p>
      </dgm:t>
    </dgm:pt>
    <dgm:pt modelId="{E42B82E9-790F-4276-A0D7-2A5FFF976189}" type="pres">
      <dgm:prSet presAssocID="{83E4562A-60E5-43B9-9F44-0AD7EA6960CA}" presName="root" presStyleCnt="0">
        <dgm:presLayoutVars>
          <dgm:dir/>
          <dgm:resizeHandles val="exact"/>
        </dgm:presLayoutVars>
      </dgm:prSet>
      <dgm:spPr/>
    </dgm:pt>
    <dgm:pt modelId="{0C3C6951-F51D-4EF5-B86E-ADC747691B80}" type="pres">
      <dgm:prSet presAssocID="{3DFB544F-6940-41F1-A9DD-81208D573841}" presName="compNode" presStyleCnt="0"/>
      <dgm:spPr/>
    </dgm:pt>
    <dgm:pt modelId="{4B635D80-4037-4808-84EB-E551803A81D2}" type="pres">
      <dgm:prSet presAssocID="{3DFB544F-6940-41F1-A9DD-81208D573841}" presName="bgRect" presStyleLbl="bgShp" presStyleIdx="0" presStyleCnt="3"/>
      <dgm:spPr/>
    </dgm:pt>
    <dgm:pt modelId="{B14D9C64-64CF-44FA-A559-D765DFC2F772}" type="pres">
      <dgm:prSet presAssocID="{3DFB544F-6940-41F1-A9DD-81208D57384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277D74D3-44D8-4F56-BE7B-AAAA3E11C0E5}" type="pres">
      <dgm:prSet presAssocID="{3DFB544F-6940-41F1-A9DD-81208D573841}" presName="spaceRect" presStyleCnt="0"/>
      <dgm:spPr/>
    </dgm:pt>
    <dgm:pt modelId="{A55345C8-B805-4459-96C0-480CEF1946DC}" type="pres">
      <dgm:prSet presAssocID="{3DFB544F-6940-41F1-A9DD-81208D573841}" presName="parTx" presStyleLbl="revTx" presStyleIdx="0" presStyleCnt="3">
        <dgm:presLayoutVars>
          <dgm:chMax val="0"/>
          <dgm:chPref val="0"/>
        </dgm:presLayoutVars>
      </dgm:prSet>
      <dgm:spPr/>
    </dgm:pt>
    <dgm:pt modelId="{22F1DC42-AE37-43A9-99A5-B47C6F7465A8}" type="pres">
      <dgm:prSet presAssocID="{3F27FD58-0495-40E8-99AE-E50DB030F279}" presName="sibTrans" presStyleCnt="0"/>
      <dgm:spPr/>
    </dgm:pt>
    <dgm:pt modelId="{CDDB60B1-8CF8-45EA-ADB5-6D77F7D3804C}" type="pres">
      <dgm:prSet presAssocID="{E79C4495-0510-44CF-A338-F50624A566F0}" presName="compNode" presStyleCnt="0"/>
      <dgm:spPr/>
    </dgm:pt>
    <dgm:pt modelId="{BF7C5772-6A4A-4346-A0A8-2F213B55B547}" type="pres">
      <dgm:prSet presAssocID="{E79C4495-0510-44CF-A338-F50624A566F0}" presName="bgRect" presStyleLbl="bgShp" presStyleIdx="1" presStyleCnt="3"/>
      <dgm:spPr/>
    </dgm:pt>
    <dgm:pt modelId="{0CDAD763-BD08-49F9-A8AC-009EFDB6D2A5}" type="pres">
      <dgm:prSet presAssocID="{E79C4495-0510-44CF-A338-F50624A566F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CDBE942E-3761-4879-857D-3E63D42DAF24}" type="pres">
      <dgm:prSet presAssocID="{E79C4495-0510-44CF-A338-F50624A566F0}" presName="spaceRect" presStyleCnt="0"/>
      <dgm:spPr/>
    </dgm:pt>
    <dgm:pt modelId="{AC0C9254-F3B4-478C-9746-5A512AB4BF36}" type="pres">
      <dgm:prSet presAssocID="{E79C4495-0510-44CF-A338-F50624A566F0}" presName="parTx" presStyleLbl="revTx" presStyleIdx="1" presStyleCnt="3">
        <dgm:presLayoutVars>
          <dgm:chMax val="0"/>
          <dgm:chPref val="0"/>
        </dgm:presLayoutVars>
      </dgm:prSet>
      <dgm:spPr/>
    </dgm:pt>
    <dgm:pt modelId="{2FD5CDE4-10FC-4B44-82DA-7CD8F484E351}" type="pres">
      <dgm:prSet presAssocID="{3C45B5B9-AE62-47BB-83AF-5BB598FCDE5A}" presName="sibTrans" presStyleCnt="0"/>
      <dgm:spPr/>
    </dgm:pt>
    <dgm:pt modelId="{BF49EF14-BAB5-4DED-987F-3977E4D9D529}" type="pres">
      <dgm:prSet presAssocID="{BC3BCAB6-D1EE-43C0-8E55-526EB52888A5}" presName="compNode" presStyleCnt="0"/>
      <dgm:spPr/>
    </dgm:pt>
    <dgm:pt modelId="{14351CF7-1DC1-46B4-BFFA-E39733F84039}" type="pres">
      <dgm:prSet presAssocID="{BC3BCAB6-D1EE-43C0-8E55-526EB52888A5}" presName="bgRect" presStyleLbl="bgShp" presStyleIdx="2" presStyleCnt="3"/>
      <dgm:spPr/>
    </dgm:pt>
    <dgm:pt modelId="{2EABA34B-1A15-4E71-ACC9-73F5C4A18730}" type="pres">
      <dgm:prSet presAssocID="{BC3BCAB6-D1EE-43C0-8E55-526EB52888A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orkflow"/>
        </a:ext>
      </dgm:extLst>
    </dgm:pt>
    <dgm:pt modelId="{362A24FB-779A-40E7-B81C-B2C26DF586DD}" type="pres">
      <dgm:prSet presAssocID="{BC3BCAB6-D1EE-43C0-8E55-526EB52888A5}" presName="spaceRect" presStyleCnt="0"/>
      <dgm:spPr/>
    </dgm:pt>
    <dgm:pt modelId="{3A7F78BD-F4A2-41D1-A162-BB63D838486E}" type="pres">
      <dgm:prSet presAssocID="{BC3BCAB6-D1EE-43C0-8E55-526EB52888A5}" presName="parTx" presStyleLbl="revTx" presStyleIdx="2" presStyleCnt="3">
        <dgm:presLayoutVars>
          <dgm:chMax val="0"/>
          <dgm:chPref val="0"/>
        </dgm:presLayoutVars>
      </dgm:prSet>
      <dgm:spPr/>
    </dgm:pt>
  </dgm:ptLst>
  <dgm:cxnLst>
    <dgm:cxn modelId="{16D3B601-1B6C-4865-8924-C3F1EFB87F36}" type="presOf" srcId="{E79C4495-0510-44CF-A338-F50624A566F0}" destId="{AC0C9254-F3B4-478C-9746-5A512AB4BF36}" srcOrd="0" destOrd="0" presId="urn:microsoft.com/office/officeart/2018/2/layout/IconVerticalSolidList"/>
    <dgm:cxn modelId="{CFA65D3C-AF8A-40DE-9D67-15941E7E6BA7}" type="presOf" srcId="{83E4562A-60E5-43B9-9F44-0AD7EA6960CA}" destId="{E42B82E9-790F-4276-A0D7-2A5FFF976189}" srcOrd="0" destOrd="0" presId="urn:microsoft.com/office/officeart/2018/2/layout/IconVerticalSolidList"/>
    <dgm:cxn modelId="{DA0D2A5D-9A80-45BB-9CE5-43EE0FED2048}" type="presOf" srcId="{3DFB544F-6940-41F1-A9DD-81208D573841}" destId="{A55345C8-B805-4459-96C0-480CEF1946DC}" srcOrd="0" destOrd="0" presId="urn:microsoft.com/office/officeart/2018/2/layout/IconVerticalSolidList"/>
    <dgm:cxn modelId="{6340B890-8564-428B-8C89-E029AB5D4B91}" srcId="{83E4562A-60E5-43B9-9F44-0AD7EA6960CA}" destId="{E79C4495-0510-44CF-A338-F50624A566F0}" srcOrd="1" destOrd="0" parTransId="{DAFEFEEF-DCE8-41C2-B9C1-4948148CF861}" sibTransId="{3C45B5B9-AE62-47BB-83AF-5BB598FCDE5A}"/>
    <dgm:cxn modelId="{F2B6CCA7-B8DC-44E9-847D-124B0E3FB85E}" srcId="{83E4562A-60E5-43B9-9F44-0AD7EA6960CA}" destId="{3DFB544F-6940-41F1-A9DD-81208D573841}" srcOrd="0" destOrd="0" parTransId="{D05F61C7-4BE6-4E87-A70E-27CEA3F9944C}" sibTransId="{3F27FD58-0495-40E8-99AE-E50DB030F279}"/>
    <dgm:cxn modelId="{770217B5-0E43-414C-BEAC-8F40E5A01DC3}" srcId="{83E4562A-60E5-43B9-9F44-0AD7EA6960CA}" destId="{BC3BCAB6-D1EE-43C0-8E55-526EB52888A5}" srcOrd="2" destOrd="0" parTransId="{39892994-84D3-4AE9-96F3-7A049341BFF7}" sibTransId="{C51AE7AF-C225-4E2D-8F08-40F8BD0E7962}"/>
    <dgm:cxn modelId="{5B5BC5E2-AF53-4A8C-8372-5EB4479D426B}" type="presOf" srcId="{BC3BCAB6-D1EE-43C0-8E55-526EB52888A5}" destId="{3A7F78BD-F4A2-41D1-A162-BB63D838486E}" srcOrd="0" destOrd="0" presId="urn:microsoft.com/office/officeart/2018/2/layout/IconVerticalSolidList"/>
    <dgm:cxn modelId="{EC6233FF-29FA-4107-9DC5-7353341E5610}" type="presParOf" srcId="{E42B82E9-790F-4276-A0D7-2A5FFF976189}" destId="{0C3C6951-F51D-4EF5-B86E-ADC747691B80}" srcOrd="0" destOrd="0" presId="urn:microsoft.com/office/officeart/2018/2/layout/IconVerticalSolidList"/>
    <dgm:cxn modelId="{B4C8E543-84C1-4A3B-AA1B-02EBEF8DFD13}" type="presParOf" srcId="{0C3C6951-F51D-4EF5-B86E-ADC747691B80}" destId="{4B635D80-4037-4808-84EB-E551803A81D2}" srcOrd="0" destOrd="0" presId="urn:microsoft.com/office/officeart/2018/2/layout/IconVerticalSolidList"/>
    <dgm:cxn modelId="{AE599617-7C8D-4AAB-A447-935FBB045A27}" type="presParOf" srcId="{0C3C6951-F51D-4EF5-B86E-ADC747691B80}" destId="{B14D9C64-64CF-44FA-A559-D765DFC2F772}" srcOrd="1" destOrd="0" presId="urn:microsoft.com/office/officeart/2018/2/layout/IconVerticalSolidList"/>
    <dgm:cxn modelId="{8D0958A3-39D3-49A7-A7D7-0EFA974B2DD4}" type="presParOf" srcId="{0C3C6951-F51D-4EF5-B86E-ADC747691B80}" destId="{277D74D3-44D8-4F56-BE7B-AAAA3E11C0E5}" srcOrd="2" destOrd="0" presId="urn:microsoft.com/office/officeart/2018/2/layout/IconVerticalSolidList"/>
    <dgm:cxn modelId="{3044410F-AF6D-438C-A758-A03F1207D894}" type="presParOf" srcId="{0C3C6951-F51D-4EF5-B86E-ADC747691B80}" destId="{A55345C8-B805-4459-96C0-480CEF1946DC}" srcOrd="3" destOrd="0" presId="urn:microsoft.com/office/officeart/2018/2/layout/IconVerticalSolidList"/>
    <dgm:cxn modelId="{E3858F06-6A11-4BBA-8E9D-9BBB66186019}" type="presParOf" srcId="{E42B82E9-790F-4276-A0D7-2A5FFF976189}" destId="{22F1DC42-AE37-43A9-99A5-B47C6F7465A8}" srcOrd="1" destOrd="0" presId="urn:microsoft.com/office/officeart/2018/2/layout/IconVerticalSolidList"/>
    <dgm:cxn modelId="{1C3E2823-F8FF-4E08-9029-99D0B11FB371}" type="presParOf" srcId="{E42B82E9-790F-4276-A0D7-2A5FFF976189}" destId="{CDDB60B1-8CF8-45EA-ADB5-6D77F7D3804C}" srcOrd="2" destOrd="0" presId="urn:microsoft.com/office/officeart/2018/2/layout/IconVerticalSolidList"/>
    <dgm:cxn modelId="{5386C23B-5026-4D7C-B7CD-7B7713ED3C65}" type="presParOf" srcId="{CDDB60B1-8CF8-45EA-ADB5-6D77F7D3804C}" destId="{BF7C5772-6A4A-4346-A0A8-2F213B55B547}" srcOrd="0" destOrd="0" presId="urn:microsoft.com/office/officeart/2018/2/layout/IconVerticalSolidList"/>
    <dgm:cxn modelId="{72D8AA26-3C1C-4A7B-94B6-095A4CB12721}" type="presParOf" srcId="{CDDB60B1-8CF8-45EA-ADB5-6D77F7D3804C}" destId="{0CDAD763-BD08-49F9-A8AC-009EFDB6D2A5}" srcOrd="1" destOrd="0" presId="urn:microsoft.com/office/officeart/2018/2/layout/IconVerticalSolidList"/>
    <dgm:cxn modelId="{9D0900CF-4058-4EC2-9266-6609F58FD619}" type="presParOf" srcId="{CDDB60B1-8CF8-45EA-ADB5-6D77F7D3804C}" destId="{CDBE942E-3761-4879-857D-3E63D42DAF24}" srcOrd="2" destOrd="0" presId="urn:microsoft.com/office/officeart/2018/2/layout/IconVerticalSolidList"/>
    <dgm:cxn modelId="{8176EDE6-02DA-47E5-A93E-4D3704A4F961}" type="presParOf" srcId="{CDDB60B1-8CF8-45EA-ADB5-6D77F7D3804C}" destId="{AC0C9254-F3B4-478C-9746-5A512AB4BF36}" srcOrd="3" destOrd="0" presId="urn:microsoft.com/office/officeart/2018/2/layout/IconVerticalSolidList"/>
    <dgm:cxn modelId="{687C3F02-06BE-46CA-BDF5-13C93D0E9E4E}" type="presParOf" srcId="{E42B82E9-790F-4276-A0D7-2A5FFF976189}" destId="{2FD5CDE4-10FC-4B44-82DA-7CD8F484E351}" srcOrd="3" destOrd="0" presId="urn:microsoft.com/office/officeart/2018/2/layout/IconVerticalSolidList"/>
    <dgm:cxn modelId="{AB6A9B42-FC4B-45F9-9291-2E54A59B13E4}" type="presParOf" srcId="{E42B82E9-790F-4276-A0D7-2A5FFF976189}" destId="{BF49EF14-BAB5-4DED-987F-3977E4D9D529}" srcOrd="4" destOrd="0" presId="urn:microsoft.com/office/officeart/2018/2/layout/IconVerticalSolidList"/>
    <dgm:cxn modelId="{9D8F3267-AE06-4D78-823B-1F5FB164DD9F}" type="presParOf" srcId="{BF49EF14-BAB5-4DED-987F-3977E4D9D529}" destId="{14351CF7-1DC1-46B4-BFFA-E39733F84039}" srcOrd="0" destOrd="0" presId="urn:microsoft.com/office/officeart/2018/2/layout/IconVerticalSolidList"/>
    <dgm:cxn modelId="{BD560668-85C3-4A3A-903C-F5C278CB14FA}" type="presParOf" srcId="{BF49EF14-BAB5-4DED-987F-3977E4D9D529}" destId="{2EABA34B-1A15-4E71-ACC9-73F5C4A18730}" srcOrd="1" destOrd="0" presId="urn:microsoft.com/office/officeart/2018/2/layout/IconVerticalSolidList"/>
    <dgm:cxn modelId="{1435EDE7-93F1-4FC8-920A-BD289BD842AB}" type="presParOf" srcId="{BF49EF14-BAB5-4DED-987F-3977E4D9D529}" destId="{362A24FB-779A-40E7-B81C-B2C26DF586DD}" srcOrd="2" destOrd="0" presId="urn:microsoft.com/office/officeart/2018/2/layout/IconVerticalSolidList"/>
    <dgm:cxn modelId="{6C5355CE-149C-430F-9193-BD9CD5F1092C}" type="presParOf" srcId="{BF49EF14-BAB5-4DED-987F-3977E4D9D529}" destId="{3A7F78BD-F4A2-41D1-A162-BB63D838486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ACE16D-A225-4726-9BA2-90B1FD6D4A74}" type="doc">
      <dgm:prSet loTypeId="urn:microsoft.com/office/officeart/2005/8/layout/arrow5" loCatId="relationship" qsTypeId="urn:microsoft.com/office/officeart/2005/8/quickstyle/simple1" qsCatId="simple" csTypeId="urn:microsoft.com/office/officeart/2005/8/colors/colorful1" csCatId="colorful"/>
      <dgm:spPr/>
      <dgm:t>
        <a:bodyPr/>
        <a:lstStyle/>
        <a:p>
          <a:endParaRPr lang="en-US"/>
        </a:p>
      </dgm:t>
    </dgm:pt>
    <dgm:pt modelId="{3672469B-096F-42EA-AF87-1B97CA5F4611}">
      <dgm:prSet/>
      <dgm:spPr/>
      <dgm:t>
        <a:bodyPr/>
        <a:lstStyle/>
        <a:p>
          <a:r>
            <a:rPr lang="en-US"/>
            <a:t>Helps in finding the minimum of complex cost functions.</a:t>
          </a:r>
        </a:p>
      </dgm:t>
    </dgm:pt>
    <dgm:pt modelId="{67E6A5E2-3D04-4B1B-B080-1997E040B5CB}" type="parTrans" cxnId="{898294A2-1E84-433F-94A7-C85C07B103FB}">
      <dgm:prSet/>
      <dgm:spPr/>
      <dgm:t>
        <a:bodyPr/>
        <a:lstStyle/>
        <a:p>
          <a:endParaRPr lang="en-US"/>
        </a:p>
      </dgm:t>
    </dgm:pt>
    <dgm:pt modelId="{53E40DC5-F11D-46E8-AD49-5CEB9DF431B2}" type="sibTrans" cxnId="{898294A2-1E84-433F-94A7-C85C07B103FB}">
      <dgm:prSet/>
      <dgm:spPr/>
      <dgm:t>
        <a:bodyPr/>
        <a:lstStyle/>
        <a:p>
          <a:endParaRPr lang="en-US"/>
        </a:p>
      </dgm:t>
    </dgm:pt>
    <dgm:pt modelId="{86BD4ED7-9A3C-4D21-8AAC-4D9D891A8AC3}">
      <dgm:prSet/>
      <dgm:spPr/>
      <dgm:t>
        <a:bodyPr/>
        <a:lstStyle/>
        <a:p>
          <a:r>
            <a:rPr lang="en-US"/>
            <a:t>Crucial for training machine learning models such as neural networks, linear regression, etc.</a:t>
          </a:r>
        </a:p>
      </dgm:t>
    </dgm:pt>
    <dgm:pt modelId="{75A3057F-9E6F-4D01-8677-AF9FD9B1E0B9}" type="parTrans" cxnId="{F2775588-2083-4E0E-A5B9-53F7AC0D7B06}">
      <dgm:prSet/>
      <dgm:spPr/>
      <dgm:t>
        <a:bodyPr/>
        <a:lstStyle/>
        <a:p>
          <a:endParaRPr lang="en-US"/>
        </a:p>
      </dgm:t>
    </dgm:pt>
    <dgm:pt modelId="{C8CECCEA-C443-4A62-BBDE-B1C65133E63B}" type="sibTrans" cxnId="{F2775588-2083-4E0E-A5B9-53F7AC0D7B06}">
      <dgm:prSet/>
      <dgm:spPr/>
      <dgm:t>
        <a:bodyPr/>
        <a:lstStyle/>
        <a:p>
          <a:endParaRPr lang="en-US"/>
        </a:p>
      </dgm:t>
    </dgm:pt>
    <dgm:pt modelId="{E2F75520-8887-4EAF-A726-C5E7BD6D963C}">
      <dgm:prSet/>
      <dgm:spPr/>
      <dgm:t>
        <a:bodyPr/>
        <a:lstStyle/>
        <a:p>
          <a:r>
            <a:rPr lang="en-US"/>
            <a:t>Enables large-scale data processing and parameter tuning efficiently.</a:t>
          </a:r>
        </a:p>
      </dgm:t>
    </dgm:pt>
    <dgm:pt modelId="{D0EB64FB-8343-4C10-9512-4F19B93E2534}" type="parTrans" cxnId="{0A32F39F-4DFD-491F-AA92-7CBABDC071AB}">
      <dgm:prSet/>
      <dgm:spPr/>
      <dgm:t>
        <a:bodyPr/>
        <a:lstStyle/>
        <a:p>
          <a:endParaRPr lang="en-US"/>
        </a:p>
      </dgm:t>
    </dgm:pt>
    <dgm:pt modelId="{91BCA8A2-9CAE-47F0-A45B-0AB3D464F749}" type="sibTrans" cxnId="{0A32F39F-4DFD-491F-AA92-7CBABDC071AB}">
      <dgm:prSet/>
      <dgm:spPr/>
      <dgm:t>
        <a:bodyPr/>
        <a:lstStyle/>
        <a:p>
          <a:endParaRPr lang="en-US"/>
        </a:p>
      </dgm:t>
    </dgm:pt>
    <dgm:pt modelId="{69DC0E8C-1DAA-4579-B8D7-DF30AA3B6A48}" type="pres">
      <dgm:prSet presAssocID="{4CACE16D-A225-4726-9BA2-90B1FD6D4A74}" presName="diagram" presStyleCnt="0">
        <dgm:presLayoutVars>
          <dgm:dir/>
          <dgm:resizeHandles val="exact"/>
        </dgm:presLayoutVars>
      </dgm:prSet>
      <dgm:spPr/>
    </dgm:pt>
    <dgm:pt modelId="{E8274A41-7334-4A47-B6D6-6EA472E634B7}" type="pres">
      <dgm:prSet presAssocID="{3672469B-096F-42EA-AF87-1B97CA5F4611}" presName="arrow" presStyleLbl="node1" presStyleIdx="0" presStyleCnt="3">
        <dgm:presLayoutVars>
          <dgm:bulletEnabled val="1"/>
        </dgm:presLayoutVars>
      </dgm:prSet>
      <dgm:spPr/>
    </dgm:pt>
    <dgm:pt modelId="{8632E474-E8A0-4091-804E-62F7F2668BAD}" type="pres">
      <dgm:prSet presAssocID="{86BD4ED7-9A3C-4D21-8AAC-4D9D891A8AC3}" presName="arrow" presStyleLbl="node1" presStyleIdx="1" presStyleCnt="3">
        <dgm:presLayoutVars>
          <dgm:bulletEnabled val="1"/>
        </dgm:presLayoutVars>
      </dgm:prSet>
      <dgm:spPr/>
    </dgm:pt>
    <dgm:pt modelId="{0431066F-8225-40EC-B9F0-98D367DE4E14}" type="pres">
      <dgm:prSet presAssocID="{E2F75520-8887-4EAF-A726-C5E7BD6D963C}" presName="arrow" presStyleLbl="node1" presStyleIdx="2" presStyleCnt="3">
        <dgm:presLayoutVars>
          <dgm:bulletEnabled val="1"/>
        </dgm:presLayoutVars>
      </dgm:prSet>
      <dgm:spPr/>
    </dgm:pt>
  </dgm:ptLst>
  <dgm:cxnLst>
    <dgm:cxn modelId="{3DABC207-FD63-4919-94EA-9A1FF88B9237}" type="presOf" srcId="{4CACE16D-A225-4726-9BA2-90B1FD6D4A74}" destId="{69DC0E8C-1DAA-4579-B8D7-DF30AA3B6A48}" srcOrd="0" destOrd="0" presId="urn:microsoft.com/office/officeart/2005/8/layout/arrow5"/>
    <dgm:cxn modelId="{1F5F4913-99D3-461F-B2F9-746A83464304}" type="presOf" srcId="{3672469B-096F-42EA-AF87-1B97CA5F4611}" destId="{E8274A41-7334-4A47-B6D6-6EA472E634B7}" srcOrd="0" destOrd="0" presId="urn:microsoft.com/office/officeart/2005/8/layout/arrow5"/>
    <dgm:cxn modelId="{C3C0E54B-07F4-4F26-8D10-AA2ED6B256D3}" type="presOf" srcId="{86BD4ED7-9A3C-4D21-8AAC-4D9D891A8AC3}" destId="{8632E474-E8A0-4091-804E-62F7F2668BAD}" srcOrd="0" destOrd="0" presId="urn:microsoft.com/office/officeart/2005/8/layout/arrow5"/>
    <dgm:cxn modelId="{A3193173-1B89-46C2-86E4-2EFBFC5DBC80}" type="presOf" srcId="{E2F75520-8887-4EAF-A726-C5E7BD6D963C}" destId="{0431066F-8225-40EC-B9F0-98D367DE4E14}" srcOrd="0" destOrd="0" presId="urn:microsoft.com/office/officeart/2005/8/layout/arrow5"/>
    <dgm:cxn modelId="{F2775588-2083-4E0E-A5B9-53F7AC0D7B06}" srcId="{4CACE16D-A225-4726-9BA2-90B1FD6D4A74}" destId="{86BD4ED7-9A3C-4D21-8AAC-4D9D891A8AC3}" srcOrd="1" destOrd="0" parTransId="{75A3057F-9E6F-4D01-8677-AF9FD9B1E0B9}" sibTransId="{C8CECCEA-C443-4A62-BBDE-B1C65133E63B}"/>
    <dgm:cxn modelId="{0A32F39F-4DFD-491F-AA92-7CBABDC071AB}" srcId="{4CACE16D-A225-4726-9BA2-90B1FD6D4A74}" destId="{E2F75520-8887-4EAF-A726-C5E7BD6D963C}" srcOrd="2" destOrd="0" parTransId="{D0EB64FB-8343-4C10-9512-4F19B93E2534}" sibTransId="{91BCA8A2-9CAE-47F0-A45B-0AB3D464F749}"/>
    <dgm:cxn modelId="{898294A2-1E84-433F-94A7-C85C07B103FB}" srcId="{4CACE16D-A225-4726-9BA2-90B1FD6D4A74}" destId="{3672469B-096F-42EA-AF87-1B97CA5F4611}" srcOrd="0" destOrd="0" parTransId="{67E6A5E2-3D04-4B1B-B080-1997E040B5CB}" sibTransId="{53E40DC5-F11D-46E8-AD49-5CEB9DF431B2}"/>
    <dgm:cxn modelId="{E383CFE2-B9B3-4C5F-98FE-5FA92803722E}" type="presParOf" srcId="{69DC0E8C-1DAA-4579-B8D7-DF30AA3B6A48}" destId="{E8274A41-7334-4A47-B6D6-6EA472E634B7}" srcOrd="0" destOrd="0" presId="urn:microsoft.com/office/officeart/2005/8/layout/arrow5"/>
    <dgm:cxn modelId="{76A52540-F199-4E07-AFCE-1C971F8EFBBC}" type="presParOf" srcId="{69DC0E8C-1DAA-4579-B8D7-DF30AA3B6A48}" destId="{8632E474-E8A0-4091-804E-62F7F2668BAD}" srcOrd="1" destOrd="0" presId="urn:microsoft.com/office/officeart/2005/8/layout/arrow5"/>
    <dgm:cxn modelId="{4B576FAA-482B-42CE-AAEF-0CE850F6F49B}" type="presParOf" srcId="{69DC0E8C-1DAA-4579-B8D7-DF30AA3B6A48}" destId="{0431066F-8225-40EC-B9F0-98D367DE4E14}" srcOrd="2"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7F27A7-3D6E-4402-83CC-DAE25830002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476B890-00E8-4A9B-A9D3-31C5F903FC7F}">
      <dgm:prSet/>
      <dgm:spPr/>
      <dgm:t>
        <a:bodyPr/>
        <a:lstStyle/>
        <a:p>
          <a:r>
            <a:rPr lang="en-US"/>
            <a:t>Measures the error between predicted and actual values.Objective: </a:t>
          </a:r>
        </a:p>
      </dgm:t>
    </dgm:pt>
    <dgm:pt modelId="{85E496A7-DBE4-4122-BCFE-B81A91DB31C9}" type="parTrans" cxnId="{4338B2EA-B3BB-4B93-AD92-04511465E419}">
      <dgm:prSet/>
      <dgm:spPr/>
      <dgm:t>
        <a:bodyPr/>
        <a:lstStyle/>
        <a:p>
          <a:endParaRPr lang="en-US"/>
        </a:p>
      </dgm:t>
    </dgm:pt>
    <dgm:pt modelId="{4836A8B9-0E1A-4686-83F0-9DC8EA600A93}" type="sibTrans" cxnId="{4338B2EA-B3BB-4B93-AD92-04511465E419}">
      <dgm:prSet/>
      <dgm:spPr/>
      <dgm:t>
        <a:bodyPr/>
        <a:lstStyle/>
        <a:p>
          <a:endParaRPr lang="en-US"/>
        </a:p>
      </dgm:t>
    </dgm:pt>
    <dgm:pt modelId="{11AB0264-20C9-43CF-BB39-C97EA7D50DC5}">
      <dgm:prSet/>
      <dgm:spPr/>
      <dgm:t>
        <a:bodyPr/>
        <a:lstStyle/>
        <a:p>
          <a:r>
            <a:rPr lang="en-US"/>
            <a:t>Minimize the cost function.</a:t>
          </a:r>
        </a:p>
      </dgm:t>
    </dgm:pt>
    <dgm:pt modelId="{9A777EB3-98CD-4E0B-A52D-904520926B29}" type="parTrans" cxnId="{CB6467E3-FBD1-4FD7-B5DD-D6B60B7A72A3}">
      <dgm:prSet/>
      <dgm:spPr/>
      <dgm:t>
        <a:bodyPr/>
        <a:lstStyle/>
        <a:p>
          <a:endParaRPr lang="en-US"/>
        </a:p>
      </dgm:t>
    </dgm:pt>
    <dgm:pt modelId="{DEE01BF9-85C3-475E-9E14-4DBB1B43138D}" type="sibTrans" cxnId="{CB6467E3-FBD1-4FD7-B5DD-D6B60B7A72A3}">
      <dgm:prSet/>
      <dgm:spPr/>
      <dgm:t>
        <a:bodyPr/>
        <a:lstStyle/>
        <a:p>
          <a:endParaRPr lang="en-US"/>
        </a:p>
      </dgm:t>
    </dgm:pt>
    <dgm:pt modelId="{DB9DC53D-0F53-4A1B-9AE9-ED9B0B5444E5}">
      <dgm:prSet/>
      <dgm:spPr/>
      <dgm:t>
        <a:bodyPr/>
        <a:lstStyle/>
        <a:p>
          <a:r>
            <a:rPr lang="en-US"/>
            <a:t>Common cost functions:</a:t>
          </a:r>
        </a:p>
      </dgm:t>
    </dgm:pt>
    <dgm:pt modelId="{85F40CB1-3D56-44AA-BB2D-92BF9600D61B}" type="parTrans" cxnId="{8BB7364C-7D42-4271-9E5E-9CC0C681EC3C}">
      <dgm:prSet/>
      <dgm:spPr/>
      <dgm:t>
        <a:bodyPr/>
        <a:lstStyle/>
        <a:p>
          <a:endParaRPr lang="en-US"/>
        </a:p>
      </dgm:t>
    </dgm:pt>
    <dgm:pt modelId="{827C4BF2-7036-4C97-8121-808A77D516D7}" type="sibTrans" cxnId="{8BB7364C-7D42-4271-9E5E-9CC0C681EC3C}">
      <dgm:prSet/>
      <dgm:spPr/>
      <dgm:t>
        <a:bodyPr/>
        <a:lstStyle/>
        <a:p>
          <a:endParaRPr lang="en-US"/>
        </a:p>
      </dgm:t>
    </dgm:pt>
    <dgm:pt modelId="{2AA65483-D8B5-4358-AC6C-44FB89DFFEB3}">
      <dgm:prSet custT="1"/>
      <dgm:spPr/>
      <dgm:t>
        <a:bodyPr/>
        <a:lstStyle/>
        <a:p>
          <a:r>
            <a:rPr lang="en-US" sz="2000" dirty="0">
              <a:solidFill>
                <a:srgbClr val="FF0000"/>
              </a:solidFill>
            </a:rPr>
            <a:t>Mean Squared Error (MSE) for regression.</a:t>
          </a:r>
        </a:p>
      </dgm:t>
    </dgm:pt>
    <dgm:pt modelId="{A5E7F2C8-3F84-4B2C-92E6-E340E73DE733}" type="parTrans" cxnId="{D0CAF274-9DE0-4D52-8A54-AAB8B8D15826}">
      <dgm:prSet/>
      <dgm:spPr/>
      <dgm:t>
        <a:bodyPr/>
        <a:lstStyle/>
        <a:p>
          <a:endParaRPr lang="en-US"/>
        </a:p>
      </dgm:t>
    </dgm:pt>
    <dgm:pt modelId="{47F8FB31-A5E5-40BE-ADEB-A28CCB622D85}" type="sibTrans" cxnId="{D0CAF274-9DE0-4D52-8A54-AAB8B8D15826}">
      <dgm:prSet/>
      <dgm:spPr/>
      <dgm:t>
        <a:bodyPr/>
        <a:lstStyle/>
        <a:p>
          <a:endParaRPr lang="en-US"/>
        </a:p>
      </dgm:t>
    </dgm:pt>
    <dgm:pt modelId="{8E2E101F-D03B-47AD-B50B-2B9FA2BFB5D6}">
      <dgm:prSet custT="1"/>
      <dgm:spPr/>
      <dgm:t>
        <a:bodyPr/>
        <a:lstStyle/>
        <a:p>
          <a:r>
            <a:rPr lang="en-US" sz="2000" dirty="0">
              <a:solidFill>
                <a:srgbClr val="0070C0"/>
              </a:solidFill>
            </a:rPr>
            <a:t>Cross-Entropy for classification.</a:t>
          </a:r>
        </a:p>
      </dgm:t>
    </dgm:pt>
    <dgm:pt modelId="{C098CC18-3473-4BD8-99AE-B499163C1E4F}" type="parTrans" cxnId="{B7FE1961-D571-421D-989A-B3317DBFFB74}">
      <dgm:prSet/>
      <dgm:spPr/>
      <dgm:t>
        <a:bodyPr/>
        <a:lstStyle/>
        <a:p>
          <a:endParaRPr lang="en-US"/>
        </a:p>
      </dgm:t>
    </dgm:pt>
    <dgm:pt modelId="{03A8CDCD-3FAA-4F73-B341-FCCC5F292FF8}" type="sibTrans" cxnId="{B7FE1961-D571-421D-989A-B3317DBFFB74}">
      <dgm:prSet/>
      <dgm:spPr/>
      <dgm:t>
        <a:bodyPr/>
        <a:lstStyle/>
        <a:p>
          <a:endParaRPr lang="en-US"/>
        </a:p>
      </dgm:t>
    </dgm:pt>
    <dgm:pt modelId="{B5CD1093-99F4-46D5-B123-81B301498B29}" type="pres">
      <dgm:prSet presAssocID="{F17F27A7-3D6E-4402-83CC-DAE258300024}" presName="root" presStyleCnt="0">
        <dgm:presLayoutVars>
          <dgm:dir/>
          <dgm:resizeHandles val="exact"/>
        </dgm:presLayoutVars>
      </dgm:prSet>
      <dgm:spPr/>
    </dgm:pt>
    <dgm:pt modelId="{66983F47-DD33-469A-B925-82EE43F3D7C9}" type="pres">
      <dgm:prSet presAssocID="{1476B890-00E8-4A9B-A9D3-31C5F903FC7F}" presName="compNode" presStyleCnt="0"/>
      <dgm:spPr/>
    </dgm:pt>
    <dgm:pt modelId="{F96EC954-53FB-48E9-9F36-A1934B474BF5}" type="pres">
      <dgm:prSet presAssocID="{1476B890-00E8-4A9B-A9D3-31C5F903FC7F}" presName="bgRect" presStyleLbl="bgShp" presStyleIdx="0" presStyleCnt="3"/>
      <dgm:spPr/>
    </dgm:pt>
    <dgm:pt modelId="{7FD56015-5C1B-4AB4-83EA-D48422F3A406}" type="pres">
      <dgm:prSet presAssocID="{1476B890-00E8-4A9B-A9D3-31C5F903FC7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ext>
      </dgm:extLst>
    </dgm:pt>
    <dgm:pt modelId="{1BC012C8-7961-4BCE-8793-1529DAAE6106}" type="pres">
      <dgm:prSet presAssocID="{1476B890-00E8-4A9B-A9D3-31C5F903FC7F}" presName="spaceRect" presStyleCnt="0"/>
      <dgm:spPr/>
    </dgm:pt>
    <dgm:pt modelId="{A845B0CA-C379-4C7B-B29F-A7ECC6782B80}" type="pres">
      <dgm:prSet presAssocID="{1476B890-00E8-4A9B-A9D3-31C5F903FC7F}" presName="parTx" presStyleLbl="revTx" presStyleIdx="0" presStyleCnt="4">
        <dgm:presLayoutVars>
          <dgm:chMax val="0"/>
          <dgm:chPref val="0"/>
        </dgm:presLayoutVars>
      </dgm:prSet>
      <dgm:spPr/>
    </dgm:pt>
    <dgm:pt modelId="{2A6EA4E2-CA98-46DC-80FF-E634A9AC4D1E}" type="pres">
      <dgm:prSet presAssocID="{4836A8B9-0E1A-4686-83F0-9DC8EA600A93}" presName="sibTrans" presStyleCnt="0"/>
      <dgm:spPr/>
    </dgm:pt>
    <dgm:pt modelId="{FCA07B73-D36A-4789-8F3F-C339F455E9C0}" type="pres">
      <dgm:prSet presAssocID="{11AB0264-20C9-43CF-BB39-C97EA7D50DC5}" presName="compNode" presStyleCnt="0"/>
      <dgm:spPr/>
    </dgm:pt>
    <dgm:pt modelId="{88A4382B-7B6A-4FE1-AAB1-8A3422B2EDF4}" type="pres">
      <dgm:prSet presAssocID="{11AB0264-20C9-43CF-BB39-C97EA7D50DC5}" presName="bgRect" presStyleLbl="bgShp" presStyleIdx="1" presStyleCnt="3"/>
      <dgm:spPr/>
    </dgm:pt>
    <dgm:pt modelId="{0CC22560-B0B6-473D-8363-25C28F4E4803}" type="pres">
      <dgm:prSet presAssocID="{11AB0264-20C9-43CF-BB39-C97EA7D50DC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0693C66F-4CD8-467D-B235-62B3B1F4EB09}" type="pres">
      <dgm:prSet presAssocID="{11AB0264-20C9-43CF-BB39-C97EA7D50DC5}" presName="spaceRect" presStyleCnt="0"/>
      <dgm:spPr/>
    </dgm:pt>
    <dgm:pt modelId="{6BE225AB-9107-4837-AFE9-AFCEFEB8E3C6}" type="pres">
      <dgm:prSet presAssocID="{11AB0264-20C9-43CF-BB39-C97EA7D50DC5}" presName="parTx" presStyleLbl="revTx" presStyleIdx="1" presStyleCnt="4">
        <dgm:presLayoutVars>
          <dgm:chMax val="0"/>
          <dgm:chPref val="0"/>
        </dgm:presLayoutVars>
      </dgm:prSet>
      <dgm:spPr/>
    </dgm:pt>
    <dgm:pt modelId="{88B44663-1998-45C7-9BD1-F6C6B49A864C}" type="pres">
      <dgm:prSet presAssocID="{DEE01BF9-85C3-475E-9E14-4DBB1B43138D}" presName="sibTrans" presStyleCnt="0"/>
      <dgm:spPr/>
    </dgm:pt>
    <dgm:pt modelId="{14F9BA4E-FA67-4A2A-B0F7-BF254EA4E8A4}" type="pres">
      <dgm:prSet presAssocID="{DB9DC53D-0F53-4A1B-9AE9-ED9B0B5444E5}" presName="compNode" presStyleCnt="0"/>
      <dgm:spPr/>
    </dgm:pt>
    <dgm:pt modelId="{A0F7CD10-AFE4-4B90-B609-E09E22E82AEE}" type="pres">
      <dgm:prSet presAssocID="{DB9DC53D-0F53-4A1B-9AE9-ED9B0B5444E5}" presName="bgRect" presStyleLbl="bgShp" presStyleIdx="2" presStyleCnt="3" custLinFactNeighborX="-4175" custLinFactNeighborY="557"/>
      <dgm:spPr/>
    </dgm:pt>
    <dgm:pt modelId="{BCA3D748-EEA3-416A-8F4F-D96C87922A07}" type="pres">
      <dgm:prSet presAssocID="{DB9DC53D-0F53-4A1B-9AE9-ED9B0B5444E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lculator"/>
        </a:ext>
      </dgm:extLst>
    </dgm:pt>
    <dgm:pt modelId="{55630A20-D5F5-4640-9C97-99C6039627AD}" type="pres">
      <dgm:prSet presAssocID="{DB9DC53D-0F53-4A1B-9AE9-ED9B0B5444E5}" presName="spaceRect" presStyleCnt="0"/>
      <dgm:spPr/>
    </dgm:pt>
    <dgm:pt modelId="{5AD48BA5-2682-413B-91F3-A34A10B695F9}" type="pres">
      <dgm:prSet presAssocID="{DB9DC53D-0F53-4A1B-9AE9-ED9B0B5444E5}" presName="parTx" presStyleLbl="revTx" presStyleIdx="2" presStyleCnt="4">
        <dgm:presLayoutVars>
          <dgm:chMax val="0"/>
          <dgm:chPref val="0"/>
        </dgm:presLayoutVars>
      </dgm:prSet>
      <dgm:spPr/>
    </dgm:pt>
    <dgm:pt modelId="{A5DAE4AC-0F74-48F1-AB70-0D3FF249F58E}" type="pres">
      <dgm:prSet presAssocID="{DB9DC53D-0F53-4A1B-9AE9-ED9B0B5444E5}" presName="desTx" presStyleLbl="revTx" presStyleIdx="3" presStyleCnt="4" custScaleX="138479" custLinFactNeighborX="-24973" custLinFactNeighborY="557">
        <dgm:presLayoutVars/>
      </dgm:prSet>
      <dgm:spPr/>
    </dgm:pt>
  </dgm:ptLst>
  <dgm:cxnLst>
    <dgm:cxn modelId="{7D483D00-5264-4DCC-8CAC-6A4E100673D8}" type="presOf" srcId="{F17F27A7-3D6E-4402-83CC-DAE258300024}" destId="{B5CD1093-99F4-46D5-B123-81B301498B29}" srcOrd="0" destOrd="0" presId="urn:microsoft.com/office/officeart/2018/2/layout/IconVerticalSolidList"/>
    <dgm:cxn modelId="{E861A10B-59C2-4607-A453-2936E5D30320}" type="presOf" srcId="{1476B890-00E8-4A9B-A9D3-31C5F903FC7F}" destId="{A845B0CA-C379-4C7B-B29F-A7ECC6782B80}" srcOrd="0" destOrd="0" presId="urn:microsoft.com/office/officeart/2018/2/layout/IconVerticalSolidList"/>
    <dgm:cxn modelId="{5980C424-9943-436F-8531-0461D05C8D2F}" type="presOf" srcId="{8E2E101F-D03B-47AD-B50B-2B9FA2BFB5D6}" destId="{A5DAE4AC-0F74-48F1-AB70-0D3FF249F58E}" srcOrd="0" destOrd="1" presId="urn:microsoft.com/office/officeart/2018/2/layout/IconVerticalSolidList"/>
    <dgm:cxn modelId="{1D794327-1B8D-407C-BB93-6B7B49F52481}" type="presOf" srcId="{11AB0264-20C9-43CF-BB39-C97EA7D50DC5}" destId="{6BE225AB-9107-4837-AFE9-AFCEFEB8E3C6}" srcOrd="0" destOrd="0" presId="urn:microsoft.com/office/officeart/2018/2/layout/IconVerticalSolidList"/>
    <dgm:cxn modelId="{B7FE1961-D571-421D-989A-B3317DBFFB74}" srcId="{DB9DC53D-0F53-4A1B-9AE9-ED9B0B5444E5}" destId="{8E2E101F-D03B-47AD-B50B-2B9FA2BFB5D6}" srcOrd="1" destOrd="0" parTransId="{C098CC18-3473-4BD8-99AE-B499163C1E4F}" sibTransId="{03A8CDCD-3FAA-4F73-B341-FCCC5F292FF8}"/>
    <dgm:cxn modelId="{8BB7364C-7D42-4271-9E5E-9CC0C681EC3C}" srcId="{F17F27A7-3D6E-4402-83CC-DAE258300024}" destId="{DB9DC53D-0F53-4A1B-9AE9-ED9B0B5444E5}" srcOrd="2" destOrd="0" parTransId="{85F40CB1-3D56-44AA-BB2D-92BF9600D61B}" sibTransId="{827C4BF2-7036-4C97-8121-808A77D516D7}"/>
    <dgm:cxn modelId="{D0CAF274-9DE0-4D52-8A54-AAB8B8D15826}" srcId="{DB9DC53D-0F53-4A1B-9AE9-ED9B0B5444E5}" destId="{2AA65483-D8B5-4358-AC6C-44FB89DFFEB3}" srcOrd="0" destOrd="0" parTransId="{A5E7F2C8-3F84-4B2C-92E6-E340E73DE733}" sibTransId="{47F8FB31-A5E5-40BE-ADEB-A28CCB622D85}"/>
    <dgm:cxn modelId="{DED3A175-44D0-40A9-BE14-68FB71B146FF}" type="presOf" srcId="{DB9DC53D-0F53-4A1B-9AE9-ED9B0B5444E5}" destId="{5AD48BA5-2682-413B-91F3-A34A10B695F9}" srcOrd="0" destOrd="0" presId="urn:microsoft.com/office/officeart/2018/2/layout/IconVerticalSolidList"/>
    <dgm:cxn modelId="{BE36649A-A96F-46E8-B067-5DD066198E78}" type="presOf" srcId="{2AA65483-D8B5-4358-AC6C-44FB89DFFEB3}" destId="{A5DAE4AC-0F74-48F1-AB70-0D3FF249F58E}" srcOrd="0" destOrd="0" presId="urn:microsoft.com/office/officeart/2018/2/layout/IconVerticalSolidList"/>
    <dgm:cxn modelId="{CB6467E3-FBD1-4FD7-B5DD-D6B60B7A72A3}" srcId="{F17F27A7-3D6E-4402-83CC-DAE258300024}" destId="{11AB0264-20C9-43CF-BB39-C97EA7D50DC5}" srcOrd="1" destOrd="0" parTransId="{9A777EB3-98CD-4E0B-A52D-904520926B29}" sibTransId="{DEE01BF9-85C3-475E-9E14-4DBB1B43138D}"/>
    <dgm:cxn modelId="{4338B2EA-B3BB-4B93-AD92-04511465E419}" srcId="{F17F27A7-3D6E-4402-83CC-DAE258300024}" destId="{1476B890-00E8-4A9B-A9D3-31C5F903FC7F}" srcOrd="0" destOrd="0" parTransId="{85E496A7-DBE4-4122-BCFE-B81A91DB31C9}" sibTransId="{4836A8B9-0E1A-4686-83F0-9DC8EA600A93}"/>
    <dgm:cxn modelId="{0950E760-82F6-489B-A779-98AAF17479C8}" type="presParOf" srcId="{B5CD1093-99F4-46D5-B123-81B301498B29}" destId="{66983F47-DD33-469A-B925-82EE43F3D7C9}" srcOrd="0" destOrd="0" presId="urn:microsoft.com/office/officeart/2018/2/layout/IconVerticalSolidList"/>
    <dgm:cxn modelId="{CAF7CA74-15E0-4A1C-A777-38272AA7FB4E}" type="presParOf" srcId="{66983F47-DD33-469A-B925-82EE43F3D7C9}" destId="{F96EC954-53FB-48E9-9F36-A1934B474BF5}" srcOrd="0" destOrd="0" presId="urn:microsoft.com/office/officeart/2018/2/layout/IconVerticalSolidList"/>
    <dgm:cxn modelId="{BAB23A1D-005B-45C8-AD2B-0733C265B725}" type="presParOf" srcId="{66983F47-DD33-469A-B925-82EE43F3D7C9}" destId="{7FD56015-5C1B-4AB4-83EA-D48422F3A406}" srcOrd="1" destOrd="0" presId="urn:microsoft.com/office/officeart/2018/2/layout/IconVerticalSolidList"/>
    <dgm:cxn modelId="{4FBE730A-DFDB-4C4C-B4A4-67D045061142}" type="presParOf" srcId="{66983F47-DD33-469A-B925-82EE43F3D7C9}" destId="{1BC012C8-7961-4BCE-8793-1529DAAE6106}" srcOrd="2" destOrd="0" presId="urn:microsoft.com/office/officeart/2018/2/layout/IconVerticalSolidList"/>
    <dgm:cxn modelId="{F6FA0937-D74B-4006-9C12-1E4F3F280B9B}" type="presParOf" srcId="{66983F47-DD33-469A-B925-82EE43F3D7C9}" destId="{A845B0CA-C379-4C7B-B29F-A7ECC6782B80}" srcOrd="3" destOrd="0" presId="urn:microsoft.com/office/officeart/2018/2/layout/IconVerticalSolidList"/>
    <dgm:cxn modelId="{6DDA9FB6-70CD-489F-8DAA-E5566C69E489}" type="presParOf" srcId="{B5CD1093-99F4-46D5-B123-81B301498B29}" destId="{2A6EA4E2-CA98-46DC-80FF-E634A9AC4D1E}" srcOrd="1" destOrd="0" presId="urn:microsoft.com/office/officeart/2018/2/layout/IconVerticalSolidList"/>
    <dgm:cxn modelId="{10FC5FF2-E296-4513-8749-EEE03F6D1077}" type="presParOf" srcId="{B5CD1093-99F4-46D5-B123-81B301498B29}" destId="{FCA07B73-D36A-4789-8F3F-C339F455E9C0}" srcOrd="2" destOrd="0" presId="urn:microsoft.com/office/officeart/2018/2/layout/IconVerticalSolidList"/>
    <dgm:cxn modelId="{5D6E488B-1D3F-4121-A1D9-8C12C1300A67}" type="presParOf" srcId="{FCA07B73-D36A-4789-8F3F-C339F455E9C0}" destId="{88A4382B-7B6A-4FE1-AAB1-8A3422B2EDF4}" srcOrd="0" destOrd="0" presId="urn:microsoft.com/office/officeart/2018/2/layout/IconVerticalSolidList"/>
    <dgm:cxn modelId="{1B939333-9331-4B33-A308-BF08C6CEF069}" type="presParOf" srcId="{FCA07B73-D36A-4789-8F3F-C339F455E9C0}" destId="{0CC22560-B0B6-473D-8363-25C28F4E4803}" srcOrd="1" destOrd="0" presId="urn:microsoft.com/office/officeart/2018/2/layout/IconVerticalSolidList"/>
    <dgm:cxn modelId="{46BF2E96-D0BD-4ED1-AE92-2ECC7221D959}" type="presParOf" srcId="{FCA07B73-D36A-4789-8F3F-C339F455E9C0}" destId="{0693C66F-4CD8-467D-B235-62B3B1F4EB09}" srcOrd="2" destOrd="0" presId="urn:microsoft.com/office/officeart/2018/2/layout/IconVerticalSolidList"/>
    <dgm:cxn modelId="{52E16F99-6896-4CCA-BF55-A872AC1BE0D7}" type="presParOf" srcId="{FCA07B73-D36A-4789-8F3F-C339F455E9C0}" destId="{6BE225AB-9107-4837-AFE9-AFCEFEB8E3C6}" srcOrd="3" destOrd="0" presId="urn:microsoft.com/office/officeart/2018/2/layout/IconVerticalSolidList"/>
    <dgm:cxn modelId="{F2425669-155A-4CDB-A83E-F17AC7A3E17B}" type="presParOf" srcId="{B5CD1093-99F4-46D5-B123-81B301498B29}" destId="{88B44663-1998-45C7-9BD1-F6C6B49A864C}" srcOrd="3" destOrd="0" presId="urn:microsoft.com/office/officeart/2018/2/layout/IconVerticalSolidList"/>
    <dgm:cxn modelId="{6BFD0EEA-878D-400D-B4F1-5628DE70FC8A}" type="presParOf" srcId="{B5CD1093-99F4-46D5-B123-81B301498B29}" destId="{14F9BA4E-FA67-4A2A-B0F7-BF254EA4E8A4}" srcOrd="4" destOrd="0" presId="urn:microsoft.com/office/officeart/2018/2/layout/IconVerticalSolidList"/>
    <dgm:cxn modelId="{03132B0C-9787-4308-86F2-BF805D0289D0}" type="presParOf" srcId="{14F9BA4E-FA67-4A2A-B0F7-BF254EA4E8A4}" destId="{A0F7CD10-AFE4-4B90-B609-E09E22E82AEE}" srcOrd="0" destOrd="0" presId="urn:microsoft.com/office/officeart/2018/2/layout/IconVerticalSolidList"/>
    <dgm:cxn modelId="{7D68D97B-DABD-4547-AB87-58F0796B643D}" type="presParOf" srcId="{14F9BA4E-FA67-4A2A-B0F7-BF254EA4E8A4}" destId="{BCA3D748-EEA3-416A-8F4F-D96C87922A07}" srcOrd="1" destOrd="0" presId="urn:microsoft.com/office/officeart/2018/2/layout/IconVerticalSolidList"/>
    <dgm:cxn modelId="{BB139E01-D5AB-4A21-AAE9-A47855B063EF}" type="presParOf" srcId="{14F9BA4E-FA67-4A2A-B0F7-BF254EA4E8A4}" destId="{55630A20-D5F5-4640-9C97-99C6039627AD}" srcOrd="2" destOrd="0" presId="urn:microsoft.com/office/officeart/2018/2/layout/IconVerticalSolidList"/>
    <dgm:cxn modelId="{F81C1F70-E055-401E-B610-7DBD2377AF56}" type="presParOf" srcId="{14F9BA4E-FA67-4A2A-B0F7-BF254EA4E8A4}" destId="{5AD48BA5-2682-413B-91F3-A34A10B695F9}" srcOrd="3" destOrd="0" presId="urn:microsoft.com/office/officeart/2018/2/layout/IconVerticalSolidList"/>
    <dgm:cxn modelId="{0B4A8CF9-0082-4927-AB84-8E84CDDB41B0}" type="presParOf" srcId="{14F9BA4E-FA67-4A2A-B0F7-BF254EA4E8A4}" destId="{A5DAE4AC-0F74-48F1-AB70-0D3FF249F58E}"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6DAF6E-5020-424C-8B51-43F45881C07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BB5BAF8-533F-4D0F-90FC-0244B1DC9968}">
      <dgm:prSet/>
      <dgm:spPr/>
      <dgm:t>
        <a:bodyPr/>
        <a:lstStyle/>
        <a:p>
          <a:pPr>
            <a:lnSpc>
              <a:spcPct val="100000"/>
            </a:lnSpc>
          </a:pPr>
          <a:r>
            <a:rPr lang="en-US" dirty="0"/>
            <a:t>Initialize the parameters randomly.</a:t>
          </a:r>
        </a:p>
      </dgm:t>
    </dgm:pt>
    <dgm:pt modelId="{9060D8B6-57C6-493C-9704-1ED965CCF996}" type="parTrans" cxnId="{B3CDB985-A800-4FF9-8AAD-BD01C185BD6C}">
      <dgm:prSet/>
      <dgm:spPr/>
      <dgm:t>
        <a:bodyPr/>
        <a:lstStyle/>
        <a:p>
          <a:endParaRPr lang="en-US"/>
        </a:p>
      </dgm:t>
    </dgm:pt>
    <dgm:pt modelId="{E9121D0F-74A2-4931-9F5A-4102A2DE57AA}" type="sibTrans" cxnId="{B3CDB985-A800-4FF9-8AAD-BD01C185BD6C}">
      <dgm:prSet/>
      <dgm:spPr/>
      <dgm:t>
        <a:bodyPr/>
        <a:lstStyle/>
        <a:p>
          <a:endParaRPr lang="en-US"/>
        </a:p>
      </dgm:t>
    </dgm:pt>
    <dgm:pt modelId="{0B5B7E2B-7E01-43F3-BE67-6AB76A59FAAD}">
      <dgm:prSet/>
      <dgm:spPr/>
      <dgm:t>
        <a:bodyPr/>
        <a:lstStyle/>
        <a:p>
          <a:pPr>
            <a:lnSpc>
              <a:spcPct val="100000"/>
            </a:lnSpc>
          </a:pPr>
          <a:r>
            <a:rPr lang="en-US" dirty="0"/>
            <a:t>Compute the gradient of the cost function.</a:t>
          </a:r>
        </a:p>
      </dgm:t>
    </dgm:pt>
    <dgm:pt modelId="{9916FA3D-DFC4-481A-B0DF-A8411B56DCF0}" type="parTrans" cxnId="{03506D61-F1BD-4081-835B-92B75A79F2B2}">
      <dgm:prSet/>
      <dgm:spPr/>
      <dgm:t>
        <a:bodyPr/>
        <a:lstStyle/>
        <a:p>
          <a:endParaRPr lang="en-US"/>
        </a:p>
      </dgm:t>
    </dgm:pt>
    <dgm:pt modelId="{110D3294-E00F-4620-B627-07E809699A1F}" type="sibTrans" cxnId="{03506D61-F1BD-4081-835B-92B75A79F2B2}">
      <dgm:prSet/>
      <dgm:spPr/>
      <dgm:t>
        <a:bodyPr/>
        <a:lstStyle/>
        <a:p>
          <a:endParaRPr lang="en-US"/>
        </a:p>
      </dgm:t>
    </dgm:pt>
    <dgm:pt modelId="{3E9B4865-3A51-49BD-90CB-6FE7034BBFBE}">
      <dgm:prSet/>
      <dgm:spPr/>
      <dgm:t>
        <a:bodyPr/>
        <a:lstStyle/>
        <a:p>
          <a:pPr>
            <a:lnSpc>
              <a:spcPct val="100000"/>
            </a:lnSpc>
          </a:pPr>
          <a:r>
            <a:rPr lang="en-US" dirty="0"/>
            <a:t>Update parameters using the gradient and learning rate.</a:t>
          </a:r>
        </a:p>
      </dgm:t>
    </dgm:pt>
    <dgm:pt modelId="{0C58AA22-C85F-4A96-B3D3-DD1E69AA167C}" type="parTrans" cxnId="{9E3223A0-8E56-45CC-8BA7-4635D8758C3D}">
      <dgm:prSet/>
      <dgm:spPr/>
      <dgm:t>
        <a:bodyPr/>
        <a:lstStyle/>
        <a:p>
          <a:endParaRPr lang="en-US"/>
        </a:p>
      </dgm:t>
    </dgm:pt>
    <dgm:pt modelId="{E16FC5E1-D06D-49A4-898F-6D087524F72A}" type="sibTrans" cxnId="{9E3223A0-8E56-45CC-8BA7-4635D8758C3D}">
      <dgm:prSet/>
      <dgm:spPr/>
      <dgm:t>
        <a:bodyPr/>
        <a:lstStyle/>
        <a:p>
          <a:endParaRPr lang="en-US"/>
        </a:p>
      </dgm:t>
    </dgm:pt>
    <dgm:pt modelId="{0012A892-8B35-4BAD-98CD-2B76EE2F0DCF}">
      <dgm:prSet/>
      <dgm:spPr/>
      <dgm:t>
        <a:bodyPr/>
        <a:lstStyle/>
        <a:p>
          <a:pPr>
            <a:lnSpc>
              <a:spcPct val="100000"/>
            </a:lnSpc>
          </a:pPr>
          <a:r>
            <a:rPr lang="en-US" dirty="0"/>
            <a:t>Repeat until convergence.</a:t>
          </a:r>
        </a:p>
      </dgm:t>
    </dgm:pt>
    <dgm:pt modelId="{B7836978-24E4-431D-A02C-6B0F39D8529B}" type="parTrans" cxnId="{8F819F77-53FE-4398-9ED3-D4CA19E8DC86}">
      <dgm:prSet/>
      <dgm:spPr/>
      <dgm:t>
        <a:bodyPr/>
        <a:lstStyle/>
        <a:p>
          <a:endParaRPr lang="en-US"/>
        </a:p>
      </dgm:t>
    </dgm:pt>
    <dgm:pt modelId="{7311802D-6066-4F03-856B-31C72C054F72}" type="sibTrans" cxnId="{8F819F77-53FE-4398-9ED3-D4CA19E8DC86}">
      <dgm:prSet/>
      <dgm:spPr/>
      <dgm:t>
        <a:bodyPr/>
        <a:lstStyle/>
        <a:p>
          <a:endParaRPr lang="en-US"/>
        </a:p>
      </dgm:t>
    </dgm:pt>
    <dgm:pt modelId="{A3A4A198-8CFC-43C3-B6AA-AED217AD38FB}" type="pres">
      <dgm:prSet presAssocID="{856DAF6E-5020-424C-8B51-43F45881C073}" presName="root" presStyleCnt="0">
        <dgm:presLayoutVars>
          <dgm:dir/>
          <dgm:resizeHandles val="exact"/>
        </dgm:presLayoutVars>
      </dgm:prSet>
      <dgm:spPr/>
    </dgm:pt>
    <dgm:pt modelId="{477774BF-B5FB-4493-9E85-1F96C0859226}" type="pres">
      <dgm:prSet presAssocID="{BBB5BAF8-533F-4D0F-90FC-0244B1DC9968}" presName="compNode" presStyleCnt="0"/>
      <dgm:spPr/>
    </dgm:pt>
    <dgm:pt modelId="{2C23CE33-C695-4ACE-A525-8C9D3A26EEE4}" type="pres">
      <dgm:prSet presAssocID="{BBB5BAF8-533F-4D0F-90FC-0244B1DC9968}" presName="bgRect" presStyleLbl="bgShp" presStyleIdx="0" presStyleCnt="4"/>
      <dgm:spPr/>
    </dgm:pt>
    <dgm:pt modelId="{11632306-B160-42FC-80DA-C725FF358E8D}" type="pres">
      <dgm:prSet presAssocID="{BBB5BAF8-533F-4D0F-90FC-0244B1DC996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75DB845D-047C-4048-B3F1-796AAEB0382C}" type="pres">
      <dgm:prSet presAssocID="{BBB5BAF8-533F-4D0F-90FC-0244B1DC9968}" presName="spaceRect" presStyleCnt="0"/>
      <dgm:spPr/>
    </dgm:pt>
    <dgm:pt modelId="{4A8DC26F-14F2-4E87-9B02-19FC8C27BB56}" type="pres">
      <dgm:prSet presAssocID="{BBB5BAF8-533F-4D0F-90FC-0244B1DC9968}" presName="parTx" presStyleLbl="revTx" presStyleIdx="0" presStyleCnt="4">
        <dgm:presLayoutVars>
          <dgm:chMax val="0"/>
          <dgm:chPref val="0"/>
        </dgm:presLayoutVars>
      </dgm:prSet>
      <dgm:spPr/>
    </dgm:pt>
    <dgm:pt modelId="{87B4547F-DE4B-42B3-B3F7-CDB33AD14046}" type="pres">
      <dgm:prSet presAssocID="{E9121D0F-74A2-4931-9F5A-4102A2DE57AA}" presName="sibTrans" presStyleCnt="0"/>
      <dgm:spPr/>
    </dgm:pt>
    <dgm:pt modelId="{4FA3C0A7-E854-4041-923A-2CB275BC4645}" type="pres">
      <dgm:prSet presAssocID="{0B5B7E2B-7E01-43F3-BE67-6AB76A59FAAD}" presName="compNode" presStyleCnt="0"/>
      <dgm:spPr/>
    </dgm:pt>
    <dgm:pt modelId="{2E7F2286-58D0-403F-9F46-ACA6D35DE948}" type="pres">
      <dgm:prSet presAssocID="{0B5B7E2B-7E01-43F3-BE67-6AB76A59FAAD}" presName="bgRect" presStyleLbl="bgShp" presStyleIdx="1" presStyleCnt="4"/>
      <dgm:spPr/>
    </dgm:pt>
    <dgm:pt modelId="{1B1F5A35-3DD3-4BF9-8B2B-0BF15B85C3B7}" type="pres">
      <dgm:prSet presAssocID="{0B5B7E2B-7E01-43F3-BE67-6AB76A59FAA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alculator"/>
        </a:ext>
      </dgm:extLst>
    </dgm:pt>
    <dgm:pt modelId="{8C819562-FBAB-4C3A-964C-2D4DDD7FCB0A}" type="pres">
      <dgm:prSet presAssocID="{0B5B7E2B-7E01-43F3-BE67-6AB76A59FAAD}" presName="spaceRect" presStyleCnt="0"/>
      <dgm:spPr/>
    </dgm:pt>
    <dgm:pt modelId="{F38E6DF3-BC7A-487D-BB48-E6D1EA8C61B5}" type="pres">
      <dgm:prSet presAssocID="{0B5B7E2B-7E01-43F3-BE67-6AB76A59FAAD}" presName="parTx" presStyleLbl="revTx" presStyleIdx="1" presStyleCnt="4">
        <dgm:presLayoutVars>
          <dgm:chMax val="0"/>
          <dgm:chPref val="0"/>
        </dgm:presLayoutVars>
      </dgm:prSet>
      <dgm:spPr/>
    </dgm:pt>
    <dgm:pt modelId="{03D86393-3092-474E-AB05-8469F3E8D37F}" type="pres">
      <dgm:prSet presAssocID="{110D3294-E00F-4620-B627-07E809699A1F}" presName="sibTrans" presStyleCnt="0"/>
      <dgm:spPr/>
    </dgm:pt>
    <dgm:pt modelId="{78924816-D97F-4CF8-B527-F71B96961641}" type="pres">
      <dgm:prSet presAssocID="{3E9B4865-3A51-49BD-90CB-6FE7034BBFBE}" presName="compNode" presStyleCnt="0"/>
      <dgm:spPr/>
    </dgm:pt>
    <dgm:pt modelId="{78618563-EBC2-40E6-A6C3-5C0301E51E1E}" type="pres">
      <dgm:prSet presAssocID="{3E9B4865-3A51-49BD-90CB-6FE7034BBFBE}" presName="bgRect" presStyleLbl="bgShp" presStyleIdx="2" presStyleCnt="4"/>
      <dgm:spPr/>
    </dgm:pt>
    <dgm:pt modelId="{171F983C-2106-4A36-92BF-4B74447B7B8F}" type="pres">
      <dgm:prSet presAssocID="{3E9B4865-3A51-49BD-90CB-6FE7034BBFB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uler"/>
        </a:ext>
      </dgm:extLst>
    </dgm:pt>
    <dgm:pt modelId="{3ECF0236-99E2-406E-8D73-17A6E4ECE949}" type="pres">
      <dgm:prSet presAssocID="{3E9B4865-3A51-49BD-90CB-6FE7034BBFBE}" presName="spaceRect" presStyleCnt="0"/>
      <dgm:spPr/>
    </dgm:pt>
    <dgm:pt modelId="{51348A7C-2E6A-4009-87B7-A53D558580E4}" type="pres">
      <dgm:prSet presAssocID="{3E9B4865-3A51-49BD-90CB-6FE7034BBFBE}" presName="parTx" presStyleLbl="revTx" presStyleIdx="2" presStyleCnt="4">
        <dgm:presLayoutVars>
          <dgm:chMax val="0"/>
          <dgm:chPref val="0"/>
        </dgm:presLayoutVars>
      </dgm:prSet>
      <dgm:spPr/>
    </dgm:pt>
    <dgm:pt modelId="{59931340-FB3C-4CEB-9199-C5FFFF40AD9F}" type="pres">
      <dgm:prSet presAssocID="{E16FC5E1-D06D-49A4-898F-6D087524F72A}" presName="sibTrans" presStyleCnt="0"/>
      <dgm:spPr/>
    </dgm:pt>
    <dgm:pt modelId="{BE3B1FEA-FB1B-422E-A4F3-CC706C6F5A07}" type="pres">
      <dgm:prSet presAssocID="{0012A892-8B35-4BAD-98CD-2B76EE2F0DCF}" presName="compNode" presStyleCnt="0"/>
      <dgm:spPr/>
    </dgm:pt>
    <dgm:pt modelId="{9E3B5568-88CA-4A7E-9A27-22DBFFA81FCA}" type="pres">
      <dgm:prSet presAssocID="{0012A892-8B35-4BAD-98CD-2B76EE2F0DCF}" presName="bgRect" presStyleLbl="bgShp" presStyleIdx="3" presStyleCnt="4"/>
      <dgm:spPr/>
    </dgm:pt>
    <dgm:pt modelId="{CDFC8476-2520-48A1-BFFD-B0131AD5F7A9}" type="pres">
      <dgm:prSet presAssocID="{0012A892-8B35-4BAD-98CD-2B76EE2F0DC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Arrow Circle"/>
        </a:ext>
      </dgm:extLst>
    </dgm:pt>
    <dgm:pt modelId="{1CE621B9-16A1-4AFE-93F2-9E1C50D9D1F4}" type="pres">
      <dgm:prSet presAssocID="{0012A892-8B35-4BAD-98CD-2B76EE2F0DCF}" presName="spaceRect" presStyleCnt="0"/>
      <dgm:spPr/>
    </dgm:pt>
    <dgm:pt modelId="{B495F5B0-7088-472A-8097-C1C6FBCE7677}" type="pres">
      <dgm:prSet presAssocID="{0012A892-8B35-4BAD-98CD-2B76EE2F0DCF}" presName="parTx" presStyleLbl="revTx" presStyleIdx="3" presStyleCnt="4">
        <dgm:presLayoutVars>
          <dgm:chMax val="0"/>
          <dgm:chPref val="0"/>
        </dgm:presLayoutVars>
      </dgm:prSet>
      <dgm:spPr/>
    </dgm:pt>
  </dgm:ptLst>
  <dgm:cxnLst>
    <dgm:cxn modelId="{15E85B03-4A9E-4DC7-9198-C0F038EFF64D}" type="presOf" srcId="{0012A892-8B35-4BAD-98CD-2B76EE2F0DCF}" destId="{B495F5B0-7088-472A-8097-C1C6FBCE7677}" srcOrd="0" destOrd="0" presId="urn:microsoft.com/office/officeart/2018/2/layout/IconVerticalSolidList"/>
    <dgm:cxn modelId="{272A9706-B62C-4C33-92AF-34EB989CD226}" type="presOf" srcId="{BBB5BAF8-533F-4D0F-90FC-0244B1DC9968}" destId="{4A8DC26F-14F2-4E87-9B02-19FC8C27BB56}" srcOrd="0" destOrd="0" presId="urn:microsoft.com/office/officeart/2018/2/layout/IconVerticalSolidList"/>
    <dgm:cxn modelId="{FFE1F33B-3B49-4A6B-A5DA-0771DB4BEEE9}" type="presOf" srcId="{856DAF6E-5020-424C-8B51-43F45881C073}" destId="{A3A4A198-8CFC-43C3-B6AA-AED217AD38FB}" srcOrd="0" destOrd="0" presId="urn:microsoft.com/office/officeart/2018/2/layout/IconVerticalSolidList"/>
    <dgm:cxn modelId="{03506D61-F1BD-4081-835B-92B75A79F2B2}" srcId="{856DAF6E-5020-424C-8B51-43F45881C073}" destId="{0B5B7E2B-7E01-43F3-BE67-6AB76A59FAAD}" srcOrd="1" destOrd="0" parTransId="{9916FA3D-DFC4-481A-B0DF-A8411B56DCF0}" sibTransId="{110D3294-E00F-4620-B627-07E809699A1F}"/>
    <dgm:cxn modelId="{8F819F77-53FE-4398-9ED3-D4CA19E8DC86}" srcId="{856DAF6E-5020-424C-8B51-43F45881C073}" destId="{0012A892-8B35-4BAD-98CD-2B76EE2F0DCF}" srcOrd="3" destOrd="0" parTransId="{B7836978-24E4-431D-A02C-6B0F39D8529B}" sibTransId="{7311802D-6066-4F03-856B-31C72C054F72}"/>
    <dgm:cxn modelId="{B3CDB985-A800-4FF9-8AAD-BD01C185BD6C}" srcId="{856DAF6E-5020-424C-8B51-43F45881C073}" destId="{BBB5BAF8-533F-4D0F-90FC-0244B1DC9968}" srcOrd="0" destOrd="0" parTransId="{9060D8B6-57C6-493C-9704-1ED965CCF996}" sibTransId="{E9121D0F-74A2-4931-9F5A-4102A2DE57AA}"/>
    <dgm:cxn modelId="{74C15093-16FE-472F-96AD-96AC5FF9A84F}" type="presOf" srcId="{0B5B7E2B-7E01-43F3-BE67-6AB76A59FAAD}" destId="{F38E6DF3-BC7A-487D-BB48-E6D1EA8C61B5}" srcOrd="0" destOrd="0" presId="urn:microsoft.com/office/officeart/2018/2/layout/IconVerticalSolidList"/>
    <dgm:cxn modelId="{4E70459F-87DD-457E-A298-8ACCD62F3C97}" type="presOf" srcId="{3E9B4865-3A51-49BD-90CB-6FE7034BBFBE}" destId="{51348A7C-2E6A-4009-87B7-A53D558580E4}" srcOrd="0" destOrd="0" presId="urn:microsoft.com/office/officeart/2018/2/layout/IconVerticalSolidList"/>
    <dgm:cxn modelId="{9E3223A0-8E56-45CC-8BA7-4635D8758C3D}" srcId="{856DAF6E-5020-424C-8B51-43F45881C073}" destId="{3E9B4865-3A51-49BD-90CB-6FE7034BBFBE}" srcOrd="2" destOrd="0" parTransId="{0C58AA22-C85F-4A96-B3D3-DD1E69AA167C}" sibTransId="{E16FC5E1-D06D-49A4-898F-6D087524F72A}"/>
    <dgm:cxn modelId="{1A384A03-0D08-414B-A389-AF114718B129}" type="presParOf" srcId="{A3A4A198-8CFC-43C3-B6AA-AED217AD38FB}" destId="{477774BF-B5FB-4493-9E85-1F96C0859226}" srcOrd="0" destOrd="0" presId="urn:microsoft.com/office/officeart/2018/2/layout/IconVerticalSolidList"/>
    <dgm:cxn modelId="{20EAD388-FB90-4FD7-9709-EE03C2BE09B4}" type="presParOf" srcId="{477774BF-B5FB-4493-9E85-1F96C0859226}" destId="{2C23CE33-C695-4ACE-A525-8C9D3A26EEE4}" srcOrd="0" destOrd="0" presId="urn:microsoft.com/office/officeart/2018/2/layout/IconVerticalSolidList"/>
    <dgm:cxn modelId="{24195AE4-C0DF-4026-A343-5FD3F2D88B43}" type="presParOf" srcId="{477774BF-B5FB-4493-9E85-1F96C0859226}" destId="{11632306-B160-42FC-80DA-C725FF358E8D}" srcOrd="1" destOrd="0" presId="urn:microsoft.com/office/officeart/2018/2/layout/IconVerticalSolidList"/>
    <dgm:cxn modelId="{AE82735A-B924-480B-82E1-EDD44F8AB867}" type="presParOf" srcId="{477774BF-B5FB-4493-9E85-1F96C0859226}" destId="{75DB845D-047C-4048-B3F1-796AAEB0382C}" srcOrd="2" destOrd="0" presId="urn:microsoft.com/office/officeart/2018/2/layout/IconVerticalSolidList"/>
    <dgm:cxn modelId="{8A7A197E-FA3A-4039-ADDE-FE2C585EB13A}" type="presParOf" srcId="{477774BF-B5FB-4493-9E85-1F96C0859226}" destId="{4A8DC26F-14F2-4E87-9B02-19FC8C27BB56}" srcOrd="3" destOrd="0" presId="urn:microsoft.com/office/officeart/2018/2/layout/IconVerticalSolidList"/>
    <dgm:cxn modelId="{C4C910A4-AEE8-4656-B3EC-FDE6B21C8267}" type="presParOf" srcId="{A3A4A198-8CFC-43C3-B6AA-AED217AD38FB}" destId="{87B4547F-DE4B-42B3-B3F7-CDB33AD14046}" srcOrd="1" destOrd="0" presId="urn:microsoft.com/office/officeart/2018/2/layout/IconVerticalSolidList"/>
    <dgm:cxn modelId="{E7DEEECA-21A2-42D5-A552-FEA5B68FFEBA}" type="presParOf" srcId="{A3A4A198-8CFC-43C3-B6AA-AED217AD38FB}" destId="{4FA3C0A7-E854-4041-923A-2CB275BC4645}" srcOrd="2" destOrd="0" presId="urn:microsoft.com/office/officeart/2018/2/layout/IconVerticalSolidList"/>
    <dgm:cxn modelId="{4E768185-5400-492F-AE12-C719BF660765}" type="presParOf" srcId="{4FA3C0A7-E854-4041-923A-2CB275BC4645}" destId="{2E7F2286-58D0-403F-9F46-ACA6D35DE948}" srcOrd="0" destOrd="0" presId="urn:microsoft.com/office/officeart/2018/2/layout/IconVerticalSolidList"/>
    <dgm:cxn modelId="{9066975D-75E2-4A03-8FFF-CBBD9B2051D6}" type="presParOf" srcId="{4FA3C0A7-E854-4041-923A-2CB275BC4645}" destId="{1B1F5A35-3DD3-4BF9-8B2B-0BF15B85C3B7}" srcOrd="1" destOrd="0" presId="urn:microsoft.com/office/officeart/2018/2/layout/IconVerticalSolidList"/>
    <dgm:cxn modelId="{5D04DE60-7C95-46B7-B7A4-023B497ECB1A}" type="presParOf" srcId="{4FA3C0A7-E854-4041-923A-2CB275BC4645}" destId="{8C819562-FBAB-4C3A-964C-2D4DDD7FCB0A}" srcOrd="2" destOrd="0" presId="urn:microsoft.com/office/officeart/2018/2/layout/IconVerticalSolidList"/>
    <dgm:cxn modelId="{AEC9167B-92A1-42ED-A46A-C4F1E536E1D1}" type="presParOf" srcId="{4FA3C0A7-E854-4041-923A-2CB275BC4645}" destId="{F38E6DF3-BC7A-487D-BB48-E6D1EA8C61B5}" srcOrd="3" destOrd="0" presId="urn:microsoft.com/office/officeart/2018/2/layout/IconVerticalSolidList"/>
    <dgm:cxn modelId="{8411CCDA-7254-4180-B91D-FCF85B4C94B0}" type="presParOf" srcId="{A3A4A198-8CFC-43C3-B6AA-AED217AD38FB}" destId="{03D86393-3092-474E-AB05-8469F3E8D37F}" srcOrd="3" destOrd="0" presId="urn:microsoft.com/office/officeart/2018/2/layout/IconVerticalSolidList"/>
    <dgm:cxn modelId="{D4242A39-B9B5-44B0-88BA-F7680A6A6E5F}" type="presParOf" srcId="{A3A4A198-8CFC-43C3-B6AA-AED217AD38FB}" destId="{78924816-D97F-4CF8-B527-F71B96961641}" srcOrd="4" destOrd="0" presId="urn:microsoft.com/office/officeart/2018/2/layout/IconVerticalSolidList"/>
    <dgm:cxn modelId="{55C02DFC-CC06-4DD1-9824-A09CF3492E35}" type="presParOf" srcId="{78924816-D97F-4CF8-B527-F71B96961641}" destId="{78618563-EBC2-40E6-A6C3-5C0301E51E1E}" srcOrd="0" destOrd="0" presId="urn:microsoft.com/office/officeart/2018/2/layout/IconVerticalSolidList"/>
    <dgm:cxn modelId="{34CD841F-A70C-4D84-B8F1-99F663942DC2}" type="presParOf" srcId="{78924816-D97F-4CF8-B527-F71B96961641}" destId="{171F983C-2106-4A36-92BF-4B74447B7B8F}" srcOrd="1" destOrd="0" presId="urn:microsoft.com/office/officeart/2018/2/layout/IconVerticalSolidList"/>
    <dgm:cxn modelId="{C4DF2A46-463A-4317-AAB6-7C9A321C1175}" type="presParOf" srcId="{78924816-D97F-4CF8-B527-F71B96961641}" destId="{3ECF0236-99E2-406E-8D73-17A6E4ECE949}" srcOrd="2" destOrd="0" presId="urn:microsoft.com/office/officeart/2018/2/layout/IconVerticalSolidList"/>
    <dgm:cxn modelId="{D41EB97E-62EC-4EE3-8956-1AD131B895B8}" type="presParOf" srcId="{78924816-D97F-4CF8-B527-F71B96961641}" destId="{51348A7C-2E6A-4009-87B7-A53D558580E4}" srcOrd="3" destOrd="0" presId="urn:microsoft.com/office/officeart/2018/2/layout/IconVerticalSolidList"/>
    <dgm:cxn modelId="{F78DFDB2-16ED-4AFF-9054-8A140B065080}" type="presParOf" srcId="{A3A4A198-8CFC-43C3-B6AA-AED217AD38FB}" destId="{59931340-FB3C-4CEB-9199-C5FFFF40AD9F}" srcOrd="5" destOrd="0" presId="urn:microsoft.com/office/officeart/2018/2/layout/IconVerticalSolidList"/>
    <dgm:cxn modelId="{0D945F6F-E7ED-4E41-B0D8-C57F4F6C34A8}" type="presParOf" srcId="{A3A4A198-8CFC-43C3-B6AA-AED217AD38FB}" destId="{BE3B1FEA-FB1B-422E-A4F3-CC706C6F5A07}" srcOrd="6" destOrd="0" presId="urn:microsoft.com/office/officeart/2018/2/layout/IconVerticalSolidList"/>
    <dgm:cxn modelId="{7418A9F7-6867-466F-91A9-B9F0C2DFEB9D}" type="presParOf" srcId="{BE3B1FEA-FB1B-422E-A4F3-CC706C6F5A07}" destId="{9E3B5568-88CA-4A7E-9A27-22DBFFA81FCA}" srcOrd="0" destOrd="0" presId="urn:microsoft.com/office/officeart/2018/2/layout/IconVerticalSolidList"/>
    <dgm:cxn modelId="{901EC5FF-8CB3-48CA-B4D3-67F37B0817E5}" type="presParOf" srcId="{BE3B1FEA-FB1B-422E-A4F3-CC706C6F5A07}" destId="{CDFC8476-2520-48A1-BFFD-B0131AD5F7A9}" srcOrd="1" destOrd="0" presId="urn:microsoft.com/office/officeart/2018/2/layout/IconVerticalSolidList"/>
    <dgm:cxn modelId="{C94F03BF-4905-4242-ABB5-BAF56A92AAB6}" type="presParOf" srcId="{BE3B1FEA-FB1B-422E-A4F3-CC706C6F5A07}" destId="{1CE621B9-16A1-4AFE-93F2-9E1C50D9D1F4}" srcOrd="2" destOrd="0" presId="urn:microsoft.com/office/officeart/2018/2/layout/IconVerticalSolidList"/>
    <dgm:cxn modelId="{8337411A-BDF1-4739-BAC2-3F36E6849D53}" type="presParOf" srcId="{BE3B1FEA-FB1B-422E-A4F3-CC706C6F5A07}" destId="{B495F5B0-7088-472A-8097-C1C6FBCE767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B02E41-0298-43FF-9C94-0D2139AD5F70}"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A147D29E-4B7B-41FE-BC2B-6235A900BC85}">
      <dgm:prSet/>
      <dgm:spPr/>
      <dgm:t>
        <a:bodyPr/>
        <a:lstStyle/>
        <a:p>
          <a:r>
            <a:rPr lang="en-US" dirty="0"/>
            <a:t>Controls the step size at each iteration.
</a:t>
          </a:r>
          <a:r>
            <a:rPr lang="en-US" dirty="0">
              <a:solidFill>
                <a:srgbClr val="0070C0"/>
              </a:solidFill>
            </a:rPr>
            <a:t>Too high: Risk of overshooting the minimum.</a:t>
          </a:r>
          <a:r>
            <a:rPr lang="en-US" dirty="0"/>
            <a:t>
</a:t>
          </a:r>
          <a:r>
            <a:rPr lang="en-US" dirty="0">
              <a:solidFill>
                <a:schemeClr val="tx1"/>
              </a:solidFill>
            </a:rPr>
            <a:t>Too low: Slow convergence.</a:t>
          </a:r>
          <a:r>
            <a:rPr lang="en-US" dirty="0"/>
            <a:t>
</a:t>
          </a:r>
          <a:r>
            <a:rPr lang="en-US" dirty="0">
              <a:solidFill>
                <a:srgbClr val="FF0000"/>
              </a:solidFill>
            </a:rPr>
            <a:t>Best practice: Experiment with different learning rates or use learning rate scheduling.</a:t>
          </a:r>
        </a:p>
      </dgm:t>
    </dgm:pt>
    <dgm:pt modelId="{5B9E640B-C7A0-4C45-BFB4-AAD297A8A57B}" type="parTrans" cxnId="{AE00EF34-3C7B-4B72-B1C2-394E914F4DAC}">
      <dgm:prSet/>
      <dgm:spPr/>
      <dgm:t>
        <a:bodyPr/>
        <a:lstStyle/>
        <a:p>
          <a:endParaRPr lang="en-US"/>
        </a:p>
      </dgm:t>
    </dgm:pt>
    <dgm:pt modelId="{724E01E2-4AD7-4284-805E-3C3948FBC361}" type="sibTrans" cxnId="{AE00EF34-3C7B-4B72-B1C2-394E914F4DAC}">
      <dgm:prSet/>
      <dgm:spPr/>
      <dgm:t>
        <a:bodyPr/>
        <a:lstStyle/>
        <a:p>
          <a:endParaRPr lang="en-US"/>
        </a:p>
      </dgm:t>
    </dgm:pt>
    <dgm:pt modelId="{C5F2106B-B251-4461-B125-5103D0269D37}" type="pres">
      <dgm:prSet presAssocID="{E1B02E41-0298-43FF-9C94-0D2139AD5F70}" presName="linear" presStyleCnt="0">
        <dgm:presLayoutVars>
          <dgm:animLvl val="lvl"/>
          <dgm:resizeHandles val="exact"/>
        </dgm:presLayoutVars>
      </dgm:prSet>
      <dgm:spPr/>
    </dgm:pt>
    <dgm:pt modelId="{CD98091F-2D76-49E5-9088-A30BD6E43701}" type="pres">
      <dgm:prSet presAssocID="{A147D29E-4B7B-41FE-BC2B-6235A900BC85}" presName="parentText" presStyleLbl="node1" presStyleIdx="0" presStyleCnt="1" custLinFactNeighborX="-20727" custLinFactNeighborY="-10617">
        <dgm:presLayoutVars>
          <dgm:chMax val="0"/>
          <dgm:bulletEnabled val="1"/>
        </dgm:presLayoutVars>
      </dgm:prSet>
      <dgm:spPr/>
    </dgm:pt>
  </dgm:ptLst>
  <dgm:cxnLst>
    <dgm:cxn modelId="{BEAEA822-9AFA-435A-B08C-64093120AB85}" type="presOf" srcId="{E1B02E41-0298-43FF-9C94-0D2139AD5F70}" destId="{C5F2106B-B251-4461-B125-5103D0269D37}" srcOrd="0" destOrd="0" presId="urn:microsoft.com/office/officeart/2005/8/layout/vList2"/>
    <dgm:cxn modelId="{AE00EF34-3C7B-4B72-B1C2-394E914F4DAC}" srcId="{E1B02E41-0298-43FF-9C94-0D2139AD5F70}" destId="{A147D29E-4B7B-41FE-BC2B-6235A900BC85}" srcOrd="0" destOrd="0" parTransId="{5B9E640B-C7A0-4C45-BFB4-AAD297A8A57B}" sibTransId="{724E01E2-4AD7-4284-805E-3C3948FBC361}"/>
    <dgm:cxn modelId="{CDF53C62-0C16-495D-8AEC-787D7E6811BB}" type="presOf" srcId="{A147D29E-4B7B-41FE-BC2B-6235A900BC85}" destId="{CD98091F-2D76-49E5-9088-A30BD6E43701}" srcOrd="0" destOrd="0" presId="urn:microsoft.com/office/officeart/2005/8/layout/vList2"/>
    <dgm:cxn modelId="{6C1CF233-E57D-494C-BFBB-D9BCC9766828}" type="presParOf" srcId="{C5F2106B-B251-4461-B125-5103D0269D37}" destId="{CD98091F-2D76-49E5-9088-A30BD6E43701}"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635D80-4037-4808-84EB-E551803A81D2}">
      <dsp:nvSpPr>
        <dsp:cNvPr id="0" name=""/>
        <dsp:cNvSpPr/>
      </dsp:nvSpPr>
      <dsp:spPr>
        <a:xfrm>
          <a:off x="0" y="616"/>
          <a:ext cx="6910387" cy="14429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4D9C64-64CF-44FA-A559-D765DFC2F772}">
      <dsp:nvSpPr>
        <dsp:cNvPr id="0" name=""/>
        <dsp:cNvSpPr/>
      </dsp:nvSpPr>
      <dsp:spPr>
        <a:xfrm>
          <a:off x="436480" y="325271"/>
          <a:ext cx="793601" cy="793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5345C8-B805-4459-96C0-480CEF1946DC}">
      <dsp:nvSpPr>
        <dsp:cNvPr id="0" name=""/>
        <dsp:cNvSpPr/>
      </dsp:nvSpPr>
      <dsp:spPr>
        <a:xfrm>
          <a:off x="1666563" y="616"/>
          <a:ext cx="5243823" cy="1442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08" tIns="152708" rIns="152708" bIns="152708" numCol="1" spcCol="1270" anchor="ctr" anchorCtr="0">
          <a:noAutofit/>
        </a:bodyPr>
        <a:lstStyle/>
        <a:p>
          <a:pPr marL="0" lvl="0" indent="0" algn="l" defTabSz="1111250">
            <a:lnSpc>
              <a:spcPct val="90000"/>
            </a:lnSpc>
            <a:spcBef>
              <a:spcPct val="0"/>
            </a:spcBef>
            <a:spcAft>
              <a:spcPct val="35000"/>
            </a:spcAft>
            <a:buNone/>
          </a:pPr>
          <a:r>
            <a:rPr lang="en-US" sz="2500" kern="1200" dirty="0"/>
            <a:t>Gradient Descent is an optimization algorithm used to minimize a function by adjusting its parameters.</a:t>
          </a:r>
        </a:p>
      </dsp:txBody>
      <dsp:txXfrm>
        <a:off x="1666563" y="616"/>
        <a:ext cx="5243823" cy="1442911"/>
      </dsp:txXfrm>
    </dsp:sp>
    <dsp:sp modelId="{BF7C5772-6A4A-4346-A0A8-2F213B55B547}">
      <dsp:nvSpPr>
        <dsp:cNvPr id="0" name=""/>
        <dsp:cNvSpPr/>
      </dsp:nvSpPr>
      <dsp:spPr>
        <a:xfrm>
          <a:off x="0" y="1804256"/>
          <a:ext cx="6910387" cy="14429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DAD763-BD08-49F9-A8AC-009EFDB6D2A5}">
      <dsp:nvSpPr>
        <dsp:cNvPr id="0" name=""/>
        <dsp:cNvSpPr/>
      </dsp:nvSpPr>
      <dsp:spPr>
        <a:xfrm>
          <a:off x="436480" y="2128911"/>
          <a:ext cx="793601" cy="793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C0C9254-F3B4-478C-9746-5A512AB4BF36}">
      <dsp:nvSpPr>
        <dsp:cNvPr id="0" name=""/>
        <dsp:cNvSpPr/>
      </dsp:nvSpPr>
      <dsp:spPr>
        <a:xfrm>
          <a:off x="1666563" y="1804256"/>
          <a:ext cx="5243823" cy="1442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08" tIns="152708" rIns="152708" bIns="152708" numCol="1" spcCol="1270" anchor="ctr" anchorCtr="0">
          <a:noAutofit/>
        </a:bodyPr>
        <a:lstStyle/>
        <a:p>
          <a:pPr marL="0" lvl="0" indent="0" algn="l" defTabSz="1111250">
            <a:lnSpc>
              <a:spcPct val="90000"/>
            </a:lnSpc>
            <a:spcBef>
              <a:spcPct val="0"/>
            </a:spcBef>
            <a:spcAft>
              <a:spcPct val="35000"/>
            </a:spcAft>
            <a:buNone/>
          </a:pPr>
          <a:r>
            <a:rPr lang="en-US" sz="2500" kern="1200"/>
            <a:t>Commonly used in machine learning for optimizing cost functions.</a:t>
          </a:r>
        </a:p>
      </dsp:txBody>
      <dsp:txXfrm>
        <a:off x="1666563" y="1804256"/>
        <a:ext cx="5243823" cy="1442911"/>
      </dsp:txXfrm>
    </dsp:sp>
    <dsp:sp modelId="{14351CF7-1DC1-46B4-BFFA-E39733F84039}">
      <dsp:nvSpPr>
        <dsp:cNvPr id="0" name=""/>
        <dsp:cNvSpPr/>
      </dsp:nvSpPr>
      <dsp:spPr>
        <a:xfrm>
          <a:off x="0" y="3607896"/>
          <a:ext cx="6910387" cy="14429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ABA34B-1A15-4E71-ACC9-73F5C4A18730}">
      <dsp:nvSpPr>
        <dsp:cNvPr id="0" name=""/>
        <dsp:cNvSpPr/>
      </dsp:nvSpPr>
      <dsp:spPr>
        <a:xfrm>
          <a:off x="436480" y="3932551"/>
          <a:ext cx="793601" cy="7936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A7F78BD-F4A2-41D1-A162-BB63D838486E}">
      <dsp:nvSpPr>
        <dsp:cNvPr id="0" name=""/>
        <dsp:cNvSpPr/>
      </dsp:nvSpPr>
      <dsp:spPr>
        <a:xfrm>
          <a:off x="1666563" y="3607896"/>
          <a:ext cx="5243823" cy="1442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08" tIns="152708" rIns="152708" bIns="152708" numCol="1" spcCol="1270" anchor="ctr" anchorCtr="0">
          <a:noAutofit/>
        </a:bodyPr>
        <a:lstStyle/>
        <a:p>
          <a:pPr marL="0" lvl="0" indent="0" algn="l" defTabSz="1111250">
            <a:lnSpc>
              <a:spcPct val="90000"/>
            </a:lnSpc>
            <a:spcBef>
              <a:spcPct val="0"/>
            </a:spcBef>
            <a:spcAft>
              <a:spcPct val="35000"/>
            </a:spcAft>
            <a:buNone/>
          </a:pPr>
          <a:r>
            <a:rPr lang="en-US" sz="2500" kern="1200"/>
            <a:t>It iteratively adjusts the parameters to reduce the error.</a:t>
          </a:r>
        </a:p>
      </dsp:txBody>
      <dsp:txXfrm>
        <a:off x="1666563" y="3607896"/>
        <a:ext cx="5243823" cy="14429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274A41-7334-4A47-B6D6-6EA472E634B7}">
      <dsp:nvSpPr>
        <dsp:cNvPr id="0" name=""/>
        <dsp:cNvSpPr/>
      </dsp:nvSpPr>
      <dsp:spPr>
        <a:xfrm>
          <a:off x="1988187" y="1"/>
          <a:ext cx="2821300" cy="2821300"/>
        </a:xfrm>
        <a:prstGeom prst="downArrow">
          <a:avLst>
            <a:gd name="adj1" fmla="val 50000"/>
            <a:gd name="adj2" fmla="val 35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Helps in finding the minimum of complex cost functions.</a:t>
          </a:r>
        </a:p>
      </dsp:txBody>
      <dsp:txXfrm>
        <a:off x="2693512" y="1"/>
        <a:ext cx="1410650" cy="2327573"/>
      </dsp:txXfrm>
    </dsp:sp>
    <dsp:sp modelId="{8632E474-E8A0-4091-804E-62F7F2668BAD}">
      <dsp:nvSpPr>
        <dsp:cNvPr id="0" name=""/>
        <dsp:cNvSpPr/>
      </dsp:nvSpPr>
      <dsp:spPr>
        <a:xfrm rot="7200000">
          <a:off x="3621285" y="2828610"/>
          <a:ext cx="2821300" cy="2821300"/>
        </a:xfrm>
        <a:prstGeom prst="downArrow">
          <a:avLst>
            <a:gd name="adj1" fmla="val 50000"/>
            <a:gd name="adj2" fmla="val 35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Crucial for training machine learning models such as neural networks, linear regression, etc.</a:t>
          </a:r>
        </a:p>
      </dsp:txBody>
      <dsp:txXfrm rot="-5400000">
        <a:off x="4081939" y="3657366"/>
        <a:ext cx="2327573" cy="1410650"/>
      </dsp:txXfrm>
    </dsp:sp>
    <dsp:sp modelId="{0431066F-8225-40EC-B9F0-98D367DE4E14}">
      <dsp:nvSpPr>
        <dsp:cNvPr id="0" name=""/>
        <dsp:cNvSpPr/>
      </dsp:nvSpPr>
      <dsp:spPr>
        <a:xfrm rot="14400000">
          <a:off x="355089" y="2828610"/>
          <a:ext cx="2821300" cy="2821300"/>
        </a:xfrm>
        <a:prstGeom prst="downArrow">
          <a:avLst>
            <a:gd name="adj1" fmla="val 50000"/>
            <a:gd name="adj2" fmla="val 35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Enables large-scale data processing and parameter tuning efficiently.</a:t>
          </a:r>
        </a:p>
      </dsp:txBody>
      <dsp:txXfrm rot="5400000">
        <a:off x="388163" y="3657366"/>
        <a:ext cx="2327573" cy="14106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6EC954-53FB-48E9-9F36-A1934B474BF5}">
      <dsp:nvSpPr>
        <dsp:cNvPr id="0" name=""/>
        <dsp:cNvSpPr/>
      </dsp:nvSpPr>
      <dsp:spPr>
        <a:xfrm>
          <a:off x="-178699" y="8955"/>
          <a:ext cx="6797675" cy="1609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D56015-5C1B-4AB4-83EA-D48422F3A406}">
      <dsp:nvSpPr>
        <dsp:cNvPr id="0" name=""/>
        <dsp:cNvSpPr/>
      </dsp:nvSpPr>
      <dsp:spPr>
        <a:xfrm>
          <a:off x="308066" y="371012"/>
          <a:ext cx="885028" cy="8850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45B0CA-C379-4C7B-B29F-A7ECC6782B80}">
      <dsp:nvSpPr>
        <dsp:cNvPr id="0" name=""/>
        <dsp:cNvSpPr/>
      </dsp:nvSpPr>
      <dsp:spPr>
        <a:xfrm>
          <a:off x="1679860" y="8955"/>
          <a:ext cx="4935479" cy="1609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301" tIns="170301" rIns="170301" bIns="170301" numCol="1" spcCol="1270" anchor="ctr" anchorCtr="0">
          <a:noAutofit/>
        </a:bodyPr>
        <a:lstStyle/>
        <a:p>
          <a:pPr marL="0" lvl="0" indent="0" algn="l" defTabSz="1111250">
            <a:lnSpc>
              <a:spcPct val="90000"/>
            </a:lnSpc>
            <a:spcBef>
              <a:spcPct val="0"/>
            </a:spcBef>
            <a:spcAft>
              <a:spcPct val="35000"/>
            </a:spcAft>
            <a:buNone/>
          </a:pPr>
          <a:r>
            <a:rPr lang="en-US" sz="2500" kern="1200"/>
            <a:t>Measures the error between predicted and actual values.Objective: </a:t>
          </a:r>
        </a:p>
      </dsp:txBody>
      <dsp:txXfrm>
        <a:off x="1679860" y="8955"/>
        <a:ext cx="4935479" cy="1609142"/>
      </dsp:txXfrm>
    </dsp:sp>
    <dsp:sp modelId="{88A4382B-7B6A-4FE1-AAB1-8A3422B2EDF4}">
      <dsp:nvSpPr>
        <dsp:cNvPr id="0" name=""/>
        <dsp:cNvSpPr/>
      </dsp:nvSpPr>
      <dsp:spPr>
        <a:xfrm>
          <a:off x="-178699" y="2020384"/>
          <a:ext cx="6797675" cy="1609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C22560-B0B6-473D-8363-25C28F4E4803}">
      <dsp:nvSpPr>
        <dsp:cNvPr id="0" name=""/>
        <dsp:cNvSpPr/>
      </dsp:nvSpPr>
      <dsp:spPr>
        <a:xfrm>
          <a:off x="308066" y="2382441"/>
          <a:ext cx="885028" cy="8850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E225AB-9107-4837-AFE9-AFCEFEB8E3C6}">
      <dsp:nvSpPr>
        <dsp:cNvPr id="0" name=""/>
        <dsp:cNvSpPr/>
      </dsp:nvSpPr>
      <dsp:spPr>
        <a:xfrm>
          <a:off x="1679860" y="2020384"/>
          <a:ext cx="4935479" cy="1609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301" tIns="170301" rIns="170301" bIns="170301" numCol="1" spcCol="1270" anchor="ctr" anchorCtr="0">
          <a:noAutofit/>
        </a:bodyPr>
        <a:lstStyle/>
        <a:p>
          <a:pPr marL="0" lvl="0" indent="0" algn="l" defTabSz="1111250">
            <a:lnSpc>
              <a:spcPct val="90000"/>
            </a:lnSpc>
            <a:spcBef>
              <a:spcPct val="0"/>
            </a:spcBef>
            <a:spcAft>
              <a:spcPct val="35000"/>
            </a:spcAft>
            <a:buNone/>
          </a:pPr>
          <a:r>
            <a:rPr lang="en-US" sz="2500" kern="1200"/>
            <a:t>Minimize the cost function.</a:t>
          </a:r>
        </a:p>
      </dsp:txBody>
      <dsp:txXfrm>
        <a:off x="1679860" y="2020384"/>
        <a:ext cx="4935479" cy="1609142"/>
      </dsp:txXfrm>
    </dsp:sp>
    <dsp:sp modelId="{A0F7CD10-AFE4-4B90-B609-E09E22E82AEE}">
      <dsp:nvSpPr>
        <dsp:cNvPr id="0" name=""/>
        <dsp:cNvSpPr/>
      </dsp:nvSpPr>
      <dsp:spPr>
        <a:xfrm>
          <a:off x="-178699" y="4040769"/>
          <a:ext cx="6797675" cy="1609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A3D748-EEA3-416A-8F4F-D96C87922A07}">
      <dsp:nvSpPr>
        <dsp:cNvPr id="0" name=""/>
        <dsp:cNvSpPr/>
      </dsp:nvSpPr>
      <dsp:spPr>
        <a:xfrm>
          <a:off x="308066" y="4393870"/>
          <a:ext cx="885028" cy="8850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D48BA5-2682-413B-91F3-A34A10B695F9}">
      <dsp:nvSpPr>
        <dsp:cNvPr id="0" name=""/>
        <dsp:cNvSpPr/>
      </dsp:nvSpPr>
      <dsp:spPr>
        <a:xfrm>
          <a:off x="1679860" y="4031813"/>
          <a:ext cx="3058953" cy="1609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301" tIns="170301" rIns="170301" bIns="170301" numCol="1" spcCol="1270" anchor="ctr" anchorCtr="0">
          <a:noAutofit/>
        </a:bodyPr>
        <a:lstStyle/>
        <a:p>
          <a:pPr marL="0" lvl="0" indent="0" algn="l" defTabSz="1111250">
            <a:lnSpc>
              <a:spcPct val="90000"/>
            </a:lnSpc>
            <a:spcBef>
              <a:spcPct val="0"/>
            </a:spcBef>
            <a:spcAft>
              <a:spcPct val="35000"/>
            </a:spcAft>
            <a:buNone/>
          </a:pPr>
          <a:r>
            <a:rPr lang="en-US" sz="2500" kern="1200"/>
            <a:t>Common cost functions:</a:t>
          </a:r>
        </a:p>
      </dsp:txBody>
      <dsp:txXfrm>
        <a:off x="1679860" y="4031813"/>
        <a:ext cx="3058953" cy="1609142"/>
      </dsp:txXfrm>
    </dsp:sp>
    <dsp:sp modelId="{A5DAE4AC-0F74-48F1-AB70-0D3FF249F58E}">
      <dsp:nvSpPr>
        <dsp:cNvPr id="0" name=""/>
        <dsp:cNvSpPr/>
      </dsp:nvSpPr>
      <dsp:spPr>
        <a:xfrm>
          <a:off x="3909155" y="4040769"/>
          <a:ext cx="2598594" cy="1609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301" tIns="170301" rIns="170301" bIns="170301" numCol="1" spcCol="1270" anchor="ctr" anchorCtr="0">
          <a:noAutofit/>
        </a:bodyPr>
        <a:lstStyle/>
        <a:p>
          <a:pPr marL="0" lvl="0" indent="0" algn="l" defTabSz="889000">
            <a:lnSpc>
              <a:spcPct val="90000"/>
            </a:lnSpc>
            <a:spcBef>
              <a:spcPct val="0"/>
            </a:spcBef>
            <a:spcAft>
              <a:spcPct val="35000"/>
            </a:spcAft>
            <a:buNone/>
          </a:pPr>
          <a:r>
            <a:rPr lang="en-US" sz="2000" kern="1200" dirty="0">
              <a:solidFill>
                <a:srgbClr val="FF0000"/>
              </a:solidFill>
            </a:rPr>
            <a:t>Mean Squared Error (MSE) for regression.</a:t>
          </a:r>
        </a:p>
        <a:p>
          <a:pPr marL="0" lvl="0" indent="0" algn="l" defTabSz="889000">
            <a:lnSpc>
              <a:spcPct val="90000"/>
            </a:lnSpc>
            <a:spcBef>
              <a:spcPct val="0"/>
            </a:spcBef>
            <a:spcAft>
              <a:spcPct val="35000"/>
            </a:spcAft>
            <a:buNone/>
          </a:pPr>
          <a:r>
            <a:rPr lang="en-US" sz="2000" kern="1200" dirty="0">
              <a:solidFill>
                <a:srgbClr val="0070C0"/>
              </a:solidFill>
            </a:rPr>
            <a:t>Cross-Entropy for classification.</a:t>
          </a:r>
        </a:p>
      </dsp:txBody>
      <dsp:txXfrm>
        <a:off x="3909155" y="4040769"/>
        <a:ext cx="2598594" cy="16091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23CE33-C695-4ACE-A525-8C9D3A26EEE4}">
      <dsp:nvSpPr>
        <dsp:cNvPr id="0" name=""/>
        <dsp:cNvSpPr/>
      </dsp:nvSpPr>
      <dsp:spPr>
        <a:xfrm>
          <a:off x="0" y="1669"/>
          <a:ext cx="10058399" cy="8463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632306-B160-42FC-80DA-C725FF358E8D}">
      <dsp:nvSpPr>
        <dsp:cNvPr id="0" name=""/>
        <dsp:cNvSpPr/>
      </dsp:nvSpPr>
      <dsp:spPr>
        <a:xfrm>
          <a:off x="256011" y="192091"/>
          <a:ext cx="465476" cy="4654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8DC26F-14F2-4E87-9B02-19FC8C27BB56}">
      <dsp:nvSpPr>
        <dsp:cNvPr id="0" name=""/>
        <dsp:cNvSpPr/>
      </dsp:nvSpPr>
      <dsp:spPr>
        <a:xfrm>
          <a:off x="977499" y="1669"/>
          <a:ext cx="9080900"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977900">
            <a:lnSpc>
              <a:spcPct val="100000"/>
            </a:lnSpc>
            <a:spcBef>
              <a:spcPct val="0"/>
            </a:spcBef>
            <a:spcAft>
              <a:spcPct val="35000"/>
            </a:spcAft>
            <a:buNone/>
          </a:pPr>
          <a:r>
            <a:rPr lang="en-US" sz="2200" kern="1200" dirty="0"/>
            <a:t>Initialize the parameters randomly.</a:t>
          </a:r>
        </a:p>
      </dsp:txBody>
      <dsp:txXfrm>
        <a:off x="977499" y="1669"/>
        <a:ext cx="9080900" cy="846320"/>
      </dsp:txXfrm>
    </dsp:sp>
    <dsp:sp modelId="{2E7F2286-58D0-403F-9F46-ACA6D35DE948}">
      <dsp:nvSpPr>
        <dsp:cNvPr id="0" name=""/>
        <dsp:cNvSpPr/>
      </dsp:nvSpPr>
      <dsp:spPr>
        <a:xfrm>
          <a:off x="0" y="1059569"/>
          <a:ext cx="10058399" cy="8463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1F5A35-3DD3-4BF9-8B2B-0BF15B85C3B7}">
      <dsp:nvSpPr>
        <dsp:cNvPr id="0" name=""/>
        <dsp:cNvSpPr/>
      </dsp:nvSpPr>
      <dsp:spPr>
        <a:xfrm>
          <a:off x="256011" y="1249991"/>
          <a:ext cx="465476" cy="4654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8E6DF3-BC7A-487D-BB48-E6D1EA8C61B5}">
      <dsp:nvSpPr>
        <dsp:cNvPr id="0" name=""/>
        <dsp:cNvSpPr/>
      </dsp:nvSpPr>
      <dsp:spPr>
        <a:xfrm>
          <a:off x="977499" y="1059569"/>
          <a:ext cx="9080900"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977900">
            <a:lnSpc>
              <a:spcPct val="100000"/>
            </a:lnSpc>
            <a:spcBef>
              <a:spcPct val="0"/>
            </a:spcBef>
            <a:spcAft>
              <a:spcPct val="35000"/>
            </a:spcAft>
            <a:buNone/>
          </a:pPr>
          <a:r>
            <a:rPr lang="en-US" sz="2200" kern="1200" dirty="0"/>
            <a:t>Compute the gradient of the cost function.</a:t>
          </a:r>
        </a:p>
      </dsp:txBody>
      <dsp:txXfrm>
        <a:off x="977499" y="1059569"/>
        <a:ext cx="9080900" cy="846320"/>
      </dsp:txXfrm>
    </dsp:sp>
    <dsp:sp modelId="{78618563-EBC2-40E6-A6C3-5C0301E51E1E}">
      <dsp:nvSpPr>
        <dsp:cNvPr id="0" name=""/>
        <dsp:cNvSpPr/>
      </dsp:nvSpPr>
      <dsp:spPr>
        <a:xfrm>
          <a:off x="0" y="2117470"/>
          <a:ext cx="10058399" cy="8463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1F983C-2106-4A36-92BF-4B74447B7B8F}">
      <dsp:nvSpPr>
        <dsp:cNvPr id="0" name=""/>
        <dsp:cNvSpPr/>
      </dsp:nvSpPr>
      <dsp:spPr>
        <a:xfrm>
          <a:off x="256011" y="2307892"/>
          <a:ext cx="465476" cy="46547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348A7C-2E6A-4009-87B7-A53D558580E4}">
      <dsp:nvSpPr>
        <dsp:cNvPr id="0" name=""/>
        <dsp:cNvSpPr/>
      </dsp:nvSpPr>
      <dsp:spPr>
        <a:xfrm>
          <a:off x="977499" y="2117470"/>
          <a:ext cx="9080900"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977900">
            <a:lnSpc>
              <a:spcPct val="100000"/>
            </a:lnSpc>
            <a:spcBef>
              <a:spcPct val="0"/>
            </a:spcBef>
            <a:spcAft>
              <a:spcPct val="35000"/>
            </a:spcAft>
            <a:buNone/>
          </a:pPr>
          <a:r>
            <a:rPr lang="en-US" sz="2200" kern="1200" dirty="0"/>
            <a:t>Update parameters using the gradient and learning rate.</a:t>
          </a:r>
        </a:p>
      </dsp:txBody>
      <dsp:txXfrm>
        <a:off x="977499" y="2117470"/>
        <a:ext cx="9080900" cy="846320"/>
      </dsp:txXfrm>
    </dsp:sp>
    <dsp:sp modelId="{9E3B5568-88CA-4A7E-9A27-22DBFFA81FCA}">
      <dsp:nvSpPr>
        <dsp:cNvPr id="0" name=""/>
        <dsp:cNvSpPr/>
      </dsp:nvSpPr>
      <dsp:spPr>
        <a:xfrm>
          <a:off x="0" y="3175370"/>
          <a:ext cx="10058399" cy="8463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FC8476-2520-48A1-BFFD-B0131AD5F7A9}">
      <dsp:nvSpPr>
        <dsp:cNvPr id="0" name=""/>
        <dsp:cNvSpPr/>
      </dsp:nvSpPr>
      <dsp:spPr>
        <a:xfrm>
          <a:off x="256011" y="3365792"/>
          <a:ext cx="465476" cy="46547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95F5B0-7088-472A-8097-C1C6FBCE7677}">
      <dsp:nvSpPr>
        <dsp:cNvPr id="0" name=""/>
        <dsp:cNvSpPr/>
      </dsp:nvSpPr>
      <dsp:spPr>
        <a:xfrm>
          <a:off x="977499" y="3175370"/>
          <a:ext cx="9080900"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977900">
            <a:lnSpc>
              <a:spcPct val="100000"/>
            </a:lnSpc>
            <a:spcBef>
              <a:spcPct val="0"/>
            </a:spcBef>
            <a:spcAft>
              <a:spcPct val="35000"/>
            </a:spcAft>
            <a:buNone/>
          </a:pPr>
          <a:r>
            <a:rPr lang="en-US" sz="2200" kern="1200" dirty="0"/>
            <a:t>Repeat until convergence.</a:t>
          </a:r>
        </a:p>
      </dsp:txBody>
      <dsp:txXfrm>
        <a:off x="977499" y="3175370"/>
        <a:ext cx="9080900" cy="8463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98091F-2D76-49E5-9088-A30BD6E43701}">
      <dsp:nvSpPr>
        <dsp:cNvPr id="0" name=""/>
        <dsp:cNvSpPr/>
      </dsp:nvSpPr>
      <dsp:spPr>
        <a:xfrm>
          <a:off x="0" y="0"/>
          <a:ext cx="6286500" cy="4478760"/>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Controls the step size at each iteration.
</a:t>
          </a:r>
          <a:r>
            <a:rPr lang="en-US" sz="2900" kern="1200" dirty="0">
              <a:solidFill>
                <a:srgbClr val="0070C0"/>
              </a:solidFill>
            </a:rPr>
            <a:t>Too high: Risk of overshooting the minimum.</a:t>
          </a:r>
          <a:r>
            <a:rPr lang="en-US" sz="2900" kern="1200" dirty="0"/>
            <a:t>
</a:t>
          </a:r>
          <a:r>
            <a:rPr lang="en-US" sz="2900" kern="1200" dirty="0">
              <a:solidFill>
                <a:schemeClr val="tx1"/>
              </a:solidFill>
            </a:rPr>
            <a:t>Too low: Slow convergence.</a:t>
          </a:r>
          <a:r>
            <a:rPr lang="en-US" sz="2900" kern="1200" dirty="0"/>
            <a:t>
</a:t>
          </a:r>
          <a:r>
            <a:rPr lang="en-US" sz="2900" kern="1200" dirty="0">
              <a:solidFill>
                <a:srgbClr val="FF0000"/>
              </a:solidFill>
            </a:rPr>
            <a:t>Best practice: Experiment with different learning rates or use learning rate scheduling.</a:t>
          </a:r>
        </a:p>
      </dsp:txBody>
      <dsp:txXfrm>
        <a:off x="218635" y="218635"/>
        <a:ext cx="5849230" cy="404149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08T21:12:35.023"/>
    </inkml:context>
    <inkml:brush xml:id="br0">
      <inkml:brushProperty name="width" value="0.05" units="cm"/>
      <inkml:brushProperty name="height" value="0.05" units="cm"/>
      <inkml:brushProperty name="color" value="#FFFF99"/>
      <inkml:brushProperty name="ignorePressure" value="1"/>
    </inkml:brush>
  </inkml:definitions>
  <inkml:trace contextRef="#ctx0" brushRef="#br0">0 484,'93'-5,"0"-3,81-20,21-2,235-42,-47-13,-240 54,1 6,1 6,77 3,406 10,-355 42,-123-21,1-6,99-8,-119-12,-1-6,45-14,-165 29,50-3,0 2,0 3,1 2,-1 3,0 3,-1 2,0 2,-1 4,0 2,13 8,34 1,1-4,101 7,-87-13,40-2,1-8,0-6,0-7,34-11,-144 13,11 1,0-3,-1-2,0-4,45-14,-99 24,0 0,-1-1,1 0,-1-1,1 1,-1-1,0 0,-1-1,1 1,-1-1,0 0,0-1,0 1,-1-1,0 0,0 3,-1 0,1 0,-1 0,1 1,0-1,-1 1,1 0,1 0,-1 1,0-1,0 1,1 0,-1 0,0 0,1 1,-1-1,1 1,-1 0,1 0,-1 1,0 0,1-1,-1 1,1 1,-1-1,1 1,63 18,-2 3,0 2,57 33,72 28,-171-79,1-1,0-1,0-1,0-1,1-2,-1 0,1-2,24-3,31 0,452-8,-6-34,-515 46,0-1,-1-1,1 0,0 0,-1-1,1-1,-1 0,0-1,9-4,24-17,-27 14,0 1,0 0,1 2,0 0,1 1,0 0,0 2,1 1,0 0,-1 1,2 1,-1 1,3 1,31 17,188 129,166 108,-386-239,0 0,2-2,-1-1,2-1,-1 0,1-2,0-1,1-2,0 0,0-1,0-2,0-1,0 0,1-2,-1-2,20-3,228-47,-36-52,41-61,-101 60,-17 23,-140 76,-1 2,1 0,-1 1,1 1,1 1,-1 0,0 2,0 1,4 1,16-2,-4 1,-10-2,1 1,-1 1,0 2,1 1,-1 1,-1 1,2 2,138 41,691 141,-842-187,23 7,0-1,1-3,-1-1,2-1,28-3,100-17,-118 2,0 3,1 2,0 2,1 3,-1 1,1 3,0 3,28 5,235 40,-219-47,-54-2,-1 1,1 3,-1 1,0 2,40 11,-25-7,71-30,100-32,968-257,-1031 255,-160 52,-1 1,0 0,1-1,-1 1,0-1,0 0,0 0,0-1,0 1,0-1,-1 1,1-1,-1 0,0 0,0 0,0 0,0 0,0 0,-1 0,1-1,-1 1,0-1,0-1,-1 4,0 0,0 1,0-1,0 0,-1 0,1 0,0 0,0 0,1 0,-1 0,0 1,0-1,0 0,1 0,-1 0,0 0,1 1,-1-1,0 0,1 0,-1 0,1 1,0-1,-1 0,1 1,-1-1,1 1,0-1,0 1,-1-1,1 1,0-1,0 1,0 0,-1-1,1 1,0 0,0 0,0-1,0 1,0 0,0 0,-1 0,1 0,0 0,0 0,0 1,0-1,0 0,0 0,-1 1,1-1,0 0,0 1,0-1,-1 1,1-1,0 1,0-1,158 112,-129-92,-21-13,-1-1,1-1,0 1,0-1,0-1,1 1,-1-2,1 1,0-1,0-1,9 1,251-3,-230 0,0-2,0-2,0-2,0-1,-1-2,0-2,16-7,99-41,-131 47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788E1-E020-4986-ADEB-12BDD87DE4E3}" type="datetimeFigureOut">
              <a:rPr lang="en-AU" smtClean="0"/>
              <a:t>6/04/2026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2AECD-57C8-43AB-9530-5F860BCCABA0}" type="slidenum">
              <a:rPr lang="en-AU" smtClean="0"/>
              <a:t>‹#›</a:t>
            </a:fld>
            <a:endParaRPr lang="en-AU"/>
          </a:p>
        </p:txBody>
      </p:sp>
    </p:spTree>
    <p:extLst>
      <p:ext uri="{BB962C8B-B14F-4D97-AF65-F5344CB8AC3E}">
        <p14:creationId xmlns:p14="http://schemas.microsoft.com/office/powerpoint/2010/main" val="1615433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AU" b="1" dirty="0"/>
                  <a:t>🧠 What does </a:t>
                </a:r>
                <a14:m>
                  <m:oMath xmlns:m="http://schemas.openxmlformats.org/officeDocument/2006/math">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𝑑</m:t>
                        </m:r>
                        <m:d>
                          <m:dPr>
                            <m:ctrlPr>
                              <a:rPr lang="ar-AE" sz="1200" i="1" kern="1200">
                                <a:solidFill>
                                  <a:schemeClr val="tx1"/>
                                </a:solidFill>
                                <a:latin typeface="Cambria Math" panose="02040503050406030204" pitchFamily="18" charset="0"/>
                                <a:ea typeface="+mn-ea"/>
                                <a:cs typeface="+mn-cs"/>
                              </a:rPr>
                            </m:ctrlPr>
                          </m:dPr>
                          <m:e>
                            <m:r>
                              <m:rPr>
                                <m:nor/>
                              </m:rPr>
                              <a:rPr lang="en-AU" sz="1200" b="0" i="1" kern="1200">
                                <a:solidFill>
                                  <a:schemeClr val="tx1"/>
                                </a:solidFill>
                                <a:latin typeface="+mn-lt"/>
                                <a:ea typeface="+mn-ea"/>
                                <a:cs typeface="+mn-cs"/>
                              </a:rPr>
                              <m:t>cost</m:t>
                            </m:r>
                          </m:e>
                        </m:d>
                      </m:num>
                      <m:den>
                        <m:r>
                          <a:rPr lang="ar-AE" sz="1200" b="0" i="1" kern="1200">
                            <a:solidFill>
                              <a:schemeClr val="tx1"/>
                            </a:solidFill>
                            <a:latin typeface="Cambria Math" panose="02040503050406030204" pitchFamily="18" charset="0"/>
                            <a:ea typeface="+mn-ea"/>
                            <a:cs typeface="+mn-cs"/>
                          </a:rPr>
                          <m:t>𝑑</m:t>
                        </m:r>
                        <m:d>
                          <m:dPr>
                            <m:ctrlPr>
                              <a:rPr lang="ar-AE" sz="1200" b="0" i="1" kern="1200">
                                <a:solidFill>
                                  <a:schemeClr val="tx1"/>
                                </a:solidFill>
                                <a:latin typeface="Cambria Math" panose="02040503050406030204" pitchFamily="18" charset="0"/>
                                <a:ea typeface="+mn-ea"/>
                                <a:cs typeface="+mn-cs"/>
                              </a:rPr>
                            </m:ctrlPr>
                          </m:dPr>
                          <m:e>
                            <m:r>
                              <m:rPr>
                                <m:nor/>
                              </m:rPr>
                              <a:rPr lang="en-AU" sz="1200" b="0" i="1" kern="1200">
                                <a:solidFill>
                                  <a:schemeClr val="tx1"/>
                                </a:solidFill>
                                <a:latin typeface="+mn-lt"/>
                                <a:ea typeface="+mn-ea"/>
                                <a:cs typeface="+mn-cs"/>
                              </a:rPr>
                              <m:t>weight</m:t>
                            </m:r>
                          </m:e>
                        </m:d>
                      </m:den>
                    </m:f>
                  </m:oMath>
                </a14:m>
                <a:r>
                  <a:rPr lang="en-AU" b="1" dirty="0"/>
                  <a:t>mean?</a:t>
                </a:r>
              </a:p>
              <a:p>
                <a:r>
                  <a:rPr lang="en-AU" dirty="0"/>
                  <a:t>It means:</a:t>
                </a:r>
              </a:p>
              <a:p>
                <a:r>
                  <a:rPr lang="en-AU" dirty="0"/>
                  <a:t>👉 </a:t>
                </a:r>
                <a:r>
                  <a:rPr lang="en-AU" b="1" dirty="0"/>
                  <a:t>“How much does the cost change if I slightly change the weight?”</a:t>
                </a:r>
                <a:endParaRPr lang="en-AU" dirty="0"/>
              </a:p>
              <a:p>
                <a:r>
                  <a:rPr lang="en-US" dirty="0"/>
                  <a:t>The </a:t>
                </a:r>
                <a:r>
                  <a:rPr lang="en-US" b="1" dirty="0"/>
                  <a:t>cost function</a:t>
                </a:r>
                <a:r>
                  <a:rPr lang="en-US" dirty="0"/>
                  <a:t> = how wrong your model is </a:t>
                </a:r>
              </a:p>
              <a:p>
                <a:r>
                  <a:rPr lang="en-US" dirty="0"/>
                  <a:t>The </a:t>
                </a:r>
                <a:r>
                  <a:rPr lang="en-US" b="1" dirty="0"/>
                  <a:t>weight</a:t>
                </a:r>
                <a:r>
                  <a:rPr lang="en-US" dirty="0"/>
                  <a:t> = a knob you can adjust </a:t>
                </a:r>
              </a:p>
              <a:p>
                <a:r>
                  <a:rPr lang="en-US" dirty="0"/>
                  <a:t>Now ask:</a:t>
                </a:r>
              </a:p>
              <a:p>
                <a:r>
                  <a:rPr lang="en-US" dirty="0"/>
                  <a:t>👉 </a:t>
                </a:r>
                <a:r>
                  <a:rPr lang="en-US" i="1" dirty="0"/>
                  <a:t>If I turn this knob (weight) a tiny bit, what happens to the error (cost)?</a:t>
                </a:r>
              </a:p>
              <a:p>
                <a:endParaRPr lang="en-US" i="1" dirty="0"/>
              </a:p>
              <a:p>
                <a:r>
                  <a:rPr lang="en-US" b="1" dirty="0"/>
                  <a:t>Gradient Descent plays a central role in Machine Learning because it is the main method used to </a:t>
                </a:r>
                <a:r>
                  <a:rPr lang="en-US" b="1" i="1" dirty="0"/>
                  <a:t>train models</a:t>
                </a:r>
                <a:r>
                  <a:rPr lang="en-US" dirty="0"/>
                  <a:t>—that is, to help them learn from data by minimizing error.</a:t>
                </a:r>
              </a:p>
              <a:p>
                <a:endParaRPr lang="en-AU" dirty="0"/>
              </a:p>
              <a:p>
                <a:r>
                  <a:rPr lang="en-AU" dirty="0"/>
                  <a:t>Gradient descent works by iteratively adjusting the weight </a:t>
                </a:r>
                <a14:m>
                  <m:oMath xmlns:m="http://schemas.openxmlformats.org/officeDocument/2006/math">
                    <m:r>
                      <a:rPr lang="en-AU" sz="1200" i="1" kern="1200">
                        <a:solidFill>
                          <a:schemeClr val="tx1"/>
                        </a:solidFill>
                        <a:latin typeface="Cambria Math" panose="02040503050406030204" pitchFamily="18" charset="0"/>
                        <a:ea typeface="+mn-ea"/>
                        <a:cs typeface="+mn-cs"/>
                      </a:rPr>
                      <m:t>𝑊</m:t>
                    </m:r>
                  </m:oMath>
                </a14:m>
                <a:r>
                  <a:rPr lang="en-AU" dirty="0"/>
                  <a:t>to minimize the cost function based on the slope </a:t>
                </a:r>
                <a14:m>
                  <m:oMath xmlns:m="http://schemas.openxmlformats.org/officeDocument/2006/math">
                    <m:f>
                      <m:fPr>
                        <m:ctrlPr>
                          <a:rPr lang="ar-AE" sz="1200" i="1" kern="1200">
                            <a:solidFill>
                              <a:schemeClr val="tx1"/>
                            </a:solidFill>
                            <a:latin typeface="Cambria Math" panose="02040503050406030204" pitchFamily="18" charset="0"/>
                            <a:ea typeface="+mn-ea"/>
                            <a:cs typeface="+mn-cs"/>
                          </a:rPr>
                        </m:ctrlPr>
                      </m:fPr>
                      <m:num>
                        <m:r>
                          <a:rPr lang="ar-AE" sz="1200" kern="1200">
                            <a:solidFill>
                              <a:schemeClr val="tx1"/>
                            </a:solidFill>
                            <a:latin typeface="Cambria Math" panose="02040503050406030204" pitchFamily="18" charset="0"/>
                            <a:ea typeface="+mn-ea"/>
                            <a:cs typeface="+mn-cs"/>
                          </a:rPr>
                          <m:t>𝜕</m:t>
                        </m:r>
                        <m:r>
                          <m:rPr>
                            <m:nor/>
                          </m:rPr>
                          <a:rPr lang="en-AU" sz="1200" b="0" i="1" kern="1200">
                            <a:solidFill>
                              <a:schemeClr val="tx1"/>
                            </a:solidFill>
                            <a:latin typeface="+mn-lt"/>
                            <a:ea typeface="+mn-ea"/>
                            <a:cs typeface="+mn-cs"/>
                          </a:rPr>
                          <m:t>cost</m:t>
                        </m:r>
                      </m:num>
                      <m:den>
                        <m:r>
                          <a:rPr lang="ar-AE" sz="1200" b="0" i="0" kern="1200">
                            <a:solidFill>
                              <a:schemeClr val="tx1"/>
                            </a:solidFill>
                            <a:latin typeface="Cambria Math" panose="02040503050406030204" pitchFamily="18" charset="0"/>
                            <a:ea typeface="+mn-ea"/>
                            <a:cs typeface="+mn-cs"/>
                          </a:rPr>
                          <m:t>𝜕</m:t>
                        </m:r>
                        <m:r>
                          <a:rPr lang="ar-AE" sz="1200" b="0" i="1" kern="1200">
                            <a:solidFill>
                              <a:schemeClr val="tx1"/>
                            </a:solidFill>
                            <a:latin typeface="Cambria Math" panose="02040503050406030204" pitchFamily="18" charset="0"/>
                            <a:ea typeface="+mn-ea"/>
                            <a:cs typeface="+mn-cs"/>
                          </a:rPr>
                          <m:t>𝑊</m:t>
                        </m:r>
                      </m:den>
                    </m:f>
                  </m:oMath>
                </a14:m>
                <a:r>
                  <a:rPr lang="ar-AE" dirty="0"/>
                  <a:t>. </a:t>
                </a:r>
                <a:r>
                  <a:rPr lang="en-AU" dirty="0"/>
                  <a:t>In the graph, when the weight is on the left side of the curve, the slope is negative, meaning the cost decreases as </a:t>
                </a:r>
                <a14:m>
                  <m:oMath xmlns:m="http://schemas.openxmlformats.org/officeDocument/2006/math">
                    <m:r>
                      <a:rPr lang="en-AU" sz="1200" i="1" kern="1200">
                        <a:solidFill>
                          <a:schemeClr val="tx1"/>
                        </a:solidFill>
                        <a:latin typeface="Cambria Math" panose="02040503050406030204" pitchFamily="18" charset="0"/>
                        <a:ea typeface="+mn-ea"/>
                        <a:cs typeface="+mn-cs"/>
                      </a:rPr>
                      <m:t>𝑊</m:t>
                    </m:r>
                  </m:oMath>
                </a14:m>
                <a:r>
                  <a:rPr lang="en-AU" dirty="0"/>
                  <a:t>increases, so the update rule increases the weight and moves it to the right toward the minimum. As it approaches the bottom, the slope becomes smaller, resulting in smaller adjustments. At the minimum point, the slope is zero, so the weight stops changing. If the weight moves to the right side of the curve, the slope becomes positive, meaning the cost increases as </a:t>
                </a:r>
                <a14:m>
                  <m:oMath xmlns:m="http://schemas.openxmlformats.org/officeDocument/2006/math">
                    <m:r>
                      <a:rPr lang="en-AU" sz="1200" i="1" kern="1200">
                        <a:solidFill>
                          <a:schemeClr val="tx1"/>
                        </a:solidFill>
                        <a:latin typeface="Cambria Math" panose="02040503050406030204" pitchFamily="18" charset="0"/>
                        <a:ea typeface="+mn-ea"/>
                        <a:cs typeface="+mn-cs"/>
                      </a:rPr>
                      <m:t>𝑊</m:t>
                    </m:r>
                  </m:oMath>
                </a14:m>
                <a:r>
                  <a:rPr lang="en-AU" dirty="0"/>
                  <a:t>increases, so the update rule decreases the weight and moves it back to the left. Thus, depending on whether the slope is negative or positive, gradient descent moves the weight in the opposite direction of the slope until it converges at the point where the slope is zero.</a:t>
                </a:r>
              </a:p>
            </p:txBody>
          </p:sp>
        </mc:Choice>
        <mc:Fallback xmlns="">
          <p:sp>
            <p:nvSpPr>
              <p:cNvPr id="3" name="Notes Placeholder 2"/>
              <p:cNvSpPr>
                <a:spLocks noGrp="1"/>
              </p:cNvSpPr>
              <p:nvPr>
                <p:ph type="body" idx="1"/>
              </p:nvPr>
            </p:nvSpPr>
            <p:spPr/>
            <p:txBody>
              <a:bodyPr/>
              <a:lstStyle/>
              <a:p>
                <a:r>
                  <a:rPr lang="en-AU" b="1" dirty="0"/>
                  <a:t>🧠 What does </a:t>
                </a:r>
                <a:r>
                  <a:rPr lang="ar-AE" sz="1200" i="0" kern="1200">
                    <a:solidFill>
                      <a:schemeClr val="tx1"/>
                    </a:solidFill>
                    <a:latin typeface="+mn-lt"/>
                    <a:ea typeface="+mn-ea"/>
                    <a:cs typeface="+mn-cs"/>
                  </a:rPr>
                  <a:t>𝑑(</a:t>
                </a:r>
                <a:r>
                  <a:rPr lang="en-AU" sz="1200" b="0" i="0" kern="1200">
                    <a:solidFill>
                      <a:schemeClr val="tx1"/>
                    </a:solidFill>
                    <a:latin typeface="+mn-lt"/>
                    <a:ea typeface="+mn-ea"/>
                    <a:cs typeface="+mn-cs"/>
                  </a:rPr>
                  <a:t>"cost</a:t>
                </a:r>
                <a:r>
                  <a:rPr lang="ar-AE" sz="1200" b="0" i="0" kern="1200">
                    <a:solidFill>
                      <a:schemeClr val="tx1"/>
                    </a:solidFill>
                    <a:latin typeface="+mn-lt"/>
                    <a:ea typeface="+mn-ea"/>
                    <a:cs typeface="+mn-cs"/>
                  </a:rPr>
                  <a:t>" )/𝑑(</a:t>
                </a:r>
                <a:r>
                  <a:rPr lang="en-AU" sz="1200" b="0" i="0" kern="1200">
                    <a:solidFill>
                      <a:schemeClr val="tx1"/>
                    </a:solidFill>
                    <a:latin typeface="+mn-lt"/>
                    <a:ea typeface="+mn-ea"/>
                    <a:cs typeface="+mn-cs"/>
                  </a:rPr>
                  <a:t>"weight</a:t>
                </a:r>
                <a:r>
                  <a:rPr lang="ar-AE" sz="1200" b="0" i="0" kern="1200">
                    <a:solidFill>
                      <a:schemeClr val="tx1"/>
                    </a:solidFill>
                    <a:latin typeface="+mn-lt"/>
                    <a:ea typeface="+mn-ea"/>
                    <a:cs typeface="+mn-cs"/>
                  </a:rPr>
                  <a:t>" ) </a:t>
                </a:r>
                <a:r>
                  <a:rPr lang="en-AU" b="1" dirty="0"/>
                  <a:t>mean?</a:t>
                </a:r>
              </a:p>
              <a:p>
                <a:r>
                  <a:rPr lang="en-AU" dirty="0"/>
                  <a:t>It means:</a:t>
                </a:r>
              </a:p>
              <a:p>
                <a:r>
                  <a:rPr lang="en-AU" dirty="0"/>
                  <a:t>👉 </a:t>
                </a:r>
                <a:r>
                  <a:rPr lang="en-AU" b="1" dirty="0"/>
                  <a:t>“How much does the cost change if I slightly change the weight?”</a:t>
                </a:r>
                <a:endParaRPr lang="en-AU" dirty="0"/>
              </a:p>
              <a:p>
                <a:r>
                  <a:rPr lang="en-US" dirty="0"/>
                  <a:t>The </a:t>
                </a:r>
                <a:r>
                  <a:rPr lang="en-US" b="1" dirty="0"/>
                  <a:t>cost function</a:t>
                </a:r>
                <a:r>
                  <a:rPr lang="en-US" dirty="0"/>
                  <a:t> = how wrong your model is </a:t>
                </a:r>
              </a:p>
              <a:p>
                <a:r>
                  <a:rPr lang="en-US" dirty="0"/>
                  <a:t>The </a:t>
                </a:r>
                <a:r>
                  <a:rPr lang="en-US" b="1" dirty="0"/>
                  <a:t>weight</a:t>
                </a:r>
                <a:r>
                  <a:rPr lang="en-US" dirty="0"/>
                  <a:t> = a knob you can adjust </a:t>
                </a:r>
              </a:p>
              <a:p>
                <a:r>
                  <a:rPr lang="en-US" dirty="0"/>
                  <a:t>Now ask:</a:t>
                </a:r>
              </a:p>
              <a:p>
                <a:r>
                  <a:rPr lang="en-US" dirty="0"/>
                  <a:t>👉 </a:t>
                </a:r>
                <a:r>
                  <a:rPr lang="en-US" i="1" dirty="0"/>
                  <a:t>If I turn this knob (weight) a tiny bit, what happens to the error (cost)?</a:t>
                </a:r>
                <a:endParaRPr lang="en-US" dirty="0"/>
              </a:p>
              <a:p>
                <a:endParaRPr lang="en-AU" dirty="0"/>
              </a:p>
              <a:p>
                <a:r>
                  <a:rPr lang="en-AU" dirty="0"/>
                  <a:t>Gradient descent works by iteratively adjusting the weight </a:t>
                </a:r>
                <a:r>
                  <a:rPr lang="en-AU" sz="1200" i="0" kern="1200">
                    <a:solidFill>
                      <a:schemeClr val="tx1"/>
                    </a:solidFill>
                    <a:latin typeface="+mn-lt"/>
                    <a:ea typeface="+mn-ea"/>
                    <a:cs typeface="+mn-cs"/>
                  </a:rPr>
                  <a:t>𝑊</a:t>
                </a:r>
                <a:r>
                  <a:rPr lang="en-AU" dirty="0"/>
                  <a:t>to minimize the cost function based on the slope </a:t>
                </a:r>
                <a:r>
                  <a:rPr lang="ar-AE" sz="1200" i="0" kern="1200">
                    <a:solidFill>
                      <a:schemeClr val="tx1"/>
                    </a:solidFill>
                    <a:latin typeface="+mn-lt"/>
                    <a:ea typeface="+mn-ea"/>
                    <a:cs typeface="+mn-cs"/>
                  </a:rPr>
                  <a:t>∂</a:t>
                </a:r>
                <a:r>
                  <a:rPr lang="en-AU" sz="1200" b="0" i="0" kern="1200">
                    <a:solidFill>
                      <a:schemeClr val="tx1"/>
                    </a:solidFill>
                    <a:latin typeface="+mn-lt"/>
                    <a:ea typeface="+mn-ea"/>
                    <a:cs typeface="+mn-cs"/>
                  </a:rPr>
                  <a:t>"cost</a:t>
                </a:r>
                <a:r>
                  <a:rPr lang="ar-AE" sz="1200" b="0" i="0" kern="1200">
                    <a:solidFill>
                      <a:schemeClr val="tx1"/>
                    </a:solidFill>
                    <a:latin typeface="+mn-lt"/>
                    <a:ea typeface="+mn-ea"/>
                    <a:cs typeface="+mn-cs"/>
                  </a:rPr>
                  <a:t>" /∂𝑊</a:t>
                </a:r>
                <a:r>
                  <a:rPr lang="ar-AE" dirty="0"/>
                  <a:t>. </a:t>
                </a:r>
                <a:r>
                  <a:rPr lang="en-AU" dirty="0"/>
                  <a:t>In the graph, when the weight is on the left side of the curve, the slope is negative, meaning the cost decreases as </a:t>
                </a:r>
                <a:r>
                  <a:rPr lang="en-AU" sz="1200" i="0" kern="1200">
                    <a:solidFill>
                      <a:schemeClr val="tx1"/>
                    </a:solidFill>
                    <a:latin typeface="+mn-lt"/>
                    <a:ea typeface="+mn-ea"/>
                    <a:cs typeface="+mn-cs"/>
                  </a:rPr>
                  <a:t>𝑊</a:t>
                </a:r>
                <a:r>
                  <a:rPr lang="en-AU" dirty="0"/>
                  <a:t>increases, so the update rule increases the weight and moves it to the right toward the minimum. As it approaches the bottom, the slope becomes smaller, resulting in smaller adjustments. At the minimum point, the slope is zero, so the weight stops changing. If the weight moves to the right side of the curve, the slope becomes positive, meaning the cost increases as </a:t>
                </a:r>
                <a:r>
                  <a:rPr lang="en-AU" sz="1200" i="0" kern="1200">
                    <a:solidFill>
                      <a:schemeClr val="tx1"/>
                    </a:solidFill>
                    <a:latin typeface="+mn-lt"/>
                    <a:ea typeface="+mn-ea"/>
                    <a:cs typeface="+mn-cs"/>
                  </a:rPr>
                  <a:t>𝑊</a:t>
                </a:r>
                <a:r>
                  <a:rPr lang="en-AU" dirty="0"/>
                  <a:t>increases, so the update rule decreases the weight and moves it back to the left. Thus, depending on whether the slope is negative or positive, gradient descent moves the weight in the opposite direction of the slope until it converges at the point where the slope is zero.</a:t>
                </a:r>
              </a:p>
            </p:txBody>
          </p:sp>
        </mc:Fallback>
      </mc:AlternateContent>
      <p:sp>
        <p:nvSpPr>
          <p:cNvPr id="4" name="Slide Number Placeholder 3"/>
          <p:cNvSpPr>
            <a:spLocks noGrp="1"/>
          </p:cNvSpPr>
          <p:nvPr>
            <p:ph type="sldNum" sz="quarter" idx="5"/>
          </p:nvPr>
        </p:nvSpPr>
        <p:spPr/>
        <p:txBody>
          <a:bodyPr/>
          <a:lstStyle/>
          <a:p>
            <a:fld id="{27A084AC-35BC-4CB6-A030-8A49229F1A96}" type="slidenum">
              <a:rPr lang="en-AU" smtClean="0"/>
              <a:t>4</a:t>
            </a:fld>
            <a:endParaRPr lang="en-AU"/>
          </a:p>
        </p:txBody>
      </p:sp>
    </p:spTree>
    <p:extLst>
      <p:ext uri="{BB962C8B-B14F-4D97-AF65-F5344CB8AC3E}">
        <p14:creationId xmlns:p14="http://schemas.microsoft.com/office/powerpoint/2010/main" val="223672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5257FA-E721-4753-BF15-99B6C44D7F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1985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Tuning a neural network involves improving its performance by adjusting </a:t>
            </a:r>
            <a:r>
              <a:rPr lang="en-US" b="1" dirty="0"/>
              <a:t>(1) hyperparameters</a:t>
            </a:r>
            <a:r>
              <a:rPr lang="en-US" dirty="0"/>
              <a:t> and </a:t>
            </a:r>
            <a:r>
              <a:rPr lang="en-US" b="1" dirty="0"/>
              <a:t>(2) the network architecture (layers)</a:t>
            </a:r>
            <a:r>
              <a:rPr lang="en-US" dirty="0"/>
              <a:t>. </a:t>
            </a:r>
          </a:p>
          <a:p>
            <a:r>
              <a:rPr lang="en-US" dirty="0"/>
              <a:t>These two are related but optimized differently.</a:t>
            </a:r>
          </a:p>
          <a:p>
            <a:endParaRPr lang="en-US" dirty="0"/>
          </a:p>
          <a:p>
            <a:r>
              <a:rPr lang="en-US" dirty="0"/>
              <a:t>Tuning a neural network involves optimizing both its hyperparameters and its architecture (layers) to achieve the best performance. Hyperparameters are the settings defined before training, such as learning rate, batch size, number of epochs, optimizer, and regularization techniques. The tuning process typically begins with a baseline model using standard values, followed by systematic adjustment of key parameters—starting with the learning rate, as it has the most significant impact on performance. Techniques such as manual tuning, grid search, or random search can be used to explore different combinations. Model performance is evaluated using a validation set, and parameters are iteratively refined based on metrics like accuracy and loss, while also monitoring for overfitting or underfitting.</a:t>
            </a:r>
          </a:p>
          <a:p>
            <a:r>
              <a:rPr lang="en-US" dirty="0"/>
              <a:t>At the same time, tuning the layers involves designing the structure of the neural network, including the number of hidden layers, the number of neurons in each layer, and the types of layers used. The process usually starts with a simple architecture and gradually increases complexity by adding more layers or neurons if the model is underfitting. Conversely, if the model overfits, the architecture may be simplified or regularization techniques such as dropout may be introduced. The choice of layer types (e.g., dense, convolutional, or recurrent) depends on the nature of the data and problem. In practice, tuning is an iterative process where the architecture and hyperparameters are adjusted together—layers define the model’s capacity to learn, while hyperparameters control how effectively it learns.</a:t>
            </a:r>
          </a:p>
          <a:p>
            <a:endParaRPr lang="en-AU" dirty="0"/>
          </a:p>
        </p:txBody>
      </p:sp>
      <p:sp>
        <p:nvSpPr>
          <p:cNvPr id="4" name="Slide Number Placeholder 3"/>
          <p:cNvSpPr>
            <a:spLocks noGrp="1"/>
          </p:cNvSpPr>
          <p:nvPr>
            <p:ph type="sldNum" sz="quarter" idx="5"/>
          </p:nvPr>
        </p:nvSpPr>
        <p:spPr/>
        <p:txBody>
          <a:bodyPr/>
          <a:lstStyle/>
          <a:p>
            <a:fld id="{9692AECD-57C8-43AB-9530-5F860BCCABA0}" type="slidenum">
              <a:rPr lang="en-AU" smtClean="0"/>
              <a:t>12</a:t>
            </a:fld>
            <a:endParaRPr lang="en-AU"/>
          </a:p>
        </p:txBody>
      </p:sp>
    </p:spTree>
    <p:extLst>
      <p:ext uri="{BB962C8B-B14F-4D97-AF65-F5344CB8AC3E}">
        <p14:creationId xmlns:p14="http://schemas.microsoft.com/office/powerpoint/2010/main" val="269662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3594C5-7D16-4405-A88F-337FA4DE8F15}" type="datetimeFigureOut">
              <a:rPr lang="en-AU" smtClean="0"/>
              <a:t>6/04/2026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3CE5F08-7323-4BC2-842F-991A11B0AA8D}"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5430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3594C5-7D16-4405-A88F-337FA4DE8F15}" type="datetimeFigureOut">
              <a:rPr lang="en-AU" smtClean="0"/>
              <a:t>6/04/2026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3CE5F08-7323-4BC2-842F-991A11B0AA8D}" type="slidenum">
              <a:rPr lang="en-AU" smtClean="0"/>
              <a:t>‹#›</a:t>
            </a:fld>
            <a:endParaRPr lang="en-AU"/>
          </a:p>
        </p:txBody>
      </p:sp>
    </p:spTree>
    <p:extLst>
      <p:ext uri="{BB962C8B-B14F-4D97-AF65-F5344CB8AC3E}">
        <p14:creationId xmlns:p14="http://schemas.microsoft.com/office/powerpoint/2010/main" val="1860735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83594C5-7D16-4405-A88F-337FA4DE8F15}" type="datetimeFigureOut">
              <a:rPr lang="en-AU" smtClean="0"/>
              <a:t>6/04/2026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3CE5F08-7323-4BC2-842F-991A11B0AA8D}"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135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3594C5-7D16-4405-A88F-337FA4DE8F15}" type="datetimeFigureOut">
              <a:rPr lang="en-AU" smtClean="0"/>
              <a:t>6/04/2026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3CE5F08-7323-4BC2-842F-991A11B0AA8D}" type="slidenum">
              <a:rPr lang="en-AU" smtClean="0"/>
              <a:t>‹#›</a:t>
            </a:fld>
            <a:endParaRPr lang="en-AU"/>
          </a:p>
        </p:txBody>
      </p:sp>
    </p:spTree>
    <p:extLst>
      <p:ext uri="{BB962C8B-B14F-4D97-AF65-F5344CB8AC3E}">
        <p14:creationId xmlns:p14="http://schemas.microsoft.com/office/powerpoint/2010/main" val="3519440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3594C5-7D16-4405-A88F-337FA4DE8F15}" type="datetimeFigureOut">
              <a:rPr lang="en-AU" smtClean="0"/>
              <a:t>6/04/2026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3CE5F08-7323-4BC2-842F-991A11B0AA8D}" type="slidenum">
              <a:rPr lang="en-AU" smtClean="0"/>
              <a:t>‹#›</a:t>
            </a:fld>
            <a:endParaRPr lang="en-AU"/>
          </a:p>
        </p:txBody>
      </p:sp>
    </p:spTree>
    <p:extLst>
      <p:ext uri="{BB962C8B-B14F-4D97-AF65-F5344CB8AC3E}">
        <p14:creationId xmlns:p14="http://schemas.microsoft.com/office/powerpoint/2010/main" val="388668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3594C5-7D16-4405-A88F-337FA4DE8F15}" type="datetimeFigureOut">
              <a:rPr lang="en-AU" smtClean="0"/>
              <a:t>6/04/2026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23CE5F08-7323-4BC2-842F-991A11B0AA8D}" type="slidenum">
              <a:rPr lang="en-AU" smtClean="0"/>
              <a:t>‹#›</a:t>
            </a:fld>
            <a:endParaRPr lang="en-AU"/>
          </a:p>
        </p:txBody>
      </p:sp>
    </p:spTree>
    <p:extLst>
      <p:ext uri="{BB962C8B-B14F-4D97-AF65-F5344CB8AC3E}">
        <p14:creationId xmlns:p14="http://schemas.microsoft.com/office/powerpoint/2010/main" val="1888014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83594C5-7D16-4405-A88F-337FA4DE8F15}" type="datetimeFigureOut">
              <a:rPr lang="en-AU" smtClean="0"/>
              <a:t>6/04/2026</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23CE5F08-7323-4BC2-842F-991A11B0AA8D}" type="slidenum">
              <a:rPr lang="en-AU" smtClean="0"/>
              <a:t>‹#›</a:t>
            </a:fld>
            <a:endParaRPr lang="en-AU"/>
          </a:p>
        </p:txBody>
      </p:sp>
    </p:spTree>
    <p:extLst>
      <p:ext uri="{BB962C8B-B14F-4D97-AF65-F5344CB8AC3E}">
        <p14:creationId xmlns:p14="http://schemas.microsoft.com/office/powerpoint/2010/main" val="3181526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83594C5-7D16-4405-A88F-337FA4DE8F15}" type="datetimeFigureOut">
              <a:rPr lang="en-AU" smtClean="0"/>
              <a:t>6/04/2026</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3CE5F08-7323-4BC2-842F-991A11B0AA8D}" type="slidenum">
              <a:rPr lang="en-AU" smtClean="0"/>
              <a:t>‹#›</a:t>
            </a:fld>
            <a:endParaRPr lang="en-AU"/>
          </a:p>
        </p:txBody>
      </p:sp>
    </p:spTree>
    <p:extLst>
      <p:ext uri="{BB962C8B-B14F-4D97-AF65-F5344CB8AC3E}">
        <p14:creationId xmlns:p14="http://schemas.microsoft.com/office/powerpoint/2010/main" val="2326083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83594C5-7D16-4405-A88F-337FA4DE8F15}" type="datetimeFigureOut">
              <a:rPr lang="en-AU" smtClean="0"/>
              <a:t>6/04/2026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3CE5F08-7323-4BC2-842F-991A11B0AA8D}" type="slidenum">
              <a:rPr lang="en-AU" smtClean="0"/>
              <a:t>‹#›</a:t>
            </a:fld>
            <a:endParaRPr lang="en-AU"/>
          </a:p>
        </p:txBody>
      </p:sp>
    </p:spTree>
    <p:extLst>
      <p:ext uri="{BB962C8B-B14F-4D97-AF65-F5344CB8AC3E}">
        <p14:creationId xmlns:p14="http://schemas.microsoft.com/office/powerpoint/2010/main" val="278552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3594C5-7D16-4405-A88F-337FA4DE8F15}" type="datetimeFigureOut">
              <a:rPr lang="en-AU" smtClean="0"/>
              <a:t>6/04/2026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3CE5F08-7323-4BC2-842F-991A11B0AA8D}" type="slidenum">
              <a:rPr lang="en-AU" smtClean="0"/>
              <a:t>‹#›</a:t>
            </a:fld>
            <a:endParaRPr lang="en-AU"/>
          </a:p>
        </p:txBody>
      </p:sp>
    </p:spTree>
    <p:extLst>
      <p:ext uri="{BB962C8B-B14F-4D97-AF65-F5344CB8AC3E}">
        <p14:creationId xmlns:p14="http://schemas.microsoft.com/office/powerpoint/2010/main" val="8724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3594C5-7D16-4405-A88F-337FA4DE8F15}" type="datetimeFigureOut">
              <a:rPr lang="en-AU" smtClean="0"/>
              <a:t>6/04/2026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3CE5F08-7323-4BC2-842F-991A11B0AA8D}" type="slidenum">
              <a:rPr lang="en-AU" smtClean="0"/>
              <a:t>‹#›</a:t>
            </a:fld>
            <a:endParaRPr lang="en-AU"/>
          </a:p>
        </p:txBody>
      </p:sp>
    </p:spTree>
    <p:extLst>
      <p:ext uri="{BB962C8B-B14F-4D97-AF65-F5344CB8AC3E}">
        <p14:creationId xmlns:p14="http://schemas.microsoft.com/office/powerpoint/2010/main" val="3452060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83594C5-7D16-4405-A88F-337FA4DE8F15}" type="datetimeFigureOut">
              <a:rPr lang="en-AU" smtClean="0"/>
              <a:t>6/04/2026</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3CE5F08-7323-4BC2-842F-991A11B0AA8D}"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09996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A2222-F6AB-4E55-A36B-0DD8D86A59A4}"/>
              </a:ext>
            </a:extLst>
          </p:cNvPr>
          <p:cNvSpPr>
            <a:spLocks noGrp="1"/>
          </p:cNvSpPr>
          <p:nvPr>
            <p:ph type="ctrTitle"/>
          </p:nvPr>
        </p:nvSpPr>
        <p:spPr/>
        <p:txBody>
          <a:bodyPr/>
          <a:lstStyle/>
          <a:p>
            <a:r>
              <a:rPr lang="en-US"/>
              <a:t>Week 7</a:t>
            </a:r>
            <a:endParaRPr lang="en-AU" dirty="0"/>
          </a:p>
        </p:txBody>
      </p:sp>
      <p:sp>
        <p:nvSpPr>
          <p:cNvPr id="3" name="Subtitle 2">
            <a:extLst>
              <a:ext uri="{FF2B5EF4-FFF2-40B4-BE49-F238E27FC236}">
                <a16:creationId xmlns:a16="http://schemas.microsoft.com/office/drawing/2014/main" id="{CE8B8C7B-A58E-4BD3-A44C-3C7C2B86C62E}"/>
              </a:ext>
            </a:extLst>
          </p:cNvPr>
          <p:cNvSpPr>
            <a:spLocks noGrp="1"/>
          </p:cNvSpPr>
          <p:nvPr>
            <p:ph type="subTitle" idx="1"/>
          </p:nvPr>
        </p:nvSpPr>
        <p:spPr/>
        <p:txBody>
          <a:bodyPr/>
          <a:lstStyle/>
          <a:p>
            <a:r>
              <a:rPr lang="en-US" dirty="0"/>
              <a:t>Notes</a:t>
            </a:r>
            <a:endParaRPr lang="en-AU" dirty="0"/>
          </a:p>
        </p:txBody>
      </p:sp>
    </p:spTree>
    <p:extLst>
      <p:ext uri="{BB962C8B-B14F-4D97-AF65-F5344CB8AC3E}">
        <p14:creationId xmlns:p14="http://schemas.microsoft.com/office/powerpoint/2010/main" val="763954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535C-0496-BB19-D50A-BDB926616967}"/>
              </a:ext>
            </a:extLst>
          </p:cNvPr>
          <p:cNvSpPr>
            <a:spLocks noGrp="1"/>
          </p:cNvSpPr>
          <p:nvPr>
            <p:ph type="title"/>
          </p:nvPr>
        </p:nvSpPr>
        <p:spPr>
          <a:xfrm>
            <a:off x="8177212" y="634946"/>
            <a:ext cx="3372529" cy="5055904"/>
          </a:xfrm>
        </p:spPr>
        <p:txBody>
          <a:bodyPr anchor="ctr">
            <a:normAutofit/>
          </a:bodyPr>
          <a:lstStyle/>
          <a:p>
            <a:r>
              <a:rPr lang="en-US" dirty="0"/>
              <a:t>Gradient Descent</a:t>
            </a:r>
          </a:p>
        </p:txBody>
      </p:sp>
      <p:graphicFrame>
        <p:nvGraphicFramePr>
          <p:cNvPr id="7" name="Content Placeholder 2">
            <a:extLst>
              <a:ext uri="{FF2B5EF4-FFF2-40B4-BE49-F238E27FC236}">
                <a16:creationId xmlns:a16="http://schemas.microsoft.com/office/drawing/2014/main" id="{084A3F50-9F1A-AFA9-4286-C32E7BEC00E5}"/>
              </a:ext>
            </a:extLst>
          </p:cNvPr>
          <p:cNvGraphicFramePr>
            <a:graphicFrameLocks noGrp="1"/>
          </p:cNvGraphicFramePr>
          <p:nvPr>
            <p:ph idx="1"/>
          </p:nvPr>
        </p:nvGraphicFramePr>
        <p:xfrm>
          <a:off x="633413" y="639763"/>
          <a:ext cx="6910387" cy="5051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3943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535C-0496-BB19-D50A-BDB926616967}"/>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Why Gradient Descent?</a:t>
            </a:r>
          </a:p>
        </p:txBody>
      </p:sp>
      <p:graphicFrame>
        <p:nvGraphicFramePr>
          <p:cNvPr id="5" name="Content Placeholder 2">
            <a:extLst>
              <a:ext uri="{FF2B5EF4-FFF2-40B4-BE49-F238E27FC236}">
                <a16:creationId xmlns:a16="http://schemas.microsoft.com/office/drawing/2014/main" id="{DFBC3291-D614-0BE7-FD3D-26B53A8E1116}"/>
              </a:ext>
            </a:extLst>
          </p:cNvPr>
          <p:cNvGraphicFramePr>
            <a:graphicFrameLocks noGrp="1"/>
          </p:cNvGraphicFramePr>
          <p:nvPr>
            <p:ph idx="1"/>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4835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A4A7-53E6-C4E7-D37C-A37A7C016E50}"/>
              </a:ext>
            </a:extLst>
          </p:cNvPr>
          <p:cNvSpPr>
            <a:spLocks noGrp="1"/>
          </p:cNvSpPr>
          <p:nvPr>
            <p:ph type="title"/>
          </p:nvPr>
        </p:nvSpPr>
        <p:spPr>
          <a:xfrm>
            <a:off x="659301" y="1474968"/>
            <a:ext cx="2823919" cy="1959037"/>
          </a:xfrm>
        </p:spPr>
        <p:txBody>
          <a:bodyPr vert="horz" lIns="91440" tIns="45720" rIns="91440" bIns="0" rtlCol="0" anchor="b">
            <a:normAutofit/>
          </a:bodyPr>
          <a:lstStyle/>
          <a:p>
            <a:r>
              <a:rPr lang="en-US" sz="2500" dirty="0"/>
              <a:t>Gradient Descent Algo to minimize the cost (Loss)</a:t>
            </a:r>
          </a:p>
        </p:txBody>
      </p:sp>
      <p:sp>
        <p:nvSpPr>
          <p:cNvPr id="4" name="Footer Placeholder 3">
            <a:extLst>
              <a:ext uri="{FF2B5EF4-FFF2-40B4-BE49-F238E27FC236}">
                <a16:creationId xmlns:a16="http://schemas.microsoft.com/office/drawing/2014/main" id="{AD7BE192-59A3-C3B9-0A50-D3F2184C0061}"/>
              </a:ext>
            </a:extLst>
          </p:cNvPr>
          <p:cNvSpPr>
            <a:spLocks noGrp="1"/>
          </p:cNvSpPr>
          <p:nvPr>
            <p:ph type="ftr" sz="quarter" idx="11"/>
          </p:nvPr>
        </p:nvSpPr>
        <p:spPr>
          <a:xfrm>
            <a:off x="655218" y="329309"/>
            <a:ext cx="2828001" cy="309201"/>
          </a:xfrm>
        </p:spPr>
        <p:txBody>
          <a:bodyPr vert="horz" lIns="91440" tIns="45720" rIns="91440" bIns="45720" rtlCol="0" anchor="ctr">
            <a:normAutofit/>
          </a:bodyPr>
          <a:lstStyle/>
          <a:p>
            <a:pPr>
              <a:spcAft>
                <a:spcPts val="600"/>
              </a:spcAft>
            </a:pPr>
            <a:r>
              <a:rPr lang="en-US"/>
              <a:t>ISY503</a:t>
            </a:r>
          </a:p>
        </p:txBody>
      </p:sp>
      <p:sp>
        <p:nvSpPr>
          <p:cNvPr id="5" name="Slide Number Placeholder 4">
            <a:extLst>
              <a:ext uri="{FF2B5EF4-FFF2-40B4-BE49-F238E27FC236}">
                <a16:creationId xmlns:a16="http://schemas.microsoft.com/office/drawing/2014/main" id="{FE9F0EBC-AF89-421C-CE66-6E5392C09174}"/>
              </a:ext>
            </a:extLst>
          </p:cNvPr>
          <p:cNvSpPr>
            <a:spLocks noGrp="1"/>
          </p:cNvSpPr>
          <p:nvPr>
            <p:ph type="sldNum" sz="quarter" idx="12"/>
          </p:nvPr>
        </p:nvSpPr>
        <p:spPr>
          <a:xfrm>
            <a:off x="655218" y="798973"/>
            <a:ext cx="811019" cy="503579"/>
          </a:xfrm>
        </p:spPr>
        <p:txBody>
          <a:bodyPr vert="horz" lIns="91440" tIns="45720" rIns="91440" bIns="45720" rtlCol="0" anchor="t">
            <a:normAutofit/>
          </a:bodyPr>
          <a:lstStyle/>
          <a:p>
            <a:pPr algn="l">
              <a:lnSpc>
                <a:spcPct val="90000"/>
              </a:lnSpc>
              <a:spcAft>
                <a:spcPts val="600"/>
              </a:spcAft>
            </a:pPr>
            <a:fld id="{AA9B4DDF-D983-43F6-9690-D9255D65AFD2}" type="slidenum">
              <a:rPr lang="en-US" smtClean="0"/>
              <a:pPr algn="l">
                <a:lnSpc>
                  <a:spcPct val="90000"/>
                </a:lnSpc>
                <a:spcAft>
                  <a:spcPts val="600"/>
                </a:spcAft>
              </a:pPr>
              <a:t>4</a:t>
            </a:fld>
            <a:endParaRPr lang="en-US"/>
          </a:p>
        </p:txBody>
      </p:sp>
      <p:pic>
        <p:nvPicPr>
          <p:cNvPr id="7" name="Content Placeholder 6">
            <a:extLst>
              <a:ext uri="{FF2B5EF4-FFF2-40B4-BE49-F238E27FC236}">
                <a16:creationId xmlns:a16="http://schemas.microsoft.com/office/drawing/2014/main" id="{FAB4DFB5-4E6D-7C15-2C32-4B1D37EA3866}"/>
              </a:ext>
            </a:extLst>
          </p:cNvPr>
          <p:cNvPicPr>
            <a:picLocks noGrp="1" noChangeAspect="1"/>
          </p:cNvPicPr>
          <p:nvPr>
            <p:ph idx="1"/>
          </p:nvPr>
        </p:nvPicPr>
        <p:blipFill>
          <a:blip r:embed="rId3"/>
          <a:stretch>
            <a:fillRect/>
          </a:stretch>
        </p:blipFill>
        <p:spPr>
          <a:xfrm>
            <a:off x="4618374" y="1373916"/>
            <a:ext cx="6282919" cy="3361361"/>
          </a:xfrm>
          <a:prstGeom prst="rect">
            <a:avLst/>
          </a:prstGeom>
        </p:spPr>
      </p:pic>
    </p:spTree>
    <p:extLst>
      <p:ext uri="{BB962C8B-B14F-4D97-AF65-F5344CB8AC3E}">
        <p14:creationId xmlns:p14="http://schemas.microsoft.com/office/powerpoint/2010/main" val="4074622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535C-0496-BB19-D50A-BDB926616967}"/>
              </a:ext>
            </a:extLst>
          </p:cNvPr>
          <p:cNvSpPr>
            <a:spLocks noGrp="1"/>
          </p:cNvSpPr>
          <p:nvPr>
            <p:ph type="title"/>
          </p:nvPr>
        </p:nvSpPr>
        <p:spPr/>
        <p:txBody>
          <a:bodyPr/>
          <a:lstStyle/>
          <a:p>
            <a:r>
              <a:rPr lang="en-US" dirty="0"/>
              <a:t>Concept of Gradient Descent</a:t>
            </a:r>
          </a:p>
        </p:txBody>
      </p:sp>
      <p:sp>
        <p:nvSpPr>
          <p:cNvPr id="3" name="Content Placeholder 2">
            <a:extLst>
              <a:ext uri="{FF2B5EF4-FFF2-40B4-BE49-F238E27FC236}">
                <a16:creationId xmlns:a16="http://schemas.microsoft.com/office/drawing/2014/main" id="{11A2197C-881E-7187-C43C-FD839F4DD8DE}"/>
              </a:ext>
            </a:extLst>
          </p:cNvPr>
          <p:cNvSpPr>
            <a:spLocks noGrp="1"/>
          </p:cNvSpPr>
          <p:nvPr>
            <p:ph idx="1"/>
          </p:nvPr>
        </p:nvSpPr>
        <p:spPr/>
        <p:txBody>
          <a:bodyPr/>
          <a:lstStyle/>
          <a:p>
            <a:pPr algn="just">
              <a:lnSpc>
                <a:spcPct val="150000"/>
              </a:lnSpc>
              <a:buFont typeface="Wingdings" panose="05000000000000000000" pitchFamily="2" charset="2"/>
              <a:buChar char="q"/>
            </a:pPr>
            <a:r>
              <a:rPr lang="en-US" sz="2200" dirty="0"/>
              <a:t>The gradient is a vector of partial derivatives representing the slope of the function.</a:t>
            </a:r>
          </a:p>
          <a:p>
            <a:pPr algn="just">
              <a:lnSpc>
                <a:spcPct val="150000"/>
              </a:lnSpc>
              <a:buFont typeface="Wingdings" panose="05000000000000000000" pitchFamily="2" charset="2"/>
              <a:buChar char="q"/>
            </a:pPr>
            <a:r>
              <a:rPr lang="en-US" sz="2200" dirty="0"/>
              <a:t>Gradient Descent works by taking steps proportional to the negative of the gradient.</a:t>
            </a:r>
          </a:p>
          <a:p>
            <a:pPr algn="just">
              <a:lnSpc>
                <a:spcPct val="150000"/>
              </a:lnSpc>
              <a:buFont typeface="Wingdings" panose="05000000000000000000" pitchFamily="2" charset="2"/>
              <a:buChar char="q"/>
            </a:pPr>
            <a:endParaRPr lang="en-US" dirty="0"/>
          </a:p>
        </p:txBody>
      </p:sp>
      <p:pic>
        <p:nvPicPr>
          <p:cNvPr id="5" name="Picture 4">
            <a:extLst>
              <a:ext uri="{FF2B5EF4-FFF2-40B4-BE49-F238E27FC236}">
                <a16:creationId xmlns:a16="http://schemas.microsoft.com/office/drawing/2014/main" id="{5CB8485F-90A6-CFBE-2B2A-BF7B1DEE01FA}"/>
              </a:ext>
            </a:extLst>
          </p:cNvPr>
          <p:cNvPicPr>
            <a:picLocks noChangeAspect="1"/>
          </p:cNvPicPr>
          <p:nvPr/>
        </p:nvPicPr>
        <p:blipFill>
          <a:blip r:embed="rId2"/>
          <a:stretch>
            <a:fillRect/>
          </a:stretch>
        </p:blipFill>
        <p:spPr>
          <a:xfrm>
            <a:off x="1648380" y="3429000"/>
            <a:ext cx="4447620" cy="2148878"/>
          </a:xfrm>
          <a:prstGeom prst="rect">
            <a:avLst/>
          </a:prstGeom>
        </p:spPr>
      </p:pic>
    </p:spTree>
    <p:extLst>
      <p:ext uri="{BB962C8B-B14F-4D97-AF65-F5344CB8AC3E}">
        <p14:creationId xmlns:p14="http://schemas.microsoft.com/office/powerpoint/2010/main" val="4172877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535C-0496-BB19-D50A-BDB926616967}"/>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Understanding the Cost Function</a:t>
            </a:r>
          </a:p>
        </p:txBody>
      </p:sp>
      <p:graphicFrame>
        <p:nvGraphicFramePr>
          <p:cNvPr id="5" name="Content Placeholder 2">
            <a:extLst>
              <a:ext uri="{FF2B5EF4-FFF2-40B4-BE49-F238E27FC236}">
                <a16:creationId xmlns:a16="http://schemas.microsoft.com/office/drawing/2014/main" id="{7FA6B331-52A0-8517-118F-0734285A11FA}"/>
              </a:ext>
            </a:extLst>
          </p:cNvPr>
          <p:cNvGraphicFramePr>
            <a:graphicFrameLocks noGrp="1"/>
          </p:cNvGraphicFramePr>
          <p:nvPr>
            <p:ph idx="1"/>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3130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535C-0496-BB19-D50A-BDB926616967}"/>
              </a:ext>
            </a:extLst>
          </p:cNvPr>
          <p:cNvSpPr>
            <a:spLocks noGrp="1"/>
          </p:cNvSpPr>
          <p:nvPr>
            <p:ph type="title"/>
          </p:nvPr>
        </p:nvSpPr>
        <p:spPr/>
        <p:txBody>
          <a:bodyPr/>
          <a:lstStyle/>
          <a:p>
            <a:r>
              <a:rPr lang="en-US"/>
              <a:t>Gradient Descent Process</a:t>
            </a:r>
            <a:endParaRPr lang="en-US" dirty="0"/>
          </a:p>
        </p:txBody>
      </p:sp>
      <p:graphicFrame>
        <p:nvGraphicFramePr>
          <p:cNvPr id="5" name="Content Placeholder 2">
            <a:extLst>
              <a:ext uri="{FF2B5EF4-FFF2-40B4-BE49-F238E27FC236}">
                <a16:creationId xmlns:a16="http://schemas.microsoft.com/office/drawing/2014/main" id="{B3CD2B28-36FE-C353-1D59-9C7954EFE9EA}"/>
              </a:ext>
            </a:extLst>
          </p:cNvPr>
          <p:cNvGraphicFramePr>
            <a:graphicFrameLocks noGrp="1"/>
          </p:cNvGraphicFramePr>
          <p:nvPr>
            <p:ph idx="1"/>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50329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66E81-CE52-7C23-DC6A-F2A17E717712}"/>
              </a:ext>
            </a:extLst>
          </p:cNvPr>
          <p:cNvSpPr>
            <a:spLocks noGrp="1"/>
          </p:cNvSpPr>
          <p:nvPr>
            <p:ph type="title"/>
          </p:nvPr>
        </p:nvSpPr>
        <p:spPr/>
        <p:txBody>
          <a:bodyPr/>
          <a:lstStyle/>
          <a:p>
            <a:r>
              <a:rPr lang="en-US" dirty="0"/>
              <a:t>Types of Gradient Descent</a:t>
            </a:r>
          </a:p>
        </p:txBody>
      </p:sp>
      <p:sp>
        <p:nvSpPr>
          <p:cNvPr id="3" name="Content Placeholder 2">
            <a:extLst>
              <a:ext uri="{FF2B5EF4-FFF2-40B4-BE49-F238E27FC236}">
                <a16:creationId xmlns:a16="http://schemas.microsoft.com/office/drawing/2014/main" id="{5A462E2E-3E8C-DB49-65EE-6EAAD3F50A5B}"/>
              </a:ext>
            </a:extLst>
          </p:cNvPr>
          <p:cNvSpPr>
            <a:spLocks noGrp="1"/>
          </p:cNvSpPr>
          <p:nvPr>
            <p:ph idx="1"/>
          </p:nvPr>
        </p:nvSpPr>
        <p:spPr/>
        <p:txBody>
          <a:bodyPr/>
          <a:lstStyle/>
          <a:p>
            <a:pPr>
              <a:buFont typeface="Wingdings" panose="05000000000000000000" pitchFamily="2" charset="2"/>
              <a:buChar char="q"/>
            </a:pPr>
            <a:r>
              <a:rPr lang="en-US" b="0" i="0" dirty="0">
                <a:solidFill>
                  <a:srgbClr val="383838"/>
                </a:solidFill>
                <a:effectLst/>
                <a:latin typeface="Inter"/>
              </a:rPr>
              <a:t>Stochastic Gradient Descent With Momentum</a:t>
            </a:r>
          </a:p>
          <a:p>
            <a:pPr>
              <a:buFont typeface="Wingdings" panose="05000000000000000000" pitchFamily="2" charset="2"/>
              <a:buChar char="q"/>
            </a:pPr>
            <a:r>
              <a:rPr lang="en-US" dirty="0"/>
              <a:t>Mini Batch Gradient Descent </a:t>
            </a:r>
          </a:p>
          <a:p>
            <a:pPr>
              <a:buFont typeface="Wingdings" panose="05000000000000000000" pitchFamily="2" charset="2"/>
              <a:buChar char="q"/>
            </a:pPr>
            <a:r>
              <a:rPr lang="en-US" b="0" i="0" dirty="0" err="1">
                <a:solidFill>
                  <a:srgbClr val="383838"/>
                </a:solidFill>
                <a:effectLst/>
                <a:latin typeface="Inter"/>
              </a:rPr>
              <a:t>Adagrad</a:t>
            </a:r>
            <a:r>
              <a:rPr lang="en-US" b="0" i="0" dirty="0">
                <a:solidFill>
                  <a:srgbClr val="383838"/>
                </a:solidFill>
                <a:effectLst/>
                <a:latin typeface="Inter"/>
              </a:rPr>
              <a:t> (Adaptive Gradient Descent) </a:t>
            </a:r>
          </a:p>
          <a:p>
            <a:pPr>
              <a:buFont typeface="Wingdings" panose="05000000000000000000" pitchFamily="2" charset="2"/>
              <a:buChar char="q"/>
            </a:pPr>
            <a:r>
              <a:rPr lang="en-US" b="0" i="0" dirty="0">
                <a:solidFill>
                  <a:srgbClr val="383838"/>
                </a:solidFill>
                <a:effectLst/>
                <a:latin typeface="Inter"/>
              </a:rPr>
              <a:t>RMS Prop (Root Mean Square)</a:t>
            </a:r>
          </a:p>
          <a:p>
            <a:pPr>
              <a:buFont typeface="Wingdings" panose="05000000000000000000" pitchFamily="2" charset="2"/>
              <a:buChar char="q"/>
            </a:pPr>
            <a:r>
              <a:rPr lang="en-US" b="0" i="0" dirty="0" err="1">
                <a:solidFill>
                  <a:srgbClr val="383838"/>
                </a:solidFill>
                <a:effectLst/>
                <a:latin typeface="Inter"/>
              </a:rPr>
              <a:t>AdaDelta</a:t>
            </a:r>
            <a:r>
              <a:rPr lang="en-US" b="0" i="0" dirty="0">
                <a:solidFill>
                  <a:srgbClr val="383838"/>
                </a:solidFill>
                <a:effectLst/>
                <a:latin typeface="Inter"/>
              </a:rPr>
              <a:t> </a:t>
            </a:r>
          </a:p>
          <a:p>
            <a:pPr>
              <a:buFont typeface="Wingdings" panose="05000000000000000000" pitchFamily="2" charset="2"/>
              <a:buChar char="q"/>
            </a:pPr>
            <a:r>
              <a:rPr lang="en-US" b="0" i="0" dirty="0">
                <a:solidFill>
                  <a:srgbClr val="383838"/>
                </a:solidFill>
                <a:effectLst/>
                <a:latin typeface="Inter"/>
              </a:rPr>
              <a:t>Adam Optimizer</a:t>
            </a:r>
          </a:p>
          <a:p>
            <a:pPr marL="0" indent="0">
              <a:buNone/>
            </a:pPr>
            <a:endParaRPr lang="en-US" dirty="0"/>
          </a:p>
        </p:txBody>
      </p:sp>
    </p:spTree>
    <p:extLst>
      <p:ext uri="{BB962C8B-B14F-4D97-AF65-F5344CB8AC3E}">
        <p14:creationId xmlns:p14="http://schemas.microsoft.com/office/powerpoint/2010/main" val="3108495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535C-0496-BB19-D50A-BDB926616967}"/>
              </a:ext>
            </a:extLst>
          </p:cNvPr>
          <p:cNvSpPr>
            <a:spLocks noGrp="1"/>
          </p:cNvSpPr>
          <p:nvPr>
            <p:ph type="title"/>
          </p:nvPr>
        </p:nvSpPr>
        <p:spPr/>
        <p:txBody>
          <a:bodyPr/>
          <a:lstStyle/>
          <a:p>
            <a:r>
              <a:rPr lang="en-US" i="0">
                <a:solidFill>
                  <a:schemeClr val="tx1"/>
                </a:solidFill>
                <a:effectLst/>
                <a:latin typeface="Montserrat" panose="020F0502020204030204" pitchFamily="2" charset="0"/>
              </a:rPr>
              <a:t>Gradient Descent Learning Rate</a:t>
            </a:r>
            <a:endParaRPr lang="en-US" dirty="0">
              <a:solidFill>
                <a:schemeClr val="tx1"/>
              </a:solidFill>
            </a:endParaRPr>
          </a:p>
        </p:txBody>
      </p:sp>
      <p:pic>
        <p:nvPicPr>
          <p:cNvPr id="5" name="Content Placeholder 4">
            <a:extLst>
              <a:ext uri="{FF2B5EF4-FFF2-40B4-BE49-F238E27FC236}">
                <a16:creationId xmlns:a16="http://schemas.microsoft.com/office/drawing/2014/main" id="{33BE2D98-7615-FE49-0106-03849F23245D}"/>
              </a:ext>
            </a:extLst>
          </p:cNvPr>
          <p:cNvPicPr>
            <a:picLocks noGrp="1" noChangeAspect="1"/>
          </p:cNvPicPr>
          <p:nvPr>
            <p:ph idx="1"/>
          </p:nvPr>
        </p:nvPicPr>
        <p:blipFill>
          <a:blip r:embed="rId2"/>
          <a:stretch>
            <a:fillRect/>
          </a:stretch>
        </p:blipFill>
        <p:spPr>
          <a:xfrm>
            <a:off x="493535" y="2196381"/>
            <a:ext cx="4501375" cy="3276768"/>
          </a:xfrm>
        </p:spPr>
      </p:pic>
      <p:graphicFrame>
        <p:nvGraphicFramePr>
          <p:cNvPr id="8" name="TextBox 5">
            <a:extLst>
              <a:ext uri="{FF2B5EF4-FFF2-40B4-BE49-F238E27FC236}">
                <a16:creationId xmlns:a16="http://schemas.microsoft.com/office/drawing/2014/main" id="{2358443F-4475-6F2F-4169-25450205B176}"/>
              </a:ext>
            </a:extLst>
          </p:cNvPr>
          <p:cNvGraphicFramePr/>
          <p:nvPr/>
        </p:nvGraphicFramePr>
        <p:xfrm>
          <a:off x="5086350" y="1828800"/>
          <a:ext cx="6286500" cy="45418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9241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535C-0496-BB19-D50A-BDB926616967}"/>
              </a:ext>
            </a:extLst>
          </p:cNvPr>
          <p:cNvSpPr>
            <a:spLocks noGrp="1"/>
          </p:cNvSpPr>
          <p:nvPr>
            <p:ph type="title"/>
          </p:nvPr>
        </p:nvSpPr>
        <p:spPr/>
        <p:txBody>
          <a:bodyPr/>
          <a:lstStyle/>
          <a:p>
            <a:r>
              <a:rPr lang="en-US" dirty="0"/>
              <a:t>How to Solve Gradient Descent Challenges</a:t>
            </a:r>
          </a:p>
        </p:txBody>
      </p:sp>
      <p:pic>
        <p:nvPicPr>
          <p:cNvPr id="5127" name="Picture 7" descr="gradient descent learning rate plot">
            <a:extLst>
              <a:ext uri="{FF2B5EF4-FFF2-40B4-BE49-F238E27FC236}">
                <a16:creationId xmlns:a16="http://schemas.microsoft.com/office/drawing/2014/main" id="{23EA9168-F64F-1455-9422-6231E06E30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68538" y="2286000"/>
            <a:ext cx="7715250" cy="3143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392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FE756-4BC9-4022-84FC-3EAFE0E14865}"/>
              </a:ext>
            </a:extLst>
          </p:cNvPr>
          <p:cNvSpPr>
            <a:spLocks noGrp="1"/>
          </p:cNvSpPr>
          <p:nvPr>
            <p:ph type="title"/>
          </p:nvPr>
        </p:nvSpPr>
        <p:spPr/>
        <p:txBody>
          <a:bodyPr/>
          <a:lstStyle/>
          <a:p>
            <a:r>
              <a:rPr lang="en-AU" dirty="0"/>
              <a:t>Neural Network </a:t>
            </a:r>
          </a:p>
        </p:txBody>
      </p:sp>
      <p:sp>
        <p:nvSpPr>
          <p:cNvPr id="3" name="Content Placeholder 2">
            <a:extLst>
              <a:ext uri="{FF2B5EF4-FFF2-40B4-BE49-F238E27FC236}">
                <a16:creationId xmlns:a16="http://schemas.microsoft.com/office/drawing/2014/main" id="{9966CA96-3A7D-4339-BA3D-C25AE745B74E}"/>
              </a:ext>
            </a:extLst>
          </p:cNvPr>
          <p:cNvSpPr>
            <a:spLocks noGrp="1"/>
          </p:cNvSpPr>
          <p:nvPr>
            <p:ph idx="1"/>
          </p:nvPr>
        </p:nvSpPr>
        <p:spPr/>
        <p:txBody>
          <a:bodyPr>
            <a:normAutofit fontScale="92500" lnSpcReduction="10000"/>
          </a:bodyPr>
          <a:lstStyle/>
          <a:p>
            <a:pPr algn="just">
              <a:lnSpc>
                <a:spcPct val="150000"/>
              </a:lnSpc>
              <a:buFont typeface="Wingdings" panose="05000000000000000000" pitchFamily="2" charset="2"/>
              <a:buChar char="q"/>
            </a:pPr>
            <a:r>
              <a:rPr lang="en-AU" dirty="0"/>
              <a:t>The hyperparameters to tune are:</a:t>
            </a:r>
          </a:p>
          <a:p>
            <a:pPr algn="just">
              <a:lnSpc>
                <a:spcPct val="150000"/>
              </a:lnSpc>
              <a:buFont typeface="Wingdings" panose="05000000000000000000" pitchFamily="2" charset="2"/>
              <a:buChar char="q"/>
            </a:pPr>
            <a:r>
              <a:rPr lang="en-AU" dirty="0"/>
              <a:t> the number of neurons,</a:t>
            </a:r>
          </a:p>
          <a:p>
            <a:pPr algn="just">
              <a:lnSpc>
                <a:spcPct val="150000"/>
              </a:lnSpc>
              <a:buFont typeface="Wingdings" panose="05000000000000000000" pitchFamily="2" charset="2"/>
              <a:buChar char="q"/>
            </a:pPr>
            <a:r>
              <a:rPr lang="en-AU" dirty="0"/>
              <a:t> activation function,</a:t>
            </a:r>
          </a:p>
          <a:p>
            <a:pPr algn="just">
              <a:lnSpc>
                <a:spcPct val="150000"/>
              </a:lnSpc>
              <a:buFont typeface="Wingdings" panose="05000000000000000000" pitchFamily="2" charset="2"/>
              <a:buChar char="q"/>
            </a:pPr>
            <a:r>
              <a:rPr lang="en-AU" dirty="0"/>
              <a:t> optimizer, </a:t>
            </a:r>
          </a:p>
          <a:p>
            <a:pPr algn="just">
              <a:lnSpc>
                <a:spcPct val="150000"/>
              </a:lnSpc>
              <a:buFont typeface="Wingdings" panose="05000000000000000000" pitchFamily="2" charset="2"/>
              <a:buChar char="q"/>
            </a:pPr>
            <a:r>
              <a:rPr lang="en-AU" dirty="0"/>
              <a:t>learning rate, </a:t>
            </a:r>
          </a:p>
          <a:p>
            <a:pPr algn="just">
              <a:lnSpc>
                <a:spcPct val="150000"/>
              </a:lnSpc>
              <a:buFont typeface="Wingdings" panose="05000000000000000000" pitchFamily="2" charset="2"/>
              <a:buChar char="q"/>
            </a:pPr>
            <a:r>
              <a:rPr lang="en-AU" dirty="0"/>
              <a:t>batch size, </a:t>
            </a:r>
          </a:p>
          <a:p>
            <a:pPr algn="just">
              <a:lnSpc>
                <a:spcPct val="150000"/>
              </a:lnSpc>
              <a:buFont typeface="Wingdings" panose="05000000000000000000" pitchFamily="2" charset="2"/>
              <a:buChar char="q"/>
            </a:pPr>
            <a:r>
              <a:rPr lang="en-AU" dirty="0"/>
              <a:t> epochs.</a:t>
            </a:r>
          </a:p>
        </p:txBody>
      </p:sp>
    </p:spTree>
    <p:extLst>
      <p:ext uri="{BB962C8B-B14F-4D97-AF65-F5344CB8AC3E}">
        <p14:creationId xmlns:p14="http://schemas.microsoft.com/office/powerpoint/2010/main" val="973897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FE756-4BC9-4022-84FC-3EAFE0E14865}"/>
              </a:ext>
            </a:extLst>
          </p:cNvPr>
          <p:cNvSpPr>
            <a:spLocks noGrp="1"/>
          </p:cNvSpPr>
          <p:nvPr>
            <p:ph type="title"/>
          </p:nvPr>
        </p:nvSpPr>
        <p:spPr/>
        <p:txBody>
          <a:bodyPr/>
          <a:lstStyle/>
          <a:p>
            <a:r>
              <a:rPr lang="en-AU" dirty="0"/>
              <a:t>Neural Network</a:t>
            </a:r>
          </a:p>
        </p:txBody>
      </p:sp>
      <p:sp>
        <p:nvSpPr>
          <p:cNvPr id="3" name="Content Placeholder 2">
            <a:extLst>
              <a:ext uri="{FF2B5EF4-FFF2-40B4-BE49-F238E27FC236}">
                <a16:creationId xmlns:a16="http://schemas.microsoft.com/office/drawing/2014/main" id="{9966CA96-3A7D-4339-BA3D-C25AE745B74E}"/>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 the process to tune 2 things of Neural Network: </a:t>
            </a:r>
          </a:p>
          <a:p>
            <a:pPr algn="just">
              <a:lnSpc>
                <a:spcPct val="150000"/>
              </a:lnSpc>
              <a:buFont typeface="Wingdings" panose="05000000000000000000" pitchFamily="2" charset="2"/>
              <a:buChar char="q"/>
            </a:pPr>
            <a:r>
              <a:rPr lang="en-AU" dirty="0"/>
              <a:t>(1) the hyperparameters and </a:t>
            </a:r>
          </a:p>
          <a:p>
            <a:pPr algn="just">
              <a:lnSpc>
                <a:spcPct val="150000"/>
              </a:lnSpc>
              <a:buFont typeface="Wingdings" panose="05000000000000000000" pitchFamily="2" charset="2"/>
              <a:buChar char="q"/>
            </a:pPr>
            <a:r>
              <a:rPr lang="en-AU" dirty="0"/>
              <a:t>(2) the layers. </a:t>
            </a:r>
          </a:p>
        </p:txBody>
      </p:sp>
    </p:spTree>
    <p:extLst>
      <p:ext uri="{BB962C8B-B14F-4D97-AF65-F5344CB8AC3E}">
        <p14:creationId xmlns:p14="http://schemas.microsoft.com/office/powerpoint/2010/main" val="2897581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FE756-4BC9-4022-84FC-3EAFE0E14865}"/>
              </a:ext>
            </a:extLst>
          </p:cNvPr>
          <p:cNvSpPr>
            <a:spLocks noGrp="1"/>
          </p:cNvSpPr>
          <p:nvPr>
            <p:ph type="title"/>
          </p:nvPr>
        </p:nvSpPr>
        <p:spPr/>
        <p:txBody>
          <a:bodyPr>
            <a:normAutofit/>
          </a:bodyPr>
          <a:lstStyle/>
          <a:p>
            <a:r>
              <a:rPr lang="en-AU" dirty="0"/>
              <a:t>first hyperparameter to tune: number of neurons in each hidden layer</a:t>
            </a:r>
          </a:p>
        </p:txBody>
      </p:sp>
      <p:sp>
        <p:nvSpPr>
          <p:cNvPr id="3" name="Content Placeholder 2">
            <a:extLst>
              <a:ext uri="{FF2B5EF4-FFF2-40B4-BE49-F238E27FC236}">
                <a16:creationId xmlns:a16="http://schemas.microsoft.com/office/drawing/2014/main" id="{9966CA96-3A7D-4339-BA3D-C25AE745B74E}"/>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the number of neurons in every layer is set to be the same.</a:t>
            </a:r>
          </a:p>
          <a:p>
            <a:pPr algn="just">
              <a:lnSpc>
                <a:spcPct val="150000"/>
              </a:lnSpc>
              <a:buFont typeface="Wingdings" panose="05000000000000000000" pitchFamily="2" charset="2"/>
              <a:buChar char="q"/>
            </a:pPr>
            <a:r>
              <a:rPr lang="en-AU" dirty="0"/>
              <a:t> It also can be made different. </a:t>
            </a:r>
          </a:p>
          <a:p>
            <a:pPr algn="just">
              <a:lnSpc>
                <a:spcPct val="150000"/>
              </a:lnSpc>
              <a:buFont typeface="Wingdings" panose="05000000000000000000" pitchFamily="2" charset="2"/>
              <a:buChar char="q"/>
            </a:pPr>
            <a:r>
              <a:rPr lang="en-AU" dirty="0"/>
              <a:t>The number of neurons should be adjusted to the solution complexity. </a:t>
            </a:r>
          </a:p>
          <a:p>
            <a:pPr algn="just">
              <a:lnSpc>
                <a:spcPct val="150000"/>
              </a:lnSpc>
              <a:buFont typeface="Wingdings" panose="05000000000000000000" pitchFamily="2" charset="2"/>
              <a:buChar char="q"/>
            </a:pPr>
            <a:r>
              <a:rPr lang="en-AU" dirty="0"/>
              <a:t>The task with a more complex level to predict needs more neurons.</a:t>
            </a:r>
          </a:p>
          <a:p>
            <a:pPr algn="just">
              <a:lnSpc>
                <a:spcPct val="150000"/>
              </a:lnSpc>
              <a:buFont typeface="Wingdings" panose="05000000000000000000" pitchFamily="2" charset="2"/>
              <a:buChar char="q"/>
            </a:pPr>
            <a:r>
              <a:rPr lang="en-AU" dirty="0"/>
              <a:t> The number of neurons range is set to be from 10 to 100.</a:t>
            </a:r>
          </a:p>
        </p:txBody>
      </p:sp>
    </p:spTree>
    <p:extLst>
      <p:ext uri="{BB962C8B-B14F-4D97-AF65-F5344CB8AC3E}">
        <p14:creationId xmlns:p14="http://schemas.microsoft.com/office/powerpoint/2010/main" val="9492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FE756-4BC9-4022-84FC-3EAFE0E14865}"/>
              </a:ext>
            </a:extLst>
          </p:cNvPr>
          <p:cNvSpPr>
            <a:spLocks noGrp="1"/>
          </p:cNvSpPr>
          <p:nvPr>
            <p:ph type="title"/>
          </p:nvPr>
        </p:nvSpPr>
        <p:spPr/>
        <p:txBody>
          <a:bodyPr/>
          <a:lstStyle/>
          <a:p>
            <a:r>
              <a:rPr lang="en-AU" dirty="0"/>
              <a:t>An activation function</a:t>
            </a:r>
          </a:p>
        </p:txBody>
      </p:sp>
      <p:sp>
        <p:nvSpPr>
          <p:cNvPr id="3" name="Content Placeholder 2">
            <a:extLst>
              <a:ext uri="{FF2B5EF4-FFF2-40B4-BE49-F238E27FC236}">
                <a16:creationId xmlns:a16="http://schemas.microsoft.com/office/drawing/2014/main" id="{9966CA96-3A7D-4339-BA3D-C25AE745B74E}"/>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There are 9 activation functions to tune:</a:t>
            </a:r>
          </a:p>
          <a:p>
            <a:pPr algn="just">
              <a:lnSpc>
                <a:spcPct val="150000"/>
              </a:lnSpc>
              <a:buFont typeface="Wingdings" panose="05000000000000000000" pitchFamily="2" charset="2"/>
              <a:buChar char="q"/>
            </a:pPr>
            <a:r>
              <a:rPr lang="en-AU" dirty="0"/>
              <a:t>'</a:t>
            </a:r>
            <a:r>
              <a:rPr lang="en-AU" dirty="0" err="1"/>
              <a:t>relu</a:t>
            </a:r>
            <a:r>
              <a:rPr lang="en-AU" dirty="0"/>
              <a:t>', 'sigmoid', '</a:t>
            </a:r>
            <a:r>
              <a:rPr lang="en-AU" dirty="0" err="1"/>
              <a:t>softplus</a:t>
            </a:r>
            <a:r>
              <a:rPr lang="en-AU" dirty="0"/>
              <a:t>', '</a:t>
            </a:r>
            <a:r>
              <a:rPr lang="en-AU" dirty="0" err="1"/>
              <a:t>softsign</a:t>
            </a:r>
            <a:r>
              <a:rPr lang="en-AU" dirty="0"/>
              <a:t>', 'tanh', '</a:t>
            </a:r>
            <a:r>
              <a:rPr lang="en-AU" dirty="0" err="1"/>
              <a:t>selu</a:t>
            </a:r>
            <a:r>
              <a:rPr lang="en-AU" dirty="0"/>
              <a:t>',   '</a:t>
            </a:r>
            <a:r>
              <a:rPr lang="en-AU" dirty="0" err="1"/>
              <a:t>elu</a:t>
            </a:r>
            <a:r>
              <a:rPr lang="en-AU" dirty="0"/>
              <a:t>', 'exponential', </a:t>
            </a:r>
            <a:r>
              <a:rPr lang="en-AU" dirty="0" err="1"/>
              <a:t>LeakyReLU</a:t>
            </a:r>
            <a:r>
              <a:rPr lang="en-AU" dirty="0"/>
              <a:t>, '</a:t>
            </a:r>
            <a:r>
              <a:rPr lang="en-AU" dirty="0" err="1"/>
              <a:t>relu</a:t>
            </a:r>
            <a:r>
              <a:rPr lang="en-AU" dirty="0"/>
              <a:t>’</a:t>
            </a:r>
          </a:p>
          <a:p>
            <a:pPr algn="just">
              <a:lnSpc>
                <a:spcPct val="150000"/>
              </a:lnSpc>
              <a:buFont typeface="Wingdings" panose="05000000000000000000" pitchFamily="2" charset="2"/>
              <a:buChar char="q"/>
            </a:pPr>
            <a:r>
              <a:rPr lang="en-AU" dirty="0"/>
              <a:t>Each activation function has its own formula (and graph) to compute the input values</a:t>
            </a:r>
          </a:p>
        </p:txBody>
      </p:sp>
    </p:spTree>
    <p:extLst>
      <p:ext uri="{BB962C8B-B14F-4D97-AF65-F5344CB8AC3E}">
        <p14:creationId xmlns:p14="http://schemas.microsoft.com/office/powerpoint/2010/main" val="2519543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73F72-7C79-48F1-87F1-215DBCCBB1BD}"/>
              </a:ext>
            </a:extLst>
          </p:cNvPr>
          <p:cNvSpPr>
            <a:spLocks noGrp="1"/>
          </p:cNvSpPr>
          <p:nvPr>
            <p:ph type="title"/>
          </p:nvPr>
        </p:nvSpPr>
        <p:spPr/>
        <p:txBody>
          <a:bodyPr/>
          <a:lstStyle/>
          <a:p>
            <a:r>
              <a:rPr lang="en-AU" dirty="0"/>
              <a:t>optimizer</a:t>
            </a:r>
          </a:p>
        </p:txBody>
      </p:sp>
      <p:sp>
        <p:nvSpPr>
          <p:cNvPr id="3" name="Content Placeholder 2">
            <a:extLst>
              <a:ext uri="{FF2B5EF4-FFF2-40B4-BE49-F238E27FC236}">
                <a16:creationId xmlns:a16="http://schemas.microsoft.com/office/drawing/2014/main" id="{23170333-5E45-4774-808D-2AFB430CAB53}"/>
              </a:ext>
            </a:extLst>
          </p:cNvPr>
          <p:cNvSpPr>
            <a:spLocks noGrp="1"/>
          </p:cNvSpPr>
          <p:nvPr>
            <p:ph idx="1"/>
          </p:nvPr>
        </p:nvSpPr>
        <p:spPr>
          <a:xfrm>
            <a:off x="223284" y="1845734"/>
            <a:ext cx="11578856" cy="4023360"/>
          </a:xfrm>
        </p:spPr>
        <p:txBody>
          <a:bodyPr/>
          <a:lstStyle/>
          <a:p>
            <a:pPr algn="just">
              <a:lnSpc>
                <a:spcPct val="150000"/>
              </a:lnSpc>
              <a:buFont typeface="Wingdings" panose="05000000000000000000" pitchFamily="2" charset="2"/>
              <a:buChar char="q"/>
            </a:pPr>
            <a:r>
              <a:rPr lang="en-AU" dirty="0"/>
              <a:t>The layers of a neural network are compiled and an optimizer is assigned. </a:t>
            </a:r>
          </a:p>
          <a:p>
            <a:pPr algn="just">
              <a:lnSpc>
                <a:spcPct val="150000"/>
              </a:lnSpc>
              <a:buFont typeface="Wingdings" panose="05000000000000000000" pitchFamily="2" charset="2"/>
              <a:buChar char="q"/>
            </a:pPr>
            <a:r>
              <a:rPr lang="en-AU" dirty="0"/>
              <a:t>The optimizer is responsible to change the learning rate and weights of neurons in the neural network to reach the minimum loss function.</a:t>
            </a:r>
          </a:p>
          <a:p>
            <a:pPr algn="just">
              <a:lnSpc>
                <a:spcPct val="150000"/>
              </a:lnSpc>
              <a:buFont typeface="Wingdings" panose="05000000000000000000" pitchFamily="2" charset="2"/>
              <a:buChar char="q"/>
            </a:pPr>
            <a:r>
              <a:rPr lang="en-AU" dirty="0"/>
              <a:t> Optimizer is very important to achieve the possible highest accuracy or minimum loss. </a:t>
            </a:r>
          </a:p>
          <a:p>
            <a:pPr algn="just">
              <a:lnSpc>
                <a:spcPct val="150000"/>
              </a:lnSpc>
              <a:buFont typeface="Wingdings" panose="05000000000000000000" pitchFamily="2" charset="2"/>
              <a:buChar char="q"/>
            </a:pPr>
            <a:r>
              <a:rPr lang="en-AU" dirty="0"/>
              <a:t>There are 8 optimizers to choose from. Each has a different concept behind it.</a:t>
            </a:r>
          </a:p>
          <a:p>
            <a:pPr algn="just">
              <a:lnSpc>
                <a:spcPct val="150000"/>
              </a:lnSpc>
              <a:buFont typeface="Wingdings" panose="05000000000000000000" pitchFamily="2" charset="2"/>
              <a:buChar char="q"/>
            </a:pPr>
            <a:r>
              <a:rPr lang="en-AU" dirty="0"/>
              <a:t>SGD', 'Adam', '</a:t>
            </a:r>
            <a:r>
              <a:rPr lang="en-AU" dirty="0" err="1"/>
              <a:t>RMSprop</a:t>
            </a:r>
            <a:r>
              <a:rPr lang="en-AU" dirty="0"/>
              <a:t>', '</a:t>
            </a:r>
            <a:r>
              <a:rPr lang="en-AU" dirty="0" err="1"/>
              <a:t>Adadelta</a:t>
            </a:r>
            <a:r>
              <a:rPr lang="en-AU" dirty="0"/>
              <a:t>', '</a:t>
            </a:r>
            <a:r>
              <a:rPr lang="en-AU" dirty="0" err="1"/>
              <a:t>Adagrad</a:t>
            </a:r>
            <a:r>
              <a:rPr lang="en-AU" dirty="0"/>
              <a:t>', '</a:t>
            </a:r>
            <a:r>
              <a:rPr lang="en-AU" dirty="0" err="1"/>
              <a:t>Adamax</a:t>
            </a:r>
            <a:r>
              <a:rPr lang="en-AU" dirty="0"/>
              <a:t>', '</a:t>
            </a:r>
            <a:r>
              <a:rPr lang="en-AU" dirty="0" err="1"/>
              <a:t>Nadam</a:t>
            </a:r>
            <a:r>
              <a:rPr lang="en-AU" dirty="0"/>
              <a:t>', '</a:t>
            </a:r>
            <a:r>
              <a:rPr lang="en-AU" dirty="0" err="1"/>
              <a:t>Ftrl</a:t>
            </a:r>
            <a:r>
              <a:rPr lang="en-AU" dirty="0"/>
              <a:t>'</a:t>
            </a:r>
          </a:p>
        </p:txBody>
      </p:sp>
    </p:spTree>
    <p:extLst>
      <p:ext uri="{BB962C8B-B14F-4D97-AF65-F5344CB8AC3E}">
        <p14:creationId xmlns:p14="http://schemas.microsoft.com/office/powerpoint/2010/main" val="2971690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8ABA-09F2-4C2B-94E5-998D24F3DA42}"/>
              </a:ext>
            </a:extLst>
          </p:cNvPr>
          <p:cNvSpPr>
            <a:spLocks noGrp="1"/>
          </p:cNvSpPr>
          <p:nvPr>
            <p:ph type="title"/>
          </p:nvPr>
        </p:nvSpPr>
        <p:spPr/>
        <p:txBody>
          <a:bodyPr/>
          <a:lstStyle/>
          <a:p>
            <a:r>
              <a:rPr lang="en-AU" dirty="0"/>
              <a:t>learning rate</a:t>
            </a:r>
          </a:p>
        </p:txBody>
      </p:sp>
      <p:sp>
        <p:nvSpPr>
          <p:cNvPr id="3" name="Content Placeholder 2">
            <a:extLst>
              <a:ext uri="{FF2B5EF4-FFF2-40B4-BE49-F238E27FC236}">
                <a16:creationId xmlns:a16="http://schemas.microsoft.com/office/drawing/2014/main" id="{60F7049C-A1CB-4575-AFA1-53EA162788E6}"/>
              </a:ext>
            </a:extLst>
          </p:cNvPr>
          <p:cNvSpPr>
            <a:spLocks noGrp="1"/>
          </p:cNvSpPr>
          <p:nvPr>
            <p:ph idx="1"/>
          </p:nvPr>
        </p:nvSpPr>
        <p:spPr>
          <a:xfrm>
            <a:off x="797442" y="1845734"/>
            <a:ext cx="10792046" cy="4023360"/>
          </a:xfrm>
        </p:spPr>
        <p:txBody>
          <a:bodyPr/>
          <a:lstStyle/>
          <a:p>
            <a:pPr algn="just">
              <a:lnSpc>
                <a:spcPct val="150000"/>
              </a:lnSpc>
              <a:buFont typeface="Wingdings" panose="05000000000000000000" pitchFamily="2" charset="2"/>
              <a:buChar char="q"/>
            </a:pPr>
            <a:r>
              <a:rPr lang="en-AU" dirty="0"/>
              <a:t>One of the hyperparameters in the optimizer is the learning rate. </a:t>
            </a:r>
          </a:p>
          <a:p>
            <a:pPr algn="just">
              <a:lnSpc>
                <a:spcPct val="150000"/>
              </a:lnSpc>
              <a:buFont typeface="Wingdings" panose="05000000000000000000" pitchFamily="2" charset="2"/>
              <a:buChar char="q"/>
            </a:pPr>
            <a:r>
              <a:rPr lang="en-AU" dirty="0"/>
              <a:t>We will also tune the learning rate.</a:t>
            </a:r>
          </a:p>
          <a:p>
            <a:pPr algn="just">
              <a:lnSpc>
                <a:spcPct val="150000"/>
              </a:lnSpc>
              <a:buFont typeface="Wingdings" panose="05000000000000000000" pitchFamily="2" charset="2"/>
              <a:buChar char="q"/>
            </a:pPr>
            <a:r>
              <a:rPr lang="en-AU" dirty="0"/>
              <a:t> Learning rate controls the step size for a model to reach the minimum loss function. A higher learning rate makes the model learn faster, but it may miss the minimum loss function and only reach the surrounding of it. </a:t>
            </a:r>
          </a:p>
          <a:p>
            <a:pPr algn="just">
              <a:lnSpc>
                <a:spcPct val="150000"/>
              </a:lnSpc>
              <a:buFont typeface="Wingdings" panose="05000000000000000000" pitchFamily="2" charset="2"/>
              <a:buChar char="q"/>
            </a:pPr>
            <a:r>
              <a:rPr lang="en-AU" dirty="0"/>
              <a:t>A lower learning rate gives a better chance to find a minimum loss function. As a </a:t>
            </a:r>
            <a:r>
              <a:rPr lang="en-AU" dirty="0" err="1"/>
              <a:t>tradeoff</a:t>
            </a:r>
            <a:r>
              <a:rPr lang="en-AU" dirty="0"/>
              <a:t> lower learning rate needs higher epochs, or more time and memory capacity resources.</a:t>
            </a:r>
          </a:p>
        </p:txBody>
      </p:sp>
    </p:spTree>
    <p:extLst>
      <p:ext uri="{BB962C8B-B14F-4D97-AF65-F5344CB8AC3E}">
        <p14:creationId xmlns:p14="http://schemas.microsoft.com/office/powerpoint/2010/main" val="2679644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8ABA-09F2-4C2B-94E5-998D24F3DA42}"/>
              </a:ext>
            </a:extLst>
          </p:cNvPr>
          <p:cNvSpPr>
            <a:spLocks noGrp="1"/>
          </p:cNvSpPr>
          <p:nvPr>
            <p:ph type="title"/>
          </p:nvPr>
        </p:nvSpPr>
        <p:spPr/>
        <p:txBody>
          <a:bodyPr/>
          <a:lstStyle/>
          <a:p>
            <a:r>
              <a:rPr lang="en-AU" dirty="0"/>
              <a:t>Batch size </a:t>
            </a:r>
          </a:p>
        </p:txBody>
      </p:sp>
      <p:sp>
        <p:nvSpPr>
          <p:cNvPr id="3" name="Content Placeholder 2">
            <a:extLst>
              <a:ext uri="{FF2B5EF4-FFF2-40B4-BE49-F238E27FC236}">
                <a16:creationId xmlns:a16="http://schemas.microsoft.com/office/drawing/2014/main" id="{60F7049C-A1CB-4575-AFA1-53EA162788E6}"/>
              </a:ext>
            </a:extLst>
          </p:cNvPr>
          <p:cNvSpPr>
            <a:spLocks noGrp="1"/>
          </p:cNvSpPr>
          <p:nvPr>
            <p:ph idx="1"/>
          </p:nvPr>
        </p:nvSpPr>
        <p:spPr/>
        <p:txBody>
          <a:bodyPr>
            <a:normAutofit lnSpcReduction="10000"/>
          </a:bodyPr>
          <a:lstStyle/>
          <a:p>
            <a:pPr algn="just">
              <a:lnSpc>
                <a:spcPct val="150000"/>
              </a:lnSpc>
              <a:buFont typeface="Wingdings" panose="05000000000000000000" pitchFamily="2" charset="2"/>
              <a:buChar char="q"/>
            </a:pPr>
            <a:r>
              <a:rPr lang="en-AU" dirty="0"/>
              <a:t>If the observation size of the training dataset is too large, it will definitely take a longer time to build the model.</a:t>
            </a:r>
          </a:p>
          <a:p>
            <a:pPr algn="just">
              <a:lnSpc>
                <a:spcPct val="150000"/>
              </a:lnSpc>
              <a:buFont typeface="Wingdings" panose="05000000000000000000" pitchFamily="2" charset="2"/>
              <a:buChar char="q"/>
            </a:pPr>
            <a:r>
              <a:rPr lang="en-AU" dirty="0"/>
              <a:t> To make the model learn faster, we can assign batch size so that not all of the training data are given to the model at the same time.</a:t>
            </a:r>
          </a:p>
          <a:p>
            <a:pPr algn="just">
              <a:lnSpc>
                <a:spcPct val="150000"/>
              </a:lnSpc>
              <a:buFont typeface="Wingdings" panose="05000000000000000000" pitchFamily="2" charset="2"/>
              <a:buChar char="q"/>
            </a:pPr>
            <a:r>
              <a:rPr lang="en-AU" dirty="0"/>
              <a:t> Batch size is the number of training data sub-samples for the input.</a:t>
            </a:r>
          </a:p>
          <a:p>
            <a:pPr algn="just">
              <a:lnSpc>
                <a:spcPct val="150000"/>
              </a:lnSpc>
              <a:buFont typeface="Wingdings" panose="05000000000000000000" pitchFamily="2" charset="2"/>
              <a:buChar char="q"/>
            </a:pPr>
            <a:r>
              <a:rPr lang="en-AU" dirty="0"/>
              <a:t> If the training dataset has 77,500 observations and the batch size is 1000, the model will learn 77 times with 1000 training data sub-samples and another last learning from the 500 training data sub-samples. </a:t>
            </a:r>
          </a:p>
        </p:txBody>
      </p:sp>
    </p:spTree>
    <p:extLst>
      <p:ext uri="{BB962C8B-B14F-4D97-AF65-F5344CB8AC3E}">
        <p14:creationId xmlns:p14="http://schemas.microsoft.com/office/powerpoint/2010/main" val="3798273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8ABA-09F2-4C2B-94E5-998D24F3DA42}"/>
              </a:ext>
            </a:extLst>
          </p:cNvPr>
          <p:cNvSpPr>
            <a:spLocks noGrp="1"/>
          </p:cNvSpPr>
          <p:nvPr>
            <p:ph type="title"/>
          </p:nvPr>
        </p:nvSpPr>
        <p:spPr/>
        <p:txBody>
          <a:bodyPr/>
          <a:lstStyle/>
          <a:p>
            <a:r>
              <a:rPr lang="en-AU" dirty="0"/>
              <a:t>Batch size </a:t>
            </a:r>
          </a:p>
        </p:txBody>
      </p:sp>
      <p:sp>
        <p:nvSpPr>
          <p:cNvPr id="3" name="Content Placeholder 2">
            <a:extLst>
              <a:ext uri="{FF2B5EF4-FFF2-40B4-BE49-F238E27FC236}">
                <a16:creationId xmlns:a16="http://schemas.microsoft.com/office/drawing/2014/main" id="{60F7049C-A1CB-4575-AFA1-53EA162788E6}"/>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The smaller batch size makes the learning process faster, but the variance of the validation dataset accuracy is higher. </a:t>
            </a:r>
          </a:p>
          <a:p>
            <a:pPr algn="just">
              <a:lnSpc>
                <a:spcPct val="150000"/>
              </a:lnSpc>
              <a:buFont typeface="Wingdings" panose="05000000000000000000" pitchFamily="2" charset="2"/>
              <a:buChar char="q"/>
            </a:pPr>
            <a:r>
              <a:rPr lang="en-AU" dirty="0"/>
              <a:t>A bigger batch size has a slower learning process, but the validation dataset accuracy has a lower variance.</a:t>
            </a:r>
          </a:p>
        </p:txBody>
      </p:sp>
    </p:spTree>
    <p:extLst>
      <p:ext uri="{BB962C8B-B14F-4D97-AF65-F5344CB8AC3E}">
        <p14:creationId xmlns:p14="http://schemas.microsoft.com/office/powerpoint/2010/main" val="901572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8ABA-09F2-4C2B-94E5-998D24F3DA42}"/>
              </a:ext>
            </a:extLst>
          </p:cNvPr>
          <p:cNvSpPr>
            <a:spLocks noGrp="1"/>
          </p:cNvSpPr>
          <p:nvPr>
            <p:ph type="title"/>
          </p:nvPr>
        </p:nvSpPr>
        <p:spPr/>
        <p:txBody>
          <a:bodyPr/>
          <a:lstStyle/>
          <a:p>
            <a:r>
              <a:rPr lang="en-AU" dirty="0"/>
              <a:t>epoch</a:t>
            </a:r>
          </a:p>
        </p:txBody>
      </p:sp>
      <p:sp>
        <p:nvSpPr>
          <p:cNvPr id="3" name="Content Placeholder 2">
            <a:extLst>
              <a:ext uri="{FF2B5EF4-FFF2-40B4-BE49-F238E27FC236}">
                <a16:creationId xmlns:a16="http://schemas.microsoft.com/office/drawing/2014/main" id="{60F7049C-A1CB-4575-AFA1-53EA162788E6}"/>
              </a:ext>
            </a:extLst>
          </p:cNvPr>
          <p:cNvSpPr>
            <a:spLocks noGrp="1"/>
          </p:cNvSpPr>
          <p:nvPr>
            <p:ph idx="1"/>
          </p:nvPr>
        </p:nvSpPr>
        <p:spPr>
          <a:xfrm>
            <a:off x="425302" y="1845734"/>
            <a:ext cx="11355572" cy="4438108"/>
          </a:xfrm>
        </p:spPr>
        <p:txBody>
          <a:bodyPr>
            <a:normAutofit fontScale="92500"/>
          </a:bodyPr>
          <a:lstStyle/>
          <a:p>
            <a:pPr algn="just">
              <a:lnSpc>
                <a:spcPct val="150000"/>
              </a:lnSpc>
              <a:buFont typeface="Wingdings" panose="05000000000000000000" pitchFamily="2" charset="2"/>
              <a:buChar char="q"/>
            </a:pPr>
            <a:r>
              <a:rPr lang="en-AU" dirty="0"/>
              <a:t>The number of times a whole dataset is passed through the neural network model is called an epoch. </a:t>
            </a:r>
          </a:p>
          <a:p>
            <a:pPr algn="just">
              <a:lnSpc>
                <a:spcPct val="150000"/>
              </a:lnSpc>
              <a:buFont typeface="Wingdings" panose="05000000000000000000" pitchFamily="2" charset="2"/>
              <a:buChar char="q"/>
            </a:pPr>
            <a:r>
              <a:rPr lang="en-AU" dirty="0"/>
              <a:t>One epoch means that the training dataset is passed forward and backward through the neural network once. </a:t>
            </a:r>
          </a:p>
          <a:p>
            <a:pPr algn="just">
              <a:lnSpc>
                <a:spcPct val="150000"/>
              </a:lnSpc>
              <a:buFont typeface="Wingdings" panose="05000000000000000000" pitchFamily="2" charset="2"/>
              <a:buChar char="q"/>
            </a:pPr>
            <a:r>
              <a:rPr lang="en-AU" dirty="0"/>
              <a:t>A too-small number of epochs results in underfitting because the neural network has not learned much enough. </a:t>
            </a:r>
          </a:p>
          <a:p>
            <a:pPr algn="just">
              <a:lnSpc>
                <a:spcPct val="150000"/>
              </a:lnSpc>
              <a:buFont typeface="Wingdings" panose="05000000000000000000" pitchFamily="2" charset="2"/>
              <a:buChar char="q"/>
            </a:pPr>
            <a:r>
              <a:rPr lang="en-AU" dirty="0"/>
              <a:t>The training dataset needs to pass multiple times or multiple epochs are required.</a:t>
            </a:r>
          </a:p>
          <a:p>
            <a:pPr algn="just">
              <a:lnSpc>
                <a:spcPct val="150000"/>
              </a:lnSpc>
              <a:buFont typeface="Wingdings" panose="05000000000000000000" pitchFamily="2" charset="2"/>
              <a:buChar char="q"/>
            </a:pPr>
            <a:r>
              <a:rPr lang="en-AU" dirty="0"/>
              <a:t> On the other hand, too many epochs will lead to overfitting where the model can predict the data very well, but cannot predict new unseen data well enough.</a:t>
            </a:r>
          </a:p>
          <a:p>
            <a:pPr algn="just">
              <a:lnSpc>
                <a:spcPct val="150000"/>
              </a:lnSpc>
              <a:buFont typeface="Wingdings" panose="05000000000000000000" pitchFamily="2" charset="2"/>
              <a:buChar char="q"/>
            </a:pPr>
            <a:r>
              <a:rPr lang="en-AU" dirty="0"/>
              <a:t> The number of epoch must be tuned to gain the optimal result. This demonstration searches for a suitable number of epochs between 20 to 100.</a:t>
            </a:r>
          </a:p>
        </p:txBody>
      </p:sp>
    </p:spTree>
    <p:extLst>
      <p:ext uri="{BB962C8B-B14F-4D97-AF65-F5344CB8AC3E}">
        <p14:creationId xmlns:p14="http://schemas.microsoft.com/office/powerpoint/2010/main" val="1080223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1CCD93-E7E5-48A8-A963-9EF9019E7508}"/>
              </a:ext>
            </a:extLst>
          </p:cNvPr>
          <p:cNvPicPr>
            <a:picLocks noChangeAspect="1"/>
          </p:cNvPicPr>
          <p:nvPr/>
        </p:nvPicPr>
        <p:blipFill>
          <a:blip r:embed="rId2"/>
          <a:stretch>
            <a:fillRect/>
          </a:stretch>
        </p:blipFill>
        <p:spPr>
          <a:xfrm>
            <a:off x="0" y="282526"/>
            <a:ext cx="11578856" cy="6292948"/>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3618530-FB38-4BD9-822C-45697744D19D}"/>
                  </a:ext>
                </a:extLst>
              </p14:cNvPr>
              <p14:cNvContentPartPr/>
              <p14:nvPr/>
            </p14:nvContentPartPr>
            <p14:xfrm>
              <a:off x="1137198" y="2632337"/>
              <a:ext cx="6231240" cy="264240"/>
            </p14:xfrm>
          </p:contentPart>
        </mc:Choice>
        <mc:Fallback xmlns="">
          <p:pic>
            <p:nvPicPr>
              <p:cNvPr id="5" name="Ink 4">
                <a:extLst>
                  <a:ext uri="{FF2B5EF4-FFF2-40B4-BE49-F238E27FC236}">
                    <a16:creationId xmlns:a16="http://schemas.microsoft.com/office/drawing/2014/main" id="{B3618530-FB38-4BD9-822C-45697744D19D}"/>
                  </a:ext>
                </a:extLst>
              </p:cNvPr>
              <p:cNvPicPr/>
              <p:nvPr/>
            </p:nvPicPr>
            <p:blipFill>
              <a:blip r:embed="rId4"/>
              <a:stretch>
                <a:fillRect/>
              </a:stretch>
            </p:blipFill>
            <p:spPr>
              <a:xfrm>
                <a:off x="1128198" y="2623337"/>
                <a:ext cx="6248880" cy="281880"/>
              </a:xfrm>
              <a:prstGeom prst="rect">
                <a:avLst/>
              </a:prstGeom>
            </p:spPr>
          </p:pic>
        </mc:Fallback>
      </mc:AlternateContent>
    </p:spTree>
    <p:extLst>
      <p:ext uri="{BB962C8B-B14F-4D97-AF65-F5344CB8AC3E}">
        <p14:creationId xmlns:p14="http://schemas.microsoft.com/office/powerpoint/2010/main" val="1170592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8ABA-09F2-4C2B-94E5-998D24F3DA42}"/>
              </a:ext>
            </a:extLst>
          </p:cNvPr>
          <p:cNvSpPr>
            <a:spLocks noGrp="1"/>
          </p:cNvSpPr>
          <p:nvPr>
            <p:ph type="title"/>
          </p:nvPr>
        </p:nvSpPr>
        <p:spPr/>
        <p:txBody>
          <a:bodyPr/>
          <a:lstStyle/>
          <a:p>
            <a:r>
              <a:rPr lang="en-AU" b="1" dirty="0"/>
              <a:t>Tune the Layers</a:t>
            </a:r>
            <a:endParaRPr lang="en-AU" dirty="0"/>
          </a:p>
        </p:txBody>
      </p:sp>
      <p:sp>
        <p:nvSpPr>
          <p:cNvPr id="3" name="Content Placeholder 2">
            <a:extLst>
              <a:ext uri="{FF2B5EF4-FFF2-40B4-BE49-F238E27FC236}">
                <a16:creationId xmlns:a16="http://schemas.microsoft.com/office/drawing/2014/main" id="{60F7049C-A1CB-4575-AFA1-53EA162788E6}"/>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Layers in Neural Network also determine the result of the prediction model.</a:t>
            </a:r>
          </a:p>
          <a:p>
            <a:pPr algn="just">
              <a:lnSpc>
                <a:spcPct val="150000"/>
              </a:lnSpc>
              <a:buFont typeface="Wingdings" panose="05000000000000000000" pitchFamily="2" charset="2"/>
              <a:buChar char="q"/>
            </a:pPr>
            <a:r>
              <a:rPr lang="en-AU" dirty="0"/>
              <a:t> A smaller number of layers is enough for a simpler problem, but a larger number of layers is needed to build a model for a more complicated problem.</a:t>
            </a:r>
          </a:p>
        </p:txBody>
      </p:sp>
    </p:spTree>
    <p:extLst>
      <p:ext uri="{BB962C8B-B14F-4D97-AF65-F5344CB8AC3E}">
        <p14:creationId xmlns:p14="http://schemas.microsoft.com/office/powerpoint/2010/main" val="2774030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F98E91D-856E-4909-ACC7-086E8BE594B6}"/>
              </a:ext>
            </a:extLst>
          </p:cNvPr>
          <p:cNvPicPr>
            <a:picLocks noGrp="1" noChangeAspect="1"/>
          </p:cNvPicPr>
          <p:nvPr>
            <p:ph idx="1"/>
          </p:nvPr>
        </p:nvPicPr>
        <p:blipFill>
          <a:blip r:embed="rId2"/>
          <a:stretch>
            <a:fillRect/>
          </a:stretch>
        </p:blipFill>
        <p:spPr>
          <a:xfrm>
            <a:off x="1499659" y="1846263"/>
            <a:ext cx="9253008" cy="4022725"/>
          </a:xfrm>
          <a:prstGeom prst="rect">
            <a:avLst/>
          </a:prstGeom>
        </p:spPr>
      </p:pic>
    </p:spTree>
    <p:extLst>
      <p:ext uri="{BB962C8B-B14F-4D97-AF65-F5344CB8AC3E}">
        <p14:creationId xmlns:p14="http://schemas.microsoft.com/office/powerpoint/2010/main" val="397109233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2404AA7CE61574D920E4F05608BCF21" ma:contentTypeVersion="7" ma:contentTypeDescription="Create a new document." ma:contentTypeScope="" ma:versionID="43c16cf97af731b0ca8669de6ba2704b">
  <xsd:schema xmlns:xsd="http://www.w3.org/2001/XMLSchema" xmlns:xs="http://www.w3.org/2001/XMLSchema" xmlns:p="http://schemas.microsoft.com/office/2006/metadata/properties" xmlns:ns2="223246fb-a3d1-4822-b05c-565eadb8f421" targetNamespace="http://schemas.microsoft.com/office/2006/metadata/properties" ma:root="true" ma:fieldsID="cda18318dd0983a5cea4ca2c40c50afa" ns2:_="">
    <xsd:import namespace="223246fb-a3d1-4822-b05c-565eadb8f42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3246fb-a3d1-4822-b05c-565eadb8f4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FCF8CC6-DD5A-4410-A7FE-6CC5A1A62701}"/>
</file>

<file path=customXml/itemProps2.xml><?xml version="1.0" encoding="utf-8"?>
<ds:datastoreItem xmlns:ds="http://schemas.openxmlformats.org/officeDocument/2006/customXml" ds:itemID="{B9B6EF5B-55A3-4501-BADD-3991D66D2327}"/>
</file>

<file path=customXml/itemProps3.xml><?xml version="1.0" encoding="utf-8"?>
<ds:datastoreItem xmlns:ds="http://schemas.openxmlformats.org/officeDocument/2006/customXml" ds:itemID="{87B1296B-DCAE-4D3C-A5C5-27E4D1A9E6BB}"/>
</file>

<file path=docProps/app.xml><?xml version="1.0" encoding="utf-8"?>
<Properties xmlns="http://schemas.openxmlformats.org/officeDocument/2006/extended-properties" xmlns:vt="http://schemas.openxmlformats.org/officeDocument/2006/docPropsVTypes">
  <Template>Retrospect</Template>
  <TotalTime>2180</TotalTime>
  <Words>1544</Words>
  <Application>Microsoft Office PowerPoint</Application>
  <PresentationFormat>Widescreen</PresentationFormat>
  <Paragraphs>107</Paragraphs>
  <Slides>22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Calibri</vt:lpstr>
      <vt:lpstr>Calibri Light</vt:lpstr>
      <vt:lpstr>Cambria Math</vt:lpstr>
      <vt:lpstr>Inter</vt:lpstr>
      <vt:lpstr>Montserrat</vt:lpstr>
      <vt:lpstr>Wingdings</vt:lpstr>
      <vt:lpstr>Retrospect</vt:lpstr>
      <vt:lpstr>Week 7</vt:lpstr>
      <vt:lpstr>Gradient Descent</vt:lpstr>
      <vt:lpstr>Why Gradient Descent?</vt:lpstr>
      <vt:lpstr>Gradient Descent Algo to minimize the cost (Loss)</vt:lpstr>
      <vt:lpstr>Concept of Gradient Descent</vt:lpstr>
      <vt:lpstr>Understanding the Cost Function</vt:lpstr>
      <vt:lpstr>Gradient Descent Process</vt:lpstr>
      <vt:lpstr>Types of Gradient Descent</vt:lpstr>
      <vt:lpstr>Gradient Descent Learning Rate</vt:lpstr>
      <vt:lpstr>How to Solve Gradient Descent Challenges</vt:lpstr>
      <vt:lpstr>Neural Network </vt:lpstr>
      <vt:lpstr>Neural Network</vt:lpstr>
      <vt:lpstr>first hyperparameter to tune: number of neurons in each hidden layer</vt:lpstr>
      <vt:lpstr>An activation function</vt:lpstr>
      <vt:lpstr>optimizer</vt:lpstr>
      <vt:lpstr>learning rate</vt:lpstr>
      <vt:lpstr>Batch size </vt:lpstr>
      <vt:lpstr>Batch size </vt:lpstr>
      <vt:lpstr>epoch</vt:lpstr>
      <vt:lpstr>PowerPoint Presentation</vt:lpstr>
      <vt:lpstr>Tune the Layers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dc:title>
  <dc:creator>Supriya Supriya</dc:creator>
  <cp:lastModifiedBy>Nandini Sidnal</cp:lastModifiedBy>
  <cp:revision>18</cp:revision>
  <dcterms:created xsi:type="dcterms:W3CDTF">2023-11-08T20:41:51Z</dcterms:created>
  <dcterms:modified xsi:type="dcterms:W3CDTF">2026-04-07T13:53:36Z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0x010100F2404AA7CE61574D920E4F05608BCF21</vt:lpwstr>
  </property>
</Properties>
</file>