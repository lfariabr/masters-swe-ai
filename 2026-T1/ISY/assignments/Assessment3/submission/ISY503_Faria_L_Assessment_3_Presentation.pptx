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1E86B8-BF73-464D-A96D-A897577B212C}" v="432" dt="2026-05-04T00:34:51.0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howGuides="1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guilherme De barros andrade faria" userId="31e40991-e7d9-41d2-8af0-eeeeb0b0a000" providerId="ADAL" clId="{B350B1DC-FB38-521A-9133-2C303449DDC2}"/>
    <pc:docChg chg="undo redo custSel modSld">
      <pc:chgData name="Luis guilherme De barros andrade faria" userId="31e40991-e7d9-41d2-8af0-eeeeb0b0a000" providerId="ADAL" clId="{B350B1DC-FB38-521A-9133-2C303449DDC2}" dt="2026-05-04T00:34:06.446" v="750" actId="20577"/>
      <pc:docMkLst>
        <pc:docMk/>
      </pc:docMkLst>
      <pc:sldChg chg="addSp delSp modSp mod modAnim modNotesTx">
        <pc:chgData name="Luis guilherme De barros andrade faria" userId="31e40991-e7d9-41d2-8af0-eeeeb0b0a000" providerId="ADAL" clId="{B350B1DC-FB38-521A-9133-2C303449DDC2}" dt="2026-05-03T17:58:47.192" v="501" actId="20577"/>
        <pc:sldMkLst>
          <pc:docMk/>
          <pc:sldMk cId="0" sldId="256"/>
        </pc:sldMkLst>
        <pc:spChg chg="mod">
          <ac:chgData name="Luis guilherme De barros andrade faria" userId="31e40991-e7d9-41d2-8af0-eeeeb0b0a000" providerId="ADAL" clId="{B350B1DC-FB38-521A-9133-2C303449DDC2}" dt="2026-05-01T20:25:18.202" v="35" actId="20577"/>
          <ac:spMkLst>
            <pc:docMk/>
            <pc:sldMk cId="0" sldId="256"/>
            <ac:spMk id="28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5-02T06:23:05.233" v="470" actId="20577"/>
          <ac:spMkLst>
            <pc:docMk/>
            <pc:sldMk cId="0" sldId="256"/>
            <ac:spMk id="41" creationId="{00000000-0000-0000-0000-000000000000}"/>
          </ac:spMkLst>
        </pc:spChg>
        <pc:picChg chg="add mod">
          <ac:chgData name="Luis guilherme De barros andrade faria" userId="31e40991-e7d9-41d2-8af0-eeeeb0b0a000" providerId="ADAL" clId="{B350B1DC-FB38-521A-9133-2C303449DDC2}" dt="2026-05-01T20:29:33.022" v="71" actId="1076"/>
          <ac:picMkLst>
            <pc:docMk/>
            <pc:sldMk cId="0" sldId="256"/>
            <ac:picMk id="46" creationId="{F3D23192-B25C-ED29-401E-28380765325A}"/>
          </ac:picMkLst>
        </pc:picChg>
        <pc:picChg chg="add mod">
          <ac:chgData name="Luis guilherme De barros andrade faria" userId="31e40991-e7d9-41d2-8af0-eeeeb0b0a000" providerId="ADAL" clId="{B350B1DC-FB38-521A-9133-2C303449DDC2}" dt="2026-05-01T20:35:16.765" v="166"/>
          <ac:picMkLst>
            <pc:docMk/>
            <pc:sldMk cId="0" sldId="256"/>
            <ac:picMk id="47" creationId="{5A48CD48-DFCE-CD31-CD68-683A6477CCE3}"/>
          </ac:picMkLst>
        </pc:picChg>
      </pc:sldChg>
      <pc:sldChg chg="addSp delSp modSp mod modAnim modNotesTx">
        <pc:chgData name="Luis guilherme De barros andrade faria" userId="31e40991-e7d9-41d2-8af0-eeeeb0b0a000" providerId="ADAL" clId="{B350B1DC-FB38-521A-9133-2C303449DDC2}" dt="2026-05-03T17:59:38.751" v="525" actId="20577"/>
        <pc:sldMkLst>
          <pc:docMk/>
          <pc:sldMk cId="0" sldId="257"/>
        </pc:sldMkLst>
        <pc:picChg chg="add mod">
          <ac:chgData name="Luis guilherme De barros andrade faria" userId="31e40991-e7d9-41d2-8af0-eeeeb0b0a000" providerId="ADAL" clId="{B350B1DC-FB38-521A-9133-2C303449DDC2}" dt="2026-05-01T20:29:45.284" v="78" actId="1076"/>
          <ac:picMkLst>
            <pc:docMk/>
            <pc:sldMk cId="0" sldId="257"/>
            <ac:picMk id="45" creationId="{6F09C945-D627-F94C-2850-E6A2C65086FE}"/>
          </ac:picMkLst>
        </pc:picChg>
        <pc:picChg chg="add mod">
          <ac:chgData name="Luis guilherme De barros andrade faria" userId="31e40991-e7d9-41d2-8af0-eeeeb0b0a000" providerId="ADAL" clId="{B350B1DC-FB38-521A-9133-2C303449DDC2}" dt="2026-05-01T20:35:12.753" v="164" actId="1076"/>
          <ac:picMkLst>
            <pc:docMk/>
            <pc:sldMk cId="0" sldId="257"/>
            <ac:picMk id="46" creationId="{345C5C8B-4B96-E474-CAF5-3A9ADD22EF46}"/>
          </ac:picMkLst>
        </pc:picChg>
      </pc:sldChg>
      <pc:sldChg chg="addSp delSp modSp mod modAnim modNotesTx">
        <pc:chgData name="Luis guilherme De barros andrade faria" userId="31e40991-e7d9-41d2-8af0-eeeeb0b0a000" providerId="ADAL" clId="{B350B1DC-FB38-521A-9133-2C303449DDC2}" dt="2026-05-03T18:00:30.179" v="552" actId="20577"/>
        <pc:sldMkLst>
          <pc:docMk/>
          <pc:sldMk cId="0" sldId="258"/>
        </pc:sldMkLst>
        <pc:spChg chg="mod">
          <ac:chgData name="Luis guilherme De barros andrade faria" userId="31e40991-e7d9-41d2-8af0-eeeeb0b0a000" providerId="ADAL" clId="{B350B1DC-FB38-521A-9133-2C303449DDC2}" dt="2026-05-01T20:41:11.803" v="293" actId="1076"/>
          <ac:spMkLst>
            <pc:docMk/>
            <pc:sldMk cId="0" sldId="258"/>
            <ac:spMk id="3" creationId="{00000000-0000-0000-0000-000000000000}"/>
          </ac:spMkLst>
        </pc:spChg>
        <pc:picChg chg="add mod">
          <ac:chgData name="Luis guilherme De barros andrade faria" userId="31e40991-e7d9-41d2-8af0-eeeeb0b0a000" providerId="ADAL" clId="{B350B1DC-FB38-521A-9133-2C303449DDC2}" dt="2026-05-01T20:29:49.645" v="80"/>
          <ac:picMkLst>
            <pc:docMk/>
            <pc:sldMk cId="0" sldId="258"/>
            <ac:picMk id="35" creationId="{5291D4D2-655D-0566-20D8-9E56BF92F977}"/>
          </ac:picMkLst>
        </pc:picChg>
        <pc:picChg chg="add mod">
          <ac:chgData name="Luis guilherme De barros andrade faria" userId="31e40991-e7d9-41d2-8af0-eeeeb0b0a000" providerId="ADAL" clId="{B350B1DC-FB38-521A-9133-2C303449DDC2}" dt="2026-05-01T20:35:18.408" v="167"/>
          <ac:picMkLst>
            <pc:docMk/>
            <pc:sldMk cId="0" sldId="258"/>
            <ac:picMk id="36" creationId="{96E8A068-2251-BAA5-6553-395461017047}"/>
          </ac:picMkLst>
        </pc:picChg>
      </pc:sldChg>
      <pc:sldChg chg="addSp delSp modSp mod modAnim modNotesTx">
        <pc:chgData name="Luis guilherme De barros andrade faria" userId="31e40991-e7d9-41d2-8af0-eeeeb0b0a000" providerId="ADAL" clId="{B350B1DC-FB38-521A-9133-2C303449DDC2}" dt="2026-05-03T18:01:37.075" v="576" actId="20577"/>
        <pc:sldMkLst>
          <pc:docMk/>
          <pc:sldMk cId="0" sldId="259"/>
        </pc:sldMkLst>
        <pc:picChg chg="add mod">
          <ac:chgData name="Luis guilherme De barros andrade faria" userId="31e40991-e7d9-41d2-8af0-eeeeb0b0a000" providerId="ADAL" clId="{B350B1DC-FB38-521A-9133-2C303449DDC2}" dt="2026-05-01T20:30:15.182" v="97"/>
          <ac:picMkLst>
            <pc:docMk/>
            <pc:sldMk cId="0" sldId="259"/>
            <ac:picMk id="55" creationId="{3D61B683-B378-1D09-F73A-5546AEC265D9}"/>
          </ac:picMkLst>
        </pc:picChg>
        <pc:picChg chg="add mod">
          <ac:chgData name="Luis guilherme De barros andrade faria" userId="31e40991-e7d9-41d2-8af0-eeeeb0b0a000" providerId="ADAL" clId="{B350B1DC-FB38-521A-9133-2C303449DDC2}" dt="2026-05-01T20:35:19.840" v="168"/>
          <ac:picMkLst>
            <pc:docMk/>
            <pc:sldMk cId="0" sldId="259"/>
            <ac:picMk id="56" creationId="{5C613D7A-D6E0-5B9B-9D59-F098F6902926}"/>
          </ac:picMkLst>
        </pc:picChg>
      </pc:sldChg>
      <pc:sldChg chg="addSp delSp modSp mod modAnim">
        <pc:chgData name="Luis guilherme De barros andrade faria" userId="31e40991-e7d9-41d2-8af0-eeeeb0b0a000" providerId="ADAL" clId="{B350B1DC-FB38-521A-9133-2C303449DDC2}" dt="2026-05-01T20:35:21.085" v="169"/>
        <pc:sldMkLst>
          <pc:docMk/>
          <pc:sldMk cId="0" sldId="260"/>
        </pc:sldMkLst>
        <pc:spChg chg="mod">
          <ac:chgData name="Luis guilherme De barros andrade faria" userId="31e40991-e7d9-41d2-8af0-eeeeb0b0a000" providerId="ADAL" clId="{B350B1DC-FB38-521A-9133-2C303449DDC2}" dt="2026-05-01T20:29:12.638" v="61" actId="14100"/>
          <ac:spMkLst>
            <pc:docMk/>
            <pc:sldMk cId="0" sldId="260"/>
            <ac:spMk id="6" creationId="{00000000-0000-0000-0000-000000000000}"/>
          </ac:spMkLst>
        </pc:spChg>
        <pc:picChg chg="add mod">
          <ac:chgData name="Luis guilherme De barros andrade faria" userId="31e40991-e7d9-41d2-8af0-eeeeb0b0a000" providerId="ADAL" clId="{B350B1DC-FB38-521A-9133-2C303449DDC2}" dt="2026-05-01T20:30:13.736" v="96"/>
          <ac:picMkLst>
            <pc:docMk/>
            <pc:sldMk cId="0" sldId="260"/>
            <ac:picMk id="64" creationId="{DBD90B40-4607-1E3B-DE6C-900C29AF4E42}"/>
          </ac:picMkLst>
        </pc:picChg>
        <pc:picChg chg="add mod">
          <ac:chgData name="Luis guilherme De barros andrade faria" userId="31e40991-e7d9-41d2-8af0-eeeeb0b0a000" providerId="ADAL" clId="{B350B1DC-FB38-521A-9133-2C303449DDC2}" dt="2026-05-01T20:35:21.085" v="169"/>
          <ac:picMkLst>
            <pc:docMk/>
            <pc:sldMk cId="0" sldId="260"/>
            <ac:picMk id="65" creationId="{D11FEA3F-FB4A-1807-BFBD-20F363A04041}"/>
          </ac:picMkLst>
        </pc:picChg>
      </pc:sldChg>
      <pc:sldChg chg="addSp delSp modSp mod modAnim modNotesTx">
        <pc:chgData name="Luis guilherme De barros andrade faria" userId="31e40991-e7d9-41d2-8af0-eeeeb0b0a000" providerId="ADAL" clId="{B350B1DC-FB38-521A-9133-2C303449DDC2}" dt="2026-05-04T00:34:06.446" v="750" actId="20577"/>
        <pc:sldMkLst>
          <pc:docMk/>
          <pc:sldMk cId="0" sldId="261"/>
        </pc:sldMkLst>
        <pc:spChg chg="add mod">
          <ac:chgData name="Luis guilherme De barros andrade faria" userId="31e40991-e7d9-41d2-8af0-eeeeb0b0a000" providerId="ADAL" clId="{B350B1DC-FB38-521A-9133-2C303449DDC2}" dt="2026-04-29T02:12:50.435" v="12"/>
          <ac:spMkLst>
            <pc:docMk/>
            <pc:sldMk cId="0" sldId="261"/>
            <ac:spMk id="37" creationId="{0567A0CE-E108-E117-BC64-353645210344}"/>
          </ac:spMkLst>
        </pc:spChg>
        <pc:spChg chg="add mod">
          <ac:chgData name="Luis guilherme De barros andrade faria" userId="31e40991-e7d9-41d2-8af0-eeeeb0b0a000" providerId="ADAL" clId="{B350B1DC-FB38-521A-9133-2C303449DDC2}" dt="2026-04-29T02:12:50.435" v="12"/>
          <ac:spMkLst>
            <pc:docMk/>
            <pc:sldMk cId="0" sldId="261"/>
            <ac:spMk id="45" creationId="{3239C581-1925-44E3-8D09-596C2C3FC2FD}"/>
          </ac:spMkLst>
        </pc:spChg>
        <pc:spChg chg="add mod">
          <ac:chgData name="Luis guilherme De barros andrade faria" userId="31e40991-e7d9-41d2-8af0-eeeeb0b0a000" providerId="ADAL" clId="{B350B1DC-FB38-521A-9133-2C303449DDC2}" dt="2026-04-29T02:12:50.435" v="12"/>
          <ac:spMkLst>
            <pc:docMk/>
            <pc:sldMk cId="0" sldId="261"/>
            <ac:spMk id="47" creationId="{D44C9EB2-2062-6069-2636-32E65207C3E7}"/>
          </ac:spMkLst>
        </pc:spChg>
        <pc:spChg chg="add mod">
          <ac:chgData name="Luis guilherme De barros andrade faria" userId="31e40991-e7d9-41d2-8af0-eeeeb0b0a000" providerId="ADAL" clId="{B350B1DC-FB38-521A-9133-2C303449DDC2}" dt="2026-04-29T02:12:50.435" v="12"/>
          <ac:spMkLst>
            <pc:docMk/>
            <pc:sldMk cId="0" sldId="261"/>
            <ac:spMk id="48" creationId="{BCD34CED-F17D-9EB5-7B9D-C6365E9397F9}"/>
          </ac:spMkLst>
        </pc:spChg>
        <pc:spChg chg="add mod">
          <ac:chgData name="Luis guilherme De barros andrade faria" userId="31e40991-e7d9-41d2-8af0-eeeeb0b0a000" providerId="ADAL" clId="{B350B1DC-FB38-521A-9133-2C303449DDC2}" dt="2026-04-29T02:12:50.435" v="12"/>
          <ac:spMkLst>
            <pc:docMk/>
            <pc:sldMk cId="0" sldId="261"/>
            <ac:spMk id="52" creationId="{6B568276-BFC7-D997-D459-06E4C18E11E6}"/>
          </ac:spMkLst>
        </pc:spChg>
        <pc:spChg chg="add mod">
          <ac:chgData name="Luis guilherme De barros andrade faria" userId="31e40991-e7d9-41d2-8af0-eeeeb0b0a000" providerId="ADAL" clId="{B350B1DC-FB38-521A-9133-2C303449DDC2}" dt="2026-04-29T02:12:50.435" v="12"/>
          <ac:spMkLst>
            <pc:docMk/>
            <pc:sldMk cId="0" sldId="261"/>
            <ac:spMk id="64" creationId="{CA3CFCDD-FFA6-4519-0B77-88A39DBCDD5B}"/>
          </ac:spMkLst>
        </pc:spChg>
        <pc:spChg chg="add mod">
          <ac:chgData name="Luis guilherme De barros andrade faria" userId="31e40991-e7d9-41d2-8af0-eeeeb0b0a000" providerId="ADAL" clId="{B350B1DC-FB38-521A-9133-2C303449DDC2}" dt="2026-04-29T02:12:50.435" v="12"/>
          <ac:spMkLst>
            <pc:docMk/>
            <pc:sldMk cId="0" sldId="261"/>
            <ac:spMk id="65" creationId="{309994EF-95A2-7810-703E-9D9AA3E1B92C}"/>
          </ac:spMkLst>
        </pc:spChg>
        <pc:spChg chg="add mod">
          <ac:chgData name="Luis guilherme De barros andrade faria" userId="31e40991-e7d9-41d2-8af0-eeeeb0b0a000" providerId="ADAL" clId="{B350B1DC-FB38-521A-9133-2C303449DDC2}" dt="2026-04-29T02:12:50.435" v="12"/>
          <ac:spMkLst>
            <pc:docMk/>
            <pc:sldMk cId="0" sldId="261"/>
            <ac:spMk id="67" creationId="{C939E389-6DB8-A4AD-1E30-405450FA7C19}"/>
          </ac:spMkLst>
        </pc:spChg>
        <pc:spChg chg="add mod">
          <ac:chgData name="Luis guilherme De barros andrade faria" userId="31e40991-e7d9-41d2-8af0-eeeeb0b0a000" providerId="ADAL" clId="{B350B1DC-FB38-521A-9133-2C303449DDC2}" dt="2026-04-29T02:12:50.435" v="12"/>
          <ac:spMkLst>
            <pc:docMk/>
            <pc:sldMk cId="0" sldId="261"/>
            <ac:spMk id="72" creationId="{064E4592-9155-98EE-DD0B-CA12AC96EDA6}"/>
          </ac:spMkLst>
        </pc:spChg>
        <pc:spChg chg="mod">
          <ac:chgData name="Luis guilherme De barros andrade faria" userId="31e40991-e7d9-41d2-8af0-eeeeb0b0a000" providerId="ADAL" clId="{B350B1DC-FB38-521A-9133-2C303449DDC2}" dt="2026-04-29T02:13:29.168" v="18" actId="1036"/>
          <ac:spMkLst>
            <pc:docMk/>
            <pc:sldMk cId="0" sldId="261"/>
            <ac:spMk id="78" creationId="{5DE77556-4DC6-4BDD-188A-01DCDE76C7DC}"/>
          </ac:spMkLst>
        </pc:spChg>
        <pc:spChg chg="add mod">
          <ac:chgData name="Luis guilherme De barros andrade faria" userId="31e40991-e7d9-41d2-8af0-eeeeb0b0a000" providerId="ADAL" clId="{B350B1DC-FB38-521A-9133-2C303449DDC2}" dt="2026-04-29T02:13:31.992" v="20" actId="20577"/>
          <ac:spMkLst>
            <pc:docMk/>
            <pc:sldMk cId="0" sldId="261"/>
            <ac:spMk id="81" creationId="{32BE967B-CD01-7B66-9552-C61BFC6F9C75}"/>
          </ac:spMkLst>
        </pc:spChg>
        <pc:picChg chg="add mod">
          <ac:chgData name="Luis guilherme De barros andrade faria" userId="31e40991-e7d9-41d2-8af0-eeeeb0b0a000" providerId="ADAL" clId="{B350B1DC-FB38-521A-9133-2C303449DDC2}" dt="2026-05-01T20:30:12.241" v="95"/>
          <ac:picMkLst>
            <pc:docMk/>
            <pc:sldMk cId="0" sldId="261"/>
            <ac:picMk id="2" creationId="{2ADC4500-5540-CE7F-90EC-DF64B93D153F}"/>
          </ac:picMkLst>
        </pc:picChg>
        <pc:picChg chg="add mod">
          <ac:chgData name="Luis guilherme De barros andrade faria" userId="31e40991-e7d9-41d2-8af0-eeeeb0b0a000" providerId="ADAL" clId="{B350B1DC-FB38-521A-9133-2C303449DDC2}" dt="2026-05-01T20:35:21.965" v="170"/>
          <ac:picMkLst>
            <pc:docMk/>
            <pc:sldMk cId="0" sldId="261"/>
            <ac:picMk id="3" creationId="{46224C51-EA3D-3AF9-E45D-19F999339147}"/>
          </ac:picMkLst>
        </pc:picChg>
      </pc:sldChg>
      <pc:sldChg chg="addSp delSp modSp mod addAnim delAnim modAnim modNotesTx">
        <pc:chgData name="Luis guilherme De barros andrade faria" userId="31e40991-e7d9-41d2-8af0-eeeeb0b0a000" providerId="ADAL" clId="{B350B1DC-FB38-521A-9133-2C303449DDC2}" dt="2026-05-03T18:04:03.264" v="631" actId="20577"/>
        <pc:sldMkLst>
          <pc:docMk/>
          <pc:sldMk cId="0" sldId="262"/>
        </pc:sldMkLst>
        <pc:spChg chg="add del">
          <ac:chgData name="Luis guilherme De barros andrade faria" userId="31e40991-e7d9-41d2-8af0-eeeeb0b0a000" providerId="ADAL" clId="{B350B1DC-FB38-521A-9133-2C303449DDC2}" dt="2026-05-02T06:30:57.706" v="475" actId="478"/>
          <ac:spMkLst>
            <pc:docMk/>
            <pc:sldMk cId="0" sldId="262"/>
            <ac:spMk id="13" creationId="{00000000-0000-0000-0000-000000000000}"/>
          </ac:spMkLst>
        </pc:spChg>
        <pc:picChg chg="add mod">
          <ac:chgData name="Luis guilherme De barros andrade faria" userId="31e40991-e7d9-41d2-8af0-eeeeb0b0a000" providerId="ADAL" clId="{B350B1DC-FB38-521A-9133-2C303449DDC2}" dt="2026-05-01T20:30:11.137" v="94"/>
          <ac:picMkLst>
            <pc:docMk/>
            <pc:sldMk cId="0" sldId="262"/>
            <ac:picMk id="21" creationId="{BA27A63C-54DC-7862-2C93-51D7EBDE403B}"/>
          </ac:picMkLst>
        </pc:picChg>
        <pc:picChg chg="add mod">
          <ac:chgData name="Luis guilherme De barros andrade faria" userId="31e40991-e7d9-41d2-8af0-eeeeb0b0a000" providerId="ADAL" clId="{B350B1DC-FB38-521A-9133-2C303449DDC2}" dt="2026-05-01T20:35:22.826" v="171"/>
          <ac:picMkLst>
            <pc:docMk/>
            <pc:sldMk cId="0" sldId="262"/>
            <ac:picMk id="22" creationId="{3E6EBC31-FF19-DAC2-5CC4-F47BD12D6D2D}"/>
          </ac:picMkLst>
        </pc:picChg>
      </pc:sldChg>
      <pc:sldChg chg="addSp delSp modSp mod modAnim modNotesTx">
        <pc:chgData name="Luis guilherme De barros andrade faria" userId="31e40991-e7d9-41d2-8af0-eeeeb0b0a000" providerId="ADAL" clId="{B350B1DC-FB38-521A-9133-2C303449DDC2}" dt="2026-05-03T18:05:20.505" v="666" actId="20577"/>
        <pc:sldMkLst>
          <pc:docMk/>
          <pc:sldMk cId="0" sldId="263"/>
        </pc:sldMkLst>
        <pc:picChg chg="add mod">
          <ac:chgData name="Luis guilherme De barros andrade faria" userId="31e40991-e7d9-41d2-8af0-eeeeb0b0a000" providerId="ADAL" clId="{B350B1DC-FB38-521A-9133-2C303449DDC2}" dt="2026-05-01T20:30:09.991" v="93"/>
          <ac:picMkLst>
            <pc:docMk/>
            <pc:sldMk cId="0" sldId="263"/>
            <ac:picMk id="51" creationId="{8073D69A-71BC-4367-4A41-9D4BD8204EEC}"/>
          </ac:picMkLst>
        </pc:picChg>
        <pc:picChg chg="add mod">
          <ac:chgData name="Luis guilherme De barros andrade faria" userId="31e40991-e7d9-41d2-8af0-eeeeb0b0a000" providerId="ADAL" clId="{B350B1DC-FB38-521A-9133-2C303449DDC2}" dt="2026-05-01T20:35:23.687" v="172"/>
          <ac:picMkLst>
            <pc:docMk/>
            <pc:sldMk cId="0" sldId="263"/>
            <ac:picMk id="52" creationId="{C00328BE-A3BC-2531-A791-66C5B8D234C7}"/>
          </ac:picMkLst>
        </pc:picChg>
      </pc:sldChg>
      <pc:sldChg chg="addSp delSp modSp mod modAnim modNotesTx">
        <pc:chgData name="Luis guilherme De barros andrade faria" userId="31e40991-e7d9-41d2-8af0-eeeeb0b0a000" providerId="ADAL" clId="{B350B1DC-FB38-521A-9133-2C303449DDC2}" dt="2026-05-03T18:08:41.200" v="693" actId="20577"/>
        <pc:sldMkLst>
          <pc:docMk/>
          <pc:sldMk cId="0" sldId="264"/>
        </pc:sldMkLst>
        <pc:spChg chg="mod">
          <ac:chgData name="Luis guilherme De barros andrade faria" userId="31e40991-e7d9-41d2-8af0-eeeeb0b0a000" providerId="ADAL" clId="{B350B1DC-FB38-521A-9133-2C303449DDC2}" dt="2026-05-01T20:44:45.440" v="351" actId="1076"/>
          <ac:spMkLst>
            <pc:docMk/>
            <pc:sldMk cId="0" sldId="264"/>
            <ac:spMk id="3" creationId="{00000000-0000-0000-0000-000000000000}"/>
          </ac:spMkLst>
        </pc:spChg>
        <pc:picChg chg="add mod">
          <ac:chgData name="Luis guilherme De barros andrade faria" userId="31e40991-e7d9-41d2-8af0-eeeeb0b0a000" providerId="ADAL" clId="{B350B1DC-FB38-521A-9133-2C303449DDC2}" dt="2026-05-01T20:30:09.134" v="92"/>
          <ac:picMkLst>
            <pc:docMk/>
            <pc:sldMk cId="0" sldId="264"/>
            <ac:picMk id="56" creationId="{2C4D454E-055F-5BAC-B1E8-E58604D58409}"/>
          </ac:picMkLst>
        </pc:picChg>
        <pc:picChg chg="add mod">
          <ac:chgData name="Luis guilherme De barros andrade faria" userId="31e40991-e7d9-41d2-8af0-eeeeb0b0a000" providerId="ADAL" clId="{B350B1DC-FB38-521A-9133-2C303449DDC2}" dt="2026-05-01T20:35:24.470" v="173"/>
          <ac:picMkLst>
            <pc:docMk/>
            <pc:sldMk cId="0" sldId="264"/>
            <ac:picMk id="57" creationId="{DAC9CDD6-737B-2D5B-9E9E-F82F8FEE1F3D}"/>
          </ac:picMkLst>
        </pc:picChg>
      </pc:sldChg>
      <pc:sldChg chg="addSp delSp modSp mod modAnim modNotesTx">
        <pc:chgData name="Luis guilherme De barros andrade faria" userId="31e40991-e7d9-41d2-8af0-eeeeb0b0a000" providerId="ADAL" clId="{B350B1DC-FB38-521A-9133-2C303449DDC2}" dt="2026-05-03T18:09:44.113" v="718" actId="20577"/>
        <pc:sldMkLst>
          <pc:docMk/>
          <pc:sldMk cId="0" sldId="265"/>
        </pc:sldMkLst>
        <pc:picChg chg="add mod">
          <ac:chgData name="Luis guilherme De barros andrade faria" userId="31e40991-e7d9-41d2-8af0-eeeeb0b0a000" providerId="ADAL" clId="{B350B1DC-FB38-521A-9133-2C303449DDC2}" dt="2026-05-01T20:30:08.380" v="91"/>
          <ac:picMkLst>
            <pc:docMk/>
            <pc:sldMk cId="0" sldId="265"/>
            <ac:picMk id="51" creationId="{1FAC6877-93AB-C65A-88D3-D019C1DC9964}"/>
          </ac:picMkLst>
        </pc:picChg>
        <pc:picChg chg="add mod">
          <ac:chgData name="Luis guilherme De barros andrade faria" userId="31e40991-e7d9-41d2-8af0-eeeeb0b0a000" providerId="ADAL" clId="{B350B1DC-FB38-521A-9133-2C303449DDC2}" dt="2026-05-01T20:35:25.243" v="174"/>
          <ac:picMkLst>
            <pc:docMk/>
            <pc:sldMk cId="0" sldId="265"/>
            <ac:picMk id="52" creationId="{896E91AF-D977-98C8-1C80-8B72B929749C}"/>
          </ac:picMkLst>
        </pc:picChg>
      </pc:sldChg>
      <pc:sldChg chg="addSp delSp modSp mod modAnim modNotesTx">
        <pc:chgData name="Luis guilherme De barros andrade faria" userId="31e40991-e7d9-41d2-8af0-eeeeb0b0a000" providerId="ADAL" clId="{B350B1DC-FB38-521A-9133-2C303449DDC2}" dt="2026-05-03T18:10:58.499" v="747" actId="20577"/>
        <pc:sldMkLst>
          <pc:docMk/>
          <pc:sldMk cId="0" sldId="266"/>
        </pc:sldMkLst>
        <pc:picChg chg="add mod">
          <ac:chgData name="Luis guilherme De barros andrade faria" userId="31e40991-e7d9-41d2-8af0-eeeeb0b0a000" providerId="ADAL" clId="{B350B1DC-FB38-521A-9133-2C303449DDC2}" dt="2026-05-01T20:30:07.152" v="90"/>
          <ac:picMkLst>
            <pc:docMk/>
            <pc:sldMk cId="0" sldId="266"/>
            <ac:picMk id="39" creationId="{FF43A562-2DBF-F3AF-A765-8E096C7B19B2}"/>
          </ac:picMkLst>
        </pc:picChg>
        <pc:picChg chg="add mod">
          <ac:chgData name="Luis guilherme De barros andrade faria" userId="31e40991-e7d9-41d2-8af0-eeeeb0b0a000" providerId="ADAL" clId="{B350B1DC-FB38-521A-9133-2C303449DDC2}" dt="2026-05-01T20:35:26.659" v="175"/>
          <ac:picMkLst>
            <pc:docMk/>
            <pc:sldMk cId="0" sldId="266"/>
            <ac:picMk id="41" creationId="{448E0581-BEC0-4435-4D2F-FE3F19F538D3}"/>
          </ac:picMkLst>
        </pc:picChg>
      </pc:sldChg>
      <pc:sldChg chg="addSp delSp modSp mod modAnim modNotesTx">
        <pc:chgData name="Luis guilherme De barros andrade faria" userId="31e40991-e7d9-41d2-8af0-eeeeb0b0a000" providerId="ADAL" clId="{B350B1DC-FB38-521A-9133-2C303449DDC2}" dt="2026-05-03T18:11:04.470" v="748" actId="20577"/>
        <pc:sldMkLst>
          <pc:docMk/>
          <pc:sldMk cId="0" sldId="267"/>
        </pc:sldMkLst>
        <pc:spChg chg="mod">
          <ac:chgData name="Luis guilherme De barros andrade faria" userId="31e40991-e7d9-41d2-8af0-eeeeb0b0a000" providerId="ADAL" clId="{B350B1DC-FB38-521A-9133-2C303449DDC2}" dt="2026-05-01T20:33:02.667" v="143" actId="20577"/>
          <ac:spMkLst>
            <pc:docMk/>
            <pc:sldMk cId="0" sldId="267"/>
            <ac:spMk id="14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5-01T20:33:21.469" v="147" actId="20577"/>
          <ac:spMkLst>
            <pc:docMk/>
            <pc:sldMk cId="0" sldId="267"/>
            <ac:spMk id="19" creationId="{00000000-0000-0000-0000-000000000000}"/>
          </ac:spMkLst>
        </pc:spChg>
        <pc:picChg chg="add mod">
          <ac:chgData name="Luis guilherme De barros andrade faria" userId="31e40991-e7d9-41d2-8af0-eeeeb0b0a000" providerId="ADAL" clId="{B350B1DC-FB38-521A-9133-2C303449DDC2}" dt="2026-05-01T20:30:35.406" v="104"/>
          <ac:picMkLst>
            <pc:docMk/>
            <pc:sldMk cId="0" sldId="267"/>
            <ac:picMk id="21" creationId="{3E51C861-D8D2-B96A-7A3C-7E018433215F}"/>
          </ac:picMkLst>
        </pc:picChg>
        <pc:picChg chg="add mod">
          <ac:chgData name="Luis guilherme De barros andrade faria" userId="31e40991-e7d9-41d2-8af0-eeeeb0b0a000" providerId="ADAL" clId="{B350B1DC-FB38-521A-9133-2C303449DDC2}" dt="2026-05-01T20:35:27.413" v="176"/>
          <ac:picMkLst>
            <pc:docMk/>
            <pc:sldMk cId="0" sldId="267"/>
            <ac:picMk id="22" creationId="{0F875FBC-06CF-59BE-9F8E-FD4269253718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F172A"/>
                </a:solidFill>
                <a:latin typeface="Arial"/>
              </a:rPr>
              <a:t>Reviews per domain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Books</c:v>
                </c:pt>
                <c:pt idx="1">
                  <c:v>DVDs</c:v>
                </c:pt>
                <c:pt idx="2">
                  <c:v>Electronics</c:v>
                </c:pt>
                <c:pt idx="3">
                  <c:v>Kitchen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</c:v>
                </c:pt>
                <c:pt idx="1">
                  <c:v>1000</c:v>
                </c:pt>
                <c:pt idx="2">
                  <c:v>1000</c:v>
                </c:pt>
                <c:pt idx="3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2B-164D-956C-F5AA3B1703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Books</c:v>
                </c:pt>
                <c:pt idx="1">
                  <c:v>DVDs</c:v>
                </c:pt>
                <c:pt idx="2">
                  <c:v>Electronics</c:v>
                </c:pt>
                <c:pt idx="3">
                  <c:v>Kitchen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1000</c:v>
                </c:pt>
                <c:pt idx="1">
                  <c:v>1000</c:v>
                </c:pt>
                <c:pt idx="2">
                  <c:v>1000</c:v>
                </c:pt>
                <c:pt idx="3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2B-164D-956C-F5AA3B1703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F1</c:v>
                </c:pt>
              </c:strCache>
            </c:strRef>
          </c:tx>
          <c:spPr>
            <a:ln w="31750" cap="flat">
              <a:solidFill>
                <a:srgbClr val="6474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0.7</c:v>
                </c:pt>
                <c:pt idx="1">
                  <c:v>0.78</c:v>
                </c:pt>
                <c:pt idx="2">
                  <c:v>0.83</c:v>
                </c:pt>
                <c:pt idx="3">
                  <c:v>0.86</c:v>
                </c:pt>
                <c:pt idx="4">
                  <c:v>0.88</c:v>
                </c:pt>
                <c:pt idx="5">
                  <c:v>0.9</c:v>
                </c:pt>
                <c:pt idx="6">
                  <c:v>0.92</c:v>
                </c:pt>
                <c:pt idx="7">
                  <c:v>0.93</c:v>
                </c:pt>
                <c:pt idx="8">
                  <c:v>0.94</c:v>
                </c:pt>
                <c:pt idx="9">
                  <c:v>0.95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0D-2347-B4E3-D235ABF364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F1</c:v>
                </c:pt>
              </c:strCache>
            </c:strRef>
          </c:tx>
          <c:spPr>
            <a:ln w="31750" cap="flat">
              <a:solidFill>
                <a:srgbClr val="7C3AE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0.71499999999999997</c:v>
                </c:pt>
                <c:pt idx="1">
                  <c:v>0.75</c:v>
                </c:pt>
                <c:pt idx="2">
                  <c:v>0.79800000000000004</c:v>
                </c:pt>
                <c:pt idx="3">
                  <c:v>0.752</c:v>
                </c:pt>
                <c:pt idx="4">
                  <c:v>0.80800000000000005</c:v>
                </c:pt>
                <c:pt idx="5">
                  <c:v>0.82099999999999995</c:v>
                </c:pt>
                <c:pt idx="6">
                  <c:v>0.83599999999999997</c:v>
                </c:pt>
                <c:pt idx="7">
                  <c:v>0.84</c:v>
                </c:pt>
                <c:pt idx="8">
                  <c:v>0.84</c:v>
                </c:pt>
                <c:pt idx="9">
                  <c:v>0.82599999999999996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0D-2347-B4E3-D235ABF364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lang="en-US" sz="900" b="0" i="0" u="none" strike="noStrike">
                    <a:solidFill>
                      <a:srgbClr val="64748B"/>
                    </a:solidFill>
                    <a:latin typeface="Arial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6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lang="en-US" sz="900" b="0" i="0" u="none" strike="noStrike">
                    <a:solidFill>
                      <a:srgbClr val="64748B"/>
                    </a:solidFill>
                    <a:latin typeface="Arial"/>
                  </a:rPr>
                  <a:t>F1 Score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E29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F172A"/>
                </a:solidFill>
                <a:latin typeface="Arial"/>
              </a:rPr>
              <a:t>Accuracy &amp; F1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TF-IDF Baseline</c:v>
                </c:pt>
                <c:pt idx="1">
                  <c:v>BiLSTM + GloVe</c:v>
                </c:pt>
                <c:pt idx="2">
                  <c:v>DistilBERT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82.7</c:v>
                </c:pt>
                <c:pt idx="1">
                  <c:v>81</c:v>
                </c:pt>
                <c:pt idx="2">
                  <c:v>88.2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8E-BF41-8D37-4386B21237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TF-IDF Baseline</c:v>
                </c:pt>
                <c:pt idx="1">
                  <c:v>BiLSTM + GloVe</c:v>
                </c:pt>
                <c:pt idx="2">
                  <c:v>DistilBERT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81.900000000000006</c:v>
                </c:pt>
                <c:pt idx="1">
                  <c:v>80.3</c:v>
                </c:pt>
                <c:pt idx="2">
                  <c:v>88.6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A8E-BF41-8D37-4386B21237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"/>
          <c:min val="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159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515600" y="530352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515600" y="694944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0" y="859536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680192" y="365760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680192" y="530352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680192" y="694944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680192" y="859536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844784" y="365760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844784" y="530352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844784" y="694944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844784" y="859536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009376" y="365760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009376" y="530352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09376" y="694944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009376" y="859536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173968" y="365760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173968" y="530352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173968" y="694944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173968" y="859536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338560" y="365760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338560" y="530352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338560" y="694944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1338560" y="859536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48640" y="3520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 Amazon Review Sentiment Classifier</a:t>
            </a:r>
            <a:endParaRPr lang="en-US" sz="2200"/>
          </a:p>
        </p:txBody>
      </p:sp>
      <p:sp>
        <p:nvSpPr>
          <p:cNvPr id="28" name="Text 25"/>
          <p:cNvSpPr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”Three models, 8,000 reviews, one honest comparison."</a:t>
            </a:r>
            <a:endParaRPr lang="en-US" sz="1600"/>
          </a:p>
        </p:txBody>
      </p:sp>
      <p:sp>
        <p:nvSpPr>
          <p:cNvPr id="29" name="Shape 26"/>
          <p:cNvSpPr/>
          <p:nvPr/>
        </p:nvSpPr>
        <p:spPr>
          <a:xfrm>
            <a:off x="548640" y="5029200"/>
            <a:ext cx="36576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31520" y="5029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Luis Faria</a:t>
            </a:r>
            <a:endParaRPr lang="en-US" sz="1600"/>
          </a:p>
        </p:txBody>
      </p:sp>
      <p:sp>
        <p:nvSpPr>
          <p:cNvPr id="31" name="Text 28"/>
          <p:cNvSpPr/>
          <p:nvPr/>
        </p:nvSpPr>
        <p:spPr>
          <a:xfrm>
            <a:off x="731520" y="5349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A00187785</a:t>
            </a:r>
            <a:endParaRPr lang="en-US" sz="1100"/>
          </a:p>
        </p:txBody>
      </p:sp>
      <p:sp>
        <p:nvSpPr>
          <p:cNvPr id="32" name="Text 29"/>
          <p:cNvSpPr/>
          <p:nvPr/>
        </p:nvSpPr>
        <p:spPr>
          <a:xfrm>
            <a:off x="731520" y="5669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· App · Tests</a:t>
            </a:r>
            <a:endParaRPr lang="en-US" sz="1200"/>
          </a:p>
        </p:txBody>
      </p:sp>
      <p:sp>
        <p:nvSpPr>
          <p:cNvPr id="33" name="Shape 30"/>
          <p:cNvSpPr/>
          <p:nvPr/>
        </p:nvSpPr>
        <p:spPr>
          <a:xfrm>
            <a:off x="4343400" y="5029200"/>
            <a:ext cx="36576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526280" y="5029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Victor Meneses</a:t>
            </a:r>
            <a:endParaRPr lang="en-US" sz="1600"/>
          </a:p>
        </p:txBody>
      </p:sp>
      <p:sp>
        <p:nvSpPr>
          <p:cNvPr id="35" name="Text 32"/>
          <p:cNvSpPr/>
          <p:nvPr/>
        </p:nvSpPr>
        <p:spPr>
          <a:xfrm>
            <a:off x="4526280" y="5349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A00179705</a:t>
            </a:r>
            <a:endParaRPr lang="en-US" sz="1100"/>
          </a:p>
        </p:txBody>
      </p:sp>
      <p:sp>
        <p:nvSpPr>
          <p:cNvPr id="36" name="Text 33"/>
          <p:cNvSpPr/>
          <p:nvPr/>
        </p:nvSpPr>
        <p:spPr>
          <a:xfrm>
            <a:off x="4526280" y="5669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· Dataset · Ethics</a:t>
            </a:r>
            <a:endParaRPr lang="en-US" sz="1200"/>
          </a:p>
        </p:txBody>
      </p:sp>
      <p:sp>
        <p:nvSpPr>
          <p:cNvPr id="37" name="Shape 34"/>
          <p:cNvSpPr/>
          <p:nvPr/>
        </p:nvSpPr>
        <p:spPr>
          <a:xfrm>
            <a:off x="8138160" y="5029200"/>
            <a:ext cx="36576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321040" y="5029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Samiran Shrestha</a:t>
            </a:r>
            <a:endParaRPr lang="en-US" sz="1600"/>
          </a:p>
        </p:txBody>
      </p:sp>
      <p:sp>
        <p:nvSpPr>
          <p:cNvPr id="39" name="Text 36"/>
          <p:cNvSpPr/>
          <p:nvPr/>
        </p:nvSpPr>
        <p:spPr>
          <a:xfrm>
            <a:off x="8321040" y="5349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A00106473</a:t>
            </a:r>
            <a:endParaRPr lang="en-US" sz="1100"/>
          </a:p>
        </p:txBody>
      </p:sp>
      <p:sp>
        <p:nvSpPr>
          <p:cNvPr id="40" name="Text 37"/>
          <p:cNvSpPr/>
          <p:nvPr/>
        </p:nvSpPr>
        <p:spPr>
          <a:xfrm>
            <a:off x="8321040" y="5669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· Demo · Future Work</a:t>
            </a:r>
            <a:endParaRPr lang="en-US" sz="1200"/>
          </a:p>
        </p:txBody>
      </p:sp>
      <p:sp>
        <p:nvSpPr>
          <p:cNvPr id="41" name="Text 38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Torrens University Australia  ·  ISY503  · Intelligent Systems  ·  Assessment 3 · Dr. Nandini </a:t>
            </a:r>
            <a:r>
              <a:rPr lang="en-US" sz="10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Sidnal</a:t>
            </a:r>
            <a:endParaRPr lang="en-US" sz="100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F3D23192-B25C-ED29-401E-283807653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74" y="519012"/>
            <a:ext cx="4670208" cy="3113472"/>
          </a:xfrm>
          <a:prstGeom prst="rect">
            <a:avLst/>
          </a:prstGeom>
        </p:spPr>
      </p:pic>
      <p:pic>
        <p:nvPicPr>
          <p:cNvPr id="47" name="Picture 2" descr="Torrens University Australia - Wikipedia">
            <a:extLst>
              <a:ext uri="{FF2B5EF4-FFF2-40B4-BE49-F238E27FC236}">
                <a16:creationId xmlns:a16="http://schemas.microsoft.com/office/drawing/2014/main" id="{5A48CD48-DFCE-CD31-CD68-683A6477C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5097" y="6245615"/>
            <a:ext cx="398246" cy="39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PROBLEM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 is messy in the real world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10908792" y="411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platform runs sentiment analysis. The hard part isn't clean text — it's negation, sarcasm, and length variance.</a:t>
            </a:r>
            <a:endParaRPr lang="en-US" sz="1400"/>
          </a:p>
        </p:txBody>
      </p:sp>
      <p:sp>
        <p:nvSpPr>
          <p:cNvPr id="7" name="Shape 4"/>
          <p:cNvSpPr/>
          <p:nvPr/>
        </p:nvSpPr>
        <p:spPr>
          <a:xfrm>
            <a:off x="548640" y="4572000"/>
            <a:ext cx="219456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0" y="4572000"/>
            <a:ext cx="2194560" cy="3200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937760" y="4572000"/>
            <a:ext cx="21945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132320" y="4572000"/>
            <a:ext cx="2194560" cy="320040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326880" y="4572000"/>
            <a:ext cx="219456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100"/>
          </a:p>
        </p:txBody>
      </p:sp>
      <p:sp>
        <p:nvSpPr>
          <p:cNvPr id="13" name="Text 10"/>
          <p:cNvSpPr/>
          <p:nvPr/>
        </p:nvSpPr>
        <p:spPr>
          <a:xfrm>
            <a:off x="420624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786384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100"/>
          </a:p>
        </p:txBody>
      </p:sp>
      <p:sp>
        <p:nvSpPr>
          <p:cNvPr id="15" name="Shape 12"/>
          <p:cNvSpPr/>
          <p:nvPr/>
        </p:nvSpPr>
        <p:spPr>
          <a:xfrm>
            <a:off x="548640" y="3200400"/>
            <a:ext cx="2011680" cy="640080"/>
          </a:xfrm>
          <a:prstGeom prst="rect">
            <a:avLst/>
          </a:prstGeom>
          <a:solidFill>
            <a:srgbClr val="F8FAFC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4360" y="3200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"Complete waste of money"</a:t>
            </a:r>
            <a:endParaRPr lang="en-US" sz="1200"/>
          </a:p>
        </p:txBody>
      </p:sp>
      <p:sp>
        <p:nvSpPr>
          <p:cNvPr id="17" name="Shape 14"/>
          <p:cNvSpPr/>
          <p:nvPr/>
        </p:nvSpPr>
        <p:spPr>
          <a:xfrm>
            <a:off x="1554480" y="3840480"/>
            <a:ext cx="0" cy="731520"/>
          </a:xfrm>
          <a:prstGeom prst="line">
            <a:avLst/>
          </a:prstGeom>
          <a:noFill/>
          <a:ln w="12700">
            <a:solidFill>
              <a:srgbClr val="EF444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743200" y="3200400"/>
            <a:ext cx="2011680" cy="640080"/>
          </a:xfrm>
          <a:prstGeom prst="rect">
            <a:avLst/>
          </a:prstGeom>
          <a:solidFill>
            <a:srgbClr val="F8FAFC"/>
          </a:solidFill>
          <a:ln w="1905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788920" y="3200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"Somewhat disappointing"</a:t>
            </a:r>
            <a:endParaRPr lang="en-US" sz="1200"/>
          </a:p>
        </p:txBody>
      </p:sp>
      <p:sp>
        <p:nvSpPr>
          <p:cNvPr id="20" name="Shape 17"/>
          <p:cNvSpPr/>
          <p:nvPr/>
        </p:nvSpPr>
        <p:spPr>
          <a:xfrm>
            <a:off x="3749040" y="3840480"/>
            <a:ext cx="0" cy="731520"/>
          </a:xfrm>
          <a:prstGeom prst="line">
            <a:avLst/>
          </a:prstGeom>
          <a:noFill/>
          <a:ln w="12700">
            <a:solidFill>
              <a:srgbClr val="F8717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937760" y="3200400"/>
            <a:ext cx="2011680" cy="640080"/>
          </a:xfrm>
          <a:prstGeom prst="rect">
            <a:avLst/>
          </a:prstGeom>
          <a:solidFill>
            <a:srgbClr val="F8FAFC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983480" y="3200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"It's okay I guess"</a:t>
            </a:r>
            <a:endParaRPr lang="en-US" sz="1200"/>
          </a:p>
        </p:txBody>
      </p:sp>
      <p:sp>
        <p:nvSpPr>
          <p:cNvPr id="23" name="Shape 20"/>
          <p:cNvSpPr/>
          <p:nvPr/>
        </p:nvSpPr>
        <p:spPr>
          <a:xfrm>
            <a:off x="5943600" y="3840480"/>
            <a:ext cx="0" cy="73152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7132320" y="3200400"/>
            <a:ext cx="2011680" cy="640080"/>
          </a:xfrm>
          <a:prstGeom prst="rect">
            <a:avLst/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178040" y="3200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"Pretty good value"</a:t>
            </a:r>
            <a:endParaRPr lang="en-US" sz="1200"/>
          </a:p>
        </p:txBody>
      </p:sp>
      <p:sp>
        <p:nvSpPr>
          <p:cNvPr id="26" name="Shape 23"/>
          <p:cNvSpPr/>
          <p:nvPr/>
        </p:nvSpPr>
        <p:spPr>
          <a:xfrm>
            <a:off x="8138160" y="3840480"/>
            <a:ext cx="0" cy="73152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9326880" y="3200400"/>
            <a:ext cx="2011680" cy="640080"/>
          </a:xfrm>
          <a:prstGeom prst="rect">
            <a:avLst/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9372600" y="3200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"Absolutely incredible!"</a:t>
            </a:r>
            <a:endParaRPr lang="en-US" sz="1200"/>
          </a:p>
        </p:txBody>
      </p:sp>
      <p:sp>
        <p:nvSpPr>
          <p:cNvPr id="29" name="Shape 26"/>
          <p:cNvSpPr/>
          <p:nvPr/>
        </p:nvSpPr>
        <p:spPr>
          <a:xfrm>
            <a:off x="10332720" y="3840480"/>
            <a:ext cx="0" cy="73152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↔</a:t>
            </a:r>
            <a:endParaRPr lang="en-US" sz="1800"/>
          </a:p>
        </p:txBody>
      </p:sp>
      <p:sp>
        <p:nvSpPr>
          <p:cNvPr id="32" name="Text 29"/>
          <p:cNvSpPr/>
          <p:nvPr/>
        </p:nvSpPr>
        <p:spPr>
          <a:xfrm>
            <a:off x="1143000" y="2084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variance</a:t>
            </a:r>
            <a:endParaRPr lang="en-US" sz="1400"/>
          </a:p>
        </p:txBody>
      </p:sp>
      <p:sp>
        <p:nvSpPr>
          <p:cNvPr id="33" name="Text 30"/>
          <p:cNvSpPr/>
          <p:nvPr/>
        </p:nvSpPr>
        <p:spPr>
          <a:xfrm>
            <a:off x="114300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to 800 words per review</a:t>
            </a:r>
            <a:endParaRPr lang="en-US" sz="1100"/>
          </a:p>
        </p:txBody>
      </p:sp>
      <p:sp>
        <p:nvSpPr>
          <p:cNvPr id="34" name="Shape 31"/>
          <p:cNvSpPr/>
          <p:nvPr/>
        </p:nvSpPr>
        <p:spPr>
          <a:xfrm>
            <a:off x="4343400" y="21031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3434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1800"/>
          </a:p>
        </p:txBody>
      </p:sp>
      <p:sp>
        <p:nvSpPr>
          <p:cNvPr id="36" name="Text 33"/>
          <p:cNvSpPr/>
          <p:nvPr/>
        </p:nvSpPr>
        <p:spPr>
          <a:xfrm>
            <a:off x="4937760" y="2084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</a:t>
            </a:r>
            <a:endParaRPr lang="en-US" sz="1400"/>
          </a:p>
        </p:txBody>
      </p:sp>
      <p:sp>
        <p:nvSpPr>
          <p:cNvPr id="37" name="Text 34"/>
          <p:cNvSpPr/>
          <p:nvPr/>
        </p:nvSpPr>
        <p:spPr>
          <a:xfrm>
            <a:off x="493776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bad at all" flips meaning</a:t>
            </a:r>
            <a:endParaRPr lang="en-US" sz="1100"/>
          </a:p>
        </p:txBody>
      </p:sp>
      <p:sp>
        <p:nvSpPr>
          <p:cNvPr id="38" name="Shape 35"/>
          <p:cNvSpPr/>
          <p:nvPr/>
        </p:nvSpPr>
        <p:spPr>
          <a:xfrm>
            <a:off x="8138160" y="21031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81381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800"/>
          </a:p>
        </p:txBody>
      </p:sp>
      <p:sp>
        <p:nvSpPr>
          <p:cNvPr id="40" name="Text 37"/>
          <p:cNvSpPr/>
          <p:nvPr/>
        </p:nvSpPr>
        <p:spPr>
          <a:xfrm>
            <a:off x="8732520" y="2084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Sarcasm</a:t>
            </a:r>
            <a:endParaRPr lang="en-US" sz="1400"/>
          </a:p>
        </p:txBody>
      </p:sp>
      <p:sp>
        <p:nvSpPr>
          <p:cNvPr id="41" name="Text 38"/>
          <p:cNvSpPr/>
          <p:nvPr/>
        </p:nvSpPr>
        <p:spPr>
          <a:xfrm>
            <a:off x="873252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"Oh great, broken again"</a:t>
            </a:r>
            <a:endParaRPr lang="en-US" sz="1100"/>
          </a:p>
        </p:txBody>
      </p:sp>
      <p:sp>
        <p:nvSpPr>
          <p:cNvPr id="42" name="Text 39"/>
          <p:cNvSpPr/>
          <p:nvPr/>
        </p:nvSpPr>
        <p:spPr>
          <a:xfrm>
            <a:off x="548640" y="5852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Sentiment Spectrum — what our model must learn</a:t>
            </a:r>
            <a:endParaRPr lang="en-US" sz="1300"/>
          </a:p>
        </p:txBody>
      </p:sp>
      <p:sp>
        <p:nvSpPr>
          <p:cNvPr id="43" name="Shape 40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Samiran Shrestha  ·  ISY503 · Assessment 3 · ReviewPulse v2.0.0</a:t>
            </a:r>
            <a:endParaRPr lang="en-US" sz="90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6F09C945-D627-F94C-2850-E6A2C6508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5142" y="-99454"/>
            <a:ext cx="1296338" cy="864225"/>
          </a:xfrm>
          <a:prstGeom prst="rect">
            <a:avLst/>
          </a:prstGeom>
        </p:spPr>
      </p:pic>
      <p:pic>
        <p:nvPicPr>
          <p:cNvPr id="46" name="Picture 2" descr="Torrens University Australia - Wikipedia">
            <a:extLst>
              <a:ext uri="{FF2B5EF4-FFF2-40B4-BE49-F238E27FC236}">
                <a16:creationId xmlns:a16="http://schemas.microsoft.com/office/drawing/2014/main" id="{345C5C8B-4B96-E474-CAF5-3A9ADD22E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5097" y="6245615"/>
            <a:ext cx="398246" cy="39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8,000 reviews across 4 balanced domains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10908792" y="411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4864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16459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8K</a:t>
            </a:r>
            <a:endParaRPr lang="en-US" sz="3600"/>
          </a:p>
        </p:txBody>
      </p:sp>
      <p:sp>
        <p:nvSpPr>
          <p:cNvPr id="8" name="Text 5"/>
          <p:cNvSpPr/>
          <p:nvPr/>
        </p:nvSpPr>
        <p:spPr>
          <a:xfrm>
            <a:off x="731520" y="2194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reviews</a:t>
            </a:r>
            <a:endParaRPr lang="en-US" sz="110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54864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26974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/>
          </a:p>
        </p:txBody>
      </p:sp>
      <p:sp>
        <p:nvSpPr>
          <p:cNvPr id="11" name="Text 8"/>
          <p:cNvSpPr/>
          <p:nvPr/>
        </p:nvSpPr>
        <p:spPr>
          <a:xfrm>
            <a:off x="731520" y="3246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domains</a:t>
            </a:r>
            <a:endParaRPr lang="en-US" sz="1100"/>
          </a:p>
        </p:txBody>
      </p:sp>
      <p:sp>
        <p:nvSpPr>
          <p:cNvPr id="12" name="Shape 9"/>
          <p:cNvSpPr/>
          <p:nvPr/>
        </p:nvSpPr>
        <p:spPr>
          <a:xfrm>
            <a:off x="548640" y="3794760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31520" y="3749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50/50</a:t>
            </a:r>
            <a:endParaRPr lang="en-US" sz="3600"/>
          </a:p>
        </p:txBody>
      </p:sp>
      <p:sp>
        <p:nvSpPr>
          <p:cNvPr id="14" name="Text 11"/>
          <p:cNvSpPr/>
          <p:nvPr/>
        </p:nvSpPr>
        <p:spPr>
          <a:xfrm>
            <a:off x="731520" y="4297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/ neg balance</a:t>
            </a:r>
            <a:endParaRPr lang="en-US" sz="1100"/>
          </a:p>
        </p:txBody>
      </p:sp>
      <p:sp>
        <p:nvSpPr>
          <p:cNvPr id="15" name="Shape 12"/>
          <p:cNvSpPr/>
          <p:nvPr/>
        </p:nvSpPr>
        <p:spPr>
          <a:xfrm>
            <a:off x="548640" y="4846320"/>
            <a:ext cx="54864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31520" y="4800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/>
          </a:p>
        </p:txBody>
      </p:sp>
      <p:sp>
        <p:nvSpPr>
          <p:cNvPr id="17" name="Text 14"/>
          <p:cNvSpPr/>
          <p:nvPr/>
        </p:nvSpPr>
        <p:spPr>
          <a:xfrm>
            <a:off x="731520" y="5349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rows</a:t>
            </a:r>
            <a:endParaRPr lang="en-US" sz="1100"/>
          </a:p>
        </p:txBody>
      </p:sp>
      <p:graphicFrame>
        <p:nvGraphicFramePr>
          <p:cNvPr id="18" name="Chart 0"/>
          <p:cNvGraphicFramePr/>
          <p:nvPr/>
        </p:nvGraphicFramePr>
        <p:xfrm>
          <a:off x="2926080" y="1554480"/>
          <a:ext cx="64008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5"/>
          <p:cNvSpPr/>
          <p:nvPr/>
        </p:nvSpPr>
        <p:spPr>
          <a:xfrm>
            <a:off x="9509760" y="1691640"/>
            <a:ext cx="210312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960120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000"/>
          </a:p>
        </p:txBody>
      </p:sp>
      <p:sp>
        <p:nvSpPr>
          <p:cNvPr id="21" name="Text 17"/>
          <p:cNvSpPr/>
          <p:nvPr/>
        </p:nvSpPr>
        <p:spPr>
          <a:xfrm>
            <a:off x="960120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 = 42</a:t>
            </a:r>
            <a:endParaRPr lang="en-US" sz="1000"/>
          </a:p>
        </p:txBody>
      </p:sp>
      <p:sp>
        <p:nvSpPr>
          <p:cNvPr id="22" name="Text 18"/>
          <p:cNvSpPr/>
          <p:nvPr/>
        </p:nvSpPr>
        <p:spPr>
          <a:xfrm>
            <a:off x="960120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/>
          </a:p>
        </p:txBody>
      </p:sp>
      <p:sp>
        <p:nvSpPr>
          <p:cNvPr id="23" name="Text 19"/>
          <p:cNvSpPr/>
          <p:nvPr/>
        </p:nvSpPr>
        <p:spPr>
          <a:xfrm>
            <a:off x="9601200" y="2971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5,404</a:t>
            </a:r>
            <a:endParaRPr lang="en-US" sz="2200"/>
          </a:p>
        </p:txBody>
      </p:sp>
      <p:sp>
        <p:nvSpPr>
          <p:cNvPr id="24" name="Text 20"/>
          <p:cNvSpPr/>
          <p:nvPr/>
        </p:nvSpPr>
        <p:spPr>
          <a:xfrm>
            <a:off x="10698480" y="30358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100"/>
          </a:p>
        </p:txBody>
      </p:sp>
      <p:sp>
        <p:nvSpPr>
          <p:cNvPr id="25" name="Text 21"/>
          <p:cNvSpPr/>
          <p:nvPr/>
        </p:nvSpPr>
        <p:spPr>
          <a:xfrm>
            <a:off x="9601200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100"/>
          </a:p>
        </p:txBody>
      </p:sp>
      <p:sp>
        <p:nvSpPr>
          <p:cNvPr id="26" name="Text 22"/>
          <p:cNvSpPr/>
          <p:nvPr/>
        </p:nvSpPr>
        <p:spPr>
          <a:xfrm>
            <a:off x="9601200" y="3840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1,158</a:t>
            </a:r>
            <a:endParaRPr lang="en-US" sz="2200"/>
          </a:p>
        </p:txBody>
      </p:sp>
      <p:sp>
        <p:nvSpPr>
          <p:cNvPr id="27" name="Text 23"/>
          <p:cNvSpPr/>
          <p:nvPr/>
        </p:nvSpPr>
        <p:spPr>
          <a:xfrm>
            <a:off x="10698480" y="3904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/>
          </a:p>
        </p:txBody>
      </p:sp>
      <p:sp>
        <p:nvSpPr>
          <p:cNvPr id="28" name="Text 24"/>
          <p:cNvSpPr/>
          <p:nvPr/>
        </p:nvSpPr>
        <p:spPr>
          <a:xfrm>
            <a:off x="960120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/>
          </a:p>
        </p:txBody>
      </p:sp>
      <p:sp>
        <p:nvSpPr>
          <p:cNvPr id="29" name="Text 25"/>
          <p:cNvSpPr/>
          <p:nvPr/>
        </p:nvSpPr>
        <p:spPr>
          <a:xfrm>
            <a:off x="9601200" y="4709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1,159</a:t>
            </a:r>
            <a:endParaRPr lang="en-US" sz="2200"/>
          </a:p>
        </p:txBody>
      </p:sp>
      <p:sp>
        <p:nvSpPr>
          <p:cNvPr id="30" name="Text 26"/>
          <p:cNvSpPr/>
          <p:nvPr/>
        </p:nvSpPr>
        <p:spPr>
          <a:xfrm>
            <a:off x="1069848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/>
          </a:p>
        </p:txBody>
      </p:sp>
      <p:sp>
        <p:nvSpPr>
          <p:cNvPr id="31" name="Shape 27"/>
          <p:cNvSpPr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731520" y="58978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1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Blitzer et al. (2007)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Multi-Domain Sentiment Dataset · labels derived from filenames (positive.review → 1, negative.review → 0) — audited, zero conflicts</a:t>
            </a:r>
            <a:endParaRPr lang="en-US" sz="1100"/>
          </a:p>
        </p:txBody>
      </p:sp>
      <p:sp>
        <p:nvSpPr>
          <p:cNvPr id="33" name="Shape 29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Victor Meneses  ·  ISY503 · Assessment 3 · ReviewPulse v2.0.0</a:t>
            </a:r>
            <a:endParaRPr lang="en-US" sz="90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291D4D2-655D-0566-20D8-9E56BF92F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5142" y="-99454"/>
            <a:ext cx="1296338" cy="864225"/>
          </a:xfrm>
          <a:prstGeom prst="rect">
            <a:avLst/>
          </a:prstGeom>
        </p:spPr>
      </p:pic>
      <p:pic>
        <p:nvPicPr>
          <p:cNvPr id="36" name="Picture 2" descr="Torrens University Australia - Wikipedia">
            <a:extLst>
              <a:ext uri="{FF2B5EF4-FFF2-40B4-BE49-F238E27FC236}">
                <a16:creationId xmlns:a16="http://schemas.microsoft.com/office/drawing/2014/main" id="{96E8A068-2251-BAA5-6553-395461017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5097" y="6245615"/>
            <a:ext cx="398246" cy="39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9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Graphic spid="18" grpId="0">
        <p:bldAsOne/>
      </p:bldGraphic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steps from raw XML to model-ready tensors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10908792" y="411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/>
          </a:p>
        </p:txBody>
      </p:sp>
      <p:sp>
        <p:nvSpPr>
          <p:cNvPr id="8" name="Shape 5"/>
          <p:cNvSpPr/>
          <p:nvPr/>
        </p:nvSpPr>
        <p:spPr>
          <a:xfrm>
            <a:off x="1097280" y="1554480"/>
            <a:ext cx="6035040" cy="640080"/>
          </a:xfrm>
          <a:prstGeom prst="rect">
            <a:avLst/>
          </a:prstGeom>
          <a:solidFill>
            <a:srgbClr val="F8FAFC"/>
          </a:solidFill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280160" y="16002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.review files</a:t>
            </a:r>
            <a:endParaRPr lang="en-US" sz="1400"/>
          </a:p>
        </p:txBody>
      </p:sp>
      <p:sp>
        <p:nvSpPr>
          <p:cNvPr id="10" name="Text 7"/>
          <p:cNvSpPr/>
          <p:nvPr/>
        </p:nvSpPr>
        <p:spPr>
          <a:xfrm>
            <a:off x="1280160" y="18745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pseudo-XML format</a:t>
            </a:r>
            <a:endParaRPr lang="en-US" sz="1100"/>
          </a:p>
        </p:txBody>
      </p:sp>
      <p:sp>
        <p:nvSpPr>
          <p:cNvPr id="11" name="Shape 8"/>
          <p:cNvSpPr/>
          <p:nvPr/>
        </p:nvSpPr>
        <p:spPr>
          <a:xfrm>
            <a:off x="731520" y="2194560"/>
            <a:ext cx="0" cy="1645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48640" y="2496312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/>
          </a:p>
        </p:txBody>
      </p:sp>
      <p:sp>
        <p:nvSpPr>
          <p:cNvPr id="14" name="Shape 11"/>
          <p:cNvSpPr/>
          <p:nvPr/>
        </p:nvSpPr>
        <p:spPr>
          <a:xfrm>
            <a:off x="1097280" y="2359152"/>
            <a:ext cx="6035040" cy="64008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280160" y="24048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 parser</a:t>
            </a:r>
            <a:endParaRPr lang="en-US" sz="1400"/>
          </a:p>
        </p:txBody>
      </p:sp>
      <p:sp>
        <p:nvSpPr>
          <p:cNvPr id="16" name="Text 13"/>
          <p:cNvSpPr/>
          <p:nvPr/>
        </p:nvSpPr>
        <p:spPr>
          <a:xfrm>
            <a:off x="1280160" y="267919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review_text + rating</a:t>
            </a:r>
            <a:endParaRPr lang="en-US" sz="1100"/>
          </a:p>
        </p:txBody>
      </p:sp>
      <p:sp>
        <p:nvSpPr>
          <p:cNvPr id="17" name="Shape 14"/>
          <p:cNvSpPr/>
          <p:nvPr/>
        </p:nvSpPr>
        <p:spPr>
          <a:xfrm>
            <a:off x="731520" y="2999232"/>
            <a:ext cx="0" cy="1645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48640" y="3300984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48640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/>
          </a:p>
        </p:txBody>
      </p:sp>
      <p:sp>
        <p:nvSpPr>
          <p:cNvPr id="20" name="Shape 17"/>
          <p:cNvSpPr/>
          <p:nvPr/>
        </p:nvSpPr>
        <p:spPr>
          <a:xfrm>
            <a:off x="1097280" y="3163824"/>
            <a:ext cx="6035040" cy="64008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280160" y="320954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audit</a:t>
            </a:r>
            <a:endParaRPr lang="en-US" sz="1400"/>
          </a:p>
        </p:txBody>
      </p:sp>
      <p:sp>
        <p:nvSpPr>
          <p:cNvPr id="22" name="Text 19"/>
          <p:cNvSpPr/>
          <p:nvPr/>
        </p:nvSpPr>
        <p:spPr>
          <a:xfrm>
            <a:off x="1280160" y="348386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3-star · rating/label conflicts → 0 found</a:t>
            </a:r>
            <a:endParaRPr lang="en-US" sz="1100"/>
          </a:p>
        </p:txBody>
      </p:sp>
      <p:sp>
        <p:nvSpPr>
          <p:cNvPr id="23" name="Shape 20"/>
          <p:cNvSpPr/>
          <p:nvPr/>
        </p:nvSpPr>
        <p:spPr>
          <a:xfrm>
            <a:off x="731520" y="3803904"/>
            <a:ext cx="0" cy="1645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48640" y="4105656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48640" y="4105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/>
          </a:p>
        </p:txBody>
      </p:sp>
      <p:sp>
        <p:nvSpPr>
          <p:cNvPr id="26" name="Shape 23"/>
          <p:cNvSpPr/>
          <p:nvPr/>
        </p:nvSpPr>
        <p:spPr>
          <a:xfrm>
            <a:off x="1097280" y="3968496"/>
            <a:ext cx="6035040" cy="640080"/>
          </a:xfrm>
          <a:prstGeom prst="rect">
            <a:avLst/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280160" y="401421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clean_text</a:t>
            </a:r>
            <a:endParaRPr lang="en-US" sz="1400"/>
          </a:p>
        </p:txBody>
      </p:sp>
      <p:sp>
        <p:nvSpPr>
          <p:cNvPr id="28" name="Text 25"/>
          <p:cNvSpPr/>
          <p:nvPr/>
        </p:nvSpPr>
        <p:spPr>
          <a:xfrm>
            <a:off x="1280160" y="428853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· strip HTML · expand negations · drop punctuation</a:t>
            </a:r>
            <a:endParaRPr lang="en-US" sz="1100"/>
          </a:p>
        </p:txBody>
      </p:sp>
      <p:sp>
        <p:nvSpPr>
          <p:cNvPr id="29" name="Shape 26"/>
          <p:cNvSpPr/>
          <p:nvPr/>
        </p:nvSpPr>
        <p:spPr>
          <a:xfrm>
            <a:off x="731520" y="4608576"/>
            <a:ext cx="0" cy="1645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48640" y="4910328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4864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/>
          </a:p>
        </p:txBody>
      </p:sp>
      <p:sp>
        <p:nvSpPr>
          <p:cNvPr id="32" name="Shape 29"/>
          <p:cNvSpPr/>
          <p:nvPr/>
        </p:nvSpPr>
        <p:spPr>
          <a:xfrm>
            <a:off x="1097280" y="4773168"/>
            <a:ext cx="6035040" cy="640080"/>
          </a:xfrm>
          <a:prstGeom prst="rect">
            <a:avLst/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1280160" y="481888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remove_outliers</a:t>
            </a:r>
            <a:endParaRPr lang="en-US" sz="1400"/>
          </a:p>
        </p:txBody>
      </p:sp>
      <p:sp>
        <p:nvSpPr>
          <p:cNvPr id="34" name="Text 31"/>
          <p:cNvSpPr/>
          <p:nvPr/>
        </p:nvSpPr>
        <p:spPr>
          <a:xfrm>
            <a:off x="1280160" y="50932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reviews &lt; 10 or &gt; 500 words (279 dropped, ~3.5%)</a:t>
            </a:r>
            <a:endParaRPr lang="en-US" sz="1100"/>
          </a:p>
        </p:txBody>
      </p:sp>
      <p:sp>
        <p:nvSpPr>
          <p:cNvPr id="35" name="Shape 32"/>
          <p:cNvSpPr/>
          <p:nvPr/>
        </p:nvSpPr>
        <p:spPr>
          <a:xfrm>
            <a:off x="731520" y="5413248"/>
            <a:ext cx="0" cy="1645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548640" y="571500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48640" y="5715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/>
          </a:p>
        </p:txBody>
      </p:sp>
      <p:sp>
        <p:nvSpPr>
          <p:cNvPr id="38" name="Shape 35"/>
          <p:cNvSpPr/>
          <p:nvPr/>
        </p:nvSpPr>
        <p:spPr>
          <a:xfrm>
            <a:off x="1097280" y="5577840"/>
            <a:ext cx="6035040" cy="640080"/>
          </a:xfrm>
          <a:prstGeom prst="rect">
            <a:avLst/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400"/>
          </a:p>
        </p:txBody>
      </p:sp>
      <p:sp>
        <p:nvSpPr>
          <p:cNvPr id="40" name="Text 37"/>
          <p:cNvSpPr/>
          <p:nvPr/>
        </p:nvSpPr>
        <p:spPr>
          <a:xfrm>
            <a:off x="1280160" y="58978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15 / 15 · seed=42 · train=5,404 val=1,158 test=1,159</a:t>
            </a:r>
            <a:endParaRPr lang="en-US" sz="1100"/>
          </a:p>
        </p:txBody>
      </p:sp>
      <p:sp>
        <p:nvSpPr>
          <p:cNvPr id="41" name="Shape 38"/>
          <p:cNvSpPr/>
          <p:nvPr/>
        </p:nvSpPr>
        <p:spPr>
          <a:xfrm>
            <a:off x="7498080" y="1554480"/>
            <a:ext cx="4114800" cy="4572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777240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</a:t>
            </a:r>
            <a:endParaRPr lang="en-US" sz="1000"/>
          </a:p>
        </p:txBody>
      </p:sp>
      <p:sp>
        <p:nvSpPr>
          <p:cNvPr id="43" name="Text 40"/>
          <p:cNvSpPr/>
          <p:nvPr/>
        </p:nvSpPr>
        <p:spPr>
          <a:xfrm>
            <a:off x="7772400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Negation expansion</a:t>
            </a:r>
            <a:endParaRPr lang="en-US" sz="2200"/>
          </a:p>
        </p:txBody>
      </p:sp>
      <p:sp>
        <p:nvSpPr>
          <p:cNvPr id="44" name="Text 41"/>
          <p:cNvSpPr/>
          <p:nvPr/>
        </p:nvSpPr>
        <p:spPr>
          <a:xfrm>
            <a:off x="7772400" y="2743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/>
          </a:p>
        </p:txBody>
      </p:sp>
      <p:sp>
        <p:nvSpPr>
          <p:cNvPr id="45" name="Shape 42"/>
          <p:cNvSpPr/>
          <p:nvPr/>
        </p:nvSpPr>
        <p:spPr>
          <a:xfrm>
            <a:off x="7772400" y="2971800"/>
            <a:ext cx="356616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7863840" y="2971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"wasn't good"</a:t>
            </a:r>
            <a:endParaRPr lang="en-US" sz="1400"/>
          </a:p>
        </p:txBody>
      </p:sp>
      <p:sp>
        <p:nvSpPr>
          <p:cNvPr id="47" name="Text 44"/>
          <p:cNvSpPr/>
          <p:nvPr/>
        </p:nvSpPr>
        <p:spPr>
          <a:xfrm>
            <a:off x="7772400" y="3566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/>
          </a:p>
        </p:txBody>
      </p:sp>
      <p:sp>
        <p:nvSpPr>
          <p:cNvPr id="48" name="Text 45"/>
          <p:cNvSpPr/>
          <p:nvPr/>
        </p:nvSpPr>
        <p:spPr>
          <a:xfrm>
            <a:off x="7772400" y="3977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/>
          </a:p>
        </p:txBody>
      </p:sp>
      <p:sp>
        <p:nvSpPr>
          <p:cNvPr id="49" name="Shape 46"/>
          <p:cNvSpPr/>
          <p:nvPr/>
        </p:nvSpPr>
        <p:spPr>
          <a:xfrm>
            <a:off x="7772400" y="4206240"/>
            <a:ext cx="356616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7863840" y="42062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"was not good"</a:t>
            </a:r>
            <a:endParaRPr lang="en-US" sz="1400"/>
          </a:p>
        </p:txBody>
      </p:sp>
      <p:sp>
        <p:nvSpPr>
          <p:cNvPr id="51" name="Text 48"/>
          <p:cNvSpPr/>
          <p:nvPr/>
        </p:nvSpPr>
        <p:spPr>
          <a:xfrm>
            <a:off x="7772400" y="4937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/>
          </a:p>
        </p:txBody>
      </p:sp>
      <p:sp>
        <p:nvSpPr>
          <p:cNvPr id="52" name="Text 49"/>
          <p:cNvSpPr/>
          <p:nvPr/>
        </p:nvSpPr>
        <p:spPr>
          <a:xfrm>
            <a:off x="7772400" y="52120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treats tokens independently. Without expansion, "not good" looks identical to "good" — the negative signal is lost.</a:t>
            </a:r>
            <a:endParaRPr lang="en-US" sz="1100"/>
          </a:p>
        </p:txBody>
      </p:sp>
      <p:sp>
        <p:nvSpPr>
          <p:cNvPr id="53" name="Shape 50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Luis Faria  ·  ISY503 · Assessment 3 · ReviewPulse v2.0.0</a:t>
            </a:r>
            <a:endParaRPr lang="en-US" sz="90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D61B683-B378-1D09-F73A-5546AEC26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5142" y="-99454"/>
            <a:ext cx="1296338" cy="864225"/>
          </a:xfrm>
          <a:prstGeom prst="rect">
            <a:avLst/>
          </a:prstGeom>
        </p:spPr>
      </p:pic>
      <p:pic>
        <p:nvPicPr>
          <p:cNvPr id="56" name="Picture 2" descr="Torrens University Australia - Wikipedia">
            <a:extLst>
              <a:ext uri="{FF2B5EF4-FFF2-40B4-BE49-F238E27FC236}">
                <a16:creationId xmlns:a16="http://schemas.microsoft.com/office/drawing/2014/main" id="{5C613D7A-D6E0-5B9B-9D59-F098F6902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5097" y="6245615"/>
            <a:ext cx="398246" cy="39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4" grpId="0" animBg="1"/>
      <p:bldP spid="15" grpId="0" animBg="1"/>
      <p:bldP spid="16" grpId="0" animBg="1"/>
      <p:bldP spid="20" grpId="0" animBg="1"/>
      <p:bldP spid="21" grpId="0" animBg="1"/>
      <p:bldP spid="22" grpId="0" animBg="1"/>
      <p:bldP spid="26" grpId="0" animBg="1"/>
      <p:bldP spid="27" grpId="0" animBg="1"/>
      <p:bldP spid="28" grpId="0" animBg="1"/>
      <p:bldP spid="32" grpId="0" animBg="1"/>
      <p:bldP spid="33" grpId="0" animBg="1"/>
      <p:bldP spid="34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approaches: classical, neural, transformer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10908792" y="411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/>
          </a:p>
        </p:txBody>
      </p:sp>
      <p:sp>
        <p:nvSpPr>
          <p:cNvPr id="6" name="Shape 3"/>
          <p:cNvSpPr/>
          <p:nvPr/>
        </p:nvSpPr>
        <p:spPr>
          <a:xfrm>
            <a:off x="548640" y="1554479"/>
            <a:ext cx="3694176" cy="493775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3575304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178308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· BASELINE</a:t>
            </a:r>
            <a:endParaRPr lang="en-US" sz="900"/>
          </a:p>
        </p:txBody>
      </p:sp>
      <p:sp>
        <p:nvSpPr>
          <p:cNvPr id="9" name="Text 6"/>
          <p:cNvSpPr/>
          <p:nvPr/>
        </p:nvSpPr>
        <p:spPr>
          <a:xfrm>
            <a:off x="731520" y="205740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TF-IDF + LogReg</a:t>
            </a:r>
            <a:endParaRPr lang="en-US" sz="1700"/>
          </a:p>
        </p:txBody>
      </p:sp>
      <p:sp>
        <p:nvSpPr>
          <p:cNvPr id="10" name="Shape 7"/>
          <p:cNvSpPr/>
          <p:nvPr/>
        </p:nvSpPr>
        <p:spPr>
          <a:xfrm>
            <a:off x="731520" y="2606040"/>
            <a:ext cx="3209544" cy="1783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2960" y="2651760"/>
            <a:ext cx="30266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TfidfVectorizer(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max_features=</a:t>
            </a:r>
            <a:r>
              <a:rPr lang="en-US" sz="9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30_000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ngram_range=</a:t>
            </a:r>
            <a:r>
              <a:rPr lang="en-US" sz="9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(1,2)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sublinear_tf=</a:t>
            </a:r>
            <a:r>
              <a:rPr lang="en-US" sz="90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LogisticRegression(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C=1.0, max_iter=1000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/>
          </a:p>
        </p:txBody>
      </p:sp>
      <p:sp>
        <p:nvSpPr>
          <p:cNvPr id="12" name="Text 9"/>
          <p:cNvSpPr/>
          <p:nvPr/>
        </p:nvSpPr>
        <p:spPr>
          <a:xfrm>
            <a:off x="731520" y="4572000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900"/>
          </a:p>
        </p:txBody>
      </p:sp>
      <p:sp>
        <p:nvSpPr>
          <p:cNvPr id="13" name="Text 10"/>
          <p:cNvSpPr/>
          <p:nvPr/>
        </p:nvSpPr>
        <p:spPr>
          <a:xfrm>
            <a:off x="731520" y="480060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· CPU only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731520" y="5212080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900"/>
          </a:p>
        </p:txBody>
      </p:sp>
      <p:sp>
        <p:nvSpPr>
          <p:cNvPr id="15" name="Text 12"/>
          <p:cNvSpPr/>
          <p:nvPr/>
        </p:nvSpPr>
        <p:spPr>
          <a:xfrm>
            <a:off x="731520" y="544068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Interpretable, well-calibrated</a:t>
            </a:r>
            <a:endParaRPr lang="en-US" sz="1100"/>
          </a:p>
        </p:txBody>
      </p:sp>
      <p:sp>
        <p:nvSpPr>
          <p:cNvPr id="16" name="Shape 13"/>
          <p:cNvSpPr/>
          <p:nvPr/>
        </p:nvSpPr>
        <p:spPr>
          <a:xfrm>
            <a:off x="4306824" y="1554480"/>
            <a:ext cx="3575304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306824" y="1554480"/>
            <a:ext cx="3575304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489704" y="178308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· NEURAL · v1.0.0</a:t>
            </a:r>
            <a:endParaRPr lang="en-US" sz="900"/>
          </a:p>
        </p:txBody>
      </p:sp>
      <p:sp>
        <p:nvSpPr>
          <p:cNvPr id="19" name="Text 16"/>
          <p:cNvSpPr/>
          <p:nvPr/>
        </p:nvSpPr>
        <p:spPr>
          <a:xfrm>
            <a:off x="4489704" y="205740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BiLSTM + GloVe</a:t>
            </a:r>
            <a:endParaRPr lang="en-US" sz="1700"/>
          </a:p>
        </p:txBody>
      </p:sp>
      <p:sp>
        <p:nvSpPr>
          <p:cNvPr id="20" name="Shape 17"/>
          <p:cNvSpPr/>
          <p:nvPr/>
        </p:nvSpPr>
        <p:spPr>
          <a:xfrm>
            <a:off x="4489704" y="2606040"/>
            <a:ext cx="32095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489704" y="2606040"/>
            <a:ext cx="457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599432" y="2642616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 100d</a:t>
            </a:r>
            <a:endParaRPr lang="en-US" sz="1000"/>
          </a:p>
        </p:txBody>
      </p:sp>
      <p:sp>
        <p:nvSpPr>
          <p:cNvPr id="23" name="Text 20"/>
          <p:cNvSpPr/>
          <p:nvPr/>
        </p:nvSpPr>
        <p:spPr>
          <a:xfrm>
            <a:off x="4599432" y="2834640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· 97.4% covered</a:t>
            </a:r>
            <a:endParaRPr lang="en-US" sz="900"/>
          </a:p>
        </p:txBody>
      </p:sp>
      <p:sp>
        <p:nvSpPr>
          <p:cNvPr id="24" name="Shape 21"/>
          <p:cNvSpPr/>
          <p:nvPr/>
        </p:nvSpPr>
        <p:spPr>
          <a:xfrm>
            <a:off x="4489704" y="3108960"/>
            <a:ext cx="32095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489704" y="3108960"/>
            <a:ext cx="457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599432" y="3145536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BiLSTM ×2</a:t>
            </a:r>
            <a:endParaRPr lang="en-US" sz="1000"/>
          </a:p>
        </p:txBody>
      </p:sp>
      <p:sp>
        <p:nvSpPr>
          <p:cNvPr id="27" name="Text 24"/>
          <p:cNvSpPr/>
          <p:nvPr/>
        </p:nvSpPr>
        <p:spPr>
          <a:xfrm>
            <a:off x="4599432" y="3337560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hidden=256 · pack_padded</a:t>
            </a:r>
            <a:endParaRPr lang="en-US" sz="900"/>
          </a:p>
        </p:txBody>
      </p:sp>
      <p:sp>
        <p:nvSpPr>
          <p:cNvPr id="28" name="Shape 25"/>
          <p:cNvSpPr/>
          <p:nvPr/>
        </p:nvSpPr>
        <p:spPr>
          <a:xfrm>
            <a:off x="4489704" y="3611880"/>
            <a:ext cx="32095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489704" y="3611880"/>
            <a:ext cx="457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599432" y="3648456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 → 512d</a:t>
            </a:r>
            <a:endParaRPr lang="en-US" sz="1000"/>
          </a:p>
        </p:txBody>
      </p:sp>
      <p:sp>
        <p:nvSpPr>
          <p:cNvPr id="31" name="Text 28"/>
          <p:cNvSpPr/>
          <p:nvPr/>
        </p:nvSpPr>
        <p:spPr>
          <a:xfrm>
            <a:off x="4599432" y="3840480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 + bwd states</a:t>
            </a:r>
            <a:endParaRPr lang="en-US" sz="900"/>
          </a:p>
        </p:txBody>
      </p:sp>
      <p:sp>
        <p:nvSpPr>
          <p:cNvPr id="32" name="Shape 29"/>
          <p:cNvSpPr/>
          <p:nvPr/>
        </p:nvSpPr>
        <p:spPr>
          <a:xfrm>
            <a:off x="4489704" y="4114800"/>
            <a:ext cx="32095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489704" y="4114800"/>
            <a:ext cx="457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599432" y="4151376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 → logit</a:t>
            </a:r>
            <a:endParaRPr lang="en-US" sz="1000"/>
          </a:p>
        </p:txBody>
      </p:sp>
      <p:sp>
        <p:nvSpPr>
          <p:cNvPr id="35" name="Text 32"/>
          <p:cNvSpPr/>
          <p:nvPr/>
        </p:nvSpPr>
        <p:spPr>
          <a:xfrm>
            <a:off x="4599432" y="4343400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BCEWithLogitsLoss</a:t>
            </a:r>
            <a:endParaRPr lang="en-US" sz="900"/>
          </a:p>
        </p:txBody>
      </p:sp>
      <p:sp>
        <p:nvSpPr>
          <p:cNvPr id="36" name="Text 33"/>
          <p:cNvSpPr/>
          <p:nvPr/>
        </p:nvSpPr>
        <p:spPr>
          <a:xfrm>
            <a:off x="4489704" y="4709160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FIX</a:t>
            </a:r>
            <a:endParaRPr lang="en-US" sz="900"/>
          </a:p>
        </p:txBody>
      </p:sp>
      <p:sp>
        <p:nvSpPr>
          <p:cNvPr id="37" name="Text 34"/>
          <p:cNvSpPr/>
          <p:nvPr/>
        </p:nvSpPr>
        <p:spPr>
          <a:xfrm>
            <a:off x="4489704" y="4937760"/>
            <a:ext cx="3209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pack_padded_sequence — LSTM stops at last real word, ignores zero padding.</a:t>
            </a:r>
            <a:endParaRPr lang="en-US" sz="1100"/>
          </a:p>
        </p:txBody>
      </p:sp>
      <p:sp>
        <p:nvSpPr>
          <p:cNvPr id="38" name="Shape 35"/>
          <p:cNvSpPr/>
          <p:nvPr/>
        </p:nvSpPr>
        <p:spPr>
          <a:xfrm>
            <a:off x="8065008" y="1554480"/>
            <a:ext cx="3575304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8065008" y="1554480"/>
            <a:ext cx="3575304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8247888" y="178308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· TRANSFORMER · v2.0.0</a:t>
            </a:r>
            <a:endParaRPr lang="en-US" sz="900"/>
          </a:p>
        </p:txBody>
      </p:sp>
      <p:sp>
        <p:nvSpPr>
          <p:cNvPr id="41" name="Text 38"/>
          <p:cNvSpPr/>
          <p:nvPr/>
        </p:nvSpPr>
        <p:spPr>
          <a:xfrm>
            <a:off x="8247888" y="205740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DistilBERT</a:t>
            </a:r>
            <a:endParaRPr lang="en-US" sz="1700"/>
          </a:p>
        </p:txBody>
      </p:sp>
      <p:sp>
        <p:nvSpPr>
          <p:cNvPr id="42" name="Shape 39"/>
          <p:cNvSpPr/>
          <p:nvPr/>
        </p:nvSpPr>
        <p:spPr>
          <a:xfrm>
            <a:off x="8247888" y="2606040"/>
            <a:ext cx="32095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8247888" y="2606040"/>
            <a:ext cx="4572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8357616" y="2642616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AutoTokenizer</a:t>
            </a:r>
            <a:endParaRPr lang="en-US" sz="1000"/>
          </a:p>
        </p:txBody>
      </p:sp>
      <p:sp>
        <p:nvSpPr>
          <p:cNvPr id="45" name="Text 42"/>
          <p:cNvSpPr/>
          <p:nvPr/>
        </p:nvSpPr>
        <p:spPr>
          <a:xfrm>
            <a:off x="8357616" y="2834640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max_len=256</a:t>
            </a:r>
            <a:endParaRPr lang="en-US" sz="900"/>
          </a:p>
        </p:txBody>
      </p:sp>
      <p:sp>
        <p:nvSpPr>
          <p:cNvPr id="46" name="Shape 43"/>
          <p:cNvSpPr/>
          <p:nvPr/>
        </p:nvSpPr>
        <p:spPr>
          <a:xfrm>
            <a:off x="8247888" y="3108960"/>
            <a:ext cx="32095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8247888" y="3108960"/>
            <a:ext cx="4572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8357616" y="3145536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DistilBERT base</a:t>
            </a:r>
            <a:endParaRPr lang="en-US" sz="1000"/>
          </a:p>
        </p:txBody>
      </p:sp>
      <p:sp>
        <p:nvSpPr>
          <p:cNvPr id="49" name="Text 46"/>
          <p:cNvSpPr/>
          <p:nvPr/>
        </p:nvSpPr>
        <p:spPr>
          <a:xfrm>
            <a:off x="8357616" y="3337560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66M params · uncased</a:t>
            </a:r>
            <a:endParaRPr lang="en-US" sz="900"/>
          </a:p>
        </p:txBody>
      </p:sp>
      <p:sp>
        <p:nvSpPr>
          <p:cNvPr id="50" name="Shape 47"/>
          <p:cNvSpPr/>
          <p:nvPr/>
        </p:nvSpPr>
        <p:spPr>
          <a:xfrm>
            <a:off x="8247888" y="3611880"/>
            <a:ext cx="32095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8247888" y="3611880"/>
            <a:ext cx="4572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8357616" y="3648456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Classifier head</a:t>
            </a:r>
            <a:endParaRPr lang="en-US" sz="1000"/>
          </a:p>
        </p:txBody>
      </p:sp>
      <p:sp>
        <p:nvSpPr>
          <p:cNvPr id="53" name="Text 50"/>
          <p:cNvSpPr/>
          <p:nvPr/>
        </p:nvSpPr>
        <p:spPr>
          <a:xfrm>
            <a:off x="8357616" y="3840480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→ logit</a:t>
            </a:r>
            <a:endParaRPr lang="en-US" sz="900"/>
          </a:p>
        </p:txBody>
      </p:sp>
      <p:sp>
        <p:nvSpPr>
          <p:cNvPr id="54" name="Text 51"/>
          <p:cNvSpPr/>
          <p:nvPr/>
        </p:nvSpPr>
        <p:spPr>
          <a:xfrm>
            <a:off x="8247888" y="4206240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FINE-TUNE</a:t>
            </a:r>
            <a:endParaRPr lang="en-US" sz="900"/>
          </a:p>
        </p:txBody>
      </p:sp>
      <p:sp>
        <p:nvSpPr>
          <p:cNvPr id="55" name="Shape 52"/>
          <p:cNvSpPr/>
          <p:nvPr/>
        </p:nvSpPr>
        <p:spPr>
          <a:xfrm>
            <a:off x="8247888" y="4434840"/>
            <a:ext cx="320954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8339328" y="443484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frozen → head only · 10 epochs</a:t>
            </a:r>
            <a:endParaRPr lang="en-US" sz="1000"/>
          </a:p>
        </p:txBody>
      </p:sp>
      <p:sp>
        <p:nvSpPr>
          <p:cNvPr id="57" name="Shape 54"/>
          <p:cNvSpPr/>
          <p:nvPr/>
        </p:nvSpPr>
        <p:spPr>
          <a:xfrm>
            <a:off x="8247888" y="4846320"/>
            <a:ext cx="320954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8339328" y="484632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last 2 layers · 12 epochs</a:t>
            </a:r>
            <a:endParaRPr lang="en-US" sz="1000"/>
          </a:p>
        </p:txBody>
      </p:sp>
      <p:sp>
        <p:nvSpPr>
          <p:cNvPr id="59" name="Text 56"/>
          <p:cNvSpPr/>
          <p:nvPr/>
        </p:nvSpPr>
        <p:spPr>
          <a:xfrm>
            <a:off x="8247888" y="5349240"/>
            <a:ext cx="3209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catastrophic forgetting of pretrained representations.</a:t>
            </a:r>
            <a:endParaRPr lang="en-US" sz="1000"/>
          </a:p>
        </p:txBody>
      </p:sp>
      <p:sp>
        <p:nvSpPr>
          <p:cNvPr id="60" name="Shape 57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Luis Faria  ·  ISY503 · Assessment 3 · ReviewPulse v2.0.0</a:t>
            </a:r>
            <a:endParaRPr lang="en-US" sz="90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DBD90B40-4607-1E3B-DE6C-900C29AF4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5142" y="-99454"/>
            <a:ext cx="1296338" cy="864225"/>
          </a:xfrm>
          <a:prstGeom prst="rect">
            <a:avLst/>
          </a:prstGeom>
        </p:spPr>
      </p:pic>
      <p:pic>
        <p:nvPicPr>
          <p:cNvPr id="65" name="Picture 2" descr="Torrens University Australia - Wikipedia">
            <a:extLst>
              <a:ext uri="{FF2B5EF4-FFF2-40B4-BE49-F238E27FC236}">
                <a16:creationId xmlns:a16="http://schemas.microsoft.com/office/drawing/2014/main" id="{D11FEA3F-FB4A-1807-BFBD-20F363A04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5097" y="6245615"/>
            <a:ext cx="398246" cy="39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>
            <a:extLst>
              <a:ext uri="{FF2B5EF4-FFF2-40B4-BE49-F238E27FC236}">
                <a16:creationId xmlns:a16="http://schemas.microsoft.com/office/drawing/2014/main" id="{FE59A1A0-427D-9A34-8789-29F995A451E5}"/>
              </a:ext>
            </a:extLst>
          </p:cNvPr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/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0567A0CE-E108-E117-BC64-353645210344}"/>
              </a:ext>
            </a:extLst>
          </p:cNvPr>
          <p:cNvSpPr/>
          <p:nvPr/>
        </p:nvSpPr>
        <p:spPr>
          <a:xfrm>
            <a:off x="548640" y="68580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BiLSTM peaks at 84.0% · DistilBERT at 87.8%</a:t>
            </a:r>
            <a:endParaRPr lang="en-US" sz="280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6C1FCFE3-D144-8D17-85FF-3796F1896FEF}"/>
              </a:ext>
            </a:extLst>
          </p:cNvPr>
          <p:cNvSpPr/>
          <p:nvPr/>
        </p:nvSpPr>
        <p:spPr>
          <a:xfrm>
            <a:off x="10908792" y="411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/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BE7483E8-69A3-C040-E56E-B6603E4B7F3E}"/>
              </a:ext>
            </a:extLst>
          </p:cNvPr>
          <p:cNvSpPr/>
          <p:nvPr/>
        </p:nvSpPr>
        <p:spPr>
          <a:xfrm>
            <a:off x="548640" y="1508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BiLSTM · v1.0.0</a:t>
            </a:r>
            <a:endParaRPr lang="en-US" sz="1400"/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A0C41D79-AD12-7E3D-425E-A7CA575D80A1}"/>
              </a:ext>
            </a:extLst>
          </p:cNvPr>
          <p:cNvSpPr/>
          <p:nvPr/>
        </p:nvSpPr>
        <p:spPr>
          <a:xfrm>
            <a:off x="548640" y="178308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epochs · best val F1 at epoch 9</a:t>
            </a:r>
            <a:endParaRPr lang="en-US" sz="1000"/>
          </a:p>
        </p:txBody>
      </p:sp>
      <p:graphicFrame>
        <p:nvGraphicFramePr>
          <p:cNvPr id="42" name="Chart 0">
            <a:extLst>
              <a:ext uri="{FF2B5EF4-FFF2-40B4-BE49-F238E27FC236}">
                <a16:creationId xmlns:a16="http://schemas.microsoft.com/office/drawing/2014/main" id="{8536521A-E23A-05E9-3A73-327E860DF387}"/>
              </a:ext>
            </a:extLst>
          </p:cNvPr>
          <p:cNvGraphicFramePr/>
          <p:nvPr/>
        </p:nvGraphicFramePr>
        <p:xfrm>
          <a:off x="548640" y="2057400"/>
          <a:ext cx="53949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3" name="Shape 5">
            <a:extLst>
              <a:ext uri="{FF2B5EF4-FFF2-40B4-BE49-F238E27FC236}">
                <a16:creationId xmlns:a16="http://schemas.microsoft.com/office/drawing/2014/main" id="{6B5788E8-FA5C-CA99-8BB4-892C44034D29}"/>
              </a:ext>
            </a:extLst>
          </p:cNvPr>
          <p:cNvSpPr/>
          <p:nvPr/>
        </p:nvSpPr>
        <p:spPr>
          <a:xfrm>
            <a:off x="4983480" y="2697480"/>
            <a:ext cx="182880" cy="182880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6">
            <a:extLst>
              <a:ext uri="{FF2B5EF4-FFF2-40B4-BE49-F238E27FC236}">
                <a16:creationId xmlns:a16="http://schemas.microsoft.com/office/drawing/2014/main" id="{82B006D6-9531-78B7-DE23-8F7F0CCE25A3}"/>
              </a:ext>
            </a:extLst>
          </p:cNvPr>
          <p:cNvSpPr/>
          <p:nvPr/>
        </p:nvSpPr>
        <p:spPr>
          <a:xfrm>
            <a:off x="4023360" y="2971800"/>
            <a:ext cx="137160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3239C581-1925-44E3-8D09-596C2C3FC2FD}"/>
              </a:ext>
            </a:extLst>
          </p:cNvPr>
          <p:cNvSpPr/>
          <p:nvPr/>
        </p:nvSpPr>
        <p:spPr>
          <a:xfrm>
            <a:off x="4023360" y="2971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Best · 84.0% F1</a:t>
            </a:r>
            <a:endParaRPr lang="en-US" sz="900"/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DEA485F4-CDBA-930A-3740-7920DCED34E6}"/>
              </a:ext>
            </a:extLst>
          </p:cNvPr>
          <p:cNvSpPr/>
          <p:nvPr/>
        </p:nvSpPr>
        <p:spPr>
          <a:xfrm>
            <a:off x="6263640" y="150876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DistilBERT · v2.0.0</a:t>
            </a:r>
            <a:endParaRPr lang="en-US" sz="1400"/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D44C9EB2-2062-6069-2636-32E65207C3E7}"/>
              </a:ext>
            </a:extLst>
          </p:cNvPr>
          <p:cNvSpPr/>
          <p:nvPr/>
        </p:nvSpPr>
        <p:spPr>
          <a:xfrm>
            <a:off x="6263640" y="178308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fine-tune · best val F1 at epoch 12</a:t>
            </a:r>
            <a:endParaRPr lang="en-US" sz="1000"/>
          </a:p>
        </p:txBody>
      </p:sp>
      <p:sp>
        <p:nvSpPr>
          <p:cNvPr id="48" name="Shape 10">
            <a:extLst>
              <a:ext uri="{FF2B5EF4-FFF2-40B4-BE49-F238E27FC236}">
                <a16:creationId xmlns:a16="http://schemas.microsoft.com/office/drawing/2014/main" id="{BCD34CED-F17D-9EB5-7B9D-C6365E9397F9}"/>
              </a:ext>
            </a:extLst>
          </p:cNvPr>
          <p:cNvSpPr/>
          <p:nvPr/>
        </p:nvSpPr>
        <p:spPr>
          <a:xfrm>
            <a:off x="6263640" y="2240280"/>
            <a:ext cx="534924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E9696D97-0D24-DFFE-F9E8-62E5F5984B8E}"/>
              </a:ext>
            </a:extLst>
          </p:cNvPr>
          <p:cNvSpPr/>
          <p:nvPr/>
        </p:nvSpPr>
        <p:spPr>
          <a:xfrm>
            <a:off x="6309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800"/>
          </a:p>
        </p:txBody>
      </p:sp>
      <p:sp>
        <p:nvSpPr>
          <p:cNvPr id="50" name="Shape 12">
            <a:extLst>
              <a:ext uri="{FF2B5EF4-FFF2-40B4-BE49-F238E27FC236}">
                <a16:creationId xmlns:a16="http://schemas.microsoft.com/office/drawing/2014/main" id="{6F07FD46-63CF-92CB-6020-4496A5465E4D}"/>
              </a:ext>
            </a:extLst>
          </p:cNvPr>
          <p:cNvSpPr/>
          <p:nvPr/>
        </p:nvSpPr>
        <p:spPr>
          <a:xfrm>
            <a:off x="6720840" y="4846320"/>
            <a:ext cx="475488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87DC3E7F-DEBC-F3D5-3786-4D0C30C1C07E}"/>
              </a:ext>
            </a:extLst>
          </p:cNvPr>
          <p:cNvSpPr/>
          <p:nvPr/>
        </p:nvSpPr>
        <p:spPr>
          <a:xfrm>
            <a:off x="6309360" y="40081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800"/>
          </a:p>
        </p:txBody>
      </p:sp>
      <p:sp>
        <p:nvSpPr>
          <p:cNvPr id="52" name="Shape 14">
            <a:extLst>
              <a:ext uri="{FF2B5EF4-FFF2-40B4-BE49-F238E27FC236}">
                <a16:creationId xmlns:a16="http://schemas.microsoft.com/office/drawing/2014/main" id="{6B568276-BFC7-D997-D459-06E4C18E11E6}"/>
              </a:ext>
            </a:extLst>
          </p:cNvPr>
          <p:cNvSpPr/>
          <p:nvPr/>
        </p:nvSpPr>
        <p:spPr>
          <a:xfrm>
            <a:off x="6720840" y="4099560"/>
            <a:ext cx="475488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15">
            <a:extLst>
              <a:ext uri="{FF2B5EF4-FFF2-40B4-BE49-F238E27FC236}">
                <a16:creationId xmlns:a16="http://schemas.microsoft.com/office/drawing/2014/main" id="{1071C7F6-821B-B65B-88AB-370BD118C57F}"/>
              </a:ext>
            </a:extLst>
          </p:cNvPr>
          <p:cNvSpPr/>
          <p:nvPr/>
        </p:nvSpPr>
        <p:spPr>
          <a:xfrm>
            <a:off x="6309360" y="32613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800"/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551A2E32-4DD1-7D98-00BF-9936700600CC}"/>
              </a:ext>
            </a:extLst>
          </p:cNvPr>
          <p:cNvSpPr/>
          <p:nvPr/>
        </p:nvSpPr>
        <p:spPr>
          <a:xfrm>
            <a:off x="6720840" y="3352800"/>
            <a:ext cx="475488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18FDA5DC-6235-3D2F-E49E-AC2166453755}"/>
              </a:ext>
            </a:extLst>
          </p:cNvPr>
          <p:cNvSpPr/>
          <p:nvPr/>
        </p:nvSpPr>
        <p:spPr>
          <a:xfrm>
            <a:off x="6309360" y="2514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800"/>
          </a:p>
        </p:txBody>
      </p:sp>
      <p:sp>
        <p:nvSpPr>
          <p:cNvPr id="56" name="Shape 18">
            <a:extLst>
              <a:ext uri="{FF2B5EF4-FFF2-40B4-BE49-F238E27FC236}">
                <a16:creationId xmlns:a16="http://schemas.microsoft.com/office/drawing/2014/main" id="{C01CB109-BDEE-0677-F77D-7EDE7FD915C7}"/>
              </a:ext>
            </a:extLst>
          </p:cNvPr>
          <p:cNvSpPr/>
          <p:nvPr/>
        </p:nvSpPr>
        <p:spPr>
          <a:xfrm>
            <a:off x="6720840" y="2606040"/>
            <a:ext cx="475488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19">
            <a:extLst>
              <a:ext uri="{FF2B5EF4-FFF2-40B4-BE49-F238E27FC236}">
                <a16:creationId xmlns:a16="http://schemas.microsoft.com/office/drawing/2014/main" id="{526285E4-B5D6-8438-7274-764DFD879B41}"/>
              </a:ext>
            </a:extLst>
          </p:cNvPr>
          <p:cNvSpPr/>
          <p:nvPr/>
        </p:nvSpPr>
        <p:spPr>
          <a:xfrm>
            <a:off x="6720840" y="3427476"/>
            <a:ext cx="475488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0">
            <a:extLst>
              <a:ext uri="{FF2B5EF4-FFF2-40B4-BE49-F238E27FC236}">
                <a16:creationId xmlns:a16="http://schemas.microsoft.com/office/drawing/2014/main" id="{DEDF1C9D-D025-7F74-7459-0E0823CE6B96}"/>
              </a:ext>
            </a:extLst>
          </p:cNvPr>
          <p:cNvSpPr/>
          <p:nvPr/>
        </p:nvSpPr>
        <p:spPr>
          <a:xfrm>
            <a:off x="6766560" y="31988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peak (84.0%)</a:t>
            </a:r>
            <a:endParaRPr lang="en-US" sz="800"/>
          </a:p>
        </p:txBody>
      </p:sp>
      <p:sp>
        <p:nvSpPr>
          <p:cNvPr id="59" name="Shape 21">
            <a:extLst>
              <a:ext uri="{FF2B5EF4-FFF2-40B4-BE49-F238E27FC236}">
                <a16:creationId xmlns:a16="http://schemas.microsoft.com/office/drawing/2014/main" id="{EED52547-8EFB-46BB-28FD-4B6AA32393AB}"/>
              </a:ext>
            </a:extLst>
          </p:cNvPr>
          <p:cNvSpPr/>
          <p:nvPr/>
        </p:nvSpPr>
        <p:spPr>
          <a:xfrm>
            <a:off x="6766560" y="4617720"/>
            <a:ext cx="3830089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22">
            <a:extLst>
              <a:ext uri="{FF2B5EF4-FFF2-40B4-BE49-F238E27FC236}">
                <a16:creationId xmlns:a16="http://schemas.microsoft.com/office/drawing/2014/main" id="{F715B778-1F38-B443-3B99-7B49227A3696}"/>
              </a:ext>
            </a:extLst>
          </p:cNvPr>
          <p:cNvSpPr/>
          <p:nvPr/>
        </p:nvSpPr>
        <p:spPr>
          <a:xfrm>
            <a:off x="6766560" y="4617720"/>
            <a:ext cx="38300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encoder frozen · 10 epochs</a:t>
            </a:r>
            <a:endParaRPr lang="en-US" sz="800"/>
          </a:p>
        </p:txBody>
      </p:sp>
      <p:sp>
        <p:nvSpPr>
          <p:cNvPr id="61" name="Shape 23">
            <a:extLst>
              <a:ext uri="{FF2B5EF4-FFF2-40B4-BE49-F238E27FC236}">
                <a16:creationId xmlns:a16="http://schemas.microsoft.com/office/drawing/2014/main" id="{57AA3F9F-B30D-208C-005E-BFB1838B8960}"/>
              </a:ext>
            </a:extLst>
          </p:cNvPr>
          <p:cNvSpPr/>
          <p:nvPr/>
        </p:nvSpPr>
        <p:spPr>
          <a:xfrm>
            <a:off x="10596649" y="4617720"/>
            <a:ext cx="604751" cy="228600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24">
            <a:extLst>
              <a:ext uri="{FF2B5EF4-FFF2-40B4-BE49-F238E27FC236}">
                <a16:creationId xmlns:a16="http://schemas.microsoft.com/office/drawing/2014/main" id="{35048592-C8AC-9156-352E-7C579955442B}"/>
              </a:ext>
            </a:extLst>
          </p:cNvPr>
          <p:cNvSpPr/>
          <p:nvPr/>
        </p:nvSpPr>
        <p:spPr>
          <a:xfrm>
            <a:off x="10596649" y="4617720"/>
            <a:ext cx="604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800"/>
          </a:p>
        </p:txBody>
      </p:sp>
      <p:sp>
        <p:nvSpPr>
          <p:cNvPr id="63" name="Shape 25">
            <a:extLst>
              <a:ext uri="{FF2B5EF4-FFF2-40B4-BE49-F238E27FC236}">
                <a16:creationId xmlns:a16="http://schemas.microsoft.com/office/drawing/2014/main" id="{2D7B0276-A014-997F-D1D7-41527FAEB8B1}"/>
              </a:ext>
            </a:extLst>
          </p:cNvPr>
          <p:cNvSpPr/>
          <p:nvPr/>
        </p:nvSpPr>
        <p:spPr>
          <a:xfrm>
            <a:off x="10596649" y="2606040"/>
            <a:ext cx="0" cy="2011680"/>
          </a:xfrm>
          <a:prstGeom prst="line">
            <a:avLst/>
          </a:prstGeom>
          <a:noFill/>
          <a:ln w="12700">
            <a:solidFill>
              <a:srgbClr val="0891B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26">
            <a:extLst>
              <a:ext uri="{FF2B5EF4-FFF2-40B4-BE49-F238E27FC236}">
                <a16:creationId xmlns:a16="http://schemas.microsoft.com/office/drawing/2014/main" id="{CA3CFCDD-FFA6-4519-0B77-88A39DBCDD5B}"/>
              </a:ext>
            </a:extLst>
          </p:cNvPr>
          <p:cNvSpPr/>
          <p:nvPr/>
        </p:nvSpPr>
        <p:spPr>
          <a:xfrm>
            <a:off x="6629400" y="48646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/>
          </a:p>
        </p:txBody>
      </p:sp>
      <p:sp>
        <p:nvSpPr>
          <p:cNvPr id="65" name="Text 27">
            <a:extLst>
              <a:ext uri="{FF2B5EF4-FFF2-40B4-BE49-F238E27FC236}">
                <a16:creationId xmlns:a16="http://schemas.microsoft.com/office/drawing/2014/main" id="{309994EF-95A2-7810-703E-9D9AA3E1B92C}"/>
              </a:ext>
            </a:extLst>
          </p:cNvPr>
          <p:cNvSpPr/>
          <p:nvPr/>
        </p:nvSpPr>
        <p:spPr>
          <a:xfrm>
            <a:off x="8242069" y="48646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/>
          </a:p>
        </p:txBody>
      </p:sp>
      <p:sp>
        <p:nvSpPr>
          <p:cNvPr id="66" name="Text 28">
            <a:extLst>
              <a:ext uri="{FF2B5EF4-FFF2-40B4-BE49-F238E27FC236}">
                <a16:creationId xmlns:a16="http://schemas.microsoft.com/office/drawing/2014/main" id="{06B49F6E-6FE4-6755-BD58-67F6E62FFE8A}"/>
              </a:ext>
            </a:extLst>
          </p:cNvPr>
          <p:cNvSpPr/>
          <p:nvPr/>
        </p:nvSpPr>
        <p:spPr>
          <a:xfrm>
            <a:off x="10257905" y="48646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/>
          </a:p>
        </p:txBody>
      </p:sp>
      <p:sp>
        <p:nvSpPr>
          <p:cNvPr id="67" name="Text 29">
            <a:extLst>
              <a:ext uri="{FF2B5EF4-FFF2-40B4-BE49-F238E27FC236}">
                <a16:creationId xmlns:a16="http://schemas.microsoft.com/office/drawing/2014/main" id="{C939E389-6DB8-A4AD-1E30-405450FA7C19}"/>
              </a:ext>
            </a:extLst>
          </p:cNvPr>
          <p:cNvSpPr/>
          <p:nvPr/>
        </p:nvSpPr>
        <p:spPr>
          <a:xfrm>
            <a:off x="11064240" y="48646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/>
          </a:p>
        </p:txBody>
      </p:sp>
      <p:sp>
        <p:nvSpPr>
          <p:cNvPr id="68" name="Shape 30">
            <a:extLst>
              <a:ext uri="{FF2B5EF4-FFF2-40B4-BE49-F238E27FC236}">
                <a16:creationId xmlns:a16="http://schemas.microsoft.com/office/drawing/2014/main" id="{5BD9CC25-745E-2FDA-16BE-F9444F252353}"/>
              </a:ext>
            </a:extLst>
          </p:cNvPr>
          <p:cNvSpPr/>
          <p:nvPr/>
        </p:nvSpPr>
        <p:spPr>
          <a:xfrm>
            <a:off x="11064240" y="3006547"/>
            <a:ext cx="274320" cy="27432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31">
            <a:extLst>
              <a:ext uri="{FF2B5EF4-FFF2-40B4-BE49-F238E27FC236}">
                <a16:creationId xmlns:a16="http://schemas.microsoft.com/office/drawing/2014/main" id="{D0B76BD0-DB11-471D-0374-2DF3703E41B7}"/>
              </a:ext>
            </a:extLst>
          </p:cNvPr>
          <p:cNvSpPr/>
          <p:nvPr/>
        </p:nvSpPr>
        <p:spPr>
          <a:xfrm>
            <a:off x="9509760" y="2777947"/>
            <a:ext cx="141732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32">
            <a:extLst>
              <a:ext uri="{FF2B5EF4-FFF2-40B4-BE49-F238E27FC236}">
                <a16:creationId xmlns:a16="http://schemas.microsoft.com/office/drawing/2014/main" id="{5E80485E-413E-B1BA-BF29-C06D0015AFCF}"/>
              </a:ext>
            </a:extLst>
          </p:cNvPr>
          <p:cNvSpPr/>
          <p:nvPr/>
        </p:nvSpPr>
        <p:spPr>
          <a:xfrm>
            <a:off x="9509760" y="2777947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87.8% F1</a:t>
            </a:r>
            <a:endParaRPr lang="en-US" sz="1600"/>
          </a:p>
        </p:txBody>
      </p:sp>
      <p:sp>
        <p:nvSpPr>
          <p:cNvPr id="71" name="Text 33">
            <a:extLst>
              <a:ext uri="{FF2B5EF4-FFF2-40B4-BE49-F238E27FC236}">
                <a16:creationId xmlns:a16="http://schemas.microsoft.com/office/drawing/2014/main" id="{20EA8CF3-8C66-5E04-F813-03E37D779EF2}"/>
              </a:ext>
            </a:extLst>
          </p:cNvPr>
          <p:cNvSpPr/>
          <p:nvPr/>
        </p:nvSpPr>
        <p:spPr>
          <a:xfrm>
            <a:off x="9509760" y="3143707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12 · best</a:t>
            </a:r>
            <a:endParaRPr lang="en-US" sz="800"/>
          </a:p>
        </p:txBody>
      </p:sp>
      <p:sp>
        <p:nvSpPr>
          <p:cNvPr id="72" name="Shape 34">
            <a:extLst>
              <a:ext uri="{FF2B5EF4-FFF2-40B4-BE49-F238E27FC236}">
                <a16:creationId xmlns:a16="http://schemas.microsoft.com/office/drawing/2014/main" id="{064E4592-9155-98EE-DD0B-CA12AC96EDA6}"/>
              </a:ext>
            </a:extLst>
          </p:cNvPr>
          <p:cNvSpPr/>
          <p:nvPr/>
        </p:nvSpPr>
        <p:spPr>
          <a:xfrm>
            <a:off x="10927080" y="3143707"/>
            <a:ext cx="13716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47486A66-7A0E-D0C0-37C1-C280BD0B427B}"/>
              </a:ext>
            </a:extLst>
          </p:cNvPr>
          <p:cNvSpPr/>
          <p:nvPr/>
        </p:nvSpPr>
        <p:spPr>
          <a:xfrm>
            <a:off x="6263640" y="5166360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Per-epoch curve not logged. Best val F1 from outputs/distilbert.pt (best_val_f1 = 0.8781).</a:t>
            </a:r>
            <a:endParaRPr lang="en-US" sz="700"/>
          </a:p>
        </p:txBody>
      </p:sp>
      <p:sp>
        <p:nvSpPr>
          <p:cNvPr id="74" name="Shape 36">
            <a:extLst>
              <a:ext uri="{FF2B5EF4-FFF2-40B4-BE49-F238E27FC236}">
                <a16:creationId xmlns:a16="http://schemas.microsoft.com/office/drawing/2014/main" id="{00CBC765-047C-56B5-4CB2-1C26FD84BE4B}"/>
              </a:ext>
            </a:extLst>
          </p:cNvPr>
          <p:cNvSpPr/>
          <p:nvPr/>
        </p:nvSpPr>
        <p:spPr>
          <a:xfrm>
            <a:off x="548640" y="5349240"/>
            <a:ext cx="539496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37">
            <a:extLst>
              <a:ext uri="{FF2B5EF4-FFF2-40B4-BE49-F238E27FC236}">
                <a16:creationId xmlns:a16="http://schemas.microsoft.com/office/drawing/2014/main" id="{51610770-00B3-3FFB-9E32-ABA88DF5AE93}"/>
              </a:ext>
            </a:extLst>
          </p:cNvPr>
          <p:cNvSpPr/>
          <p:nvPr/>
        </p:nvSpPr>
        <p:spPr>
          <a:xfrm>
            <a:off x="548640" y="5349240"/>
            <a:ext cx="4572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38">
            <a:extLst>
              <a:ext uri="{FF2B5EF4-FFF2-40B4-BE49-F238E27FC236}">
                <a16:creationId xmlns:a16="http://schemas.microsoft.com/office/drawing/2014/main" id="{6F9DDE1B-7069-544F-0062-EC8BFC4A9D8E}"/>
              </a:ext>
            </a:extLst>
          </p:cNvPr>
          <p:cNvSpPr/>
          <p:nvPr/>
        </p:nvSpPr>
        <p:spPr>
          <a:xfrm>
            <a:off x="685800" y="539496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CONFIG</a:t>
            </a:r>
            <a:endParaRPr lang="en-US" sz="800"/>
          </a:p>
        </p:txBody>
      </p:sp>
      <p:sp>
        <p:nvSpPr>
          <p:cNvPr id="77" name="Text 39">
            <a:extLst>
              <a:ext uri="{FF2B5EF4-FFF2-40B4-BE49-F238E27FC236}">
                <a16:creationId xmlns:a16="http://schemas.microsoft.com/office/drawing/2014/main" id="{EF7DED31-6466-14DB-C4D6-17D53E418EEF}"/>
              </a:ext>
            </a:extLst>
          </p:cNvPr>
          <p:cNvSpPr/>
          <p:nvPr/>
        </p:nvSpPr>
        <p:spPr>
          <a:xfrm>
            <a:off x="685800" y="5623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 lr=1e-3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</a:t>
            </a:r>
            <a:r>
              <a:rPr lang="en-US" sz="8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BCEWithLogitsLoss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</a:t>
            </a:r>
            <a:r>
              <a:rPr lang="en-US" sz="80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 clip 5.0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</a:t>
            </a:r>
            <a:r>
              <a:rPr lang="en-US" sz="800" i="1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checkpoint best val F1</a:t>
            </a:r>
            <a:endParaRPr lang="en-US" sz="800"/>
          </a:p>
        </p:txBody>
      </p:sp>
      <p:sp>
        <p:nvSpPr>
          <p:cNvPr id="78" name="Shape 40">
            <a:extLst>
              <a:ext uri="{FF2B5EF4-FFF2-40B4-BE49-F238E27FC236}">
                <a16:creationId xmlns:a16="http://schemas.microsoft.com/office/drawing/2014/main" id="{5DE77556-4DC6-4BDD-188A-01DCDE76C7DC}"/>
              </a:ext>
            </a:extLst>
          </p:cNvPr>
          <p:cNvSpPr/>
          <p:nvPr/>
        </p:nvSpPr>
        <p:spPr>
          <a:xfrm>
            <a:off x="6253249" y="5349240"/>
            <a:ext cx="534924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41">
            <a:extLst>
              <a:ext uri="{FF2B5EF4-FFF2-40B4-BE49-F238E27FC236}">
                <a16:creationId xmlns:a16="http://schemas.microsoft.com/office/drawing/2014/main" id="{FDB47547-9134-6C2A-DB53-1CC93A3A3C94}"/>
              </a:ext>
            </a:extLst>
          </p:cNvPr>
          <p:cNvSpPr/>
          <p:nvPr/>
        </p:nvSpPr>
        <p:spPr>
          <a:xfrm>
            <a:off x="6263640" y="5349240"/>
            <a:ext cx="4572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42">
            <a:extLst>
              <a:ext uri="{FF2B5EF4-FFF2-40B4-BE49-F238E27FC236}">
                <a16:creationId xmlns:a16="http://schemas.microsoft.com/office/drawing/2014/main" id="{459CCBC6-D8C5-02F8-FD47-8EC33179CC39}"/>
              </a:ext>
            </a:extLst>
          </p:cNvPr>
          <p:cNvSpPr/>
          <p:nvPr/>
        </p:nvSpPr>
        <p:spPr>
          <a:xfrm>
            <a:off x="6400800" y="539496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CONFIG</a:t>
            </a:r>
            <a:endParaRPr lang="en-US" sz="800"/>
          </a:p>
        </p:txBody>
      </p:sp>
      <p:sp>
        <p:nvSpPr>
          <p:cNvPr id="81" name="Text 43">
            <a:extLst>
              <a:ext uri="{FF2B5EF4-FFF2-40B4-BE49-F238E27FC236}">
                <a16:creationId xmlns:a16="http://schemas.microsoft.com/office/drawing/2014/main" id="{32BE967B-CD01-7B66-9552-C61BFC6F9C75}"/>
              </a:ext>
            </a:extLst>
          </p:cNvPr>
          <p:cNvSpPr/>
          <p:nvPr/>
        </p:nvSpPr>
        <p:spPr>
          <a:xfrm>
            <a:off x="6400800" y="56235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 lr=1e-4 head / 2e-5 enc</a:t>
            </a:r>
            <a:r>
              <a:rPr lang="en-US" sz="80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</a:t>
            </a:r>
            <a:r>
              <a:rPr lang="en-US" sz="80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BCEWithLogitsLoss</a:t>
            </a:r>
            <a:r>
              <a:rPr lang="en-US" sz="80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</a:t>
            </a:r>
            <a:r>
              <a:rPr lang="en-US" sz="80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ReduceLROnPlateau</a:t>
            </a:r>
            <a:r>
              <a:rPr lang="en-US" sz="80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</a:t>
            </a:r>
            <a:r>
              <a:rPr lang="en-US" sz="800" i="1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catastrophic forgetting</a:t>
            </a:r>
            <a:endParaRPr lang="en-US" sz="800"/>
          </a:p>
        </p:txBody>
      </p:sp>
      <p:sp>
        <p:nvSpPr>
          <p:cNvPr id="82" name="Shape 44">
            <a:extLst>
              <a:ext uri="{FF2B5EF4-FFF2-40B4-BE49-F238E27FC236}">
                <a16:creationId xmlns:a16="http://schemas.microsoft.com/office/drawing/2014/main" id="{238AA751-00FA-3962-3B5E-220C27715C44}"/>
              </a:ext>
            </a:extLst>
          </p:cNvPr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45">
            <a:extLst>
              <a:ext uri="{FF2B5EF4-FFF2-40B4-BE49-F238E27FC236}">
                <a16:creationId xmlns:a16="http://schemas.microsoft.com/office/drawing/2014/main" id="{86BDED53-8395-513B-72B1-5E45275E1554}"/>
              </a:ext>
            </a:extLst>
          </p:cNvPr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Luis Faria  ·  ISY503 · Assessment 3 · ReviewPulse v2.0.0</a:t>
            </a:r>
            <a:endParaRPr lang="en-US" sz="9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DC4500-5540-CE7F-90EC-DF64B93D1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5142" y="-99454"/>
            <a:ext cx="1296338" cy="864225"/>
          </a:xfrm>
          <a:prstGeom prst="rect">
            <a:avLst/>
          </a:prstGeom>
        </p:spPr>
      </p:pic>
      <p:pic>
        <p:nvPicPr>
          <p:cNvPr id="3" name="Picture 2" descr="Torrens University Australia - Wikipedia">
            <a:extLst>
              <a:ext uri="{FF2B5EF4-FFF2-40B4-BE49-F238E27FC236}">
                <a16:creationId xmlns:a16="http://schemas.microsoft.com/office/drawing/2014/main" id="{46224C51-EA3D-3AF9-E45D-19F999339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5097" y="6245615"/>
            <a:ext cx="398246" cy="39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Graphic spid="42" grpId="0">
        <p:bldAsOne/>
      </p:bldGraphic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 (1,159 reviews)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models — and an honest finding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10908792" y="411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554480"/>
          <a:ext cx="6858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7680960" y="1554480"/>
            <a:ext cx="393192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7680960" y="1554480"/>
            <a:ext cx="73152" cy="2103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79095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v1.0.0 — HONEST FINDING</a:t>
            </a:r>
            <a:endParaRPr lang="en-US" sz="1000"/>
          </a:p>
        </p:txBody>
      </p:sp>
      <p:sp>
        <p:nvSpPr>
          <p:cNvPr id="10" name="Text 6"/>
          <p:cNvSpPr/>
          <p:nvPr/>
        </p:nvSpPr>
        <p:spPr>
          <a:xfrm>
            <a:off x="790956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simpler model wins on test.</a:t>
            </a:r>
            <a:endParaRPr lang="en-US" sz="1600"/>
          </a:p>
        </p:txBody>
      </p:sp>
      <p:sp>
        <p:nvSpPr>
          <p:cNvPr id="11" name="Text 7"/>
          <p:cNvSpPr/>
          <p:nvPr/>
        </p:nvSpPr>
        <p:spPr>
          <a:xfrm>
            <a:off x="7909560" y="25146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beat the baseline on validation (84.0% vs 83.2% F1) but the baseline generalised better on the held-out test set.</a:t>
            </a:r>
            <a:endParaRPr lang="en-US" sz="1100"/>
          </a:p>
        </p:txBody>
      </p:sp>
      <p:sp>
        <p:nvSpPr>
          <p:cNvPr id="12" name="Text 8"/>
          <p:cNvSpPr/>
          <p:nvPr/>
        </p:nvSpPr>
        <p:spPr>
          <a:xfrm>
            <a:off x="790956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still satisfies the rubric requirement to define a neural architecture.</a:t>
            </a:r>
            <a:endParaRPr lang="en-US" sz="1000"/>
          </a:p>
        </p:txBody>
      </p:sp>
      <p:sp>
        <p:nvSpPr>
          <p:cNvPr id="13" name="Shape 9"/>
          <p:cNvSpPr/>
          <p:nvPr/>
        </p:nvSpPr>
        <p:spPr>
          <a:xfrm>
            <a:off x="7680960" y="3840480"/>
            <a:ext cx="3931920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680960" y="3840480"/>
            <a:ext cx="73152" cy="2286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90956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v2.0.0 — DISTILBERT EXTENSION</a:t>
            </a:r>
            <a:endParaRPr lang="en-US" sz="1000"/>
          </a:p>
        </p:txBody>
      </p:sp>
      <p:sp>
        <p:nvSpPr>
          <p:cNvPr id="16" name="Text 12"/>
          <p:cNvSpPr/>
          <p:nvPr/>
        </p:nvSpPr>
        <p:spPr>
          <a:xfrm>
            <a:off x="7909560" y="4297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88.6% F1</a:t>
            </a:r>
            <a:endParaRPr lang="en-US" sz="3600"/>
          </a:p>
        </p:txBody>
      </p:sp>
      <p:sp>
        <p:nvSpPr>
          <p:cNvPr id="17" name="Text 13"/>
          <p:cNvSpPr/>
          <p:nvPr/>
        </p:nvSpPr>
        <p:spPr>
          <a:xfrm>
            <a:off x="7909560" y="5029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contextual embeddings clear v1 by a meaningful margin.</a:t>
            </a:r>
            <a:endParaRPr lang="en-US" sz="1200"/>
          </a:p>
        </p:txBody>
      </p:sp>
      <p:sp>
        <p:nvSpPr>
          <p:cNvPr id="18" name="Text 14"/>
          <p:cNvSpPr/>
          <p:nvPr/>
        </p:nvSpPr>
        <p:spPr>
          <a:xfrm>
            <a:off x="7909560" y="5532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</a:t>
            </a: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misclassified  ·  vs  </a:t>
            </a:r>
            <a:r>
              <a:rPr lang="en-US" sz="18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</a:t>
            </a: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(BiLSTM)</a:t>
            </a:r>
            <a:endParaRPr lang="en-US" sz="1800"/>
          </a:p>
        </p:txBody>
      </p:sp>
      <p:sp>
        <p:nvSpPr>
          <p:cNvPr id="19" name="Shape 15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Luis Faria  ·  ISY503 · Assessment 3 · ReviewPulse v2.0.0</a:t>
            </a:r>
            <a:endParaRPr lang="en-US" sz="90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A27A63C-54DC-7862-2C93-51D7EBDE40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5142" y="-99454"/>
            <a:ext cx="1296338" cy="864225"/>
          </a:xfrm>
          <a:prstGeom prst="rect">
            <a:avLst/>
          </a:prstGeom>
        </p:spPr>
      </p:pic>
      <p:pic>
        <p:nvPicPr>
          <p:cNvPr id="22" name="Picture 2" descr="Torrens University Australia - Wikipedia">
            <a:extLst>
              <a:ext uri="{FF2B5EF4-FFF2-40B4-BE49-F238E27FC236}">
                <a16:creationId xmlns:a16="http://schemas.microsoft.com/office/drawing/2014/main" id="{3E6EBC31-FF19-DAC2-5CC4-F47BD12D6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5097" y="6245615"/>
            <a:ext cx="398246" cy="39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 models vs DistilBERT — 38% fewer errors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10908792" y="411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56616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4864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MODELS</a:t>
            </a:r>
            <a:endParaRPr lang="en-US" sz="900"/>
          </a:p>
        </p:txBody>
      </p:sp>
      <p:sp>
        <p:nvSpPr>
          <p:cNvPr id="9" name="Text 6"/>
          <p:cNvSpPr/>
          <p:nvPr/>
        </p:nvSpPr>
        <p:spPr>
          <a:xfrm>
            <a:off x="77724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220</a:t>
            </a:r>
            <a:endParaRPr lang="en-US" sz="4800"/>
          </a:p>
        </p:txBody>
      </p:sp>
      <p:sp>
        <p:nvSpPr>
          <p:cNvPr id="10" name="Text 7"/>
          <p:cNvSpPr/>
          <p:nvPr/>
        </p:nvSpPr>
        <p:spPr>
          <a:xfrm>
            <a:off x="2468880" y="2057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misclassified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test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4206240" y="19202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/>
          </a:p>
        </p:txBody>
      </p:sp>
      <p:sp>
        <p:nvSpPr>
          <p:cNvPr id="12" name="Shape 9"/>
          <p:cNvSpPr/>
          <p:nvPr/>
        </p:nvSpPr>
        <p:spPr>
          <a:xfrm>
            <a:off x="4663440" y="1554480"/>
            <a:ext cx="3566160" cy="1188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63440" y="1554480"/>
            <a:ext cx="54864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89204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v2.0.0</a:t>
            </a:r>
            <a:endParaRPr lang="en-US" sz="900"/>
          </a:p>
        </p:txBody>
      </p:sp>
      <p:sp>
        <p:nvSpPr>
          <p:cNvPr id="15" name="Text 12"/>
          <p:cNvSpPr/>
          <p:nvPr/>
        </p:nvSpPr>
        <p:spPr>
          <a:xfrm>
            <a:off x="489204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137</a:t>
            </a:r>
            <a:endParaRPr lang="en-US" sz="4800"/>
          </a:p>
        </p:txBody>
      </p:sp>
      <p:sp>
        <p:nvSpPr>
          <p:cNvPr id="16" name="Text 13"/>
          <p:cNvSpPr/>
          <p:nvPr/>
        </p:nvSpPr>
        <p:spPr>
          <a:xfrm>
            <a:off x="6583680" y="2057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misclassified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test</a:t>
            </a:r>
            <a:endParaRPr lang="en-US" sz="1100"/>
          </a:p>
        </p:txBody>
      </p:sp>
      <p:sp>
        <p:nvSpPr>
          <p:cNvPr id="17" name="Shape 14"/>
          <p:cNvSpPr/>
          <p:nvPr/>
        </p:nvSpPr>
        <p:spPr>
          <a:xfrm>
            <a:off x="8503920" y="1554480"/>
            <a:ext cx="3108960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50392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FEWER ERRORS</a:t>
            </a:r>
            <a:endParaRPr lang="en-US" sz="900"/>
          </a:p>
        </p:txBody>
      </p:sp>
      <p:sp>
        <p:nvSpPr>
          <p:cNvPr id="19" name="Text 16"/>
          <p:cNvSpPr/>
          <p:nvPr/>
        </p:nvSpPr>
        <p:spPr>
          <a:xfrm>
            <a:off x="8503920" y="1920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−83</a:t>
            </a:r>
            <a:endParaRPr lang="en-US" sz="4800"/>
          </a:p>
        </p:txBody>
      </p:sp>
      <p:sp>
        <p:nvSpPr>
          <p:cNvPr id="20" name="Text 17"/>
          <p:cNvSpPr/>
          <p:nvPr/>
        </p:nvSpPr>
        <p:spPr>
          <a:xfrm>
            <a:off x="8503920" y="25146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attention helps</a:t>
            </a:r>
            <a:endParaRPr lang="en-US" sz="900"/>
          </a:p>
        </p:txBody>
      </p:sp>
      <p:sp>
        <p:nvSpPr>
          <p:cNvPr id="21" name="Shape 18"/>
          <p:cNvSpPr/>
          <p:nvPr/>
        </p:nvSpPr>
        <p:spPr>
          <a:xfrm>
            <a:off x="548640" y="3017520"/>
            <a:ext cx="11091672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8580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</a:t>
            </a:r>
            <a:endParaRPr lang="en-US" sz="900"/>
          </a:p>
        </p:txBody>
      </p:sp>
      <p:sp>
        <p:nvSpPr>
          <p:cNvPr id="23" name="Text 20"/>
          <p:cNvSpPr/>
          <p:nvPr/>
        </p:nvSpPr>
        <p:spPr>
          <a:xfrm>
            <a:off x="288036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/>
          </a:p>
        </p:txBody>
      </p:sp>
      <p:sp>
        <p:nvSpPr>
          <p:cNvPr id="24" name="Text 21"/>
          <p:cNvSpPr/>
          <p:nvPr/>
        </p:nvSpPr>
        <p:spPr>
          <a:xfrm>
            <a:off x="699516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MODELS</a:t>
            </a:r>
            <a:endParaRPr lang="en-US" sz="900"/>
          </a:p>
        </p:txBody>
      </p:sp>
      <p:sp>
        <p:nvSpPr>
          <p:cNvPr id="25" name="Text 22"/>
          <p:cNvSpPr/>
          <p:nvPr/>
        </p:nvSpPr>
        <p:spPr>
          <a:xfrm>
            <a:off x="9372600" y="301752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900"/>
          </a:p>
        </p:txBody>
      </p:sp>
      <p:sp>
        <p:nvSpPr>
          <p:cNvPr id="26" name="Shape 23"/>
          <p:cNvSpPr/>
          <p:nvPr/>
        </p:nvSpPr>
        <p:spPr>
          <a:xfrm>
            <a:off x="548640" y="3383280"/>
            <a:ext cx="110916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85800" y="3584448"/>
            <a:ext cx="192024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85800" y="35844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</a:t>
            </a:r>
            <a:endParaRPr lang="en-US" sz="900"/>
          </a:p>
        </p:txBody>
      </p:sp>
      <p:sp>
        <p:nvSpPr>
          <p:cNvPr id="29" name="Text 26"/>
          <p:cNvSpPr/>
          <p:nvPr/>
        </p:nvSpPr>
        <p:spPr>
          <a:xfrm>
            <a:off x="2880360" y="33832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"not bad at all"</a:t>
            </a:r>
            <a:endParaRPr lang="en-US" sz="1200"/>
          </a:p>
        </p:txBody>
      </p:sp>
      <p:sp>
        <p:nvSpPr>
          <p:cNvPr id="30" name="Text 27"/>
          <p:cNvSpPr/>
          <p:nvPr/>
        </p:nvSpPr>
        <p:spPr>
          <a:xfrm>
            <a:off x="6995160" y="34930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Negative ✗</a:t>
            </a:r>
            <a:endParaRPr lang="en-US" sz="1100"/>
          </a:p>
        </p:txBody>
      </p:sp>
      <p:sp>
        <p:nvSpPr>
          <p:cNvPr id="31" name="Text 28"/>
          <p:cNvSpPr/>
          <p:nvPr/>
        </p:nvSpPr>
        <p:spPr>
          <a:xfrm>
            <a:off x="9372600" y="34930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Positive ✓</a:t>
            </a:r>
            <a:endParaRPr lang="en-US" sz="1100"/>
          </a:p>
        </p:txBody>
      </p:sp>
      <p:sp>
        <p:nvSpPr>
          <p:cNvPr id="32" name="Text 29"/>
          <p:cNvSpPr/>
          <p:nvPr/>
        </p:nvSpPr>
        <p:spPr>
          <a:xfrm>
            <a:off x="9372600" y="379476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attention</a:t>
            </a:r>
            <a:endParaRPr lang="en-US" sz="900"/>
          </a:p>
        </p:txBody>
      </p:sp>
      <p:sp>
        <p:nvSpPr>
          <p:cNvPr id="33" name="Shape 30"/>
          <p:cNvSpPr/>
          <p:nvPr/>
        </p:nvSpPr>
        <p:spPr>
          <a:xfrm>
            <a:off x="548640" y="4160520"/>
            <a:ext cx="11091672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685800" y="4361688"/>
            <a:ext cx="192024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85800" y="43616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SARCASM</a:t>
            </a:r>
            <a:endParaRPr lang="en-US" sz="900"/>
          </a:p>
        </p:txBody>
      </p:sp>
      <p:sp>
        <p:nvSpPr>
          <p:cNvPr id="36" name="Text 33"/>
          <p:cNvSpPr/>
          <p:nvPr/>
        </p:nvSpPr>
        <p:spPr>
          <a:xfrm>
            <a:off x="2880360" y="41605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"Oh great, stopped working after a week"</a:t>
            </a:r>
            <a:endParaRPr lang="en-US" sz="1200"/>
          </a:p>
        </p:txBody>
      </p:sp>
      <p:sp>
        <p:nvSpPr>
          <p:cNvPr id="37" name="Text 34"/>
          <p:cNvSpPr/>
          <p:nvPr/>
        </p:nvSpPr>
        <p:spPr>
          <a:xfrm>
            <a:off x="6995160" y="42702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~52% confidence ⚠</a:t>
            </a:r>
            <a:endParaRPr lang="en-US" sz="1100"/>
          </a:p>
        </p:txBody>
      </p:sp>
      <p:sp>
        <p:nvSpPr>
          <p:cNvPr id="38" name="Text 35"/>
          <p:cNvSpPr/>
          <p:nvPr/>
        </p:nvSpPr>
        <p:spPr>
          <a:xfrm>
            <a:off x="9372600" y="427024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uncertain ⚠</a:t>
            </a:r>
            <a:endParaRPr lang="en-US" sz="1100"/>
          </a:p>
        </p:txBody>
      </p:sp>
      <p:sp>
        <p:nvSpPr>
          <p:cNvPr id="39" name="Text 36"/>
          <p:cNvSpPr/>
          <p:nvPr/>
        </p:nvSpPr>
        <p:spPr>
          <a:xfrm>
            <a:off x="9372600" y="457200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Irony absent in labels</a:t>
            </a:r>
            <a:endParaRPr lang="en-US" sz="900"/>
          </a:p>
        </p:txBody>
      </p:sp>
      <p:sp>
        <p:nvSpPr>
          <p:cNvPr id="40" name="Shape 37"/>
          <p:cNvSpPr/>
          <p:nvPr/>
        </p:nvSpPr>
        <p:spPr>
          <a:xfrm>
            <a:off x="548640" y="4937760"/>
            <a:ext cx="110916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685800" y="5138928"/>
            <a:ext cx="192024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685800" y="51389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OUT-OF-DISTRIBUTION</a:t>
            </a:r>
            <a:endParaRPr lang="en-US" sz="900"/>
          </a:p>
        </p:txBody>
      </p:sp>
      <p:sp>
        <p:nvSpPr>
          <p:cNvPr id="43" name="Text 40"/>
          <p:cNvSpPr/>
          <p:nvPr/>
        </p:nvSpPr>
        <p:spPr>
          <a:xfrm>
            <a:off x="2880360" y="49377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"Delivery was slow, box crushed"</a:t>
            </a:r>
            <a:endParaRPr lang="en-US" sz="1200"/>
          </a:p>
        </p:txBody>
      </p:sp>
      <p:sp>
        <p:nvSpPr>
          <p:cNvPr id="44" name="Text 41"/>
          <p:cNvSpPr/>
          <p:nvPr/>
        </p:nvSpPr>
        <p:spPr>
          <a:xfrm>
            <a:off x="6995160" y="50474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shift errors ✗</a:t>
            </a:r>
            <a:endParaRPr lang="en-US" sz="1100"/>
          </a:p>
        </p:txBody>
      </p:sp>
      <p:sp>
        <p:nvSpPr>
          <p:cNvPr id="45" name="Text 42"/>
          <p:cNvSpPr/>
          <p:nvPr/>
        </p:nvSpPr>
        <p:spPr>
          <a:xfrm>
            <a:off x="9372600" y="504748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Reduced, not solved ⚠</a:t>
            </a:r>
            <a:endParaRPr lang="en-US" sz="1100"/>
          </a:p>
        </p:txBody>
      </p:sp>
      <p:sp>
        <p:nvSpPr>
          <p:cNvPr id="46" name="Text 43"/>
          <p:cNvSpPr/>
          <p:nvPr/>
        </p:nvSpPr>
        <p:spPr>
          <a:xfrm>
            <a:off x="9372600" y="534924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 helps partially</a:t>
            </a:r>
            <a:endParaRPr lang="en-US" sz="900"/>
          </a:p>
        </p:txBody>
      </p:sp>
      <p:sp>
        <p:nvSpPr>
          <p:cNvPr id="47" name="Shape 44"/>
          <p:cNvSpPr/>
          <p:nvPr/>
        </p:nvSpPr>
        <p:spPr>
          <a:xfrm>
            <a:off x="548640" y="5852160"/>
            <a:ext cx="11091672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731520" y="58521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NOTE  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is overconfident on short inputs; TF-IDF is best-calibrated near the boundary; DistilBERT is best overall but still confidently wrong on sarcasm.</a:t>
            </a:r>
            <a:endParaRPr lang="en-US" sz="900"/>
          </a:p>
        </p:txBody>
      </p:sp>
      <p:sp>
        <p:nvSpPr>
          <p:cNvPr id="49" name="Shape 46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Victor Meneses  ·  ISY503 · Assessment 3 · ReviewPulse v2.0.0</a:t>
            </a:r>
            <a:endParaRPr lang="en-US" sz="90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8073D69A-71BC-4367-4A41-9D4BD8204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5142" y="-99454"/>
            <a:ext cx="1296338" cy="864225"/>
          </a:xfrm>
          <a:prstGeom prst="rect">
            <a:avLst/>
          </a:prstGeom>
        </p:spPr>
      </p:pic>
      <p:pic>
        <p:nvPicPr>
          <p:cNvPr id="52" name="Picture 2" descr="Torrens University Australia - Wikipedia">
            <a:extLst>
              <a:ext uri="{FF2B5EF4-FFF2-40B4-BE49-F238E27FC236}">
                <a16:creationId xmlns:a16="http://schemas.microsoft.com/office/drawing/2014/main" id="{C00328BE-A3BC-2531-A791-66C5B8D23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5097" y="6245615"/>
            <a:ext cx="398246" cy="39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 · all three models · side-by-side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10908792" y="411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9436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94360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85800" y="1691640"/>
            <a:ext cx="137160" cy="1371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86968" y="1691640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88136" y="1691640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417320" y="16184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localhost:8501  ·  ReviewPulse</a:t>
            </a:r>
            <a:endParaRPr lang="en-US" sz="1000"/>
          </a:p>
        </p:txBody>
      </p:sp>
      <p:sp>
        <p:nvSpPr>
          <p:cNvPr id="12" name="Text 9"/>
          <p:cNvSpPr/>
          <p:nvPr/>
        </p:nvSpPr>
        <p:spPr>
          <a:xfrm>
            <a:off x="822960" y="21031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r>
              <a:rPr lang="en-US" sz="2200" b="1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2200"/>
          </a:p>
        </p:txBody>
      </p:sp>
      <p:sp>
        <p:nvSpPr>
          <p:cNvPr id="13" name="Text 10"/>
          <p:cNvSpPr/>
          <p:nvPr/>
        </p:nvSpPr>
        <p:spPr>
          <a:xfrm>
            <a:off x="822960" y="24688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Classifier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82296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100"/>
          </a:p>
        </p:txBody>
      </p:sp>
      <p:sp>
        <p:nvSpPr>
          <p:cNvPr id="15" name="Shape 12"/>
          <p:cNvSpPr/>
          <p:nvPr/>
        </p:nvSpPr>
        <p:spPr>
          <a:xfrm>
            <a:off x="1645920" y="28803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645920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000"/>
          </a:p>
        </p:txBody>
      </p:sp>
      <p:sp>
        <p:nvSpPr>
          <p:cNvPr id="17" name="Shape 14"/>
          <p:cNvSpPr/>
          <p:nvPr/>
        </p:nvSpPr>
        <p:spPr>
          <a:xfrm>
            <a:off x="3108960" y="28803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108960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1000"/>
          </a:p>
        </p:txBody>
      </p:sp>
      <p:sp>
        <p:nvSpPr>
          <p:cNvPr id="19" name="Shape 16"/>
          <p:cNvSpPr/>
          <p:nvPr/>
        </p:nvSpPr>
        <p:spPr>
          <a:xfrm>
            <a:off x="4572000" y="2880360"/>
            <a:ext cx="137160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572000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1000"/>
          </a:p>
        </p:txBody>
      </p:sp>
      <p:sp>
        <p:nvSpPr>
          <p:cNvPr id="21" name="Shape 18"/>
          <p:cNvSpPr/>
          <p:nvPr/>
        </p:nvSpPr>
        <p:spPr>
          <a:xfrm>
            <a:off x="822960" y="338328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60120" y="33832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is not bad at all — actually pretty solid value."</a:t>
            </a:r>
            <a:endParaRPr lang="en-US" sz="1300"/>
          </a:p>
        </p:txBody>
      </p:sp>
      <p:sp>
        <p:nvSpPr>
          <p:cNvPr id="23" name="Shape 20"/>
          <p:cNvSpPr/>
          <p:nvPr/>
        </p:nvSpPr>
        <p:spPr>
          <a:xfrm>
            <a:off x="822960" y="4480560"/>
            <a:ext cx="539496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005840" y="4617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00"/>
          </a:p>
        </p:txBody>
      </p:sp>
      <p:sp>
        <p:nvSpPr>
          <p:cNvPr id="25" name="Text 22"/>
          <p:cNvSpPr/>
          <p:nvPr/>
        </p:nvSpPr>
        <p:spPr>
          <a:xfrm>
            <a:off x="1005840" y="4892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Positive</a:t>
            </a:r>
            <a:endParaRPr lang="en-US" sz="3200"/>
          </a:p>
        </p:txBody>
      </p:sp>
      <p:sp>
        <p:nvSpPr>
          <p:cNvPr id="26" name="Text 23"/>
          <p:cNvSpPr/>
          <p:nvPr/>
        </p:nvSpPr>
        <p:spPr>
          <a:xfrm>
            <a:off x="4206240" y="4892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91.4%</a:t>
            </a:r>
            <a:endParaRPr lang="en-US" sz="3200"/>
          </a:p>
        </p:txBody>
      </p:sp>
      <p:sp>
        <p:nvSpPr>
          <p:cNvPr id="27" name="Text 24"/>
          <p:cNvSpPr/>
          <p:nvPr/>
        </p:nvSpPr>
        <p:spPr>
          <a:xfrm>
            <a:off x="4206240" y="5486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00"/>
          </a:p>
        </p:txBody>
      </p:sp>
      <p:sp>
        <p:nvSpPr>
          <p:cNvPr id="28" name="Text 25"/>
          <p:cNvSpPr/>
          <p:nvPr/>
        </p:nvSpPr>
        <p:spPr>
          <a:xfrm>
            <a:off x="6858000" y="1554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SCRIPT</a:t>
            </a:r>
            <a:endParaRPr lang="en-US" sz="1000"/>
          </a:p>
        </p:txBody>
      </p:sp>
      <p:sp>
        <p:nvSpPr>
          <p:cNvPr id="29" name="Shape 26"/>
          <p:cNvSpPr/>
          <p:nvPr/>
        </p:nvSpPr>
        <p:spPr>
          <a:xfrm>
            <a:off x="6858000" y="192024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85800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/>
          </a:p>
        </p:txBody>
      </p:sp>
      <p:sp>
        <p:nvSpPr>
          <p:cNvPr id="31" name="Text 28"/>
          <p:cNvSpPr/>
          <p:nvPr/>
        </p:nvSpPr>
        <p:spPr>
          <a:xfrm>
            <a:off x="736092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positive</a:t>
            </a:r>
            <a:endParaRPr lang="en-US" sz="1200"/>
          </a:p>
        </p:txBody>
      </p:sp>
      <p:sp>
        <p:nvSpPr>
          <p:cNvPr id="32" name="Text 29"/>
          <p:cNvSpPr/>
          <p:nvPr/>
        </p:nvSpPr>
        <p:spPr>
          <a:xfrm>
            <a:off x="7360920" y="21305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blender is incredible..."</a:t>
            </a:r>
            <a:endParaRPr lang="en-US" sz="1100"/>
          </a:p>
        </p:txBody>
      </p:sp>
      <p:sp>
        <p:nvSpPr>
          <p:cNvPr id="33" name="Text 30"/>
          <p:cNvSpPr/>
          <p:nvPr/>
        </p:nvSpPr>
        <p:spPr>
          <a:xfrm>
            <a:off x="7360920" y="2377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Positive ~98%</a:t>
            </a:r>
            <a:endParaRPr lang="en-US" sz="1000"/>
          </a:p>
        </p:txBody>
      </p:sp>
      <p:sp>
        <p:nvSpPr>
          <p:cNvPr id="34" name="Shape 31"/>
          <p:cNvSpPr/>
          <p:nvPr/>
        </p:nvSpPr>
        <p:spPr>
          <a:xfrm>
            <a:off x="6858000" y="2697480"/>
            <a:ext cx="365760" cy="365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85800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/>
          </a:p>
        </p:txBody>
      </p:sp>
      <p:sp>
        <p:nvSpPr>
          <p:cNvPr id="36" name="Text 33"/>
          <p:cNvSpPr/>
          <p:nvPr/>
        </p:nvSpPr>
        <p:spPr>
          <a:xfrm>
            <a:off x="736092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negative</a:t>
            </a:r>
            <a:endParaRPr lang="en-US" sz="1200"/>
          </a:p>
        </p:txBody>
      </p:sp>
      <p:sp>
        <p:nvSpPr>
          <p:cNvPr id="37" name="Text 34"/>
          <p:cNvSpPr/>
          <p:nvPr/>
        </p:nvSpPr>
        <p:spPr>
          <a:xfrm>
            <a:off x="7360920" y="2907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"Broke after two days..."</a:t>
            </a:r>
            <a:endParaRPr lang="en-US" sz="1100"/>
          </a:p>
        </p:txBody>
      </p:sp>
      <p:sp>
        <p:nvSpPr>
          <p:cNvPr id="38" name="Text 35"/>
          <p:cNvSpPr/>
          <p:nvPr/>
        </p:nvSpPr>
        <p:spPr>
          <a:xfrm>
            <a:off x="7360920" y="3154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Negative ~99%</a:t>
            </a:r>
            <a:endParaRPr lang="en-US" sz="1000"/>
          </a:p>
        </p:txBody>
      </p:sp>
      <p:sp>
        <p:nvSpPr>
          <p:cNvPr id="39" name="Shape 36"/>
          <p:cNvSpPr/>
          <p:nvPr/>
        </p:nvSpPr>
        <p:spPr>
          <a:xfrm>
            <a:off x="6858000" y="347472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85800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/>
          </a:p>
        </p:txBody>
      </p:sp>
      <p:sp>
        <p:nvSpPr>
          <p:cNvPr id="41" name="Text 38"/>
          <p:cNvSpPr/>
          <p:nvPr/>
        </p:nvSpPr>
        <p:spPr>
          <a:xfrm>
            <a:off x="736092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trap</a:t>
            </a:r>
            <a:endParaRPr lang="en-US" sz="1200"/>
          </a:p>
        </p:txBody>
      </p:sp>
      <p:sp>
        <p:nvSpPr>
          <p:cNvPr id="42" name="Text 39"/>
          <p:cNvSpPr/>
          <p:nvPr/>
        </p:nvSpPr>
        <p:spPr>
          <a:xfrm>
            <a:off x="7360920" y="3685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"Not bad at all"</a:t>
            </a:r>
            <a:endParaRPr lang="en-US" sz="1100"/>
          </a:p>
        </p:txBody>
      </p:sp>
      <p:sp>
        <p:nvSpPr>
          <p:cNvPr id="43" name="Text 40"/>
          <p:cNvSpPr/>
          <p:nvPr/>
        </p:nvSpPr>
        <p:spPr>
          <a:xfrm>
            <a:off x="7360920" y="3931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v1 fails · DistilBERT wins</a:t>
            </a:r>
            <a:endParaRPr lang="en-US" sz="1000"/>
          </a:p>
        </p:txBody>
      </p:sp>
      <p:sp>
        <p:nvSpPr>
          <p:cNvPr id="44" name="Shape 41"/>
          <p:cNvSpPr/>
          <p:nvPr/>
        </p:nvSpPr>
        <p:spPr>
          <a:xfrm>
            <a:off x="6858000" y="4251960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685800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/>
          </a:p>
        </p:txBody>
      </p:sp>
      <p:sp>
        <p:nvSpPr>
          <p:cNvPr id="46" name="Text 43"/>
          <p:cNvSpPr/>
          <p:nvPr/>
        </p:nvSpPr>
        <p:spPr>
          <a:xfrm>
            <a:off x="736092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Sarcasm</a:t>
            </a:r>
            <a:endParaRPr lang="en-US" sz="1200"/>
          </a:p>
        </p:txBody>
      </p:sp>
      <p:sp>
        <p:nvSpPr>
          <p:cNvPr id="47" name="Text 44"/>
          <p:cNvSpPr/>
          <p:nvPr/>
        </p:nvSpPr>
        <p:spPr>
          <a:xfrm>
            <a:off x="7360920" y="4462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"Oh great, broken again"</a:t>
            </a:r>
            <a:endParaRPr lang="en-US" sz="1100"/>
          </a:p>
        </p:txBody>
      </p:sp>
      <p:sp>
        <p:nvSpPr>
          <p:cNvPr id="48" name="Text 45"/>
          <p:cNvSpPr/>
          <p:nvPr/>
        </p:nvSpPr>
        <p:spPr>
          <a:xfrm>
            <a:off x="7360920" y="4709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~52% confidence</a:t>
            </a:r>
            <a:endParaRPr lang="en-US" sz="1000"/>
          </a:p>
        </p:txBody>
      </p:sp>
      <p:sp>
        <p:nvSpPr>
          <p:cNvPr id="49" name="Shape 46"/>
          <p:cNvSpPr/>
          <p:nvPr/>
        </p:nvSpPr>
        <p:spPr>
          <a:xfrm>
            <a:off x="6858000" y="5029200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6858000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/>
          </a:p>
        </p:txBody>
      </p:sp>
      <p:sp>
        <p:nvSpPr>
          <p:cNvPr id="51" name="Text 48"/>
          <p:cNvSpPr/>
          <p:nvPr/>
        </p:nvSpPr>
        <p:spPr>
          <a:xfrm>
            <a:off x="736092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button</a:t>
            </a:r>
            <a:endParaRPr lang="en-US" sz="1200"/>
          </a:p>
        </p:txBody>
      </p:sp>
      <p:sp>
        <p:nvSpPr>
          <p:cNvPr id="52" name="Text 49"/>
          <p:cNvSpPr/>
          <p:nvPr/>
        </p:nvSpPr>
        <p:spPr>
          <a:xfrm>
            <a:off x="7360920" y="5239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sample from acceptance tests</a:t>
            </a:r>
            <a:endParaRPr lang="en-US" sz="1100"/>
          </a:p>
        </p:txBody>
      </p:sp>
      <p:sp>
        <p:nvSpPr>
          <p:cNvPr id="53" name="Text 50"/>
          <p:cNvSpPr/>
          <p:nvPr/>
        </p:nvSpPr>
        <p:spPr>
          <a:xfrm>
            <a:off x="7360920" y="54864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live demonstration</a:t>
            </a:r>
            <a:endParaRPr lang="en-US" sz="1000"/>
          </a:p>
        </p:txBody>
      </p:sp>
      <p:sp>
        <p:nvSpPr>
          <p:cNvPr id="54" name="Shape 51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Samiran Shrestha  ·  ISY503 · Assessment 3 · ReviewPulse v2.0.0</a:t>
            </a:r>
            <a:endParaRPr lang="en-US" sz="90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2C4D454E-055F-5BAC-B1E8-E58604D58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5142" y="-99454"/>
            <a:ext cx="1296338" cy="864225"/>
          </a:xfrm>
          <a:prstGeom prst="rect">
            <a:avLst/>
          </a:prstGeom>
        </p:spPr>
      </p:pic>
      <p:pic>
        <p:nvPicPr>
          <p:cNvPr id="57" name="Picture 2" descr="Torrens University Australia - Wikipedia">
            <a:extLst>
              <a:ext uri="{FF2B5EF4-FFF2-40B4-BE49-F238E27FC236}">
                <a16:creationId xmlns:a16="http://schemas.microsoft.com/office/drawing/2014/main" id="{DAC9CDD6-737B-2D5B-9E9E-F82F8FEE1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5097" y="6245615"/>
            <a:ext cx="398246" cy="39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LIMITATIONS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audited, and what we did not solve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10908792" y="411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is not an afterthought. We document each concern explicitly so any deployment requires informed human oversight.</a:t>
            </a:r>
            <a:endParaRPr lang="en-US" sz="130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36576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36576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77240" y="22402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/>
          </a:p>
        </p:txBody>
      </p:sp>
      <p:sp>
        <p:nvSpPr>
          <p:cNvPr id="11" name="Text 8"/>
          <p:cNvSpPr/>
          <p:nvPr/>
        </p:nvSpPr>
        <p:spPr>
          <a:xfrm>
            <a:off x="292608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0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</a:t>
            </a:r>
            <a:endParaRPr lang="en-US" sz="800"/>
          </a:p>
        </p:txBody>
      </p:sp>
      <p:sp>
        <p:nvSpPr>
          <p:cNvPr id="12" name="Text 9"/>
          <p:cNvSpPr/>
          <p:nvPr/>
        </p:nvSpPr>
        <p:spPr>
          <a:xfrm>
            <a:off x="13258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 quality</a:t>
            </a:r>
            <a:endParaRPr lang="en-US" sz="1500"/>
          </a:p>
        </p:txBody>
      </p:sp>
      <p:sp>
        <p:nvSpPr>
          <p:cNvPr id="13" name="Text 10"/>
          <p:cNvSpPr/>
          <p:nvPr/>
        </p:nvSpPr>
        <p:spPr>
          <a:xfrm>
            <a:off x="777240" y="28803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from filenames, not human raters. Audited explicitly — zero ambiguous rows, zero conflicts.</a:t>
            </a:r>
            <a:endParaRPr lang="en-US" sz="1100"/>
          </a:p>
        </p:txBody>
      </p:sp>
      <p:sp>
        <p:nvSpPr>
          <p:cNvPr id="14" name="Shape 11"/>
          <p:cNvSpPr/>
          <p:nvPr/>
        </p:nvSpPr>
        <p:spPr>
          <a:xfrm>
            <a:off x="4343400" y="2011680"/>
            <a:ext cx="36576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343400" y="2011680"/>
            <a:ext cx="3657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0" y="22402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▲</a:t>
            </a:r>
            <a:endParaRPr lang="en-US" sz="1600"/>
          </a:p>
        </p:txBody>
      </p:sp>
      <p:sp>
        <p:nvSpPr>
          <p:cNvPr id="18" name="Text 15"/>
          <p:cNvSpPr/>
          <p:nvPr/>
        </p:nvSpPr>
        <p:spPr>
          <a:xfrm>
            <a:off x="672084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0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</a:t>
            </a:r>
            <a:endParaRPr lang="en-US" sz="800"/>
          </a:p>
        </p:txBody>
      </p:sp>
      <p:sp>
        <p:nvSpPr>
          <p:cNvPr id="19" name="Text 16"/>
          <p:cNvSpPr/>
          <p:nvPr/>
        </p:nvSpPr>
        <p:spPr>
          <a:xfrm>
            <a:off x="512064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bias</a:t>
            </a:r>
            <a:endParaRPr lang="en-US" sz="1500"/>
          </a:p>
        </p:txBody>
      </p:sp>
      <p:sp>
        <p:nvSpPr>
          <p:cNvPr id="20" name="Text 17"/>
          <p:cNvSpPr/>
          <p:nvPr/>
        </p:nvSpPr>
        <p:spPr>
          <a:xfrm>
            <a:off x="4572000" y="28803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product categories only. Generalisation to other domains is untested.</a:t>
            </a:r>
            <a:endParaRPr lang="en-US" sz="1100"/>
          </a:p>
        </p:txBody>
      </p:sp>
      <p:sp>
        <p:nvSpPr>
          <p:cNvPr id="21" name="Shape 18"/>
          <p:cNvSpPr/>
          <p:nvPr/>
        </p:nvSpPr>
        <p:spPr>
          <a:xfrm>
            <a:off x="8138160" y="2011680"/>
            <a:ext cx="36576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138160" y="2011680"/>
            <a:ext cx="36576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366760" y="224028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3667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</a:t>
            </a:r>
            <a:endParaRPr lang="en-US" sz="1600"/>
          </a:p>
        </p:txBody>
      </p:sp>
      <p:sp>
        <p:nvSpPr>
          <p:cNvPr id="25" name="Text 22"/>
          <p:cNvSpPr/>
          <p:nvPr/>
        </p:nvSpPr>
        <p:spPr>
          <a:xfrm>
            <a:off x="1051560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0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00"/>
          </a:p>
        </p:txBody>
      </p:sp>
      <p:sp>
        <p:nvSpPr>
          <p:cNvPr id="26" name="Text 23"/>
          <p:cNvSpPr/>
          <p:nvPr/>
        </p:nvSpPr>
        <p:spPr>
          <a:xfrm>
            <a:off x="891540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Negation &amp; sarcasm</a:t>
            </a:r>
            <a:endParaRPr lang="en-US" sz="1500"/>
          </a:p>
        </p:txBody>
      </p:sp>
      <p:sp>
        <p:nvSpPr>
          <p:cNvPr id="27" name="Text 24"/>
          <p:cNvSpPr/>
          <p:nvPr/>
        </p:nvSpPr>
        <p:spPr>
          <a:xfrm>
            <a:off x="8366760" y="28803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failure mode in v1 models. DistilBERT improves but does not solve.</a:t>
            </a:r>
            <a:endParaRPr lang="en-US" sz="1100"/>
          </a:p>
        </p:txBody>
      </p:sp>
      <p:sp>
        <p:nvSpPr>
          <p:cNvPr id="28" name="Shape 25"/>
          <p:cNvSpPr/>
          <p:nvPr/>
        </p:nvSpPr>
        <p:spPr>
          <a:xfrm>
            <a:off x="548640" y="4114800"/>
            <a:ext cx="36576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48640" y="4114800"/>
            <a:ext cx="3657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777240" y="43434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772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%</a:t>
            </a:r>
            <a:endParaRPr lang="en-US" sz="1600"/>
          </a:p>
        </p:txBody>
      </p:sp>
      <p:sp>
        <p:nvSpPr>
          <p:cNvPr id="32" name="Text 29"/>
          <p:cNvSpPr/>
          <p:nvPr/>
        </p:nvSpPr>
        <p:spPr>
          <a:xfrm>
            <a:off x="2926080" y="4389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0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00"/>
          </a:p>
        </p:txBody>
      </p:sp>
      <p:sp>
        <p:nvSpPr>
          <p:cNvPr id="33" name="Text 30"/>
          <p:cNvSpPr/>
          <p:nvPr/>
        </p:nvSpPr>
        <p:spPr>
          <a:xfrm>
            <a:off x="1325880" y="4389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 calibration</a:t>
            </a:r>
            <a:endParaRPr lang="en-US" sz="1500"/>
          </a:p>
        </p:txBody>
      </p:sp>
      <p:sp>
        <p:nvSpPr>
          <p:cNvPr id="34" name="Text 31"/>
          <p:cNvSpPr/>
          <p:nvPr/>
        </p:nvSpPr>
        <p:spPr>
          <a:xfrm>
            <a:off x="777240" y="49834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and DistilBERT logits are uncalibrated. 95% confidence ≠ 95% accuracy.</a:t>
            </a:r>
            <a:endParaRPr lang="en-US" sz="1100"/>
          </a:p>
        </p:txBody>
      </p:sp>
      <p:sp>
        <p:nvSpPr>
          <p:cNvPr id="35" name="Shape 32"/>
          <p:cNvSpPr/>
          <p:nvPr/>
        </p:nvSpPr>
        <p:spPr>
          <a:xfrm>
            <a:off x="4343400" y="4114800"/>
            <a:ext cx="36576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4343400" y="4114800"/>
            <a:ext cx="3657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4572000" y="43434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57200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⏳</a:t>
            </a:r>
            <a:endParaRPr lang="en-US" sz="1600"/>
          </a:p>
        </p:txBody>
      </p:sp>
      <p:sp>
        <p:nvSpPr>
          <p:cNvPr id="39" name="Text 36"/>
          <p:cNvSpPr/>
          <p:nvPr/>
        </p:nvSpPr>
        <p:spPr>
          <a:xfrm>
            <a:off x="6720840" y="4389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0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</a:t>
            </a:r>
            <a:endParaRPr lang="en-US" sz="800"/>
          </a:p>
        </p:txBody>
      </p:sp>
      <p:sp>
        <p:nvSpPr>
          <p:cNvPr id="40" name="Text 37"/>
          <p:cNvSpPr/>
          <p:nvPr/>
        </p:nvSpPr>
        <p:spPr>
          <a:xfrm>
            <a:off x="5120640" y="4389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age</a:t>
            </a:r>
            <a:endParaRPr lang="en-US" sz="1500"/>
          </a:p>
        </p:txBody>
      </p:sp>
      <p:sp>
        <p:nvSpPr>
          <p:cNvPr id="41" name="Text 38"/>
          <p:cNvSpPr/>
          <p:nvPr/>
        </p:nvSpPr>
        <p:spPr>
          <a:xfrm>
            <a:off x="4572000" y="49834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Blitzer et al. 2007 — ~20-year-old reviews. Modern slang, emoji, platform conventions absent.</a:t>
            </a:r>
            <a:endParaRPr lang="en-US" sz="1100"/>
          </a:p>
        </p:txBody>
      </p:sp>
      <p:sp>
        <p:nvSpPr>
          <p:cNvPr id="42" name="Shape 39"/>
          <p:cNvSpPr/>
          <p:nvPr/>
        </p:nvSpPr>
        <p:spPr>
          <a:xfrm>
            <a:off x="8138160" y="4114800"/>
            <a:ext cx="36576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8138160" y="4114800"/>
            <a:ext cx="36576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8366760" y="43434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836676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1600"/>
          </a:p>
        </p:txBody>
      </p:sp>
      <p:sp>
        <p:nvSpPr>
          <p:cNvPr id="46" name="Text 43"/>
          <p:cNvSpPr/>
          <p:nvPr/>
        </p:nvSpPr>
        <p:spPr>
          <a:xfrm>
            <a:off x="10515600" y="4389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0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00"/>
          </a:p>
        </p:txBody>
      </p:sp>
      <p:sp>
        <p:nvSpPr>
          <p:cNvPr id="47" name="Text 44"/>
          <p:cNvSpPr/>
          <p:nvPr/>
        </p:nvSpPr>
        <p:spPr>
          <a:xfrm>
            <a:off x="8915400" y="4389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risk</a:t>
            </a:r>
            <a:endParaRPr lang="en-US" sz="1500"/>
          </a:p>
        </p:txBody>
      </p:sp>
      <p:sp>
        <p:nvSpPr>
          <p:cNvPr id="48" name="Text 45"/>
          <p:cNvSpPr/>
          <p:nvPr/>
        </p:nvSpPr>
        <p:spPr>
          <a:xfrm>
            <a:off x="8366760" y="49834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only. Not for high-stakes decisions without human review and ongoing label audits.</a:t>
            </a:r>
            <a:endParaRPr lang="en-US" sz="1100"/>
          </a:p>
        </p:txBody>
      </p:sp>
      <p:sp>
        <p:nvSpPr>
          <p:cNvPr id="49" name="Shape 46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Victor Meneses  ·  ISY503 · Assessment 3 · ReviewPulse v2.0.0</a:t>
            </a:r>
            <a:endParaRPr lang="en-US" sz="90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1FAC6877-93AB-C65A-88D3-D019C1DC9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5142" y="-99454"/>
            <a:ext cx="1296338" cy="864225"/>
          </a:xfrm>
          <a:prstGeom prst="rect">
            <a:avLst/>
          </a:prstGeom>
        </p:spPr>
      </p:pic>
      <p:pic>
        <p:nvPicPr>
          <p:cNvPr id="52" name="Picture 2" descr="Torrens University Australia - Wikipedia">
            <a:extLst>
              <a:ext uri="{FF2B5EF4-FFF2-40B4-BE49-F238E27FC236}">
                <a16:creationId xmlns:a16="http://schemas.microsoft.com/office/drawing/2014/main" id="{896E91AF-D977-98C8-1C80-8B72B9297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5097" y="6245615"/>
            <a:ext cx="398246" cy="39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DistilBERT shipped — what comes next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10908792" y="411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7240" y="1755648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188720" y="15544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 </a:t>
            </a: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v2.0.0 — 88.6% test F1 — live in the app</a:t>
            </a:r>
            <a:endParaRPr lang="en-US" sz="100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26289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2697480"/>
            <a:ext cx="22631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600"/>
          </a:p>
        </p:txBody>
      </p:sp>
      <p:sp>
        <p:nvSpPr>
          <p:cNvPr id="11" name="Shape 8"/>
          <p:cNvSpPr/>
          <p:nvPr/>
        </p:nvSpPr>
        <p:spPr>
          <a:xfrm>
            <a:off x="1805940" y="2834640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805940" y="28346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00"/>
          </a:p>
        </p:txBody>
      </p:sp>
      <p:sp>
        <p:nvSpPr>
          <p:cNvPr id="13" name="Text 10"/>
          <p:cNvSpPr/>
          <p:nvPr/>
        </p:nvSpPr>
        <p:spPr>
          <a:xfrm>
            <a:off x="731520" y="3840480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RoBERTa</a:t>
            </a:r>
            <a:endParaRPr lang="en-US" sz="1800"/>
          </a:p>
        </p:txBody>
      </p:sp>
      <p:sp>
        <p:nvSpPr>
          <p:cNvPr id="14" name="Shape 11"/>
          <p:cNvSpPr/>
          <p:nvPr/>
        </p:nvSpPr>
        <p:spPr>
          <a:xfrm>
            <a:off x="731520" y="4343400"/>
            <a:ext cx="7315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31520" y="4480560"/>
            <a:ext cx="22631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pretrained transformer. Likely to push F1 beyond 90%.</a:t>
            </a:r>
            <a:endParaRPr lang="en-US" sz="1200"/>
          </a:p>
        </p:txBody>
      </p:sp>
      <p:sp>
        <p:nvSpPr>
          <p:cNvPr id="16" name="Shape 13"/>
          <p:cNvSpPr/>
          <p:nvPr/>
        </p:nvSpPr>
        <p:spPr>
          <a:xfrm>
            <a:off x="3360420" y="2468880"/>
            <a:ext cx="26289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543300" y="2697480"/>
            <a:ext cx="22631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600"/>
          </a:p>
        </p:txBody>
      </p:sp>
      <p:sp>
        <p:nvSpPr>
          <p:cNvPr id="18" name="Shape 15"/>
          <p:cNvSpPr/>
          <p:nvPr/>
        </p:nvSpPr>
        <p:spPr>
          <a:xfrm>
            <a:off x="4617720" y="2834640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617720" y="28346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/>
          </a:p>
        </p:txBody>
      </p:sp>
      <p:sp>
        <p:nvSpPr>
          <p:cNvPr id="20" name="Text 17"/>
          <p:cNvSpPr/>
          <p:nvPr/>
        </p:nvSpPr>
        <p:spPr>
          <a:xfrm>
            <a:off x="3543300" y="3840480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 calibration</a:t>
            </a:r>
            <a:endParaRPr lang="en-US" sz="1800"/>
          </a:p>
        </p:txBody>
      </p:sp>
      <p:sp>
        <p:nvSpPr>
          <p:cNvPr id="21" name="Shape 18"/>
          <p:cNvSpPr/>
          <p:nvPr/>
        </p:nvSpPr>
        <p:spPr>
          <a:xfrm>
            <a:off x="3543300" y="4343400"/>
            <a:ext cx="7315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543300" y="4480560"/>
            <a:ext cx="22631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scaling or temperature scaling. Most practically important — 95% confidence currently ≠ 95% accuracy.</a:t>
            </a:r>
            <a:endParaRPr lang="en-US" sz="1200"/>
          </a:p>
        </p:txBody>
      </p:sp>
      <p:sp>
        <p:nvSpPr>
          <p:cNvPr id="23" name="Shape 20"/>
          <p:cNvSpPr/>
          <p:nvPr/>
        </p:nvSpPr>
        <p:spPr>
          <a:xfrm>
            <a:off x="6172200" y="2468880"/>
            <a:ext cx="26289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355080" y="2697480"/>
            <a:ext cx="22631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600"/>
          </a:p>
        </p:txBody>
      </p:sp>
      <p:sp>
        <p:nvSpPr>
          <p:cNvPr id="25" name="Shape 22"/>
          <p:cNvSpPr/>
          <p:nvPr/>
        </p:nvSpPr>
        <p:spPr>
          <a:xfrm>
            <a:off x="7429500" y="2834640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429500" y="28346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800"/>
          </a:p>
        </p:txBody>
      </p:sp>
      <p:sp>
        <p:nvSpPr>
          <p:cNvPr id="27" name="Text 24"/>
          <p:cNvSpPr/>
          <p:nvPr/>
        </p:nvSpPr>
        <p:spPr>
          <a:xfrm>
            <a:off x="6355080" y="3840480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domains</a:t>
            </a:r>
            <a:endParaRPr lang="en-US" sz="1800"/>
          </a:p>
        </p:txBody>
      </p:sp>
      <p:sp>
        <p:nvSpPr>
          <p:cNvPr id="28" name="Shape 25"/>
          <p:cNvSpPr/>
          <p:nvPr/>
        </p:nvSpPr>
        <p:spPr>
          <a:xfrm>
            <a:off x="6355080" y="4343400"/>
            <a:ext cx="73152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355080" y="4480560"/>
            <a:ext cx="22631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Books · DVDs · Electronics · Kitchen to validate cross-domain generalisation.</a:t>
            </a:r>
            <a:endParaRPr lang="en-US" sz="1200"/>
          </a:p>
        </p:txBody>
      </p:sp>
      <p:sp>
        <p:nvSpPr>
          <p:cNvPr id="30" name="Shape 27"/>
          <p:cNvSpPr/>
          <p:nvPr/>
        </p:nvSpPr>
        <p:spPr>
          <a:xfrm>
            <a:off x="8983980" y="2468880"/>
            <a:ext cx="26289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9166860" y="2697480"/>
            <a:ext cx="22631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5600"/>
          </a:p>
        </p:txBody>
      </p:sp>
      <p:sp>
        <p:nvSpPr>
          <p:cNvPr id="32" name="Shape 29"/>
          <p:cNvSpPr/>
          <p:nvPr/>
        </p:nvSpPr>
        <p:spPr>
          <a:xfrm>
            <a:off x="10241280" y="2834640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10241280" y="28346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800"/>
          </a:p>
        </p:txBody>
      </p:sp>
      <p:sp>
        <p:nvSpPr>
          <p:cNvPr id="34" name="Text 31"/>
          <p:cNvSpPr/>
          <p:nvPr/>
        </p:nvSpPr>
        <p:spPr>
          <a:xfrm>
            <a:off x="9166860" y="3840480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Explainability</a:t>
            </a:r>
            <a:endParaRPr lang="en-US" sz="1800"/>
          </a:p>
        </p:txBody>
      </p:sp>
      <p:sp>
        <p:nvSpPr>
          <p:cNvPr id="35" name="Shape 32"/>
          <p:cNvSpPr/>
          <p:nvPr/>
        </p:nvSpPr>
        <p:spPr>
          <a:xfrm>
            <a:off x="9166860" y="4343400"/>
            <a:ext cx="73152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9166860" y="4480560"/>
            <a:ext cx="22631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or attention visualisation to show why the model predicted each label — critical for non-technical stakeholders.</a:t>
            </a:r>
            <a:endParaRPr lang="en-US" sz="1200"/>
          </a:p>
        </p:txBody>
      </p:sp>
      <p:sp>
        <p:nvSpPr>
          <p:cNvPr id="37" name="Shape 34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Samiran Shrestha  ·  ISY503 · Assessment 3 · ReviewPulse v2.0.0</a:t>
            </a:r>
            <a:endParaRPr lang="en-US" sz="90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F43A562-2DBF-F3AF-A765-8E096C7B1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5142" y="-99454"/>
            <a:ext cx="1296338" cy="864225"/>
          </a:xfrm>
          <a:prstGeom prst="rect">
            <a:avLst/>
          </a:prstGeom>
        </p:spPr>
      </p:pic>
      <p:pic>
        <p:nvPicPr>
          <p:cNvPr id="41" name="Picture 2" descr="Torrens University Australia - Wikipedia">
            <a:extLst>
              <a:ext uri="{FF2B5EF4-FFF2-40B4-BE49-F238E27FC236}">
                <a16:creationId xmlns:a16="http://schemas.microsoft.com/office/drawing/2014/main" id="{448E0581-BEC0-4435-4D2F-FE3F19F53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5097" y="6245615"/>
            <a:ext cx="398246" cy="39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13716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9600"/>
          </a:p>
        </p:txBody>
      </p:sp>
      <p:sp>
        <p:nvSpPr>
          <p:cNvPr id="4" name="Shape 1"/>
          <p:cNvSpPr/>
          <p:nvPr/>
        </p:nvSpPr>
        <p:spPr>
          <a:xfrm>
            <a:off x="548640" y="3200400"/>
            <a:ext cx="54864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31520" y="32004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8K</a:t>
            </a:r>
            <a:endParaRPr lang="en-US" sz="4800"/>
          </a:p>
        </p:txBody>
      </p:sp>
      <p:sp>
        <p:nvSpPr>
          <p:cNvPr id="6" name="Text 3"/>
          <p:cNvSpPr/>
          <p:nvPr/>
        </p:nvSpPr>
        <p:spPr>
          <a:xfrm>
            <a:off x="731520" y="4069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300"/>
          </a:p>
        </p:txBody>
      </p:sp>
      <p:sp>
        <p:nvSpPr>
          <p:cNvPr id="7" name="Shape 4"/>
          <p:cNvSpPr/>
          <p:nvPr/>
        </p:nvSpPr>
        <p:spPr>
          <a:xfrm>
            <a:off x="3410712" y="3200400"/>
            <a:ext cx="54864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593592" y="32004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/>
          </a:p>
        </p:txBody>
      </p:sp>
      <p:sp>
        <p:nvSpPr>
          <p:cNvPr id="9" name="Text 6"/>
          <p:cNvSpPr/>
          <p:nvPr/>
        </p:nvSpPr>
        <p:spPr>
          <a:xfrm>
            <a:off x="3593592" y="4069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300"/>
          </a:p>
        </p:txBody>
      </p:sp>
      <p:sp>
        <p:nvSpPr>
          <p:cNvPr id="10" name="Shape 7"/>
          <p:cNvSpPr/>
          <p:nvPr/>
        </p:nvSpPr>
        <p:spPr>
          <a:xfrm>
            <a:off x="6272784" y="3200400"/>
            <a:ext cx="54864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55664" y="32004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88.6%</a:t>
            </a:r>
            <a:endParaRPr lang="en-US" sz="4800"/>
          </a:p>
        </p:txBody>
      </p:sp>
      <p:sp>
        <p:nvSpPr>
          <p:cNvPr id="12" name="Text 9"/>
          <p:cNvSpPr/>
          <p:nvPr/>
        </p:nvSpPr>
        <p:spPr>
          <a:xfrm>
            <a:off x="6455664" y="4069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test F1</a:t>
            </a:r>
            <a:endParaRPr lang="en-US" sz="1300"/>
          </a:p>
        </p:txBody>
      </p:sp>
      <p:sp>
        <p:nvSpPr>
          <p:cNvPr id="13" name="Shape 10"/>
          <p:cNvSpPr/>
          <p:nvPr/>
        </p:nvSpPr>
        <p:spPr>
          <a:xfrm>
            <a:off x="9134856" y="3200400"/>
            <a:ext cx="54864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317736" y="32004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F59E0B"/>
                </a:solidFill>
                <a:latin typeface="Georgia" pitchFamily="34" charset="0"/>
              </a:rPr>
              <a:t>190</a:t>
            </a:r>
            <a:endParaRPr lang="en-US" sz="4800"/>
          </a:p>
        </p:txBody>
      </p:sp>
      <p:sp>
        <p:nvSpPr>
          <p:cNvPr id="15" name="Text 12"/>
          <p:cNvSpPr/>
          <p:nvPr/>
        </p:nvSpPr>
        <p:spPr>
          <a:xfrm>
            <a:off x="9317736" y="4069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300"/>
          </a:p>
        </p:txBody>
      </p:sp>
      <p:sp>
        <p:nvSpPr>
          <p:cNvPr id="16" name="Shape 13"/>
          <p:cNvSpPr/>
          <p:nvPr/>
        </p:nvSpPr>
        <p:spPr>
          <a:xfrm>
            <a:off x="548640" y="4937760"/>
            <a:ext cx="110642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simpler model wins on test. The neural model satisfies the rubric. The pretrained transformer wins overall."</a:t>
            </a:r>
            <a:endParaRPr lang="en-US" sz="1600"/>
          </a:p>
        </p:txBody>
      </p:sp>
      <p:sp>
        <p:nvSpPr>
          <p:cNvPr id="18" name="Shape 15"/>
          <p:cNvSpPr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77240" y="58521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 </a:t>
            </a:r>
            <a:r>
              <a:rPr lang="en-US" sz="14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github.com/lfariabr/review-pulse</a:t>
            </a:r>
            <a:r>
              <a:rPr lang="en-US" sz="11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·    </a:t>
            </a:r>
            <a:r>
              <a:rPr lang="en-US" sz="1100" err="1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ReviewPulse</a:t>
            </a:r>
            <a:r>
              <a:rPr lang="en-US" sz="11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v2.0.0    ·    ISY503 Assessment 3</a:t>
            </a:r>
            <a:endParaRPr lang="en-US" sz="110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E51C861-D8D2-B96A-7A3C-7E0184332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5142" y="-99454"/>
            <a:ext cx="1296338" cy="864225"/>
          </a:xfrm>
          <a:prstGeom prst="rect">
            <a:avLst/>
          </a:prstGeom>
        </p:spPr>
      </p:pic>
      <p:pic>
        <p:nvPicPr>
          <p:cNvPr id="22" name="Picture 2" descr="Torrens University Australia - Wikipedia">
            <a:extLst>
              <a:ext uri="{FF2B5EF4-FFF2-40B4-BE49-F238E27FC236}">
                <a16:creationId xmlns:a16="http://schemas.microsoft.com/office/drawing/2014/main" id="{0F875FBC-06CF-59BE-9F8E-FD4269253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5097" y="6245615"/>
            <a:ext cx="398246" cy="39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1463</Words>
  <Application>Microsoft Macintosh PowerPoint</Application>
  <PresentationFormat>Widescreen</PresentationFormat>
  <Paragraphs>321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Torrens University · ISY503 Intelligent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ReviewPulse — Multi-Domain Sentiment Classifier</dc:title>
  <dc:subject>PptxGenJS Presentation</dc:subject>
  <dc:creator>Luis Faria, Victor Meneses, Samiran Shrestha</dc:creator>
  <cp:lastModifiedBy>Luis guilherme De barros andrade faria</cp:lastModifiedBy>
  <cp:revision>2</cp:revision>
  <cp:lastPrinted>2026-05-02T04:20:00Z</cp:lastPrinted>
  <dcterms:created xsi:type="dcterms:W3CDTF">2026-04-29T00:41:16Z</dcterms:created>
  <dcterms:modified xsi:type="dcterms:W3CDTF">2026-05-04T04:06:08Z</dcterms:modified>
</cp:coreProperties>
</file>